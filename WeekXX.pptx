
<file path=[Content_Types].xml><?xml version="1.0" encoding="utf-8"?>
<Types xmlns="http://schemas.openxmlformats.org/package/2006/content-types">
  <Default Extension="aspx" ContentType="image/jpeg"/>
  <Default Extension="emf" ContentType="image/x-emf"/>
  <Default Extension="gif" ContentType="image/gif"/>
  <Default Extension="jpeg" ContentType="image/jpeg"/>
  <Default Extension="jpg" ContentType="image/jpeg"/>
  <Default Extension="org&amp;utm_campaign=index&amp;utm_content=thumbnail&amp;_=20210503130222" ContentType="image/png"/>
  <Default Extension="org&amp;utm_campaign=parser&amp;utm_content=thumbnail"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slides/slide623.xml" ContentType="application/vnd.openxmlformats-officedocument.presentationml.slide+xml"/>
  <Override PartName="/ppt/slides/slide624.xml" ContentType="application/vnd.openxmlformats-officedocument.presentationml.slide+xml"/>
  <Override PartName="/ppt/slides/slide625.xml" ContentType="application/vnd.openxmlformats-officedocument.presentationml.slide+xml"/>
  <Override PartName="/ppt/slides/slide626.xml" ContentType="application/vnd.openxmlformats-officedocument.presentationml.slide+xml"/>
  <Override PartName="/ppt/slides/slide627.xml" ContentType="application/vnd.openxmlformats-officedocument.presentationml.slide+xml"/>
  <Override PartName="/ppt/slides/slide628.xml" ContentType="application/vnd.openxmlformats-officedocument.presentationml.slide+xml"/>
  <Override PartName="/ppt/slides/slide629.xml" ContentType="application/vnd.openxmlformats-officedocument.presentationml.slide+xml"/>
  <Override PartName="/ppt/slides/slide630.xml" ContentType="application/vnd.openxmlformats-officedocument.presentationml.slide+xml"/>
  <Override PartName="/ppt/slides/slide631.xml" ContentType="application/vnd.openxmlformats-officedocument.presentationml.slide+xml"/>
  <Override PartName="/ppt/slides/slide632.xml" ContentType="application/vnd.openxmlformats-officedocument.presentationml.slide+xml"/>
  <Override PartName="/ppt/slides/slide633.xml" ContentType="application/vnd.openxmlformats-officedocument.presentationml.slide+xml"/>
  <Override PartName="/ppt/slides/slide634.xml" ContentType="application/vnd.openxmlformats-officedocument.presentationml.slide+xml"/>
  <Override PartName="/ppt/slides/slide635.xml" ContentType="application/vnd.openxmlformats-officedocument.presentationml.slide+xml"/>
  <Override PartName="/ppt/slides/slide636.xml" ContentType="application/vnd.openxmlformats-officedocument.presentationml.slide+xml"/>
  <Override PartName="/ppt/slides/slide637.xml" ContentType="application/vnd.openxmlformats-officedocument.presentationml.slide+xml"/>
  <Override PartName="/ppt/slides/slide638.xml" ContentType="application/vnd.openxmlformats-officedocument.presentationml.slide+xml"/>
  <Override PartName="/ppt/slides/slide639.xml" ContentType="application/vnd.openxmlformats-officedocument.presentationml.slide+xml"/>
  <Override PartName="/ppt/slides/slide640.xml" ContentType="application/vnd.openxmlformats-officedocument.presentationml.slide+xml"/>
  <Override PartName="/ppt/slides/slide641.xml" ContentType="application/vnd.openxmlformats-officedocument.presentationml.slide+xml"/>
  <Override PartName="/ppt/slides/slide642.xml" ContentType="application/vnd.openxmlformats-officedocument.presentationml.slide+xml"/>
  <Override PartName="/ppt/slides/slide643.xml" ContentType="application/vnd.openxmlformats-officedocument.presentationml.slide+xml"/>
  <Override PartName="/ppt/slides/slide644.xml" ContentType="application/vnd.openxmlformats-officedocument.presentationml.slide+xml"/>
  <Override PartName="/ppt/slides/slide645.xml" ContentType="application/vnd.openxmlformats-officedocument.presentationml.slide+xml"/>
  <Override PartName="/ppt/slides/slide646.xml" ContentType="application/vnd.openxmlformats-officedocument.presentationml.slide+xml"/>
  <Override PartName="/ppt/slides/slide647.xml" ContentType="application/vnd.openxmlformats-officedocument.presentationml.slide+xml"/>
  <Override PartName="/ppt/slides/slide648.xml" ContentType="application/vnd.openxmlformats-officedocument.presentationml.slide+xml"/>
  <Override PartName="/ppt/slides/slide649.xml" ContentType="application/vnd.openxmlformats-officedocument.presentationml.slide+xml"/>
  <Override PartName="/ppt/slides/slide650.xml" ContentType="application/vnd.openxmlformats-officedocument.presentationml.slide+xml"/>
  <Override PartName="/ppt/slides/slide651.xml" ContentType="application/vnd.openxmlformats-officedocument.presentationml.slide+xml"/>
  <Override PartName="/ppt/slides/slide652.xml" ContentType="application/vnd.openxmlformats-officedocument.presentationml.slide+xml"/>
  <Override PartName="/ppt/slides/slide653.xml" ContentType="application/vnd.openxmlformats-officedocument.presentationml.slide+xml"/>
  <Override PartName="/ppt/slides/slide654.xml" ContentType="application/vnd.openxmlformats-officedocument.presentationml.slide+xml"/>
  <Override PartName="/ppt/slides/slide655.xml" ContentType="application/vnd.openxmlformats-officedocument.presentationml.slide+xml"/>
  <Override PartName="/ppt/slides/slide656.xml" ContentType="application/vnd.openxmlformats-officedocument.presentationml.slide+xml"/>
  <Override PartName="/ppt/slides/slide657.xml" ContentType="application/vnd.openxmlformats-officedocument.presentationml.slide+xml"/>
  <Override PartName="/ppt/slides/slide658.xml" ContentType="application/vnd.openxmlformats-officedocument.presentationml.slide+xml"/>
  <Override PartName="/ppt/slides/slide659.xml" ContentType="application/vnd.openxmlformats-officedocument.presentationml.slide+xml"/>
  <Override PartName="/ppt/slides/slide660.xml" ContentType="application/vnd.openxmlformats-officedocument.presentationml.slide+xml"/>
  <Override PartName="/ppt/slides/slide661.xml" ContentType="application/vnd.openxmlformats-officedocument.presentationml.slide+xml"/>
  <Override PartName="/ppt/slides/slide662.xml" ContentType="application/vnd.openxmlformats-officedocument.presentationml.slide+xml"/>
  <Override PartName="/ppt/slides/slide663.xml" ContentType="application/vnd.openxmlformats-officedocument.presentationml.slide+xml"/>
  <Override PartName="/ppt/slides/slide664.xml" ContentType="application/vnd.openxmlformats-officedocument.presentationml.slide+xml"/>
  <Override PartName="/ppt/slides/slide665.xml" ContentType="application/vnd.openxmlformats-officedocument.presentationml.slide+xml"/>
  <Override PartName="/ppt/slides/slide666.xml" ContentType="application/vnd.openxmlformats-officedocument.presentationml.slide+xml"/>
  <Override PartName="/ppt/slides/slide667.xml" ContentType="application/vnd.openxmlformats-officedocument.presentationml.slide+xml"/>
  <Override PartName="/ppt/slides/slide668.xml" ContentType="application/vnd.openxmlformats-officedocument.presentationml.slide+xml"/>
  <Override PartName="/ppt/slides/slide669.xml" ContentType="application/vnd.openxmlformats-officedocument.presentationml.slide+xml"/>
  <Override PartName="/ppt/slides/slide670.xml" ContentType="application/vnd.openxmlformats-officedocument.presentationml.slide+xml"/>
  <Override PartName="/ppt/slides/slide671.xml" ContentType="application/vnd.openxmlformats-officedocument.presentationml.slide+xml"/>
  <Override PartName="/ppt/slides/slide672.xml" ContentType="application/vnd.openxmlformats-officedocument.presentationml.slide+xml"/>
  <Override PartName="/ppt/slides/slide673.xml" ContentType="application/vnd.openxmlformats-officedocument.presentationml.slide+xml"/>
  <Override PartName="/ppt/slides/slide674.xml" ContentType="application/vnd.openxmlformats-officedocument.presentationml.slide+xml"/>
  <Override PartName="/ppt/slides/slide675.xml" ContentType="application/vnd.openxmlformats-officedocument.presentationml.slide+xml"/>
  <Override PartName="/ppt/slides/slide676.xml" ContentType="application/vnd.openxmlformats-officedocument.presentationml.slide+xml"/>
  <Override PartName="/ppt/slides/slide677.xml" ContentType="application/vnd.openxmlformats-officedocument.presentationml.slide+xml"/>
  <Override PartName="/ppt/slides/slide678.xml" ContentType="application/vnd.openxmlformats-officedocument.presentationml.slide+xml"/>
  <Override PartName="/ppt/slides/slide679.xml" ContentType="application/vnd.openxmlformats-officedocument.presentationml.slide+xml"/>
  <Override PartName="/ppt/slides/slide680.xml" ContentType="application/vnd.openxmlformats-officedocument.presentationml.slide+xml"/>
  <Override PartName="/ppt/slides/slide681.xml" ContentType="application/vnd.openxmlformats-officedocument.presentationml.slide+xml"/>
  <Override PartName="/ppt/slides/slide682.xml" ContentType="application/vnd.openxmlformats-officedocument.presentationml.slide+xml"/>
  <Override PartName="/ppt/slides/slide683.xml" ContentType="application/vnd.openxmlformats-officedocument.presentationml.slide+xml"/>
  <Override PartName="/ppt/slides/slide684.xml" ContentType="application/vnd.openxmlformats-officedocument.presentationml.slide+xml"/>
  <Override PartName="/ppt/slides/slide685.xml" ContentType="application/vnd.openxmlformats-officedocument.presentationml.slide+xml"/>
  <Override PartName="/ppt/slides/slide686.xml" ContentType="application/vnd.openxmlformats-officedocument.presentationml.slide+xml"/>
  <Override PartName="/ppt/slides/slide687.xml" ContentType="application/vnd.openxmlformats-officedocument.presentationml.slide+xml"/>
  <Override PartName="/ppt/slides/slide688.xml" ContentType="application/vnd.openxmlformats-officedocument.presentationml.slide+xml"/>
  <Override PartName="/ppt/slides/slide689.xml" ContentType="application/vnd.openxmlformats-officedocument.presentationml.slide+xml"/>
  <Override PartName="/ppt/slides/slide690.xml" ContentType="application/vnd.openxmlformats-officedocument.presentationml.slide+xml"/>
  <Override PartName="/ppt/slides/slide691.xml" ContentType="application/vnd.openxmlformats-officedocument.presentationml.slide+xml"/>
  <Override PartName="/ppt/slides/slide692.xml" ContentType="application/vnd.openxmlformats-officedocument.presentationml.slide+xml"/>
  <Override PartName="/ppt/slides/slide693.xml" ContentType="application/vnd.openxmlformats-officedocument.presentationml.slide+xml"/>
  <Override PartName="/ppt/slides/slide694.xml" ContentType="application/vnd.openxmlformats-officedocument.presentationml.slide+xml"/>
  <Override PartName="/ppt/slides/slide695.xml" ContentType="application/vnd.openxmlformats-officedocument.presentationml.slide+xml"/>
  <Override PartName="/ppt/slides/slide696.xml" ContentType="application/vnd.openxmlformats-officedocument.presentationml.slide+xml"/>
  <Override PartName="/ppt/slides/slide697.xml" ContentType="application/vnd.openxmlformats-officedocument.presentationml.slide+xml"/>
  <Override PartName="/ppt/slides/slide698.xml" ContentType="application/vnd.openxmlformats-officedocument.presentationml.slide+xml"/>
  <Override PartName="/ppt/slides/slide699.xml" ContentType="application/vnd.openxmlformats-officedocument.presentationml.slide+xml"/>
  <Override PartName="/ppt/slides/slide700.xml" ContentType="application/vnd.openxmlformats-officedocument.presentationml.slide+xml"/>
  <Override PartName="/ppt/slides/slide701.xml" ContentType="application/vnd.openxmlformats-officedocument.presentationml.slide+xml"/>
  <Override PartName="/ppt/slides/slide702.xml" ContentType="application/vnd.openxmlformats-officedocument.presentationml.slide+xml"/>
  <Override PartName="/ppt/slides/slide703.xml" ContentType="application/vnd.openxmlformats-officedocument.presentationml.slide+xml"/>
  <Override PartName="/ppt/slides/slide704.xml" ContentType="application/vnd.openxmlformats-officedocument.presentationml.slide+xml"/>
  <Override PartName="/ppt/slides/slide705.xml" ContentType="application/vnd.openxmlformats-officedocument.presentationml.slide+xml"/>
  <Override PartName="/ppt/slides/slide706.xml" ContentType="application/vnd.openxmlformats-officedocument.presentationml.slide+xml"/>
  <Override PartName="/ppt/slides/slide707.xml" ContentType="application/vnd.openxmlformats-officedocument.presentationml.slide+xml"/>
  <Override PartName="/ppt/slides/slide708.xml" ContentType="application/vnd.openxmlformats-officedocument.presentationml.slide+xml"/>
  <Override PartName="/ppt/slides/slide709.xml" ContentType="application/vnd.openxmlformats-officedocument.presentationml.slide+xml"/>
  <Override PartName="/ppt/slides/slide710.xml" ContentType="application/vnd.openxmlformats-officedocument.presentationml.slide+xml"/>
  <Override PartName="/ppt/slides/slide711.xml" ContentType="application/vnd.openxmlformats-officedocument.presentationml.slide+xml"/>
  <Override PartName="/ppt/slides/slide712.xml" ContentType="application/vnd.openxmlformats-officedocument.presentationml.slide+xml"/>
  <Override PartName="/ppt/slides/slide713.xml" ContentType="application/vnd.openxmlformats-officedocument.presentationml.slide+xml"/>
  <Override PartName="/ppt/slides/slide714.xml" ContentType="application/vnd.openxmlformats-officedocument.presentationml.slide+xml"/>
  <Override PartName="/ppt/slides/slide715.xml" ContentType="application/vnd.openxmlformats-officedocument.presentationml.slide+xml"/>
  <Override PartName="/ppt/slides/slide716.xml" ContentType="application/vnd.openxmlformats-officedocument.presentationml.slide+xml"/>
  <Override PartName="/ppt/slides/slide717.xml" ContentType="application/vnd.openxmlformats-officedocument.presentationml.slide+xml"/>
  <Override PartName="/ppt/slides/slide718.xml" ContentType="application/vnd.openxmlformats-officedocument.presentationml.slide+xml"/>
  <Override PartName="/ppt/slides/slide719.xml" ContentType="application/vnd.openxmlformats-officedocument.presentationml.slide+xml"/>
  <Override PartName="/ppt/slides/slide720.xml" ContentType="application/vnd.openxmlformats-officedocument.presentationml.slide+xml"/>
  <Override PartName="/ppt/slides/slide721.xml" ContentType="application/vnd.openxmlformats-officedocument.presentationml.slide+xml"/>
  <Override PartName="/ppt/slides/slide722.xml" ContentType="application/vnd.openxmlformats-officedocument.presentationml.slide+xml"/>
  <Override PartName="/ppt/slides/slide723.xml" ContentType="application/vnd.openxmlformats-officedocument.presentationml.slide+xml"/>
  <Override PartName="/ppt/slides/slide724.xml" ContentType="application/vnd.openxmlformats-officedocument.presentationml.slide+xml"/>
  <Override PartName="/ppt/slides/slide725.xml" ContentType="application/vnd.openxmlformats-officedocument.presentationml.slide+xml"/>
  <Override PartName="/ppt/slides/slide726.xml" ContentType="application/vnd.openxmlformats-officedocument.presentationml.slide+xml"/>
  <Override PartName="/ppt/slides/slide727.xml" ContentType="application/vnd.openxmlformats-officedocument.presentationml.slide+xml"/>
  <Override PartName="/ppt/slides/slide728.xml" ContentType="application/vnd.openxmlformats-officedocument.presentationml.slide+xml"/>
  <Override PartName="/ppt/slides/slide729.xml" ContentType="application/vnd.openxmlformats-officedocument.presentationml.slide+xml"/>
  <Override PartName="/ppt/slides/slide730.xml" ContentType="application/vnd.openxmlformats-officedocument.presentationml.slide+xml"/>
  <Override PartName="/ppt/slides/slide731.xml" ContentType="application/vnd.openxmlformats-officedocument.presentationml.slide+xml"/>
  <Override PartName="/ppt/slides/slide732.xml" ContentType="application/vnd.openxmlformats-officedocument.presentationml.slide+xml"/>
  <Override PartName="/ppt/slides/slide733.xml" ContentType="application/vnd.openxmlformats-officedocument.presentationml.slide+xml"/>
  <Override PartName="/ppt/slides/slide734.xml" ContentType="application/vnd.openxmlformats-officedocument.presentationml.slide+xml"/>
  <Override PartName="/ppt/slides/slide735.xml" ContentType="application/vnd.openxmlformats-officedocument.presentationml.slide+xml"/>
  <Override PartName="/ppt/slides/slide736.xml" ContentType="application/vnd.openxmlformats-officedocument.presentationml.slide+xml"/>
  <Override PartName="/ppt/slides/slide737.xml" ContentType="application/vnd.openxmlformats-officedocument.presentationml.slide+xml"/>
  <Override PartName="/ppt/slides/slide738.xml" ContentType="application/vnd.openxmlformats-officedocument.presentationml.slide+xml"/>
  <Override PartName="/ppt/slides/slide739.xml" ContentType="application/vnd.openxmlformats-officedocument.presentationml.slide+xml"/>
  <Override PartName="/ppt/slides/slide740.xml" ContentType="application/vnd.openxmlformats-officedocument.presentationml.slide+xml"/>
  <Override PartName="/ppt/slides/slide741.xml" ContentType="application/vnd.openxmlformats-officedocument.presentationml.slide+xml"/>
  <Override PartName="/ppt/slides/slide742.xml" ContentType="application/vnd.openxmlformats-officedocument.presentationml.slide+xml"/>
  <Override PartName="/ppt/slides/slide743.xml" ContentType="application/vnd.openxmlformats-officedocument.presentationml.slide+xml"/>
  <Override PartName="/ppt/slides/slide744.xml" ContentType="application/vnd.openxmlformats-officedocument.presentationml.slide+xml"/>
  <Override PartName="/ppt/slides/slide745.xml" ContentType="application/vnd.openxmlformats-officedocument.presentationml.slide+xml"/>
  <Override PartName="/ppt/slides/slide746.xml" ContentType="application/vnd.openxmlformats-officedocument.presentationml.slide+xml"/>
  <Override PartName="/ppt/slides/slide747.xml" ContentType="application/vnd.openxmlformats-officedocument.presentationml.slide+xml"/>
  <Override PartName="/ppt/slides/slide748.xml" ContentType="application/vnd.openxmlformats-officedocument.presentationml.slide+xml"/>
  <Override PartName="/ppt/slides/slide749.xml" ContentType="application/vnd.openxmlformats-officedocument.presentationml.slide+xml"/>
  <Override PartName="/ppt/slides/slide750.xml" ContentType="application/vnd.openxmlformats-officedocument.presentationml.slide+xml"/>
  <Override PartName="/ppt/slides/slide751.xml" ContentType="application/vnd.openxmlformats-officedocument.presentationml.slide+xml"/>
  <Override PartName="/ppt/slides/slide752.xml" ContentType="application/vnd.openxmlformats-officedocument.presentationml.slide+xml"/>
  <Override PartName="/ppt/slides/slide753.xml" ContentType="application/vnd.openxmlformats-officedocument.presentationml.slide+xml"/>
  <Override PartName="/ppt/slides/slide754.xml" ContentType="application/vnd.openxmlformats-officedocument.presentationml.slide+xml"/>
  <Override PartName="/ppt/slides/slide755.xml" ContentType="application/vnd.openxmlformats-officedocument.presentationml.slide+xml"/>
  <Override PartName="/ppt/slides/slide756.xml" ContentType="application/vnd.openxmlformats-officedocument.presentationml.slide+xml"/>
  <Override PartName="/ppt/slides/slide757.xml" ContentType="application/vnd.openxmlformats-officedocument.presentationml.slide+xml"/>
  <Override PartName="/ppt/slides/slide758.xml" ContentType="application/vnd.openxmlformats-officedocument.presentationml.slide+xml"/>
  <Override PartName="/ppt/slides/slide759.xml" ContentType="application/vnd.openxmlformats-officedocument.presentationml.slide+xml"/>
  <Override PartName="/ppt/slides/slide760.xml" ContentType="application/vnd.openxmlformats-officedocument.presentationml.slide+xml"/>
  <Override PartName="/ppt/slides/slide761.xml" ContentType="application/vnd.openxmlformats-officedocument.presentationml.slide+xml"/>
  <Override PartName="/ppt/slides/slide762.xml" ContentType="application/vnd.openxmlformats-officedocument.presentationml.slide+xml"/>
  <Override PartName="/ppt/slides/slide763.xml" ContentType="application/vnd.openxmlformats-officedocument.presentationml.slide+xml"/>
  <Override PartName="/ppt/slides/slide764.xml" ContentType="application/vnd.openxmlformats-officedocument.presentationml.slide+xml"/>
  <Override PartName="/ppt/slides/slide765.xml" ContentType="application/vnd.openxmlformats-officedocument.presentationml.slide+xml"/>
  <Override PartName="/ppt/slides/slide766.xml" ContentType="application/vnd.openxmlformats-officedocument.presentationml.slide+xml"/>
  <Override PartName="/ppt/slides/slide767.xml" ContentType="application/vnd.openxmlformats-officedocument.presentationml.slide+xml"/>
  <Override PartName="/ppt/slides/slide768.xml" ContentType="application/vnd.openxmlformats-officedocument.presentationml.slide+xml"/>
  <Override PartName="/ppt/slides/slide769.xml" ContentType="application/vnd.openxmlformats-officedocument.presentationml.slide+xml"/>
  <Override PartName="/ppt/slides/slide770.xml" ContentType="application/vnd.openxmlformats-officedocument.presentationml.slide+xml"/>
  <Override PartName="/ppt/slides/slide771.xml" ContentType="application/vnd.openxmlformats-officedocument.presentationml.slide+xml"/>
  <Override PartName="/ppt/slides/slide772.xml" ContentType="application/vnd.openxmlformats-officedocument.presentationml.slide+xml"/>
  <Override PartName="/ppt/slides/slide773.xml" ContentType="application/vnd.openxmlformats-officedocument.presentationml.slide+xml"/>
  <Override PartName="/ppt/slides/slide774.xml" ContentType="application/vnd.openxmlformats-officedocument.presentationml.slide+xml"/>
  <Override PartName="/ppt/slides/slide775.xml" ContentType="application/vnd.openxmlformats-officedocument.presentationml.slide+xml"/>
  <Override PartName="/ppt/slides/slide776.xml" ContentType="application/vnd.openxmlformats-officedocument.presentationml.slide+xml"/>
  <Override PartName="/ppt/slides/slide777.xml" ContentType="application/vnd.openxmlformats-officedocument.presentationml.slide+xml"/>
  <Override PartName="/ppt/slides/slide778.xml" ContentType="application/vnd.openxmlformats-officedocument.presentationml.slide+xml"/>
  <Override PartName="/ppt/slides/slide779.xml" ContentType="application/vnd.openxmlformats-officedocument.presentationml.slide+xml"/>
  <Override PartName="/ppt/slides/slide780.xml" ContentType="application/vnd.openxmlformats-officedocument.presentationml.slide+xml"/>
  <Override PartName="/ppt/slides/slide781.xml" ContentType="application/vnd.openxmlformats-officedocument.presentationml.slide+xml"/>
  <Override PartName="/ppt/slides/slide782.xml" ContentType="application/vnd.openxmlformats-officedocument.presentationml.slide+xml"/>
  <Override PartName="/ppt/slides/slide783.xml" ContentType="application/vnd.openxmlformats-officedocument.presentationml.slide+xml"/>
  <Override PartName="/ppt/slides/slide784.xml" ContentType="application/vnd.openxmlformats-officedocument.presentationml.slide+xml"/>
  <Override PartName="/ppt/slides/slide785.xml" ContentType="application/vnd.openxmlformats-officedocument.presentationml.slide+xml"/>
  <Override PartName="/ppt/slides/slide786.xml" ContentType="application/vnd.openxmlformats-officedocument.presentationml.slide+xml"/>
  <Override PartName="/ppt/slides/slide787.xml" ContentType="application/vnd.openxmlformats-officedocument.presentationml.slide+xml"/>
  <Override PartName="/ppt/slides/slide788.xml" ContentType="application/vnd.openxmlformats-officedocument.presentationml.slide+xml"/>
  <Override PartName="/ppt/slides/slide789.xml" ContentType="application/vnd.openxmlformats-officedocument.presentationml.slide+xml"/>
  <Override PartName="/ppt/slides/slide790.xml" ContentType="application/vnd.openxmlformats-officedocument.presentationml.slide+xml"/>
  <Override PartName="/ppt/slides/slide791.xml" ContentType="application/vnd.openxmlformats-officedocument.presentationml.slide+xml"/>
  <Override PartName="/ppt/slides/slide792.xml" ContentType="application/vnd.openxmlformats-officedocument.presentationml.slide+xml"/>
  <Override PartName="/ppt/slides/slide793.xml" ContentType="application/vnd.openxmlformats-officedocument.presentationml.slide+xml"/>
  <Override PartName="/ppt/slides/slide794.xml" ContentType="application/vnd.openxmlformats-officedocument.presentationml.slide+xml"/>
  <Override PartName="/ppt/slides/slide795.xml" ContentType="application/vnd.openxmlformats-officedocument.presentationml.slide+xml"/>
  <Override PartName="/ppt/slides/slide796.xml" ContentType="application/vnd.openxmlformats-officedocument.presentationml.slide+xml"/>
  <Override PartName="/ppt/slides/slide797.xml" ContentType="application/vnd.openxmlformats-officedocument.presentationml.slide+xml"/>
  <Override PartName="/ppt/slides/slide798.xml" ContentType="application/vnd.openxmlformats-officedocument.presentationml.slide+xml"/>
  <Override PartName="/ppt/slides/slide799.xml" ContentType="application/vnd.openxmlformats-officedocument.presentationml.slide+xml"/>
  <Override PartName="/ppt/slides/slide800.xml" ContentType="application/vnd.openxmlformats-officedocument.presentationml.slide+xml"/>
  <Override PartName="/ppt/slides/slide801.xml" ContentType="application/vnd.openxmlformats-officedocument.presentationml.slide+xml"/>
  <Override PartName="/ppt/slides/slide802.xml" ContentType="application/vnd.openxmlformats-officedocument.presentationml.slide+xml"/>
  <Override PartName="/ppt/slides/slide803.xml" ContentType="application/vnd.openxmlformats-officedocument.presentationml.slide+xml"/>
  <Override PartName="/ppt/slides/slide804.xml" ContentType="application/vnd.openxmlformats-officedocument.presentationml.slide+xml"/>
  <Override PartName="/ppt/slides/slide805.xml" ContentType="application/vnd.openxmlformats-officedocument.presentationml.slide+xml"/>
  <Override PartName="/ppt/slides/slide806.xml" ContentType="application/vnd.openxmlformats-officedocument.presentationml.slide+xml"/>
  <Override PartName="/ppt/slides/slide807.xml" ContentType="application/vnd.openxmlformats-officedocument.presentationml.slide+xml"/>
  <Override PartName="/ppt/slides/slide808.xml" ContentType="application/vnd.openxmlformats-officedocument.presentationml.slide+xml"/>
  <Override PartName="/ppt/slides/slide809.xml" ContentType="application/vnd.openxmlformats-officedocument.presentationml.slide+xml"/>
  <Override PartName="/ppt/slides/slide810.xml" ContentType="application/vnd.openxmlformats-officedocument.presentationml.slide+xml"/>
  <Override PartName="/ppt/slides/slide811.xml" ContentType="application/vnd.openxmlformats-officedocument.presentationml.slide+xml"/>
  <Override PartName="/ppt/slides/slide812.xml" ContentType="application/vnd.openxmlformats-officedocument.presentationml.slide+xml"/>
  <Override PartName="/ppt/slides/slide813.xml" ContentType="application/vnd.openxmlformats-officedocument.presentationml.slide+xml"/>
  <Override PartName="/ppt/slides/slide814.xml" ContentType="application/vnd.openxmlformats-officedocument.presentationml.slide+xml"/>
  <Override PartName="/ppt/slides/slide815.xml" ContentType="application/vnd.openxmlformats-officedocument.presentationml.slide+xml"/>
  <Override PartName="/ppt/slides/slide816.xml" ContentType="application/vnd.openxmlformats-officedocument.presentationml.slide+xml"/>
  <Override PartName="/ppt/slides/slide817.xml" ContentType="application/vnd.openxmlformats-officedocument.presentationml.slide+xml"/>
  <Override PartName="/ppt/slides/slide818.xml" ContentType="application/vnd.openxmlformats-officedocument.presentationml.slide+xml"/>
  <Override PartName="/ppt/slides/slide819.xml" ContentType="application/vnd.openxmlformats-officedocument.presentationml.slide+xml"/>
  <Override PartName="/ppt/slides/slide820.xml" ContentType="application/vnd.openxmlformats-officedocument.presentationml.slide+xml"/>
  <Override PartName="/ppt/slides/slide821.xml" ContentType="application/vnd.openxmlformats-officedocument.presentationml.slide+xml"/>
  <Override PartName="/ppt/slides/slide822.xml" ContentType="application/vnd.openxmlformats-officedocument.presentationml.slide+xml"/>
  <Override PartName="/ppt/slides/slide823.xml" ContentType="application/vnd.openxmlformats-officedocument.presentationml.slide+xml"/>
  <Override PartName="/ppt/slides/slide824.xml" ContentType="application/vnd.openxmlformats-officedocument.presentationml.slide+xml"/>
  <Override PartName="/ppt/slides/slide825.xml" ContentType="application/vnd.openxmlformats-officedocument.presentationml.slide+xml"/>
  <Override PartName="/ppt/slides/slide826.xml" ContentType="application/vnd.openxmlformats-officedocument.presentationml.slide+xml"/>
  <Override PartName="/ppt/slides/slide827.xml" ContentType="application/vnd.openxmlformats-officedocument.presentationml.slide+xml"/>
  <Override PartName="/ppt/slides/slide828.xml" ContentType="application/vnd.openxmlformats-officedocument.presentationml.slide+xml"/>
  <Override PartName="/ppt/slides/slide829.xml" ContentType="application/vnd.openxmlformats-officedocument.presentationml.slide+xml"/>
  <Override PartName="/ppt/slides/slide830.xml" ContentType="application/vnd.openxmlformats-officedocument.presentationml.slide+xml"/>
  <Override PartName="/ppt/slides/slide831.xml" ContentType="application/vnd.openxmlformats-officedocument.presentationml.slide+xml"/>
  <Override PartName="/ppt/slides/slide832.xml" ContentType="application/vnd.openxmlformats-officedocument.presentationml.slide+xml"/>
  <Override PartName="/ppt/slides/slide833.xml" ContentType="application/vnd.openxmlformats-officedocument.presentationml.slide+xml"/>
  <Override PartName="/ppt/slides/slide834.xml" ContentType="application/vnd.openxmlformats-officedocument.presentationml.slide+xml"/>
  <Override PartName="/ppt/slides/slide835.xml" ContentType="application/vnd.openxmlformats-officedocument.presentationml.slide+xml"/>
  <Override PartName="/ppt/slides/slide836.xml" ContentType="application/vnd.openxmlformats-officedocument.presentationml.slide+xml"/>
  <Override PartName="/ppt/slides/slide837.xml" ContentType="application/vnd.openxmlformats-officedocument.presentationml.slide+xml"/>
  <Override PartName="/ppt/slides/slide838.xml" ContentType="application/vnd.openxmlformats-officedocument.presentationml.slide+xml"/>
  <Override PartName="/ppt/slides/slide839.xml" ContentType="application/vnd.openxmlformats-officedocument.presentationml.slide+xml"/>
  <Override PartName="/ppt/slides/slide840.xml" ContentType="application/vnd.openxmlformats-officedocument.presentationml.slide+xml"/>
  <Override PartName="/ppt/slides/slide841.xml" ContentType="application/vnd.openxmlformats-officedocument.presentationml.slide+xml"/>
  <Override PartName="/ppt/slides/slide842.xml" ContentType="application/vnd.openxmlformats-officedocument.presentationml.slide+xml"/>
  <Override PartName="/ppt/slides/slide843.xml" ContentType="application/vnd.openxmlformats-officedocument.presentationml.slide+xml"/>
  <Override PartName="/ppt/slides/slide844.xml" ContentType="application/vnd.openxmlformats-officedocument.presentationml.slide+xml"/>
  <Override PartName="/ppt/slides/slide845.xml" ContentType="application/vnd.openxmlformats-officedocument.presentationml.slide+xml"/>
  <Override PartName="/ppt/slides/slide846.xml" ContentType="application/vnd.openxmlformats-officedocument.presentationml.slide+xml"/>
  <Override PartName="/ppt/slides/slide847.xml" ContentType="application/vnd.openxmlformats-officedocument.presentationml.slide+xml"/>
  <Override PartName="/ppt/slides/slide848.xml" ContentType="application/vnd.openxmlformats-officedocument.presentationml.slide+xml"/>
  <Override PartName="/ppt/slides/slide849.xml" ContentType="application/vnd.openxmlformats-officedocument.presentationml.slide+xml"/>
  <Override PartName="/ppt/slides/slide850.xml" ContentType="application/vnd.openxmlformats-officedocument.presentationml.slide+xml"/>
  <Override PartName="/ppt/slides/slide851.xml" ContentType="application/vnd.openxmlformats-officedocument.presentationml.slide+xml"/>
  <Override PartName="/ppt/slides/slide852.xml" ContentType="application/vnd.openxmlformats-officedocument.presentationml.slide+xml"/>
  <Override PartName="/ppt/slides/slide853.xml" ContentType="application/vnd.openxmlformats-officedocument.presentationml.slide+xml"/>
  <Override PartName="/ppt/slides/slide854.xml" ContentType="application/vnd.openxmlformats-officedocument.presentationml.slide+xml"/>
  <Override PartName="/ppt/slides/slide855.xml" ContentType="application/vnd.openxmlformats-officedocument.presentationml.slide+xml"/>
  <Override PartName="/ppt/slides/slide856.xml" ContentType="application/vnd.openxmlformats-officedocument.presentationml.slide+xml"/>
  <Override PartName="/ppt/slides/slide857.xml" ContentType="application/vnd.openxmlformats-officedocument.presentationml.slide+xml"/>
  <Override PartName="/ppt/slides/slide858.xml" ContentType="application/vnd.openxmlformats-officedocument.presentationml.slide+xml"/>
  <Override PartName="/ppt/slides/slide859.xml" ContentType="application/vnd.openxmlformats-officedocument.presentationml.slide+xml"/>
  <Override PartName="/ppt/slides/slide860.xml" ContentType="application/vnd.openxmlformats-officedocument.presentationml.slide+xml"/>
  <Override PartName="/ppt/slides/slide861.xml" ContentType="application/vnd.openxmlformats-officedocument.presentationml.slide+xml"/>
  <Override PartName="/ppt/slides/slide862.xml" ContentType="application/vnd.openxmlformats-officedocument.presentationml.slide+xml"/>
  <Override PartName="/ppt/slides/slide863.xml" ContentType="application/vnd.openxmlformats-officedocument.presentationml.slide+xml"/>
  <Override PartName="/ppt/slides/slide864.xml" ContentType="application/vnd.openxmlformats-officedocument.presentationml.slide+xml"/>
  <Override PartName="/ppt/slides/slide865.xml" ContentType="application/vnd.openxmlformats-officedocument.presentationml.slide+xml"/>
  <Override PartName="/ppt/slides/slide866.xml" ContentType="application/vnd.openxmlformats-officedocument.presentationml.slide+xml"/>
  <Override PartName="/ppt/slides/slide867.xml" ContentType="application/vnd.openxmlformats-officedocument.presentationml.slide+xml"/>
  <Override PartName="/ppt/slides/slide868.xml" ContentType="application/vnd.openxmlformats-officedocument.presentationml.slide+xml"/>
  <Override PartName="/ppt/slides/slide869.xml" ContentType="application/vnd.openxmlformats-officedocument.presentationml.slide+xml"/>
  <Override PartName="/ppt/slides/slide870.xml" ContentType="application/vnd.openxmlformats-officedocument.presentationml.slide+xml"/>
  <Override PartName="/ppt/slides/slide871.xml" ContentType="application/vnd.openxmlformats-officedocument.presentationml.slide+xml"/>
  <Override PartName="/ppt/slides/slide872.xml" ContentType="application/vnd.openxmlformats-officedocument.presentationml.slide+xml"/>
  <Override PartName="/ppt/slides/slide873.xml" ContentType="application/vnd.openxmlformats-officedocument.presentationml.slide+xml"/>
  <Override PartName="/ppt/slides/slide874.xml" ContentType="application/vnd.openxmlformats-officedocument.presentationml.slide+xml"/>
  <Override PartName="/ppt/slides/slide875.xml" ContentType="application/vnd.openxmlformats-officedocument.presentationml.slide+xml"/>
  <Override PartName="/ppt/slides/slide876.xml" ContentType="application/vnd.openxmlformats-officedocument.presentationml.slide+xml"/>
  <Override PartName="/ppt/slides/slide877.xml" ContentType="application/vnd.openxmlformats-officedocument.presentationml.slide+xml"/>
  <Override PartName="/ppt/slides/slide878.xml" ContentType="application/vnd.openxmlformats-officedocument.presentationml.slide+xml"/>
  <Override PartName="/ppt/slides/slide879.xml" ContentType="application/vnd.openxmlformats-officedocument.presentationml.slide+xml"/>
  <Override PartName="/ppt/slides/slide880.xml" ContentType="application/vnd.openxmlformats-officedocument.presentationml.slide+xml"/>
  <Override PartName="/ppt/slides/slide881.xml" ContentType="application/vnd.openxmlformats-officedocument.presentationml.slide+xml"/>
  <Override PartName="/ppt/slides/slide882.xml" ContentType="application/vnd.openxmlformats-officedocument.presentationml.slide+xml"/>
  <Override PartName="/ppt/slides/slide8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media/image105.org&amp;utm_campaign=parser&amp;utm_content=thumbnail" ContentType="image/png"/>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package/2006/relationships/metadata/extended-properties" Target="docProps/app0.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85"/>
  </p:notesMasterIdLst>
  <p:handoutMasterIdLst>
    <p:handoutMasterId r:id="rId886"/>
  </p:handoutMasterIdLst>
  <p:sldIdLst>
    <p:sldId id="4176" r:id="rId2"/>
    <p:sldId id="4171" r:id="rId3"/>
    <p:sldId id="4087" r:id="rId4"/>
    <p:sldId id="4168" r:id="rId5"/>
    <p:sldId id="4169" r:id="rId6"/>
    <p:sldId id="4170" r:id="rId7"/>
    <p:sldId id="4088" r:id="rId8"/>
    <p:sldId id="4090" r:id="rId9"/>
    <p:sldId id="4091" r:id="rId10"/>
    <p:sldId id="4092" r:id="rId11"/>
    <p:sldId id="4177" r:id="rId12"/>
    <p:sldId id="4093" r:id="rId13"/>
    <p:sldId id="4094" r:id="rId14"/>
    <p:sldId id="4095" r:id="rId15"/>
    <p:sldId id="4096" r:id="rId16"/>
    <p:sldId id="4097" r:id="rId17"/>
    <p:sldId id="4098" r:id="rId18"/>
    <p:sldId id="4099" r:id="rId19"/>
    <p:sldId id="4178" r:id="rId20"/>
    <p:sldId id="4179" r:id="rId21"/>
    <p:sldId id="4100" r:id="rId22"/>
    <p:sldId id="4101" r:id="rId23"/>
    <p:sldId id="4102" r:id="rId24"/>
    <p:sldId id="4173" r:id="rId25"/>
    <p:sldId id="4174" r:id="rId26"/>
    <p:sldId id="4175" r:id="rId27"/>
    <p:sldId id="4103" r:id="rId28"/>
    <p:sldId id="4104" r:id="rId29"/>
    <p:sldId id="4106" r:id="rId30"/>
    <p:sldId id="4107" r:id="rId31"/>
    <p:sldId id="4108" r:id="rId32"/>
    <p:sldId id="4109" r:id="rId33"/>
    <p:sldId id="4110" r:id="rId34"/>
    <p:sldId id="4111" r:id="rId35"/>
    <p:sldId id="4112" r:id="rId36"/>
    <p:sldId id="4172" r:id="rId37"/>
    <p:sldId id="4113" r:id="rId38"/>
    <p:sldId id="4114" r:id="rId39"/>
    <p:sldId id="4115" r:id="rId40"/>
    <p:sldId id="4116" r:id="rId41"/>
    <p:sldId id="4182" r:id="rId42"/>
    <p:sldId id="4200" r:id="rId43"/>
    <p:sldId id="4194" r:id="rId44"/>
    <p:sldId id="4195" r:id="rId45"/>
    <p:sldId id="4196" r:id="rId46"/>
    <p:sldId id="4198" r:id="rId47"/>
    <p:sldId id="4197" r:id="rId48"/>
    <p:sldId id="4199" r:id="rId49"/>
    <p:sldId id="4119" r:id="rId50"/>
    <p:sldId id="4120" r:id="rId51"/>
    <p:sldId id="4121" r:id="rId52"/>
    <p:sldId id="4122" r:id="rId53"/>
    <p:sldId id="4123" r:id="rId54"/>
    <p:sldId id="4126" r:id="rId55"/>
    <p:sldId id="4185" r:id="rId56"/>
    <p:sldId id="4127" r:id="rId57"/>
    <p:sldId id="4186" r:id="rId58"/>
    <p:sldId id="4183" r:id="rId59"/>
    <p:sldId id="4188" r:id="rId60"/>
    <p:sldId id="4187" r:id="rId61"/>
    <p:sldId id="4184" r:id="rId62"/>
    <p:sldId id="4129" r:id="rId63"/>
    <p:sldId id="4130" r:id="rId64"/>
    <p:sldId id="4128" r:id="rId65"/>
    <p:sldId id="4124" r:id="rId66"/>
    <p:sldId id="4125" r:id="rId67"/>
    <p:sldId id="4180" r:id="rId68"/>
    <p:sldId id="4181" r:id="rId69"/>
    <p:sldId id="4131" r:id="rId70"/>
    <p:sldId id="4132" r:id="rId71"/>
    <p:sldId id="4193" r:id="rId72"/>
    <p:sldId id="4133" r:id="rId73"/>
    <p:sldId id="4134" r:id="rId74"/>
    <p:sldId id="4135" r:id="rId75"/>
    <p:sldId id="4136" r:id="rId76"/>
    <p:sldId id="4137" r:id="rId77"/>
    <p:sldId id="4138" r:id="rId78"/>
    <p:sldId id="4139" r:id="rId79"/>
    <p:sldId id="4140" r:id="rId80"/>
    <p:sldId id="4141" r:id="rId81"/>
    <p:sldId id="4142" r:id="rId82"/>
    <p:sldId id="4189" r:id="rId83"/>
    <p:sldId id="4143" r:id="rId84"/>
    <p:sldId id="4144" r:id="rId85"/>
    <p:sldId id="4145" r:id="rId86"/>
    <p:sldId id="4146" r:id="rId87"/>
    <p:sldId id="4192" r:id="rId88"/>
    <p:sldId id="4190" r:id="rId89"/>
    <p:sldId id="4191" r:id="rId90"/>
    <p:sldId id="4202" r:id="rId91"/>
    <p:sldId id="4207" r:id="rId92"/>
    <p:sldId id="4147" r:id="rId93"/>
    <p:sldId id="4203" r:id="rId94"/>
    <p:sldId id="4149" r:id="rId95"/>
    <p:sldId id="4150" r:id="rId96"/>
    <p:sldId id="4151" r:id="rId97"/>
    <p:sldId id="4152" r:id="rId98"/>
    <p:sldId id="4153" r:id="rId99"/>
    <p:sldId id="4154" r:id="rId100"/>
    <p:sldId id="4204" r:id="rId101"/>
    <p:sldId id="4155" r:id="rId102"/>
    <p:sldId id="4156" r:id="rId103"/>
    <p:sldId id="4157" r:id="rId104"/>
    <p:sldId id="4205" r:id="rId105"/>
    <p:sldId id="4158" r:id="rId106"/>
    <p:sldId id="4159" r:id="rId107"/>
    <p:sldId id="4160" r:id="rId108"/>
    <p:sldId id="4161" r:id="rId109"/>
    <p:sldId id="4162" r:id="rId110"/>
    <p:sldId id="4163" r:id="rId111"/>
    <p:sldId id="4164" r:id="rId112"/>
    <p:sldId id="4201" r:id="rId113"/>
    <p:sldId id="4166" r:id="rId114"/>
    <p:sldId id="4206" r:id="rId115"/>
    <p:sldId id="4167" r:id="rId116"/>
    <p:sldId id="4062" r:id="rId117"/>
    <p:sldId id="4314" r:id="rId118"/>
    <p:sldId id="3872" r:id="rId119"/>
    <p:sldId id="3873" r:id="rId120"/>
    <p:sldId id="3874" r:id="rId121"/>
    <p:sldId id="3875" r:id="rId122"/>
    <p:sldId id="3876" r:id="rId123"/>
    <p:sldId id="3877" r:id="rId124"/>
    <p:sldId id="3878" r:id="rId125"/>
    <p:sldId id="3879" r:id="rId126"/>
    <p:sldId id="3880" r:id="rId127"/>
    <p:sldId id="3896" r:id="rId128"/>
    <p:sldId id="3897" r:id="rId129"/>
    <p:sldId id="3881" r:id="rId130"/>
    <p:sldId id="4322" r:id="rId131"/>
    <p:sldId id="4321" r:id="rId132"/>
    <p:sldId id="3882" r:id="rId133"/>
    <p:sldId id="3883" r:id="rId134"/>
    <p:sldId id="3884" r:id="rId135"/>
    <p:sldId id="3885" r:id="rId136"/>
    <p:sldId id="3886" r:id="rId137"/>
    <p:sldId id="4082" r:id="rId138"/>
    <p:sldId id="4083" r:id="rId139"/>
    <p:sldId id="4084" r:id="rId140"/>
    <p:sldId id="4319" r:id="rId141"/>
    <p:sldId id="4068" r:id="rId142"/>
    <p:sldId id="4069" r:id="rId143"/>
    <p:sldId id="4320" r:id="rId144"/>
    <p:sldId id="4323" r:id="rId145"/>
    <p:sldId id="2760" r:id="rId146"/>
    <p:sldId id="4070" r:id="rId147"/>
    <p:sldId id="4071" r:id="rId148"/>
    <p:sldId id="4075" r:id="rId149"/>
    <p:sldId id="4076" r:id="rId150"/>
    <p:sldId id="4077" r:id="rId151"/>
    <p:sldId id="4078" r:id="rId152"/>
    <p:sldId id="4316" r:id="rId153"/>
    <p:sldId id="4318" r:id="rId154"/>
    <p:sldId id="4317" r:id="rId155"/>
    <p:sldId id="4315" r:id="rId156"/>
    <p:sldId id="2424" r:id="rId157"/>
    <p:sldId id="2438" r:id="rId158"/>
    <p:sldId id="2429" r:id="rId159"/>
    <p:sldId id="2430" r:id="rId160"/>
    <p:sldId id="2444" r:id="rId161"/>
    <p:sldId id="2431" r:id="rId162"/>
    <p:sldId id="2433" r:id="rId163"/>
    <p:sldId id="2436" r:id="rId164"/>
    <p:sldId id="2434" r:id="rId165"/>
    <p:sldId id="2435" r:id="rId166"/>
    <p:sldId id="2439" r:id="rId167"/>
    <p:sldId id="2440" r:id="rId168"/>
    <p:sldId id="4072" r:id="rId169"/>
    <p:sldId id="4073" r:id="rId170"/>
    <p:sldId id="4074" r:id="rId171"/>
    <p:sldId id="4079" r:id="rId172"/>
    <p:sldId id="4063" r:id="rId173"/>
    <p:sldId id="4067" r:id="rId174"/>
    <p:sldId id="4066" r:id="rId175"/>
    <p:sldId id="4065" r:id="rId176"/>
    <p:sldId id="4064" r:id="rId177"/>
    <p:sldId id="4012" r:id="rId178"/>
    <p:sldId id="4304" r:id="rId179"/>
    <p:sldId id="4303" r:id="rId180"/>
    <p:sldId id="4047" r:id="rId181"/>
    <p:sldId id="2338" r:id="rId182"/>
    <p:sldId id="4312" r:id="rId183"/>
    <p:sldId id="4313" r:id="rId184"/>
    <p:sldId id="2364" r:id="rId185"/>
    <p:sldId id="2365" r:id="rId186"/>
    <p:sldId id="2366" r:id="rId187"/>
    <p:sldId id="4013" r:id="rId188"/>
    <p:sldId id="2340" r:id="rId189"/>
    <p:sldId id="2361" r:id="rId190"/>
    <p:sldId id="2362" r:id="rId191"/>
    <p:sldId id="2341" r:id="rId192"/>
    <p:sldId id="4311" r:id="rId193"/>
    <p:sldId id="2342" r:id="rId194"/>
    <p:sldId id="2343" r:id="rId195"/>
    <p:sldId id="2316" r:id="rId196"/>
    <p:sldId id="4034" r:id="rId197"/>
    <p:sldId id="4024" r:id="rId198"/>
    <p:sldId id="4018" r:id="rId199"/>
    <p:sldId id="4016" r:id="rId200"/>
    <p:sldId id="4019" r:id="rId201"/>
    <p:sldId id="4020" r:id="rId202"/>
    <p:sldId id="4023" r:id="rId203"/>
    <p:sldId id="4021" r:id="rId204"/>
    <p:sldId id="4022" r:id="rId205"/>
    <p:sldId id="4025" r:id="rId206"/>
    <p:sldId id="4026" r:id="rId207"/>
    <p:sldId id="4049" r:id="rId208"/>
    <p:sldId id="4015" r:id="rId209"/>
    <p:sldId id="2318" r:id="rId210"/>
    <p:sldId id="2348" r:id="rId211"/>
    <p:sldId id="2352" r:id="rId212"/>
    <p:sldId id="2347" r:id="rId213"/>
    <p:sldId id="4039" r:id="rId214"/>
    <p:sldId id="4037" r:id="rId215"/>
    <p:sldId id="4038" r:id="rId216"/>
    <p:sldId id="4051" r:id="rId217"/>
    <p:sldId id="2319" r:id="rId218"/>
    <p:sldId id="4305" r:id="rId219"/>
    <p:sldId id="4042" r:id="rId220"/>
    <p:sldId id="4043" r:id="rId221"/>
    <p:sldId id="4044" r:id="rId222"/>
    <p:sldId id="2317" r:id="rId223"/>
    <p:sldId id="4052" r:id="rId224"/>
    <p:sldId id="4301" r:id="rId225"/>
    <p:sldId id="4035" r:id="rId226"/>
    <p:sldId id="4027" r:id="rId227"/>
    <p:sldId id="4036" r:id="rId228"/>
    <p:sldId id="4028" r:id="rId229"/>
    <p:sldId id="4029" r:id="rId230"/>
    <p:sldId id="4030" r:id="rId231"/>
    <p:sldId id="4031" r:id="rId232"/>
    <p:sldId id="4032" r:id="rId233"/>
    <p:sldId id="4033" r:id="rId234"/>
    <p:sldId id="4050" r:id="rId235"/>
    <p:sldId id="2345" r:id="rId236"/>
    <p:sldId id="2349" r:id="rId237"/>
    <p:sldId id="4040" r:id="rId238"/>
    <p:sldId id="2351" r:id="rId239"/>
    <p:sldId id="2346" r:id="rId240"/>
    <p:sldId id="4048" r:id="rId241"/>
    <p:sldId id="4045" r:id="rId242"/>
    <p:sldId id="4046" r:id="rId243"/>
    <p:sldId id="2357" r:id="rId244"/>
    <p:sldId id="2358" r:id="rId245"/>
    <p:sldId id="2359" r:id="rId246"/>
    <p:sldId id="4306" r:id="rId247"/>
    <p:sldId id="2355" r:id="rId248"/>
    <p:sldId id="2360" r:id="rId249"/>
    <p:sldId id="4309" r:id="rId250"/>
    <p:sldId id="4310" r:id="rId251"/>
    <p:sldId id="4308" r:id="rId252"/>
    <p:sldId id="4053" r:id="rId253"/>
    <p:sldId id="4054" r:id="rId254"/>
    <p:sldId id="4057" r:id="rId255"/>
    <p:sldId id="4055" r:id="rId256"/>
    <p:sldId id="4056" r:id="rId257"/>
    <p:sldId id="4302" r:id="rId258"/>
    <p:sldId id="2368" r:id="rId259"/>
    <p:sldId id="2377" r:id="rId260"/>
    <p:sldId id="4060" r:id="rId261"/>
    <p:sldId id="4061" r:id="rId262"/>
    <p:sldId id="2425" r:id="rId263"/>
    <p:sldId id="2354" r:id="rId264"/>
    <p:sldId id="4295" r:id="rId265"/>
    <p:sldId id="4299" r:id="rId266"/>
    <p:sldId id="4300" r:id="rId267"/>
    <p:sldId id="3812" r:id="rId268"/>
    <p:sldId id="3814" r:id="rId269"/>
    <p:sldId id="3817" r:id="rId270"/>
    <p:sldId id="3818" r:id="rId271"/>
    <p:sldId id="3819" r:id="rId272"/>
    <p:sldId id="3820" r:id="rId273"/>
    <p:sldId id="4296" r:id="rId274"/>
    <p:sldId id="4297" r:id="rId275"/>
    <p:sldId id="3638" r:id="rId276"/>
    <p:sldId id="3802" r:id="rId277"/>
    <p:sldId id="3794" r:id="rId278"/>
    <p:sldId id="3816" r:id="rId279"/>
    <p:sldId id="3822" r:id="rId280"/>
    <p:sldId id="3796" r:id="rId281"/>
    <p:sldId id="3857" r:id="rId282"/>
    <p:sldId id="3858" r:id="rId283"/>
    <p:sldId id="3859" r:id="rId284"/>
    <p:sldId id="3648" r:id="rId285"/>
    <p:sldId id="3641" r:id="rId286"/>
    <p:sldId id="3642" r:id="rId287"/>
    <p:sldId id="3643" r:id="rId288"/>
    <p:sldId id="3653" r:id="rId289"/>
    <p:sldId id="3649" r:id="rId290"/>
    <p:sldId id="3656" r:id="rId291"/>
    <p:sldId id="3651" r:id="rId292"/>
    <p:sldId id="3657" r:id="rId293"/>
    <p:sldId id="3652" r:id="rId294"/>
    <p:sldId id="3659" r:id="rId295"/>
    <p:sldId id="3661" r:id="rId296"/>
    <p:sldId id="3663" r:id="rId297"/>
    <p:sldId id="3664" r:id="rId298"/>
    <p:sldId id="3665" r:id="rId299"/>
    <p:sldId id="3666" r:id="rId300"/>
    <p:sldId id="3667" r:id="rId301"/>
    <p:sldId id="3673" r:id="rId302"/>
    <p:sldId id="3669" r:id="rId303"/>
    <p:sldId id="3670" r:id="rId304"/>
    <p:sldId id="3671" r:id="rId305"/>
    <p:sldId id="3672" r:id="rId306"/>
    <p:sldId id="3797" r:id="rId307"/>
    <p:sldId id="3798" r:id="rId308"/>
    <p:sldId id="3825" r:id="rId309"/>
    <p:sldId id="3826" r:id="rId310"/>
    <p:sldId id="3827" r:id="rId311"/>
    <p:sldId id="3861" r:id="rId312"/>
    <p:sldId id="3807" r:id="rId313"/>
    <p:sldId id="3824" r:id="rId314"/>
    <p:sldId id="3860" r:id="rId315"/>
    <p:sldId id="3829" r:id="rId316"/>
    <p:sldId id="3800" r:id="rId317"/>
    <p:sldId id="3801" r:id="rId318"/>
    <p:sldId id="3808" r:id="rId319"/>
    <p:sldId id="3809" r:id="rId320"/>
    <p:sldId id="3810" r:id="rId321"/>
    <p:sldId id="3811" r:id="rId322"/>
    <p:sldId id="3830" r:id="rId323"/>
    <p:sldId id="3831" r:id="rId324"/>
    <p:sldId id="3838" r:id="rId325"/>
    <p:sldId id="3841" r:id="rId326"/>
    <p:sldId id="3842" r:id="rId327"/>
    <p:sldId id="3862" r:id="rId328"/>
    <p:sldId id="3856" r:id="rId329"/>
    <p:sldId id="3844" r:id="rId330"/>
    <p:sldId id="3832" r:id="rId331"/>
    <p:sldId id="3845" r:id="rId332"/>
    <p:sldId id="3848" r:id="rId333"/>
    <p:sldId id="3846" r:id="rId334"/>
    <p:sldId id="3847" r:id="rId335"/>
    <p:sldId id="3849" r:id="rId336"/>
    <p:sldId id="3866" r:id="rId337"/>
    <p:sldId id="4298" r:id="rId338"/>
    <p:sldId id="3868" r:id="rId339"/>
    <p:sldId id="3850" r:id="rId340"/>
    <p:sldId id="3851" r:id="rId341"/>
    <p:sldId id="3854" r:id="rId342"/>
    <p:sldId id="3852" r:id="rId343"/>
    <p:sldId id="3853" r:id="rId344"/>
    <p:sldId id="3855" r:id="rId345"/>
    <p:sldId id="3837" r:id="rId346"/>
    <p:sldId id="3864" r:id="rId347"/>
    <p:sldId id="4294" r:id="rId348"/>
    <p:sldId id="3863" r:id="rId349"/>
    <p:sldId id="3865" r:id="rId350"/>
    <p:sldId id="3895" r:id="rId351"/>
    <p:sldId id="3871" r:id="rId352"/>
    <p:sldId id="3870" r:id="rId353"/>
    <p:sldId id="3627" r:id="rId354"/>
    <p:sldId id="3626" r:id="rId355"/>
    <p:sldId id="3501" r:id="rId356"/>
    <p:sldId id="3502" r:id="rId357"/>
    <p:sldId id="3504" r:id="rId358"/>
    <p:sldId id="3512" r:id="rId359"/>
    <p:sldId id="3513" r:id="rId360"/>
    <p:sldId id="3514" r:id="rId361"/>
    <p:sldId id="3515" r:id="rId362"/>
    <p:sldId id="3518" r:id="rId363"/>
    <p:sldId id="3519" r:id="rId364"/>
    <p:sldId id="3520" r:id="rId365"/>
    <p:sldId id="3521" r:id="rId366"/>
    <p:sldId id="3633" r:id="rId367"/>
    <p:sldId id="3634" r:id="rId368"/>
    <p:sldId id="3631" r:id="rId369"/>
    <p:sldId id="3632" r:id="rId370"/>
    <p:sldId id="3522" r:id="rId371"/>
    <p:sldId id="3523" r:id="rId372"/>
    <p:sldId id="3524" r:id="rId373"/>
    <p:sldId id="3525" r:id="rId374"/>
    <p:sldId id="3526" r:id="rId375"/>
    <p:sldId id="3628" r:id="rId376"/>
    <p:sldId id="3527" r:id="rId377"/>
    <p:sldId id="3528" r:id="rId378"/>
    <p:sldId id="3529" r:id="rId379"/>
    <p:sldId id="3530" r:id="rId380"/>
    <p:sldId id="3531" r:id="rId381"/>
    <p:sldId id="3532" r:id="rId382"/>
    <p:sldId id="3533" r:id="rId383"/>
    <p:sldId id="3534" r:id="rId384"/>
    <p:sldId id="3535" r:id="rId385"/>
    <p:sldId id="3536" r:id="rId386"/>
    <p:sldId id="3537" r:id="rId387"/>
    <p:sldId id="3538" r:id="rId388"/>
    <p:sldId id="3539" r:id="rId389"/>
    <p:sldId id="3540" r:id="rId390"/>
    <p:sldId id="3541" r:id="rId391"/>
    <p:sldId id="3542" r:id="rId392"/>
    <p:sldId id="3543" r:id="rId393"/>
    <p:sldId id="3544" r:id="rId394"/>
    <p:sldId id="3545" r:id="rId395"/>
    <p:sldId id="3546" r:id="rId396"/>
    <p:sldId id="3547" r:id="rId397"/>
    <p:sldId id="3548" r:id="rId398"/>
    <p:sldId id="3549" r:id="rId399"/>
    <p:sldId id="3550" r:id="rId400"/>
    <p:sldId id="3551" r:id="rId401"/>
    <p:sldId id="3630" r:id="rId402"/>
    <p:sldId id="3552" r:id="rId403"/>
    <p:sldId id="3553" r:id="rId404"/>
    <p:sldId id="3554" r:id="rId405"/>
    <p:sldId id="3555" r:id="rId406"/>
    <p:sldId id="3556" r:id="rId407"/>
    <p:sldId id="3557" r:id="rId408"/>
    <p:sldId id="3635" r:id="rId409"/>
    <p:sldId id="3503" r:id="rId410"/>
    <p:sldId id="3629" r:id="rId411"/>
    <p:sldId id="3583" r:id="rId412"/>
    <p:sldId id="3584" r:id="rId413"/>
    <p:sldId id="3585" r:id="rId414"/>
    <p:sldId id="3586" r:id="rId415"/>
    <p:sldId id="3760" r:id="rId416"/>
    <p:sldId id="3755" r:id="rId417"/>
    <p:sldId id="3756" r:id="rId418"/>
    <p:sldId id="3757" r:id="rId419"/>
    <p:sldId id="2817" r:id="rId420"/>
    <p:sldId id="3720" r:id="rId421"/>
    <p:sldId id="3721" r:id="rId422"/>
    <p:sldId id="3722" r:id="rId423"/>
    <p:sldId id="3723" r:id="rId424"/>
    <p:sldId id="3724" r:id="rId425"/>
    <p:sldId id="3725" r:id="rId426"/>
    <p:sldId id="3726" r:id="rId427"/>
    <p:sldId id="3714" r:id="rId428"/>
    <p:sldId id="3571" r:id="rId429"/>
    <p:sldId id="3715" r:id="rId430"/>
    <p:sldId id="3712" r:id="rId431"/>
    <p:sldId id="3713" r:id="rId432"/>
    <p:sldId id="3716" r:id="rId433"/>
    <p:sldId id="3674" r:id="rId434"/>
    <p:sldId id="3675" r:id="rId435"/>
    <p:sldId id="3676" r:id="rId436"/>
    <p:sldId id="2793" r:id="rId437"/>
    <p:sldId id="3677" r:id="rId438"/>
    <p:sldId id="3709" r:id="rId439"/>
    <p:sldId id="3678" r:id="rId440"/>
    <p:sldId id="3681" r:id="rId441"/>
    <p:sldId id="3682" r:id="rId442"/>
    <p:sldId id="3683" r:id="rId443"/>
    <p:sldId id="3684" r:id="rId444"/>
    <p:sldId id="3686" r:id="rId445"/>
    <p:sldId id="3685" r:id="rId446"/>
    <p:sldId id="3679" r:id="rId447"/>
    <p:sldId id="3710" r:id="rId448"/>
    <p:sldId id="3692" r:id="rId449"/>
    <p:sldId id="3687" r:id="rId450"/>
    <p:sldId id="3680" r:id="rId451"/>
    <p:sldId id="3688" r:id="rId452"/>
    <p:sldId id="3689" r:id="rId453"/>
    <p:sldId id="3690" r:id="rId454"/>
    <p:sldId id="3691" r:id="rId455"/>
    <p:sldId id="3693" r:id="rId456"/>
    <p:sldId id="3694" r:id="rId457"/>
    <p:sldId id="2804" r:id="rId458"/>
    <p:sldId id="3711" r:id="rId459"/>
    <p:sldId id="3696" r:id="rId460"/>
    <p:sldId id="3697" r:id="rId461"/>
    <p:sldId id="3698" r:id="rId462"/>
    <p:sldId id="3699" r:id="rId463"/>
    <p:sldId id="3700" r:id="rId464"/>
    <p:sldId id="3701" r:id="rId465"/>
    <p:sldId id="3707" r:id="rId466"/>
    <p:sldId id="3702" r:id="rId467"/>
    <p:sldId id="3703" r:id="rId468"/>
    <p:sldId id="3704" r:id="rId469"/>
    <p:sldId id="3708" r:id="rId470"/>
    <p:sldId id="3705" r:id="rId471"/>
    <p:sldId id="3706" r:id="rId472"/>
    <p:sldId id="2058" r:id="rId473"/>
    <p:sldId id="2092" r:id="rId474"/>
    <p:sldId id="3718" r:id="rId475"/>
    <p:sldId id="3717" r:id="rId476"/>
    <p:sldId id="3719" r:id="rId477"/>
    <p:sldId id="3736" r:id="rId478"/>
    <p:sldId id="3739" r:id="rId479"/>
    <p:sldId id="3728" r:id="rId480"/>
    <p:sldId id="3729" r:id="rId481"/>
    <p:sldId id="3730" r:id="rId482"/>
    <p:sldId id="3733" r:id="rId483"/>
    <p:sldId id="3731" r:id="rId484"/>
    <p:sldId id="3734" r:id="rId485"/>
    <p:sldId id="3754" r:id="rId486"/>
    <p:sldId id="3732" r:id="rId487"/>
    <p:sldId id="3735" r:id="rId488"/>
    <p:sldId id="3737" r:id="rId489"/>
    <p:sldId id="3740" r:id="rId490"/>
    <p:sldId id="3738" r:id="rId491"/>
    <p:sldId id="3741" r:id="rId492"/>
    <p:sldId id="3742" r:id="rId493"/>
    <p:sldId id="3743" r:id="rId494"/>
    <p:sldId id="3744" r:id="rId495"/>
    <p:sldId id="3745" r:id="rId496"/>
    <p:sldId id="3746" r:id="rId497"/>
    <p:sldId id="3747" r:id="rId498"/>
    <p:sldId id="3748" r:id="rId499"/>
    <p:sldId id="3749" r:id="rId500"/>
    <p:sldId id="3750" r:id="rId501"/>
    <p:sldId id="3751" r:id="rId502"/>
    <p:sldId id="3752" r:id="rId503"/>
    <p:sldId id="3753" r:id="rId504"/>
    <p:sldId id="4286" r:id="rId505"/>
    <p:sldId id="4285" r:id="rId506"/>
    <p:sldId id="4287" r:id="rId507"/>
    <p:sldId id="4288" r:id="rId508"/>
    <p:sldId id="4289" r:id="rId509"/>
    <p:sldId id="4290" r:id="rId510"/>
    <p:sldId id="3782" r:id="rId511"/>
    <p:sldId id="3790" r:id="rId512"/>
    <p:sldId id="3791" r:id="rId513"/>
    <p:sldId id="3792" r:id="rId514"/>
    <p:sldId id="3787" r:id="rId515"/>
    <p:sldId id="4292" r:id="rId516"/>
    <p:sldId id="3766" r:id="rId517"/>
    <p:sldId id="3769" r:id="rId518"/>
    <p:sldId id="3773" r:id="rId519"/>
    <p:sldId id="3774" r:id="rId520"/>
    <p:sldId id="3767" r:id="rId521"/>
    <p:sldId id="3770" r:id="rId522"/>
    <p:sldId id="3771" r:id="rId523"/>
    <p:sldId id="3776" r:id="rId524"/>
    <p:sldId id="397" r:id="rId525"/>
    <p:sldId id="398" r:id="rId526"/>
    <p:sldId id="3775" r:id="rId527"/>
    <p:sldId id="3778" r:id="rId528"/>
    <p:sldId id="4291" r:id="rId529"/>
    <p:sldId id="3777" r:id="rId530"/>
    <p:sldId id="3783" r:id="rId531"/>
    <p:sldId id="3789" r:id="rId532"/>
    <p:sldId id="3779" r:id="rId533"/>
    <p:sldId id="3788" r:id="rId534"/>
    <p:sldId id="3780" r:id="rId535"/>
    <p:sldId id="3781" r:id="rId536"/>
    <p:sldId id="3765" r:id="rId537"/>
    <p:sldId id="3785" r:id="rId538"/>
    <p:sldId id="3784" r:id="rId539"/>
    <p:sldId id="499" r:id="rId540"/>
    <p:sldId id="2038" r:id="rId541"/>
    <p:sldId id="2006" r:id="rId542"/>
    <p:sldId id="2007" r:id="rId543"/>
    <p:sldId id="2009" r:id="rId544"/>
    <p:sldId id="2039" r:id="rId545"/>
    <p:sldId id="2011" r:id="rId546"/>
    <p:sldId id="2012" r:id="rId547"/>
    <p:sldId id="3786" r:id="rId548"/>
    <p:sldId id="2013" r:id="rId549"/>
    <p:sldId id="2008" r:id="rId550"/>
    <p:sldId id="2040" r:id="rId551"/>
    <p:sldId id="2043" r:id="rId552"/>
    <p:sldId id="2041" r:id="rId553"/>
    <p:sldId id="3329" r:id="rId554"/>
    <p:sldId id="3360" r:id="rId555"/>
    <p:sldId id="3444" r:id="rId556"/>
    <p:sldId id="3446" r:id="rId557"/>
    <p:sldId id="3445" r:id="rId558"/>
    <p:sldId id="3363" r:id="rId559"/>
    <p:sldId id="3364" r:id="rId560"/>
    <p:sldId id="3433" r:id="rId561"/>
    <p:sldId id="3434" r:id="rId562"/>
    <p:sldId id="3435" r:id="rId563"/>
    <p:sldId id="3366" r:id="rId564"/>
    <p:sldId id="3367" r:id="rId565"/>
    <p:sldId id="3368" r:id="rId566"/>
    <p:sldId id="3369" r:id="rId567"/>
    <p:sldId id="3436" r:id="rId568"/>
    <p:sldId id="3370" r:id="rId569"/>
    <p:sldId id="3371" r:id="rId570"/>
    <p:sldId id="3372" r:id="rId571"/>
    <p:sldId id="3373" r:id="rId572"/>
    <p:sldId id="3374" r:id="rId573"/>
    <p:sldId id="3375" r:id="rId574"/>
    <p:sldId id="3379" r:id="rId575"/>
    <p:sldId id="3380" r:id="rId576"/>
    <p:sldId id="3443" r:id="rId577"/>
    <p:sldId id="4264" r:id="rId578"/>
    <p:sldId id="3413" r:id="rId579"/>
    <p:sldId id="3437" r:id="rId580"/>
    <p:sldId id="3442" r:id="rId581"/>
    <p:sldId id="3438" r:id="rId582"/>
    <p:sldId id="3439" r:id="rId583"/>
    <p:sldId id="3474" r:id="rId584"/>
    <p:sldId id="3475" r:id="rId585"/>
    <p:sldId id="3476" r:id="rId586"/>
    <p:sldId id="3477" r:id="rId587"/>
    <p:sldId id="3478" r:id="rId588"/>
    <p:sldId id="3457" r:id="rId589"/>
    <p:sldId id="3460" r:id="rId590"/>
    <p:sldId id="3459" r:id="rId591"/>
    <p:sldId id="3455" r:id="rId592"/>
    <p:sldId id="3441" r:id="rId593"/>
    <p:sldId id="3447" r:id="rId594"/>
    <p:sldId id="4270" r:id="rId595"/>
    <p:sldId id="4274" r:id="rId596"/>
    <p:sldId id="4275" r:id="rId597"/>
    <p:sldId id="4271" r:id="rId598"/>
    <p:sldId id="4272" r:id="rId599"/>
    <p:sldId id="4273" r:id="rId600"/>
    <p:sldId id="4277" r:id="rId601"/>
    <p:sldId id="4278" r:id="rId602"/>
    <p:sldId id="4276" r:id="rId603"/>
    <p:sldId id="4279" r:id="rId604"/>
    <p:sldId id="4281" r:id="rId605"/>
    <p:sldId id="4280" r:id="rId606"/>
    <p:sldId id="4265" r:id="rId607"/>
    <p:sldId id="3381" r:id="rId608"/>
    <p:sldId id="3382" r:id="rId609"/>
    <p:sldId id="3383" r:id="rId610"/>
    <p:sldId id="4262" r:id="rId611"/>
    <p:sldId id="4263" r:id="rId612"/>
    <p:sldId id="3384" r:id="rId613"/>
    <p:sldId id="3385" r:id="rId614"/>
    <p:sldId id="3394" r:id="rId615"/>
    <p:sldId id="3395" r:id="rId616"/>
    <p:sldId id="4282" r:id="rId617"/>
    <p:sldId id="4283" r:id="rId618"/>
    <p:sldId id="4284" r:id="rId619"/>
    <p:sldId id="3392" r:id="rId620"/>
    <p:sldId id="3448" r:id="rId621"/>
    <p:sldId id="3396" r:id="rId622"/>
    <p:sldId id="3397" r:id="rId623"/>
    <p:sldId id="3398" r:id="rId624"/>
    <p:sldId id="4266" r:id="rId625"/>
    <p:sldId id="4267" r:id="rId626"/>
    <p:sldId id="4268" r:id="rId627"/>
    <p:sldId id="4269" r:id="rId628"/>
    <p:sldId id="3449" r:id="rId629"/>
    <p:sldId id="3399" r:id="rId630"/>
    <p:sldId id="3400" r:id="rId631"/>
    <p:sldId id="3401" r:id="rId632"/>
    <p:sldId id="3402" r:id="rId633"/>
    <p:sldId id="3403" r:id="rId634"/>
    <p:sldId id="3404" r:id="rId635"/>
    <p:sldId id="3405" r:id="rId636"/>
    <p:sldId id="3406" r:id="rId637"/>
    <p:sldId id="3407" r:id="rId638"/>
    <p:sldId id="3408" r:id="rId639"/>
    <p:sldId id="3409" r:id="rId640"/>
    <p:sldId id="3410" r:id="rId641"/>
    <p:sldId id="3411" r:id="rId642"/>
    <p:sldId id="3462" r:id="rId643"/>
    <p:sldId id="3376" r:id="rId644"/>
    <p:sldId id="3377" r:id="rId645"/>
    <p:sldId id="3378" r:id="rId646"/>
    <p:sldId id="4258" r:id="rId647"/>
    <p:sldId id="4259" r:id="rId648"/>
    <p:sldId id="4260" r:id="rId649"/>
    <p:sldId id="4261" r:id="rId650"/>
    <p:sldId id="3461" r:id="rId651"/>
    <p:sldId id="3452" r:id="rId652"/>
    <p:sldId id="3440" r:id="rId653"/>
    <p:sldId id="3450" r:id="rId654"/>
    <p:sldId id="3451" r:id="rId655"/>
    <p:sldId id="3414" r:id="rId656"/>
    <p:sldId id="3415" r:id="rId657"/>
    <p:sldId id="3416" r:id="rId658"/>
    <p:sldId id="3265" r:id="rId659"/>
    <p:sldId id="3317" r:id="rId660"/>
    <p:sldId id="3319" r:id="rId661"/>
    <p:sldId id="3267" r:id="rId662"/>
    <p:sldId id="4246" r:id="rId663"/>
    <p:sldId id="3268" r:id="rId664"/>
    <p:sldId id="3270" r:id="rId665"/>
    <p:sldId id="3271" r:id="rId666"/>
    <p:sldId id="3313" r:id="rId667"/>
    <p:sldId id="3318" r:id="rId668"/>
    <p:sldId id="3315" r:id="rId669"/>
    <p:sldId id="3316" r:id="rId670"/>
    <p:sldId id="3272" r:id="rId671"/>
    <p:sldId id="3273" r:id="rId672"/>
    <p:sldId id="3274" r:id="rId673"/>
    <p:sldId id="3275" r:id="rId674"/>
    <p:sldId id="3276" r:id="rId675"/>
    <p:sldId id="3277" r:id="rId676"/>
    <p:sldId id="3330" r:id="rId677"/>
    <p:sldId id="3331" r:id="rId678"/>
    <p:sldId id="3332" r:id="rId679"/>
    <p:sldId id="3333" r:id="rId680"/>
    <p:sldId id="3334" r:id="rId681"/>
    <p:sldId id="3278" r:id="rId682"/>
    <p:sldId id="3279" r:id="rId683"/>
    <p:sldId id="3280" r:id="rId684"/>
    <p:sldId id="3281" r:id="rId685"/>
    <p:sldId id="3282" r:id="rId686"/>
    <p:sldId id="3283" r:id="rId687"/>
    <p:sldId id="3284" r:id="rId688"/>
    <p:sldId id="3285" r:id="rId689"/>
    <p:sldId id="3286" r:id="rId690"/>
    <p:sldId id="3287" r:id="rId691"/>
    <p:sldId id="4248" r:id="rId692"/>
    <p:sldId id="3288" r:id="rId693"/>
    <p:sldId id="3289" r:id="rId694"/>
    <p:sldId id="3290" r:id="rId695"/>
    <p:sldId id="3291" r:id="rId696"/>
    <p:sldId id="4249" r:id="rId697"/>
    <p:sldId id="4250" r:id="rId698"/>
    <p:sldId id="3335" r:id="rId699"/>
    <p:sldId id="4247" r:id="rId700"/>
    <p:sldId id="4251" r:id="rId701"/>
    <p:sldId id="4256" r:id="rId702"/>
    <p:sldId id="3292" r:id="rId703"/>
    <p:sldId id="4252" r:id="rId704"/>
    <p:sldId id="4254" r:id="rId705"/>
    <p:sldId id="4253" r:id="rId706"/>
    <p:sldId id="4255" r:id="rId707"/>
    <p:sldId id="3293" r:id="rId708"/>
    <p:sldId id="3294" r:id="rId709"/>
    <p:sldId id="3354" r:id="rId710"/>
    <p:sldId id="3295" r:id="rId711"/>
    <p:sldId id="3296" r:id="rId712"/>
    <p:sldId id="3297" r:id="rId713"/>
    <p:sldId id="3298" r:id="rId714"/>
    <p:sldId id="3299" r:id="rId715"/>
    <p:sldId id="3300" r:id="rId716"/>
    <p:sldId id="3301" r:id="rId717"/>
    <p:sldId id="3302" r:id="rId718"/>
    <p:sldId id="3303" r:id="rId719"/>
    <p:sldId id="3304" r:id="rId720"/>
    <p:sldId id="3305" r:id="rId721"/>
    <p:sldId id="3306" r:id="rId722"/>
    <p:sldId id="3307" r:id="rId723"/>
    <p:sldId id="3308" r:id="rId724"/>
    <p:sldId id="3309" r:id="rId725"/>
    <p:sldId id="3310" r:id="rId726"/>
    <p:sldId id="3311" r:id="rId727"/>
    <p:sldId id="3312" r:id="rId728"/>
    <p:sldId id="4257" r:id="rId729"/>
    <p:sldId id="3227" r:id="rId730"/>
    <p:sldId id="3228" r:id="rId731"/>
    <p:sldId id="3229" r:id="rId732"/>
    <p:sldId id="3230" r:id="rId733"/>
    <p:sldId id="3356" r:id="rId734"/>
    <p:sldId id="3336" r:id="rId735"/>
    <p:sldId id="3353" r:id="rId736"/>
    <p:sldId id="3337" r:id="rId737"/>
    <p:sldId id="3338" r:id="rId738"/>
    <p:sldId id="3339" r:id="rId739"/>
    <p:sldId id="3340" r:id="rId740"/>
    <p:sldId id="3341" r:id="rId741"/>
    <p:sldId id="3342" r:id="rId742"/>
    <p:sldId id="3343" r:id="rId743"/>
    <p:sldId id="3344" r:id="rId744"/>
    <p:sldId id="3345" r:id="rId745"/>
    <p:sldId id="3346" r:id="rId746"/>
    <p:sldId id="3347" r:id="rId747"/>
    <p:sldId id="3348" r:id="rId748"/>
    <p:sldId id="3349" r:id="rId749"/>
    <p:sldId id="3352" r:id="rId750"/>
    <p:sldId id="3355" r:id="rId751"/>
    <p:sldId id="3324" r:id="rId752"/>
    <p:sldId id="3326" r:id="rId753"/>
    <p:sldId id="3327" r:id="rId754"/>
    <p:sldId id="3359" r:id="rId755"/>
    <p:sldId id="3328" r:id="rId756"/>
    <p:sldId id="3325" r:id="rId757"/>
    <p:sldId id="3357" r:id="rId758"/>
    <p:sldId id="3358" r:id="rId759"/>
    <p:sldId id="3193" r:id="rId760"/>
    <p:sldId id="3250" r:id="rId761"/>
    <p:sldId id="3249" r:id="rId762"/>
    <p:sldId id="3198" r:id="rId763"/>
    <p:sldId id="3214" r:id="rId764"/>
    <p:sldId id="4223" r:id="rId765"/>
    <p:sldId id="4224" r:id="rId766"/>
    <p:sldId id="4225" r:id="rId767"/>
    <p:sldId id="4226" r:id="rId768"/>
    <p:sldId id="4227" r:id="rId769"/>
    <p:sldId id="4238" r:id="rId770"/>
    <p:sldId id="4239" r:id="rId771"/>
    <p:sldId id="4236" r:id="rId772"/>
    <p:sldId id="4237" r:id="rId773"/>
    <p:sldId id="4244" r:id="rId774"/>
    <p:sldId id="4245" r:id="rId775"/>
    <p:sldId id="3235" r:id="rId776"/>
    <p:sldId id="3236" r:id="rId777"/>
    <p:sldId id="3199" r:id="rId778"/>
    <p:sldId id="3251" r:id="rId779"/>
    <p:sldId id="3260" r:id="rId780"/>
    <p:sldId id="3261" r:id="rId781"/>
    <p:sldId id="3243" r:id="rId782"/>
    <p:sldId id="4219" r:id="rId783"/>
    <p:sldId id="3213" r:id="rId784"/>
    <p:sldId id="4210" r:id="rId785"/>
    <p:sldId id="4240" r:id="rId786"/>
    <p:sldId id="3195" r:id="rId787"/>
    <p:sldId id="4208" r:id="rId788"/>
    <p:sldId id="4214" r:id="rId789"/>
    <p:sldId id="4215" r:id="rId790"/>
    <p:sldId id="4209" r:id="rId791"/>
    <p:sldId id="4243" r:id="rId792"/>
    <p:sldId id="4217" r:id="rId793"/>
    <p:sldId id="4229" r:id="rId794"/>
    <p:sldId id="4230" r:id="rId795"/>
    <p:sldId id="4235" r:id="rId796"/>
    <p:sldId id="4231" r:id="rId797"/>
    <p:sldId id="4241" r:id="rId798"/>
    <p:sldId id="4242" r:id="rId799"/>
    <p:sldId id="3215" r:id="rId800"/>
    <p:sldId id="4218" r:id="rId801"/>
    <p:sldId id="4220" r:id="rId802"/>
    <p:sldId id="4232" r:id="rId803"/>
    <p:sldId id="4233" r:id="rId804"/>
    <p:sldId id="3210" r:id="rId805"/>
    <p:sldId id="3194" r:id="rId806"/>
    <p:sldId id="4221" r:id="rId807"/>
    <p:sldId id="4222" r:id="rId808"/>
    <p:sldId id="4234" r:id="rId809"/>
    <p:sldId id="3211" r:id="rId810"/>
    <p:sldId id="3212" r:id="rId811"/>
    <p:sldId id="3247" r:id="rId812"/>
    <p:sldId id="3252" r:id="rId813"/>
    <p:sldId id="3253" r:id="rId814"/>
    <p:sldId id="3257" r:id="rId815"/>
    <p:sldId id="3254" r:id="rId816"/>
    <p:sldId id="3255" r:id="rId817"/>
    <p:sldId id="3200" r:id="rId818"/>
    <p:sldId id="3209" r:id="rId819"/>
    <p:sldId id="3201" r:id="rId820"/>
    <p:sldId id="3202" r:id="rId821"/>
    <p:sldId id="3204" r:id="rId822"/>
    <p:sldId id="3216" r:id="rId823"/>
    <p:sldId id="3205" r:id="rId824"/>
    <p:sldId id="3206" r:id="rId825"/>
    <p:sldId id="3207" r:id="rId826"/>
    <p:sldId id="3208" r:id="rId827"/>
    <p:sldId id="3248" r:id="rId828"/>
    <p:sldId id="3225" r:id="rId829"/>
    <p:sldId id="3232" r:id="rId830"/>
    <p:sldId id="3217" r:id="rId831"/>
    <p:sldId id="3218" r:id="rId832"/>
    <p:sldId id="3219" r:id="rId833"/>
    <p:sldId id="3220" r:id="rId834"/>
    <p:sldId id="3221" r:id="rId835"/>
    <p:sldId id="3222" r:id="rId836"/>
    <p:sldId id="3223" r:id="rId837"/>
    <p:sldId id="3224" r:id="rId838"/>
    <p:sldId id="3233" r:id="rId839"/>
    <p:sldId id="3238" r:id="rId840"/>
    <p:sldId id="3239" r:id="rId841"/>
    <p:sldId id="3240" r:id="rId842"/>
    <p:sldId id="3244" r:id="rId843"/>
    <p:sldId id="3241" r:id="rId844"/>
    <p:sldId id="3245" r:id="rId845"/>
    <p:sldId id="3246" r:id="rId846"/>
    <p:sldId id="3234" r:id="rId847"/>
    <p:sldId id="3263" r:id="rId848"/>
    <p:sldId id="3419" r:id="rId849"/>
    <p:sldId id="3420" r:id="rId850"/>
    <p:sldId id="3421" r:id="rId851"/>
    <p:sldId id="3422" r:id="rId852"/>
    <p:sldId id="3423" r:id="rId853"/>
    <p:sldId id="3424" r:id="rId854"/>
    <p:sldId id="3425" r:id="rId855"/>
    <p:sldId id="3426" r:id="rId856"/>
    <p:sldId id="3427" r:id="rId857"/>
    <p:sldId id="3428" r:id="rId858"/>
    <p:sldId id="3429" r:id="rId859"/>
    <p:sldId id="3430" r:id="rId860"/>
    <p:sldId id="3431" r:id="rId861"/>
    <p:sldId id="3432" r:id="rId862"/>
    <p:sldId id="3480" r:id="rId863"/>
    <p:sldId id="3481" r:id="rId864"/>
    <p:sldId id="3479" r:id="rId865"/>
    <p:sldId id="3482" r:id="rId866"/>
    <p:sldId id="3483" r:id="rId867"/>
    <p:sldId id="3484" r:id="rId868"/>
    <p:sldId id="3486" r:id="rId869"/>
    <p:sldId id="3485" r:id="rId870"/>
    <p:sldId id="3487" r:id="rId871"/>
    <p:sldId id="3488" r:id="rId872"/>
    <p:sldId id="3489" r:id="rId873"/>
    <p:sldId id="3490" r:id="rId874"/>
    <p:sldId id="3491" r:id="rId875"/>
    <p:sldId id="3494" r:id="rId876"/>
    <p:sldId id="3496" r:id="rId877"/>
    <p:sldId id="3495" r:id="rId878"/>
    <p:sldId id="3492" r:id="rId879"/>
    <p:sldId id="3499" r:id="rId880"/>
    <p:sldId id="3493" r:id="rId881"/>
    <p:sldId id="3497" r:id="rId882"/>
    <p:sldId id="3498" r:id="rId883"/>
    <p:sldId id="2339" r:id="rId88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ek07" id="{CBB0D195-D215-4E49-9426-7A92FFAB1FAC}">
          <p14:sldIdLst>
            <p14:sldId id="4176"/>
            <p14:sldId id="4171"/>
            <p14:sldId id="4087"/>
            <p14:sldId id="4168"/>
            <p14:sldId id="4169"/>
            <p14:sldId id="4170"/>
            <p14:sldId id="4088"/>
            <p14:sldId id="4090"/>
            <p14:sldId id="4091"/>
            <p14:sldId id="4092"/>
            <p14:sldId id="4177"/>
            <p14:sldId id="4093"/>
            <p14:sldId id="4094"/>
            <p14:sldId id="4095"/>
            <p14:sldId id="4096"/>
            <p14:sldId id="4097"/>
            <p14:sldId id="4098"/>
            <p14:sldId id="4099"/>
            <p14:sldId id="4178"/>
            <p14:sldId id="4179"/>
            <p14:sldId id="4100"/>
            <p14:sldId id="4101"/>
            <p14:sldId id="4102"/>
            <p14:sldId id="4173"/>
            <p14:sldId id="4174"/>
            <p14:sldId id="4175"/>
            <p14:sldId id="4103"/>
            <p14:sldId id="4104"/>
            <p14:sldId id="4106"/>
            <p14:sldId id="4107"/>
            <p14:sldId id="4108"/>
            <p14:sldId id="4109"/>
            <p14:sldId id="4110"/>
            <p14:sldId id="4111"/>
            <p14:sldId id="4112"/>
            <p14:sldId id="4172"/>
            <p14:sldId id="4113"/>
            <p14:sldId id="4114"/>
            <p14:sldId id="4115"/>
            <p14:sldId id="4116"/>
            <p14:sldId id="4182"/>
            <p14:sldId id="4200"/>
            <p14:sldId id="4194"/>
            <p14:sldId id="4195"/>
            <p14:sldId id="4196"/>
            <p14:sldId id="4198"/>
            <p14:sldId id="4197"/>
            <p14:sldId id="4199"/>
            <p14:sldId id="4119"/>
            <p14:sldId id="4120"/>
            <p14:sldId id="4121"/>
            <p14:sldId id="4122"/>
            <p14:sldId id="4123"/>
            <p14:sldId id="4126"/>
            <p14:sldId id="4185"/>
            <p14:sldId id="4127"/>
            <p14:sldId id="4186"/>
            <p14:sldId id="4183"/>
            <p14:sldId id="4188"/>
            <p14:sldId id="4187"/>
            <p14:sldId id="4184"/>
            <p14:sldId id="4129"/>
            <p14:sldId id="4130"/>
            <p14:sldId id="4128"/>
            <p14:sldId id="4124"/>
            <p14:sldId id="4125"/>
            <p14:sldId id="4180"/>
            <p14:sldId id="4181"/>
            <p14:sldId id="4131"/>
            <p14:sldId id="4132"/>
            <p14:sldId id="4193"/>
            <p14:sldId id="4133"/>
            <p14:sldId id="4134"/>
            <p14:sldId id="4135"/>
            <p14:sldId id="4136"/>
            <p14:sldId id="4137"/>
            <p14:sldId id="4138"/>
            <p14:sldId id="4139"/>
            <p14:sldId id="4140"/>
            <p14:sldId id="4141"/>
            <p14:sldId id="4142"/>
            <p14:sldId id="4189"/>
            <p14:sldId id="4143"/>
            <p14:sldId id="4144"/>
            <p14:sldId id="4145"/>
            <p14:sldId id="4146"/>
            <p14:sldId id="4192"/>
            <p14:sldId id="4190"/>
            <p14:sldId id="4191"/>
            <p14:sldId id="4202"/>
            <p14:sldId id="4207"/>
            <p14:sldId id="4147"/>
            <p14:sldId id="4203"/>
            <p14:sldId id="4149"/>
            <p14:sldId id="4150"/>
            <p14:sldId id="4151"/>
            <p14:sldId id="4152"/>
            <p14:sldId id="4153"/>
            <p14:sldId id="4154"/>
            <p14:sldId id="4204"/>
            <p14:sldId id="4155"/>
            <p14:sldId id="4156"/>
            <p14:sldId id="4157"/>
            <p14:sldId id="4205"/>
            <p14:sldId id="4158"/>
            <p14:sldId id="4159"/>
            <p14:sldId id="4160"/>
            <p14:sldId id="4161"/>
            <p14:sldId id="4162"/>
            <p14:sldId id="4163"/>
            <p14:sldId id="4164"/>
            <p14:sldId id="4201"/>
            <p14:sldId id="4166"/>
            <p14:sldId id="4206"/>
            <p14:sldId id="4167"/>
          </p14:sldIdLst>
        </p14:section>
        <p14:section name="Week06" id="{EE8FE254-D860-2F40-8D07-E61935732FC1}">
          <p14:sldIdLst>
            <p14:sldId id="4062"/>
            <p14:sldId id="4314"/>
            <p14:sldId id="3872"/>
            <p14:sldId id="3873"/>
            <p14:sldId id="3874"/>
            <p14:sldId id="3875"/>
            <p14:sldId id="3876"/>
            <p14:sldId id="3877"/>
            <p14:sldId id="3878"/>
            <p14:sldId id="3879"/>
            <p14:sldId id="3880"/>
            <p14:sldId id="3896"/>
            <p14:sldId id="3897"/>
            <p14:sldId id="3881"/>
            <p14:sldId id="4322"/>
            <p14:sldId id="4321"/>
            <p14:sldId id="3882"/>
            <p14:sldId id="3883"/>
            <p14:sldId id="3884"/>
            <p14:sldId id="3885"/>
            <p14:sldId id="3886"/>
            <p14:sldId id="4082"/>
            <p14:sldId id="4083"/>
            <p14:sldId id="4084"/>
            <p14:sldId id="4319"/>
            <p14:sldId id="4068"/>
            <p14:sldId id="4069"/>
            <p14:sldId id="4320"/>
            <p14:sldId id="4323"/>
            <p14:sldId id="2760"/>
            <p14:sldId id="4070"/>
            <p14:sldId id="4071"/>
            <p14:sldId id="4075"/>
            <p14:sldId id="4076"/>
            <p14:sldId id="4077"/>
            <p14:sldId id="4078"/>
            <p14:sldId id="4316"/>
            <p14:sldId id="4318"/>
            <p14:sldId id="4317"/>
            <p14:sldId id="4315"/>
            <p14:sldId id="2424"/>
            <p14:sldId id="2438"/>
            <p14:sldId id="2429"/>
            <p14:sldId id="2430"/>
            <p14:sldId id="2444"/>
            <p14:sldId id="2431"/>
            <p14:sldId id="2433"/>
            <p14:sldId id="2436"/>
            <p14:sldId id="2434"/>
            <p14:sldId id="2435"/>
            <p14:sldId id="2439"/>
            <p14:sldId id="2440"/>
            <p14:sldId id="4072"/>
            <p14:sldId id="4073"/>
            <p14:sldId id="4074"/>
            <p14:sldId id="4079"/>
            <p14:sldId id="4063"/>
            <p14:sldId id="4067"/>
            <p14:sldId id="4066"/>
            <p14:sldId id="4065"/>
            <p14:sldId id="4064"/>
          </p14:sldIdLst>
        </p14:section>
        <p14:section name="Week05" id="{4DC3FCE5-5C97-45DD-A5E2-BEAD9E5F5DE9}">
          <p14:sldIdLst>
            <p14:sldId id="4012"/>
            <p14:sldId id="4304"/>
            <p14:sldId id="4303"/>
            <p14:sldId id="4047"/>
            <p14:sldId id="2338"/>
            <p14:sldId id="4312"/>
            <p14:sldId id="4313"/>
            <p14:sldId id="2364"/>
            <p14:sldId id="2365"/>
            <p14:sldId id="2366"/>
            <p14:sldId id="4013"/>
            <p14:sldId id="2340"/>
            <p14:sldId id="2361"/>
            <p14:sldId id="2362"/>
            <p14:sldId id="2341"/>
            <p14:sldId id="4311"/>
            <p14:sldId id="2342"/>
            <p14:sldId id="2343"/>
            <p14:sldId id="2316"/>
            <p14:sldId id="4034"/>
            <p14:sldId id="4024"/>
            <p14:sldId id="4018"/>
            <p14:sldId id="4016"/>
            <p14:sldId id="4019"/>
            <p14:sldId id="4020"/>
            <p14:sldId id="4023"/>
            <p14:sldId id="4021"/>
            <p14:sldId id="4022"/>
            <p14:sldId id="4025"/>
            <p14:sldId id="4026"/>
            <p14:sldId id="4049"/>
            <p14:sldId id="4015"/>
            <p14:sldId id="2318"/>
            <p14:sldId id="2348"/>
            <p14:sldId id="2352"/>
            <p14:sldId id="2347"/>
            <p14:sldId id="4039"/>
            <p14:sldId id="4037"/>
            <p14:sldId id="4038"/>
            <p14:sldId id="4051"/>
            <p14:sldId id="2319"/>
            <p14:sldId id="4305"/>
            <p14:sldId id="4042"/>
            <p14:sldId id="4043"/>
            <p14:sldId id="4044"/>
            <p14:sldId id="2317"/>
            <p14:sldId id="4052"/>
            <p14:sldId id="4301"/>
            <p14:sldId id="4035"/>
            <p14:sldId id="4027"/>
            <p14:sldId id="4036"/>
            <p14:sldId id="4028"/>
            <p14:sldId id="4029"/>
            <p14:sldId id="4030"/>
            <p14:sldId id="4031"/>
            <p14:sldId id="4032"/>
            <p14:sldId id="4033"/>
            <p14:sldId id="4050"/>
            <p14:sldId id="2345"/>
            <p14:sldId id="2349"/>
            <p14:sldId id="4040"/>
            <p14:sldId id="2351"/>
            <p14:sldId id="2346"/>
            <p14:sldId id="4048"/>
            <p14:sldId id="4045"/>
            <p14:sldId id="4046"/>
            <p14:sldId id="2357"/>
            <p14:sldId id="2358"/>
            <p14:sldId id="2359"/>
            <p14:sldId id="4306"/>
            <p14:sldId id="2355"/>
            <p14:sldId id="2360"/>
            <p14:sldId id="4309"/>
            <p14:sldId id="4310"/>
            <p14:sldId id="4308"/>
            <p14:sldId id="4053"/>
            <p14:sldId id="4054"/>
            <p14:sldId id="4057"/>
            <p14:sldId id="4055"/>
            <p14:sldId id="4056"/>
            <p14:sldId id="4302"/>
            <p14:sldId id="2368"/>
            <p14:sldId id="2377"/>
            <p14:sldId id="4060"/>
            <p14:sldId id="4061"/>
            <p14:sldId id="2425"/>
            <p14:sldId id="2354"/>
          </p14:sldIdLst>
        </p14:section>
        <p14:section name="Week04" id="{3D9FD960-3EBB-8847-A37F-7B90E0FC90C6}">
          <p14:sldIdLst>
            <p14:sldId id="4295"/>
            <p14:sldId id="4299"/>
            <p14:sldId id="4300"/>
            <p14:sldId id="3812"/>
            <p14:sldId id="3814"/>
            <p14:sldId id="3817"/>
            <p14:sldId id="3818"/>
            <p14:sldId id="3819"/>
            <p14:sldId id="3820"/>
            <p14:sldId id="4296"/>
            <p14:sldId id="4297"/>
            <p14:sldId id="3638"/>
            <p14:sldId id="3802"/>
            <p14:sldId id="3794"/>
            <p14:sldId id="3816"/>
            <p14:sldId id="3822"/>
            <p14:sldId id="3796"/>
            <p14:sldId id="3857"/>
            <p14:sldId id="3858"/>
            <p14:sldId id="3859"/>
            <p14:sldId id="3648"/>
            <p14:sldId id="3641"/>
            <p14:sldId id="3642"/>
            <p14:sldId id="3643"/>
            <p14:sldId id="3653"/>
            <p14:sldId id="3649"/>
            <p14:sldId id="3656"/>
            <p14:sldId id="3651"/>
            <p14:sldId id="3657"/>
            <p14:sldId id="3652"/>
            <p14:sldId id="3659"/>
            <p14:sldId id="3661"/>
            <p14:sldId id="3663"/>
            <p14:sldId id="3664"/>
            <p14:sldId id="3665"/>
            <p14:sldId id="3666"/>
            <p14:sldId id="3667"/>
            <p14:sldId id="3673"/>
            <p14:sldId id="3669"/>
            <p14:sldId id="3670"/>
            <p14:sldId id="3671"/>
            <p14:sldId id="3672"/>
            <p14:sldId id="3797"/>
            <p14:sldId id="3798"/>
            <p14:sldId id="3825"/>
            <p14:sldId id="3826"/>
            <p14:sldId id="3827"/>
            <p14:sldId id="3861"/>
            <p14:sldId id="3807"/>
            <p14:sldId id="3824"/>
            <p14:sldId id="3860"/>
            <p14:sldId id="3829"/>
            <p14:sldId id="3800"/>
            <p14:sldId id="3801"/>
            <p14:sldId id="3808"/>
            <p14:sldId id="3809"/>
            <p14:sldId id="3810"/>
            <p14:sldId id="3811"/>
            <p14:sldId id="3830"/>
            <p14:sldId id="3831"/>
            <p14:sldId id="3838"/>
            <p14:sldId id="3841"/>
            <p14:sldId id="3842"/>
            <p14:sldId id="3862"/>
            <p14:sldId id="3856"/>
            <p14:sldId id="3844"/>
            <p14:sldId id="3832"/>
            <p14:sldId id="3845"/>
            <p14:sldId id="3848"/>
            <p14:sldId id="3846"/>
            <p14:sldId id="3847"/>
            <p14:sldId id="3849"/>
            <p14:sldId id="3866"/>
            <p14:sldId id="4298"/>
            <p14:sldId id="3868"/>
            <p14:sldId id="3850"/>
            <p14:sldId id="3851"/>
            <p14:sldId id="3854"/>
            <p14:sldId id="3852"/>
            <p14:sldId id="3853"/>
            <p14:sldId id="3855"/>
            <p14:sldId id="3837"/>
            <p14:sldId id="3864"/>
            <p14:sldId id="4294"/>
            <p14:sldId id="3863"/>
            <p14:sldId id="3865"/>
            <p14:sldId id="3895"/>
            <p14:sldId id="3871"/>
            <p14:sldId id="3870"/>
          </p14:sldIdLst>
        </p14:section>
        <p14:section name="Week03" id="{7EC6DDA4-FA99-CE41-9519-27835014F7AF}">
          <p14:sldIdLst>
            <p14:sldId id="3627"/>
            <p14:sldId id="3626"/>
            <p14:sldId id="3501"/>
            <p14:sldId id="3502"/>
            <p14:sldId id="3504"/>
            <p14:sldId id="3512"/>
            <p14:sldId id="3513"/>
            <p14:sldId id="3514"/>
            <p14:sldId id="3515"/>
            <p14:sldId id="3518"/>
            <p14:sldId id="3519"/>
            <p14:sldId id="3520"/>
            <p14:sldId id="3521"/>
            <p14:sldId id="3633"/>
            <p14:sldId id="3634"/>
            <p14:sldId id="3631"/>
            <p14:sldId id="3632"/>
            <p14:sldId id="3522"/>
            <p14:sldId id="3523"/>
            <p14:sldId id="3524"/>
            <p14:sldId id="3525"/>
            <p14:sldId id="3526"/>
            <p14:sldId id="3628"/>
            <p14:sldId id="3527"/>
            <p14:sldId id="3528"/>
            <p14:sldId id="3529"/>
            <p14:sldId id="3530"/>
            <p14:sldId id="3531"/>
            <p14:sldId id="3532"/>
            <p14:sldId id="3533"/>
            <p14:sldId id="3534"/>
            <p14:sldId id="3535"/>
            <p14:sldId id="3536"/>
            <p14:sldId id="3537"/>
            <p14:sldId id="3538"/>
            <p14:sldId id="3539"/>
            <p14:sldId id="3540"/>
            <p14:sldId id="3541"/>
            <p14:sldId id="3542"/>
            <p14:sldId id="3543"/>
            <p14:sldId id="3544"/>
            <p14:sldId id="3545"/>
            <p14:sldId id="3546"/>
            <p14:sldId id="3547"/>
            <p14:sldId id="3548"/>
            <p14:sldId id="3549"/>
            <p14:sldId id="3550"/>
            <p14:sldId id="3551"/>
            <p14:sldId id="3630"/>
            <p14:sldId id="3552"/>
            <p14:sldId id="3553"/>
            <p14:sldId id="3554"/>
            <p14:sldId id="3555"/>
            <p14:sldId id="3556"/>
            <p14:sldId id="3557"/>
            <p14:sldId id="3635"/>
            <p14:sldId id="3503"/>
            <p14:sldId id="3629"/>
            <p14:sldId id="3583"/>
            <p14:sldId id="3584"/>
            <p14:sldId id="3585"/>
            <p14:sldId id="3586"/>
            <p14:sldId id="3760"/>
            <p14:sldId id="3755"/>
            <p14:sldId id="3756"/>
            <p14:sldId id="3757"/>
            <p14:sldId id="2817"/>
            <p14:sldId id="3720"/>
            <p14:sldId id="3721"/>
            <p14:sldId id="3722"/>
            <p14:sldId id="3723"/>
            <p14:sldId id="3724"/>
            <p14:sldId id="3725"/>
            <p14:sldId id="3726"/>
            <p14:sldId id="3714"/>
            <p14:sldId id="3571"/>
            <p14:sldId id="3715"/>
            <p14:sldId id="3712"/>
            <p14:sldId id="3713"/>
            <p14:sldId id="3716"/>
            <p14:sldId id="3674"/>
            <p14:sldId id="3675"/>
            <p14:sldId id="3676"/>
            <p14:sldId id="2793"/>
            <p14:sldId id="3677"/>
            <p14:sldId id="3709"/>
            <p14:sldId id="3678"/>
            <p14:sldId id="3681"/>
            <p14:sldId id="3682"/>
            <p14:sldId id="3683"/>
            <p14:sldId id="3684"/>
            <p14:sldId id="3686"/>
            <p14:sldId id="3685"/>
            <p14:sldId id="3679"/>
            <p14:sldId id="3710"/>
            <p14:sldId id="3692"/>
            <p14:sldId id="3687"/>
            <p14:sldId id="3680"/>
            <p14:sldId id="3688"/>
            <p14:sldId id="3689"/>
            <p14:sldId id="3690"/>
            <p14:sldId id="3691"/>
            <p14:sldId id="3693"/>
            <p14:sldId id="3694"/>
            <p14:sldId id="2804"/>
            <p14:sldId id="3711"/>
            <p14:sldId id="3696"/>
            <p14:sldId id="3697"/>
            <p14:sldId id="3698"/>
            <p14:sldId id="3699"/>
            <p14:sldId id="3700"/>
            <p14:sldId id="3701"/>
            <p14:sldId id="3707"/>
            <p14:sldId id="3702"/>
            <p14:sldId id="3703"/>
            <p14:sldId id="3704"/>
            <p14:sldId id="3708"/>
            <p14:sldId id="3705"/>
            <p14:sldId id="3706"/>
            <p14:sldId id="2058"/>
            <p14:sldId id="2092"/>
            <p14:sldId id="3718"/>
            <p14:sldId id="3717"/>
            <p14:sldId id="3719"/>
            <p14:sldId id="3736"/>
            <p14:sldId id="3739"/>
            <p14:sldId id="3728"/>
            <p14:sldId id="3729"/>
            <p14:sldId id="3730"/>
            <p14:sldId id="3733"/>
            <p14:sldId id="3731"/>
            <p14:sldId id="3734"/>
            <p14:sldId id="3754"/>
            <p14:sldId id="3732"/>
            <p14:sldId id="3735"/>
            <p14:sldId id="3737"/>
            <p14:sldId id="3740"/>
            <p14:sldId id="3738"/>
            <p14:sldId id="3741"/>
            <p14:sldId id="3742"/>
            <p14:sldId id="3743"/>
            <p14:sldId id="3744"/>
            <p14:sldId id="3745"/>
            <p14:sldId id="3746"/>
            <p14:sldId id="3747"/>
            <p14:sldId id="3748"/>
            <p14:sldId id="3749"/>
            <p14:sldId id="3750"/>
            <p14:sldId id="3751"/>
            <p14:sldId id="3752"/>
            <p14:sldId id="3753"/>
            <p14:sldId id="4286"/>
            <p14:sldId id="4285"/>
            <p14:sldId id="4287"/>
            <p14:sldId id="4288"/>
            <p14:sldId id="4289"/>
            <p14:sldId id="4290"/>
            <p14:sldId id="3782"/>
            <p14:sldId id="3790"/>
            <p14:sldId id="3791"/>
            <p14:sldId id="3792"/>
            <p14:sldId id="3787"/>
            <p14:sldId id="4292"/>
            <p14:sldId id="3766"/>
            <p14:sldId id="3769"/>
            <p14:sldId id="3773"/>
            <p14:sldId id="3774"/>
            <p14:sldId id="3767"/>
            <p14:sldId id="3770"/>
            <p14:sldId id="3771"/>
            <p14:sldId id="3776"/>
            <p14:sldId id="397"/>
            <p14:sldId id="398"/>
            <p14:sldId id="3775"/>
            <p14:sldId id="3778"/>
            <p14:sldId id="4291"/>
            <p14:sldId id="3777"/>
            <p14:sldId id="3783"/>
            <p14:sldId id="3789"/>
            <p14:sldId id="3779"/>
            <p14:sldId id="3788"/>
            <p14:sldId id="3780"/>
            <p14:sldId id="3781"/>
            <p14:sldId id="3765"/>
            <p14:sldId id="3785"/>
            <p14:sldId id="3784"/>
            <p14:sldId id="499"/>
            <p14:sldId id="2038"/>
            <p14:sldId id="2006"/>
            <p14:sldId id="2007"/>
            <p14:sldId id="2009"/>
            <p14:sldId id="2039"/>
            <p14:sldId id="2011"/>
            <p14:sldId id="2012"/>
            <p14:sldId id="3786"/>
            <p14:sldId id="2013"/>
            <p14:sldId id="2008"/>
            <p14:sldId id="2040"/>
            <p14:sldId id="2043"/>
            <p14:sldId id="2041"/>
          </p14:sldIdLst>
        </p14:section>
        <p14:section name="Week02" id="{C5632558-1825-9A4A-B744-4CC3BB5B4A22}">
          <p14:sldIdLst>
            <p14:sldId id="3329"/>
            <p14:sldId id="3360"/>
            <p14:sldId id="3444"/>
            <p14:sldId id="3446"/>
            <p14:sldId id="3445"/>
            <p14:sldId id="3363"/>
            <p14:sldId id="3364"/>
            <p14:sldId id="3433"/>
            <p14:sldId id="3434"/>
            <p14:sldId id="3435"/>
            <p14:sldId id="3366"/>
            <p14:sldId id="3367"/>
            <p14:sldId id="3368"/>
            <p14:sldId id="3369"/>
            <p14:sldId id="3436"/>
            <p14:sldId id="3370"/>
            <p14:sldId id="3371"/>
            <p14:sldId id="3372"/>
            <p14:sldId id="3373"/>
            <p14:sldId id="3374"/>
            <p14:sldId id="3375"/>
            <p14:sldId id="3379"/>
            <p14:sldId id="3380"/>
            <p14:sldId id="3443"/>
            <p14:sldId id="4264"/>
            <p14:sldId id="3413"/>
            <p14:sldId id="3437"/>
            <p14:sldId id="3442"/>
            <p14:sldId id="3438"/>
            <p14:sldId id="3439"/>
            <p14:sldId id="3474"/>
            <p14:sldId id="3475"/>
            <p14:sldId id="3476"/>
            <p14:sldId id="3477"/>
            <p14:sldId id="3478"/>
            <p14:sldId id="3457"/>
            <p14:sldId id="3460"/>
            <p14:sldId id="3459"/>
            <p14:sldId id="3455"/>
            <p14:sldId id="3441"/>
            <p14:sldId id="3447"/>
            <p14:sldId id="4270"/>
            <p14:sldId id="4274"/>
            <p14:sldId id="4275"/>
            <p14:sldId id="4271"/>
            <p14:sldId id="4272"/>
            <p14:sldId id="4273"/>
            <p14:sldId id="4277"/>
            <p14:sldId id="4278"/>
            <p14:sldId id="4276"/>
            <p14:sldId id="4279"/>
            <p14:sldId id="4281"/>
            <p14:sldId id="4280"/>
            <p14:sldId id="4265"/>
            <p14:sldId id="3381"/>
            <p14:sldId id="3382"/>
            <p14:sldId id="3383"/>
            <p14:sldId id="4262"/>
            <p14:sldId id="4263"/>
            <p14:sldId id="3384"/>
            <p14:sldId id="3385"/>
            <p14:sldId id="3394"/>
            <p14:sldId id="3395"/>
            <p14:sldId id="4282"/>
            <p14:sldId id="4283"/>
            <p14:sldId id="4284"/>
            <p14:sldId id="3392"/>
            <p14:sldId id="3448"/>
            <p14:sldId id="3396"/>
            <p14:sldId id="3397"/>
            <p14:sldId id="3398"/>
            <p14:sldId id="4266"/>
            <p14:sldId id="4267"/>
            <p14:sldId id="4268"/>
            <p14:sldId id="4269"/>
            <p14:sldId id="3449"/>
            <p14:sldId id="3399"/>
            <p14:sldId id="3400"/>
            <p14:sldId id="3401"/>
            <p14:sldId id="3402"/>
            <p14:sldId id="3403"/>
            <p14:sldId id="3404"/>
            <p14:sldId id="3405"/>
            <p14:sldId id="3406"/>
            <p14:sldId id="3407"/>
            <p14:sldId id="3408"/>
            <p14:sldId id="3409"/>
            <p14:sldId id="3410"/>
            <p14:sldId id="3411"/>
            <p14:sldId id="3462"/>
            <p14:sldId id="3376"/>
            <p14:sldId id="3377"/>
            <p14:sldId id="3378"/>
            <p14:sldId id="4258"/>
            <p14:sldId id="4259"/>
            <p14:sldId id="4260"/>
            <p14:sldId id="4261"/>
            <p14:sldId id="3461"/>
            <p14:sldId id="3452"/>
            <p14:sldId id="3440"/>
            <p14:sldId id="3450"/>
            <p14:sldId id="3451"/>
            <p14:sldId id="3414"/>
            <p14:sldId id="3415"/>
            <p14:sldId id="3416"/>
          </p14:sldIdLst>
        </p14:section>
        <p14:section name="Week01" id="{C160EE5D-8A9C-C04F-AFF9-4A719C14E207}">
          <p14:sldIdLst>
            <p14:sldId id="3265"/>
            <p14:sldId id="3317"/>
            <p14:sldId id="3319"/>
            <p14:sldId id="3267"/>
            <p14:sldId id="4246"/>
            <p14:sldId id="3268"/>
            <p14:sldId id="3270"/>
            <p14:sldId id="3271"/>
            <p14:sldId id="3313"/>
            <p14:sldId id="3318"/>
            <p14:sldId id="3315"/>
            <p14:sldId id="3316"/>
            <p14:sldId id="3272"/>
            <p14:sldId id="3273"/>
            <p14:sldId id="3274"/>
            <p14:sldId id="3275"/>
            <p14:sldId id="3276"/>
            <p14:sldId id="3277"/>
            <p14:sldId id="3330"/>
            <p14:sldId id="3331"/>
            <p14:sldId id="3332"/>
            <p14:sldId id="3333"/>
            <p14:sldId id="3334"/>
            <p14:sldId id="3278"/>
            <p14:sldId id="3279"/>
            <p14:sldId id="3280"/>
            <p14:sldId id="3281"/>
            <p14:sldId id="3282"/>
            <p14:sldId id="3283"/>
            <p14:sldId id="3284"/>
            <p14:sldId id="3285"/>
            <p14:sldId id="3286"/>
            <p14:sldId id="3287"/>
            <p14:sldId id="4248"/>
            <p14:sldId id="3288"/>
            <p14:sldId id="3289"/>
            <p14:sldId id="3290"/>
            <p14:sldId id="3291"/>
            <p14:sldId id="4249"/>
            <p14:sldId id="4250"/>
            <p14:sldId id="3335"/>
            <p14:sldId id="4247"/>
            <p14:sldId id="4251"/>
            <p14:sldId id="4256"/>
            <p14:sldId id="3292"/>
            <p14:sldId id="4252"/>
            <p14:sldId id="4254"/>
            <p14:sldId id="4253"/>
            <p14:sldId id="4255"/>
            <p14:sldId id="3293"/>
            <p14:sldId id="3294"/>
            <p14:sldId id="3354"/>
            <p14:sldId id="3295"/>
            <p14:sldId id="3296"/>
            <p14:sldId id="3297"/>
            <p14:sldId id="3298"/>
            <p14:sldId id="3299"/>
            <p14:sldId id="3300"/>
            <p14:sldId id="3301"/>
            <p14:sldId id="3302"/>
            <p14:sldId id="3303"/>
            <p14:sldId id="3304"/>
            <p14:sldId id="3305"/>
            <p14:sldId id="3306"/>
            <p14:sldId id="3307"/>
            <p14:sldId id="3308"/>
            <p14:sldId id="3309"/>
            <p14:sldId id="3310"/>
            <p14:sldId id="3311"/>
            <p14:sldId id="3312"/>
            <p14:sldId id="4257"/>
            <p14:sldId id="3227"/>
            <p14:sldId id="3228"/>
            <p14:sldId id="3229"/>
            <p14:sldId id="3230"/>
            <p14:sldId id="3356"/>
            <p14:sldId id="3336"/>
            <p14:sldId id="3353"/>
            <p14:sldId id="3337"/>
            <p14:sldId id="3338"/>
            <p14:sldId id="3339"/>
            <p14:sldId id="3340"/>
            <p14:sldId id="3341"/>
            <p14:sldId id="3342"/>
            <p14:sldId id="3343"/>
            <p14:sldId id="3344"/>
            <p14:sldId id="3345"/>
            <p14:sldId id="3346"/>
            <p14:sldId id="3347"/>
            <p14:sldId id="3348"/>
            <p14:sldId id="3349"/>
            <p14:sldId id="3352"/>
            <p14:sldId id="3355"/>
            <p14:sldId id="3324"/>
            <p14:sldId id="3326"/>
            <p14:sldId id="3327"/>
            <p14:sldId id="3359"/>
            <p14:sldId id="3328"/>
            <p14:sldId id="3325"/>
            <p14:sldId id="3357"/>
            <p14:sldId id="3358"/>
          </p14:sldIdLst>
        </p14:section>
        <p14:section name="Week00" id="{45232EB5-459D-D043-8FEC-0E25EFC0E79F}">
          <p14:sldIdLst>
            <p14:sldId id="3193"/>
            <p14:sldId id="3250"/>
            <p14:sldId id="3249"/>
            <p14:sldId id="3198"/>
            <p14:sldId id="3214"/>
            <p14:sldId id="4223"/>
            <p14:sldId id="4224"/>
            <p14:sldId id="4225"/>
            <p14:sldId id="4226"/>
            <p14:sldId id="4227"/>
            <p14:sldId id="4238"/>
            <p14:sldId id="4239"/>
            <p14:sldId id="4236"/>
            <p14:sldId id="4237"/>
            <p14:sldId id="4244"/>
            <p14:sldId id="4245"/>
            <p14:sldId id="3235"/>
            <p14:sldId id="3236"/>
            <p14:sldId id="3199"/>
            <p14:sldId id="3251"/>
            <p14:sldId id="3260"/>
            <p14:sldId id="3261"/>
            <p14:sldId id="3243"/>
            <p14:sldId id="4219"/>
            <p14:sldId id="3213"/>
            <p14:sldId id="4210"/>
            <p14:sldId id="4240"/>
            <p14:sldId id="3195"/>
            <p14:sldId id="4208"/>
            <p14:sldId id="4214"/>
            <p14:sldId id="4215"/>
            <p14:sldId id="4209"/>
            <p14:sldId id="4243"/>
            <p14:sldId id="4217"/>
            <p14:sldId id="4229"/>
            <p14:sldId id="4230"/>
            <p14:sldId id="4235"/>
            <p14:sldId id="4231"/>
            <p14:sldId id="4241"/>
            <p14:sldId id="4242"/>
            <p14:sldId id="3215"/>
            <p14:sldId id="4218"/>
            <p14:sldId id="4220"/>
            <p14:sldId id="4232"/>
            <p14:sldId id="4233"/>
            <p14:sldId id="3210"/>
            <p14:sldId id="3194"/>
            <p14:sldId id="4221"/>
            <p14:sldId id="4222"/>
            <p14:sldId id="4234"/>
            <p14:sldId id="3211"/>
            <p14:sldId id="3212"/>
            <p14:sldId id="3247"/>
            <p14:sldId id="3252"/>
            <p14:sldId id="3253"/>
            <p14:sldId id="3257"/>
            <p14:sldId id="3254"/>
            <p14:sldId id="3255"/>
            <p14:sldId id="3200"/>
            <p14:sldId id="3209"/>
            <p14:sldId id="3201"/>
            <p14:sldId id="3202"/>
            <p14:sldId id="3204"/>
            <p14:sldId id="3216"/>
            <p14:sldId id="3205"/>
            <p14:sldId id="3206"/>
            <p14:sldId id="3207"/>
            <p14:sldId id="3208"/>
            <p14:sldId id="3248"/>
            <p14:sldId id="3225"/>
            <p14:sldId id="3232"/>
            <p14:sldId id="3217"/>
            <p14:sldId id="3218"/>
            <p14:sldId id="3219"/>
            <p14:sldId id="3220"/>
            <p14:sldId id="3221"/>
            <p14:sldId id="3222"/>
            <p14:sldId id="3223"/>
            <p14:sldId id="3224"/>
            <p14:sldId id="3233"/>
            <p14:sldId id="3238"/>
            <p14:sldId id="3239"/>
            <p14:sldId id="3240"/>
            <p14:sldId id="3244"/>
            <p14:sldId id="3241"/>
            <p14:sldId id="3245"/>
            <p14:sldId id="3246"/>
            <p14:sldId id="3234"/>
          </p14:sldIdLst>
        </p14:section>
        <p14:section name="XXX" id="{B87B3B9A-2A5E-6247-A0D4-FAB11BAB3040}">
          <p14:sldIdLst>
            <p14:sldId id="3263"/>
            <p14:sldId id="3419"/>
            <p14:sldId id="3420"/>
            <p14:sldId id="3421"/>
            <p14:sldId id="3422"/>
            <p14:sldId id="3423"/>
            <p14:sldId id="3424"/>
            <p14:sldId id="3425"/>
            <p14:sldId id="3426"/>
            <p14:sldId id="3427"/>
            <p14:sldId id="3428"/>
            <p14:sldId id="3429"/>
            <p14:sldId id="3430"/>
            <p14:sldId id="3431"/>
            <p14:sldId id="3432"/>
          </p14:sldIdLst>
        </p14:section>
        <p14:section name="XXX" id="{C3DB6325-335F-FC45-BCF8-7622B1FBC319}">
          <p14:sldIdLst/>
        </p14:section>
        <p14:section name="XXX" id="{3560F2C0-43AF-AC4D-BA36-43F1CCBEF54A}">
          <p14:sldIdLst/>
        </p14:section>
        <p14:section name="Colloquium" id="{AF52D4A8-CC65-374F-B5B7-E4D9A47725FF}">
          <p14:sldIdLst>
            <p14:sldId id="3480"/>
            <p14:sldId id="3481"/>
            <p14:sldId id="3479"/>
            <p14:sldId id="3482"/>
            <p14:sldId id="3483"/>
            <p14:sldId id="3484"/>
            <p14:sldId id="3486"/>
            <p14:sldId id="3485"/>
            <p14:sldId id="3487"/>
            <p14:sldId id="3488"/>
            <p14:sldId id="3489"/>
            <p14:sldId id="3490"/>
            <p14:sldId id="3491"/>
            <p14:sldId id="3494"/>
            <p14:sldId id="3496"/>
            <p14:sldId id="3495"/>
            <p14:sldId id="3492"/>
            <p14:sldId id="3499"/>
            <p14:sldId id="3493"/>
            <p14:sldId id="3497"/>
            <p14:sldId id="3498"/>
          </p14:sldIdLst>
        </p14:section>
        <p14:section name="review" id="{5C94ACD2-592F-1547-B5E8-D38BD82B377E}">
          <p14:sldIdLst>
            <p14:sldId id="2339"/>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a:srgbClr val="007B00"/>
    <a:srgbClr val="F80B8D"/>
    <a:srgbClr val="00B6B4"/>
    <a:srgbClr val="7BD1F0"/>
    <a:srgbClr val="011893"/>
    <a:srgbClr val="FF6568"/>
    <a:srgbClr val="1B6BE3"/>
    <a:srgbClr val="3AA4EC"/>
    <a:srgbClr val="923A3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197" autoAdjust="0"/>
    <p:restoredTop sz="96301" autoAdjust="0"/>
  </p:normalViewPr>
  <p:slideViewPr>
    <p:cSldViewPr snapToGrid="0" snapToObjects="1">
      <p:cViewPr>
        <p:scale>
          <a:sx n="113" d="100"/>
          <a:sy n="113" d="100"/>
        </p:scale>
        <p:origin x="656" y="109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40" d="100"/>
        <a:sy n="140" d="100"/>
      </p:scale>
      <p:origin x="0" y="-2850"/>
    </p:cViewPr>
  </p:sorterViewPr>
  <p:notesViewPr>
    <p:cSldViewPr snapToGrid="0" snapToObjects="1">
      <p:cViewPr varScale="1">
        <p:scale>
          <a:sx n="97" d="100"/>
          <a:sy n="97" d="100"/>
        </p:scale>
        <p:origin x="3976" y="200"/>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671" Type="http://schemas.openxmlformats.org/officeDocument/2006/relationships/slide" Target="slides/slide670.xml"/><Relationship Id="rId769" Type="http://schemas.openxmlformats.org/officeDocument/2006/relationships/slide" Target="slides/slide768.xml"/><Relationship Id="rId21" Type="http://schemas.openxmlformats.org/officeDocument/2006/relationships/slide" Target="slides/slide20.xml"/><Relationship Id="rId324" Type="http://schemas.openxmlformats.org/officeDocument/2006/relationships/slide" Target="slides/slide323.xml"/><Relationship Id="rId531" Type="http://schemas.openxmlformats.org/officeDocument/2006/relationships/slide" Target="slides/slide530.xml"/><Relationship Id="rId629" Type="http://schemas.openxmlformats.org/officeDocument/2006/relationships/slide" Target="slides/slide628.xml"/><Relationship Id="rId170" Type="http://schemas.openxmlformats.org/officeDocument/2006/relationships/slide" Target="slides/slide169.xml"/><Relationship Id="rId836" Type="http://schemas.openxmlformats.org/officeDocument/2006/relationships/slide" Target="slides/slide835.xml"/><Relationship Id="rId268" Type="http://schemas.openxmlformats.org/officeDocument/2006/relationships/slide" Target="slides/slide267.xml"/><Relationship Id="rId475" Type="http://schemas.openxmlformats.org/officeDocument/2006/relationships/slide" Target="slides/slide474.xml"/><Relationship Id="rId682" Type="http://schemas.openxmlformats.org/officeDocument/2006/relationships/slide" Target="slides/slide681.xml"/><Relationship Id="rId32" Type="http://schemas.openxmlformats.org/officeDocument/2006/relationships/slide" Target="slides/slide31.xml"/><Relationship Id="rId128" Type="http://schemas.openxmlformats.org/officeDocument/2006/relationships/slide" Target="slides/slide127.xml"/><Relationship Id="rId335" Type="http://schemas.openxmlformats.org/officeDocument/2006/relationships/slide" Target="slides/slide334.xml"/><Relationship Id="rId542" Type="http://schemas.openxmlformats.org/officeDocument/2006/relationships/slide" Target="slides/slide541.xml"/><Relationship Id="rId181" Type="http://schemas.openxmlformats.org/officeDocument/2006/relationships/slide" Target="slides/slide180.xml"/><Relationship Id="rId402" Type="http://schemas.openxmlformats.org/officeDocument/2006/relationships/slide" Target="slides/slide401.xml"/><Relationship Id="rId847" Type="http://schemas.openxmlformats.org/officeDocument/2006/relationships/slide" Target="slides/slide846.xml"/><Relationship Id="rId279" Type="http://schemas.openxmlformats.org/officeDocument/2006/relationships/slide" Target="slides/slide278.xml"/><Relationship Id="rId486" Type="http://schemas.openxmlformats.org/officeDocument/2006/relationships/slide" Target="slides/slide485.xml"/><Relationship Id="rId693" Type="http://schemas.openxmlformats.org/officeDocument/2006/relationships/slide" Target="slides/slide692.xml"/><Relationship Id="rId707" Type="http://schemas.openxmlformats.org/officeDocument/2006/relationships/slide" Target="slides/slide706.xml"/><Relationship Id="rId43" Type="http://schemas.openxmlformats.org/officeDocument/2006/relationships/slide" Target="slides/slide42.xml"/><Relationship Id="rId139" Type="http://schemas.openxmlformats.org/officeDocument/2006/relationships/slide" Target="slides/slide138.xml"/><Relationship Id="rId346" Type="http://schemas.openxmlformats.org/officeDocument/2006/relationships/slide" Target="slides/slide345.xml"/><Relationship Id="rId553" Type="http://schemas.openxmlformats.org/officeDocument/2006/relationships/slide" Target="slides/slide552.xml"/><Relationship Id="rId760" Type="http://schemas.openxmlformats.org/officeDocument/2006/relationships/slide" Target="slides/slide759.xml"/><Relationship Id="rId192" Type="http://schemas.openxmlformats.org/officeDocument/2006/relationships/slide" Target="slides/slide191.xml"/><Relationship Id="rId206" Type="http://schemas.openxmlformats.org/officeDocument/2006/relationships/slide" Target="slides/slide205.xml"/><Relationship Id="rId413" Type="http://schemas.openxmlformats.org/officeDocument/2006/relationships/slide" Target="slides/slide412.xml"/><Relationship Id="rId858" Type="http://schemas.openxmlformats.org/officeDocument/2006/relationships/slide" Target="slides/slide857.xml"/><Relationship Id="rId497" Type="http://schemas.openxmlformats.org/officeDocument/2006/relationships/slide" Target="slides/slide496.xml"/><Relationship Id="rId620" Type="http://schemas.openxmlformats.org/officeDocument/2006/relationships/slide" Target="slides/slide619.xml"/><Relationship Id="rId718" Type="http://schemas.openxmlformats.org/officeDocument/2006/relationships/slide" Target="slides/slide717.xml"/><Relationship Id="rId357" Type="http://schemas.openxmlformats.org/officeDocument/2006/relationships/slide" Target="slides/slide356.xml"/><Relationship Id="rId54" Type="http://schemas.openxmlformats.org/officeDocument/2006/relationships/slide" Target="slides/slide53.xml"/><Relationship Id="rId217" Type="http://schemas.openxmlformats.org/officeDocument/2006/relationships/slide" Target="slides/slide216.xml"/><Relationship Id="rId564" Type="http://schemas.openxmlformats.org/officeDocument/2006/relationships/slide" Target="slides/slide563.xml"/><Relationship Id="rId771" Type="http://schemas.openxmlformats.org/officeDocument/2006/relationships/slide" Target="slides/slide770.xml"/><Relationship Id="rId869" Type="http://schemas.openxmlformats.org/officeDocument/2006/relationships/slide" Target="slides/slide868.xml"/><Relationship Id="rId424" Type="http://schemas.openxmlformats.org/officeDocument/2006/relationships/slide" Target="slides/slide423.xml"/><Relationship Id="rId631" Type="http://schemas.openxmlformats.org/officeDocument/2006/relationships/slide" Target="slides/slide630.xml"/><Relationship Id="rId729" Type="http://schemas.openxmlformats.org/officeDocument/2006/relationships/slide" Target="slides/slide728.xml"/><Relationship Id="rId270" Type="http://schemas.openxmlformats.org/officeDocument/2006/relationships/slide" Target="slides/slide269.xml"/><Relationship Id="rId65" Type="http://schemas.openxmlformats.org/officeDocument/2006/relationships/slide" Target="slides/slide64.xml"/><Relationship Id="rId130" Type="http://schemas.openxmlformats.org/officeDocument/2006/relationships/slide" Target="slides/slide129.xml"/><Relationship Id="rId368" Type="http://schemas.openxmlformats.org/officeDocument/2006/relationships/slide" Target="slides/slide367.xml"/><Relationship Id="rId575" Type="http://schemas.openxmlformats.org/officeDocument/2006/relationships/slide" Target="slides/slide574.xml"/><Relationship Id="rId782" Type="http://schemas.openxmlformats.org/officeDocument/2006/relationships/slide" Target="slides/slide781.xml"/><Relationship Id="rId228" Type="http://schemas.openxmlformats.org/officeDocument/2006/relationships/slide" Target="slides/slide227.xml"/><Relationship Id="rId435" Type="http://schemas.openxmlformats.org/officeDocument/2006/relationships/slide" Target="slides/slide434.xml"/><Relationship Id="rId642" Type="http://schemas.openxmlformats.org/officeDocument/2006/relationships/slide" Target="slides/slide641.xml"/><Relationship Id="rId281" Type="http://schemas.openxmlformats.org/officeDocument/2006/relationships/slide" Target="slides/slide280.xml"/><Relationship Id="rId502" Type="http://schemas.openxmlformats.org/officeDocument/2006/relationships/slide" Target="slides/slide501.xml"/><Relationship Id="rId76" Type="http://schemas.openxmlformats.org/officeDocument/2006/relationships/slide" Target="slides/slide75.xml"/><Relationship Id="rId141" Type="http://schemas.openxmlformats.org/officeDocument/2006/relationships/slide" Target="slides/slide140.xml"/><Relationship Id="rId379" Type="http://schemas.openxmlformats.org/officeDocument/2006/relationships/slide" Target="slides/slide378.xml"/><Relationship Id="rId586" Type="http://schemas.openxmlformats.org/officeDocument/2006/relationships/slide" Target="slides/slide585.xml"/><Relationship Id="rId793" Type="http://schemas.openxmlformats.org/officeDocument/2006/relationships/slide" Target="slides/slide792.xml"/><Relationship Id="rId807" Type="http://schemas.openxmlformats.org/officeDocument/2006/relationships/slide" Target="slides/slide806.xml"/><Relationship Id="rId7" Type="http://schemas.openxmlformats.org/officeDocument/2006/relationships/slide" Target="slides/slide6.xml"/><Relationship Id="rId239" Type="http://schemas.openxmlformats.org/officeDocument/2006/relationships/slide" Target="slides/slide238.xml"/><Relationship Id="rId446" Type="http://schemas.openxmlformats.org/officeDocument/2006/relationships/slide" Target="slides/slide445.xml"/><Relationship Id="rId653" Type="http://schemas.openxmlformats.org/officeDocument/2006/relationships/slide" Target="slides/slide652.xml"/><Relationship Id="rId292" Type="http://schemas.openxmlformats.org/officeDocument/2006/relationships/slide" Target="slides/slide291.xml"/><Relationship Id="rId306" Type="http://schemas.openxmlformats.org/officeDocument/2006/relationships/slide" Target="slides/slide305.xml"/><Relationship Id="rId860" Type="http://schemas.openxmlformats.org/officeDocument/2006/relationships/slide" Target="slides/slide859.xml"/><Relationship Id="rId87" Type="http://schemas.openxmlformats.org/officeDocument/2006/relationships/slide" Target="slides/slide86.xml"/><Relationship Id="rId513" Type="http://schemas.openxmlformats.org/officeDocument/2006/relationships/slide" Target="slides/slide512.xml"/><Relationship Id="rId597" Type="http://schemas.openxmlformats.org/officeDocument/2006/relationships/slide" Target="slides/slide596.xml"/><Relationship Id="rId720" Type="http://schemas.openxmlformats.org/officeDocument/2006/relationships/slide" Target="slides/slide719.xml"/><Relationship Id="rId818" Type="http://schemas.openxmlformats.org/officeDocument/2006/relationships/slide" Target="slides/slide817.xml"/><Relationship Id="rId152" Type="http://schemas.openxmlformats.org/officeDocument/2006/relationships/slide" Target="slides/slide151.xml"/><Relationship Id="rId457" Type="http://schemas.openxmlformats.org/officeDocument/2006/relationships/slide" Target="slides/slide456.xml"/><Relationship Id="rId664" Type="http://schemas.openxmlformats.org/officeDocument/2006/relationships/slide" Target="slides/slide663.xml"/><Relationship Id="rId871" Type="http://schemas.openxmlformats.org/officeDocument/2006/relationships/slide" Target="slides/slide870.xml"/><Relationship Id="rId14" Type="http://schemas.openxmlformats.org/officeDocument/2006/relationships/slide" Target="slides/slide13.xml"/><Relationship Id="rId317" Type="http://schemas.openxmlformats.org/officeDocument/2006/relationships/slide" Target="slides/slide316.xml"/><Relationship Id="rId524" Type="http://schemas.openxmlformats.org/officeDocument/2006/relationships/slide" Target="slides/slide523.xml"/><Relationship Id="rId731" Type="http://schemas.openxmlformats.org/officeDocument/2006/relationships/slide" Target="slides/slide730.xml"/><Relationship Id="rId98" Type="http://schemas.openxmlformats.org/officeDocument/2006/relationships/slide" Target="slides/slide97.xml"/><Relationship Id="rId163" Type="http://schemas.openxmlformats.org/officeDocument/2006/relationships/slide" Target="slides/slide162.xml"/><Relationship Id="rId370" Type="http://schemas.openxmlformats.org/officeDocument/2006/relationships/slide" Target="slides/slide369.xml"/><Relationship Id="rId829" Type="http://schemas.openxmlformats.org/officeDocument/2006/relationships/slide" Target="slides/slide828.xml"/><Relationship Id="rId230" Type="http://schemas.openxmlformats.org/officeDocument/2006/relationships/slide" Target="slides/slide229.xml"/><Relationship Id="rId468" Type="http://schemas.openxmlformats.org/officeDocument/2006/relationships/slide" Target="slides/slide467.xml"/><Relationship Id="rId675" Type="http://schemas.openxmlformats.org/officeDocument/2006/relationships/slide" Target="slides/slide674.xml"/><Relationship Id="rId882" Type="http://schemas.openxmlformats.org/officeDocument/2006/relationships/slide" Target="slides/slide881.xml"/><Relationship Id="rId25" Type="http://schemas.openxmlformats.org/officeDocument/2006/relationships/slide" Target="slides/slide24.xml"/><Relationship Id="rId328" Type="http://schemas.openxmlformats.org/officeDocument/2006/relationships/slide" Target="slides/slide327.xml"/><Relationship Id="rId535" Type="http://schemas.openxmlformats.org/officeDocument/2006/relationships/slide" Target="slides/slide534.xml"/><Relationship Id="rId742" Type="http://schemas.openxmlformats.org/officeDocument/2006/relationships/slide" Target="slides/slide741.xml"/><Relationship Id="rId174" Type="http://schemas.openxmlformats.org/officeDocument/2006/relationships/slide" Target="slides/slide173.xml"/><Relationship Id="rId381" Type="http://schemas.openxmlformats.org/officeDocument/2006/relationships/slide" Target="slides/slide380.xml"/><Relationship Id="rId602" Type="http://schemas.openxmlformats.org/officeDocument/2006/relationships/slide" Target="slides/slide601.xml"/><Relationship Id="rId241" Type="http://schemas.openxmlformats.org/officeDocument/2006/relationships/slide" Target="slides/slide240.xml"/><Relationship Id="rId479" Type="http://schemas.openxmlformats.org/officeDocument/2006/relationships/slide" Target="slides/slide478.xml"/><Relationship Id="rId686" Type="http://schemas.openxmlformats.org/officeDocument/2006/relationships/slide" Target="slides/slide685.xml"/><Relationship Id="rId36" Type="http://schemas.openxmlformats.org/officeDocument/2006/relationships/slide" Target="slides/slide35.xml"/><Relationship Id="rId339" Type="http://schemas.openxmlformats.org/officeDocument/2006/relationships/slide" Target="slides/slide338.xml"/><Relationship Id="rId546" Type="http://schemas.openxmlformats.org/officeDocument/2006/relationships/slide" Target="slides/slide545.xml"/><Relationship Id="rId753" Type="http://schemas.openxmlformats.org/officeDocument/2006/relationships/slide" Target="slides/slide752.xml"/><Relationship Id="rId101" Type="http://schemas.openxmlformats.org/officeDocument/2006/relationships/slide" Target="slides/slide100.xml"/><Relationship Id="rId185" Type="http://schemas.openxmlformats.org/officeDocument/2006/relationships/slide" Target="slides/slide184.xml"/><Relationship Id="rId406" Type="http://schemas.openxmlformats.org/officeDocument/2006/relationships/slide" Target="slides/slide405.xml"/><Relationship Id="rId392" Type="http://schemas.openxmlformats.org/officeDocument/2006/relationships/slide" Target="slides/slide391.xml"/><Relationship Id="rId613" Type="http://schemas.openxmlformats.org/officeDocument/2006/relationships/slide" Target="slides/slide612.xml"/><Relationship Id="rId697" Type="http://schemas.openxmlformats.org/officeDocument/2006/relationships/slide" Target="slides/slide696.xml"/><Relationship Id="rId820" Type="http://schemas.openxmlformats.org/officeDocument/2006/relationships/slide" Target="slides/slide819.xml"/><Relationship Id="rId252" Type="http://schemas.openxmlformats.org/officeDocument/2006/relationships/slide" Target="slides/slide251.xml"/><Relationship Id="rId47" Type="http://schemas.openxmlformats.org/officeDocument/2006/relationships/slide" Target="slides/slide46.xml"/><Relationship Id="rId112" Type="http://schemas.openxmlformats.org/officeDocument/2006/relationships/slide" Target="slides/slide111.xml"/><Relationship Id="rId557" Type="http://schemas.openxmlformats.org/officeDocument/2006/relationships/slide" Target="slides/slide556.xml"/><Relationship Id="rId764" Type="http://schemas.openxmlformats.org/officeDocument/2006/relationships/slide" Target="slides/slide763.xml"/><Relationship Id="rId196" Type="http://schemas.openxmlformats.org/officeDocument/2006/relationships/slide" Target="slides/slide195.xml"/><Relationship Id="rId417" Type="http://schemas.openxmlformats.org/officeDocument/2006/relationships/slide" Target="slides/slide416.xml"/><Relationship Id="rId624" Type="http://schemas.openxmlformats.org/officeDocument/2006/relationships/slide" Target="slides/slide623.xml"/><Relationship Id="rId831" Type="http://schemas.openxmlformats.org/officeDocument/2006/relationships/slide" Target="slides/slide830.xml"/><Relationship Id="rId263" Type="http://schemas.openxmlformats.org/officeDocument/2006/relationships/slide" Target="slides/slide262.xml"/><Relationship Id="rId470" Type="http://schemas.openxmlformats.org/officeDocument/2006/relationships/slide" Target="slides/slide469.xml"/><Relationship Id="rId58" Type="http://schemas.openxmlformats.org/officeDocument/2006/relationships/slide" Target="slides/slide57.xml"/><Relationship Id="rId123" Type="http://schemas.openxmlformats.org/officeDocument/2006/relationships/slide" Target="slides/slide122.xml"/><Relationship Id="rId330" Type="http://schemas.openxmlformats.org/officeDocument/2006/relationships/slide" Target="slides/slide329.xml"/><Relationship Id="rId568" Type="http://schemas.openxmlformats.org/officeDocument/2006/relationships/slide" Target="slides/slide567.xml"/><Relationship Id="rId775" Type="http://schemas.openxmlformats.org/officeDocument/2006/relationships/slide" Target="slides/slide774.xml"/><Relationship Id="rId428" Type="http://schemas.openxmlformats.org/officeDocument/2006/relationships/slide" Target="slides/slide427.xml"/><Relationship Id="rId635" Type="http://schemas.openxmlformats.org/officeDocument/2006/relationships/slide" Target="slides/slide634.xml"/><Relationship Id="rId842" Type="http://schemas.openxmlformats.org/officeDocument/2006/relationships/slide" Target="slides/slide841.xml"/><Relationship Id="rId274" Type="http://schemas.openxmlformats.org/officeDocument/2006/relationships/slide" Target="slides/slide273.xml"/><Relationship Id="rId481" Type="http://schemas.openxmlformats.org/officeDocument/2006/relationships/slide" Target="slides/slide480.xml"/><Relationship Id="rId702" Type="http://schemas.openxmlformats.org/officeDocument/2006/relationships/slide" Target="slides/slide701.xml"/><Relationship Id="rId69" Type="http://schemas.openxmlformats.org/officeDocument/2006/relationships/slide" Target="slides/slide68.xml"/><Relationship Id="rId134" Type="http://schemas.openxmlformats.org/officeDocument/2006/relationships/slide" Target="slides/slide133.xml"/><Relationship Id="rId579" Type="http://schemas.openxmlformats.org/officeDocument/2006/relationships/slide" Target="slides/slide578.xml"/><Relationship Id="rId786" Type="http://schemas.openxmlformats.org/officeDocument/2006/relationships/slide" Target="slides/slide785.xml"/><Relationship Id="rId341" Type="http://schemas.openxmlformats.org/officeDocument/2006/relationships/slide" Target="slides/slide340.xml"/><Relationship Id="rId439" Type="http://schemas.openxmlformats.org/officeDocument/2006/relationships/slide" Target="slides/slide438.xml"/><Relationship Id="rId646" Type="http://schemas.openxmlformats.org/officeDocument/2006/relationships/slide" Target="slides/slide645.xml"/><Relationship Id="rId201" Type="http://schemas.openxmlformats.org/officeDocument/2006/relationships/slide" Target="slides/slide200.xml"/><Relationship Id="rId285" Type="http://schemas.openxmlformats.org/officeDocument/2006/relationships/slide" Target="slides/slide284.xml"/><Relationship Id="rId506" Type="http://schemas.openxmlformats.org/officeDocument/2006/relationships/slide" Target="slides/slide505.xml"/><Relationship Id="rId853" Type="http://schemas.openxmlformats.org/officeDocument/2006/relationships/slide" Target="slides/slide852.xml"/><Relationship Id="rId492" Type="http://schemas.openxmlformats.org/officeDocument/2006/relationships/slide" Target="slides/slide491.xml"/><Relationship Id="rId713" Type="http://schemas.openxmlformats.org/officeDocument/2006/relationships/slide" Target="slides/slide712.xml"/><Relationship Id="rId797" Type="http://schemas.openxmlformats.org/officeDocument/2006/relationships/slide" Target="slides/slide796.xml"/><Relationship Id="rId145" Type="http://schemas.openxmlformats.org/officeDocument/2006/relationships/slide" Target="slides/slide144.xml"/><Relationship Id="rId352" Type="http://schemas.openxmlformats.org/officeDocument/2006/relationships/slide" Target="slides/slide351.xml"/><Relationship Id="rId212" Type="http://schemas.openxmlformats.org/officeDocument/2006/relationships/slide" Target="slides/slide211.xml"/><Relationship Id="rId657" Type="http://schemas.openxmlformats.org/officeDocument/2006/relationships/slide" Target="slides/slide656.xml"/><Relationship Id="rId864" Type="http://schemas.openxmlformats.org/officeDocument/2006/relationships/slide" Target="slides/slide863.xml"/><Relationship Id="rId296" Type="http://schemas.openxmlformats.org/officeDocument/2006/relationships/slide" Target="slides/slide295.xml"/><Relationship Id="rId517" Type="http://schemas.openxmlformats.org/officeDocument/2006/relationships/slide" Target="slides/slide516.xml"/><Relationship Id="rId724" Type="http://schemas.openxmlformats.org/officeDocument/2006/relationships/slide" Target="slides/slide723.xml"/><Relationship Id="rId60" Type="http://schemas.openxmlformats.org/officeDocument/2006/relationships/slide" Target="slides/slide59.xml"/><Relationship Id="rId156" Type="http://schemas.openxmlformats.org/officeDocument/2006/relationships/slide" Target="slides/slide155.xml"/><Relationship Id="rId363" Type="http://schemas.openxmlformats.org/officeDocument/2006/relationships/slide" Target="slides/slide362.xml"/><Relationship Id="rId570" Type="http://schemas.openxmlformats.org/officeDocument/2006/relationships/slide" Target="slides/slide569.xml"/><Relationship Id="rId223" Type="http://schemas.openxmlformats.org/officeDocument/2006/relationships/slide" Target="slides/slide222.xml"/><Relationship Id="rId430" Type="http://schemas.openxmlformats.org/officeDocument/2006/relationships/slide" Target="slides/slide429.xml"/><Relationship Id="rId668" Type="http://schemas.openxmlformats.org/officeDocument/2006/relationships/slide" Target="slides/slide667.xml"/><Relationship Id="rId875" Type="http://schemas.openxmlformats.org/officeDocument/2006/relationships/slide" Target="slides/slide874.xml"/><Relationship Id="rId18" Type="http://schemas.openxmlformats.org/officeDocument/2006/relationships/slide" Target="slides/slide17.xml"/><Relationship Id="rId528" Type="http://schemas.openxmlformats.org/officeDocument/2006/relationships/slide" Target="slides/slide527.xml"/><Relationship Id="rId735" Type="http://schemas.openxmlformats.org/officeDocument/2006/relationships/slide" Target="slides/slide734.xml"/><Relationship Id="rId167" Type="http://schemas.openxmlformats.org/officeDocument/2006/relationships/slide" Target="slides/slide166.xml"/><Relationship Id="rId374" Type="http://schemas.openxmlformats.org/officeDocument/2006/relationships/slide" Target="slides/slide373.xml"/><Relationship Id="rId581" Type="http://schemas.openxmlformats.org/officeDocument/2006/relationships/slide" Target="slides/slide580.xml"/><Relationship Id="rId71" Type="http://schemas.openxmlformats.org/officeDocument/2006/relationships/slide" Target="slides/slide70.xml"/><Relationship Id="rId234" Type="http://schemas.openxmlformats.org/officeDocument/2006/relationships/slide" Target="slides/slide233.xml"/><Relationship Id="rId679" Type="http://schemas.openxmlformats.org/officeDocument/2006/relationships/slide" Target="slides/slide678.xml"/><Relationship Id="rId802" Type="http://schemas.openxmlformats.org/officeDocument/2006/relationships/slide" Target="slides/slide801.xml"/><Relationship Id="rId886" Type="http://schemas.openxmlformats.org/officeDocument/2006/relationships/handoutMaster" Target="handoutMasters/handoutMaster1.xml"/><Relationship Id="rId2" Type="http://schemas.openxmlformats.org/officeDocument/2006/relationships/slide" Target="slides/slide1.xml"/><Relationship Id="rId29" Type="http://schemas.openxmlformats.org/officeDocument/2006/relationships/slide" Target="slides/slide28.xml"/><Relationship Id="rId441" Type="http://schemas.openxmlformats.org/officeDocument/2006/relationships/slide" Target="slides/slide440.xml"/><Relationship Id="rId539" Type="http://schemas.openxmlformats.org/officeDocument/2006/relationships/slide" Target="slides/slide538.xml"/><Relationship Id="rId746" Type="http://schemas.openxmlformats.org/officeDocument/2006/relationships/slide" Target="slides/slide745.xml"/><Relationship Id="rId178" Type="http://schemas.openxmlformats.org/officeDocument/2006/relationships/slide" Target="slides/slide177.xml"/><Relationship Id="rId301" Type="http://schemas.openxmlformats.org/officeDocument/2006/relationships/slide" Target="slides/slide300.xml"/><Relationship Id="rId82" Type="http://schemas.openxmlformats.org/officeDocument/2006/relationships/slide" Target="slides/slide81.xml"/><Relationship Id="rId385" Type="http://schemas.openxmlformats.org/officeDocument/2006/relationships/slide" Target="slides/slide384.xml"/><Relationship Id="rId592" Type="http://schemas.openxmlformats.org/officeDocument/2006/relationships/slide" Target="slides/slide591.xml"/><Relationship Id="rId606" Type="http://schemas.openxmlformats.org/officeDocument/2006/relationships/slide" Target="slides/slide605.xml"/><Relationship Id="rId813" Type="http://schemas.openxmlformats.org/officeDocument/2006/relationships/slide" Target="slides/slide812.xml"/><Relationship Id="rId245" Type="http://schemas.openxmlformats.org/officeDocument/2006/relationships/slide" Target="slides/slide244.xml"/><Relationship Id="rId452" Type="http://schemas.openxmlformats.org/officeDocument/2006/relationships/slide" Target="slides/slide451.xml"/><Relationship Id="rId105" Type="http://schemas.openxmlformats.org/officeDocument/2006/relationships/slide" Target="slides/slide104.xml"/><Relationship Id="rId312" Type="http://schemas.openxmlformats.org/officeDocument/2006/relationships/slide" Target="slides/slide311.xml"/><Relationship Id="rId757" Type="http://schemas.openxmlformats.org/officeDocument/2006/relationships/slide" Target="slides/slide756.xml"/><Relationship Id="rId93" Type="http://schemas.openxmlformats.org/officeDocument/2006/relationships/slide" Target="slides/slide92.xml"/><Relationship Id="rId189" Type="http://schemas.openxmlformats.org/officeDocument/2006/relationships/slide" Target="slides/slide188.xml"/><Relationship Id="rId396" Type="http://schemas.openxmlformats.org/officeDocument/2006/relationships/slide" Target="slides/slide395.xml"/><Relationship Id="rId617" Type="http://schemas.openxmlformats.org/officeDocument/2006/relationships/slide" Target="slides/slide616.xml"/><Relationship Id="rId824" Type="http://schemas.openxmlformats.org/officeDocument/2006/relationships/slide" Target="slides/slide823.xml"/><Relationship Id="rId256" Type="http://schemas.openxmlformats.org/officeDocument/2006/relationships/slide" Target="slides/slide255.xml"/><Relationship Id="rId463" Type="http://schemas.openxmlformats.org/officeDocument/2006/relationships/slide" Target="slides/slide462.xml"/><Relationship Id="rId670" Type="http://schemas.openxmlformats.org/officeDocument/2006/relationships/slide" Target="slides/slide669.xml"/><Relationship Id="rId116" Type="http://schemas.openxmlformats.org/officeDocument/2006/relationships/slide" Target="slides/slide115.xml"/><Relationship Id="rId323" Type="http://schemas.openxmlformats.org/officeDocument/2006/relationships/slide" Target="slides/slide322.xml"/><Relationship Id="rId530" Type="http://schemas.openxmlformats.org/officeDocument/2006/relationships/slide" Target="slides/slide529.xml"/><Relationship Id="rId768" Type="http://schemas.openxmlformats.org/officeDocument/2006/relationships/slide" Target="slides/slide767.xml"/><Relationship Id="rId20" Type="http://schemas.openxmlformats.org/officeDocument/2006/relationships/slide" Target="slides/slide19.xml"/><Relationship Id="rId628" Type="http://schemas.openxmlformats.org/officeDocument/2006/relationships/slide" Target="slides/slide627.xml"/><Relationship Id="rId835" Type="http://schemas.openxmlformats.org/officeDocument/2006/relationships/slide" Target="slides/slide834.xml"/><Relationship Id="rId267" Type="http://schemas.openxmlformats.org/officeDocument/2006/relationships/slide" Target="slides/slide266.xml"/><Relationship Id="rId474" Type="http://schemas.openxmlformats.org/officeDocument/2006/relationships/slide" Target="slides/slide473.xml"/><Relationship Id="rId127" Type="http://schemas.openxmlformats.org/officeDocument/2006/relationships/slide" Target="slides/slide126.xml"/><Relationship Id="rId681" Type="http://schemas.openxmlformats.org/officeDocument/2006/relationships/slide" Target="slides/slide680.xml"/><Relationship Id="rId779" Type="http://schemas.openxmlformats.org/officeDocument/2006/relationships/slide" Target="slides/slide778.xml"/><Relationship Id="rId31" Type="http://schemas.openxmlformats.org/officeDocument/2006/relationships/slide" Target="slides/slide30.xml"/><Relationship Id="rId334" Type="http://schemas.openxmlformats.org/officeDocument/2006/relationships/slide" Target="slides/slide333.xml"/><Relationship Id="rId541" Type="http://schemas.openxmlformats.org/officeDocument/2006/relationships/slide" Target="slides/slide540.xml"/><Relationship Id="rId639" Type="http://schemas.openxmlformats.org/officeDocument/2006/relationships/slide" Target="slides/slide638.xml"/><Relationship Id="rId180" Type="http://schemas.openxmlformats.org/officeDocument/2006/relationships/slide" Target="slides/slide179.xml"/><Relationship Id="rId278" Type="http://schemas.openxmlformats.org/officeDocument/2006/relationships/slide" Target="slides/slide277.xml"/><Relationship Id="rId401" Type="http://schemas.openxmlformats.org/officeDocument/2006/relationships/slide" Target="slides/slide400.xml"/><Relationship Id="rId846" Type="http://schemas.openxmlformats.org/officeDocument/2006/relationships/slide" Target="slides/slide845.xml"/><Relationship Id="rId485" Type="http://schemas.openxmlformats.org/officeDocument/2006/relationships/slide" Target="slides/slide484.xml"/><Relationship Id="rId692" Type="http://schemas.openxmlformats.org/officeDocument/2006/relationships/slide" Target="slides/slide691.xml"/><Relationship Id="rId706" Type="http://schemas.openxmlformats.org/officeDocument/2006/relationships/slide" Target="slides/slide705.xml"/><Relationship Id="rId42" Type="http://schemas.openxmlformats.org/officeDocument/2006/relationships/slide" Target="slides/slide41.xml"/><Relationship Id="rId138" Type="http://schemas.openxmlformats.org/officeDocument/2006/relationships/slide" Target="slides/slide137.xml"/><Relationship Id="rId345" Type="http://schemas.openxmlformats.org/officeDocument/2006/relationships/slide" Target="slides/slide344.xml"/><Relationship Id="rId552" Type="http://schemas.openxmlformats.org/officeDocument/2006/relationships/slide" Target="slides/slide551.xml"/><Relationship Id="rId191" Type="http://schemas.openxmlformats.org/officeDocument/2006/relationships/slide" Target="slides/slide190.xml"/><Relationship Id="rId205" Type="http://schemas.openxmlformats.org/officeDocument/2006/relationships/slide" Target="slides/slide204.xml"/><Relationship Id="rId412" Type="http://schemas.openxmlformats.org/officeDocument/2006/relationships/slide" Target="slides/slide411.xml"/><Relationship Id="rId857" Type="http://schemas.openxmlformats.org/officeDocument/2006/relationships/slide" Target="slides/slide856.xml"/><Relationship Id="rId289" Type="http://schemas.openxmlformats.org/officeDocument/2006/relationships/slide" Target="slides/slide288.xml"/><Relationship Id="rId496" Type="http://schemas.openxmlformats.org/officeDocument/2006/relationships/slide" Target="slides/slide495.xml"/><Relationship Id="rId717" Type="http://schemas.openxmlformats.org/officeDocument/2006/relationships/slide" Target="slides/slide716.xml"/><Relationship Id="rId53" Type="http://schemas.openxmlformats.org/officeDocument/2006/relationships/slide" Target="slides/slide52.xml"/><Relationship Id="rId149" Type="http://schemas.openxmlformats.org/officeDocument/2006/relationships/slide" Target="slides/slide148.xml"/><Relationship Id="rId356" Type="http://schemas.openxmlformats.org/officeDocument/2006/relationships/slide" Target="slides/slide355.xml"/><Relationship Id="rId563" Type="http://schemas.openxmlformats.org/officeDocument/2006/relationships/slide" Target="slides/slide562.xml"/><Relationship Id="rId770" Type="http://schemas.openxmlformats.org/officeDocument/2006/relationships/slide" Target="slides/slide769.xml"/><Relationship Id="rId216" Type="http://schemas.openxmlformats.org/officeDocument/2006/relationships/slide" Target="slides/slide215.xml"/><Relationship Id="rId423" Type="http://schemas.openxmlformats.org/officeDocument/2006/relationships/slide" Target="slides/slide422.xml"/><Relationship Id="rId868" Type="http://schemas.openxmlformats.org/officeDocument/2006/relationships/slide" Target="slides/slide867.xml"/><Relationship Id="rId630" Type="http://schemas.openxmlformats.org/officeDocument/2006/relationships/slide" Target="slides/slide629.xml"/><Relationship Id="rId728" Type="http://schemas.openxmlformats.org/officeDocument/2006/relationships/slide" Target="slides/slide727.xml"/><Relationship Id="rId64" Type="http://schemas.openxmlformats.org/officeDocument/2006/relationships/slide" Target="slides/slide63.xml"/><Relationship Id="rId367" Type="http://schemas.openxmlformats.org/officeDocument/2006/relationships/slide" Target="slides/slide366.xml"/><Relationship Id="rId574" Type="http://schemas.openxmlformats.org/officeDocument/2006/relationships/slide" Target="slides/slide573.xml"/><Relationship Id="rId227" Type="http://schemas.openxmlformats.org/officeDocument/2006/relationships/slide" Target="slides/slide226.xml"/><Relationship Id="rId781" Type="http://schemas.openxmlformats.org/officeDocument/2006/relationships/slide" Target="slides/slide780.xml"/><Relationship Id="rId879" Type="http://schemas.openxmlformats.org/officeDocument/2006/relationships/slide" Target="slides/slide878.xml"/><Relationship Id="rId434" Type="http://schemas.openxmlformats.org/officeDocument/2006/relationships/slide" Target="slides/slide433.xml"/><Relationship Id="rId641" Type="http://schemas.openxmlformats.org/officeDocument/2006/relationships/slide" Target="slides/slide640.xml"/><Relationship Id="rId739" Type="http://schemas.openxmlformats.org/officeDocument/2006/relationships/slide" Target="slides/slide738.xml"/><Relationship Id="rId280" Type="http://schemas.openxmlformats.org/officeDocument/2006/relationships/slide" Target="slides/slide279.xml"/><Relationship Id="rId501" Type="http://schemas.openxmlformats.org/officeDocument/2006/relationships/slide" Target="slides/slide500.xml"/><Relationship Id="rId75" Type="http://schemas.openxmlformats.org/officeDocument/2006/relationships/slide" Target="slides/slide74.xml"/><Relationship Id="rId140" Type="http://schemas.openxmlformats.org/officeDocument/2006/relationships/slide" Target="slides/slide139.xml"/><Relationship Id="rId378" Type="http://schemas.openxmlformats.org/officeDocument/2006/relationships/slide" Target="slides/slide377.xml"/><Relationship Id="rId585" Type="http://schemas.openxmlformats.org/officeDocument/2006/relationships/slide" Target="slides/slide584.xml"/><Relationship Id="rId792" Type="http://schemas.openxmlformats.org/officeDocument/2006/relationships/slide" Target="slides/slide791.xml"/><Relationship Id="rId806" Type="http://schemas.openxmlformats.org/officeDocument/2006/relationships/slide" Target="slides/slide805.xml"/><Relationship Id="rId6" Type="http://schemas.openxmlformats.org/officeDocument/2006/relationships/slide" Target="slides/slide5.xml"/><Relationship Id="rId238" Type="http://schemas.openxmlformats.org/officeDocument/2006/relationships/slide" Target="slides/slide237.xml"/><Relationship Id="rId445" Type="http://schemas.openxmlformats.org/officeDocument/2006/relationships/slide" Target="slides/slide444.xml"/><Relationship Id="rId652" Type="http://schemas.openxmlformats.org/officeDocument/2006/relationships/slide" Target="slides/slide651.xml"/><Relationship Id="rId291" Type="http://schemas.openxmlformats.org/officeDocument/2006/relationships/slide" Target="slides/slide290.xml"/><Relationship Id="rId305" Type="http://schemas.openxmlformats.org/officeDocument/2006/relationships/slide" Target="slides/slide304.xml"/><Relationship Id="rId512" Type="http://schemas.openxmlformats.org/officeDocument/2006/relationships/slide" Target="slides/slide511.xml"/><Relationship Id="rId86" Type="http://schemas.openxmlformats.org/officeDocument/2006/relationships/slide" Target="slides/slide85.xml"/><Relationship Id="rId151" Type="http://schemas.openxmlformats.org/officeDocument/2006/relationships/slide" Target="slides/slide150.xml"/><Relationship Id="rId389" Type="http://schemas.openxmlformats.org/officeDocument/2006/relationships/slide" Target="slides/slide388.xml"/><Relationship Id="rId596" Type="http://schemas.openxmlformats.org/officeDocument/2006/relationships/slide" Target="slides/slide595.xml"/><Relationship Id="rId817" Type="http://schemas.openxmlformats.org/officeDocument/2006/relationships/slide" Target="slides/slide816.xml"/><Relationship Id="rId249" Type="http://schemas.openxmlformats.org/officeDocument/2006/relationships/slide" Target="slides/slide248.xml"/><Relationship Id="rId456" Type="http://schemas.openxmlformats.org/officeDocument/2006/relationships/slide" Target="slides/slide455.xml"/><Relationship Id="rId663" Type="http://schemas.openxmlformats.org/officeDocument/2006/relationships/slide" Target="slides/slide662.xml"/><Relationship Id="rId870" Type="http://schemas.openxmlformats.org/officeDocument/2006/relationships/slide" Target="slides/slide869.xml"/><Relationship Id="rId13" Type="http://schemas.openxmlformats.org/officeDocument/2006/relationships/slide" Target="slides/slide12.xml"/><Relationship Id="rId109" Type="http://schemas.openxmlformats.org/officeDocument/2006/relationships/slide" Target="slides/slide108.xml"/><Relationship Id="rId316" Type="http://schemas.openxmlformats.org/officeDocument/2006/relationships/slide" Target="slides/slide315.xml"/><Relationship Id="rId523" Type="http://schemas.openxmlformats.org/officeDocument/2006/relationships/slide" Target="slides/slide522.xml"/><Relationship Id="rId97" Type="http://schemas.openxmlformats.org/officeDocument/2006/relationships/slide" Target="slides/slide96.xml"/><Relationship Id="rId730" Type="http://schemas.openxmlformats.org/officeDocument/2006/relationships/slide" Target="slides/slide729.xml"/><Relationship Id="rId828" Type="http://schemas.openxmlformats.org/officeDocument/2006/relationships/slide" Target="slides/slide827.xml"/><Relationship Id="rId162" Type="http://schemas.openxmlformats.org/officeDocument/2006/relationships/slide" Target="slides/slide161.xml"/><Relationship Id="rId467" Type="http://schemas.openxmlformats.org/officeDocument/2006/relationships/slide" Target="slides/slide466.xml"/><Relationship Id="rId674" Type="http://schemas.openxmlformats.org/officeDocument/2006/relationships/slide" Target="slides/slide673.xml"/><Relationship Id="rId881" Type="http://schemas.openxmlformats.org/officeDocument/2006/relationships/slide" Target="slides/slide880.xml"/><Relationship Id="rId24" Type="http://schemas.openxmlformats.org/officeDocument/2006/relationships/slide" Target="slides/slide23.xml"/><Relationship Id="rId327" Type="http://schemas.openxmlformats.org/officeDocument/2006/relationships/slide" Target="slides/slide326.xml"/><Relationship Id="rId534" Type="http://schemas.openxmlformats.org/officeDocument/2006/relationships/slide" Target="slides/slide533.xml"/><Relationship Id="rId741" Type="http://schemas.openxmlformats.org/officeDocument/2006/relationships/slide" Target="slides/slide740.xml"/><Relationship Id="rId839" Type="http://schemas.openxmlformats.org/officeDocument/2006/relationships/slide" Target="slides/slide838.xml"/><Relationship Id="rId173" Type="http://schemas.openxmlformats.org/officeDocument/2006/relationships/slide" Target="slides/slide172.xml"/><Relationship Id="rId380" Type="http://schemas.openxmlformats.org/officeDocument/2006/relationships/slide" Target="slides/slide379.xml"/><Relationship Id="rId601" Type="http://schemas.openxmlformats.org/officeDocument/2006/relationships/slide" Target="slides/slide600.xml"/><Relationship Id="rId240" Type="http://schemas.openxmlformats.org/officeDocument/2006/relationships/slide" Target="slides/slide239.xml"/><Relationship Id="rId478" Type="http://schemas.openxmlformats.org/officeDocument/2006/relationships/slide" Target="slides/slide477.xml"/><Relationship Id="rId685" Type="http://schemas.openxmlformats.org/officeDocument/2006/relationships/slide" Target="slides/slide684.xml"/><Relationship Id="rId35" Type="http://schemas.openxmlformats.org/officeDocument/2006/relationships/slide" Target="slides/slide34.xml"/><Relationship Id="rId100" Type="http://schemas.openxmlformats.org/officeDocument/2006/relationships/slide" Target="slides/slide99.xml"/><Relationship Id="rId338" Type="http://schemas.openxmlformats.org/officeDocument/2006/relationships/slide" Target="slides/slide337.xml"/><Relationship Id="rId545" Type="http://schemas.openxmlformats.org/officeDocument/2006/relationships/slide" Target="slides/slide544.xml"/><Relationship Id="rId752" Type="http://schemas.openxmlformats.org/officeDocument/2006/relationships/slide" Target="slides/slide751.xml"/><Relationship Id="rId184" Type="http://schemas.openxmlformats.org/officeDocument/2006/relationships/slide" Target="slides/slide183.xml"/><Relationship Id="rId391" Type="http://schemas.openxmlformats.org/officeDocument/2006/relationships/slide" Target="slides/slide390.xml"/><Relationship Id="rId405" Type="http://schemas.openxmlformats.org/officeDocument/2006/relationships/slide" Target="slides/slide404.xml"/><Relationship Id="rId612" Type="http://schemas.openxmlformats.org/officeDocument/2006/relationships/slide" Target="slides/slide611.xml"/><Relationship Id="rId251" Type="http://schemas.openxmlformats.org/officeDocument/2006/relationships/slide" Target="slides/slide250.xml"/><Relationship Id="rId489" Type="http://schemas.openxmlformats.org/officeDocument/2006/relationships/slide" Target="slides/slide488.xml"/><Relationship Id="rId696" Type="http://schemas.openxmlformats.org/officeDocument/2006/relationships/slide" Target="slides/slide695.xml"/><Relationship Id="rId46" Type="http://schemas.openxmlformats.org/officeDocument/2006/relationships/slide" Target="slides/slide45.xml"/><Relationship Id="rId349" Type="http://schemas.openxmlformats.org/officeDocument/2006/relationships/slide" Target="slides/slide348.xml"/><Relationship Id="rId556" Type="http://schemas.openxmlformats.org/officeDocument/2006/relationships/slide" Target="slides/slide555.xml"/><Relationship Id="rId763" Type="http://schemas.openxmlformats.org/officeDocument/2006/relationships/slide" Target="slides/slide762.xml"/><Relationship Id="rId111" Type="http://schemas.openxmlformats.org/officeDocument/2006/relationships/slide" Target="slides/slide110.xml"/><Relationship Id="rId195" Type="http://schemas.openxmlformats.org/officeDocument/2006/relationships/slide" Target="slides/slide194.xml"/><Relationship Id="rId209" Type="http://schemas.openxmlformats.org/officeDocument/2006/relationships/slide" Target="slides/slide208.xml"/><Relationship Id="rId416" Type="http://schemas.openxmlformats.org/officeDocument/2006/relationships/slide" Target="slides/slide415.xml"/><Relationship Id="rId623" Type="http://schemas.openxmlformats.org/officeDocument/2006/relationships/slide" Target="slides/slide622.xml"/><Relationship Id="rId830" Type="http://schemas.openxmlformats.org/officeDocument/2006/relationships/slide" Target="slides/slide829.xml"/><Relationship Id="rId57" Type="http://schemas.openxmlformats.org/officeDocument/2006/relationships/slide" Target="slides/slide56.xml"/><Relationship Id="rId262" Type="http://schemas.openxmlformats.org/officeDocument/2006/relationships/slide" Target="slides/slide261.xml"/><Relationship Id="rId567" Type="http://schemas.openxmlformats.org/officeDocument/2006/relationships/slide" Target="slides/slide566.xml"/><Relationship Id="rId122" Type="http://schemas.openxmlformats.org/officeDocument/2006/relationships/slide" Target="slides/slide121.xml"/><Relationship Id="rId774" Type="http://schemas.openxmlformats.org/officeDocument/2006/relationships/slide" Target="slides/slide773.xml"/><Relationship Id="rId427" Type="http://schemas.openxmlformats.org/officeDocument/2006/relationships/slide" Target="slides/slide426.xml"/><Relationship Id="rId469" Type="http://schemas.openxmlformats.org/officeDocument/2006/relationships/slide" Target="slides/slide468.xml"/><Relationship Id="rId634" Type="http://schemas.openxmlformats.org/officeDocument/2006/relationships/slide" Target="slides/slide633.xml"/><Relationship Id="rId676" Type="http://schemas.openxmlformats.org/officeDocument/2006/relationships/slide" Target="slides/slide675.xml"/><Relationship Id="rId841" Type="http://schemas.openxmlformats.org/officeDocument/2006/relationships/slide" Target="slides/slide840.xml"/><Relationship Id="rId883" Type="http://schemas.openxmlformats.org/officeDocument/2006/relationships/slide" Target="slides/slide882.xml"/><Relationship Id="rId26" Type="http://schemas.openxmlformats.org/officeDocument/2006/relationships/slide" Target="slides/slide25.xml"/><Relationship Id="rId231" Type="http://schemas.openxmlformats.org/officeDocument/2006/relationships/slide" Target="slides/slide230.xml"/><Relationship Id="rId273" Type="http://schemas.openxmlformats.org/officeDocument/2006/relationships/slide" Target="slides/slide272.xml"/><Relationship Id="rId329" Type="http://schemas.openxmlformats.org/officeDocument/2006/relationships/slide" Target="slides/slide328.xml"/><Relationship Id="rId480" Type="http://schemas.openxmlformats.org/officeDocument/2006/relationships/slide" Target="slides/slide479.xml"/><Relationship Id="rId536" Type="http://schemas.openxmlformats.org/officeDocument/2006/relationships/slide" Target="slides/slide535.xml"/><Relationship Id="rId701" Type="http://schemas.openxmlformats.org/officeDocument/2006/relationships/slide" Target="slides/slide700.xml"/><Relationship Id="rId68" Type="http://schemas.openxmlformats.org/officeDocument/2006/relationships/slide" Target="slides/slide67.xml"/><Relationship Id="rId133" Type="http://schemas.openxmlformats.org/officeDocument/2006/relationships/slide" Target="slides/slide132.xml"/><Relationship Id="rId175" Type="http://schemas.openxmlformats.org/officeDocument/2006/relationships/slide" Target="slides/slide174.xml"/><Relationship Id="rId340" Type="http://schemas.openxmlformats.org/officeDocument/2006/relationships/slide" Target="slides/slide339.xml"/><Relationship Id="rId578" Type="http://schemas.openxmlformats.org/officeDocument/2006/relationships/slide" Target="slides/slide577.xml"/><Relationship Id="rId743" Type="http://schemas.openxmlformats.org/officeDocument/2006/relationships/slide" Target="slides/slide742.xml"/><Relationship Id="rId785" Type="http://schemas.openxmlformats.org/officeDocument/2006/relationships/slide" Target="slides/slide784.xml"/><Relationship Id="rId200" Type="http://schemas.openxmlformats.org/officeDocument/2006/relationships/slide" Target="slides/slide199.xml"/><Relationship Id="rId382" Type="http://schemas.openxmlformats.org/officeDocument/2006/relationships/slide" Target="slides/slide381.xml"/><Relationship Id="rId438" Type="http://schemas.openxmlformats.org/officeDocument/2006/relationships/slide" Target="slides/slide437.xml"/><Relationship Id="rId603" Type="http://schemas.openxmlformats.org/officeDocument/2006/relationships/slide" Target="slides/slide602.xml"/><Relationship Id="rId645" Type="http://schemas.openxmlformats.org/officeDocument/2006/relationships/slide" Target="slides/slide644.xml"/><Relationship Id="rId687" Type="http://schemas.openxmlformats.org/officeDocument/2006/relationships/slide" Target="slides/slide686.xml"/><Relationship Id="rId810" Type="http://schemas.openxmlformats.org/officeDocument/2006/relationships/slide" Target="slides/slide809.xml"/><Relationship Id="rId852" Type="http://schemas.openxmlformats.org/officeDocument/2006/relationships/slide" Target="slides/slide851.xml"/><Relationship Id="rId242" Type="http://schemas.openxmlformats.org/officeDocument/2006/relationships/slide" Target="slides/slide241.xml"/><Relationship Id="rId284" Type="http://schemas.openxmlformats.org/officeDocument/2006/relationships/slide" Target="slides/slide283.xml"/><Relationship Id="rId491" Type="http://schemas.openxmlformats.org/officeDocument/2006/relationships/slide" Target="slides/slide490.xml"/><Relationship Id="rId505" Type="http://schemas.openxmlformats.org/officeDocument/2006/relationships/slide" Target="slides/slide504.xml"/><Relationship Id="rId712" Type="http://schemas.openxmlformats.org/officeDocument/2006/relationships/slide" Target="slides/slide711.xml"/><Relationship Id="rId37" Type="http://schemas.openxmlformats.org/officeDocument/2006/relationships/slide" Target="slides/slide36.xml"/><Relationship Id="rId79" Type="http://schemas.openxmlformats.org/officeDocument/2006/relationships/slide" Target="slides/slide78.xml"/><Relationship Id="rId102" Type="http://schemas.openxmlformats.org/officeDocument/2006/relationships/slide" Target="slides/slide101.xml"/><Relationship Id="rId144" Type="http://schemas.openxmlformats.org/officeDocument/2006/relationships/slide" Target="slides/slide143.xml"/><Relationship Id="rId547" Type="http://schemas.openxmlformats.org/officeDocument/2006/relationships/slide" Target="slides/slide546.xml"/><Relationship Id="rId589" Type="http://schemas.openxmlformats.org/officeDocument/2006/relationships/slide" Target="slides/slide588.xml"/><Relationship Id="rId754" Type="http://schemas.openxmlformats.org/officeDocument/2006/relationships/slide" Target="slides/slide753.xml"/><Relationship Id="rId796" Type="http://schemas.openxmlformats.org/officeDocument/2006/relationships/slide" Target="slides/slide795.xml"/><Relationship Id="rId90" Type="http://schemas.openxmlformats.org/officeDocument/2006/relationships/slide" Target="slides/slide89.xml"/><Relationship Id="rId186" Type="http://schemas.openxmlformats.org/officeDocument/2006/relationships/slide" Target="slides/slide185.xml"/><Relationship Id="rId351" Type="http://schemas.openxmlformats.org/officeDocument/2006/relationships/slide" Target="slides/slide350.xml"/><Relationship Id="rId393" Type="http://schemas.openxmlformats.org/officeDocument/2006/relationships/slide" Target="slides/slide392.xml"/><Relationship Id="rId407" Type="http://schemas.openxmlformats.org/officeDocument/2006/relationships/slide" Target="slides/slide406.xml"/><Relationship Id="rId449" Type="http://schemas.openxmlformats.org/officeDocument/2006/relationships/slide" Target="slides/slide448.xml"/><Relationship Id="rId614" Type="http://schemas.openxmlformats.org/officeDocument/2006/relationships/slide" Target="slides/slide613.xml"/><Relationship Id="rId656" Type="http://schemas.openxmlformats.org/officeDocument/2006/relationships/slide" Target="slides/slide655.xml"/><Relationship Id="rId821" Type="http://schemas.openxmlformats.org/officeDocument/2006/relationships/slide" Target="slides/slide820.xml"/><Relationship Id="rId863" Type="http://schemas.openxmlformats.org/officeDocument/2006/relationships/slide" Target="slides/slide862.xml"/><Relationship Id="rId211" Type="http://schemas.openxmlformats.org/officeDocument/2006/relationships/slide" Target="slides/slide210.xml"/><Relationship Id="rId253" Type="http://schemas.openxmlformats.org/officeDocument/2006/relationships/slide" Target="slides/slide252.xml"/><Relationship Id="rId295" Type="http://schemas.openxmlformats.org/officeDocument/2006/relationships/slide" Target="slides/slide294.xml"/><Relationship Id="rId309" Type="http://schemas.openxmlformats.org/officeDocument/2006/relationships/slide" Target="slides/slide308.xml"/><Relationship Id="rId460" Type="http://schemas.openxmlformats.org/officeDocument/2006/relationships/slide" Target="slides/slide459.xml"/><Relationship Id="rId516" Type="http://schemas.openxmlformats.org/officeDocument/2006/relationships/slide" Target="slides/slide515.xml"/><Relationship Id="rId698" Type="http://schemas.openxmlformats.org/officeDocument/2006/relationships/slide" Target="slides/slide697.xml"/><Relationship Id="rId48" Type="http://schemas.openxmlformats.org/officeDocument/2006/relationships/slide" Target="slides/slide47.xml"/><Relationship Id="rId113" Type="http://schemas.openxmlformats.org/officeDocument/2006/relationships/slide" Target="slides/slide112.xml"/><Relationship Id="rId320" Type="http://schemas.openxmlformats.org/officeDocument/2006/relationships/slide" Target="slides/slide319.xml"/><Relationship Id="rId558" Type="http://schemas.openxmlformats.org/officeDocument/2006/relationships/slide" Target="slides/slide557.xml"/><Relationship Id="rId723" Type="http://schemas.openxmlformats.org/officeDocument/2006/relationships/slide" Target="slides/slide722.xml"/><Relationship Id="rId765" Type="http://schemas.openxmlformats.org/officeDocument/2006/relationships/slide" Target="slides/slide764.xml"/><Relationship Id="rId155" Type="http://schemas.openxmlformats.org/officeDocument/2006/relationships/slide" Target="slides/slide154.xml"/><Relationship Id="rId197" Type="http://schemas.openxmlformats.org/officeDocument/2006/relationships/slide" Target="slides/slide196.xml"/><Relationship Id="rId362" Type="http://schemas.openxmlformats.org/officeDocument/2006/relationships/slide" Target="slides/slide361.xml"/><Relationship Id="rId418" Type="http://schemas.openxmlformats.org/officeDocument/2006/relationships/slide" Target="slides/slide417.xml"/><Relationship Id="rId625" Type="http://schemas.openxmlformats.org/officeDocument/2006/relationships/slide" Target="slides/slide624.xml"/><Relationship Id="rId832" Type="http://schemas.openxmlformats.org/officeDocument/2006/relationships/slide" Target="slides/slide831.xml"/><Relationship Id="rId222" Type="http://schemas.openxmlformats.org/officeDocument/2006/relationships/slide" Target="slides/slide221.xml"/><Relationship Id="rId264" Type="http://schemas.openxmlformats.org/officeDocument/2006/relationships/slide" Target="slides/slide263.xml"/><Relationship Id="rId471" Type="http://schemas.openxmlformats.org/officeDocument/2006/relationships/slide" Target="slides/slide470.xml"/><Relationship Id="rId667" Type="http://schemas.openxmlformats.org/officeDocument/2006/relationships/slide" Target="slides/slide666.xml"/><Relationship Id="rId874" Type="http://schemas.openxmlformats.org/officeDocument/2006/relationships/slide" Target="slides/slide873.xml"/><Relationship Id="rId17" Type="http://schemas.openxmlformats.org/officeDocument/2006/relationships/slide" Target="slides/slide16.xml"/><Relationship Id="rId59" Type="http://schemas.openxmlformats.org/officeDocument/2006/relationships/slide" Target="slides/slide58.xml"/><Relationship Id="rId124" Type="http://schemas.openxmlformats.org/officeDocument/2006/relationships/slide" Target="slides/slide123.xml"/><Relationship Id="rId527" Type="http://schemas.openxmlformats.org/officeDocument/2006/relationships/slide" Target="slides/slide526.xml"/><Relationship Id="rId569" Type="http://schemas.openxmlformats.org/officeDocument/2006/relationships/slide" Target="slides/slide568.xml"/><Relationship Id="rId734" Type="http://schemas.openxmlformats.org/officeDocument/2006/relationships/slide" Target="slides/slide733.xml"/><Relationship Id="rId776" Type="http://schemas.openxmlformats.org/officeDocument/2006/relationships/slide" Target="slides/slide775.xml"/><Relationship Id="rId70" Type="http://schemas.openxmlformats.org/officeDocument/2006/relationships/slide" Target="slides/slide69.xml"/><Relationship Id="rId166" Type="http://schemas.openxmlformats.org/officeDocument/2006/relationships/slide" Target="slides/slide165.xml"/><Relationship Id="rId331" Type="http://schemas.openxmlformats.org/officeDocument/2006/relationships/slide" Target="slides/slide330.xml"/><Relationship Id="rId373" Type="http://schemas.openxmlformats.org/officeDocument/2006/relationships/slide" Target="slides/slide372.xml"/><Relationship Id="rId429" Type="http://schemas.openxmlformats.org/officeDocument/2006/relationships/slide" Target="slides/slide428.xml"/><Relationship Id="rId580" Type="http://schemas.openxmlformats.org/officeDocument/2006/relationships/slide" Target="slides/slide579.xml"/><Relationship Id="rId636" Type="http://schemas.openxmlformats.org/officeDocument/2006/relationships/slide" Target="slides/slide635.xml"/><Relationship Id="rId801" Type="http://schemas.openxmlformats.org/officeDocument/2006/relationships/slide" Target="slides/slide800.xml"/><Relationship Id="rId1" Type="http://schemas.openxmlformats.org/officeDocument/2006/relationships/slideMaster" Target="slideMasters/slideMaster1.xml"/><Relationship Id="rId233" Type="http://schemas.openxmlformats.org/officeDocument/2006/relationships/slide" Target="slides/slide232.xml"/><Relationship Id="rId440" Type="http://schemas.openxmlformats.org/officeDocument/2006/relationships/slide" Target="slides/slide439.xml"/><Relationship Id="rId678" Type="http://schemas.openxmlformats.org/officeDocument/2006/relationships/slide" Target="slides/slide677.xml"/><Relationship Id="rId843" Type="http://schemas.openxmlformats.org/officeDocument/2006/relationships/slide" Target="slides/slide842.xml"/><Relationship Id="rId885" Type="http://schemas.openxmlformats.org/officeDocument/2006/relationships/notesMaster" Target="notesMasters/notesMaster1.xml"/><Relationship Id="rId28" Type="http://schemas.openxmlformats.org/officeDocument/2006/relationships/slide" Target="slides/slide27.xml"/><Relationship Id="rId275" Type="http://schemas.openxmlformats.org/officeDocument/2006/relationships/slide" Target="slides/slide274.xml"/><Relationship Id="rId300" Type="http://schemas.openxmlformats.org/officeDocument/2006/relationships/slide" Target="slides/slide299.xml"/><Relationship Id="rId482" Type="http://schemas.openxmlformats.org/officeDocument/2006/relationships/slide" Target="slides/slide481.xml"/><Relationship Id="rId538" Type="http://schemas.openxmlformats.org/officeDocument/2006/relationships/slide" Target="slides/slide537.xml"/><Relationship Id="rId703" Type="http://schemas.openxmlformats.org/officeDocument/2006/relationships/slide" Target="slides/slide702.xml"/><Relationship Id="rId745" Type="http://schemas.openxmlformats.org/officeDocument/2006/relationships/slide" Target="slides/slide744.xml"/><Relationship Id="rId81" Type="http://schemas.openxmlformats.org/officeDocument/2006/relationships/slide" Target="slides/slide80.xml"/><Relationship Id="rId135" Type="http://schemas.openxmlformats.org/officeDocument/2006/relationships/slide" Target="slides/slide134.xml"/><Relationship Id="rId177" Type="http://schemas.openxmlformats.org/officeDocument/2006/relationships/slide" Target="slides/slide176.xml"/><Relationship Id="rId342" Type="http://schemas.openxmlformats.org/officeDocument/2006/relationships/slide" Target="slides/slide341.xml"/><Relationship Id="rId384" Type="http://schemas.openxmlformats.org/officeDocument/2006/relationships/slide" Target="slides/slide383.xml"/><Relationship Id="rId591" Type="http://schemas.openxmlformats.org/officeDocument/2006/relationships/slide" Target="slides/slide590.xml"/><Relationship Id="rId605" Type="http://schemas.openxmlformats.org/officeDocument/2006/relationships/slide" Target="slides/slide604.xml"/><Relationship Id="rId787" Type="http://schemas.openxmlformats.org/officeDocument/2006/relationships/slide" Target="slides/slide786.xml"/><Relationship Id="rId812" Type="http://schemas.openxmlformats.org/officeDocument/2006/relationships/slide" Target="slides/slide811.xml"/><Relationship Id="rId202" Type="http://schemas.openxmlformats.org/officeDocument/2006/relationships/slide" Target="slides/slide201.xml"/><Relationship Id="rId244" Type="http://schemas.openxmlformats.org/officeDocument/2006/relationships/slide" Target="slides/slide243.xml"/><Relationship Id="rId647" Type="http://schemas.openxmlformats.org/officeDocument/2006/relationships/slide" Target="slides/slide646.xml"/><Relationship Id="rId689" Type="http://schemas.openxmlformats.org/officeDocument/2006/relationships/slide" Target="slides/slide688.xml"/><Relationship Id="rId854" Type="http://schemas.openxmlformats.org/officeDocument/2006/relationships/slide" Target="slides/slide853.xml"/><Relationship Id="rId39" Type="http://schemas.openxmlformats.org/officeDocument/2006/relationships/slide" Target="slides/slide38.xml"/><Relationship Id="rId286" Type="http://schemas.openxmlformats.org/officeDocument/2006/relationships/slide" Target="slides/slide285.xml"/><Relationship Id="rId451" Type="http://schemas.openxmlformats.org/officeDocument/2006/relationships/slide" Target="slides/slide450.xml"/><Relationship Id="rId493" Type="http://schemas.openxmlformats.org/officeDocument/2006/relationships/slide" Target="slides/slide492.xml"/><Relationship Id="rId507" Type="http://schemas.openxmlformats.org/officeDocument/2006/relationships/slide" Target="slides/slide506.xml"/><Relationship Id="rId549" Type="http://schemas.openxmlformats.org/officeDocument/2006/relationships/slide" Target="slides/slide548.xml"/><Relationship Id="rId714" Type="http://schemas.openxmlformats.org/officeDocument/2006/relationships/slide" Target="slides/slide713.xml"/><Relationship Id="rId756" Type="http://schemas.openxmlformats.org/officeDocument/2006/relationships/slide" Target="slides/slide755.xml"/><Relationship Id="rId50" Type="http://schemas.openxmlformats.org/officeDocument/2006/relationships/slide" Target="slides/slide49.xml"/><Relationship Id="rId104" Type="http://schemas.openxmlformats.org/officeDocument/2006/relationships/slide" Target="slides/slide103.xml"/><Relationship Id="rId146" Type="http://schemas.openxmlformats.org/officeDocument/2006/relationships/slide" Target="slides/slide145.xml"/><Relationship Id="rId188" Type="http://schemas.openxmlformats.org/officeDocument/2006/relationships/slide" Target="slides/slide187.xml"/><Relationship Id="rId311" Type="http://schemas.openxmlformats.org/officeDocument/2006/relationships/slide" Target="slides/slide310.xml"/><Relationship Id="rId353" Type="http://schemas.openxmlformats.org/officeDocument/2006/relationships/slide" Target="slides/slide352.xml"/><Relationship Id="rId395" Type="http://schemas.openxmlformats.org/officeDocument/2006/relationships/slide" Target="slides/slide394.xml"/><Relationship Id="rId409" Type="http://schemas.openxmlformats.org/officeDocument/2006/relationships/slide" Target="slides/slide408.xml"/><Relationship Id="rId560" Type="http://schemas.openxmlformats.org/officeDocument/2006/relationships/slide" Target="slides/slide559.xml"/><Relationship Id="rId798" Type="http://schemas.openxmlformats.org/officeDocument/2006/relationships/slide" Target="slides/slide797.xml"/><Relationship Id="rId92" Type="http://schemas.openxmlformats.org/officeDocument/2006/relationships/slide" Target="slides/slide91.xml"/><Relationship Id="rId213" Type="http://schemas.openxmlformats.org/officeDocument/2006/relationships/slide" Target="slides/slide212.xml"/><Relationship Id="rId420" Type="http://schemas.openxmlformats.org/officeDocument/2006/relationships/slide" Target="slides/slide419.xml"/><Relationship Id="rId616" Type="http://schemas.openxmlformats.org/officeDocument/2006/relationships/slide" Target="slides/slide615.xml"/><Relationship Id="rId658" Type="http://schemas.openxmlformats.org/officeDocument/2006/relationships/slide" Target="slides/slide657.xml"/><Relationship Id="rId823" Type="http://schemas.openxmlformats.org/officeDocument/2006/relationships/slide" Target="slides/slide822.xml"/><Relationship Id="rId865" Type="http://schemas.openxmlformats.org/officeDocument/2006/relationships/slide" Target="slides/slide864.xml"/><Relationship Id="rId255" Type="http://schemas.openxmlformats.org/officeDocument/2006/relationships/slide" Target="slides/slide254.xml"/><Relationship Id="rId297" Type="http://schemas.openxmlformats.org/officeDocument/2006/relationships/slide" Target="slides/slide296.xml"/><Relationship Id="rId462" Type="http://schemas.openxmlformats.org/officeDocument/2006/relationships/slide" Target="slides/slide461.xml"/><Relationship Id="rId518" Type="http://schemas.openxmlformats.org/officeDocument/2006/relationships/slide" Target="slides/slide517.xml"/><Relationship Id="rId725" Type="http://schemas.openxmlformats.org/officeDocument/2006/relationships/slide" Target="slides/slide724.xml"/><Relationship Id="rId115" Type="http://schemas.openxmlformats.org/officeDocument/2006/relationships/slide" Target="slides/slide114.xml"/><Relationship Id="rId157" Type="http://schemas.openxmlformats.org/officeDocument/2006/relationships/slide" Target="slides/slide156.xml"/><Relationship Id="rId322" Type="http://schemas.openxmlformats.org/officeDocument/2006/relationships/slide" Target="slides/slide321.xml"/><Relationship Id="rId364" Type="http://schemas.openxmlformats.org/officeDocument/2006/relationships/slide" Target="slides/slide363.xml"/><Relationship Id="rId767" Type="http://schemas.openxmlformats.org/officeDocument/2006/relationships/slide" Target="slides/slide766.xml"/><Relationship Id="rId61" Type="http://schemas.openxmlformats.org/officeDocument/2006/relationships/slide" Target="slides/slide60.xml"/><Relationship Id="rId199" Type="http://schemas.openxmlformats.org/officeDocument/2006/relationships/slide" Target="slides/slide198.xml"/><Relationship Id="rId571" Type="http://schemas.openxmlformats.org/officeDocument/2006/relationships/slide" Target="slides/slide570.xml"/><Relationship Id="rId627" Type="http://schemas.openxmlformats.org/officeDocument/2006/relationships/slide" Target="slides/slide626.xml"/><Relationship Id="rId669" Type="http://schemas.openxmlformats.org/officeDocument/2006/relationships/slide" Target="slides/slide668.xml"/><Relationship Id="rId834" Type="http://schemas.openxmlformats.org/officeDocument/2006/relationships/slide" Target="slides/slide833.xml"/><Relationship Id="rId876" Type="http://schemas.openxmlformats.org/officeDocument/2006/relationships/slide" Target="slides/slide875.xml"/><Relationship Id="rId19" Type="http://schemas.openxmlformats.org/officeDocument/2006/relationships/slide" Target="slides/slide18.xml"/><Relationship Id="rId224" Type="http://schemas.openxmlformats.org/officeDocument/2006/relationships/slide" Target="slides/slide223.xml"/><Relationship Id="rId266" Type="http://schemas.openxmlformats.org/officeDocument/2006/relationships/slide" Target="slides/slide265.xml"/><Relationship Id="rId431" Type="http://schemas.openxmlformats.org/officeDocument/2006/relationships/slide" Target="slides/slide430.xml"/><Relationship Id="rId473" Type="http://schemas.openxmlformats.org/officeDocument/2006/relationships/slide" Target="slides/slide472.xml"/><Relationship Id="rId529" Type="http://schemas.openxmlformats.org/officeDocument/2006/relationships/slide" Target="slides/slide528.xml"/><Relationship Id="rId680" Type="http://schemas.openxmlformats.org/officeDocument/2006/relationships/slide" Target="slides/slide679.xml"/><Relationship Id="rId736" Type="http://schemas.openxmlformats.org/officeDocument/2006/relationships/slide" Target="slides/slide735.xml"/><Relationship Id="rId30" Type="http://schemas.openxmlformats.org/officeDocument/2006/relationships/slide" Target="slides/slide29.xml"/><Relationship Id="rId126" Type="http://schemas.openxmlformats.org/officeDocument/2006/relationships/slide" Target="slides/slide125.xml"/><Relationship Id="rId168" Type="http://schemas.openxmlformats.org/officeDocument/2006/relationships/slide" Target="slides/slide167.xml"/><Relationship Id="rId333" Type="http://schemas.openxmlformats.org/officeDocument/2006/relationships/slide" Target="slides/slide332.xml"/><Relationship Id="rId540" Type="http://schemas.openxmlformats.org/officeDocument/2006/relationships/slide" Target="slides/slide539.xml"/><Relationship Id="rId778" Type="http://schemas.openxmlformats.org/officeDocument/2006/relationships/slide" Target="slides/slide777.xml"/><Relationship Id="rId72" Type="http://schemas.openxmlformats.org/officeDocument/2006/relationships/slide" Target="slides/slide71.xml"/><Relationship Id="rId375" Type="http://schemas.openxmlformats.org/officeDocument/2006/relationships/slide" Target="slides/slide374.xml"/><Relationship Id="rId582" Type="http://schemas.openxmlformats.org/officeDocument/2006/relationships/slide" Target="slides/slide581.xml"/><Relationship Id="rId638" Type="http://schemas.openxmlformats.org/officeDocument/2006/relationships/slide" Target="slides/slide637.xml"/><Relationship Id="rId803" Type="http://schemas.openxmlformats.org/officeDocument/2006/relationships/slide" Target="slides/slide802.xml"/><Relationship Id="rId845" Type="http://schemas.openxmlformats.org/officeDocument/2006/relationships/slide" Target="slides/slide844.xml"/><Relationship Id="rId3" Type="http://schemas.openxmlformats.org/officeDocument/2006/relationships/slide" Target="slides/slide2.xml"/><Relationship Id="rId235" Type="http://schemas.openxmlformats.org/officeDocument/2006/relationships/slide" Target="slides/slide234.xml"/><Relationship Id="rId277" Type="http://schemas.openxmlformats.org/officeDocument/2006/relationships/slide" Target="slides/slide276.xml"/><Relationship Id="rId400" Type="http://schemas.openxmlformats.org/officeDocument/2006/relationships/slide" Target="slides/slide399.xml"/><Relationship Id="rId442" Type="http://schemas.openxmlformats.org/officeDocument/2006/relationships/slide" Target="slides/slide441.xml"/><Relationship Id="rId484" Type="http://schemas.openxmlformats.org/officeDocument/2006/relationships/slide" Target="slides/slide483.xml"/><Relationship Id="rId705" Type="http://schemas.openxmlformats.org/officeDocument/2006/relationships/slide" Target="slides/slide704.xml"/><Relationship Id="rId887" Type="http://schemas.openxmlformats.org/officeDocument/2006/relationships/presProps" Target="presProps.xml"/><Relationship Id="rId137" Type="http://schemas.openxmlformats.org/officeDocument/2006/relationships/slide" Target="slides/slide136.xml"/><Relationship Id="rId302" Type="http://schemas.openxmlformats.org/officeDocument/2006/relationships/slide" Target="slides/slide301.xml"/><Relationship Id="rId344" Type="http://schemas.openxmlformats.org/officeDocument/2006/relationships/slide" Target="slides/slide343.xml"/><Relationship Id="rId691" Type="http://schemas.openxmlformats.org/officeDocument/2006/relationships/slide" Target="slides/slide690.xml"/><Relationship Id="rId747" Type="http://schemas.openxmlformats.org/officeDocument/2006/relationships/slide" Target="slides/slide746.xml"/><Relationship Id="rId789" Type="http://schemas.openxmlformats.org/officeDocument/2006/relationships/slide" Target="slides/slide788.xml"/><Relationship Id="rId41" Type="http://schemas.openxmlformats.org/officeDocument/2006/relationships/slide" Target="slides/slide40.xml"/><Relationship Id="rId83" Type="http://schemas.openxmlformats.org/officeDocument/2006/relationships/slide" Target="slides/slide82.xml"/><Relationship Id="rId179" Type="http://schemas.openxmlformats.org/officeDocument/2006/relationships/slide" Target="slides/slide178.xml"/><Relationship Id="rId386" Type="http://schemas.openxmlformats.org/officeDocument/2006/relationships/slide" Target="slides/slide385.xml"/><Relationship Id="rId551" Type="http://schemas.openxmlformats.org/officeDocument/2006/relationships/slide" Target="slides/slide550.xml"/><Relationship Id="rId593" Type="http://schemas.openxmlformats.org/officeDocument/2006/relationships/slide" Target="slides/slide592.xml"/><Relationship Id="rId607" Type="http://schemas.openxmlformats.org/officeDocument/2006/relationships/slide" Target="slides/slide606.xml"/><Relationship Id="rId649" Type="http://schemas.openxmlformats.org/officeDocument/2006/relationships/slide" Target="slides/slide648.xml"/><Relationship Id="rId814" Type="http://schemas.openxmlformats.org/officeDocument/2006/relationships/slide" Target="slides/slide813.xml"/><Relationship Id="rId856" Type="http://schemas.openxmlformats.org/officeDocument/2006/relationships/slide" Target="slides/slide855.xml"/><Relationship Id="rId190" Type="http://schemas.openxmlformats.org/officeDocument/2006/relationships/slide" Target="slides/slide189.xml"/><Relationship Id="rId204" Type="http://schemas.openxmlformats.org/officeDocument/2006/relationships/slide" Target="slides/slide203.xml"/><Relationship Id="rId246" Type="http://schemas.openxmlformats.org/officeDocument/2006/relationships/slide" Target="slides/slide245.xml"/><Relationship Id="rId288" Type="http://schemas.openxmlformats.org/officeDocument/2006/relationships/slide" Target="slides/slide287.xml"/><Relationship Id="rId411" Type="http://schemas.openxmlformats.org/officeDocument/2006/relationships/slide" Target="slides/slide410.xml"/><Relationship Id="rId453" Type="http://schemas.openxmlformats.org/officeDocument/2006/relationships/slide" Target="slides/slide452.xml"/><Relationship Id="rId509" Type="http://schemas.openxmlformats.org/officeDocument/2006/relationships/slide" Target="slides/slide508.xml"/><Relationship Id="rId660" Type="http://schemas.openxmlformats.org/officeDocument/2006/relationships/slide" Target="slides/slide659.xml"/><Relationship Id="rId106" Type="http://schemas.openxmlformats.org/officeDocument/2006/relationships/slide" Target="slides/slide105.xml"/><Relationship Id="rId313" Type="http://schemas.openxmlformats.org/officeDocument/2006/relationships/slide" Target="slides/slide312.xml"/><Relationship Id="rId495" Type="http://schemas.openxmlformats.org/officeDocument/2006/relationships/slide" Target="slides/slide494.xml"/><Relationship Id="rId716" Type="http://schemas.openxmlformats.org/officeDocument/2006/relationships/slide" Target="slides/slide715.xml"/><Relationship Id="rId758" Type="http://schemas.openxmlformats.org/officeDocument/2006/relationships/slide" Target="slides/slide757.xml"/><Relationship Id="rId10" Type="http://schemas.openxmlformats.org/officeDocument/2006/relationships/slide" Target="slides/slide9.xml"/><Relationship Id="rId52" Type="http://schemas.openxmlformats.org/officeDocument/2006/relationships/slide" Target="slides/slide51.xml"/><Relationship Id="rId94" Type="http://schemas.openxmlformats.org/officeDocument/2006/relationships/slide" Target="slides/slide93.xml"/><Relationship Id="rId148" Type="http://schemas.openxmlformats.org/officeDocument/2006/relationships/slide" Target="slides/slide147.xml"/><Relationship Id="rId355" Type="http://schemas.openxmlformats.org/officeDocument/2006/relationships/slide" Target="slides/slide354.xml"/><Relationship Id="rId397" Type="http://schemas.openxmlformats.org/officeDocument/2006/relationships/slide" Target="slides/slide396.xml"/><Relationship Id="rId520" Type="http://schemas.openxmlformats.org/officeDocument/2006/relationships/slide" Target="slides/slide519.xml"/><Relationship Id="rId562" Type="http://schemas.openxmlformats.org/officeDocument/2006/relationships/slide" Target="slides/slide561.xml"/><Relationship Id="rId618" Type="http://schemas.openxmlformats.org/officeDocument/2006/relationships/slide" Target="slides/slide617.xml"/><Relationship Id="rId825" Type="http://schemas.openxmlformats.org/officeDocument/2006/relationships/slide" Target="slides/slide824.xml"/><Relationship Id="rId215" Type="http://schemas.openxmlformats.org/officeDocument/2006/relationships/slide" Target="slides/slide214.xml"/><Relationship Id="rId257" Type="http://schemas.openxmlformats.org/officeDocument/2006/relationships/slide" Target="slides/slide256.xml"/><Relationship Id="rId422" Type="http://schemas.openxmlformats.org/officeDocument/2006/relationships/slide" Target="slides/slide421.xml"/><Relationship Id="rId464" Type="http://schemas.openxmlformats.org/officeDocument/2006/relationships/slide" Target="slides/slide463.xml"/><Relationship Id="rId867" Type="http://schemas.openxmlformats.org/officeDocument/2006/relationships/slide" Target="slides/slide866.xml"/><Relationship Id="rId299" Type="http://schemas.openxmlformats.org/officeDocument/2006/relationships/slide" Target="slides/slide298.xml"/><Relationship Id="rId727" Type="http://schemas.openxmlformats.org/officeDocument/2006/relationships/slide" Target="slides/slide726.xml"/><Relationship Id="rId63" Type="http://schemas.openxmlformats.org/officeDocument/2006/relationships/slide" Target="slides/slide62.xml"/><Relationship Id="rId159" Type="http://schemas.openxmlformats.org/officeDocument/2006/relationships/slide" Target="slides/slide158.xml"/><Relationship Id="rId366" Type="http://schemas.openxmlformats.org/officeDocument/2006/relationships/slide" Target="slides/slide365.xml"/><Relationship Id="rId573" Type="http://schemas.openxmlformats.org/officeDocument/2006/relationships/slide" Target="slides/slide572.xml"/><Relationship Id="rId780" Type="http://schemas.openxmlformats.org/officeDocument/2006/relationships/slide" Target="slides/slide779.xml"/><Relationship Id="rId226" Type="http://schemas.openxmlformats.org/officeDocument/2006/relationships/slide" Target="slides/slide225.xml"/><Relationship Id="rId433" Type="http://schemas.openxmlformats.org/officeDocument/2006/relationships/slide" Target="slides/slide432.xml"/><Relationship Id="rId878" Type="http://schemas.openxmlformats.org/officeDocument/2006/relationships/slide" Target="slides/slide877.xml"/><Relationship Id="rId640" Type="http://schemas.openxmlformats.org/officeDocument/2006/relationships/slide" Target="slides/slide639.xml"/><Relationship Id="rId738" Type="http://schemas.openxmlformats.org/officeDocument/2006/relationships/slide" Target="slides/slide737.xml"/><Relationship Id="rId74" Type="http://schemas.openxmlformats.org/officeDocument/2006/relationships/slide" Target="slides/slide73.xml"/><Relationship Id="rId377" Type="http://schemas.openxmlformats.org/officeDocument/2006/relationships/slide" Target="slides/slide376.xml"/><Relationship Id="rId500" Type="http://schemas.openxmlformats.org/officeDocument/2006/relationships/slide" Target="slides/slide499.xml"/><Relationship Id="rId584" Type="http://schemas.openxmlformats.org/officeDocument/2006/relationships/slide" Target="slides/slide583.xml"/><Relationship Id="rId805" Type="http://schemas.openxmlformats.org/officeDocument/2006/relationships/slide" Target="slides/slide804.xml"/><Relationship Id="rId5" Type="http://schemas.openxmlformats.org/officeDocument/2006/relationships/slide" Target="slides/slide4.xml"/><Relationship Id="rId237" Type="http://schemas.openxmlformats.org/officeDocument/2006/relationships/slide" Target="slides/slide236.xml"/><Relationship Id="rId791" Type="http://schemas.openxmlformats.org/officeDocument/2006/relationships/slide" Target="slides/slide790.xml"/><Relationship Id="rId889" Type="http://schemas.openxmlformats.org/officeDocument/2006/relationships/theme" Target="theme/theme1.xml"/><Relationship Id="rId444" Type="http://schemas.openxmlformats.org/officeDocument/2006/relationships/slide" Target="slides/slide443.xml"/><Relationship Id="rId651" Type="http://schemas.openxmlformats.org/officeDocument/2006/relationships/slide" Target="slides/slide650.xml"/><Relationship Id="rId749" Type="http://schemas.openxmlformats.org/officeDocument/2006/relationships/slide" Target="slides/slide748.xml"/><Relationship Id="rId290" Type="http://schemas.openxmlformats.org/officeDocument/2006/relationships/slide" Target="slides/slide289.xml"/><Relationship Id="rId304" Type="http://schemas.openxmlformats.org/officeDocument/2006/relationships/slide" Target="slides/slide303.xml"/><Relationship Id="rId388" Type="http://schemas.openxmlformats.org/officeDocument/2006/relationships/slide" Target="slides/slide387.xml"/><Relationship Id="rId511" Type="http://schemas.openxmlformats.org/officeDocument/2006/relationships/slide" Target="slides/slide510.xml"/><Relationship Id="rId609" Type="http://schemas.openxmlformats.org/officeDocument/2006/relationships/slide" Target="slides/slide608.xml"/><Relationship Id="rId85" Type="http://schemas.openxmlformats.org/officeDocument/2006/relationships/slide" Target="slides/slide84.xml"/><Relationship Id="rId150" Type="http://schemas.openxmlformats.org/officeDocument/2006/relationships/slide" Target="slides/slide149.xml"/><Relationship Id="rId595" Type="http://schemas.openxmlformats.org/officeDocument/2006/relationships/slide" Target="slides/slide594.xml"/><Relationship Id="rId816" Type="http://schemas.openxmlformats.org/officeDocument/2006/relationships/slide" Target="slides/slide815.xml"/><Relationship Id="rId248" Type="http://schemas.openxmlformats.org/officeDocument/2006/relationships/slide" Target="slides/slide247.xml"/><Relationship Id="rId455" Type="http://schemas.openxmlformats.org/officeDocument/2006/relationships/slide" Target="slides/slide454.xml"/><Relationship Id="rId662" Type="http://schemas.openxmlformats.org/officeDocument/2006/relationships/slide" Target="slides/slide661.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522" Type="http://schemas.openxmlformats.org/officeDocument/2006/relationships/slide" Target="slides/slide521.xml"/><Relationship Id="rId96" Type="http://schemas.openxmlformats.org/officeDocument/2006/relationships/slide" Target="slides/slide95.xml"/><Relationship Id="rId161" Type="http://schemas.openxmlformats.org/officeDocument/2006/relationships/slide" Target="slides/slide160.xml"/><Relationship Id="rId399" Type="http://schemas.openxmlformats.org/officeDocument/2006/relationships/slide" Target="slides/slide398.xml"/><Relationship Id="rId827" Type="http://schemas.openxmlformats.org/officeDocument/2006/relationships/slide" Target="slides/slide826.xml"/><Relationship Id="rId259" Type="http://schemas.openxmlformats.org/officeDocument/2006/relationships/slide" Target="slides/slide258.xml"/><Relationship Id="rId466" Type="http://schemas.openxmlformats.org/officeDocument/2006/relationships/slide" Target="slides/slide465.xml"/><Relationship Id="rId673" Type="http://schemas.openxmlformats.org/officeDocument/2006/relationships/slide" Target="slides/slide672.xml"/><Relationship Id="rId880" Type="http://schemas.openxmlformats.org/officeDocument/2006/relationships/slide" Target="slides/slide879.xml"/><Relationship Id="rId23" Type="http://schemas.openxmlformats.org/officeDocument/2006/relationships/slide" Target="slides/slide22.xml"/><Relationship Id="rId119" Type="http://schemas.openxmlformats.org/officeDocument/2006/relationships/slide" Target="slides/slide118.xml"/><Relationship Id="rId326" Type="http://schemas.openxmlformats.org/officeDocument/2006/relationships/slide" Target="slides/slide325.xml"/><Relationship Id="rId533" Type="http://schemas.openxmlformats.org/officeDocument/2006/relationships/slide" Target="slides/slide532.xml"/><Relationship Id="rId740" Type="http://schemas.openxmlformats.org/officeDocument/2006/relationships/slide" Target="slides/slide739.xml"/><Relationship Id="rId838" Type="http://schemas.openxmlformats.org/officeDocument/2006/relationships/slide" Target="slides/slide837.xml"/><Relationship Id="rId172" Type="http://schemas.openxmlformats.org/officeDocument/2006/relationships/slide" Target="slides/slide171.xml"/><Relationship Id="rId477" Type="http://schemas.openxmlformats.org/officeDocument/2006/relationships/slide" Target="slides/slide476.xml"/><Relationship Id="rId600" Type="http://schemas.openxmlformats.org/officeDocument/2006/relationships/slide" Target="slides/slide599.xml"/><Relationship Id="rId684" Type="http://schemas.openxmlformats.org/officeDocument/2006/relationships/slide" Target="slides/slide683.xml"/><Relationship Id="rId337" Type="http://schemas.openxmlformats.org/officeDocument/2006/relationships/slide" Target="slides/slide336.xml"/><Relationship Id="rId34" Type="http://schemas.openxmlformats.org/officeDocument/2006/relationships/slide" Target="slides/slide33.xml"/><Relationship Id="rId544" Type="http://schemas.openxmlformats.org/officeDocument/2006/relationships/slide" Target="slides/slide543.xml"/><Relationship Id="rId751" Type="http://schemas.openxmlformats.org/officeDocument/2006/relationships/slide" Target="slides/slide750.xml"/><Relationship Id="rId849" Type="http://schemas.openxmlformats.org/officeDocument/2006/relationships/slide" Target="slides/slide848.xml"/><Relationship Id="rId183" Type="http://schemas.openxmlformats.org/officeDocument/2006/relationships/slide" Target="slides/slide182.xml"/><Relationship Id="rId390" Type="http://schemas.openxmlformats.org/officeDocument/2006/relationships/slide" Target="slides/slide389.xml"/><Relationship Id="rId404" Type="http://schemas.openxmlformats.org/officeDocument/2006/relationships/slide" Target="slides/slide403.xml"/><Relationship Id="rId611" Type="http://schemas.openxmlformats.org/officeDocument/2006/relationships/slide" Target="slides/slide610.xml"/><Relationship Id="rId250" Type="http://schemas.openxmlformats.org/officeDocument/2006/relationships/slide" Target="slides/slide249.xml"/><Relationship Id="rId488" Type="http://schemas.openxmlformats.org/officeDocument/2006/relationships/slide" Target="slides/slide487.xml"/><Relationship Id="rId695" Type="http://schemas.openxmlformats.org/officeDocument/2006/relationships/slide" Target="slides/slide694.xml"/><Relationship Id="rId709" Type="http://schemas.openxmlformats.org/officeDocument/2006/relationships/slide" Target="slides/slide708.xml"/><Relationship Id="rId45" Type="http://schemas.openxmlformats.org/officeDocument/2006/relationships/slide" Target="slides/slide44.xml"/><Relationship Id="rId110" Type="http://schemas.openxmlformats.org/officeDocument/2006/relationships/slide" Target="slides/slide109.xml"/><Relationship Id="rId348" Type="http://schemas.openxmlformats.org/officeDocument/2006/relationships/slide" Target="slides/slide347.xml"/><Relationship Id="rId555" Type="http://schemas.openxmlformats.org/officeDocument/2006/relationships/slide" Target="slides/slide554.xml"/><Relationship Id="rId762" Type="http://schemas.openxmlformats.org/officeDocument/2006/relationships/slide" Target="slides/slide761.xml"/><Relationship Id="rId194" Type="http://schemas.openxmlformats.org/officeDocument/2006/relationships/slide" Target="slides/slide193.xml"/><Relationship Id="rId208" Type="http://schemas.openxmlformats.org/officeDocument/2006/relationships/slide" Target="slides/slide207.xml"/><Relationship Id="rId415" Type="http://schemas.openxmlformats.org/officeDocument/2006/relationships/slide" Target="slides/slide414.xml"/><Relationship Id="rId622" Type="http://schemas.openxmlformats.org/officeDocument/2006/relationships/slide" Target="slides/slide621.xml"/><Relationship Id="rId261" Type="http://schemas.openxmlformats.org/officeDocument/2006/relationships/slide" Target="slides/slide260.xml"/><Relationship Id="rId499" Type="http://schemas.openxmlformats.org/officeDocument/2006/relationships/slide" Target="slides/slide498.xml"/><Relationship Id="rId56" Type="http://schemas.openxmlformats.org/officeDocument/2006/relationships/slide" Target="slides/slide55.xml"/><Relationship Id="rId359" Type="http://schemas.openxmlformats.org/officeDocument/2006/relationships/slide" Target="slides/slide358.xml"/><Relationship Id="rId566" Type="http://schemas.openxmlformats.org/officeDocument/2006/relationships/slide" Target="slides/slide565.xml"/><Relationship Id="rId773" Type="http://schemas.openxmlformats.org/officeDocument/2006/relationships/slide" Target="slides/slide772.xml"/><Relationship Id="rId121" Type="http://schemas.openxmlformats.org/officeDocument/2006/relationships/slide" Target="slides/slide120.xml"/><Relationship Id="rId219" Type="http://schemas.openxmlformats.org/officeDocument/2006/relationships/slide" Target="slides/slide218.xml"/><Relationship Id="rId426" Type="http://schemas.openxmlformats.org/officeDocument/2006/relationships/slide" Target="slides/slide425.xml"/><Relationship Id="rId633" Type="http://schemas.openxmlformats.org/officeDocument/2006/relationships/slide" Target="slides/slide632.xml"/><Relationship Id="rId840" Type="http://schemas.openxmlformats.org/officeDocument/2006/relationships/slide" Target="slides/slide839.xml"/><Relationship Id="rId67" Type="http://schemas.openxmlformats.org/officeDocument/2006/relationships/slide" Target="slides/slide66.xml"/><Relationship Id="rId272" Type="http://schemas.openxmlformats.org/officeDocument/2006/relationships/slide" Target="slides/slide271.xml"/><Relationship Id="rId577" Type="http://schemas.openxmlformats.org/officeDocument/2006/relationships/slide" Target="slides/slide576.xml"/><Relationship Id="rId700" Type="http://schemas.openxmlformats.org/officeDocument/2006/relationships/slide" Target="slides/slide699.xml"/><Relationship Id="rId132" Type="http://schemas.openxmlformats.org/officeDocument/2006/relationships/slide" Target="slides/slide131.xml"/><Relationship Id="rId784" Type="http://schemas.openxmlformats.org/officeDocument/2006/relationships/slide" Target="slides/slide783.xml"/><Relationship Id="rId437" Type="http://schemas.openxmlformats.org/officeDocument/2006/relationships/slide" Target="slides/slide436.xml"/><Relationship Id="rId644" Type="http://schemas.openxmlformats.org/officeDocument/2006/relationships/slide" Target="slides/slide643.xml"/><Relationship Id="rId851" Type="http://schemas.openxmlformats.org/officeDocument/2006/relationships/slide" Target="slides/slide850.xml"/><Relationship Id="rId283" Type="http://schemas.openxmlformats.org/officeDocument/2006/relationships/slide" Target="slides/slide282.xml"/><Relationship Id="rId490" Type="http://schemas.openxmlformats.org/officeDocument/2006/relationships/slide" Target="slides/slide489.xml"/><Relationship Id="rId504" Type="http://schemas.openxmlformats.org/officeDocument/2006/relationships/slide" Target="slides/slide503.xml"/><Relationship Id="rId711" Type="http://schemas.openxmlformats.org/officeDocument/2006/relationships/slide" Target="slides/slide710.xml"/><Relationship Id="rId78" Type="http://schemas.openxmlformats.org/officeDocument/2006/relationships/slide" Target="slides/slide77.xml"/><Relationship Id="rId143" Type="http://schemas.openxmlformats.org/officeDocument/2006/relationships/slide" Target="slides/slide142.xml"/><Relationship Id="rId350" Type="http://schemas.openxmlformats.org/officeDocument/2006/relationships/slide" Target="slides/slide349.xml"/><Relationship Id="rId588" Type="http://schemas.openxmlformats.org/officeDocument/2006/relationships/slide" Target="slides/slide587.xml"/><Relationship Id="rId795" Type="http://schemas.openxmlformats.org/officeDocument/2006/relationships/slide" Target="slides/slide794.xml"/><Relationship Id="rId809" Type="http://schemas.openxmlformats.org/officeDocument/2006/relationships/slide" Target="slides/slide808.xml"/><Relationship Id="rId9" Type="http://schemas.openxmlformats.org/officeDocument/2006/relationships/slide" Target="slides/slide8.xml"/><Relationship Id="rId210" Type="http://schemas.openxmlformats.org/officeDocument/2006/relationships/slide" Target="slides/slide209.xml"/><Relationship Id="rId448" Type="http://schemas.openxmlformats.org/officeDocument/2006/relationships/slide" Target="slides/slide447.xml"/><Relationship Id="rId655" Type="http://schemas.openxmlformats.org/officeDocument/2006/relationships/slide" Target="slides/slide654.xml"/><Relationship Id="rId862" Type="http://schemas.openxmlformats.org/officeDocument/2006/relationships/slide" Target="slides/slide861.xml"/><Relationship Id="rId294" Type="http://schemas.openxmlformats.org/officeDocument/2006/relationships/slide" Target="slides/slide293.xml"/><Relationship Id="rId308" Type="http://schemas.openxmlformats.org/officeDocument/2006/relationships/slide" Target="slides/slide307.xml"/><Relationship Id="rId515" Type="http://schemas.openxmlformats.org/officeDocument/2006/relationships/slide" Target="slides/slide514.xml"/><Relationship Id="rId722" Type="http://schemas.openxmlformats.org/officeDocument/2006/relationships/slide" Target="slides/slide721.xml"/><Relationship Id="rId89" Type="http://schemas.openxmlformats.org/officeDocument/2006/relationships/slide" Target="slides/slide88.xml"/><Relationship Id="rId154" Type="http://schemas.openxmlformats.org/officeDocument/2006/relationships/slide" Target="slides/slide153.xml"/><Relationship Id="rId361" Type="http://schemas.openxmlformats.org/officeDocument/2006/relationships/slide" Target="slides/slide360.xml"/><Relationship Id="rId599" Type="http://schemas.openxmlformats.org/officeDocument/2006/relationships/slide" Target="slides/slide598.xml"/><Relationship Id="rId459" Type="http://schemas.openxmlformats.org/officeDocument/2006/relationships/slide" Target="slides/slide458.xml"/><Relationship Id="rId666" Type="http://schemas.openxmlformats.org/officeDocument/2006/relationships/slide" Target="slides/slide665.xml"/><Relationship Id="rId873" Type="http://schemas.openxmlformats.org/officeDocument/2006/relationships/slide" Target="slides/slide872.xml"/><Relationship Id="rId16" Type="http://schemas.openxmlformats.org/officeDocument/2006/relationships/slide" Target="slides/slide15.xml"/><Relationship Id="rId221" Type="http://schemas.openxmlformats.org/officeDocument/2006/relationships/slide" Target="slides/slide220.xml"/><Relationship Id="rId319" Type="http://schemas.openxmlformats.org/officeDocument/2006/relationships/slide" Target="slides/slide318.xml"/><Relationship Id="rId526" Type="http://schemas.openxmlformats.org/officeDocument/2006/relationships/slide" Target="slides/slide525.xml"/><Relationship Id="rId733" Type="http://schemas.openxmlformats.org/officeDocument/2006/relationships/slide" Target="slides/slide732.xml"/><Relationship Id="rId165" Type="http://schemas.openxmlformats.org/officeDocument/2006/relationships/slide" Target="slides/slide164.xml"/><Relationship Id="rId372" Type="http://schemas.openxmlformats.org/officeDocument/2006/relationships/slide" Target="slides/slide371.xml"/><Relationship Id="rId677" Type="http://schemas.openxmlformats.org/officeDocument/2006/relationships/slide" Target="slides/slide676.xml"/><Relationship Id="rId800" Type="http://schemas.openxmlformats.org/officeDocument/2006/relationships/slide" Target="slides/slide799.xml"/><Relationship Id="rId232" Type="http://schemas.openxmlformats.org/officeDocument/2006/relationships/slide" Target="slides/slide231.xml"/><Relationship Id="rId884" Type="http://schemas.openxmlformats.org/officeDocument/2006/relationships/slide" Target="slides/slide883.xml"/><Relationship Id="rId27" Type="http://schemas.openxmlformats.org/officeDocument/2006/relationships/slide" Target="slides/slide26.xml"/><Relationship Id="rId537" Type="http://schemas.openxmlformats.org/officeDocument/2006/relationships/slide" Target="slides/slide536.xml"/><Relationship Id="rId744" Type="http://schemas.openxmlformats.org/officeDocument/2006/relationships/slide" Target="slides/slide743.xml"/><Relationship Id="rId80" Type="http://schemas.openxmlformats.org/officeDocument/2006/relationships/slide" Target="slides/slide79.xml"/><Relationship Id="rId176" Type="http://schemas.openxmlformats.org/officeDocument/2006/relationships/slide" Target="slides/slide175.xml"/><Relationship Id="rId383" Type="http://schemas.openxmlformats.org/officeDocument/2006/relationships/slide" Target="slides/slide382.xml"/><Relationship Id="rId590" Type="http://schemas.openxmlformats.org/officeDocument/2006/relationships/slide" Target="slides/slide589.xml"/><Relationship Id="rId604" Type="http://schemas.openxmlformats.org/officeDocument/2006/relationships/slide" Target="slides/slide603.xml"/><Relationship Id="rId811" Type="http://schemas.openxmlformats.org/officeDocument/2006/relationships/slide" Target="slides/slide810.xml"/><Relationship Id="rId243" Type="http://schemas.openxmlformats.org/officeDocument/2006/relationships/slide" Target="slides/slide242.xml"/><Relationship Id="rId450" Type="http://schemas.openxmlformats.org/officeDocument/2006/relationships/slide" Target="slides/slide449.xml"/><Relationship Id="rId688" Type="http://schemas.openxmlformats.org/officeDocument/2006/relationships/slide" Target="slides/slide687.xml"/><Relationship Id="rId38" Type="http://schemas.openxmlformats.org/officeDocument/2006/relationships/slide" Target="slides/slide37.xml"/><Relationship Id="rId103" Type="http://schemas.openxmlformats.org/officeDocument/2006/relationships/slide" Target="slides/slide102.xml"/><Relationship Id="rId310" Type="http://schemas.openxmlformats.org/officeDocument/2006/relationships/slide" Target="slides/slide309.xml"/><Relationship Id="rId548" Type="http://schemas.openxmlformats.org/officeDocument/2006/relationships/slide" Target="slides/slide547.xml"/><Relationship Id="rId755" Type="http://schemas.openxmlformats.org/officeDocument/2006/relationships/slide" Target="slides/slide754.xml"/><Relationship Id="rId91" Type="http://schemas.openxmlformats.org/officeDocument/2006/relationships/slide" Target="slides/slide90.xml"/><Relationship Id="rId187" Type="http://schemas.openxmlformats.org/officeDocument/2006/relationships/slide" Target="slides/slide186.xml"/><Relationship Id="rId394" Type="http://schemas.openxmlformats.org/officeDocument/2006/relationships/slide" Target="slides/slide393.xml"/><Relationship Id="rId408" Type="http://schemas.openxmlformats.org/officeDocument/2006/relationships/slide" Target="slides/slide407.xml"/><Relationship Id="rId615" Type="http://schemas.openxmlformats.org/officeDocument/2006/relationships/slide" Target="slides/slide614.xml"/><Relationship Id="rId822" Type="http://schemas.openxmlformats.org/officeDocument/2006/relationships/slide" Target="slides/slide821.xml"/><Relationship Id="rId254" Type="http://schemas.openxmlformats.org/officeDocument/2006/relationships/slide" Target="slides/slide253.xml"/><Relationship Id="rId699" Type="http://schemas.openxmlformats.org/officeDocument/2006/relationships/slide" Target="slides/slide698.xml"/><Relationship Id="rId49" Type="http://schemas.openxmlformats.org/officeDocument/2006/relationships/slide" Target="slides/slide48.xml"/><Relationship Id="rId114" Type="http://schemas.openxmlformats.org/officeDocument/2006/relationships/slide" Target="slides/slide113.xml"/><Relationship Id="rId461" Type="http://schemas.openxmlformats.org/officeDocument/2006/relationships/slide" Target="slides/slide460.xml"/><Relationship Id="rId559" Type="http://schemas.openxmlformats.org/officeDocument/2006/relationships/slide" Target="slides/slide558.xml"/><Relationship Id="rId766" Type="http://schemas.openxmlformats.org/officeDocument/2006/relationships/slide" Target="slides/slide765.xml"/><Relationship Id="rId198" Type="http://schemas.openxmlformats.org/officeDocument/2006/relationships/slide" Target="slides/slide197.xml"/><Relationship Id="rId321" Type="http://schemas.openxmlformats.org/officeDocument/2006/relationships/slide" Target="slides/slide320.xml"/><Relationship Id="rId419" Type="http://schemas.openxmlformats.org/officeDocument/2006/relationships/slide" Target="slides/slide418.xml"/><Relationship Id="rId626" Type="http://schemas.openxmlformats.org/officeDocument/2006/relationships/slide" Target="slides/slide625.xml"/><Relationship Id="rId833" Type="http://schemas.openxmlformats.org/officeDocument/2006/relationships/slide" Target="slides/slide832.xml"/><Relationship Id="rId265" Type="http://schemas.openxmlformats.org/officeDocument/2006/relationships/slide" Target="slides/slide264.xml"/><Relationship Id="rId472" Type="http://schemas.openxmlformats.org/officeDocument/2006/relationships/slide" Target="slides/slide471.xml"/><Relationship Id="rId125" Type="http://schemas.openxmlformats.org/officeDocument/2006/relationships/slide" Target="slides/slide124.xml"/><Relationship Id="rId332" Type="http://schemas.openxmlformats.org/officeDocument/2006/relationships/slide" Target="slides/slide331.xml"/><Relationship Id="rId777" Type="http://schemas.openxmlformats.org/officeDocument/2006/relationships/slide" Target="slides/slide776.xml"/><Relationship Id="rId637" Type="http://schemas.openxmlformats.org/officeDocument/2006/relationships/slide" Target="slides/slide636.xml"/><Relationship Id="rId844" Type="http://schemas.openxmlformats.org/officeDocument/2006/relationships/slide" Target="slides/slide843.xml"/><Relationship Id="rId276" Type="http://schemas.openxmlformats.org/officeDocument/2006/relationships/slide" Target="slides/slide275.xml"/><Relationship Id="rId483" Type="http://schemas.openxmlformats.org/officeDocument/2006/relationships/slide" Target="slides/slide482.xml"/><Relationship Id="rId690" Type="http://schemas.openxmlformats.org/officeDocument/2006/relationships/slide" Target="slides/slide689.xml"/><Relationship Id="rId704" Type="http://schemas.openxmlformats.org/officeDocument/2006/relationships/slide" Target="slides/slide703.xml"/><Relationship Id="rId40" Type="http://schemas.openxmlformats.org/officeDocument/2006/relationships/slide" Target="slides/slide39.xml"/><Relationship Id="rId136" Type="http://schemas.openxmlformats.org/officeDocument/2006/relationships/slide" Target="slides/slide135.xml"/><Relationship Id="rId343" Type="http://schemas.openxmlformats.org/officeDocument/2006/relationships/slide" Target="slides/slide342.xml"/><Relationship Id="rId550" Type="http://schemas.openxmlformats.org/officeDocument/2006/relationships/slide" Target="slides/slide549.xml"/><Relationship Id="rId788" Type="http://schemas.openxmlformats.org/officeDocument/2006/relationships/slide" Target="slides/slide787.xml"/><Relationship Id="rId203" Type="http://schemas.openxmlformats.org/officeDocument/2006/relationships/slide" Target="slides/slide202.xml"/><Relationship Id="rId648" Type="http://schemas.openxmlformats.org/officeDocument/2006/relationships/slide" Target="slides/slide647.xml"/><Relationship Id="rId855" Type="http://schemas.openxmlformats.org/officeDocument/2006/relationships/slide" Target="slides/slide854.xml"/><Relationship Id="rId287" Type="http://schemas.openxmlformats.org/officeDocument/2006/relationships/slide" Target="slides/slide286.xml"/><Relationship Id="rId410" Type="http://schemas.openxmlformats.org/officeDocument/2006/relationships/slide" Target="slides/slide409.xml"/><Relationship Id="rId494" Type="http://schemas.openxmlformats.org/officeDocument/2006/relationships/slide" Target="slides/slide493.xml"/><Relationship Id="rId508" Type="http://schemas.openxmlformats.org/officeDocument/2006/relationships/slide" Target="slides/slide507.xml"/><Relationship Id="rId715" Type="http://schemas.openxmlformats.org/officeDocument/2006/relationships/slide" Target="slides/slide714.xml"/><Relationship Id="rId147" Type="http://schemas.openxmlformats.org/officeDocument/2006/relationships/slide" Target="slides/slide146.xml"/><Relationship Id="rId354" Type="http://schemas.openxmlformats.org/officeDocument/2006/relationships/slide" Target="slides/slide353.xml"/><Relationship Id="rId799" Type="http://schemas.openxmlformats.org/officeDocument/2006/relationships/slide" Target="slides/slide798.xml"/><Relationship Id="rId51" Type="http://schemas.openxmlformats.org/officeDocument/2006/relationships/slide" Target="slides/slide50.xml"/><Relationship Id="rId561" Type="http://schemas.openxmlformats.org/officeDocument/2006/relationships/slide" Target="slides/slide560.xml"/><Relationship Id="rId659" Type="http://schemas.openxmlformats.org/officeDocument/2006/relationships/slide" Target="slides/slide658.xml"/><Relationship Id="rId866" Type="http://schemas.openxmlformats.org/officeDocument/2006/relationships/slide" Target="slides/slide865.xml"/><Relationship Id="rId214" Type="http://schemas.openxmlformats.org/officeDocument/2006/relationships/slide" Target="slides/slide213.xml"/><Relationship Id="rId298" Type="http://schemas.openxmlformats.org/officeDocument/2006/relationships/slide" Target="slides/slide297.xml"/><Relationship Id="rId421" Type="http://schemas.openxmlformats.org/officeDocument/2006/relationships/slide" Target="slides/slide420.xml"/><Relationship Id="rId519" Type="http://schemas.openxmlformats.org/officeDocument/2006/relationships/slide" Target="slides/slide518.xml"/><Relationship Id="rId158" Type="http://schemas.openxmlformats.org/officeDocument/2006/relationships/slide" Target="slides/slide157.xml"/><Relationship Id="rId726" Type="http://schemas.openxmlformats.org/officeDocument/2006/relationships/slide" Target="slides/slide725.xml"/><Relationship Id="rId62" Type="http://schemas.openxmlformats.org/officeDocument/2006/relationships/slide" Target="slides/slide61.xml"/><Relationship Id="rId365" Type="http://schemas.openxmlformats.org/officeDocument/2006/relationships/slide" Target="slides/slide364.xml"/><Relationship Id="rId572" Type="http://schemas.openxmlformats.org/officeDocument/2006/relationships/slide" Target="slides/slide571.xml"/><Relationship Id="rId225" Type="http://schemas.openxmlformats.org/officeDocument/2006/relationships/slide" Target="slides/slide224.xml"/><Relationship Id="rId432" Type="http://schemas.openxmlformats.org/officeDocument/2006/relationships/slide" Target="slides/slide431.xml"/><Relationship Id="rId877" Type="http://schemas.openxmlformats.org/officeDocument/2006/relationships/slide" Target="slides/slide876.xml"/><Relationship Id="rId737" Type="http://schemas.openxmlformats.org/officeDocument/2006/relationships/slide" Target="slides/slide736.xml"/><Relationship Id="rId73" Type="http://schemas.openxmlformats.org/officeDocument/2006/relationships/slide" Target="slides/slide72.xml"/><Relationship Id="rId169" Type="http://schemas.openxmlformats.org/officeDocument/2006/relationships/slide" Target="slides/slide168.xml"/><Relationship Id="rId376" Type="http://schemas.openxmlformats.org/officeDocument/2006/relationships/slide" Target="slides/slide375.xml"/><Relationship Id="rId583" Type="http://schemas.openxmlformats.org/officeDocument/2006/relationships/slide" Target="slides/slide582.xml"/><Relationship Id="rId790" Type="http://schemas.openxmlformats.org/officeDocument/2006/relationships/slide" Target="slides/slide789.xml"/><Relationship Id="rId804" Type="http://schemas.openxmlformats.org/officeDocument/2006/relationships/slide" Target="slides/slide803.xml"/><Relationship Id="rId4" Type="http://schemas.openxmlformats.org/officeDocument/2006/relationships/slide" Target="slides/slide3.xml"/><Relationship Id="rId236" Type="http://schemas.openxmlformats.org/officeDocument/2006/relationships/slide" Target="slides/slide235.xml"/><Relationship Id="rId443" Type="http://schemas.openxmlformats.org/officeDocument/2006/relationships/slide" Target="slides/slide442.xml"/><Relationship Id="rId650" Type="http://schemas.openxmlformats.org/officeDocument/2006/relationships/slide" Target="slides/slide649.xml"/><Relationship Id="rId888" Type="http://schemas.openxmlformats.org/officeDocument/2006/relationships/viewProps" Target="viewProps.xml"/><Relationship Id="rId303" Type="http://schemas.openxmlformats.org/officeDocument/2006/relationships/slide" Target="slides/slide302.xml"/><Relationship Id="rId748" Type="http://schemas.openxmlformats.org/officeDocument/2006/relationships/slide" Target="slides/slide747.xml"/><Relationship Id="rId84" Type="http://schemas.openxmlformats.org/officeDocument/2006/relationships/slide" Target="slides/slide83.xml"/><Relationship Id="rId387" Type="http://schemas.openxmlformats.org/officeDocument/2006/relationships/slide" Target="slides/slide386.xml"/><Relationship Id="rId510" Type="http://schemas.openxmlformats.org/officeDocument/2006/relationships/slide" Target="slides/slide509.xml"/><Relationship Id="rId594" Type="http://schemas.openxmlformats.org/officeDocument/2006/relationships/slide" Target="slides/slide593.xml"/><Relationship Id="rId608" Type="http://schemas.openxmlformats.org/officeDocument/2006/relationships/slide" Target="slides/slide607.xml"/><Relationship Id="rId815" Type="http://schemas.openxmlformats.org/officeDocument/2006/relationships/slide" Target="slides/slide814.xml"/><Relationship Id="rId247" Type="http://schemas.openxmlformats.org/officeDocument/2006/relationships/slide" Target="slides/slide246.xml"/><Relationship Id="rId107" Type="http://schemas.openxmlformats.org/officeDocument/2006/relationships/slide" Target="slides/slide106.xml"/><Relationship Id="rId454" Type="http://schemas.openxmlformats.org/officeDocument/2006/relationships/slide" Target="slides/slide453.xml"/><Relationship Id="rId661" Type="http://schemas.openxmlformats.org/officeDocument/2006/relationships/slide" Target="slides/slide660.xml"/><Relationship Id="rId759" Type="http://schemas.openxmlformats.org/officeDocument/2006/relationships/slide" Target="slides/slide758.xml"/><Relationship Id="rId11" Type="http://schemas.openxmlformats.org/officeDocument/2006/relationships/slide" Target="slides/slide10.xml"/><Relationship Id="rId314" Type="http://schemas.openxmlformats.org/officeDocument/2006/relationships/slide" Target="slides/slide313.xml"/><Relationship Id="rId398" Type="http://schemas.openxmlformats.org/officeDocument/2006/relationships/slide" Target="slides/slide397.xml"/><Relationship Id="rId521" Type="http://schemas.openxmlformats.org/officeDocument/2006/relationships/slide" Target="slides/slide520.xml"/><Relationship Id="rId619" Type="http://schemas.openxmlformats.org/officeDocument/2006/relationships/slide" Target="slides/slide618.xml"/><Relationship Id="rId95" Type="http://schemas.openxmlformats.org/officeDocument/2006/relationships/slide" Target="slides/slide94.xml"/><Relationship Id="rId160" Type="http://schemas.openxmlformats.org/officeDocument/2006/relationships/slide" Target="slides/slide159.xml"/><Relationship Id="rId826" Type="http://schemas.openxmlformats.org/officeDocument/2006/relationships/slide" Target="slides/slide825.xml"/><Relationship Id="rId258" Type="http://schemas.openxmlformats.org/officeDocument/2006/relationships/slide" Target="slides/slide257.xml"/><Relationship Id="rId465" Type="http://schemas.openxmlformats.org/officeDocument/2006/relationships/slide" Target="slides/slide464.xml"/><Relationship Id="rId672" Type="http://schemas.openxmlformats.org/officeDocument/2006/relationships/slide" Target="slides/slide671.xml"/><Relationship Id="rId22" Type="http://schemas.openxmlformats.org/officeDocument/2006/relationships/slide" Target="slides/slide21.xml"/><Relationship Id="rId118" Type="http://schemas.openxmlformats.org/officeDocument/2006/relationships/slide" Target="slides/slide117.xml"/><Relationship Id="rId325" Type="http://schemas.openxmlformats.org/officeDocument/2006/relationships/slide" Target="slides/slide324.xml"/><Relationship Id="rId532" Type="http://schemas.openxmlformats.org/officeDocument/2006/relationships/slide" Target="slides/slide531.xml"/><Relationship Id="rId171" Type="http://schemas.openxmlformats.org/officeDocument/2006/relationships/slide" Target="slides/slide170.xml"/><Relationship Id="rId837" Type="http://schemas.openxmlformats.org/officeDocument/2006/relationships/slide" Target="slides/slide836.xml"/><Relationship Id="rId269" Type="http://schemas.openxmlformats.org/officeDocument/2006/relationships/slide" Target="slides/slide268.xml"/><Relationship Id="rId476" Type="http://schemas.openxmlformats.org/officeDocument/2006/relationships/slide" Target="slides/slide475.xml"/><Relationship Id="rId683" Type="http://schemas.openxmlformats.org/officeDocument/2006/relationships/slide" Target="slides/slide682.xml"/><Relationship Id="rId890" Type="http://schemas.openxmlformats.org/officeDocument/2006/relationships/tableStyles" Target="tableStyles.xml"/><Relationship Id="rId33" Type="http://schemas.openxmlformats.org/officeDocument/2006/relationships/slide" Target="slides/slide32.xml"/><Relationship Id="rId129" Type="http://schemas.openxmlformats.org/officeDocument/2006/relationships/slide" Target="slides/slide128.xml"/><Relationship Id="rId336" Type="http://schemas.openxmlformats.org/officeDocument/2006/relationships/slide" Target="slides/slide335.xml"/><Relationship Id="rId543" Type="http://schemas.openxmlformats.org/officeDocument/2006/relationships/slide" Target="slides/slide542.xml"/><Relationship Id="rId182" Type="http://schemas.openxmlformats.org/officeDocument/2006/relationships/slide" Target="slides/slide181.xml"/><Relationship Id="rId403" Type="http://schemas.openxmlformats.org/officeDocument/2006/relationships/slide" Target="slides/slide402.xml"/><Relationship Id="rId750" Type="http://schemas.openxmlformats.org/officeDocument/2006/relationships/slide" Target="slides/slide749.xml"/><Relationship Id="rId848" Type="http://schemas.openxmlformats.org/officeDocument/2006/relationships/slide" Target="slides/slide847.xml"/><Relationship Id="rId487" Type="http://schemas.openxmlformats.org/officeDocument/2006/relationships/slide" Target="slides/slide486.xml"/><Relationship Id="rId610" Type="http://schemas.openxmlformats.org/officeDocument/2006/relationships/slide" Target="slides/slide609.xml"/><Relationship Id="rId694" Type="http://schemas.openxmlformats.org/officeDocument/2006/relationships/slide" Target="slides/slide693.xml"/><Relationship Id="rId708" Type="http://schemas.openxmlformats.org/officeDocument/2006/relationships/slide" Target="slides/slide707.xml"/><Relationship Id="rId347" Type="http://schemas.openxmlformats.org/officeDocument/2006/relationships/slide" Target="slides/slide346.xml"/><Relationship Id="rId44" Type="http://schemas.openxmlformats.org/officeDocument/2006/relationships/slide" Target="slides/slide43.xml"/><Relationship Id="rId554" Type="http://schemas.openxmlformats.org/officeDocument/2006/relationships/slide" Target="slides/slide553.xml"/><Relationship Id="rId761" Type="http://schemas.openxmlformats.org/officeDocument/2006/relationships/slide" Target="slides/slide760.xml"/><Relationship Id="rId859" Type="http://schemas.openxmlformats.org/officeDocument/2006/relationships/slide" Target="slides/slide858.xml"/><Relationship Id="rId193" Type="http://schemas.openxmlformats.org/officeDocument/2006/relationships/slide" Target="slides/slide192.xml"/><Relationship Id="rId207" Type="http://schemas.openxmlformats.org/officeDocument/2006/relationships/slide" Target="slides/slide206.xml"/><Relationship Id="rId414" Type="http://schemas.openxmlformats.org/officeDocument/2006/relationships/slide" Target="slides/slide413.xml"/><Relationship Id="rId498" Type="http://schemas.openxmlformats.org/officeDocument/2006/relationships/slide" Target="slides/slide497.xml"/><Relationship Id="rId621" Type="http://schemas.openxmlformats.org/officeDocument/2006/relationships/slide" Target="slides/slide620.xml"/><Relationship Id="rId260" Type="http://schemas.openxmlformats.org/officeDocument/2006/relationships/slide" Target="slides/slide259.xml"/><Relationship Id="rId719" Type="http://schemas.openxmlformats.org/officeDocument/2006/relationships/slide" Target="slides/slide718.xml"/><Relationship Id="rId55" Type="http://schemas.openxmlformats.org/officeDocument/2006/relationships/slide" Target="slides/slide54.xml"/><Relationship Id="rId120" Type="http://schemas.openxmlformats.org/officeDocument/2006/relationships/slide" Target="slides/slide119.xml"/><Relationship Id="rId358" Type="http://schemas.openxmlformats.org/officeDocument/2006/relationships/slide" Target="slides/slide357.xml"/><Relationship Id="rId565" Type="http://schemas.openxmlformats.org/officeDocument/2006/relationships/slide" Target="slides/slide564.xml"/><Relationship Id="rId772" Type="http://schemas.openxmlformats.org/officeDocument/2006/relationships/slide" Target="slides/slide771.xml"/><Relationship Id="rId218" Type="http://schemas.openxmlformats.org/officeDocument/2006/relationships/slide" Target="slides/slide217.xml"/><Relationship Id="rId425" Type="http://schemas.openxmlformats.org/officeDocument/2006/relationships/slide" Target="slides/slide424.xml"/><Relationship Id="rId632" Type="http://schemas.openxmlformats.org/officeDocument/2006/relationships/slide" Target="slides/slide631.xml"/><Relationship Id="rId271" Type="http://schemas.openxmlformats.org/officeDocument/2006/relationships/slide" Target="slides/slide270.xml"/><Relationship Id="rId66" Type="http://schemas.openxmlformats.org/officeDocument/2006/relationships/slide" Target="slides/slide65.xml"/><Relationship Id="rId131" Type="http://schemas.openxmlformats.org/officeDocument/2006/relationships/slide" Target="slides/slide130.xml"/><Relationship Id="rId369" Type="http://schemas.openxmlformats.org/officeDocument/2006/relationships/slide" Target="slides/slide368.xml"/><Relationship Id="rId576" Type="http://schemas.openxmlformats.org/officeDocument/2006/relationships/slide" Target="slides/slide575.xml"/><Relationship Id="rId783" Type="http://schemas.openxmlformats.org/officeDocument/2006/relationships/slide" Target="slides/slide782.xml"/><Relationship Id="rId229" Type="http://schemas.openxmlformats.org/officeDocument/2006/relationships/slide" Target="slides/slide228.xml"/><Relationship Id="rId436" Type="http://schemas.openxmlformats.org/officeDocument/2006/relationships/slide" Target="slides/slide435.xml"/><Relationship Id="rId643" Type="http://schemas.openxmlformats.org/officeDocument/2006/relationships/slide" Target="slides/slide642.xml"/><Relationship Id="rId850" Type="http://schemas.openxmlformats.org/officeDocument/2006/relationships/slide" Target="slides/slide849.xml"/><Relationship Id="rId77" Type="http://schemas.openxmlformats.org/officeDocument/2006/relationships/slide" Target="slides/slide76.xml"/><Relationship Id="rId282" Type="http://schemas.openxmlformats.org/officeDocument/2006/relationships/slide" Target="slides/slide281.xml"/><Relationship Id="rId503" Type="http://schemas.openxmlformats.org/officeDocument/2006/relationships/slide" Target="slides/slide502.xml"/><Relationship Id="rId587" Type="http://schemas.openxmlformats.org/officeDocument/2006/relationships/slide" Target="slides/slide586.xml"/><Relationship Id="rId710" Type="http://schemas.openxmlformats.org/officeDocument/2006/relationships/slide" Target="slides/slide709.xml"/><Relationship Id="rId808" Type="http://schemas.openxmlformats.org/officeDocument/2006/relationships/slide" Target="slides/slide807.xml"/><Relationship Id="rId8" Type="http://schemas.openxmlformats.org/officeDocument/2006/relationships/slide" Target="slides/slide7.xml"/><Relationship Id="rId142" Type="http://schemas.openxmlformats.org/officeDocument/2006/relationships/slide" Target="slides/slide141.xml"/><Relationship Id="rId447" Type="http://schemas.openxmlformats.org/officeDocument/2006/relationships/slide" Target="slides/slide446.xml"/><Relationship Id="rId794" Type="http://schemas.openxmlformats.org/officeDocument/2006/relationships/slide" Target="slides/slide793.xml"/><Relationship Id="rId654" Type="http://schemas.openxmlformats.org/officeDocument/2006/relationships/slide" Target="slides/slide653.xml"/><Relationship Id="rId861" Type="http://schemas.openxmlformats.org/officeDocument/2006/relationships/slide" Target="slides/slide860.xml"/><Relationship Id="rId293" Type="http://schemas.openxmlformats.org/officeDocument/2006/relationships/slide" Target="slides/slide292.xml"/><Relationship Id="rId307" Type="http://schemas.openxmlformats.org/officeDocument/2006/relationships/slide" Target="slides/slide306.xml"/><Relationship Id="rId514" Type="http://schemas.openxmlformats.org/officeDocument/2006/relationships/slide" Target="slides/slide513.xml"/><Relationship Id="rId721" Type="http://schemas.openxmlformats.org/officeDocument/2006/relationships/slide" Target="slides/slide720.xml"/><Relationship Id="rId88" Type="http://schemas.openxmlformats.org/officeDocument/2006/relationships/slide" Target="slides/slide87.xml"/><Relationship Id="rId153" Type="http://schemas.openxmlformats.org/officeDocument/2006/relationships/slide" Target="slides/slide152.xml"/><Relationship Id="rId360" Type="http://schemas.openxmlformats.org/officeDocument/2006/relationships/slide" Target="slides/slide359.xml"/><Relationship Id="rId598" Type="http://schemas.openxmlformats.org/officeDocument/2006/relationships/slide" Target="slides/slide597.xml"/><Relationship Id="rId819" Type="http://schemas.openxmlformats.org/officeDocument/2006/relationships/slide" Target="slides/slide818.xml"/><Relationship Id="rId220" Type="http://schemas.openxmlformats.org/officeDocument/2006/relationships/slide" Target="slides/slide219.xml"/><Relationship Id="rId458" Type="http://schemas.openxmlformats.org/officeDocument/2006/relationships/slide" Target="slides/slide457.xml"/><Relationship Id="rId665" Type="http://schemas.openxmlformats.org/officeDocument/2006/relationships/slide" Target="slides/slide664.xml"/><Relationship Id="rId872" Type="http://schemas.openxmlformats.org/officeDocument/2006/relationships/slide" Target="slides/slide871.xml"/><Relationship Id="rId15" Type="http://schemas.openxmlformats.org/officeDocument/2006/relationships/slide" Target="slides/slide14.xml"/><Relationship Id="rId318" Type="http://schemas.openxmlformats.org/officeDocument/2006/relationships/slide" Target="slides/slide317.xml"/><Relationship Id="rId525" Type="http://schemas.openxmlformats.org/officeDocument/2006/relationships/slide" Target="slides/slide524.xml"/><Relationship Id="rId732" Type="http://schemas.openxmlformats.org/officeDocument/2006/relationships/slide" Target="slides/slide731.xml"/><Relationship Id="rId99" Type="http://schemas.openxmlformats.org/officeDocument/2006/relationships/slide" Target="slides/slide98.xml"/><Relationship Id="rId164" Type="http://schemas.openxmlformats.org/officeDocument/2006/relationships/slide" Target="slides/slide163.xml"/><Relationship Id="rId371" Type="http://schemas.openxmlformats.org/officeDocument/2006/relationships/slide" Target="slides/slide37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303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2"/>
            <a:ext cx="2971800" cy="458788"/>
          </a:xfrm>
          <a:prstGeom prst="rect">
            <a:avLst/>
          </a:prstGeom>
        </p:spPr>
        <p:txBody>
          <a:bodyPr vert="horz" lIns="91440" tIns="45720" rIns="91440" bIns="45720" rtlCol="0"/>
          <a:lstStyle>
            <a:lvl1pPr algn="r">
              <a:defRPr sz="1200"/>
            </a:lvl1pPr>
          </a:lstStyle>
          <a:p>
            <a:fld id="{4F5022DE-6AFB-7B42-B89D-CD8E93E79A8E}" type="datetimeFigureOut">
              <a:rPr lang="en-US" smtClean="0"/>
              <a:t>10/15/26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7C4E7A-80A7-5241-AF5C-0BCAFE71C223}" type="slidenum">
              <a:rPr lang="en-US" smtClean="0"/>
              <a:t>‹#›</a:t>
            </a:fld>
            <a:endParaRPr lang="en-US"/>
          </a:p>
        </p:txBody>
      </p:sp>
    </p:spTree>
    <p:extLst>
      <p:ext uri="{BB962C8B-B14F-4D97-AF65-F5344CB8AC3E}">
        <p14:creationId xmlns:p14="http://schemas.microsoft.com/office/powerpoint/2010/main" val="362146484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7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7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7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7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7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69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69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69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69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69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0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3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3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3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4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75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75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7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79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0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11.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12.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13.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14.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1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81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819.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820.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821.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822.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823.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824.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825.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826.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827.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829.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830.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83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83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83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83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8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6156A-5C39-23CD-C8E3-A64AC91C5C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0538EA-02A3-B7D1-2F6A-4C6D1CD748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3463A3-9869-1BAB-FEEF-0712D52696A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533647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26ECD-C571-7591-3DD4-D5D3696CC7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4FEECD-EE3B-ADDF-F099-9080D0E9EE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B39FC0-4C05-7E11-EBC0-382DBB80FCF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12447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9B9B5-FBCE-9740-78B6-610EA793B0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F0BBC3-D5B2-D5C3-10A7-0CD7420227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8E3938-4FA1-DE56-9D25-2A7FA7DAD28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960982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48E4B-108A-E908-26A5-5CE0CF780C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99D7D0-C199-D417-F0DA-9B4B33E521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EF4225-4514-4564-4338-E15423E29B0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432355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F9B6C-91CE-3D64-8550-3FBBE18365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A3F5AF-5DB4-47F1-42F1-561B945F19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FEF62F-39F6-098A-E0CB-1FE66B97A33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23426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5ECB5-EF79-8742-B3EB-3A98735D54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A0CC3A-8094-1B41-C7D4-17B8FADD90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3EA4FE-29A4-D274-26F3-D1BAE75F1CF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508671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0101207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9102471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3A239-2A72-F237-2D00-84D958741E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6A58E9-CEA2-C82F-64A6-0B75F57F66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93983E-2CDA-C684-4D05-E6F07C6DA39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24398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D5D01-8292-144F-45F6-2FC1045D53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E1DCC7-2DBF-01D7-3820-94E65F0A5B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C2B7E4-8775-155A-039D-56CD2BE182A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465109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4487625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33059-A969-74E6-62BC-1C171F8FF9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1E2582-324E-3892-0DC2-75B0F258F8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97B177-7811-C1A1-09D0-BAD30E6B35B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4262332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9EE12-BEF8-DEFC-3ED7-34C84C4FB7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C0B508-3800-8B07-A165-C68271BFCC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76BB26-0603-765A-9B68-02591016545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788548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AAC30-900F-FBB9-D8BE-262C55FBC2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F22855-CCD5-5B16-71D4-220BBF2299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E9B943-E196-FC73-1EFD-34350C5C9A0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927981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2751189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0401325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6233F-D187-BDFD-D619-6988E23226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B39128-7A2A-8D36-3B6F-F9E5953E579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DC6CA70-B35B-4CBD-9E7C-91338BFA709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3704970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6990820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9586B-A4C0-42AB-B9AF-008C40E834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F4717C-75AE-6E2E-07DF-536F17D4361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9222484-52CB-2F31-730A-8F927026CF2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843146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3286355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942D9-F689-C8CD-FB87-FFA6F9B562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C5A369-67B3-5493-B531-9CFC06FD5FA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FE262CE-5B40-ECB8-285E-23020473192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753704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B385B-DCC5-2550-7DC2-4F77C3E526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1654A-906F-A44B-5CA8-AA6F77F23C1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92F1EBC-84BC-8E71-FB03-FCCBD1C6172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778016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376BF-8226-99B5-69FB-75D9BCFE78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FEB499-1402-3E9E-204C-9168F00EEE0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9C6EB46-DDB1-5A14-B6F6-59EAF785CA7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501230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F7B83-04D4-7490-EE10-11DC5B0168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CB2285-4023-7356-3694-5AECBD1F32F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B829061-7A56-ADAF-CBDE-B6CE72B849A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112807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79045-4BBB-D012-7A2D-D6E73CAD44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1B27A4-83CA-2496-3E63-42B35AA04C0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C6DBCE7-970B-AC68-EE6B-52BB99DB317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505022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DCC38-67F5-2CAD-C980-FD219B0C37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71A6C3-FF11-CA4E-EB76-89DDE460335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959F2AA-AA1A-0D59-63D1-3817E2A0409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595758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781B5-BE52-D68B-8B8F-DC6F4E74EA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3C99EB-21A7-9646-8CE6-A093DD7E794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2AC1D96-0870-84C2-10E6-9A6555054DA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017664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7793827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5462514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ADBAE-8B55-8C80-5966-81578E738A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0E23C4-C8E7-151A-DF49-86D0933E4C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C81A61-F02D-C553-7779-32014C8B376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985565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B36AD-6150-AF2B-1C38-82D864029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FA7238-8894-D05E-25F2-60DB39E10D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CD4049-CB1F-E880-0473-62503CA1908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640811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B661B-FA47-9F72-6C46-C1B0B5809A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B55AB-F292-FF25-8367-B6ADDE4236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C08BEB-4FA8-B453-088E-D78C9E660E9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226695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DD7F7-8592-C37A-6BCB-190ECFE6A0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2D1FE9-5013-A8C4-072C-75E1BAEB80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4F91A8-0B1F-C77E-6F87-DDF71E8D679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5670007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954572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1705082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059530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1471304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B583A-DBE4-5A2D-4DC3-DE7B15F8B0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964673-0E4B-B354-94D9-EBE211E2C5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34CCB9-BEEF-D381-F2D7-A2191857DE7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482471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0F4D8-3555-D187-6A57-16DD4E3D17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EE4485-35C5-EE0F-B759-60377C2D3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A5BC07-73B6-D3EA-AA25-48CA5BFF8D3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989818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11956136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2FE73-0CCC-64F2-16AE-E3FBBBC7C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B6FB60-66D1-5022-5BD7-976504A1FD4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0398555-E643-DCDA-62B3-7C84C0DC0E5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528240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232BA-FE7D-67B7-263C-B1BAA41C6A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C42604-9AF9-B3A7-3939-C8C499B2933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F45FEEA-ED55-612D-67B6-ADE0BD67589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34971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8887F-C0D0-F66A-6469-8162B3E796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FF028A-9729-0256-DEA6-B29D5B423BE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1A3448E-32F3-323E-E8B0-879771A3183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511065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7E46E-CC1B-3377-EC83-2FED76A5E8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239A19-9098-C423-5867-5394CD85230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106C987-658F-11FB-40E5-244215F596A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3707365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51100360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511215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7468839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B10CC-E0F3-92C7-2110-2B7E751125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6B1E87-FB90-9948-6013-AFA03DBEBD2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77F41FF-DE84-D1BE-266C-E60D93C85DA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513445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5508862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6F097-F3A5-B454-FF14-FFE4D24771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1E3747-0C59-532F-3E54-3AB92DFB03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697BFE-3F89-8304-8708-61B7D580CA7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784623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411C4-F642-DEBE-12AD-00DD207BD1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B5A8E0-F3A8-D2E5-48EC-E18EF8F92E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F716A-91A5-769C-7E83-DCFD4268E54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6895765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97C81-0AC3-AB6B-5DE9-87A7B4FF27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5FE49C-85B0-B259-D882-CF820B4A92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493102-CE18-F93B-F29B-B610D9CF728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0130439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7C0B4-705A-0A77-39E3-91782835D2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3A8229-8EEC-25CA-887E-9AB369EF79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6DD3C1-08B0-F608-C5B9-D8700C88D26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1917328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10573-2648-CDDE-5269-C95DC8D7CD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5159E0-3899-E296-9E09-9E5BFFBE0D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881984-85DF-11FE-EFAA-499747203E8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9513320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DF4AE-0CFC-C25F-FC56-EBB26AC7C1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3957AB-6F73-52C4-40C7-12F8F57134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577246-E2F9-9562-2A4A-DB191DEFD09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290191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88C1E-5691-4D79-3626-870883CDB4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AC1380-B9D8-FE0C-ED94-0C45FB3998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93A684-917E-B6AE-8CD3-57A4E7F7745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1082167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E1E0A-595C-1FDA-9599-33B43FF643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535492-5115-945A-337F-1ECAAE3BAE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6CAE1C-69B9-28CA-04F1-4CE4C9DA2FD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6832481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3CDEC-D606-0464-3A1B-5EE694F5A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35871C-A28A-DB67-D8D6-26C8C2A056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127280-571D-8327-F7F9-99AED9DEA01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6077010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50799-2497-C806-8B59-A4A9E46CB3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EDA281-30A9-C322-361A-AE99953A01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ABDC84-C5DA-41EB-535E-AAB08CABBD7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1008162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0BD73-B052-7523-CDE9-4EB56E4B9C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190C6A-8568-8189-830D-7C293F9A27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F97A52-07CD-7EBE-0A96-9D24E1A2906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8682028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9C18-0647-26FE-F806-32CF660ACF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F47FBE-D725-283B-F68C-FF0CA22E35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99AB08-3A9B-C1D2-6783-EA99DE151B0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1627378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420CC-A1D8-FADB-9FC8-3DC8C30CB6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7386D6-A626-1F14-F3BE-2346B21C08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EE243E-B49C-2005-94B4-E3D987FA06D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8817280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1752E-D712-B9ED-AD3A-2618EA9563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16AB41-612A-FA1D-BC51-2AE15F924F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2D8442-DBC8-BAB8-80C1-0C907608659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5920490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47556-081F-598A-5801-0E5A424D81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3597B6-E806-1683-CC61-DF94BD90FD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91B247-43A2-EE48-E3DE-225E79B9A6E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5343957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53142-BC8D-E855-620F-7B8D7D7F2B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75922B-DEA8-50C2-845E-BA2D77DDBA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DBE40C-D6DE-9141-F9FF-BD835785EC3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6580153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8AD39-B27C-020D-F997-36EA70C1D9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532C4A-1DAA-1F43-C4B5-1E10299FDA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301A46-1DAC-F459-BA82-2CBB83118D9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3464859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6591-5124-D6FF-B950-38552BA69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ACEFC3-6C34-4A1E-F59D-7B5CD178D8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216384-EA3F-6187-91BF-05CF2599AAE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8854877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2ABAB-53C3-A951-FD65-1888903DAA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0EF02C-148B-EE51-08E2-DE101D8D4D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93BB9B-1B2B-4B35-04FC-19711515C97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5399444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31458-4CD4-D59F-8DE2-AD98690CBD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33A12-4AAD-70BE-8AB6-FF2DFB29C32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E2A8EED-EE5D-51CD-64CD-A9E3415C95A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3571262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F565A-C9E4-DA84-DDFE-B7D0BF5513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2D2021-8433-3661-B7C4-7649BC31AD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7942E1-EBD2-5787-1559-F6E1A360C70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7463043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A584C-801F-9752-04D3-7AD89C14A5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4EF0B-1518-4320-93CD-C33CA6C7207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20EEDAA-E2D9-FBAC-69CA-89371F32802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0687094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72BAB-7CAA-F3DE-3490-6C720C39DB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DAEBB9-A798-9C71-A2D3-AFDCCA75CDA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07592CA-5169-903C-B0D4-4493D888D98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4891689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E0005-187D-F222-5AF0-C97A0BF083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84A121-6D12-7B61-F1BF-0E95DDA8E2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E6AA70-58B9-1BBB-C7B3-0DEAFC28D40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184265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CA418-FF77-BE4F-D06D-130F9FEB76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A4B78B-1D05-2825-E8E0-4B5E5BE618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69FC8E-B79E-3CEB-0AEF-07384EEB8CF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5779403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8CE59-C317-50FF-06EC-48E817AEA2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92879D-29ED-6285-5096-146E2E40EE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A445F-2ADB-1203-9648-2867B41EC4E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2697895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F4DDE-73DF-CCDE-D0F5-5B91D8FA9E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9A8B86-4BD5-3D79-A325-FCD32BD15A4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36ADB97-DB59-7DE9-E236-7CDDC4367B5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0572577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F9BDC-5103-6775-18B1-FB46BF63BF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3C146C-1BF1-2B2F-229D-38C632403BB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AFB0411-4434-6687-EC7B-34F5657FEA5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4323042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7181F-87AA-0E8F-0302-3E6AF88062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32F22F-0440-4DA2-D949-6CB2B51C89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4A8DE5-7818-AAA4-90DD-FF7AE177CAD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6596519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66BFF-ABB7-AF77-33D5-CBCA407C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7DF666-CEAE-8110-1700-C0B0F58749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432421-6129-8DC4-0384-26D240A4DEE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5786102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40090525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79161980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97409130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32360447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3621325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F1FC7-C46F-48D8-E0E7-3835F7CBD5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2EFF08-82EB-7138-E9BD-FFD6C4BA35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C722ED-6F07-2C81-75A4-AEDDC84A430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5591622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216B7-3456-DBC4-B150-30A3D3FECF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815596-CC4C-7891-294D-AFAC1D99DF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26231A-9072-EA53-F3E2-5D1DD946C42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0042888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CB20C-8D6A-C9BC-2480-22DDC76351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F361D0-F26F-29D2-2116-D97F94A699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521226-2C7D-DADD-7FE2-D6F36F06B7B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9462499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1DED6-C064-2053-AF89-7A875849A7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CCA424-A148-55F2-5BD7-7B981D430A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A86115-2D51-5E1F-087C-38DF50E4A32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732686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72651-511C-21A3-BEB3-1F2CED3B5F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2B5263-01D6-6F28-B95E-83F11353E4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1B5E40-AF09-FD2D-6B06-32E0869AB0A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6834056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587E8-BA47-3976-84BF-3C8BD3EEBC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5F7F8F-6168-D9B5-5736-54C7FEC248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70825F-1562-0371-3457-5CF8A4736BD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1346582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03456-AE73-982F-0B92-98677C0233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D207DC-1C4E-1E62-0F90-67003AE930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12672D-5DE4-5C6E-D76C-71377687795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8550222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ECD8-E6D0-B0FF-D11F-33BEA7245D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50BEBC-9539-FBEC-CDCE-209CD5DB08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0A0C62-73A5-0B8C-BE5B-5F921A93C98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0720137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C57CE-8FEC-2B13-69FA-B686EE1B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5986E5-7455-0FE3-48DE-4837E1E03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4ADF62-4048-F209-0A1E-A61D6DA454F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3830854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DA12E-FB5F-A682-E256-111D1D371F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C20821-B3A1-84F5-6560-1870E86FE4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6FF666-BA3F-D871-8748-C7E527B7D14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9051158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42D11-D784-8671-4470-AED38DC10F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AFB305-06AF-38DF-2CA0-CBEAC6779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AD3742-0EAF-29FF-45B4-FFBB0C793EF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7719731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F9A63-5D93-A738-679D-DB210BEA6A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4F125C-9CEB-5199-6581-5081992861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3083AD-B53D-2BFE-7633-0C6B8A2024A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0404353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9FAFC-8EC1-D9DF-91DE-5AEC4D6473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5366AE-3DE3-FA17-7486-BE087AA23C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E71CF-686A-671B-4328-8CBF2DB5643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2093681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2A312-BF92-CE14-6A2F-0F7558B0FE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4BEA5B-C491-10B7-D925-2BFDF2E86A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71A4C9-FC5B-4602-698C-99986DED735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59481531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6AC95-39B8-0106-EBFB-CC56EC37FB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7F03F1-82AF-37C4-81C8-F8FFC47CF4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C8EB98-595E-DBE8-5382-C8A1A71508B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3047394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72CAD-59EF-4927-7477-89FEE31159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790C8-9FCC-FA2E-E089-AF91EFBA566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01133F9-952A-E741-DE04-0859B71C995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6281498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D7DBA-B5F3-F5F2-BCD6-40FB745C62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276BA5-BE56-5F7D-D8DF-D17F8141D6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A4F4D1-97DE-5D36-44EC-75EEBE72C62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002034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8B8BF-F679-7E50-02F6-D4255F286C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4F67F1-3CCD-53D1-9468-8411618BD99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B0E225A-D17C-8FCC-8336-DD22A8D72F6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69077513"/>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94316-A7DC-F677-4298-A7D93BAECA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2358EA-1C6D-9656-7C91-3DA9933395D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A9C2A12-93ED-8C2A-5429-D841E10235D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89255498"/>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98E84-3064-6931-54AB-EEE51F9013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858545-BA0A-60E4-91E2-A2057EFFB3F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C330BB3-86CE-AD18-8297-B47F2342C64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9492944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1FF4B-2806-BBF9-C7EB-16536EDEE5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0EB35C-CDDC-4E73-CDEE-5AC3ED8AD4D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BA01ABC-A937-9247-B05E-1BC2C9913E2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3492005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68F2E-387D-BC2C-A0C1-54E0EAB8F3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DB5909-0CD6-242C-5BE8-51A93312D01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7D2D17E-A6C9-A512-7E10-F193DF30DD7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283488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Custom Layou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1C270-9E2A-9887-1791-BAD605BD71AE}"/>
              </a:ext>
            </a:extLst>
          </p:cNvPr>
          <p:cNvSpPr>
            <a:spLocks noGrp="1"/>
          </p:cNvSpPr>
          <p:nvPr>
            <p:ph type="title"/>
          </p:nvPr>
        </p:nvSpPr>
        <p:spPr>
          <a:xfrm>
            <a:off x="457200" y="2143125"/>
            <a:ext cx="8229600" cy="857250"/>
          </a:xfrm>
        </p:spPr>
        <p:txBody>
          <a:bodyPr>
            <a:noAutofit/>
          </a:bodyPr>
          <a:lstStyle>
            <a:lvl1pPr>
              <a:defRPr sz="9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2885002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1C270-9E2A-9887-1791-BAD605BD71AE}"/>
              </a:ext>
            </a:extLst>
          </p:cNvPr>
          <p:cNvSpPr>
            <a:spLocks noGrp="1"/>
          </p:cNvSpPr>
          <p:nvPr>
            <p:ph type="title"/>
          </p:nvPr>
        </p:nvSpPr>
        <p:spPr>
          <a:xfrm>
            <a:off x="457200" y="2143125"/>
            <a:ext cx="8229600" cy="857250"/>
          </a:xfrm>
        </p:spPr>
        <p:txBody>
          <a:bodyPr>
            <a:noAutofit/>
          </a:bodyPr>
          <a:lstStyle>
            <a:lvl1pPr>
              <a:defRPr sz="9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764885620"/>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accent6">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1C270-9E2A-9887-1791-BAD605BD71AE}"/>
              </a:ext>
            </a:extLst>
          </p:cNvPr>
          <p:cNvSpPr>
            <a:spLocks noGrp="1"/>
          </p:cNvSpPr>
          <p:nvPr>
            <p:ph type="title"/>
          </p:nvPr>
        </p:nvSpPr>
        <p:spPr>
          <a:xfrm>
            <a:off x="457200" y="2143125"/>
            <a:ext cx="8229600" cy="857250"/>
          </a:xfrm>
        </p:spPr>
        <p:txBody>
          <a:bodyPr>
            <a:noAutofit/>
          </a:bodyPr>
          <a:lstStyle>
            <a:lvl1pPr>
              <a:defRPr sz="54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32861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1C270-9E2A-9887-1791-BAD605BD71AE}"/>
              </a:ext>
            </a:extLst>
          </p:cNvPr>
          <p:cNvSpPr>
            <a:spLocks noGrp="1"/>
          </p:cNvSpPr>
          <p:nvPr>
            <p:ph type="title"/>
          </p:nvPr>
        </p:nvSpPr>
        <p:spPr>
          <a:xfrm>
            <a:off x="457200" y="2143125"/>
            <a:ext cx="8229600" cy="857250"/>
          </a:xfrm>
        </p:spPr>
        <p:txBody>
          <a:bodyPr>
            <a:noAutofit/>
          </a:bodyPr>
          <a:lstStyle>
            <a:lvl1pPr>
              <a:defRPr sz="44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910937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A28124-4892-6AA8-D99C-4A30F8253E2A}"/>
              </a:ext>
            </a:extLst>
          </p:cNvPr>
          <p:cNvSpPr>
            <a:spLocks noGrp="1"/>
          </p:cNvSpPr>
          <p:nvPr>
            <p:ph type="title"/>
          </p:nvPr>
        </p:nvSpPr>
        <p:spPr>
          <a:xfrm>
            <a:off x="457200" y="254916"/>
            <a:ext cx="8229600" cy="667168"/>
          </a:xfrm>
        </p:spPr>
        <p:txBody>
          <a:bodyPr/>
          <a:lstStyle/>
          <a:p>
            <a:r>
              <a:rPr lang="en-US" dirty="0"/>
              <a:t>Click to edit Master title style</a:t>
            </a:r>
          </a:p>
        </p:txBody>
      </p:sp>
      <p:sp>
        <p:nvSpPr>
          <p:cNvPr id="9" name="Content Placeholder 8">
            <a:extLst>
              <a:ext uri="{FF2B5EF4-FFF2-40B4-BE49-F238E27FC236}">
                <a16:creationId xmlns:a16="http://schemas.microsoft.com/office/drawing/2014/main" id="{99841267-28AC-80B7-D7CA-A6B24D4AD304}"/>
              </a:ext>
            </a:extLst>
          </p:cNvPr>
          <p:cNvSpPr>
            <a:spLocks noGrp="1"/>
          </p:cNvSpPr>
          <p:nvPr>
            <p:ph sz="quarter" idx="10"/>
          </p:nvPr>
        </p:nvSpPr>
        <p:spPr>
          <a:xfrm>
            <a:off x="457200" y="963337"/>
            <a:ext cx="8229600" cy="40802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8346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tmplLst>
          <p:tmpl lvl="1">
            <p:tnLst>
              <p:par>
                <p:cTn presetID="1" presetClass="entr" presetSubtype="0" fill="hold" nodeType="clickEffect">
                  <p:stCondLst>
                    <p:cond delay="0"/>
                  </p:stCondLst>
                  <p:childTnLst>
                    <p:set>
                      <p:cBhvr>
                        <p:cTn dur="1" fill="hold">
                          <p:stCondLst>
                            <p:cond delay="0"/>
                          </p:stCondLst>
                        </p:cTn>
                        <p:tgtEl>
                          <p:spTgt spid="9"/>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9"/>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9"/>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9"/>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9"/>
                        </p:tgtEl>
                        <p:attrNameLst>
                          <p:attrName>style.visibility</p:attrName>
                        </p:attrNameLst>
                      </p:cBhvr>
                      <p:to>
                        <p:strVal val="visible"/>
                      </p:to>
                    </p:se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NO ANIMATION">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A28124-4892-6AA8-D99C-4A30F8253E2A}"/>
              </a:ext>
            </a:extLst>
          </p:cNvPr>
          <p:cNvSpPr>
            <a:spLocks noGrp="1"/>
          </p:cNvSpPr>
          <p:nvPr>
            <p:ph type="title" hasCustomPrompt="1"/>
          </p:nvPr>
        </p:nvSpPr>
        <p:spPr>
          <a:xfrm>
            <a:off x="457200" y="254916"/>
            <a:ext cx="8229600" cy="667168"/>
          </a:xfrm>
        </p:spPr>
        <p:txBody>
          <a:bodyPr/>
          <a:lstStyle>
            <a:lvl1pPr>
              <a:defRPr/>
            </a:lvl1pPr>
          </a:lstStyle>
          <a:p>
            <a:r>
              <a:rPr lang="en-US" dirty="0"/>
              <a:t>NO ANIMATION</a:t>
            </a:r>
          </a:p>
        </p:txBody>
      </p:sp>
      <p:sp>
        <p:nvSpPr>
          <p:cNvPr id="9" name="Content Placeholder 8">
            <a:extLst>
              <a:ext uri="{FF2B5EF4-FFF2-40B4-BE49-F238E27FC236}">
                <a16:creationId xmlns:a16="http://schemas.microsoft.com/office/drawing/2014/main" id="{99841267-28AC-80B7-D7CA-A6B24D4AD304}"/>
              </a:ext>
            </a:extLst>
          </p:cNvPr>
          <p:cNvSpPr>
            <a:spLocks noGrp="1"/>
          </p:cNvSpPr>
          <p:nvPr>
            <p:ph sz="quarter" idx="10"/>
          </p:nvPr>
        </p:nvSpPr>
        <p:spPr>
          <a:xfrm>
            <a:off x="457200" y="963337"/>
            <a:ext cx="8229600" cy="40802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50116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NO BOD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A28124-4892-6AA8-D99C-4A30F8253E2A}"/>
              </a:ext>
            </a:extLst>
          </p:cNvPr>
          <p:cNvSpPr>
            <a:spLocks noGrp="1"/>
          </p:cNvSpPr>
          <p:nvPr>
            <p:ph type="title" hasCustomPrompt="1"/>
          </p:nvPr>
        </p:nvSpPr>
        <p:spPr>
          <a:xfrm>
            <a:off x="457200" y="254916"/>
            <a:ext cx="8229600" cy="667168"/>
          </a:xfrm>
        </p:spPr>
        <p:txBody>
          <a:bodyPr/>
          <a:lstStyle>
            <a:lvl1pPr>
              <a:defRPr/>
            </a:lvl1pPr>
          </a:lstStyle>
          <a:p>
            <a:r>
              <a:rPr lang="en-US"/>
              <a:t>NO BODY</a:t>
            </a:r>
            <a:endParaRPr lang="en-US" dirty="0"/>
          </a:p>
        </p:txBody>
      </p:sp>
    </p:spTree>
    <p:extLst>
      <p:ext uri="{BB962C8B-B14F-4D97-AF65-F5344CB8AC3E}">
        <p14:creationId xmlns:p14="http://schemas.microsoft.com/office/powerpoint/2010/main" val="726657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901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A28124-4892-6AA8-D99C-4A30F8253E2A}"/>
              </a:ext>
            </a:extLst>
          </p:cNvPr>
          <p:cNvSpPr>
            <a:spLocks noGrp="1"/>
          </p:cNvSpPr>
          <p:nvPr>
            <p:ph type="title" hasCustomPrompt="1"/>
          </p:nvPr>
        </p:nvSpPr>
        <p:spPr>
          <a:xfrm>
            <a:off x="457200" y="254916"/>
            <a:ext cx="8229600" cy="1893924"/>
          </a:xfrm>
        </p:spPr>
        <p:txBody>
          <a:bodyPr>
            <a:noAutofit/>
          </a:bodyPr>
          <a:lstStyle>
            <a:lvl1pPr algn="l">
              <a:defRPr sz="11500"/>
            </a:lvl1pPr>
          </a:lstStyle>
          <a:p>
            <a:r>
              <a:rPr lang="en-US" dirty="0"/>
              <a:t>WeekXX</a:t>
            </a:r>
          </a:p>
        </p:txBody>
      </p:sp>
      <p:sp>
        <p:nvSpPr>
          <p:cNvPr id="9" name="Content Placeholder 8">
            <a:extLst>
              <a:ext uri="{FF2B5EF4-FFF2-40B4-BE49-F238E27FC236}">
                <a16:creationId xmlns:a16="http://schemas.microsoft.com/office/drawing/2014/main" id="{99841267-28AC-80B7-D7CA-A6B24D4AD304}"/>
              </a:ext>
            </a:extLst>
          </p:cNvPr>
          <p:cNvSpPr>
            <a:spLocks noGrp="1"/>
          </p:cNvSpPr>
          <p:nvPr>
            <p:ph sz="quarter" idx="10"/>
          </p:nvPr>
        </p:nvSpPr>
        <p:spPr>
          <a:xfrm>
            <a:off x="457200" y="2148840"/>
            <a:ext cx="8229600" cy="2894768"/>
          </a:xfrm>
        </p:spPr>
        <p:txBody>
          <a:bodyPr>
            <a:normAutofit/>
          </a:bodyPr>
          <a:lstStyle>
            <a:lvl1pPr>
              <a:buClr>
                <a:schemeClr val="tx1"/>
              </a:buClr>
              <a:defRPr sz="2800"/>
            </a:lvl1pPr>
            <a:lvl2pPr>
              <a:buClr>
                <a:schemeClr val="tx1"/>
              </a:buClr>
              <a:defRPr sz="2800"/>
            </a:lvl2pPr>
            <a:lvl3pPr>
              <a:buClr>
                <a:schemeClr val="tx1"/>
              </a:buClr>
              <a:defRPr sz="2800"/>
            </a:lvl3pPr>
            <a:lvl4pPr>
              <a:buClr>
                <a:schemeClr val="tx1"/>
              </a:buClr>
              <a:defRPr sz="2800"/>
            </a:lvl4pPr>
            <a:lvl5pPr>
              <a:buClr>
                <a:schemeClr val="tx1"/>
              </a:buClr>
              <a:defRPr sz="2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8602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tmplLst>
          <p:tmpl>
            <p:tnLst>
              <p:par>
                <p:cTn presetID="1" presetClass="entr" presetSubtype="0" fill="hold" nodeType="clickEffect">
                  <p:stCondLst>
                    <p:cond delay="0"/>
                  </p:stCondLst>
                  <p:childTnLst>
                    <p:set>
                      <p:cBhvr>
                        <p:cTn dur="1" fill="hold">
                          <p:stCondLst>
                            <p:cond delay="0"/>
                          </p:stCondLst>
                        </p:cTn>
                        <p:tgtEl>
                          <p:spTgt spid="9"/>
                        </p:tgtEl>
                        <p:attrNameLst>
                          <p:attrName>style.visibility</p:attrName>
                        </p:attrNameLst>
                      </p:cBhvr>
                      <p:to>
                        <p:strVal val="visible"/>
                      </p:to>
                    </p:se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ustom Layout">
    <p:bg>
      <p:bgPr>
        <a:solidFill>
          <a:schemeClr val="bg1"/>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BB0728FC-A0A7-2C5E-73E0-FFC7598E9FB1}"/>
              </a:ext>
            </a:extLst>
          </p:cNvPr>
          <p:cNvSpPr txBox="1"/>
          <p:nvPr userDrawn="1"/>
        </p:nvSpPr>
        <p:spPr>
          <a:xfrm>
            <a:off x="2768237" y="1824402"/>
            <a:ext cx="3211286" cy="707886"/>
          </a:xfrm>
          <a:prstGeom prst="rect">
            <a:avLst/>
          </a:prstGeom>
          <a:noFill/>
        </p:spPr>
        <p:txBody>
          <a:bodyPr wrap="square">
            <a:spAutoFit/>
          </a:bodyPr>
          <a:lstStyle/>
          <a:p>
            <a:pPr marL="0" marR="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srgbClr val="000000"/>
                </a:solidFill>
                <a:effectLst/>
                <a:uLnTx/>
                <a:uFillTx/>
                <a:latin typeface="+mn-lt"/>
                <a:ea typeface="Segoe UI Emoji" panose="020B0502040204020203" pitchFamily="34" charset="0"/>
                <a:cs typeface="+mn-cs"/>
              </a:rPr>
              <a:t> 🤨</a:t>
            </a:r>
            <a:r>
              <a:rPr kumimoji="0" lang="en-US" sz="40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sz="1400"/>
          </a:p>
        </p:txBody>
      </p:sp>
      <p:sp>
        <p:nvSpPr>
          <p:cNvPr id="11" name="Rectangle 10">
            <a:extLst>
              <a:ext uri="{FF2B5EF4-FFF2-40B4-BE49-F238E27FC236}">
                <a16:creationId xmlns:a16="http://schemas.microsoft.com/office/drawing/2014/main" id="{ADD8E335-76A3-8597-71D6-87CB9A2A96CB}"/>
              </a:ext>
            </a:extLst>
          </p:cNvPr>
          <p:cNvSpPr/>
          <p:nvPr userDrawn="1"/>
        </p:nvSpPr>
        <p:spPr>
          <a:xfrm>
            <a:off x="2926080" y="2431075"/>
            <a:ext cx="2895600" cy="671830"/>
          </a:xfrm>
          <a:prstGeom prst="rect">
            <a:avLst/>
          </a:prstGeom>
          <a:solidFill>
            <a:schemeClr val="accent6">
              <a:lumMod val="75000"/>
            </a:schemeClr>
          </a:solid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w="0"/>
                <a:solidFill>
                  <a:schemeClr val="bg1"/>
                </a:solidFill>
                <a:effectLst/>
                <a:uLnTx/>
                <a:uFillTx/>
                <a:latin typeface="+mn-lt"/>
                <a:ea typeface="Segoe UI Emoji" panose="020B0502040204020203" pitchFamily="34" charset="0"/>
                <a:cs typeface="Consolas" panose="020B0609020204030204" pitchFamily="49" charset="0"/>
              </a:rPr>
              <a:t> questions?</a:t>
            </a:r>
            <a:endParaRPr lang="en-US" sz="1100" b="0" cap="none" spc="0" baseline="0">
              <a:ln w="0"/>
              <a:solidFill>
                <a:schemeClr val="bg1"/>
              </a:solidFill>
              <a:effectLst/>
              <a:latin typeface="+mn-lt"/>
              <a:cs typeface="Consolas" panose="020B0609020204030204" pitchFamily="49" charset="0"/>
            </a:endParaRPr>
          </a:p>
        </p:txBody>
      </p:sp>
    </p:spTree>
    <p:extLst>
      <p:ext uri="{BB962C8B-B14F-4D97-AF65-F5344CB8AC3E}">
        <p14:creationId xmlns:p14="http://schemas.microsoft.com/office/powerpoint/2010/main" val="1981260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Custom Layout">
    <p:bg>
      <p:bgPr>
        <a:gradFill flip="none" rotWithShape="1">
          <a:gsLst>
            <a:gs pos="0">
              <a:schemeClr val="accent1"/>
            </a:gs>
            <a:gs pos="15000">
              <a:schemeClr val="accent2"/>
            </a:gs>
            <a:gs pos="27000">
              <a:schemeClr val="accent3"/>
            </a:gs>
            <a:gs pos="42000">
              <a:schemeClr val="accent4"/>
            </a:gs>
            <a:gs pos="51000">
              <a:schemeClr val="accent5"/>
            </a:gs>
            <a:gs pos="75000">
              <a:schemeClr val="accent6"/>
            </a:gs>
          </a:gsLst>
          <a:path path="circle">
            <a:fillToRect l="100000" t="100000"/>
          </a:path>
          <a:tileRect r="-100000" b="-10000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34635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58" r:id="rId1"/>
    <p:sldLayoutId id="2147483661" r:id="rId2"/>
    <p:sldLayoutId id="2147483657" r:id="rId3"/>
    <p:sldLayoutId id="2147483660" r:id="rId4"/>
    <p:sldLayoutId id="2147483650" r:id="rId5"/>
    <p:sldLayoutId id="2147483659" r:id="rId6"/>
    <p:sldLayoutId id="2147483662" r:id="rId7"/>
    <p:sldLayoutId id="2147483655" r:id="rId8"/>
    <p:sldLayoutId id="2147483664" r:id="rId9"/>
    <p:sldLayoutId id="2147483665" r:id="rId10"/>
    <p:sldLayoutId id="2147483663" r:id="rId11"/>
  </p:sldLayoutIdLst>
  <p:txStyles>
    <p:titleStyle>
      <a:lvl1pPr algn="ctr" defTabSz="342886" rtl="0" eaLnBrk="1" latinLnBrk="0" hangingPunct="1">
        <a:spcBef>
          <a:spcPct val="0"/>
        </a:spcBef>
        <a:buNone/>
        <a:defRPr sz="3200" kern="1200">
          <a:solidFill>
            <a:schemeClr val="tx1"/>
          </a:solidFill>
          <a:latin typeface="+mn-lt"/>
          <a:ea typeface="Segoe UI Emoji" panose="020B0502040204020203" pitchFamily="34" charset="0"/>
          <a:cs typeface="+mj-cs"/>
        </a:defRPr>
      </a:lvl1pPr>
    </p:titleStyle>
    <p:bodyStyle>
      <a:lvl1pPr marL="285739"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1pPr>
      <a:lvl2pPr marL="628625"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2pPr>
      <a:lvl3pPr marL="971511"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3pPr>
      <a:lvl4pPr marL="1314397"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4pPr>
      <a:lvl5pPr marL="1657284"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5pPr>
      <a:lvl6pPr marL="2057318" indent="-342886" algn="l" defTabSz="342886" rtl="0" eaLnBrk="1" latinLnBrk="0" hangingPunct="1">
        <a:spcBef>
          <a:spcPct val="20000"/>
        </a:spcBef>
        <a:buFont typeface="Arial"/>
        <a:buChar char="•"/>
        <a:defRPr sz="1500" kern="1200">
          <a:solidFill>
            <a:schemeClr val="tx1"/>
          </a:solidFill>
          <a:latin typeface="+mn-lt"/>
          <a:ea typeface="+mn-ea"/>
          <a:cs typeface="+mn-cs"/>
        </a:defRPr>
      </a:lvl6pPr>
      <a:lvl7pPr marL="2400204" indent="-342886" algn="l" defTabSz="342886" rtl="0" eaLnBrk="1" latinLnBrk="0" hangingPunct="1">
        <a:spcBef>
          <a:spcPct val="20000"/>
        </a:spcBef>
        <a:buFont typeface="Arial"/>
        <a:buChar char="•"/>
        <a:defRPr sz="1500" kern="1200">
          <a:solidFill>
            <a:schemeClr val="tx1"/>
          </a:solidFill>
          <a:latin typeface="+mn-lt"/>
          <a:ea typeface="+mn-ea"/>
          <a:cs typeface="+mn-cs"/>
        </a:defRPr>
      </a:lvl7pPr>
      <a:lvl8pPr marL="2743090" indent="-342886" algn="l" defTabSz="342886" rtl="0" eaLnBrk="1" latinLnBrk="0" hangingPunct="1">
        <a:spcBef>
          <a:spcPct val="20000"/>
        </a:spcBef>
        <a:buFont typeface="Arial"/>
        <a:buChar char="•"/>
        <a:defRPr sz="1500" kern="1200">
          <a:solidFill>
            <a:schemeClr val="tx1"/>
          </a:solidFill>
          <a:latin typeface="+mn-lt"/>
          <a:ea typeface="+mn-ea"/>
          <a:cs typeface="+mn-cs"/>
        </a:defRPr>
      </a:lvl8pPr>
      <a:lvl9pPr marL="3085977" indent="-342886" algn="l" defTabSz="342886"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886" rtl="0" eaLnBrk="1" latinLnBrk="0" hangingPunct="1">
        <a:defRPr sz="1350" kern="1200">
          <a:solidFill>
            <a:schemeClr val="tx1"/>
          </a:solidFill>
          <a:latin typeface="+mn-lt"/>
          <a:ea typeface="+mn-ea"/>
          <a:cs typeface="+mn-cs"/>
        </a:defRPr>
      </a:lvl1pPr>
      <a:lvl2pPr marL="342886" algn="l" defTabSz="342886" rtl="0" eaLnBrk="1" latinLnBrk="0" hangingPunct="1">
        <a:defRPr sz="1350" kern="1200">
          <a:solidFill>
            <a:schemeClr val="tx1"/>
          </a:solidFill>
          <a:latin typeface="+mn-lt"/>
          <a:ea typeface="+mn-ea"/>
          <a:cs typeface="+mn-cs"/>
        </a:defRPr>
      </a:lvl2pPr>
      <a:lvl3pPr marL="685773" algn="l" defTabSz="342886" rtl="0" eaLnBrk="1" latinLnBrk="0" hangingPunct="1">
        <a:defRPr sz="1350" kern="1200">
          <a:solidFill>
            <a:schemeClr val="tx1"/>
          </a:solidFill>
          <a:latin typeface="+mn-lt"/>
          <a:ea typeface="+mn-ea"/>
          <a:cs typeface="+mn-cs"/>
        </a:defRPr>
      </a:lvl3pPr>
      <a:lvl4pPr marL="1028659" algn="l" defTabSz="342886" rtl="0" eaLnBrk="1" latinLnBrk="0" hangingPunct="1">
        <a:defRPr sz="1350" kern="1200">
          <a:solidFill>
            <a:schemeClr val="tx1"/>
          </a:solidFill>
          <a:latin typeface="+mn-lt"/>
          <a:ea typeface="+mn-ea"/>
          <a:cs typeface="+mn-cs"/>
        </a:defRPr>
      </a:lvl4pPr>
      <a:lvl5pPr marL="1371545" algn="l" defTabSz="342886" rtl="0" eaLnBrk="1" latinLnBrk="0" hangingPunct="1">
        <a:defRPr sz="1350" kern="1200">
          <a:solidFill>
            <a:schemeClr val="tx1"/>
          </a:solidFill>
          <a:latin typeface="+mn-lt"/>
          <a:ea typeface="+mn-ea"/>
          <a:cs typeface="+mn-cs"/>
        </a:defRPr>
      </a:lvl5pPr>
      <a:lvl6pPr marL="1714431" algn="l" defTabSz="342886" rtl="0" eaLnBrk="1" latinLnBrk="0" hangingPunct="1">
        <a:defRPr sz="1350" kern="1200">
          <a:solidFill>
            <a:schemeClr val="tx1"/>
          </a:solidFill>
          <a:latin typeface="+mn-lt"/>
          <a:ea typeface="+mn-ea"/>
          <a:cs typeface="+mn-cs"/>
        </a:defRPr>
      </a:lvl6pPr>
      <a:lvl7pPr marL="2057318" algn="l" defTabSz="342886" rtl="0" eaLnBrk="1" latinLnBrk="0" hangingPunct="1">
        <a:defRPr sz="1350" kern="1200">
          <a:solidFill>
            <a:schemeClr val="tx1"/>
          </a:solidFill>
          <a:latin typeface="+mn-lt"/>
          <a:ea typeface="+mn-ea"/>
          <a:cs typeface="+mn-cs"/>
        </a:defRPr>
      </a:lvl7pPr>
      <a:lvl8pPr marL="2400204" algn="l" defTabSz="342886" rtl="0" eaLnBrk="1" latinLnBrk="0" hangingPunct="1">
        <a:defRPr sz="1350" kern="1200">
          <a:solidFill>
            <a:schemeClr val="tx1"/>
          </a:solidFill>
          <a:latin typeface="+mn-lt"/>
          <a:ea typeface="+mn-ea"/>
          <a:cs typeface="+mn-cs"/>
        </a:defRPr>
      </a:lvl8pPr>
      <a:lvl9pPr marL="2743090" algn="l" defTabSz="342886"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hyperlink" Target="https://leetcode.com/problems/two-sum/description/?envType=problem-list-v2&amp;envId=hash-table" TargetMode="External"/><Relationship Id="rId1" Type="http://schemas.openxmlformats.org/officeDocument/2006/relationships/slideLayout" Target="../slideLayouts/slideLayout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3" Type="http://schemas.openxmlformats.org/officeDocument/2006/relationships/image" Target="../media/image810.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500.png"/><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2" Type="http://schemas.openxmlformats.org/officeDocument/2006/relationships/image" Target="../media/image520.png"/><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2" Type="http://schemas.openxmlformats.org/officeDocument/2006/relationships/image" Target="../media/image530.png"/><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2" Type="http://schemas.openxmlformats.org/officeDocument/2006/relationships/image" Target="../media/image540.png"/><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8.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8.xml"/></Relationships>
</file>

<file path=ppt/slides/_rels/slide1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0.xml.rels><?xml version="1.0" encoding="UTF-8" standalone="yes"?>
<Relationships xmlns="http://schemas.openxmlformats.org/package/2006/relationships"><Relationship Id="rId2" Type="http://schemas.openxmlformats.org/officeDocument/2006/relationships/image" Target="../media/image21.org&amp;utm_campaign=index&amp;utm_content=thumbnail&amp;_=20210503130222"/><Relationship Id="rId1" Type="http://schemas.openxmlformats.org/officeDocument/2006/relationships/slideLayout" Target="../slideLayouts/slideLayout5.xml"/></Relationships>
</file>

<file path=ppt/slides/_rels/slide1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2" Type="http://schemas.openxmlformats.org/officeDocument/2006/relationships/image" Target="../media/image460.png"/><Relationship Id="rId1" Type="http://schemas.openxmlformats.org/officeDocument/2006/relationships/slideLayout" Target="../slideLayouts/slideLayout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139.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8.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8.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17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8.xml"/></Relationships>
</file>

<file path=ppt/slides/_rels/slide17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8.xml"/><Relationship Id="rId4" Type="http://schemas.openxmlformats.org/officeDocument/2006/relationships/image" Target="../media/image32.jpeg"/></Relationships>
</file>

<file path=ppt/slides/_rels/slide17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slideLayout" Target="../slideLayouts/slideLayout8.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s/_rels/slide17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0.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image" Target="../media/image41.jpeg"/><Relationship Id="rId1" Type="http://schemas.openxmlformats.org/officeDocument/2006/relationships/slideLayout" Target="../slideLayouts/slideLayout8.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193.xml.rels><?xml version="1.0" encoding="UTF-8" standalone="yes"?>
<Relationships xmlns="http://schemas.openxmlformats.org/package/2006/relationships"><Relationship Id="rId3" Type="http://schemas.openxmlformats.org/officeDocument/2006/relationships/hyperlink" Target="https://en.wikipedia.org/wiki/Stack_(abstract_data_type)" TargetMode="External"/><Relationship Id="rId2" Type="http://schemas.openxmlformats.org/officeDocument/2006/relationships/hyperlink" Target="https://en.wikipedia.org/wiki/Type_polymorphism" TargetMode="External"/><Relationship Id="rId1" Type="http://schemas.openxmlformats.org/officeDocument/2006/relationships/slideLayout" Target="../slideLayouts/slideLayout6.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8.xml.rels><?xml version="1.0" encoding="UTF-8" standalone="yes"?>
<Relationships xmlns="http://schemas.openxmlformats.org/package/2006/relationships"><Relationship Id="rId2" Type="http://schemas.openxmlformats.org/officeDocument/2006/relationships/image" Target="../media/image44.gif"/><Relationship Id="rId1" Type="http://schemas.openxmlformats.org/officeDocument/2006/relationships/slideLayout" Target="../slideLayouts/slideLayout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8.xml"/></Relationships>
</file>

<file path=ppt/slides/_rels/slide211.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8.xml"/></Relationships>
</file>

<file path=ppt/slides/_rels/slide21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8.xml"/></Relationships>
</file>

<file path=ppt/slides/_rels/slide21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8.xml"/></Relationships>
</file>

<file path=ppt/slides/_rels/slide21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8.xml"/></Relationships>
</file>

<file path=ppt/slides/_rels/slide21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8.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1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8.xml"/></Relationships>
</file>

<file path=ppt/slides/_rels/slide22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8.xml"/></Relationships>
</file>

<file path=ppt/slides/_rels/slide23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8.xml"/></Relationships>
</file>

<file path=ppt/slides/_rels/slide23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8.xml"/></Relationships>
</file>

<file path=ppt/slides/_rels/slide23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8.xml"/></Relationships>
</file>

<file path=ppt/slides/_rels/slide23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8.xml"/></Relationships>
</file>

<file path=ppt/slides/_rels/slide23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8.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8.xml"/></Relationships>
</file>

<file path=ppt/slides/_rels/slide23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8.xml"/></Relationships>
</file>

<file path=ppt/slides/_rels/slide2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239.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5.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8.xml"/></Relationships>
</file>

<file path=ppt/slides/_rels/slide249.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8.xml"/></Relationships>
</file>

<file path=ppt/slides/_rels/slide250.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Layout" Target="../slideLayouts/slideLayout8.xml"/></Relationships>
</file>

<file path=ppt/slides/_rels/slide251.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8.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5.xml.rels><?xml version="1.0" encoding="UTF-8" standalone="yes"?>
<Relationships xmlns="http://schemas.openxmlformats.org/package/2006/relationships"><Relationship Id="rId3" Type="http://schemas.openxmlformats.org/officeDocument/2006/relationships/image" Target="../media/image59.org&amp;utm_campaign=parser&amp;utm_content=thumbnail"/><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8.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9.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3.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8.xml"/></Relationships>
</file>

<file path=ppt/slides/_rels/slide27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8.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0.xml.rels><?xml version="1.0" encoding="UTF-8" standalone="yes"?>
<Relationships xmlns="http://schemas.openxmlformats.org/package/2006/relationships"><Relationship Id="rId3" Type="http://schemas.openxmlformats.org/officeDocument/2006/relationships/image" Target="../media/image461.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7.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30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31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2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2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8.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4.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9.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2.xml.rels><?xml version="1.0" encoding="UTF-8" standalone="yes"?>
<Relationships xmlns="http://schemas.openxmlformats.org/package/2006/relationships"><Relationship Id="rId2" Type="http://schemas.openxmlformats.org/officeDocument/2006/relationships/hyperlink" Target="https://grugbrain.dev/" TargetMode="External"/><Relationship Id="rId1" Type="http://schemas.openxmlformats.org/officeDocument/2006/relationships/slideLayout" Target="../slideLayouts/slideLayout4.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5.xml"/></Relationships>
</file>

<file path=ppt/slides/_rels/slide37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2.xml.rels><?xml version="1.0" encoding="UTF-8" standalone="yes"?>
<Relationships xmlns="http://schemas.openxmlformats.org/package/2006/relationships"><Relationship Id="rId2" Type="http://schemas.openxmlformats.org/officeDocument/2006/relationships/image" Target="../media/image71.gif"/><Relationship Id="rId1" Type="http://schemas.openxmlformats.org/officeDocument/2006/relationships/slideLayout" Target="../slideLayouts/slideLayout8.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jpeg"/><Relationship Id="rId1" Type="http://schemas.openxmlformats.org/officeDocument/2006/relationships/slideLayout" Target="../slideLayouts/slideLayout9.xml"/><Relationship Id="rId5" Type="http://schemas.openxmlformats.org/officeDocument/2006/relationships/image" Target="../media/image75.png"/><Relationship Id="rId4" Type="http://schemas.openxmlformats.org/officeDocument/2006/relationships/image" Target="../media/image74.png"/></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2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1.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8.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8.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2.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8.xml"/></Relationships>
</file>

<file path=ppt/slides/_rels/slide513.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8.xml"/></Relationships>
</file>

<file path=ppt/slides/_rels/slide514.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8.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52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52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52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52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8.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541.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5.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3.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7.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8.xml"/></Relationships>
</file>

<file path=ppt/slides/_rels/slide54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8.xml"/></Relationships>
</file>

<file path=ppt/slides/_rels/slide54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8.xml"/></Relationships>
</file>

<file path=ppt/slides/_rels/slide548.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8.xml"/></Relationships>
</file>

<file path=ppt/slides/_rels/slide54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220.png"/><Relationship Id="rId1" Type="http://schemas.openxmlformats.org/officeDocument/2006/relationships/slideLayout" Target="../slideLayouts/slideLayout8.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2.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image" Target="../media/image83.jpeg"/><Relationship Id="rId1" Type="http://schemas.openxmlformats.org/officeDocument/2006/relationships/slideLayout" Target="../slideLayouts/slideLayout7.xml"/></Relationships>
</file>

<file path=ppt/slides/_rels/slide55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9.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1.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8.xml"/></Relationships>
</file>

<file path=ppt/slides/_rels/slide562.xml.rels><?xml version="1.0" encoding="UTF-8" standalone="yes"?>
<Relationships xmlns="http://schemas.openxmlformats.org/package/2006/relationships"><Relationship Id="rId2" Type="http://schemas.openxmlformats.org/officeDocument/2006/relationships/hyperlink" Target="https://www.youtube.com/watch?v=BNtcWpY4YLY" TargetMode="External"/><Relationship Id="rId1" Type="http://schemas.openxmlformats.org/officeDocument/2006/relationships/slideLayout" Target="../slideLayouts/slideLayout4.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7.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hyperlink" Target="https://youtu.be/dadIdXQMBi4" TargetMode="External"/><Relationship Id="rId1" Type="http://schemas.openxmlformats.org/officeDocument/2006/relationships/slideLayout" Target="../slideLayouts/slideLayout8.xml"/></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1.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58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42.xml"/><Relationship Id="rId1" Type="http://schemas.openxmlformats.org/officeDocument/2006/relationships/slideLayout" Target="../slideLayouts/slideLayout5.xml"/><Relationship Id="rId4" Type="http://schemas.openxmlformats.org/officeDocument/2006/relationships/image" Target="../media/image88.png"/></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6.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4.xml"/></Relationships>
</file>

<file path=ppt/slides/_rels/slide587.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4.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9.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5.xml"/></Relationships>
</file>

<file path=ppt/slides/_rels/slide590.xml.rels><?xml version="1.0" encoding="UTF-8" standalone="yes"?>
<Relationships xmlns="http://schemas.openxmlformats.org/package/2006/relationships"><Relationship Id="rId3" Type="http://schemas.openxmlformats.org/officeDocument/2006/relationships/image" Target="../media/image780.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2.xml.rels><?xml version="1.0" encoding="UTF-8" standalone="yes"?>
<Relationships xmlns="http://schemas.openxmlformats.org/package/2006/relationships"><Relationship Id="rId3" Type="http://schemas.openxmlformats.org/officeDocument/2006/relationships/image" Target="../media/image790.png"/><Relationship Id="rId2" Type="http://schemas.openxmlformats.org/officeDocument/2006/relationships/notesSlide" Target="../notesSlides/notesSlide44.xml"/><Relationship Id="rId1" Type="http://schemas.openxmlformats.org/officeDocument/2006/relationships/slideLayout" Target="../slideLayouts/slideLayout5.xml"/><Relationship Id="rId4" Type="http://schemas.openxmlformats.org/officeDocument/2006/relationships/image" Target="../media/image90.png"/></Relationships>
</file>

<file path=ppt/slides/_rels/slide59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5.xml"/><Relationship Id="rId1" Type="http://schemas.openxmlformats.org/officeDocument/2006/relationships/slideLayout" Target="../slideLayouts/slideLayout9.xml"/><Relationship Id="rId5" Type="http://schemas.openxmlformats.org/officeDocument/2006/relationships/image" Target="../media/image73.png"/><Relationship Id="rId4" Type="http://schemas.openxmlformats.org/officeDocument/2006/relationships/image" Target="../media/image92.emf"/></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2.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8.xml"/></Relationships>
</file>

<file path=ppt/slides/_rels/slide603.xml.rels><?xml version="1.0" encoding="UTF-8" standalone="yes"?>
<Relationships xmlns="http://schemas.openxmlformats.org/package/2006/relationships"><Relationship Id="rId2" Type="http://schemas.openxmlformats.org/officeDocument/2006/relationships/image" Target="../media/image94.jpg"/><Relationship Id="rId1" Type="http://schemas.openxmlformats.org/officeDocument/2006/relationships/slideLayout" Target="../slideLayouts/slideLayout8.xml"/></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8.xml"/></Relationships>
</file>

<file path=ppt/slides/_rels/slide60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6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7.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8.xml"/></Relationships>
</file>

<file path=ppt/slides/_rels/slide618.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8.xml"/></Relationships>
</file>

<file path=ppt/slides/_rels/slide6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8.xml.rels><?xml version="1.0" encoding="UTF-8" standalone="yes"?>
<Relationships xmlns="http://schemas.openxmlformats.org/package/2006/relationships"><Relationship Id="rId3" Type="http://schemas.openxmlformats.org/officeDocument/2006/relationships/image" Target="../media/image92.emf"/><Relationship Id="rId2" Type="http://schemas.openxmlformats.org/officeDocument/2006/relationships/image" Target="../media/image91.png"/><Relationship Id="rId1" Type="http://schemas.openxmlformats.org/officeDocument/2006/relationships/slideLayout" Target="../slideLayouts/slideLayout9.xml"/></Relationships>
</file>

<file path=ppt/slides/_rels/slide6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4.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5.xml"/></Relationships>
</file>

<file path=ppt/slides/_rels/slide645.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5.xml"/></Relationships>
</file>

<file path=ppt/slides/_rels/slide6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8.xml.rels><?xml version="1.0" encoding="UTF-8" standalone="yes"?>
<Relationships xmlns="http://schemas.openxmlformats.org/package/2006/relationships"><Relationship Id="rId3" Type="http://schemas.openxmlformats.org/officeDocument/2006/relationships/image" Target="../media/image99.aspx"/><Relationship Id="rId2" Type="http://schemas.openxmlformats.org/officeDocument/2006/relationships/image" Target="../media/image98.jpeg"/><Relationship Id="rId1" Type="http://schemas.openxmlformats.org/officeDocument/2006/relationships/slideLayout" Target="../slideLayouts/slideLayout8.xml"/></Relationships>
</file>

<file path=ppt/slides/_rels/slide6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0.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6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6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3.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5.xml"/></Relationships>
</file>

<file path=ppt/slides/_rels/slide664.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5.xml"/></Relationships>
</file>

<file path=ppt/slides/_rels/slide6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8.xml.rels><?xml version="1.0" encoding="UTF-8" standalone="yes"?>
<Relationships xmlns="http://schemas.openxmlformats.org/package/2006/relationships"><Relationship Id="rId2" Type="http://schemas.openxmlformats.org/officeDocument/2006/relationships/image" Target="../media/image102.jpeg"/><Relationship Id="rId1" Type="http://schemas.openxmlformats.org/officeDocument/2006/relationships/slideLayout" Target="../slideLayouts/slideLayout8.xml"/></Relationships>
</file>

<file path=ppt/slides/_rels/slide669.xml.rels><?xml version="1.0" encoding="UTF-8" standalone="yes"?>
<Relationships xmlns="http://schemas.openxmlformats.org/package/2006/relationships"><Relationship Id="rId2" Type="http://schemas.openxmlformats.org/officeDocument/2006/relationships/image" Target="../media/image103.jpeg"/><Relationship Id="rId1" Type="http://schemas.openxmlformats.org/officeDocument/2006/relationships/slideLayout" Target="../slideLayouts/slideLayout8.xml"/></Relationships>
</file>

<file path=ppt/slides/_rels/slide67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67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67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67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67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67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6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7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7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68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68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8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8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8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8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8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8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8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8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9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9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69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69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69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69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69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69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0.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8.xml"/></Relationships>
</file>

<file path=ppt/slides/_rels/slide7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5.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org&amp;utm_campaign=parser&amp;utm_content=thumbnail"/><Relationship Id="rId1" Type="http://schemas.openxmlformats.org/officeDocument/2006/relationships/slideLayout" Target="../slideLayouts/slideLayout8.xml"/><Relationship Id="rId4" Type="http://schemas.openxmlformats.org/officeDocument/2006/relationships/image" Target="../media/image107.png"/></Relationships>
</file>

<file path=ppt/slides/_rels/slide7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73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34.xml.rels><?xml version="1.0" encoding="UTF-8" standalone="yes"?>
<Relationships xmlns="http://schemas.openxmlformats.org/package/2006/relationships"><Relationship Id="rId2" Type="http://schemas.openxmlformats.org/officeDocument/2006/relationships/image" Target="../media/image108.emf"/><Relationship Id="rId1" Type="http://schemas.openxmlformats.org/officeDocument/2006/relationships/slideLayout" Target="../slideLayouts/slideLayout2.xml"/></Relationships>
</file>

<file path=ppt/slides/_rels/slide73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7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7.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8.xml"/></Relationships>
</file>

<file path=ppt/slides/_rels/slide738.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8.xml"/></Relationships>
</file>

<file path=ppt/slides/_rels/slide739.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8.xml"/></Relationships>
</file>

<file path=ppt/slides/_rels/slide740.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8.xml"/><Relationship Id="rId4" Type="http://schemas.openxmlformats.org/officeDocument/2006/relationships/image" Target="../media/image115.png"/></Relationships>
</file>

<file path=ppt/slides/_rels/slide74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742.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8.xml"/></Relationships>
</file>

<file path=ppt/slides/_rels/slide743.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8.xml"/></Relationships>
</file>

<file path=ppt/slides/_rels/slide744.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8.xml"/></Relationships>
</file>

<file path=ppt/slides/_rels/slide745.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8.xml"/></Relationships>
</file>

<file path=ppt/slides/_rels/slide7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7.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8.xml"/></Relationships>
</file>

<file path=ppt/slides/_rels/slide748.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8.xml"/></Relationships>
</file>

<file path=ppt/slides/_rels/slide7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80.xml"/><Relationship Id="rId1" Type="http://schemas.openxmlformats.org/officeDocument/2006/relationships/slideLayout" Target="../slideLayouts/slideLayout8.xml"/></Relationships>
</file>

<file path=ppt/slides/_rels/slide7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6.xml.rels><?xml version="1.0" encoding="UTF-8" standalone="yes"?>
<Relationships xmlns="http://schemas.openxmlformats.org/package/2006/relationships"><Relationship Id="rId2" Type="http://schemas.openxmlformats.org/officeDocument/2006/relationships/image" Target="../media/image121.gif"/><Relationship Id="rId1" Type="http://schemas.openxmlformats.org/officeDocument/2006/relationships/slideLayout" Target="../slideLayouts/slideLayout8.xml"/></Relationships>
</file>

<file path=ppt/slides/_rels/slide7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9.xml"/></Relationships>
</file>

<file path=ppt/slides/_rels/slide7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6.xml.rels><?xml version="1.0" encoding="UTF-8" standalone="yes"?>
<Relationships xmlns="http://schemas.openxmlformats.org/package/2006/relationships"><Relationship Id="rId2" Type="http://schemas.openxmlformats.org/officeDocument/2006/relationships/image" Target="../media/image122.jpeg"/><Relationship Id="rId1" Type="http://schemas.openxmlformats.org/officeDocument/2006/relationships/slideLayout" Target="../slideLayouts/slideLayout8.xml"/></Relationships>
</file>

<file path=ppt/slides/_rels/slide7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8.xml.rels><?xml version="1.0" encoding="UTF-8" standalone="yes"?>
<Relationships xmlns="http://schemas.openxmlformats.org/package/2006/relationships"><Relationship Id="rId2" Type="http://schemas.openxmlformats.org/officeDocument/2006/relationships/image" Target="../media/image123.jpeg"/><Relationship Id="rId1" Type="http://schemas.openxmlformats.org/officeDocument/2006/relationships/slideLayout" Target="../slideLayouts/slideLayout8.xml"/></Relationships>
</file>

<file path=ppt/slides/_rels/slide7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3.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8.xml"/></Relationships>
</file>

<file path=ppt/slides/_rels/slide774.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8.xml"/></Relationships>
</file>

<file path=ppt/slides/_rels/slide7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1.xml.rels><?xml version="1.0" encoding="UTF-8" standalone="yes"?>
<Relationships xmlns="http://schemas.openxmlformats.org/package/2006/relationships"><Relationship Id="rId2" Type="http://schemas.openxmlformats.org/officeDocument/2006/relationships/hyperlink" Target="https://github.com/james-bern/CS136/wiki" TargetMode="External"/><Relationship Id="rId1" Type="http://schemas.openxmlformats.org/officeDocument/2006/relationships/slideLayout" Target="../slideLayouts/slideLayout4.xml"/></Relationships>
</file>

<file path=ppt/slides/_rels/slide7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6.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4.xml"/></Relationships>
</file>

<file path=ppt/slides/_rels/slide7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8.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8.xml"/></Relationships>
</file>

<file path=ppt/slides/_rels/slide7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1.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83.xml"/><Relationship Id="rId1" Type="http://schemas.openxmlformats.org/officeDocument/2006/relationships/slideLayout" Target="../slideLayouts/slideLayout8.xml"/></Relationships>
</file>

<file path=ppt/slides/_rels/slide792.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8.xml"/></Relationships>
</file>

<file path=ppt/slides/_rels/slide793.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8.xml"/></Relationships>
</file>

<file path=ppt/slides/_rels/slide794.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8.xml"/></Relationships>
</file>

<file path=ppt/slides/_rels/slide795.xml.rels><?xml version="1.0" encoding="UTF-8" standalone="yes"?>
<Relationships xmlns="http://schemas.openxmlformats.org/package/2006/relationships"><Relationship Id="rId2" Type="http://schemas.openxmlformats.org/officeDocument/2006/relationships/image" Target="../media/image128.jpeg"/><Relationship Id="rId1" Type="http://schemas.openxmlformats.org/officeDocument/2006/relationships/slideLayout" Target="../slideLayouts/slideLayout8.xml"/></Relationships>
</file>

<file path=ppt/slides/_rels/slide7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9.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5.xml"/></Relationships>
</file>

<file path=ppt/slides/_rels/slide8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1.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8.xml"/></Relationships>
</file>

<file path=ppt/slides/_rels/slide802.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8.xml"/></Relationships>
</file>

<file path=ppt/slides/_rels/slide803.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8.xml"/></Relationships>
</file>

<file path=ppt/slides/_rels/slide8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5.xml"/></Relationships>
</file>

<file path=ppt/slides/_rels/slide8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0.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8.xml"/></Relationships>
</file>

<file path=ppt/slides/_rels/slide811.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0.xml"/></Relationships>
</file>

<file path=ppt/slides/_rels/slide812.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13.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814.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8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7.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818.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819.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820.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5.xml"/></Relationships>
</file>

<file path=ppt/slides/_rels/slide821.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822.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5.xml"/></Relationships>
</file>

<file path=ppt/slides/_rels/slide823.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5.xml"/></Relationships>
</file>

<file path=ppt/slides/_rels/slide824.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5.xml"/></Relationships>
</file>

<file path=ppt/slides/_rels/slide825.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5.xml"/></Relationships>
</file>

<file path=ppt/slides/_rels/slide826.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5.xml"/></Relationships>
</file>

<file path=ppt/slides/_rels/slide827.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8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9.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5.xml"/></Relationships>
</file>

<file path=ppt/slides/_rels/slide830.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8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5.xml"/></Relationships>
</file>

<file path=ppt/slides/_rels/slide8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4.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835.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836.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837.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8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3.xml.rels><?xml version="1.0" encoding="UTF-8" standalone="yes"?>
<Relationships xmlns="http://schemas.openxmlformats.org/package/2006/relationships"><Relationship Id="rId2" Type="http://schemas.openxmlformats.org/officeDocument/2006/relationships/image" Target="../media/image133.jpeg"/><Relationship Id="rId1" Type="http://schemas.openxmlformats.org/officeDocument/2006/relationships/slideLayout" Target="../slideLayouts/slideLayout8.xml"/></Relationships>
</file>

<file path=ppt/slides/_rels/slide844.xml.rels><?xml version="1.0" encoding="UTF-8" standalone="yes"?>
<Relationships xmlns="http://schemas.openxmlformats.org/package/2006/relationships"><Relationship Id="rId2" Type="http://schemas.openxmlformats.org/officeDocument/2006/relationships/image" Target="../media/image133.jpeg"/><Relationship Id="rId1" Type="http://schemas.openxmlformats.org/officeDocument/2006/relationships/slideLayout" Target="../slideLayouts/slideLayout8.xml"/></Relationships>
</file>

<file path=ppt/slides/_rels/slide845.xml.rels><?xml version="1.0" encoding="UTF-8" standalone="yes"?>
<Relationships xmlns="http://schemas.openxmlformats.org/package/2006/relationships"><Relationship Id="rId2" Type="http://schemas.openxmlformats.org/officeDocument/2006/relationships/image" Target="../media/image134.emf"/><Relationship Id="rId1" Type="http://schemas.openxmlformats.org/officeDocument/2006/relationships/slideLayout" Target="../slideLayouts/slideLayout8.xml"/></Relationships>
</file>

<file path=ppt/slides/_rels/slide8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851.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5.xml"/></Relationships>
</file>

<file path=ppt/slides/_rels/slide8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3.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7.xml"/></Relationships>
</file>

<file path=ppt/slides/_rels/slide8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5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8.xml"/></Relationships>
</file>

<file path=ppt/slides/_rels/slide85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8.xml"/></Relationships>
</file>

<file path=ppt/slides/_rels/slide857.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8.xml"/></Relationships>
</file>

<file path=ppt/slides/_rels/slide858.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5.png"/><Relationship Id="rId1" Type="http://schemas.openxmlformats.org/officeDocument/2006/relationships/slideLayout" Target="../slideLayouts/slideLayout8.xml"/></Relationships>
</file>

<file path=ppt/slides/_rels/slide8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1.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image" Target="../media/image83.jpeg"/><Relationship Id="rId1" Type="http://schemas.openxmlformats.org/officeDocument/2006/relationships/slideLayout" Target="../slideLayouts/slideLayout7.xml"/></Relationships>
</file>

<file path=ppt/slides/_rels/slide8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4.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6.png"/><Relationship Id="rId1" Type="http://schemas.openxmlformats.org/officeDocument/2006/relationships/slideLayout" Target="../slideLayouts/slideLayout7.xml"/></Relationships>
</file>

<file path=ppt/slides/_rels/slide8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5.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4.xml"/></Relationships>
</file>

<file path=ppt/slides/_rels/slide876.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4.xml"/></Relationships>
</file>

<file path=ppt/slides/_rels/slide8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AE697-523A-C3B2-AC10-97F4059A0BD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C04DBA2-4624-EA8E-37F3-C546846699D6}"/>
              </a:ext>
            </a:extLst>
          </p:cNvPr>
          <p:cNvSpPr>
            <a:spLocks noGrp="1"/>
          </p:cNvSpPr>
          <p:nvPr>
            <p:ph type="title"/>
          </p:nvPr>
        </p:nvSpPr>
        <p:spPr>
          <a:xfrm>
            <a:off x="457200" y="254916"/>
            <a:ext cx="8229600" cy="1893924"/>
          </a:xfrm>
        </p:spPr>
        <p:txBody>
          <a:bodyPr/>
          <a:lstStyle/>
          <a:p>
            <a:r>
              <a:rPr lang="en-US" sz="8800"/>
              <a:t>Week07</a:t>
            </a:r>
          </a:p>
        </p:txBody>
      </p:sp>
      <p:sp>
        <p:nvSpPr>
          <p:cNvPr id="6" name="Content Placeholder 5">
            <a:extLst>
              <a:ext uri="{FF2B5EF4-FFF2-40B4-BE49-F238E27FC236}">
                <a16:creationId xmlns:a16="http://schemas.microsoft.com/office/drawing/2014/main" id="{7D408A3A-582E-3B72-115F-6C44A3091F98}"/>
              </a:ext>
            </a:extLst>
          </p:cNvPr>
          <p:cNvSpPr>
            <a:spLocks noGrp="1"/>
          </p:cNvSpPr>
          <p:nvPr>
            <p:ph sz="quarter" idx="10"/>
          </p:nvPr>
        </p:nvSpPr>
        <p:spPr>
          <a:xfrm>
            <a:off x="457200" y="1993732"/>
            <a:ext cx="8229600" cy="2894013"/>
          </a:xfrm>
        </p:spPr>
        <p:txBody>
          <a:bodyPr>
            <a:noAutofit/>
          </a:bodyPr>
          <a:lstStyle/>
          <a:p>
            <a:r>
              <a:rPr lang="en-US" sz="2400"/>
              <a:t>map (dictionary, table) interface</a:t>
            </a:r>
          </a:p>
        </p:txBody>
      </p:sp>
      <p:sp>
        <p:nvSpPr>
          <p:cNvPr id="13" name="TextBox 12">
            <a:extLst>
              <a:ext uri="{FF2B5EF4-FFF2-40B4-BE49-F238E27FC236}">
                <a16:creationId xmlns:a16="http://schemas.microsoft.com/office/drawing/2014/main" id="{2577CF0A-9740-E612-DC3D-CEDDA3AC9F66}"/>
              </a:ext>
            </a:extLst>
          </p:cNvPr>
          <p:cNvSpPr txBox="1"/>
          <p:nvPr/>
        </p:nvSpPr>
        <p:spPr>
          <a:xfrm>
            <a:off x="238580" y="163856"/>
            <a:ext cx="5400494" cy="461665"/>
          </a:xfrm>
          <a:prstGeom prst="rect">
            <a:avLst/>
          </a:prstGeom>
          <a:noFill/>
        </p:spPr>
        <p:txBody>
          <a:bodyPr wrap="square" rtlCol="0">
            <a:spAutoFit/>
          </a:bodyPr>
          <a:lstStyle/>
          <a:p>
            <a:pPr algn="ctr"/>
            <a:r>
              <a:rPr lang="en-US" sz="2400">
                <a:solidFill>
                  <a:srgbClr val="000000"/>
                </a:solidFill>
                <a:ea typeface="Segoe UI Emoji" panose="020B0502040204020203" pitchFamily="34" charset="0"/>
              </a:rPr>
              <a:t>✨</a:t>
            </a:r>
            <a:r>
              <a:rPr lang="en-US" sz="2400" b="1">
                <a:solidFill>
                  <a:srgbClr val="F80B8D"/>
                </a:solidFill>
                <a:ea typeface="Segoe UI Emoji" panose="020B0502040204020203" pitchFamily="34" charset="0"/>
              </a:rPr>
              <a:t>Today is No Laptop</a:t>
            </a:r>
            <a:r>
              <a:rPr lang="en-US" sz="2400" b="1">
                <a:solidFill>
                  <a:srgbClr val="F80B8D"/>
                </a:solidFill>
              </a:rPr>
              <a:t> Monday!</a:t>
            </a:r>
            <a:r>
              <a:rPr lang="en-US" sz="2400">
                <a:solidFill>
                  <a:srgbClr val="000000"/>
                </a:solidFill>
                <a:ea typeface="Segoe UI Emoji" panose="020B0502040204020203" pitchFamily="34" charset="0"/>
              </a:rPr>
              <a:t> ✨</a:t>
            </a:r>
          </a:p>
        </p:txBody>
      </p:sp>
      <p:sp>
        <p:nvSpPr>
          <p:cNvPr id="10" name="TextBox 9">
            <a:extLst>
              <a:ext uri="{FF2B5EF4-FFF2-40B4-BE49-F238E27FC236}">
                <a16:creationId xmlns:a16="http://schemas.microsoft.com/office/drawing/2014/main" id="{5294604B-AC11-D0D5-5780-D410FFD972A9}"/>
              </a:ext>
            </a:extLst>
          </p:cNvPr>
          <p:cNvSpPr txBox="1"/>
          <p:nvPr/>
        </p:nvSpPr>
        <p:spPr>
          <a:xfrm>
            <a:off x="335041" y="2693348"/>
            <a:ext cx="8498943" cy="2062103"/>
          </a:xfrm>
          <a:prstGeom prst="rect">
            <a:avLst/>
          </a:prstGeom>
          <a:solidFill>
            <a:schemeClr val="accent3">
              <a:lumMod val="40000"/>
              <a:lumOff val="60000"/>
            </a:schemeClr>
          </a:solidFill>
          <a:ln>
            <a:solidFill>
              <a:schemeClr val="tx1"/>
            </a:solidFill>
          </a:ln>
        </p:spPr>
        <p:txBody>
          <a:bodyPr wrap="square" rtlCol="0">
            <a:spAutoFit/>
          </a:bodyPr>
          <a:lstStyle/>
          <a:p>
            <a:pPr algn="ctr"/>
            <a:r>
              <a:rPr lang="en-US" sz="3200" b="1">
                <a:cs typeface="Consolas" panose="020B0609020204030204" pitchFamily="49" charset="0"/>
              </a:rPr>
              <a:t>WARMUP</a:t>
            </a:r>
            <a:endParaRPr lang="en-US" sz="2400" b="1">
              <a:cs typeface="Consolas" panose="020B0609020204030204" pitchFamily="49" charset="0"/>
            </a:endParaRPr>
          </a:p>
          <a:p>
            <a:r>
              <a:rPr lang="en-US" sz="2400">
                <a:sym typeface="Wingdings" pitchFamily="2" charset="2"/>
              </a:rPr>
              <a:t>long, long, ago, many people owned a large, physical book called a </a:t>
            </a:r>
            <a:r>
              <a:rPr kumimoji="0" lang="en-US" sz="2000" b="0" i="0" u="none" strike="noStrike" kern="1200" cap="none" spc="0" normalizeH="0" baseline="0" noProof="0">
                <a:ln>
                  <a:noFill/>
                </a:ln>
                <a:effectLst/>
                <a:uLnTx/>
                <a:uFillTx/>
                <a:latin typeface="Arial"/>
                <a:ea typeface="Segoe UI Emoji" panose="020B0502040204020203" pitchFamily="34" charset="0"/>
                <a:cs typeface="+mj-cs"/>
              </a:rPr>
              <a:t>✨</a:t>
            </a:r>
            <a:r>
              <a:rPr kumimoji="0" lang="en-US" sz="2400" b="0" i="0" u="none" strike="noStrike" kern="1200" cap="none" spc="0" normalizeH="0" baseline="0" noProof="0">
                <a:ln>
                  <a:noFill/>
                </a:ln>
                <a:effectLst/>
                <a:uLnTx/>
                <a:uFillTx/>
                <a:latin typeface="Arial"/>
                <a:ea typeface="Segoe UI Emoji" panose="020B0502040204020203" pitchFamily="34" charset="0"/>
                <a:cs typeface="+mj-cs"/>
                <a:sym typeface="Wingdings" pitchFamily="2" charset="2"/>
              </a:rPr>
              <a:t>d</a:t>
            </a:r>
            <a:r>
              <a:rPr lang="en-US" sz="2400">
                <a:sym typeface="Wingdings" pitchFamily="2" charset="2"/>
              </a:rPr>
              <a:t>ictionary</a:t>
            </a:r>
            <a:r>
              <a:rPr kumimoji="0" lang="en-US" sz="2400" b="0" i="0" u="none" strike="noStrike" kern="1200" cap="none" spc="0" normalizeH="0" baseline="0" noProof="0">
                <a:ln>
                  <a:noFill/>
                </a:ln>
                <a:effectLst/>
                <a:uLnTx/>
                <a:uFillTx/>
                <a:latin typeface="Arial"/>
                <a:ea typeface="Segoe UI Emoji" panose="020B0502040204020203" pitchFamily="34" charset="0"/>
                <a:cs typeface="+mj-cs"/>
              </a:rPr>
              <a:t>✨</a:t>
            </a:r>
            <a:endParaRPr lang="en-US" sz="2400">
              <a:sym typeface="Wingdings" pitchFamily="2" charset="2"/>
            </a:endParaRPr>
          </a:p>
          <a:p>
            <a:r>
              <a:rPr lang="en-US" sz="2400">
                <a:sym typeface="Wingdings" pitchFamily="2" charset="2"/>
              </a:rPr>
              <a:t>    - what was it used for?</a:t>
            </a:r>
          </a:p>
          <a:p>
            <a:r>
              <a:rPr lang="en-US" sz="2400">
                <a:sym typeface="Wingdings" pitchFamily="2" charset="2"/>
              </a:rPr>
              <a:t>    - did you know there were different kinds of dictionaries?</a:t>
            </a:r>
          </a:p>
        </p:txBody>
      </p:sp>
      <p:grpSp>
        <p:nvGrpSpPr>
          <p:cNvPr id="17" name="Group 16">
            <a:extLst>
              <a:ext uri="{FF2B5EF4-FFF2-40B4-BE49-F238E27FC236}">
                <a16:creationId xmlns:a16="http://schemas.microsoft.com/office/drawing/2014/main" id="{8B901C22-D407-73D3-381A-C585CD93F1B0}"/>
              </a:ext>
            </a:extLst>
          </p:cNvPr>
          <p:cNvGrpSpPr/>
          <p:nvPr/>
        </p:nvGrpSpPr>
        <p:grpSpPr>
          <a:xfrm rot="18000000">
            <a:off x="6406564" y="-684318"/>
            <a:ext cx="1644604" cy="3764538"/>
            <a:chOff x="8052482" y="242908"/>
            <a:chExt cx="1020050" cy="2334918"/>
          </a:xfrm>
        </p:grpSpPr>
        <p:sp>
          <p:nvSpPr>
            <p:cNvPr id="9" name="TextBox 8">
              <a:extLst>
                <a:ext uri="{FF2B5EF4-FFF2-40B4-BE49-F238E27FC236}">
                  <a16:creationId xmlns:a16="http://schemas.microsoft.com/office/drawing/2014/main" id="{5402B338-5028-E7AB-9FB9-5C32465CB44B}"/>
                </a:ext>
              </a:extLst>
            </p:cNvPr>
            <p:cNvSpPr txBox="1"/>
            <p:nvPr/>
          </p:nvSpPr>
          <p:spPr>
            <a:xfrm>
              <a:off x="8052482" y="242908"/>
              <a:ext cx="454075" cy="629954"/>
            </a:xfrm>
            <a:prstGeom prst="rect">
              <a:avLst/>
            </a:prstGeom>
            <a:noFill/>
          </p:spPr>
          <p:txBody>
            <a:bodyPr wrap="square">
              <a:spAutoFit/>
            </a:bodyPr>
            <a:lstStyle/>
            <a:p>
              <a:pPr algn="ctr"/>
              <a:r>
                <a:rPr kumimoji="0" lang="en-US" sz="6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6000"/>
            </a:p>
          </p:txBody>
        </p:sp>
        <p:sp>
          <p:nvSpPr>
            <p:cNvPr id="5" name="TextBox 4">
              <a:extLst>
                <a:ext uri="{FF2B5EF4-FFF2-40B4-BE49-F238E27FC236}">
                  <a16:creationId xmlns:a16="http://schemas.microsoft.com/office/drawing/2014/main" id="{109D0DEC-443B-951A-B46E-1419C0B20808}"/>
                </a:ext>
              </a:extLst>
            </p:cNvPr>
            <p:cNvSpPr txBox="1"/>
            <p:nvPr/>
          </p:nvSpPr>
          <p:spPr>
            <a:xfrm rot="2674879">
              <a:off x="8220077" y="337020"/>
              <a:ext cx="454075" cy="687223"/>
            </a:xfrm>
            <a:prstGeom prst="rect">
              <a:avLst/>
            </a:prstGeom>
            <a:noFill/>
          </p:spPr>
          <p:txBody>
            <a:bodyPr wrap="square">
              <a:spAutoFit/>
            </a:bodyPr>
            <a:lstStyle/>
            <a:p>
              <a:pPr algn="ctr"/>
              <a:r>
                <a:rPr kumimoji="0" lang="en-US" sz="66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6600"/>
            </a:p>
          </p:txBody>
        </p:sp>
        <p:sp>
          <p:nvSpPr>
            <p:cNvPr id="7" name="TextBox 6">
              <a:extLst>
                <a:ext uri="{FF2B5EF4-FFF2-40B4-BE49-F238E27FC236}">
                  <a16:creationId xmlns:a16="http://schemas.microsoft.com/office/drawing/2014/main" id="{5E7D7A13-CD0C-5B93-BE89-619E7524FFC8}"/>
                </a:ext>
              </a:extLst>
            </p:cNvPr>
            <p:cNvSpPr txBox="1"/>
            <p:nvPr/>
          </p:nvSpPr>
          <p:spPr>
            <a:xfrm rot="4734159">
              <a:off x="8354806" y="547508"/>
              <a:ext cx="454075" cy="744492"/>
            </a:xfrm>
            <a:prstGeom prst="rect">
              <a:avLst/>
            </a:prstGeom>
            <a:noFill/>
          </p:spPr>
          <p:txBody>
            <a:bodyPr wrap="square">
              <a:spAutoFit/>
            </a:bodyPr>
            <a:lstStyle/>
            <a:p>
              <a:pPr algn="ctr"/>
              <a:r>
                <a:rPr kumimoji="0" lang="en-US" sz="72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7200"/>
            </a:p>
          </p:txBody>
        </p:sp>
        <p:sp>
          <p:nvSpPr>
            <p:cNvPr id="11" name="TextBox 10">
              <a:extLst>
                <a:ext uri="{FF2B5EF4-FFF2-40B4-BE49-F238E27FC236}">
                  <a16:creationId xmlns:a16="http://schemas.microsoft.com/office/drawing/2014/main" id="{12D7F9D1-9B74-6712-DC13-F82B161268AE}"/>
                </a:ext>
              </a:extLst>
            </p:cNvPr>
            <p:cNvSpPr txBox="1"/>
            <p:nvPr/>
          </p:nvSpPr>
          <p:spPr>
            <a:xfrm rot="5792460">
              <a:off x="8427583" y="787743"/>
              <a:ext cx="454075" cy="820850"/>
            </a:xfrm>
            <a:prstGeom prst="rect">
              <a:avLst/>
            </a:prstGeom>
            <a:noFill/>
          </p:spPr>
          <p:txBody>
            <a:bodyPr wrap="square">
              <a:spAutoFit/>
            </a:bodyPr>
            <a:lstStyle/>
            <a:p>
              <a:pPr algn="ctr"/>
              <a:r>
                <a:rPr kumimoji="0" lang="en-US" sz="8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8000"/>
            </a:p>
          </p:txBody>
        </p:sp>
        <p:sp>
          <p:nvSpPr>
            <p:cNvPr id="14" name="TextBox 13">
              <a:extLst>
                <a:ext uri="{FF2B5EF4-FFF2-40B4-BE49-F238E27FC236}">
                  <a16:creationId xmlns:a16="http://schemas.microsoft.com/office/drawing/2014/main" id="{40343517-ACDB-AD25-C188-7C73B068ADD5}"/>
                </a:ext>
              </a:extLst>
            </p:cNvPr>
            <p:cNvSpPr txBox="1"/>
            <p:nvPr/>
          </p:nvSpPr>
          <p:spPr>
            <a:xfrm rot="7627788">
              <a:off x="8396890" y="1022167"/>
              <a:ext cx="454075" cy="897208"/>
            </a:xfrm>
            <a:prstGeom prst="rect">
              <a:avLst/>
            </a:prstGeom>
            <a:noFill/>
          </p:spPr>
          <p:txBody>
            <a:bodyPr wrap="square">
              <a:spAutoFit/>
            </a:bodyPr>
            <a:lstStyle/>
            <a:p>
              <a:pPr algn="ctr"/>
              <a:r>
                <a:rPr kumimoji="0" lang="en-US" sz="8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8800"/>
            </a:p>
          </p:txBody>
        </p:sp>
        <p:sp>
          <p:nvSpPr>
            <p:cNvPr id="15" name="TextBox 14">
              <a:extLst>
                <a:ext uri="{FF2B5EF4-FFF2-40B4-BE49-F238E27FC236}">
                  <a16:creationId xmlns:a16="http://schemas.microsoft.com/office/drawing/2014/main" id="{844D9120-8251-E16F-199D-2F678A264C8D}"/>
                </a:ext>
              </a:extLst>
            </p:cNvPr>
            <p:cNvSpPr txBox="1"/>
            <p:nvPr/>
          </p:nvSpPr>
          <p:spPr>
            <a:xfrm rot="8936788">
              <a:off x="8278351" y="1260649"/>
              <a:ext cx="454075" cy="973565"/>
            </a:xfrm>
            <a:prstGeom prst="rect">
              <a:avLst/>
            </a:prstGeom>
            <a:noFill/>
          </p:spPr>
          <p:txBody>
            <a:bodyPr wrap="square">
              <a:spAutoFit/>
            </a:bodyPr>
            <a:lstStyle/>
            <a:p>
              <a:pPr algn="ctr"/>
              <a:r>
                <a:rPr kumimoji="0" lang="en-US" sz="96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9600"/>
            </a:p>
          </p:txBody>
        </p:sp>
        <p:sp>
          <p:nvSpPr>
            <p:cNvPr id="16" name="TextBox 15">
              <a:extLst>
                <a:ext uri="{FF2B5EF4-FFF2-40B4-BE49-F238E27FC236}">
                  <a16:creationId xmlns:a16="http://schemas.microsoft.com/office/drawing/2014/main" id="{F8C9F61C-1B49-570D-D3DD-210364D00E91}"/>
                </a:ext>
              </a:extLst>
            </p:cNvPr>
            <p:cNvSpPr txBox="1"/>
            <p:nvPr/>
          </p:nvSpPr>
          <p:spPr>
            <a:xfrm rot="10343958">
              <a:off x="8063867" y="1422910"/>
              <a:ext cx="454075" cy="1154916"/>
            </a:xfrm>
            <a:prstGeom prst="rect">
              <a:avLst/>
            </a:prstGeom>
            <a:noFill/>
          </p:spPr>
          <p:txBody>
            <a:bodyPr wrap="square">
              <a:spAutoFit/>
            </a:bodyPr>
            <a:lstStyle/>
            <a:p>
              <a:pPr algn="ctr"/>
              <a:r>
                <a:rPr kumimoji="0" lang="en-US" sz="115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500"/>
            </a:p>
          </p:txBody>
        </p:sp>
      </p:grpSp>
      <p:sp>
        <p:nvSpPr>
          <p:cNvPr id="18" name="TextBox 17">
            <a:extLst>
              <a:ext uri="{FF2B5EF4-FFF2-40B4-BE49-F238E27FC236}">
                <a16:creationId xmlns:a16="http://schemas.microsoft.com/office/drawing/2014/main" id="{72D0AC9F-1E40-BCC7-0E73-8809E1F6DFF9}"/>
              </a:ext>
            </a:extLst>
          </p:cNvPr>
          <p:cNvSpPr txBox="1"/>
          <p:nvPr/>
        </p:nvSpPr>
        <p:spPr>
          <a:xfrm>
            <a:off x="5987247" y="97206"/>
            <a:ext cx="4368304" cy="369332"/>
          </a:xfrm>
          <a:prstGeom prst="rect">
            <a:avLst/>
          </a:prstGeom>
          <a:noFill/>
        </p:spPr>
        <p:txBody>
          <a:bodyPr wrap="square" rtlCol="0">
            <a:spAutoFit/>
          </a:bodyPr>
          <a:lstStyle/>
          <a:p>
            <a:pPr algn="ctr"/>
            <a:r>
              <a:rPr lang="en-US">
                <a:solidFill>
                  <a:srgbClr val="F80B8D"/>
                </a:solidFill>
                <a:ea typeface="Segoe UI Emoji" panose="020B0502040204020203" pitchFamily="34" charset="0"/>
              </a:rPr>
              <a:t>hi Steve!</a:t>
            </a:r>
          </a:p>
        </p:txBody>
      </p:sp>
    </p:spTree>
    <p:extLst>
      <p:ext uri="{BB962C8B-B14F-4D97-AF65-F5344CB8AC3E}">
        <p14:creationId xmlns:p14="http://schemas.microsoft.com/office/powerpoint/2010/main" val="24800767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4DBA0D-B0CC-629D-88FA-84EDCEEB2622}"/>
              </a:ext>
            </a:extLst>
          </p:cNvPr>
          <p:cNvSpPr>
            <a:spLocks noGrp="1"/>
          </p:cNvSpPr>
          <p:nvPr>
            <p:ph type="title"/>
          </p:nvPr>
        </p:nvSpPr>
        <p:spPr/>
        <p:txBody>
          <a:bodyPr/>
          <a:lstStyle/>
          <a:p>
            <a:r>
              <a:rPr lang="en-US" sz="5400"/>
              <a:t>real-world dictionaries</a:t>
            </a:r>
            <a:br>
              <a:rPr lang="en-US" sz="5400"/>
            </a:br>
            <a:r>
              <a:rPr lang="en-US" sz="3200" b="1"/>
              <a:t>note:</a:t>
            </a:r>
            <a:r>
              <a:rPr lang="en-US" sz="3200"/>
              <a:t> these are NOT hash maps</a:t>
            </a:r>
            <a:br>
              <a:rPr lang="en-US" sz="3200"/>
            </a:br>
            <a:r>
              <a:rPr lang="en-US" sz="2800"/>
              <a:t>(hash maps are NOT ordered)</a:t>
            </a:r>
            <a:endParaRPr lang="en-US"/>
          </a:p>
        </p:txBody>
      </p:sp>
    </p:spTree>
    <p:extLst>
      <p:ext uri="{BB962C8B-B14F-4D97-AF65-F5344CB8AC3E}">
        <p14:creationId xmlns:p14="http://schemas.microsoft.com/office/powerpoint/2010/main" val="97851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C0517-6813-B881-154E-5785FCDBE2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CC9D9D6-B304-0E28-01BD-867E2EAABF41}"/>
              </a:ext>
            </a:extLst>
          </p:cNvPr>
          <p:cNvSpPr txBox="1"/>
          <p:nvPr/>
        </p:nvSpPr>
        <p:spPr>
          <a:xfrm>
            <a:off x="1430968" y="753370"/>
            <a:ext cx="7901799" cy="707886"/>
          </a:xfrm>
          <a:prstGeom prst="rect">
            <a:avLst/>
          </a:prstGeom>
          <a:noFill/>
        </p:spPr>
        <p:txBody>
          <a:bodyPr wrap="square" rtlCol="0">
            <a:spAutoFit/>
          </a:bodyPr>
          <a:lstStyle/>
          <a:p>
            <a:r>
              <a:rPr lang="en-US" sz="2000">
                <a:solidFill>
                  <a:srgbClr val="000080"/>
                </a:solidFill>
                <a:latin typeface="+mj-lt"/>
              </a:rPr>
              <a:t>Map</a:t>
            </a:r>
            <a:r>
              <a:rPr lang="en-US" sz="2000">
                <a:latin typeface="+mj-lt"/>
              </a:rPr>
              <a:t>&lt;</a:t>
            </a:r>
            <a:r>
              <a:rPr lang="en-US" sz="2000">
                <a:solidFill>
                  <a:srgbClr val="000080"/>
                </a:solidFill>
                <a:latin typeface="+mj-lt"/>
              </a:rPr>
              <a:t>String</a:t>
            </a:r>
            <a:r>
              <a:rPr lang="en-US" sz="2000">
                <a:latin typeface="+mj-lt"/>
              </a:rPr>
              <a:t>, </a:t>
            </a:r>
            <a:r>
              <a:rPr lang="en-US" sz="2000">
                <a:solidFill>
                  <a:srgbClr val="000080"/>
                </a:solidFill>
                <a:latin typeface="+mj-lt"/>
              </a:rPr>
              <a:t>String</a:t>
            </a:r>
            <a:r>
              <a:rPr lang="en-US" sz="2000">
                <a:latin typeface="+mj-lt"/>
              </a:rPr>
              <a:t>&gt; dictionary;</a:t>
            </a:r>
          </a:p>
          <a:p>
            <a:pPr lvl="0"/>
            <a:r>
              <a:rPr lang="en-US" sz="2000">
                <a:solidFill>
                  <a:srgbClr val="007B00"/>
                </a:solidFill>
                <a:latin typeface="Consolas"/>
              </a:rPr>
              <a:t>// {Dog=A cute, four-legged mammal, </a:t>
            </a:r>
            <a:r>
              <a:rPr lang="en-US" sz="2000">
                <a:solidFill>
                  <a:srgbClr val="BFBFBF"/>
                </a:solidFill>
                <a:latin typeface="Consolas"/>
              </a:rPr>
              <a:t>...</a:t>
            </a:r>
            <a:r>
              <a:rPr lang="en-US" sz="2000">
                <a:solidFill>
                  <a:srgbClr val="007B00"/>
                </a:solidFill>
                <a:latin typeface="Consolas"/>
              </a:rPr>
              <a:t>}</a:t>
            </a:r>
          </a:p>
        </p:txBody>
      </p:sp>
      <p:sp>
        <p:nvSpPr>
          <p:cNvPr id="4" name="TextBox 3">
            <a:extLst>
              <a:ext uri="{FF2B5EF4-FFF2-40B4-BE49-F238E27FC236}">
                <a16:creationId xmlns:a16="http://schemas.microsoft.com/office/drawing/2014/main" id="{13A5D0BD-53B5-D627-B54F-3AE86AE73E98}"/>
              </a:ext>
            </a:extLst>
          </p:cNvPr>
          <p:cNvSpPr txBox="1"/>
          <p:nvPr/>
        </p:nvSpPr>
        <p:spPr>
          <a:xfrm>
            <a:off x="1430969" y="2235436"/>
            <a:ext cx="7477018" cy="707886"/>
          </a:xfrm>
          <a:prstGeom prst="rect">
            <a:avLst/>
          </a:prstGeom>
          <a:noFill/>
        </p:spPr>
        <p:txBody>
          <a:bodyPr wrap="square" rtlCol="0">
            <a:spAutoFit/>
          </a:bodyPr>
          <a:lstStyle/>
          <a:p>
            <a:r>
              <a:rPr lang="en-US" sz="2000">
                <a:solidFill>
                  <a:srgbClr val="000080"/>
                </a:solidFill>
                <a:latin typeface="+mj-lt"/>
              </a:rPr>
              <a:t>Map</a:t>
            </a:r>
            <a:r>
              <a:rPr lang="en-US" sz="2000">
                <a:latin typeface="+mj-lt"/>
              </a:rPr>
              <a:t>&lt;</a:t>
            </a:r>
            <a:r>
              <a:rPr lang="en-US" sz="2000">
                <a:solidFill>
                  <a:srgbClr val="000080"/>
                </a:solidFill>
                <a:latin typeface="+mj-lt"/>
              </a:rPr>
              <a:t>String</a:t>
            </a:r>
            <a:r>
              <a:rPr lang="en-US" sz="2000">
                <a:latin typeface="+mj-lt"/>
              </a:rPr>
              <a:t>, </a:t>
            </a:r>
            <a:r>
              <a:rPr lang="en-US" sz="2000">
                <a:solidFill>
                  <a:srgbClr val="000080"/>
                </a:solidFill>
                <a:latin typeface="+mj-lt"/>
              </a:rPr>
              <a:t>String</a:t>
            </a:r>
            <a:r>
              <a:rPr lang="en-US" sz="2000">
                <a:latin typeface="+mj-lt"/>
              </a:rPr>
              <a:t>&gt; spanish</a:t>
            </a:r>
            <a:r>
              <a:rPr lang="en-US" sz="2000" err="1">
                <a:latin typeface="+mj-lt"/>
              </a:rPr>
              <a:t>ToEnglishDictionary</a:t>
            </a:r>
            <a:r>
              <a:rPr lang="en-US" sz="2000">
                <a:latin typeface="+mj-lt"/>
              </a:rPr>
              <a:t>;</a:t>
            </a:r>
          </a:p>
          <a:p>
            <a:r>
              <a:rPr lang="en-US" sz="2000">
                <a:solidFill>
                  <a:srgbClr val="007B00"/>
                </a:solidFill>
                <a:latin typeface="+mj-lt"/>
              </a:rPr>
              <a:t>// {</a:t>
            </a:r>
            <a:r>
              <a:rPr lang="en-US" sz="2000" err="1">
                <a:solidFill>
                  <a:srgbClr val="007B00"/>
                </a:solidFill>
                <a:latin typeface="Consolas"/>
              </a:rPr>
              <a:t>Gato</a:t>
            </a:r>
            <a:r>
              <a:rPr lang="en-US" sz="2000">
                <a:solidFill>
                  <a:srgbClr val="007B00"/>
                </a:solidFill>
                <a:latin typeface="Consolas"/>
              </a:rPr>
              <a:t>=Cat, </a:t>
            </a:r>
            <a:r>
              <a:rPr lang="en-US" sz="2000" err="1">
                <a:solidFill>
                  <a:srgbClr val="007B00"/>
                </a:solidFill>
                <a:latin typeface="+mj-lt"/>
              </a:rPr>
              <a:t>Perro</a:t>
            </a:r>
            <a:r>
              <a:rPr lang="en-US" sz="2000">
                <a:solidFill>
                  <a:srgbClr val="007B00"/>
                </a:solidFill>
                <a:latin typeface="+mj-lt"/>
              </a:rPr>
              <a:t>=Dog, </a:t>
            </a:r>
            <a:r>
              <a:rPr lang="en-US" sz="2000">
                <a:solidFill>
                  <a:srgbClr val="BFBFBF"/>
                </a:solidFill>
                <a:latin typeface="+mj-lt"/>
              </a:rPr>
              <a:t>...</a:t>
            </a:r>
            <a:r>
              <a:rPr lang="en-US" sz="2000">
                <a:solidFill>
                  <a:srgbClr val="007B00"/>
                </a:solidFill>
                <a:latin typeface="+mj-lt"/>
              </a:rPr>
              <a:t>}</a:t>
            </a:r>
          </a:p>
        </p:txBody>
      </p:sp>
      <p:sp>
        <p:nvSpPr>
          <p:cNvPr id="5" name="TextBox 4">
            <a:extLst>
              <a:ext uri="{FF2B5EF4-FFF2-40B4-BE49-F238E27FC236}">
                <a16:creationId xmlns:a16="http://schemas.microsoft.com/office/drawing/2014/main" id="{231F0C88-EC21-8A82-FA8E-6A7AA36BC298}"/>
              </a:ext>
            </a:extLst>
          </p:cNvPr>
          <p:cNvSpPr txBox="1"/>
          <p:nvPr/>
        </p:nvSpPr>
        <p:spPr>
          <a:xfrm>
            <a:off x="1430968" y="3784389"/>
            <a:ext cx="7767963" cy="707886"/>
          </a:xfrm>
          <a:prstGeom prst="rect">
            <a:avLst/>
          </a:prstGeom>
          <a:noFill/>
        </p:spPr>
        <p:txBody>
          <a:bodyPr wrap="square" rtlCol="0">
            <a:spAutoFit/>
          </a:bodyPr>
          <a:lstStyle/>
          <a:p>
            <a:r>
              <a:rPr lang="en-US" sz="2000">
                <a:solidFill>
                  <a:srgbClr val="000080"/>
                </a:solidFill>
                <a:latin typeface="+mj-lt"/>
              </a:rPr>
              <a:t>Map</a:t>
            </a:r>
            <a:r>
              <a:rPr lang="en-US" sz="2000">
                <a:latin typeface="+mj-lt"/>
              </a:rPr>
              <a:t>&lt;</a:t>
            </a:r>
            <a:r>
              <a:rPr lang="en-US" sz="2000">
                <a:solidFill>
                  <a:srgbClr val="000080"/>
                </a:solidFill>
                <a:latin typeface="+mj-lt"/>
              </a:rPr>
              <a:t>String</a:t>
            </a:r>
            <a:r>
              <a:rPr lang="en-US" sz="2000">
                <a:latin typeface="+mj-lt"/>
              </a:rPr>
              <a:t>, </a:t>
            </a:r>
            <a:r>
              <a:rPr lang="en-US" sz="2000" err="1">
                <a:solidFill>
                  <a:srgbClr val="000080"/>
                </a:solidFill>
                <a:latin typeface="+mj-lt"/>
              </a:rPr>
              <a:t>List</a:t>
            </a:r>
            <a:r>
              <a:rPr lang="en-US" sz="2000">
                <a:latin typeface="+mj-lt"/>
              </a:rPr>
              <a:t>&lt;</a:t>
            </a:r>
            <a:r>
              <a:rPr lang="en-US" sz="2000">
                <a:solidFill>
                  <a:srgbClr val="000080"/>
                </a:solidFill>
                <a:latin typeface="+mj-lt"/>
              </a:rPr>
              <a:t>String&gt;</a:t>
            </a:r>
            <a:r>
              <a:rPr lang="en-US" sz="2000">
                <a:latin typeface="+mj-lt"/>
              </a:rPr>
              <a:t>&gt; </a:t>
            </a:r>
            <a:r>
              <a:rPr lang="en-US" sz="2000" err="1">
                <a:latin typeface="+mj-lt"/>
              </a:rPr>
              <a:t>rhymingDictionary</a:t>
            </a:r>
            <a:r>
              <a:rPr lang="en-US" sz="2000">
                <a:latin typeface="+mj-lt"/>
              </a:rPr>
              <a:t>;</a:t>
            </a:r>
          </a:p>
          <a:p>
            <a:pPr lvl="0"/>
            <a:r>
              <a:rPr lang="en-US" sz="2000">
                <a:solidFill>
                  <a:srgbClr val="007B00"/>
                </a:solidFill>
                <a:latin typeface="Consolas"/>
              </a:rPr>
              <a:t>// {Dog=[Bog, Cog, Frog], </a:t>
            </a:r>
            <a:r>
              <a:rPr lang="en-US" sz="2000">
                <a:solidFill>
                  <a:srgbClr val="BFBFBF"/>
                </a:solidFill>
                <a:latin typeface="Consolas"/>
              </a:rPr>
              <a:t>...</a:t>
            </a:r>
            <a:r>
              <a:rPr lang="en-US" sz="2000">
                <a:solidFill>
                  <a:srgbClr val="007B00"/>
                </a:solidFill>
                <a:latin typeface="Consolas"/>
              </a:rPr>
              <a:t>}</a:t>
            </a:r>
          </a:p>
        </p:txBody>
      </p:sp>
      <p:pic>
        <p:nvPicPr>
          <p:cNvPr id="1026" name="Picture 2" descr="Websters Dictionary Of The English Language - Office Depot">
            <a:extLst>
              <a:ext uri="{FF2B5EF4-FFF2-40B4-BE49-F238E27FC236}">
                <a16:creationId xmlns:a16="http://schemas.microsoft.com/office/drawing/2014/main" id="{747D7456-9B45-DFE7-742D-71D12C0FF7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746" y="423669"/>
            <a:ext cx="1383557" cy="150730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mazon.com: Merriam-Webster Webster's Spanish-English Dictionary for  Students, Second Edition (English and Spanish Edition): 9781596951655:  Editors of Merriam-Webster, Merriam-Webster: Office Products">
            <a:extLst>
              <a:ext uri="{FF2B5EF4-FFF2-40B4-BE49-F238E27FC236}">
                <a16:creationId xmlns:a16="http://schemas.microsoft.com/office/drawing/2014/main" id="{5B0F2883-0C57-AA9F-148D-2797F057F6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733" y="1912715"/>
            <a:ext cx="995362" cy="148138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ebster's Rhyming Dictionary">
            <a:extLst>
              <a:ext uri="{FF2B5EF4-FFF2-40B4-BE49-F238E27FC236}">
                <a16:creationId xmlns:a16="http://schemas.microsoft.com/office/drawing/2014/main" id="{30BC96E1-0808-A343-41DC-17BA3F61C6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762" y="3479929"/>
            <a:ext cx="1507305" cy="1507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2582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EC13E-86B7-4ADD-E6A8-0DEE7E73152D}"/>
              </a:ext>
            </a:extLst>
          </p:cNvPr>
          <p:cNvSpPr>
            <a:spLocks noGrp="1"/>
          </p:cNvSpPr>
          <p:nvPr>
            <p:ph type="title"/>
          </p:nvPr>
        </p:nvSpPr>
        <p:spPr/>
        <p:txBody>
          <a:bodyPr/>
          <a:lstStyle/>
          <a:p>
            <a:r>
              <a:rPr lang="en-US"/>
              <a:t>common occurrence in ye olden times</a:t>
            </a:r>
          </a:p>
        </p:txBody>
      </p:sp>
      <p:sp>
        <p:nvSpPr>
          <p:cNvPr id="3" name="Content Placeholder 2">
            <a:extLst>
              <a:ext uri="{FF2B5EF4-FFF2-40B4-BE49-F238E27FC236}">
                <a16:creationId xmlns:a16="http://schemas.microsoft.com/office/drawing/2014/main" id="{0EF6932A-E567-1540-3996-B6BDE7903D97}"/>
              </a:ext>
            </a:extLst>
          </p:cNvPr>
          <p:cNvSpPr>
            <a:spLocks noGrp="1"/>
          </p:cNvSpPr>
          <p:nvPr>
            <p:ph sz="quarter" idx="10"/>
          </p:nvPr>
        </p:nvSpPr>
        <p:spPr/>
        <p:txBody>
          <a:bodyPr/>
          <a:lstStyle/>
          <a:p>
            <a:r>
              <a:rPr lang="en-US" b="1"/>
              <a:t>child:</a:t>
            </a:r>
            <a:r>
              <a:rPr lang="en-US"/>
              <a:t> "how do you spell trebuchet?"</a:t>
            </a:r>
          </a:p>
          <a:p>
            <a:r>
              <a:rPr lang="en-US" b="1"/>
              <a:t>parent:</a:t>
            </a:r>
            <a:r>
              <a:rPr lang="en-US"/>
              <a:t> "look it up in the dictionary."</a:t>
            </a:r>
          </a:p>
        </p:txBody>
      </p:sp>
    </p:spTree>
    <p:extLst>
      <p:ext uri="{BB962C8B-B14F-4D97-AF65-F5344CB8AC3E}">
        <p14:creationId xmlns:p14="http://schemas.microsoft.com/office/powerpoint/2010/main" val="1205197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CED89D-E422-1541-6A9A-55CC6BFBC409}"/>
              </a:ext>
            </a:extLst>
          </p:cNvPr>
          <p:cNvSpPr>
            <a:spLocks noGrp="1"/>
          </p:cNvSpPr>
          <p:nvPr>
            <p:ph type="title"/>
          </p:nvPr>
        </p:nvSpPr>
        <p:spPr/>
        <p:txBody>
          <a:bodyPr/>
          <a:lstStyle/>
          <a:p>
            <a:r>
              <a:rPr lang="en-US" sz="3600" b="1"/>
              <a:t>note: </a:t>
            </a:r>
            <a:r>
              <a:rPr lang="en-US" sz="3600"/>
              <a:t>this advice made no sense</a:t>
            </a:r>
          </a:p>
        </p:txBody>
      </p:sp>
    </p:spTree>
    <p:extLst>
      <p:ext uri="{BB962C8B-B14F-4D97-AF65-F5344CB8AC3E}">
        <p14:creationId xmlns:p14="http://schemas.microsoft.com/office/powerpoint/2010/main" val="2595984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5E2BA-525D-3F69-AEDA-9961B4D25C1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82698C-ECB4-0D0B-75BF-86328E9FF9C2}"/>
              </a:ext>
            </a:extLst>
          </p:cNvPr>
          <p:cNvSpPr>
            <a:spLocks noGrp="1"/>
          </p:cNvSpPr>
          <p:nvPr>
            <p:ph type="title"/>
          </p:nvPr>
        </p:nvSpPr>
        <p:spPr/>
        <p:txBody>
          <a:bodyPr/>
          <a:lstStyle/>
          <a:p>
            <a:r>
              <a:rPr lang="en-US" sz="2800"/>
              <a:t>unless...</a:t>
            </a:r>
          </a:p>
        </p:txBody>
      </p:sp>
    </p:spTree>
    <p:extLst>
      <p:ext uri="{BB962C8B-B14F-4D97-AF65-F5344CB8AC3E}">
        <p14:creationId xmlns:p14="http://schemas.microsoft.com/office/powerpoint/2010/main" val="3603300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F5FF8-3D34-F02E-6CE2-13BD56D4339C}"/>
            </a:ext>
          </a:extLst>
        </p:cNvPr>
        <p:cNvGrpSpPr/>
        <p:nvPr/>
      </p:nvGrpSpPr>
      <p:grpSpPr>
        <a:xfrm>
          <a:off x="0" y="0"/>
          <a:ext cx="0" cy="0"/>
          <a:chOff x="0" y="0"/>
          <a:chExt cx="0" cy="0"/>
        </a:xfrm>
      </p:grpSpPr>
      <p:pic>
        <p:nvPicPr>
          <p:cNvPr id="1026" name="Picture 2" descr="The McGraw-Hill Dictionary of Misspelled and Easily Confused Words:  9780071459853: David, Downing, Deborah, Williams K.: Books - Amazon.com">
            <a:extLst>
              <a:ext uri="{FF2B5EF4-FFF2-40B4-BE49-F238E27FC236}">
                <a16:creationId xmlns:a16="http://schemas.microsoft.com/office/drawing/2014/main" id="{ADD1B188-3824-5EAC-5896-4F0302BC05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0356" y="891251"/>
            <a:ext cx="2241702" cy="3360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6838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3B086-2BEB-8D44-C655-F5CCD4F81C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7414CD9-4275-1FBF-C6C0-03FCDAA4BF4F}"/>
              </a:ext>
            </a:extLst>
          </p:cNvPr>
          <p:cNvSpPr>
            <a:spLocks noGrp="1"/>
          </p:cNvSpPr>
          <p:nvPr>
            <p:ph type="title"/>
          </p:nvPr>
        </p:nvSpPr>
        <p:spPr/>
        <p:txBody>
          <a:bodyPr/>
          <a:lstStyle/>
          <a:p>
            <a:r>
              <a:rPr lang="en-US"/>
              <a:t>maps</a:t>
            </a:r>
          </a:p>
        </p:txBody>
      </p:sp>
    </p:spTree>
    <p:extLst>
      <p:ext uri="{BB962C8B-B14F-4D97-AF65-F5344CB8AC3E}">
        <p14:creationId xmlns:p14="http://schemas.microsoft.com/office/powerpoint/2010/main" val="3102363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710AF-A265-7412-FA75-02814AE3696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AF0011-E7FA-35E8-FA30-8C9352A68310}"/>
              </a:ext>
            </a:extLst>
          </p:cNvPr>
          <p:cNvSpPr>
            <a:spLocks noGrp="1"/>
          </p:cNvSpPr>
          <p:nvPr>
            <p:ph type="title"/>
          </p:nvPr>
        </p:nvSpPr>
        <p:spPr/>
        <p:txBody>
          <a:bodyPr/>
          <a:lstStyle/>
          <a:p>
            <a:r>
              <a:rPr lang="en-US"/>
              <a:t>map interface</a:t>
            </a:r>
          </a:p>
        </p:txBody>
      </p:sp>
    </p:spTree>
    <p:extLst>
      <p:ext uri="{BB962C8B-B14F-4D97-AF65-F5344CB8AC3E}">
        <p14:creationId xmlns:p14="http://schemas.microsoft.com/office/powerpoint/2010/main" val="1075180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5B605-0009-AAFE-BA18-E8EFF11E9C1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54820D1-A89A-86C2-5C07-3CE1B6893B3E}"/>
              </a:ext>
            </a:extLst>
          </p:cNvPr>
          <p:cNvSpPr>
            <a:spLocks noGrp="1"/>
          </p:cNvSpPr>
          <p:nvPr>
            <p:ph type="title"/>
          </p:nvPr>
        </p:nvSpPr>
        <p:spPr/>
        <p:txBody>
          <a:bodyPr/>
          <a:lstStyle/>
          <a:p>
            <a:r>
              <a:rPr lang="en-US"/>
              <a:t>map</a:t>
            </a:r>
          </a:p>
        </p:txBody>
      </p:sp>
      <p:sp>
        <p:nvSpPr>
          <p:cNvPr id="4" name="Content Placeholder 3">
            <a:extLst>
              <a:ext uri="{FF2B5EF4-FFF2-40B4-BE49-F238E27FC236}">
                <a16:creationId xmlns:a16="http://schemas.microsoft.com/office/drawing/2014/main" id="{43CEA8A5-68C5-3144-8654-BA07D37CCFFD}"/>
              </a:ext>
            </a:extLst>
          </p:cNvPr>
          <p:cNvSpPr>
            <a:spLocks noGrp="1"/>
          </p:cNvSpPr>
          <p:nvPr>
            <p:ph sz="quarter" idx="10"/>
          </p:nvPr>
        </p:nvSpPr>
        <p:spPr/>
        <p:txBody>
          <a:bodyPr/>
          <a:lstStyle/>
          <a:p>
            <a:r>
              <a:rPr lang="en-US"/>
              <a:t>a </a:t>
            </a:r>
            <a:r>
              <a:rPr lang="en-US" b="1"/>
              <a:t>pair</a:t>
            </a:r>
            <a:r>
              <a:rPr lang="en-US"/>
              <a:t> is two things</a:t>
            </a:r>
          </a:p>
          <a:p>
            <a:endParaRPr lang="en-US"/>
          </a:p>
          <a:p>
            <a:r>
              <a:rPr lang="en-US"/>
              <a:t>a </a:t>
            </a:r>
            <a:r>
              <a:rPr lang="en-US" b="1"/>
              <a:t>map</a:t>
            </a:r>
            <a:r>
              <a:rPr lang="en-US"/>
              <a:t> (</a:t>
            </a:r>
            <a:r>
              <a:rPr lang="en-US" b="1"/>
              <a:t>dictionary</a:t>
            </a:r>
            <a:r>
              <a:rPr lang="en-US"/>
              <a:t>, </a:t>
            </a:r>
            <a:r>
              <a:rPr lang="en-US" b="1"/>
              <a:t>table</a:t>
            </a:r>
            <a:r>
              <a:rPr lang="en-US"/>
              <a:t>) stores </a:t>
            </a:r>
            <a:r>
              <a:rPr lang="en-US" b="1"/>
              <a:t>key-value pairs</a:t>
            </a:r>
          </a:p>
          <a:p>
            <a:pPr lvl="1"/>
            <a:r>
              <a:rPr lang="en-US"/>
              <a:t>in a map, you can </a:t>
            </a:r>
            <a:r>
              <a:rPr lang="en-US" b="1"/>
              <a:t>lookup</a:t>
            </a:r>
            <a:r>
              <a:rPr lang="en-US"/>
              <a:t> a key's value </a:t>
            </a:r>
          </a:p>
          <a:p>
            <a:pPr lvl="1"/>
            <a:r>
              <a:rPr lang="en-US"/>
              <a:t>a map in Java's standard library is </a:t>
            </a:r>
            <a:r>
              <a:rPr lang="en-US">
                <a:solidFill>
                  <a:srgbClr val="000080"/>
                </a:solidFill>
                <a:latin typeface="+mj-lt"/>
              </a:rPr>
              <a:t>HashMap</a:t>
            </a:r>
            <a:r>
              <a:rPr lang="en-US">
                <a:latin typeface="+mj-lt"/>
              </a:rPr>
              <a:t>&lt;</a:t>
            </a:r>
            <a:r>
              <a:rPr lang="en-US" err="1">
                <a:solidFill>
                  <a:srgbClr val="000080"/>
                </a:solidFill>
                <a:latin typeface="+mj-lt"/>
              </a:rPr>
              <a:t>KeyType</a:t>
            </a:r>
            <a:r>
              <a:rPr lang="en-US">
                <a:latin typeface="+mj-lt"/>
              </a:rPr>
              <a:t>, </a:t>
            </a:r>
            <a:r>
              <a:rPr lang="en-US" err="1">
                <a:solidFill>
                  <a:srgbClr val="000080"/>
                </a:solidFill>
                <a:latin typeface="+mj-lt"/>
              </a:rPr>
              <a:t>ValueType</a:t>
            </a:r>
            <a:r>
              <a:rPr lang="en-US">
                <a:latin typeface="+mj-lt"/>
              </a:rPr>
              <a:t>&gt;</a:t>
            </a:r>
          </a:p>
          <a:p>
            <a:pPr lvl="2"/>
            <a:r>
              <a:rPr lang="en-US" sz="1800">
                <a:solidFill>
                  <a:srgbClr val="000080"/>
                </a:solidFill>
                <a:latin typeface="+mj-lt"/>
              </a:rPr>
              <a:t>HashMap</a:t>
            </a:r>
            <a:r>
              <a:rPr lang="en-US" sz="1800">
                <a:latin typeface="+mj-lt"/>
              </a:rPr>
              <a:t>&lt;</a:t>
            </a:r>
            <a:r>
              <a:rPr lang="en-US" sz="1800">
                <a:solidFill>
                  <a:srgbClr val="000080"/>
                </a:solidFill>
                <a:latin typeface="+mj-lt"/>
              </a:rPr>
              <a:t>String</a:t>
            </a:r>
            <a:r>
              <a:rPr lang="en-US" sz="1800">
                <a:latin typeface="+mj-lt"/>
              </a:rPr>
              <a:t>, </a:t>
            </a:r>
            <a:r>
              <a:rPr lang="en-US" sz="1800" err="1">
                <a:solidFill>
                  <a:srgbClr val="000080"/>
                </a:solidFill>
                <a:latin typeface="+mj-lt"/>
              </a:rPr>
              <a:t>ArrayList</a:t>
            </a:r>
            <a:r>
              <a:rPr lang="en-US" sz="1800">
                <a:latin typeface="+mj-lt"/>
              </a:rPr>
              <a:t>&lt;</a:t>
            </a:r>
            <a:r>
              <a:rPr lang="en-US" sz="1800">
                <a:solidFill>
                  <a:srgbClr val="000080"/>
                </a:solidFill>
                <a:latin typeface="+mj-lt"/>
              </a:rPr>
              <a:t>String&gt;</a:t>
            </a:r>
            <a:r>
              <a:rPr lang="en-US" sz="1800">
                <a:latin typeface="+mj-lt"/>
              </a:rPr>
              <a:t>&gt; </a:t>
            </a:r>
            <a:r>
              <a:rPr lang="en-US" sz="1800" err="1">
                <a:latin typeface="+mj-lt"/>
              </a:rPr>
              <a:t>rhymingDictionary</a:t>
            </a:r>
            <a:r>
              <a:rPr lang="en-US" sz="1800">
                <a:latin typeface="+mj-lt"/>
              </a:rPr>
              <a:t>;</a:t>
            </a:r>
          </a:p>
        </p:txBody>
      </p:sp>
    </p:spTree>
    <p:extLst>
      <p:ext uri="{BB962C8B-B14F-4D97-AF65-F5344CB8AC3E}">
        <p14:creationId xmlns:p14="http://schemas.microsoft.com/office/powerpoint/2010/main" val="1040839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EBC83-4A97-5A92-5A92-EA698B8CE22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675DAA1-CCE5-9463-AA5F-460C6826C89B}"/>
              </a:ext>
            </a:extLst>
          </p:cNvPr>
          <p:cNvSpPr>
            <a:spLocks noGrp="1"/>
          </p:cNvSpPr>
          <p:nvPr>
            <p:ph type="title"/>
          </p:nvPr>
        </p:nvSpPr>
        <p:spPr/>
        <p:txBody>
          <a:bodyPr/>
          <a:lstStyle/>
          <a:p>
            <a:r>
              <a:rPr lang="en-US"/>
              <a:t>analogy</a:t>
            </a:r>
          </a:p>
        </p:txBody>
      </p:sp>
    </p:spTree>
    <p:extLst>
      <p:ext uri="{BB962C8B-B14F-4D97-AF65-F5344CB8AC3E}">
        <p14:creationId xmlns:p14="http://schemas.microsoft.com/office/powerpoint/2010/main" val="275054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3FC2C-0C4C-1FDF-08FF-C0AD307612A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A0A938A-0125-08F9-75EB-4037885BA68B}"/>
              </a:ext>
            </a:extLst>
          </p:cNvPr>
          <p:cNvSpPr>
            <a:spLocks noGrp="1"/>
          </p:cNvSpPr>
          <p:nvPr>
            <p:ph type="title"/>
          </p:nvPr>
        </p:nvSpPr>
        <p:spPr/>
        <p:txBody>
          <a:bodyPr/>
          <a:lstStyle/>
          <a:p>
            <a:r>
              <a:rPr lang="en-US" sz="2400"/>
              <a:t>let us imagine...</a:t>
            </a:r>
          </a:p>
        </p:txBody>
      </p:sp>
      <p:pic>
        <p:nvPicPr>
          <p:cNvPr id="1026" name="Picture 2" descr="Imagination Spongebob | Know Your Meme">
            <a:extLst>
              <a:ext uri="{FF2B5EF4-FFF2-40B4-BE49-F238E27FC236}">
                <a16:creationId xmlns:a16="http://schemas.microsoft.com/office/drawing/2014/main" id="{4FFA0DDC-5B6E-FD8C-1755-82A8FEC06F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2884394"/>
            <a:ext cx="304800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9458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19FC7-7B1A-80CB-BBAC-776BD307B7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C2AF88-4BCF-A566-9FEF-0068DD6C88B7}"/>
              </a:ext>
            </a:extLst>
          </p:cNvPr>
          <p:cNvSpPr>
            <a:spLocks noGrp="1"/>
          </p:cNvSpPr>
          <p:nvPr>
            <p:ph type="title"/>
          </p:nvPr>
        </p:nvSpPr>
        <p:spPr/>
        <p:txBody>
          <a:bodyPr/>
          <a:lstStyle/>
          <a:p>
            <a:r>
              <a:rPr lang="en-US"/>
              <a:t>you have a three week long road trip planned to Bennington, but your prized parrot </a:t>
            </a:r>
            <a:r>
              <a:rPr lang="en-US">
                <a:solidFill>
                  <a:srgbClr val="F80B8D"/>
                </a:solidFill>
              </a:rPr>
              <a:t>Hans</a:t>
            </a:r>
            <a:r>
              <a:rPr lang="en-US"/>
              <a:t> is deathly afraid of driving</a:t>
            </a:r>
            <a:br>
              <a:rPr lang="en-US"/>
            </a:br>
            <a:br>
              <a:rPr lang="en-US"/>
            </a:br>
            <a:r>
              <a:rPr lang="en-US" sz="3200"/>
              <a:t>it's time to </a:t>
            </a:r>
            <a:r>
              <a:rPr lang="en-US" sz="3200" b="1"/>
              <a:t>put</a:t>
            </a:r>
            <a:r>
              <a:rPr lang="en-US" sz="3200"/>
              <a:t> </a:t>
            </a:r>
            <a:r>
              <a:rPr lang="en-US" sz="3200">
                <a:solidFill>
                  <a:srgbClr val="F80B8D"/>
                </a:solidFill>
              </a:rPr>
              <a:t>Hans</a:t>
            </a:r>
            <a:r>
              <a:rPr lang="en-US" sz="3200"/>
              <a:t> in the bird kennel</a:t>
            </a:r>
            <a:endParaRPr lang="en-US"/>
          </a:p>
        </p:txBody>
      </p:sp>
    </p:spTree>
    <p:extLst>
      <p:ext uri="{BB962C8B-B14F-4D97-AF65-F5344CB8AC3E}">
        <p14:creationId xmlns:p14="http://schemas.microsoft.com/office/powerpoint/2010/main" val="4223112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E098A-91B1-FADA-65AD-2A686ED69C8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6ED5A6F-213D-261E-693C-7B29D468542E}"/>
              </a:ext>
            </a:extLst>
          </p:cNvPr>
          <p:cNvSpPr txBox="1"/>
          <p:nvPr/>
        </p:nvSpPr>
        <p:spPr>
          <a:xfrm>
            <a:off x="1911928" y="2162607"/>
            <a:ext cx="3030808" cy="1862048"/>
          </a:xfrm>
          <a:prstGeom prst="rect">
            <a:avLst/>
          </a:prstGeom>
          <a:noFill/>
        </p:spPr>
        <p:txBody>
          <a:bodyPr wrap="square">
            <a:spAutoFit/>
          </a:bodyPr>
          <a:lstStyle/>
          <a:p>
            <a:pPr algn="ctr"/>
            <a:r>
              <a:rPr lang="en-US" sz="11500">
                <a:solidFill>
                  <a:srgbClr val="000000"/>
                </a:solidFill>
                <a:latin typeface="Arial"/>
                <a:ea typeface="Segoe UI Emoji" panose="020B0502040204020203" pitchFamily="34" charset="0"/>
                <a:cs typeface="+mj-cs"/>
              </a:rPr>
              <a:t>🤵</a:t>
            </a:r>
            <a:endParaRPr lang="en-US" sz="8800"/>
          </a:p>
        </p:txBody>
      </p:sp>
      <p:sp>
        <p:nvSpPr>
          <p:cNvPr id="6" name="Rectangle 5">
            <a:extLst>
              <a:ext uri="{FF2B5EF4-FFF2-40B4-BE49-F238E27FC236}">
                <a16:creationId xmlns:a16="http://schemas.microsoft.com/office/drawing/2014/main" id="{784D533D-057C-F7DB-F4DC-A6AC9D41F15F}"/>
              </a:ext>
            </a:extLst>
          </p:cNvPr>
          <p:cNvSpPr/>
          <p:nvPr/>
        </p:nvSpPr>
        <p:spPr>
          <a:xfrm>
            <a:off x="910960" y="3832151"/>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87B3166-5577-9B23-BB8A-D966FC71ABF3}"/>
              </a:ext>
            </a:extLst>
          </p:cNvPr>
          <p:cNvSpPr txBox="1"/>
          <p:nvPr/>
        </p:nvSpPr>
        <p:spPr>
          <a:xfrm>
            <a:off x="4166399" y="2878130"/>
            <a:ext cx="1242029" cy="1107996"/>
          </a:xfrm>
          <a:prstGeom prst="rect">
            <a:avLst/>
          </a:prstGeom>
          <a:noFill/>
        </p:spPr>
        <p:txBody>
          <a:bodyPr wrap="square">
            <a:spAutoFit/>
          </a:bodyPr>
          <a:lstStyle/>
          <a:p>
            <a:pPr algn="ctr"/>
            <a:r>
              <a:rPr kumimoji="0" lang="en-US" sz="66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sz="5400"/>
          </a:p>
        </p:txBody>
      </p:sp>
      <p:sp>
        <p:nvSpPr>
          <p:cNvPr id="11" name="TextBox 10">
            <a:extLst>
              <a:ext uri="{FF2B5EF4-FFF2-40B4-BE49-F238E27FC236}">
                <a16:creationId xmlns:a16="http://schemas.microsoft.com/office/drawing/2014/main" id="{440C3D41-4D95-7671-1FAF-6C37229EF942}"/>
              </a:ext>
            </a:extLst>
          </p:cNvPr>
          <p:cNvSpPr txBox="1"/>
          <p:nvPr/>
        </p:nvSpPr>
        <p:spPr>
          <a:xfrm>
            <a:off x="4950695" y="3016629"/>
            <a:ext cx="3727140" cy="830997"/>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US" sz="2400" err="1">
                <a:solidFill>
                  <a:srgbClr val="F80B8D"/>
                </a:solidFill>
                <a:latin typeface="Consolas" panose="020B0609020204030204" pitchFamily="49" charset="0"/>
                <a:cs typeface="Consolas" panose="020B0609020204030204" pitchFamily="49" charset="0"/>
              </a:rPr>
              <a:t>map.put</a:t>
            </a:r>
            <a:r>
              <a:rPr lang="en-US" sz="2400">
                <a:solidFill>
                  <a:srgbClr val="F80B8D"/>
                </a:solidFill>
                <a:latin typeface="Consolas" panose="020B0609020204030204" pitchFamily="49" charset="0"/>
                <a:cs typeface="Consolas" panose="020B0609020204030204" pitchFamily="49" charset="0"/>
              </a:rPr>
              <a:t>("Hans", </a:t>
            </a:r>
            <a:r>
              <a:rPr kumimoji="0" lang="en-US" sz="2400" b="0" i="0" u="none" strike="noStrike" kern="1200" cap="none" spc="0" normalizeH="0" baseline="0" noProof="0">
                <a:ln>
                  <a:noFill/>
                </a:ln>
                <a:solidFill>
                  <a:srgbClr val="F80B8D"/>
                </a:solidFill>
                <a:effectLst/>
                <a:uLnTx/>
                <a:uFillTx/>
                <a:latin typeface="Consolas" panose="020B0609020204030204" pitchFamily="49" charset="0"/>
                <a:ea typeface="Segoe UI Emoji" panose="020B0502040204020203" pitchFamily="34" charset="0"/>
                <a:cs typeface="Consolas" panose="020B0609020204030204" pitchFamily="49" charset="0"/>
              </a:rPr>
              <a:t>🦜)</a:t>
            </a:r>
            <a:endParaRPr kumimoji="0" lang="en-US" sz="2400" b="0" i="0" u="none" strike="noStrike" kern="1200" cap="none" spc="0" normalizeH="0" baseline="0" noProof="0">
              <a:ln>
                <a:noFill/>
              </a:ln>
              <a:solidFill>
                <a:srgbClr val="F80B8D"/>
              </a:solidFill>
              <a:effectLst/>
              <a:uLnTx/>
              <a:uFillTx/>
              <a:latin typeface="Consolas" panose="020B0609020204030204" pitchFamily="49" charset="0"/>
              <a:cs typeface="Consolas" panose="020B0609020204030204" pitchFamily="49" charset="0"/>
            </a:endParaRPr>
          </a:p>
          <a:p>
            <a:pPr algn="ctr"/>
            <a:endParaRPr lang="en-US" sz="2400">
              <a:solidFill>
                <a:srgbClr val="F80B8D"/>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705264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10"/>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10" grpId="0"/>
      <p:bldP spid="10" grpId="1"/>
      <p:bldP spid="11" grpId="0"/>
      <p:bldP spid="11"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162A4-3B98-65A4-8F9E-4F1EBE1622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E1B2FD-8211-468A-5290-4931175FC7D8}"/>
              </a:ext>
            </a:extLst>
          </p:cNvPr>
          <p:cNvSpPr>
            <a:spLocks noGrp="1"/>
          </p:cNvSpPr>
          <p:nvPr>
            <p:ph type="title"/>
          </p:nvPr>
        </p:nvSpPr>
        <p:spPr>
          <a:xfrm>
            <a:off x="457200" y="2143125"/>
            <a:ext cx="8229600" cy="857250"/>
          </a:xfrm>
        </p:spPr>
        <p:txBody>
          <a:bodyPr/>
          <a:lstStyle/>
          <a:p>
            <a:r>
              <a:rPr lang="en-US"/>
              <a:t>you return invigorated from a lovely trek to Bennington</a:t>
            </a:r>
            <a:br>
              <a:rPr lang="en-US"/>
            </a:br>
            <a:br>
              <a:rPr lang="en-US"/>
            </a:br>
            <a:r>
              <a:rPr lang="en-US" sz="2800"/>
              <a:t>it's time to </a:t>
            </a:r>
            <a:r>
              <a:rPr lang="en-US" sz="2800" b="1"/>
              <a:t>get</a:t>
            </a:r>
            <a:r>
              <a:rPr lang="en-US" sz="2800"/>
              <a:t> </a:t>
            </a:r>
            <a:r>
              <a:rPr lang="en-US" sz="2800">
                <a:solidFill>
                  <a:srgbClr val="F80B8D"/>
                </a:solidFill>
              </a:rPr>
              <a:t>Hans</a:t>
            </a:r>
            <a:r>
              <a:rPr lang="en-US" sz="2800"/>
              <a:t> from the bird kennel</a:t>
            </a:r>
            <a:endParaRPr lang="en-US"/>
          </a:p>
        </p:txBody>
      </p:sp>
    </p:spTree>
    <p:extLst>
      <p:ext uri="{BB962C8B-B14F-4D97-AF65-F5344CB8AC3E}">
        <p14:creationId xmlns:p14="http://schemas.microsoft.com/office/powerpoint/2010/main" val="294824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86EB7-6B2C-00A7-115F-ACCAC54CEB4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2E63915-68C7-8667-14D1-29ECAE830E0D}"/>
              </a:ext>
            </a:extLst>
          </p:cNvPr>
          <p:cNvSpPr txBox="1"/>
          <p:nvPr/>
        </p:nvSpPr>
        <p:spPr>
          <a:xfrm>
            <a:off x="2387421" y="2162607"/>
            <a:ext cx="2079821" cy="3216265"/>
          </a:xfrm>
          <a:prstGeom prst="rect">
            <a:avLst/>
          </a:prstGeom>
          <a:noFill/>
        </p:spPr>
        <p:txBody>
          <a:bodyPr wrap="square">
            <a:spAutoFit/>
          </a:bodyPr>
          <a:lstStyle/>
          <a:p>
            <a:pPr algn="ctr"/>
            <a:r>
              <a:rPr lang="en-US" sz="11500">
                <a:solidFill>
                  <a:srgbClr val="000000"/>
                </a:solidFill>
                <a:ea typeface="Segoe UI Emoji" panose="020B0502040204020203" pitchFamily="34" charset="0"/>
              </a:rPr>
              <a:t>🤵</a:t>
            </a:r>
            <a:endParaRPr lang="en-US" sz="8800"/>
          </a:p>
          <a:p>
            <a:pPr algn="ctr"/>
            <a:endParaRPr lang="en-US" sz="8800"/>
          </a:p>
        </p:txBody>
      </p:sp>
      <p:sp>
        <p:nvSpPr>
          <p:cNvPr id="6" name="Rectangle 5">
            <a:extLst>
              <a:ext uri="{FF2B5EF4-FFF2-40B4-BE49-F238E27FC236}">
                <a16:creationId xmlns:a16="http://schemas.microsoft.com/office/drawing/2014/main" id="{40365D03-DF00-6515-A149-9FABFF51A643}"/>
              </a:ext>
            </a:extLst>
          </p:cNvPr>
          <p:cNvSpPr/>
          <p:nvPr/>
        </p:nvSpPr>
        <p:spPr>
          <a:xfrm>
            <a:off x="910960" y="3832151"/>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F9B8A0B-C883-BC37-31D4-FE843F86FC4B}"/>
              </a:ext>
            </a:extLst>
          </p:cNvPr>
          <p:cNvSpPr txBox="1"/>
          <p:nvPr/>
        </p:nvSpPr>
        <p:spPr>
          <a:xfrm>
            <a:off x="4166399" y="2878130"/>
            <a:ext cx="1242029" cy="1107996"/>
          </a:xfrm>
          <a:prstGeom prst="rect">
            <a:avLst/>
          </a:prstGeom>
          <a:noFill/>
        </p:spPr>
        <p:txBody>
          <a:bodyPr wrap="square">
            <a:spAutoFit/>
          </a:bodyPr>
          <a:lstStyle/>
          <a:p>
            <a:pPr algn="ctr"/>
            <a:r>
              <a:rPr kumimoji="0" lang="en-US" sz="66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sz="5400"/>
          </a:p>
        </p:txBody>
      </p:sp>
      <p:sp>
        <p:nvSpPr>
          <p:cNvPr id="11" name="TextBox 10">
            <a:extLst>
              <a:ext uri="{FF2B5EF4-FFF2-40B4-BE49-F238E27FC236}">
                <a16:creationId xmlns:a16="http://schemas.microsoft.com/office/drawing/2014/main" id="{B9E93022-4A6A-3595-02F2-6F035EF1E6F7}"/>
              </a:ext>
            </a:extLst>
          </p:cNvPr>
          <p:cNvSpPr txBox="1"/>
          <p:nvPr/>
        </p:nvSpPr>
        <p:spPr>
          <a:xfrm>
            <a:off x="4950695" y="3016629"/>
            <a:ext cx="3467164" cy="830997"/>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US" sz="2400" err="1">
                <a:solidFill>
                  <a:srgbClr val="F80B8D"/>
                </a:solidFill>
                <a:latin typeface="+mj-lt"/>
              </a:rPr>
              <a:t>map.get</a:t>
            </a:r>
            <a:r>
              <a:rPr lang="en-US" sz="2400">
                <a:solidFill>
                  <a:srgbClr val="F80B8D"/>
                </a:solidFill>
                <a:latin typeface="+mj-lt"/>
              </a:rPr>
              <a:t>("Hans"</a:t>
            </a:r>
            <a:r>
              <a:rPr kumimoji="0" lang="en-US" sz="2400" b="0" i="0" u="none" strike="noStrike" kern="1200" cap="none" spc="0" normalizeH="0" baseline="0" noProof="0">
                <a:ln>
                  <a:noFill/>
                </a:ln>
                <a:solidFill>
                  <a:srgbClr val="F80B8D"/>
                </a:solidFill>
                <a:effectLst/>
                <a:uLnTx/>
                <a:uFillTx/>
                <a:latin typeface="+mj-lt"/>
                <a:ea typeface="Segoe UI Emoji" panose="020B0502040204020203" pitchFamily="34" charset="0"/>
              </a:rPr>
              <a:t>)</a:t>
            </a:r>
            <a:endParaRPr kumimoji="0" lang="en-US" sz="2400" b="0" i="0" u="none" strike="noStrike" kern="1200" cap="none" spc="0" normalizeH="0" baseline="0" noProof="0">
              <a:ln>
                <a:noFill/>
              </a:ln>
              <a:solidFill>
                <a:srgbClr val="F80B8D"/>
              </a:solidFill>
              <a:effectLst/>
              <a:uLnTx/>
              <a:uFillTx/>
              <a:latin typeface="+mj-lt"/>
            </a:endParaRPr>
          </a:p>
          <a:p>
            <a:pPr algn="ctr"/>
            <a:endParaRPr lang="en-US" sz="2400">
              <a:solidFill>
                <a:srgbClr val="F80B8D"/>
              </a:solidFill>
              <a:latin typeface="+mj-lt"/>
            </a:endParaRPr>
          </a:p>
        </p:txBody>
      </p:sp>
      <p:grpSp>
        <p:nvGrpSpPr>
          <p:cNvPr id="8" name="Group 7">
            <a:extLst>
              <a:ext uri="{FF2B5EF4-FFF2-40B4-BE49-F238E27FC236}">
                <a16:creationId xmlns:a16="http://schemas.microsoft.com/office/drawing/2014/main" id="{3351803C-62D9-8FDA-ACAC-A462218AD98E}"/>
              </a:ext>
            </a:extLst>
          </p:cNvPr>
          <p:cNvGrpSpPr/>
          <p:nvPr/>
        </p:nvGrpSpPr>
        <p:grpSpPr>
          <a:xfrm>
            <a:off x="4780744" y="1926411"/>
            <a:ext cx="1448875" cy="1224327"/>
            <a:chOff x="4617608" y="699029"/>
            <a:chExt cx="923365" cy="780261"/>
          </a:xfrm>
        </p:grpSpPr>
        <p:pic>
          <p:nvPicPr>
            <p:cNvPr id="7" name="Picture 6">
              <a:extLst>
                <a:ext uri="{FF2B5EF4-FFF2-40B4-BE49-F238E27FC236}">
                  <a16:creationId xmlns:a16="http://schemas.microsoft.com/office/drawing/2014/main" id="{D6CC9ABD-CC8A-A8B5-0849-58D220A9B0A7}"/>
                </a:ext>
              </a:extLst>
            </p:cNvPr>
            <p:cNvPicPr>
              <a:picLocks noChangeAspect="1"/>
            </p:cNvPicPr>
            <p:nvPr/>
          </p:nvPicPr>
          <p:blipFill rotWithShape="1">
            <a:blip r:embed="rId2"/>
            <a:srcRect l="27802" t="21749" r="27802" b="34051"/>
            <a:stretch/>
          </p:blipFill>
          <p:spPr>
            <a:xfrm flipH="1">
              <a:off x="4617608" y="699029"/>
              <a:ext cx="923365" cy="780261"/>
            </a:xfrm>
            <a:prstGeom prst="rect">
              <a:avLst/>
            </a:prstGeom>
          </p:spPr>
        </p:pic>
        <p:sp>
          <p:nvSpPr>
            <p:cNvPr id="4" name="TextBox 3">
              <a:extLst>
                <a:ext uri="{FF2B5EF4-FFF2-40B4-BE49-F238E27FC236}">
                  <a16:creationId xmlns:a16="http://schemas.microsoft.com/office/drawing/2014/main" id="{580BD8F3-B3F6-FEC0-6705-F730B67FCF76}"/>
                </a:ext>
              </a:extLst>
            </p:cNvPr>
            <p:cNvSpPr txBox="1"/>
            <p:nvPr/>
          </p:nvSpPr>
          <p:spPr>
            <a:xfrm>
              <a:off x="4617608" y="914725"/>
              <a:ext cx="923365" cy="294218"/>
            </a:xfrm>
            <a:prstGeom prst="rect">
              <a:avLst/>
            </a:prstGeom>
            <a:noFill/>
          </p:spPr>
          <p:txBody>
            <a:bodyPr wrap="square">
              <a:spAutoFit/>
            </a:bodyPr>
            <a:lstStyle/>
            <a:p>
              <a:pPr algn="ctr"/>
              <a:r>
                <a:rPr lang="en-US" sz="2400">
                  <a:solidFill>
                    <a:schemeClr val="bg2"/>
                  </a:solidFill>
                </a:rPr>
                <a:t>Hans</a:t>
              </a:r>
            </a:p>
          </p:txBody>
        </p:sp>
      </p:grpSp>
      <p:grpSp>
        <p:nvGrpSpPr>
          <p:cNvPr id="9" name="Group 8">
            <a:extLst>
              <a:ext uri="{FF2B5EF4-FFF2-40B4-BE49-F238E27FC236}">
                <a16:creationId xmlns:a16="http://schemas.microsoft.com/office/drawing/2014/main" id="{D912B9A6-9567-4C99-0546-51833738F6EC}"/>
              </a:ext>
            </a:extLst>
          </p:cNvPr>
          <p:cNvGrpSpPr/>
          <p:nvPr/>
        </p:nvGrpSpPr>
        <p:grpSpPr>
          <a:xfrm flipH="1">
            <a:off x="3610090" y="1515303"/>
            <a:ext cx="1448875" cy="1224327"/>
            <a:chOff x="4617608" y="699029"/>
            <a:chExt cx="923365" cy="780261"/>
          </a:xfrm>
        </p:grpSpPr>
        <p:pic>
          <p:nvPicPr>
            <p:cNvPr id="12" name="Picture 11">
              <a:extLst>
                <a:ext uri="{FF2B5EF4-FFF2-40B4-BE49-F238E27FC236}">
                  <a16:creationId xmlns:a16="http://schemas.microsoft.com/office/drawing/2014/main" id="{9E87A7AE-F353-1992-A604-D47786609846}"/>
                </a:ext>
              </a:extLst>
            </p:cNvPr>
            <p:cNvPicPr>
              <a:picLocks noChangeAspect="1"/>
            </p:cNvPicPr>
            <p:nvPr/>
          </p:nvPicPr>
          <p:blipFill rotWithShape="1">
            <a:blip r:embed="rId2"/>
            <a:srcRect l="27802" t="21749" r="27802" b="34051"/>
            <a:stretch/>
          </p:blipFill>
          <p:spPr>
            <a:xfrm flipH="1">
              <a:off x="4617608" y="699029"/>
              <a:ext cx="923365" cy="780261"/>
            </a:xfrm>
            <a:prstGeom prst="rect">
              <a:avLst/>
            </a:prstGeom>
          </p:spPr>
        </p:pic>
        <p:sp>
          <p:nvSpPr>
            <p:cNvPr id="13" name="TextBox 12">
              <a:extLst>
                <a:ext uri="{FF2B5EF4-FFF2-40B4-BE49-F238E27FC236}">
                  <a16:creationId xmlns:a16="http://schemas.microsoft.com/office/drawing/2014/main" id="{18E56337-7635-E3BF-7705-A9459A4B55D9}"/>
                </a:ext>
              </a:extLst>
            </p:cNvPr>
            <p:cNvSpPr txBox="1"/>
            <p:nvPr/>
          </p:nvSpPr>
          <p:spPr>
            <a:xfrm>
              <a:off x="4617608" y="850888"/>
              <a:ext cx="923365" cy="451134"/>
            </a:xfrm>
            <a:prstGeom prst="rect">
              <a:avLst/>
            </a:prstGeom>
            <a:noFill/>
          </p:spPr>
          <p:txBody>
            <a:bodyPr wrap="square">
              <a:spAutoFit/>
            </a:bodyPr>
            <a:lstStyle/>
            <a:p>
              <a:pPr algn="ctr"/>
              <a:r>
                <a:rPr lang="en-US" sz="2000">
                  <a:solidFill>
                    <a:schemeClr val="bg2"/>
                  </a:solidFill>
                </a:rPr>
                <a:t>here is Hans</a:t>
              </a:r>
            </a:p>
          </p:txBody>
        </p:sp>
      </p:grpSp>
      <p:grpSp>
        <p:nvGrpSpPr>
          <p:cNvPr id="14" name="Group 13">
            <a:extLst>
              <a:ext uri="{FF2B5EF4-FFF2-40B4-BE49-F238E27FC236}">
                <a16:creationId xmlns:a16="http://schemas.microsoft.com/office/drawing/2014/main" id="{398F6A3E-78F9-6500-F64B-789EDAF60D7F}"/>
              </a:ext>
            </a:extLst>
          </p:cNvPr>
          <p:cNvGrpSpPr/>
          <p:nvPr/>
        </p:nvGrpSpPr>
        <p:grpSpPr>
          <a:xfrm>
            <a:off x="3952347" y="2620504"/>
            <a:ext cx="614345" cy="519133"/>
            <a:chOff x="4617608" y="699029"/>
            <a:chExt cx="923365" cy="780261"/>
          </a:xfrm>
        </p:grpSpPr>
        <p:pic>
          <p:nvPicPr>
            <p:cNvPr id="15" name="Picture 14">
              <a:extLst>
                <a:ext uri="{FF2B5EF4-FFF2-40B4-BE49-F238E27FC236}">
                  <a16:creationId xmlns:a16="http://schemas.microsoft.com/office/drawing/2014/main" id="{9E8390F6-A57A-9E72-52E8-0C30BF3C9B4F}"/>
                </a:ext>
              </a:extLst>
            </p:cNvPr>
            <p:cNvPicPr>
              <a:picLocks noChangeAspect="1"/>
            </p:cNvPicPr>
            <p:nvPr/>
          </p:nvPicPr>
          <p:blipFill rotWithShape="1">
            <a:blip r:embed="rId2"/>
            <a:srcRect l="27802" t="21749" r="27802" b="34051"/>
            <a:stretch/>
          </p:blipFill>
          <p:spPr>
            <a:xfrm flipH="1">
              <a:off x="4617608" y="699029"/>
              <a:ext cx="923365" cy="780261"/>
            </a:xfrm>
            <a:prstGeom prst="rect">
              <a:avLst/>
            </a:prstGeom>
          </p:spPr>
        </p:pic>
        <p:sp>
          <p:nvSpPr>
            <p:cNvPr id="16" name="TextBox 15">
              <a:extLst>
                <a:ext uri="{FF2B5EF4-FFF2-40B4-BE49-F238E27FC236}">
                  <a16:creationId xmlns:a16="http://schemas.microsoft.com/office/drawing/2014/main" id="{57158721-F85D-72FB-7700-3ED7CEFF405A}"/>
                </a:ext>
              </a:extLst>
            </p:cNvPr>
            <p:cNvSpPr txBox="1"/>
            <p:nvPr/>
          </p:nvSpPr>
          <p:spPr>
            <a:xfrm>
              <a:off x="4617608" y="847353"/>
              <a:ext cx="923365" cy="393202"/>
            </a:xfrm>
            <a:prstGeom prst="rect">
              <a:avLst/>
            </a:prstGeom>
            <a:noFill/>
          </p:spPr>
          <p:txBody>
            <a:bodyPr wrap="square">
              <a:spAutoFit/>
            </a:bodyPr>
            <a:lstStyle/>
            <a:p>
              <a:pPr algn="ctr"/>
              <a:r>
                <a:rPr lang="en-US" sz="1050" err="1">
                  <a:solidFill>
                    <a:schemeClr val="bg2"/>
                  </a:solidFill>
                </a:rPr>
                <a:t>squack</a:t>
              </a:r>
              <a:endParaRPr lang="en-US" sz="1050">
                <a:solidFill>
                  <a:schemeClr val="bg2"/>
                </a:solidFill>
              </a:endParaRPr>
            </a:p>
          </p:txBody>
        </p:sp>
      </p:grpSp>
    </p:spTree>
    <p:extLst>
      <p:ext uri="{BB962C8B-B14F-4D97-AF65-F5344CB8AC3E}">
        <p14:creationId xmlns:p14="http://schemas.microsoft.com/office/powerpoint/2010/main" val="348520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321AB-6626-BB68-DC37-B008ABAAF97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57603B6-9B84-B15E-313C-202465931799}"/>
              </a:ext>
            </a:extLst>
          </p:cNvPr>
          <p:cNvSpPr txBox="1"/>
          <p:nvPr/>
        </p:nvSpPr>
        <p:spPr>
          <a:xfrm>
            <a:off x="2387421" y="2162607"/>
            <a:ext cx="2079821" cy="1862048"/>
          </a:xfrm>
          <a:prstGeom prst="rect">
            <a:avLst/>
          </a:prstGeom>
          <a:noFill/>
        </p:spPr>
        <p:txBody>
          <a:bodyPr wrap="square">
            <a:spAutoFit/>
          </a:bodyPr>
          <a:lstStyle/>
          <a:p>
            <a:pPr algn="ctr"/>
            <a:r>
              <a:rPr lang="en-US" sz="11500">
                <a:solidFill>
                  <a:srgbClr val="000000"/>
                </a:solidFill>
                <a:ea typeface="Segoe UI Emoji" panose="020B0502040204020203" pitchFamily="34" charset="0"/>
              </a:rPr>
              <a:t>🤵</a:t>
            </a:r>
            <a:endParaRPr lang="en-US" sz="8800"/>
          </a:p>
        </p:txBody>
      </p:sp>
      <p:sp>
        <p:nvSpPr>
          <p:cNvPr id="6" name="Rectangle 5">
            <a:extLst>
              <a:ext uri="{FF2B5EF4-FFF2-40B4-BE49-F238E27FC236}">
                <a16:creationId xmlns:a16="http://schemas.microsoft.com/office/drawing/2014/main" id="{755BE4F1-1692-1532-BE3A-F91AD2B59B19}"/>
              </a:ext>
            </a:extLst>
          </p:cNvPr>
          <p:cNvSpPr/>
          <p:nvPr/>
        </p:nvSpPr>
        <p:spPr>
          <a:xfrm>
            <a:off x="910960" y="3832151"/>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C55738A8-8A7A-34AE-74D4-9A28807B737F}"/>
              </a:ext>
            </a:extLst>
          </p:cNvPr>
          <p:cNvSpPr txBox="1"/>
          <p:nvPr/>
        </p:nvSpPr>
        <p:spPr>
          <a:xfrm>
            <a:off x="669455" y="1658426"/>
            <a:ext cx="5707140" cy="584775"/>
          </a:xfrm>
          <a:prstGeom prst="rect">
            <a:avLst/>
          </a:prstGeom>
          <a:noFill/>
        </p:spPr>
        <p:txBody>
          <a:bodyPr wrap="square" rtlCol="0">
            <a:spAutoFit/>
          </a:bodyPr>
          <a:lstStyle/>
          <a:p>
            <a:pPr algn="ctr"/>
            <a:r>
              <a:rPr lang="en-US" sz="3200">
                <a:solidFill>
                  <a:schemeClr val="accent2"/>
                </a:solidFill>
                <a:latin typeface="+mj-lt"/>
              </a:rPr>
              <a:t>HashMap&lt;String, Bird&gt;</a:t>
            </a:r>
          </a:p>
        </p:txBody>
      </p:sp>
    </p:spTree>
    <p:extLst>
      <p:ext uri="{BB962C8B-B14F-4D97-AF65-F5344CB8AC3E}">
        <p14:creationId xmlns:p14="http://schemas.microsoft.com/office/powerpoint/2010/main" val="1624042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808B0-3B03-1CF9-64B5-D97FBDC0536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52FFC6-4B65-89D6-2A3A-86477308F4FE}"/>
              </a:ext>
            </a:extLst>
          </p:cNvPr>
          <p:cNvSpPr>
            <a:spLocks noGrp="1"/>
          </p:cNvSpPr>
          <p:nvPr>
            <p:ph type="title"/>
          </p:nvPr>
        </p:nvSpPr>
        <p:spPr/>
        <p:txBody>
          <a:bodyPr/>
          <a:lstStyle/>
          <a:p>
            <a:r>
              <a:rPr lang="en-US" b="1"/>
              <a:t>map</a:t>
            </a:r>
            <a:r>
              <a:rPr lang="en-US"/>
              <a:t> interface</a:t>
            </a:r>
          </a:p>
        </p:txBody>
      </p:sp>
      <p:sp>
        <p:nvSpPr>
          <p:cNvPr id="4" name="Content Placeholder 3">
            <a:extLst>
              <a:ext uri="{FF2B5EF4-FFF2-40B4-BE49-F238E27FC236}">
                <a16:creationId xmlns:a16="http://schemas.microsoft.com/office/drawing/2014/main" id="{EEE705CD-F447-4B85-0BB3-B9D78502425E}"/>
              </a:ext>
            </a:extLst>
          </p:cNvPr>
          <p:cNvSpPr>
            <a:spLocks noGrp="1"/>
          </p:cNvSpPr>
          <p:nvPr>
            <p:ph sz="quarter" idx="10"/>
          </p:nvPr>
        </p:nvSpPr>
        <p:spPr/>
        <p:txBody>
          <a:bodyPr>
            <a:noAutofit/>
          </a:bodyPr>
          <a:lstStyle/>
          <a:p>
            <a:r>
              <a:rPr lang="en-US">
                <a:solidFill>
                  <a:srgbClr val="007B00"/>
                </a:solidFill>
                <a:effectLst/>
                <a:latin typeface="+mj-lt"/>
              </a:rPr>
              <a:t>// </a:t>
            </a:r>
            <a:r>
              <a:rPr lang="en-US" b="1">
                <a:solidFill>
                  <a:srgbClr val="007B00"/>
                </a:solidFill>
                <a:effectLst/>
                <a:latin typeface="+mj-lt"/>
              </a:rPr>
              <a:t>Put</a:t>
            </a:r>
            <a:r>
              <a:rPr lang="en-US">
                <a:solidFill>
                  <a:srgbClr val="007B00"/>
                </a:solidFill>
                <a:effectLst/>
                <a:latin typeface="+mj-lt"/>
              </a:rPr>
              <a:t> (</a:t>
            </a:r>
            <a:r>
              <a:rPr lang="en-US" b="1">
                <a:solidFill>
                  <a:srgbClr val="007B00"/>
                </a:solidFill>
                <a:effectLst/>
                <a:latin typeface="+mj-lt"/>
              </a:rPr>
              <a:t>add</a:t>
            </a:r>
            <a:r>
              <a:rPr lang="en-US">
                <a:solidFill>
                  <a:srgbClr val="007B00"/>
                </a:solidFill>
                <a:latin typeface="+mj-lt"/>
              </a:rPr>
              <a:t>,</a:t>
            </a:r>
            <a:r>
              <a:rPr lang="en-US" b="1">
                <a:solidFill>
                  <a:srgbClr val="007B00"/>
                </a:solidFill>
                <a:latin typeface="+mj-lt"/>
              </a:rPr>
              <a:t> insert</a:t>
            </a:r>
            <a:r>
              <a:rPr lang="en-US">
                <a:solidFill>
                  <a:srgbClr val="007B00"/>
                </a:solidFill>
                <a:effectLst/>
                <a:latin typeface="+mj-lt"/>
              </a:rPr>
              <a:t>) a new key-value pair into the map.</a:t>
            </a:r>
            <a:br>
              <a:rPr lang="en-US">
                <a:solidFill>
                  <a:srgbClr val="007B00"/>
                </a:solidFill>
                <a:effectLst/>
                <a:latin typeface="+mj-lt"/>
              </a:rPr>
            </a:br>
            <a:r>
              <a:rPr lang="en-US">
                <a:solidFill>
                  <a:srgbClr val="007B00"/>
                </a:solidFill>
                <a:effectLst/>
                <a:latin typeface="+mj-lt"/>
              </a:rPr>
              <a:t>// </a:t>
            </a:r>
            <a:r>
              <a:rPr lang="en-US" b="1">
                <a:solidFill>
                  <a:srgbClr val="007B00"/>
                </a:solidFill>
                <a:effectLst/>
                <a:latin typeface="+mj-lt"/>
              </a:rPr>
              <a:t>NOTE: </a:t>
            </a:r>
            <a:r>
              <a:rPr lang="en-US">
                <a:solidFill>
                  <a:srgbClr val="007B00"/>
                </a:solidFill>
                <a:effectLst/>
                <a:latin typeface="+mj-lt"/>
              </a:rPr>
              <a:t>Can also be used to update a key's value.</a:t>
            </a:r>
            <a:br>
              <a:rPr lang="en-US">
                <a:solidFill>
                  <a:srgbClr val="007B00"/>
                </a:solidFill>
                <a:effectLst/>
                <a:latin typeface="+mj-lt"/>
              </a:rPr>
            </a:br>
            <a:r>
              <a:rPr lang="en-US">
                <a:solidFill>
                  <a:srgbClr val="007B00"/>
                </a:solidFill>
                <a:effectLst/>
                <a:latin typeface="+mj-lt"/>
              </a:rPr>
              <a:t>// </a:t>
            </a:r>
            <a:r>
              <a:rPr lang="en-US" b="1">
                <a:solidFill>
                  <a:srgbClr val="007B00"/>
                </a:solidFill>
                <a:effectLst/>
                <a:latin typeface="+mj-lt"/>
              </a:rPr>
              <a:t>NOTE:</a:t>
            </a:r>
            <a:r>
              <a:rPr lang="en-US">
                <a:solidFill>
                  <a:srgbClr val="007B00"/>
                </a:solidFill>
                <a:effectLst/>
                <a:latin typeface="+mj-lt"/>
              </a:rPr>
              <a:t> All keys are unique.</a:t>
            </a:r>
            <a:br>
              <a:rPr lang="en-US">
                <a:solidFill>
                  <a:srgbClr val="000080"/>
                </a:solidFill>
                <a:effectLst/>
                <a:latin typeface="+mj-lt"/>
              </a:rPr>
            </a:br>
            <a:r>
              <a:rPr lang="en-US">
                <a:solidFill>
                  <a:srgbClr val="000080"/>
                </a:solidFill>
                <a:effectLst/>
                <a:latin typeface="+mj-lt"/>
              </a:rPr>
              <a:t>void</a:t>
            </a:r>
            <a:r>
              <a:rPr lang="en-US">
                <a:latin typeface="+mj-lt"/>
              </a:rPr>
              <a:t> </a:t>
            </a:r>
            <a:r>
              <a:rPr lang="en-US">
                <a:effectLst/>
                <a:latin typeface="+mj-lt"/>
              </a:rPr>
              <a:t>put</a:t>
            </a:r>
            <a:r>
              <a:rPr lang="en-US">
                <a:latin typeface="+mj-lt"/>
              </a:rPr>
              <a:t>(</a:t>
            </a:r>
            <a:r>
              <a:rPr lang="en-US" err="1">
                <a:solidFill>
                  <a:srgbClr val="000080"/>
                </a:solidFill>
                <a:effectLst/>
                <a:latin typeface="+mj-lt"/>
              </a:rPr>
              <a:t>KeyType</a:t>
            </a:r>
            <a:r>
              <a:rPr lang="en-US">
                <a:latin typeface="+mj-lt"/>
              </a:rPr>
              <a:t> </a:t>
            </a:r>
            <a:r>
              <a:rPr lang="en-US">
                <a:effectLst/>
                <a:latin typeface="+mj-lt"/>
              </a:rPr>
              <a:t>key, </a:t>
            </a:r>
            <a:r>
              <a:rPr lang="en-US" err="1">
                <a:solidFill>
                  <a:srgbClr val="000080"/>
                </a:solidFill>
                <a:effectLst/>
                <a:latin typeface="+mj-lt"/>
              </a:rPr>
              <a:t>ValueType</a:t>
            </a:r>
            <a:r>
              <a:rPr lang="en-US">
                <a:effectLst/>
                <a:latin typeface="+mj-lt"/>
              </a:rPr>
              <a:t> value</a:t>
            </a:r>
            <a:r>
              <a:rPr lang="en-US">
                <a:latin typeface="+mj-lt"/>
              </a:rPr>
              <a:t>); </a:t>
            </a:r>
          </a:p>
          <a:p>
            <a:pPr lvl="1"/>
            <a:endParaRPr lang="en-US">
              <a:latin typeface="+mj-lt"/>
            </a:endParaRPr>
          </a:p>
          <a:p>
            <a:r>
              <a:rPr lang="en-US">
                <a:solidFill>
                  <a:srgbClr val="007B00"/>
                </a:solidFill>
                <a:effectLst/>
                <a:latin typeface="+mj-lt"/>
              </a:rPr>
              <a:t>// </a:t>
            </a:r>
            <a:r>
              <a:rPr lang="en-US" b="1">
                <a:solidFill>
                  <a:srgbClr val="007B00"/>
                </a:solidFill>
                <a:effectLst/>
                <a:latin typeface="+mj-lt"/>
              </a:rPr>
              <a:t>Get</a:t>
            </a:r>
            <a:r>
              <a:rPr lang="en-US">
                <a:solidFill>
                  <a:srgbClr val="007B00"/>
                </a:solidFill>
                <a:effectLst/>
                <a:latin typeface="+mj-lt"/>
              </a:rPr>
              <a:t> (</a:t>
            </a:r>
            <a:r>
              <a:rPr lang="en-US" b="1">
                <a:solidFill>
                  <a:srgbClr val="007B00"/>
                </a:solidFill>
                <a:latin typeface="+mj-lt"/>
              </a:rPr>
              <a:t>lookup</a:t>
            </a:r>
            <a:r>
              <a:rPr lang="en-US">
                <a:solidFill>
                  <a:srgbClr val="007B00"/>
                </a:solidFill>
                <a:effectLst/>
                <a:latin typeface="+mj-lt"/>
              </a:rPr>
              <a:t>) a key's </a:t>
            </a:r>
            <a:r>
              <a:rPr lang="en-US">
                <a:solidFill>
                  <a:srgbClr val="007B00"/>
                </a:solidFill>
                <a:latin typeface="+mj-lt"/>
              </a:rPr>
              <a:t>value in the map.</a:t>
            </a:r>
            <a:br>
              <a:rPr lang="en-US">
                <a:solidFill>
                  <a:srgbClr val="007B00"/>
                </a:solidFill>
                <a:latin typeface="+mj-lt"/>
              </a:rPr>
            </a:br>
            <a:r>
              <a:rPr lang="en-US">
                <a:solidFill>
                  <a:srgbClr val="007B00"/>
                </a:solidFill>
                <a:latin typeface="+mj-lt"/>
              </a:rPr>
              <a:t>// </a:t>
            </a:r>
            <a:r>
              <a:rPr lang="en-US" b="1">
                <a:solidFill>
                  <a:srgbClr val="007B00"/>
                </a:solidFill>
                <a:latin typeface="+mj-lt"/>
              </a:rPr>
              <a:t>NOTE:</a:t>
            </a:r>
            <a:r>
              <a:rPr lang="en-US">
                <a:solidFill>
                  <a:srgbClr val="007B00"/>
                </a:solidFill>
                <a:latin typeface="+mj-lt"/>
              </a:rPr>
              <a:t> if key not in map, returns null</a:t>
            </a:r>
            <a:br>
              <a:rPr lang="en-US">
                <a:solidFill>
                  <a:srgbClr val="000080"/>
                </a:solidFill>
                <a:effectLst/>
                <a:latin typeface="+mj-lt"/>
              </a:rPr>
            </a:br>
            <a:r>
              <a:rPr lang="en-US" err="1">
                <a:solidFill>
                  <a:srgbClr val="000080"/>
                </a:solidFill>
                <a:latin typeface="+mj-lt"/>
              </a:rPr>
              <a:t>ValueType</a:t>
            </a:r>
            <a:r>
              <a:rPr lang="en-US">
                <a:latin typeface="+mj-lt"/>
              </a:rPr>
              <a:t> </a:t>
            </a:r>
            <a:r>
              <a:rPr lang="en-US">
                <a:effectLst/>
                <a:latin typeface="+mj-lt"/>
              </a:rPr>
              <a:t>get</a:t>
            </a:r>
            <a:r>
              <a:rPr lang="en-US">
                <a:latin typeface="+mj-lt"/>
              </a:rPr>
              <a:t>(</a:t>
            </a:r>
            <a:r>
              <a:rPr lang="en-US" err="1">
                <a:solidFill>
                  <a:srgbClr val="000080"/>
                </a:solidFill>
                <a:effectLst/>
                <a:latin typeface="+mj-lt"/>
              </a:rPr>
              <a:t>KeyType</a:t>
            </a:r>
            <a:r>
              <a:rPr lang="en-US">
                <a:latin typeface="+mj-lt"/>
              </a:rPr>
              <a:t> </a:t>
            </a:r>
            <a:r>
              <a:rPr lang="en-US">
                <a:effectLst/>
                <a:latin typeface="+mj-lt"/>
              </a:rPr>
              <a:t>key</a:t>
            </a:r>
            <a:r>
              <a:rPr lang="en-US">
                <a:latin typeface="+mj-lt"/>
              </a:rPr>
              <a:t>);</a:t>
            </a:r>
            <a:endParaRPr lang="en-US">
              <a:effectLst/>
              <a:latin typeface="+mj-lt"/>
            </a:endParaRPr>
          </a:p>
          <a:p>
            <a:pPr lvl="1"/>
            <a:endParaRPr lang="en-US">
              <a:effectLst/>
              <a:latin typeface="+mj-lt"/>
            </a:endParaRPr>
          </a:p>
          <a:p>
            <a:r>
              <a:rPr lang="en-US">
                <a:solidFill>
                  <a:srgbClr val="007B00"/>
                </a:solidFill>
                <a:effectLst/>
                <a:latin typeface="+mj-lt"/>
              </a:rPr>
              <a:t>// Get the (unordered) </a:t>
            </a:r>
            <a:r>
              <a:rPr lang="en-US" b="1">
                <a:solidFill>
                  <a:srgbClr val="007B00"/>
                </a:solidFill>
                <a:effectLst/>
                <a:latin typeface="+mj-lt"/>
              </a:rPr>
              <a:t>set of all keys</a:t>
            </a:r>
            <a:r>
              <a:rPr lang="en-US">
                <a:solidFill>
                  <a:srgbClr val="007B00"/>
                </a:solidFill>
                <a:effectLst/>
                <a:latin typeface="+mj-lt"/>
              </a:rPr>
              <a:t>.</a:t>
            </a:r>
            <a:br>
              <a:rPr lang="en-US">
                <a:solidFill>
                  <a:srgbClr val="007B00"/>
                </a:solidFill>
                <a:effectLst/>
                <a:latin typeface="+mj-lt"/>
              </a:rPr>
            </a:br>
            <a:r>
              <a:rPr lang="en-US">
                <a:solidFill>
                  <a:srgbClr val="007B00"/>
                </a:solidFill>
                <a:effectLst/>
                <a:latin typeface="+mj-lt"/>
              </a:rPr>
              <a:t>// </a:t>
            </a:r>
            <a:r>
              <a:rPr lang="en-US" b="1">
                <a:solidFill>
                  <a:srgbClr val="007B00"/>
                </a:solidFill>
                <a:effectLst/>
                <a:latin typeface="+mj-lt"/>
              </a:rPr>
              <a:t>NOTE:</a:t>
            </a:r>
            <a:r>
              <a:rPr lang="en-US">
                <a:solidFill>
                  <a:srgbClr val="007B00"/>
                </a:solidFill>
                <a:effectLst/>
                <a:latin typeface="+mj-lt"/>
              </a:rPr>
              <a:t> Use a for-each loop to iterate through this.</a:t>
            </a:r>
            <a:br>
              <a:rPr lang="en-US">
                <a:solidFill>
                  <a:srgbClr val="007B00"/>
                </a:solidFill>
                <a:effectLst/>
                <a:latin typeface="+mj-lt"/>
              </a:rPr>
            </a:br>
            <a:r>
              <a:rPr lang="en-US">
                <a:solidFill>
                  <a:srgbClr val="007B00"/>
                </a:solidFill>
                <a:effectLst/>
                <a:latin typeface="+mj-lt"/>
              </a:rPr>
              <a:t>//       for (</a:t>
            </a:r>
            <a:r>
              <a:rPr lang="en-US" err="1">
                <a:solidFill>
                  <a:srgbClr val="007B00"/>
                </a:solidFill>
                <a:effectLst/>
                <a:latin typeface="+mj-lt"/>
              </a:rPr>
              <a:t>KeyType</a:t>
            </a:r>
            <a:r>
              <a:rPr lang="en-US">
                <a:solidFill>
                  <a:srgbClr val="007B00"/>
                </a:solidFill>
                <a:effectLst/>
                <a:latin typeface="+mj-lt"/>
              </a:rPr>
              <a:t> key : </a:t>
            </a:r>
            <a:r>
              <a:rPr lang="en-US" err="1">
                <a:solidFill>
                  <a:srgbClr val="007B00"/>
                </a:solidFill>
                <a:effectLst/>
                <a:latin typeface="+mj-lt"/>
              </a:rPr>
              <a:t>map.keySet</a:t>
            </a:r>
            <a:r>
              <a:rPr lang="en-US">
                <a:solidFill>
                  <a:srgbClr val="007B00"/>
                </a:solidFill>
                <a:effectLst/>
                <a:latin typeface="+mj-lt"/>
              </a:rPr>
              <a:t>()) { ... }</a:t>
            </a:r>
            <a:br>
              <a:rPr lang="en-US">
                <a:solidFill>
                  <a:srgbClr val="000080"/>
                </a:solidFill>
                <a:effectLst/>
                <a:latin typeface="+mj-lt"/>
              </a:rPr>
            </a:br>
            <a:r>
              <a:rPr lang="en-US">
                <a:solidFill>
                  <a:srgbClr val="000080"/>
                </a:solidFill>
                <a:effectLst/>
                <a:latin typeface="+mj-lt"/>
              </a:rPr>
              <a:t>Set&lt;</a:t>
            </a:r>
            <a:r>
              <a:rPr lang="en-US" err="1">
                <a:solidFill>
                  <a:srgbClr val="000080"/>
                </a:solidFill>
                <a:effectLst/>
                <a:latin typeface="+mj-lt"/>
              </a:rPr>
              <a:t>KeyType</a:t>
            </a:r>
            <a:r>
              <a:rPr lang="en-US">
                <a:solidFill>
                  <a:srgbClr val="000080"/>
                </a:solidFill>
                <a:effectLst/>
                <a:latin typeface="+mj-lt"/>
              </a:rPr>
              <a:t>&gt;</a:t>
            </a:r>
            <a:r>
              <a:rPr lang="en-US">
                <a:latin typeface="+mj-lt"/>
              </a:rPr>
              <a:t> </a:t>
            </a:r>
            <a:r>
              <a:rPr lang="en-US" err="1">
                <a:effectLst/>
                <a:latin typeface="+mj-lt"/>
              </a:rPr>
              <a:t>keySet</a:t>
            </a:r>
            <a:r>
              <a:rPr lang="en-US">
                <a:latin typeface="+mj-lt"/>
              </a:rPr>
              <a:t>();</a:t>
            </a:r>
          </a:p>
        </p:txBody>
      </p:sp>
    </p:spTree>
    <p:extLst>
      <p:ext uri="{BB962C8B-B14F-4D97-AF65-F5344CB8AC3E}">
        <p14:creationId xmlns:p14="http://schemas.microsoft.com/office/powerpoint/2010/main" val="36345793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CE7F1-BA67-3938-E3D6-99B76C98BC6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40A8DA0-0C5A-4E15-705D-FBE6DEF80B97}"/>
              </a:ext>
            </a:extLst>
          </p:cNvPr>
          <p:cNvSpPr>
            <a:spLocks noGrp="1"/>
          </p:cNvSpPr>
          <p:nvPr>
            <p:ph type="title"/>
          </p:nvPr>
        </p:nvSpPr>
        <p:spPr/>
        <p:txBody>
          <a:bodyPr/>
          <a:lstStyle/>
          <a:p>
            <a:r>
              <a:rPr lang="en-US"/>
              <a:t>simple example</a:t>
            </a:r>
          </a:p>
        </p:txBody>
      </p:sp>
    </p:spTree>
    <p:extLst>
      <p:ext uri="{BB962C8B-B14F-4D97-AF65-F5344CB8AC3E}">
        <p14:creationId xmlns:p14="http://schemas.microsoft.com/office/powerpoint/2010/main" val="3469683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8C27475-EC30-6990-AB4D-0EB87EB5C48B}"/>
              </a:ext>
            </a:extLst>
          </p:cNvPr>
          <p:cNvSpPr>
            <a:spLocks noGrp="1"/>
          </p:cNvSpPr>
          <p:nvPr>
            <p:ph type="title"/>
          </p:nvPr>
        </p:nvSpPr>
        <p:spPr>
          <a:xfrm>
            <a:off x="470647" y="0"/>
            <a:ext cx="8202706" cy="5143500"/>
          </a:xfrm>
        </p:spPr>
        <p:txBody>
          <a:bodyPr/>
          <a:lstStyle/>
          <a:p>
            <a:pPr algn="l"/>
            <a:r>
              <a:rPr lang="en-US" sz="2000">
                <a:effectLst/>
                <a:latin typeface="Menlo" panose="020B0609030804020204" pitchFamily="49" charset="0"/>
              </a:rPr>
              <a:t>HashMap&lt;Character, Integer&gt; </a:t>
            </a:r>
            <a:r>
              <a:rPr lang="en-US" sz="2000">
                <a:solidFill>
                  <a:srgbClr val="6A3E3E"/>
                </a:solidFill>
                <a:effectLst/>
                <a:latin typeface="Menlo" panose="020B0609030804020204" pitchFamily="49" charset="0"/>
              </a:rPr>
              <a:t>map</a:t>
            </a:r>
            <a:r>
              <a:rPr lang="en-US" sz="2000">
                <a:effectLst/>
                <a:latin typeface="Menlo" panose="020B0609030804020204" pitchFamily="49" charset="0"/>
              </a:rPr>
              <a:t> = </a:t>
            </a:r>
            <a:r>
              <a:rPr lang="en-US" sz="2000" b="1">
                <a:solidFill>
                  <a:srgbClr val="7F0055"/>
                </a:solidFill>
                <a:effectLst/>
                <a:latin typeface="Menlo" panose="020B0609030804020204" pitchFamily="49" charset="0"/>
              </a:rPr>
              <a:t>new</a:t>
            </a:r>
            <a:r>
              <a:rPr lang="en-US" sz="2000">
                <a:effectLst/>
                <a:latin typeface="Menlo" panose="020B0609030804020204" pitchFamily="49" charset="0"/>
              </a:rPr>
              <a:t> HashMap&lt;&gt;();</a:t>
            </a:r>
            <a:br>
              <a:rPr lang="en-US" sz="2000">
                <a:effectLst/>
                <a:latin typeface="Menlo" panose="020B0609030804020204" pitchFamily="49" charset="0"/>
              </a:rPr>
            </a:br>
            <a:r>
              <a:rPr lang="en-US" sz="2000" i="1">
                <a:effectLst/>
                <a:latin typeface="Menlo" panose="020B0609030804020204" pitchFamily="49" charset="0"/>
              </a:rPr>
              <a:t>PRINT</a:t>
            </a:r>
            <a:r>
              <a:rPr lang="en-US" sz="2000">
                <a:effectLst/>
                <a:latin typeface="Menlo" panose="020B0609030804020204" pitchFamily="49" charset="0"/>
              </a:rPr>
              <a:t>(</a:t>
            </a:r>
            <a:r>
              <a:rPr lang="en-US" sz="2000">
                <a:solidFill>
                  <a:srgbClr val="6A3E3E"/>
                </a:solidFill>
                <a:effectLst/>
                <a:latin typeface="Menlo" panose="020B0609030804020204" pitchFamily="49" charset="0"/>
              </a:rPr>
              <a:t>map</a:t>
            </a:r>
            <a:r>
              <a:rPr lang="en-US" sz="2000">
                <a:effectLst/>
                <a:latin typeface="Menlo" panose="020B0609030804020204" pitchFamily="49" charset="0"/>
              </a:rPr>
              <a:t>); </a:t>
            </a:r>
            <a:r>
              <a:rPr lang="en-US" sz="2000">
                <a:solidFill>
                  <a:srgbClr val="3F7F5F"/>
                </a:solidFill>
                <a:effectLst/>
                <a:latin typeface="Menlo" panose="020B0609030804020204" pitchFamily="49" charset="0"/>
              </a:rPr>
              <a:t>// {}</a:t>
            </a:r>
            <a:br>
              <a:rPr lang="en-US" sz="2000">
                <a:effectLst/>
                <a:latin typeface="Menlo" panose="020B0609030804020204" pitchFamily="49" charset="0"/>
              </a:rPr>
            </a:br>
            <a:br>
              <a:rPr lang="en-US" sz="2000">
                <a:effectLst/>
                <a:latin typeface="Menlo" panose="020B0609030804020204" pitchFamily="49" charset="0"/>
              </a:rPr>
            </a:br>
            <a:r>
              <a:rPr lang="en-US" sz="2000">
                <a:solidFill>
                  <a:srgbClr val="6A3E3E"/>
                </a:solidFill>
                <a:effectLst/>
                <a:latin typeface="Menlo" panose="020B0609030804020204" pitchFamily="49" charset="0"/>
              </a:rPr>
              <a:t>map</a:t>
            </a:r>
            <a:r>
              <a:rPr lang="en-US" sz="2000">
                <a:effectLst/>
                <a:latin typeface="Menlo" panose="020B0609030804020204" pitchFamily="49" charset="0"/>
              </a:rPr>
              <a:t>.put(</a:t>
            </a:r>
            <a:r>
              <a:rPr lang="en-US" sz="2000">
                <a:solidFill>
                  <a:srgbClr val="2A00FF"/>
                </a:solidFill>
                <a:effectLst/>
                <a:latin typeface="Menlo" panose="020B0609030804020204" pitchFamily="49" charset="0"/>
              </a:rPr>
              <a:t>'a'</a:t>
            </a:r>
            <a:r>
              <a:rPr lang="en-US" sz="2000">
                <a:effectLst/>
                <a:latin typeface="Menlo" panose="020B0609030804020204" pitchFamily="49" charset="0"/>
              </a:rPr>
              <a:t>, 1);</a:t>
            </a:r>
            <a:br>
              <a:rPr lang="en-US" sz="2000">
                <a:effectLst/>
                <a:latin typeface="Menlo" panose="020B0609030804020204" pitchFamily="49" charset="0"/>
              </a:rPr>
            </a:br>
            <a:r>
              <a:rPr lang="en-US" sz="2000" i="1">
                <a:effectLst/>
                <a:latin typeface="Menlo" panose="020B0609030804020204" pitchFamily="49" charset="0"/>
              </a:rPr>
              <a:t>PRINT</a:t>
            </a:r>
            <a:r>
              <a:rPr lang="en-US" sz="2000">
                <a:effectLst/>
                <a:latin typeface="Menlo" panose="020B0609030804020204" pitchFamily="49" charset="0"/>
              </a:rPr>
              <a:t>(</a:t>
            </a:r>
            <a:r>
              <a:rPr lang="en-US" sz="2000">
                <a:solidFill>
                  <a:srgbClr val="6A3E3E"/>
                </a:solidFill>
                <a:effectLst/>
                <a:latin typeface="Menlo" panose="020B0609030804020204" pitchFamily="49" charset="0"/>
              </a:rPr>
              <a:t>map</a:t>
            </a:r>
            <a:r>
              <a:rPr lang="en-US" sz="2000">
                <a:effectLst/>
                <a:latin typeface="Menlo" panose="020B0609030804020204" pitchFamily="49" charset="0"/>
              </a:rPr>
              <a:t>); </a:t>
            </a:r>
            <a:r>
              <a:rPr lang="en-US" sz="2000">
                <a:solidFill>
                  <a:srgbClr val="3F7F5F"/>
                </a:solidFill>
                <a:effectLst/>
                <a:latin typeface="Menlo" panose="020B0609030804020204" pitchFamily="49" charset="0"/>
              </a:rPr>
              <a:t>// {a=1}</a:t>
            </a:r>
            <a:br>
              <a:rPr lang="en-US" sz="2000">
                <a:effectLst/>
                <a:latin typeface="Menlo" panose="020B0609030804020204" pitchFamily="49" charset="0"/>
              </a:rPr>
            </a:br>
            <a:br>
              <a:rPr lang="en-US" sz="2000">
                <a:effectLst/>
                <a:latin typeface="Menlo" panose="020B0609030804020204" pitchFamily="49" charset="0"/>
              </a:rPr>
            </a:br>
            <a:r>
              <a:rPr lang="en-US" sz="2000">
                <a:solidFill>
                  <a:srgbClr val="6A3E3E"/>
                </a:solidFill>
                <a:effectLst/>
                <a:latin typeface="Menlo" panose="020B0609030804020204" pitchFamily="49" charset="0"/>
              </a:rPr>
              <a:t>map</a:t>
            </a:r>
            <a:r>
              <a:rPr lang="en-US" sz="2000">
                <a:effectLst/>
                <a:latin typeface="Menlo" panose="020B0609030804020204" pitchFamily="49" charset="0"/>
              </a:rPr>
              <a:t>.put(</a:t>
            </a:r>
            <a:r>
              <a:rPr lang="en-US" sz="2000">
                <a:solidFill>
                  <a:srgbClr val="2A00FF"/>
                </a:solidFill>
                <a:effectLst/>
                <a:latin typeface="Menlo" panose="020B0609030804020204" pitchFamily="49" charset="0"/>
              </a:rPr>
              <a:t>'b'</a:t>
            </a:r>
            <a:r>
              <a:rPr lang="en-US" sz="2000">
                <a:effectLst/>
                <a:latin typeface="Menlo" panose="020B0609030804020204" pitchFamily="49" charset="0"/>
              </a:rPr>
              <a:t>, 1);</a:t>
            </a:r>
            <a:br>
              <a:rPr lang="en-US" sz="2000">
                <a:effectLst/>
                <a:latin typeface="Menlo" panose="020B0609030804020204" pitchFamily="49" charset="0"/>
              </a:rPr>
            </a:br>
            <a:r>
              <a:rPr lang="en-US" sz="2000" i="1">
                <a:solidFill>
                  <a:srgbClr val="000000"/>
                </a:solidFill>
                <a:effectLst/>
                <a:latin typeface="Menlo" panose="020B0609030804020204" pitchFamily="49" charset="0"/>
              </a:rPr>
              <a:t>PRINT</a:t>
            </a:r>
            <a:r>
              <a:rPr lang="en-US" sz="2000">
                <a:solidFill>
                  <a:srgbClr val="000000"/>
                </a:solidFill>
                <a:effectLst/>
                <a:latin typeface="Menlo" panose="020B0609030804020204" pitchFamily="49" charset="0"/>
              </a:rPr>
              <a:t>(</a:t>
            </a:r>
            <a:r>
              <a:rPr lang="en-US" sz="2000">
                <a:solidFill>
                  <a:srgbClr val="6A3E3E"/>
                </a:solidFill>
                <a:effectLst/>
                <a:latin typeface="Menlo" panose="020B0609030804020204" pitchFamily="49" charset="0"/>
              </a:rPr>
              <a:t>map</a:t>
            </a:r>
            <a:r>
              <a:rPr lang="en-US" sz="2000">
                <a:solidFill>
                  <a:srgbClr val="000000"/>
                </a:solidFill>
                <a:effectLst/>
                <a:latin typeface="Menlo" panose="020B0609030804020204" pitchFamily="49" charset="0"/>
              </a:rPr>
              <a:t>); </a:t>
            </a:r>
            <a:r>
              <a:rPr lang="en-US" sz="2000">
                <a:solidFill>
                  <a:srgbClr val="3F7F5F"/>
                </a:solidFill>
                <a:effectLst/>
                <a:latin typeface="Menlo" panose="020B0609030804020204" pitchFamily="49" charset="0"/>
              </a:rPr>
              <a:t>// {a=1, b=1}</a:t>
            </a:r>
            <a:br>
              <a:rPr lang="en-US" sz="2000">
                <a:solidFill>
                  <a:srgbClr val="3F7F5F"/>
                </a:solidFill>
                <a:effectLst/>
                <a:latin typeface="Menlo" panose="020B0609030804020204" pitchFamily="49" charset="0"/>
              </a:rPr>
            </a:br>
            <a:br>
              <a:rPr lang="en-US" sz="2000">
                <a:effectLst/>
                <a:latin typeface="Menlo" panose="020B0609030804020204" pitchFamily="49" charset="0"/>
              </a:rPr>
            </a:br>
            <a:r>
              <a:rPr lang="en-US" sz="2000">
                <a:solidFill>
                  <a:srgbClr val="6A3E3E"/>
                </a:solidFill>
                <a:effectLst/>
                <a:latin typeface="Menlo" panose="020B0609030804020204" pitchFamily="49" charset="0"/>
              </a:rPr>
              <a:t>map</a:t>
            </a:r>
            <a:r>
              <a:rPr lang="en-US" sz="2000">
                <a:effectLst/>
                <a:latin typeface="Menlo" panose="020B0609030804020204" pitchFamily="49" charset="0"/>
              </a:rPr>
              <a:t>.put(</a:t>
            </a:r>
            <a:r>
              <a:rPr lang="en-US" sz="2000">
                <a:solidFill>
                  <a:srgbClr val="2A00FF"/>
                </a:solidFill>
                <a:effectLst/>
                <a:latin typeface="Menlo" panose="020B0609030804020204" pitchFamily="49" charset="0"/>
              </a:rPr>
              <a:t>'b'</a:t>
            </a:r>
            <a:r>
              <a:rPr lang="en-US" sz="2000">
                <a:effectLst/>
                <a:latin typeface="Menlo" panose="020B0609030804020204" pitchFamily="49" charset="0"/>
              </a:rPr>
              <a:t>, 2);</a:t>
            </a:r>
            <a:br>
              <a:rPr lang="en-US" sz="2000">
                <a:effectLst/>
                <a:latin typeface="Menlo" panose="020B0609030804020204" pitchFamily="49" charset="0"/>
              </a:rPr>
            </a:br>
            <a:r>
              <a:rPr lang="en-US" sz="2000" i="1">
                <a:solidFill>
                  <a:srgbClr val="000000"/>
                </a:solidFill>
                <a:effectLst/>
                <a:latin typeface="Menlo" panose="020B0609030804020204" pitchFamily="49" charset="0"/>
              </a:rPr>
              <a:t>PRINT</a:t>
            </a:r>
            <a:r>
              <a:rPr lang="en-US" sz="2000">
                <a:solidFill>
                  <a:srgbClr val="000000"/>
                </a:solidFill>
                <a:effectLst/>
                <a:latin typeface="Menlo" panose="020B0609030804020204" pitchFamily="49" charset="0"/>
              </a:rPr>
              <a:t>(</a:t>
            </a:r>
            <a:r>
              <a:rPr lang="en-US" sz="2000">
                <a:solidFill>
                  <a:srgbClr val="6A3E3E"/>
                </a:solidFill>
                <a:effectLst/>
                <a:latin typeface="Menlo" panose="020B0609030804020204" pitchFamily="49" charset="0"/>
              </a:rPr>
              <a:t>map</a:t>
            </a:r>
            <a:r>
              <a:rPr lang="en-US" sz="2000">
                <a:solidFill>
                  <a:srgbClr val="000000"/>
                </a:solidFill>
                <a:effectLst/>
                <a:latin typeface="Menlo" panose="020B0609030804020204" pitchFamily="49" charset="0"/>
              </a:rPr>
              <a:t>); </a:t>
            </a:r>
            <a:r>
              <a:rPr lang="en-US" sz="2000">
                <a:solidFill>
                  <a:srgbClr val="3F7F5F"/>
                </a:solidFill>
                <a:effectLst/>
                <a:latin typeface="Menlo" panose="020B0609030804020204" pitchFamily="49" charset="0"/>
              </a:rPr>
              <a:t>// {a=1, b=2}</a:t>
            </a:r>
            <a:endParaRPr lang="en-US" sz="2000"/>
          </a:p>
        </p:txBody>
      </p:sp>
    </p:spTree>
    <p:extLst>
      <p:ext uri="{BB962C8B-B14F-4D97-AF65-F5344CB8AC3E}">
        <p14:creationId xmlns:p14="http://schemas.microsoft.com/office/powerpoint/2010/main" val="3692097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29FD6-5297-9212-D8B3-868493B1DB9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FA1AF83-193C-2E66-8DA0-24BBDE73DF6E}"/>
              </a:ext>
            </a:extLst>
          </p:cNvPr>
          <p:cNvSpPr>
            <a:spLocks noGrp="1"/>
          </p:cNvSpPr>
          <p:nvPr>
            <p:ph type="title"/>
          </p:nvPr>
        </p:nvSpPr>
        <p:spPr/>
        <p:txBody>
          <a:bodyPr/>
          <a:lstStyle/>
          <a:p>
            <a:r>
              <a:rPr lang="en-US"/>
              <a:t>motivating example</a:t>
            </a:r>
          </a:p>
        </p:txBody>
      </p:sp>
    </p:spTree>
    <p:extLst>
      <p:ext uri="{BB962C8B-B14F-4D97-AF65-F5344CB8AC3E}">
        <p14:creationId xmlns:p14="http://schemas.microsoft.com/office/powerpoint/2010/main" val="17817631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2FE82-0E8D-2CE3-C17E-ED55EBB01C9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F34C70C-4453-3784-90BF-1EDD6D462E89}"/>
              </a:ext>
            </a:extLst>
          </p:cNvPr>
          <p:cNvSpPr>
            <a:spLocks noGrp="1"/>
          </p:cNvSpPr>
          <p:nvPr>
            <p:ph type="title"/>
          </p:nvPr>
        </p:nvSpPr>
        <p:spPr>
          <a:noFill/>
        </p:spPr>
        <p:txBody>
          <a:bodyPr/>
          <a:lstStyle/>
          <a:p>
            <a:r>
              <a:rPr lang="en-US" sz="2800"/>
              <a:t>Pokémon</a:t>
            </a:r>
            <a:endParaRPr lang="en-US" sz="2800" b="1"/>
          </a:p>
        </p:txBody>
      </p:sp>
      <p:sp>
        <p:nvSpPr>
          <p:cNvPr id="5" name="Content Placeholder 4">
            <a:extLst>
              <a:ext uri="{FF2B5EF4-FFF2-40B4-BE49-F238E27FC236}">
                <a16:creationId xmlns:a16="http://schemas.microsoft.com/office/drawing/2014/main" id="{04FF9063-25EE-577B-3F26-72BB42E7C35E}"/>
              </a:ext>
            </a:extLst>
          </p:cNvPr>
          <p:cNvSpPr>
            <a:spLocks noGrp="1"/>
          </p:cNvSpPr>
          <p:nvPr>
            <p:ph sz="quarter" idx="10"/>
          </p:nvPr>
        </p:nvSpPr>
        <p:spPr>
          <a:noFill/>
        </p:spPr>
        <p:txBody>
          <a:bodyPr/>
          <a:lstStyle/>
          <a:p>
            <a:r>
              <a:rPr lang="en-US" sz="1800"/>
              <a:t>there are 151 </a:t>
            </a:r>
            <a:r>
              <a:rPr lang="en-US" sz="1800" b="1"/>
              <a:t>Pokémon</a:t>
            </a:r>
            <a:endParaRPr lang="en-US" sz="1400" b="1"/>
          </a:p>
          <a:p>
            <a:r>
              <a:rPr kumimoji="0" lang="en-US" sz="180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each has its own </a:t>
            </a:r>
            <a:r>
              <a:rPr kumimoji="0" lang="en-US" sz="1800" b="1"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number</a:t>
            </a:r>
            <a:endParaRPr lang="en-US" b="1">
              <a:solidFill>
                <a:srgbClr val="000000"/>
              </a:solidFill>
              <a:latin typeface="Arial"/>
              <a:cs typeface="+mj-cs"/>
            </a:endParaRPr>
          </a:p>
          <a:p>
            <a:pPr marL="685786" lvl="1" indent="-342900">
              <a:buFont typeface="+mj-lt"/>
              <a:buAutoNum type="arabicPeriod"/>
            </a:pPr>
            <a:r>
              <a:rPr kumimoji="0" lang="en-US"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Bulbasaur</a:t>
            </a:r>
          </a:p>
          <a:p>
            <a:pPr marL="685786" lvl="1" indent="-342900">
              <a:buFont typeface="+mj-lt"/>
              <a:buAutoNum type="arabicPeriod"/>
            </a:pPr>
            <a:r>
              <a:rPr kumimoji="0" lang="en-US" i="0" u="none" strike="noStrike" kern="1200" cap="none" spc="0" normalizeH="0" baseline="0" noProof="0" err="1">
                <a:ln>
                  <a:noFill/>
                </a:ln>
                <a:solidFill>
                  <a:srgbClr val="000000"/>
                </a:solidFill>
                <a:effectLst/>
                <a:uLnTx/>
                <a:uFillTx/>
                <a:latin typeface="Arial"/>
                <a:ea typeface="Segoe UI Emoji" panose="020B0502040204020203" pitchFamily="34" charset="0"/>
                <a:cs typeface="+mj-cs"/>
              </a:rPr>
              <a:t>Ivysaur</a:t>
            </a:r>
            <a:endParaRPr kumimoji="0" lang="en-US" i="0" u="none" strike="noStrike" kern="1200" cap="none" spc="0" normalizeH="0" baseline="0" noProof="0">
              <a:ln>
                <a:noFill/>
              </a:ln>
              <a:solidFill>
                <a:srgbClr val="000000"/>
              </a:solidFill>
              <a:effectLst/>
              <a:uLnTx/>
              <a:uFillTx/>
              <a:latin typeface="Arial"/>
              <a:ea typeface="Segoe UI Emoji" panose="020B0502040204020203" pitchFamily="34" charset="0"/>
              <a:cs typeface="+mj-cs"/>
            </a:endParaRPr>
          </a:p>
          <a:p>
            <a:pPr marL="685786" lvl="1" indent="-342900">
              <a:buFont typeface="+mj-lt"/>
              <a:buAutoNum type="arabicPeriod"/>
            </a:pPr>
            <a:r>
              <a:rPr lang="en-US" err="1">
                <a:solidFill>
                  <a:srgbClr val="000000"/>
                </a:solidFill>
                <a:latin typeface="Arial"/>
                <a:cs typeface="+mj-cs"/>
              </a:rPr>
              <a:t>Venusaur</a:t>
            </a:r>
            <a:endParaRPr lang="en-US">
              <a:solidFill>
                <a:srgbClr val="000000"/>
              </a:solidFill>
              <a:latin typeface="Arial"/>
              <a:cs typeface="+mj-cs"/>
            </a:endParaRPr>
          </a:p>
          <a:p>
            <a:pPr marL="685786" lvl="1" indent="-342900">
              <a:buFont typeface="+mj-lt"/>
              <a:buAutoNum type="arabicPeriod"/>
            </a:pPr>
            <a:r>
              <a:rPr lang="en-US">
                <a:solidFill>
                  <a:srgbClr val="000000"/>
                </a:solidFill>
                <a:latin typeface="Arial"/>
                <a:cs typeface="+mj-cs"/>
              </a:rPr>
              <a:t>Charmander</a:t>
            </a:r>
          </a:p>
          <a:p>
            <a:pPr marL="685786" lvl="1" indent="-342900">
              <a:buFont typeface="+mj-lt"/>
              <a:buAutoNum type="arabicPeriod"/>
            </a:pPr>
            <a:r>
              <a:rPr lang="en-US">
                <a:solidFill>
                  <a:srgbClr val="BFBFBF"/>
                </a:solidFill>
                <a:latin typeface="Arial"/>
                <a:cs typeface="+mj-cs"/>
              </a:rPr>
              <a:t>...</a:t>
            </a:r>
            <a:endParaRPr lang="en-US">
              <a:solidFill>
                <a:srgbClr val="BFBFBF"/>
              </a:solidFill>
            </a:endParaRPr>
          </a:p>
        </p:txBody>
      </p:sp>
      <p:pic>
        <p:nvPicPr>
          <p:cNvPr id="6" name="Picture 2" descr="Classic Pokemon Red and Blue Sprites All 151 First Generation image 1">
            <a:extLst>
              <a:ext uri="{FF2B5EF4-FFF2-40B4-BE49-F238E27FC236}">
                <a16:creationId xmlns:a16="http://schemas.microsoft.com/office/drawing/2014/main" id="{D9D4E961-BBE6-CFA1-7A2B-07CA4F11ED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9994" y="1004590"/>
            <a:ext cx="5564005" cy="40802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81835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A40DC-4667-7CED-87D3-81B3B8CC4CCB}"/>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FCB162FE-79F8-EDA3-E8F5-C2743989C4FB}"/>
              </a:ext>
            </a:extLst>
          </p:cNvPr>
          <p:cNvSpPr>
            <a:spLocks noGrp="1"/>
          </p:cNvSpPr>
          <p:nvPr>
            <p:ph type="title"/>
          </p:nvPr>
        </p:nvSpPr>
        <p:spPr/>
        <p:txBody>
          <a:bodyPr/>
          <a:lstStyle/>
          <a:p>
            <a:r>
              <a:rPr lang="en-US"/>
              <a:t>number </a:t>
            </a:r>
            <a:r>
              <a:rPr lang="en-US">
                <a:sym typeface="Wingdings" pitchFamily="2" charset="2"/>
              </a:rPr>
              <a:t></a:t>
            </a:r>
            <a:r>
              <a:rPr lang="en-US"/>
              <a:t> name</a:t>
            </a:r>
            <a:endParaRPr lang="en-US">
              <a:solidFill>
                <a:srgbClr val="BFBFBF"/>
              </a:solidFill>
            </a:endParaRPr>
          </a:p>
        </p:txBody>
      </p:sp>
      <p:sp>
        <p:nvSpPr>
          <p:cNvPr id="2" name="Content Placeholder 4">
            <a:extLst>
              <a:ext uri="{FF2B5EF4-FFF2-40B4-BE49-F238E27FC236}">
                <a16:creationId xmlns:a16="http://schemas.microsoft.com/office/drawing/2014/main" id="{A58B5C7F-7A80-2A9F-D9D2-878492E0CCB0}"/>
              </a:ext>
            </a:extLst>
          </p:cNvPr>
          <p:cNvSpPr txBox="1">
            <a:spLocks/>
          </p:cNvSpPr>
          <p:nvPr/>
        </p:nvSpPr>
        <p:spPr>
          <a:xfrm>
            <a:off x="457200" y="963337"/>
            <a:ext cx="8229600" cy="4080271"/>
          </a:xfrm>
          <a:prstGeom prst="rect">
            <a:avLst/>
          </a:prstGeom>
          <a:noFill/>
        </p:spPr>
        <p:txBody>
          <a:bodyPr/>
          <a:lstStyle>
            <a:lvl1pPr marL="285739"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1pPr>
            <a:lvl2pPr marL="628625"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2pPr>
            <a:lvl3pPr marL="971511"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3pPr>
            <a:lvl4pPr marL="1314397"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4pPr>
            <a:lvl5pPr marL="1657284"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5pPr>
            <a:lvl6pPr marL="2057318" indent="-342886" algn="l" defTabSz="342886" rtl="0" eaLnBrk="1" latinLnBrk="0" hangingPunct="1">
              <a:spcBef>
                <a:spcPct val="20000"/>
              </a:spcBef>
              <a:buFont typeface="Arial"/>
              <a:buChar char="•"/>
              <a:defRPr sz="1500" kern="1200">
                <a:solidFill>
                  <a:schemeClr val="tx1"/>
                </a:solidFill>
                <a:latin typeface="+mn-lt"/>
                <a:ea typeface="+mn-ea"/>
                <a:cs typeface="+mn-cs"/>
              </a:defRPr>
            </a:lvl6pPr>
            <a:lvl7pPr marL="2400204" indent="-342886" algn="l" defTabSz="342886" rtl="0" eaLnBrk="1" latinLnBrk="0" hangingPunct="1">
              <a:spcBef>
                <a:spcPct val="20000"/>
              </a:spcBef>
              <a:buFont typeface="Arial"/>
              <a:buChar char="•"/>
              <a:defRPr sz="1500" kern="1200">
                <a:solidFill>
                  <a:schemeClr val="tx1"/>
                </a:solidFill>
                <a:latin typeface="+mn-lt"/>
                <a:ea typeface="+mn-ea"/>
                <a:cs typeface="+mn-cs"/>
              </a:defRPr>
            </a:lvl7pPr>
            <a:lvl8pPr marL="2743090" indent="-342886" algn="l" defTabSz="342886" rtl="0" eaLnBrk="1" latinLnBrk="0" hangingPunct="1">
              <a:spcBef>
                <a:spcPct val="20000"/>
              </a:spcBef>
              <a:buFont typeface="Arial"/>
              <a:buChar char="•"/>
              <a:defRPr sz="1500" kern="1200">
                <a:solidFill>
                  <a:schemeClr val="tx1"/>
                </a:solidFill>
                <a:latin typeface="+mn-lt"/>
                <a:ea typeface="+mn-ea"/>
                <a:cs typeface="+mn-cs"/>
              </a:defRPr>
            </a:lvl8pPr>
            <a:lvl9pPr marL="3085977" indent="-342886" algn="l" defTabSz="342886" rtl="0" eaLnBrk="1" latinLnBrk="0" hangingPunct="1">
              <a:spcBef>
                <a:spcPct val="20000"/>
              </a:spcBef>
              <a:buFont typeface="Arial"/>
              <a:buChar char="•"/>
              <a:defRPr sz="1500" kern="1200">
                <a:solidFill>
                  <a:schemeClr val="tx1"/>
                </a:solidFill>
                <a:latin typeface="+mn-lt"/>
                <a:ea typeface="+mn-ea"/>
                <a:cs typeface="+mn-cs"/>
              </a:defRPr>
            </a:lvl9pPr>
          </a:lstStyle>
          <a:p>
            <a:pPr marL="0" indent="0">
              <a:buNone/>
            </a:pPr>
            <a:endParaRPr lang="en-US">
              <a:solidFill>
                <a:srgbClr val="000000"/>
              </a:solidFill>
              <a:latin typeface="Consolas" panose="020B0609020204030204" pitchFamily="49" charset="0"/>
              <a:cs typeface="Consolas" panose="020B0609020204030204" pitchFamily="49" charset="0"/>
            </a:endParaRPr>
          </a:p>
          <a:p>
            <a:pPr marL="342886" lvl="1" indent="0">
              <a:buNone/>
            </a:pPr>
            <a:endParaRPr lang="en-US">
              <a:solidFill>
                <a:srgbClr val="000000"/>
              </a:solidFill>
              <a:latin typeface="Consolas" panose="020B0609020204030204" pitchFamily="49" charset="0"/>
              <a:cs typeface="Consolas" panose="020B0609020204030204" pitchFamily="49" charset="0"/>
            </a:endParaRPr>
          </a:p>
          <a:p>
            <a:pPr marL="342886" lvl="1" indent="0">
              <a:buNone/>
            </a:pPr>
            <a:r>
              <a:rPr lang="en-US">
                <a:solidFill>
                  <a:srgbClr val="0CB5B5"/>
                </a:solidFill>
                <a:latin typeface="Consolas" panose="020B0609020204030204" pitchFamily="49" charset="0"/>
                <a:cs typeface="Consolas" panose="020B0609020204030204" pitchFamily="49" charset="0"/>
                <a:sym typeface="Wingdings" pitchFamily="2" charset="2"/>
              </a:rPr>
              <a:t>1</a:t>
            </a:r>
            <a:r>
              <a:rPr lang="en-US">
                <a:solidFill>
                  <a:srgbClr val="000000"/>
                </a:solidFill>
                <a:latin typeface="Consolas" panose="020B0609020204030204" pitchFamily="49" charset="0"/>
                <a:cs typeface="Consolas" panose="020B0609020204030204" pitchFamily="49" charset="0"/>
                <a:sym typeface="Wingdings" pitchFamily="2" charset="2"/>
              </a:rPr>
              <a:t>  </a:t>
            </a:r>
            <a:r>
              <a:rPr lang="en-US">
                <a:solidFill>
                  <a:srgbClr val="B60E0E"/>
                </a:solidFill>
                <a:latin typeface="Consolas" panose="020B0609020204030204" pitchFamily="49" charset="0"/>
                <a:cs typeface="Consolas" panose="020B0609020204030204" pitchFamily="49" charset="0"/>
                <a:sym typeface="Wingdings" pitchFamily="2" charset="2"/>
              </a:rPr>
              <a:t>"</a:t>
            </a:r>
            <a:r>
              <a:rPr lang="en-US">
                <a:solidFill>
                  <a:srgbClr val="B60E0E"/>
                </a:solidFill>
                <a:latin typeface="Consolas" panose="020B0609020204030204" pitchFamily="49" charset="0"/>
                <a:cs typeface="Consolas" panose="020B0609020204030204" pitchFamily="49" charset="0"/>
              </a:rPr>
              <a:t>Bulbasaur"</a:t>
            </a:r>
          </a:p>
          <a:p>
            <a:pPr marL="342886" lvl="1" indent="0">
              <a:buNone/>
            </a:pPr>
            <a:r>
              <a:rPr lang="en-US">
                <a:solidFill>
                  <a:srgbClr val="0CB5B5"/>
                </a:solidFill>
                <a:latin typeface="Consolas" panose="020B0609020204030204" pitchFamily="49" charset="0"/>
                <a:cs typeface="Consolas" panose="020B0609020204030204" pitchFamily="49" charset="0"/>
                <a:sym typeface="Wingdings" pitchFamily="2" charset="2"/>
              </a:rPr>
              <a:t>2 </a:t>
            </a:r>
            <a:r>
              <a:rPr lang="en-US">
                <a:solidFill>
                  <a:srgbClr val="000000"/>
                </a:solidFill>
                <a:latin typeface="Consolas" panose="020B0609020204030204" pitchFamily="49" charset="0"/>
                <a:cs typeface="Consolas" panose="020B0609020204030204" pitchFamily="49" charset="0"/>
                <a:sym typeface="Wingdings" pitchFamily="2" charset="2"/>
              </a:rPr>
              <a:t> </a:t>
            </a:r>
            <a:r>
              <a:rPr lang="en-US">
                <a:solidFill>
                  <a:srgbClr val="B60E0E"/>
                </a:solidFill>
                <a:latin typeface="Consolas" panose="020B0609020204030204" pitchFamily="49" charset="0"/>
                <a:cs typeface="Consolas" panose="020B0609020204030204" pitchFamily="49" charset="0"/>
                <a:sym typeface="Wingdings" pitchFamily="2" charset="2"/>
              </a:rPr>
              <a:t>"</a:t>
            </a:r>
            <a:r>
              <a:rPr lang="en-US" err="1">
                <a:solidFill>
                  <a:srgbClr val="B60E0E"/>
                </a:solidFill>
                <a:latin typeface="Consolas" panose="020B0609020204030204" pitchFamily="49" charset="0"/>
                <a:cs typeface="Consolas" panose="020B0609020204030204" pitchFamily="49" charset="0"/>
              </a:rPr>
              <a:t>Ivysaur</a:t>
            </a:r>
            <a:r>
              <a:rPr lang="en-US">
                <a:solidFill>
                  <a:srgbClr val="B60E0E"/>
                </a:solidFill>
                <a:latin typeface="Consolas" panose="020B0609020204030204" pitchFamily="49" charset="0"/>
                <a:cs typeface="Consolas" panose="020B0609020204030204" pitchFamily="49" charset="0"/>
              </a:rPr>
              <a:t>"</a:t>
            </a:r>
          </a:p>
          <a:p>
            <a:pPr marL="342886" lvl="1" indent="0">
              <a:buNone/>
            </a:pPr>
            <a:r>
              <a:rPr lang="en-US">
                <a:solidFill>
                  <a:srgbClr val="0CB5B5"/>
                </a:solidFill>
                <a:latin typeface="Consolas" panose="020B0609020204030204" pitchFamily="49" charset="0"/>
                <a:cs typeface="Consolas" panose="020B0609020204030204" pitchFamily="49" charset="0"/>
                <a:sym typeface="Wingdings" pitchFamily="2" charset="2"/>
              </a:rPr>
              <a:t>3 </a:t>
            </a:r>
            <a:r>
              <a:rPr lang="en-US">
                <a:solidFill>
                  <a:srgbClr val="000000"/>
                </a:solidFill>
                <a:latin typeface="Consolas" panose="020B0609020204030204" pitchFamily="49" charset="0"/>
                <a:cs typeface="Consolas" panose="020B0609020204030204" pitchFamily="49" charset="0"/>
                <a:sym typeface="Wingdings" pitchFamily="2" charset="2"/>
              </a:rPr>
              <a:t> </a:t>
            </a:r>
            <a:r>
              <a:rPr lang="en-US">
                <a:solidFill>
                  <a:srgbClr val="B60E0E"/>
                </a:solidFill>
                <a:latin typeface="Consolas" panose="020B0609020204030204" pitchFamily="49" charset="0"/>
                <a:cs typeface="Consolas" panose="020B0609020204030204" pitchFamily="49" charset="0"/>
                <a:sym typeface="Wingdings" pitchFamily="2" charset="2"/>
              </a:rPr>
              <a:t>"</a:t>
            </a:r>
            <a:r>
              <a:rPr lang="en-US" err="1">
                <a:solidFill>
                  <a:srgbClr val="B60E0E"/>
                </a:solidFill>
                <a:latin typeface="Consolas" panose="020B0609020204030204" pitchFamily="49" charset="0"/>
                <a:cs typeface="Consolas" panose="020B0609020204030204" pitchFamily="49" charset="0"/>
              </a:rPr>
              <a:t>Venusaur</a:t>
            </a:r>
            <a:r>
              <a:rPr lang="en-US">
                <a:solidFill>
                  <a:srgbClr val="B60E0E"/>
                </a:solidFill>
                <a:latin typeface="Consolas" panose="020B0609020204030204" pitchFamily="49" charset="0"/>
                <a:cs typeface="Consolas" panose="020B0609020204030204" pitchFamily="49" charset="0"/>
              </a:rPr>
              <a:t>"</a:t>
            </a:r>
          </a:p>
          <a:p>
            <a:pPr marL="342886" lvl="1" indent="0">
              <a:buNone/>
            </a:pPr>
            <a:r>
              <a:rPr lang="en-US">
                <a:solidFill>
                  <a:srgbClr val="0CB5B5"/>
                </a:solidFill>
                <a:latin typeface="Consolas" panose="020B0609020204030204" pitchFamily="49" charset="0"/>
                <a:cs typeface="Consolas" panose="020B0609020204030204" pitchFamily="49" charset="0"/>
                <a:sym typeface="Wingdings" pitchFamily="2" charset="2"/>
              </a:rPr>
              <a:t>4 </a:t>
            </a:r>
            <a:r>
              <a:rPr lang="en-US">
                <a:solidFill>
                  <a:srgbClr val="000000"/>
                </a:solidFill>
                <a:latin typeface="Consolas" panose="020B0609020204030204" pitchFamily="49" charset="0"/>
                <a:cs typeface="Consolas" panose="020B0609020204030204" pitchFamily="49" charset="0"/>
                <a:sym typeface="Wingdings" pitchFamily="2" charset="2"/>
              </a:rPr>
              <a:t> </a:t>
            </a:r>
            <a:r>
              <a:rPr lang="en-US">
                <a:solidFill>
                  <a:srgbClr val="B60E0E"/>
                </a:solidFill>
                <a:latin typeface="Consolas" panose="020B0609020204030204" pitchFamily="49" charset="0"/>
                <a:cs typeface="Consolas" panose="020B0609020204030204" pitchFamily="49" charset="0"/>
                <a:sym typeface="Wingdings" pitchFamily="2" charset="2"/>
              </a:rPr>
              <a:t>"</a:t>
            </a:r>
            <a:r>
              <a:rPr lang="en-US">
                <a:solidFill>
                  <a:srgbClr val="B60E0E"/>
                </a:solidFill>
                <a:latin typeface="Consolas" panose="020B0609020204030204" pitchFamily="49" charset="0"/>
                <a:cs typeface="Consolas" panose="020B0609020204030204" pitchFamily="49" charset="0"/>
              </a:rPr>
              <a:t>Charmander"</a:t>
            </a:r>
          </a:p>
          <a:p>
            <a:pPr marL="342886" lvl="1" indent="0">
              <a:buNone/>
            </a:pPr>
            <a:r>
              <a:rPr lang="en-US">
                <a:solidFill>
                  <a:srgbClr val="BFBFBF"/>
                </a:solidFill>
                <a:latin typeface="Consolas" panose="020B0609020204030204" pitchFamily="49" charset="0"/>
                <a:cs typeface="Consolas" panose="020B0609020204030204" pitchFamily="49" charset="0"/>
              </a:rPr>
              <a:t>...</a:t>
            </a:r>
          </a:p>
        </p:txBody>
      </p:sp>
      <p:sp>
        <p:nvSpPr>
          <p:cNvPr id="3" name="TextBox 2">
            <a:extLst>
              <a:ext uri="{FF2B5EF4-FFF2-40B4-BE49-F238E27FC236}">
                <a16:creationId xmlns:a16="http://schemas.microsoft.com/office/drawing/2014/main" id="{4333BF75-13EE-E859-84F1-CB2F289E25A4}"/>
              </a:ext>
            </a:extLst>
          </p:cNvPr>
          <p:cNvSpPr txBox="1"/>
          <p:nvPr/>
        </p:nvSpPr>
        <p:spPr>
          <a:xfrm>
            <a:off x="3321423" y="1879252"/>
            <a:ext cx="3281082" cy="1384995"/>
          </a:xfrm>
          <a:prstGeom prst="rect">
            <a:avLst/>
          </a:prstGeom>
          <a:solidFill>
            <a:schemeClr val="accent3">
              <a:lumMod val="20000"/>
              <a:lumOff val="80000"/>
            </a:schemeClr>
          </a:solidFill>
          <a:ln>
            <a:solidFill>
              <a:schemeClr val="tx1"/>
            </a:solidFill>
          </a:ln>
        </p:spPr>
        <p:txBody>
          <a:bodyPr wrap="square" rtlCol="0">
            <a:spAutoFit/>
          </a:bodyPr>
          <a:lstStyle/>
          <a:p>
            <a:r>
              <a:rPr lang="en-US" sz="2800"/>
              <a:t>what data structure should we use to implement this?</a:t>
            </a:r>
          </a:p>
        </p:txBody>
      </p:sp>
    </p:spTree>
    <p:extLst>
      <p:ext uri="{BB962C8B-B14F-4D97-AF65-F5344CB8AC3E}">
        <p14:creationId xmlns:p14="http://schemas.microsoft.com/office/powerpoint/2010/main" val="2882615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923E38-074C-1324-FEB6-6198079222A6}"/>
              </a:ext>
            </a:extLst>
          </p:cNvPr>
          <p:cNvSpPr>
            <a:spLocks noGrp="1"/>
          </p:cNvSpPr>
          <p:nvPr>
            <p:ph type="title"/>
          </p:nvPr>
        </p:nvSpPr>
        <p:spPr/>
        <p:txBody>
          <a:bodyPr/>
          <a:lstStyle/>
          <a:p>
            <a:r>
              <a:rPr lang="en-US"/>
              <a:t>an array</a:t>
            </a:r>
          </a:p>
        </p:txBody>
      </p:sp>
    </p:spTree>
    <p:extLst>
      <p:ext uri="{BB962C8B-B14F-4D97-AF65-F5344CB8AC3E}">
        <p14:creationId xmlns:p14="http://schemas.microsoft.com/office/powerpoint/2010/main" val="7495971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05256-3F14-61D6-80CA-D48A2B0F113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99E89FC-A9A7-6C15-BA28-0397587FACCF}"/>
              </a:ext>
            </a:extLst>
          </p:cNvPr>
          <p:cNvSpPr>
            <a:spLocks noGrp="1"/>
          </p:cNvSpPr>
          <p:nvPr>
            <p:ph type="title"/>
          </p:nvPr>
        </p:nvSpPr>
        <p:spPr/>
        <p:txBody>
          <a:bodyPr/>
          <a:lstStyle/>
          <a:p>
            <a:r>
              <a:rPr lang="en-US"/>
              <a:t>the answer is always array</a:t>
            </a:r>
          </a:p>
        </p:txBody>
      </p:sp>
    </p:spTree>
    <p:extLst>
      <p:ext uri="{BB962C8B-B14F-4D97-AF65-F5344CB8AC3E}">
        <p14:creationId xmlns:p14="http://schemas.microsoft.com/office/powerpoint/2010/main" val="27726683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88419-4BDA-E56C-9E28-6824024E6DD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15186C-55CB-EFBE-D89B-6A1F8901A4BA}"/>
              </a:ext>
            </a:extLst>
          </p:cNvPr>
          <p:cNvSpPr>
            <a:spLocks noGrp="1"/>
          </p:cNvSpPr>
          <p:nvPr>
            <p:ph type="title"/>
          </p:nvPr>
        </p:nvSpPr>
        <p:spPr/>
        <p:txBody>
          <a:bodyPr/>
          <a:lstStyle/>
          <a:p>
            <a:r>
              <a:rPr lang="en-US" sz="2800"/>
              <a:t>even during the map lecture</a:t>
            </a:r>
          </a:p>
        </p:txBody>
      </p:sp>
    </p:spTree>
    <p:extLst>
      <p:ext uri="{BB962C8B-B14F-4D97-AF65-F5344CB8AC3E}">
        <p14:creationId xmlns:p14="http://schemas.microsoft.com/office/powerpoint/2010/main" val="5026652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D2084-2EC8-6587-2383-CD00660C44FE}"/>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D25BEF34-D1E6-6003-1F13-9879A69B6E64}"/>
              </a:ext>
            </a:extLst>
          </p:cNvPr>
          <p:cNvSpPr>
            <a:spLocks noGrp="1"/>
          </p:cNvSpPr>
          <p:nvPr>
            <p:ph type="title"/>
          </p:nvPr>
        </p:nvSpPr>
        <p:spPr/>
        <p:txBody>
          <a:bodyPr/>
          <a:lstStyle/>
          <a:p>
            <a:r>
              <a:rPr lang="en-US"/>
              <a:t>number </a:t>
            </a:r>
            <a:r>
              <a:rPr lang="en-US">
                <a:sym typeface="Wingdings" pitchFamily="2" charset="2"/>
              </a:rPr>
              <a:t></a:t>
            </a:r>
            <a:r>
              <a:rPr lang="en-US"/>
              <a:t> name </a:t>
            </a:r>
            <a:r>
              <a:rPr lang="en-US">
                <a:solidFill>
                  <a:srgbClr val="BFBFBF"/>
                </a:solidFill>
              </a:rPr>
              <a:t>(Option A)</a:t>
            </a:r>
          </a:p>
        </p:txBody>
      </p:sp>
      <p:sp>
        <p:nvSpPr>
          <p:cNvPr id="13" name="TextBox 12">
            <a:extLst>
              <a:ext uri="{FF2B5EF4-FFF2-40B4-BE49-F238E27FC236}">
                <a16:creationId xmlns:a16="http://schemas.microsoft.com/office/drawing/2014/main" id="{94FA2586-E904-989F-CE2B-8A5698F318E9}"/>
              </a:ext>
            </a:extLst>
          </p:cNvPr>
          <p:cNvSpPr txBox="1"/>
          <p:nvPr/>
        </p:nvSpPr>
        <p:spPr>
          <a:xfrm>
            <a:off x="457200" y="3031116"/>
            <a:ext cx="8229600" cy="369332"/>
          </a:xfrm>
          <a:prstGeom prst="rect">
            <a:avLst/>
          </a:prstGeom>
          <a:no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0080"/>
                </a:solidFill>
                <a:latin typeface="Consolas"/>
                <a:ea typeface="Segoe UI Emoji" panose="020B0502040204020203" pitchFamily="34" charset="0"/>
                <a:cs typeface="Consolas" panose="020B0609020204030204" pitchFamily="49" charset="0"/>
              </a:rPr>
              <a:t>String </a:t>
            </a:r>
            <a:r>
              <a:rPr lang="en-US">
                <a:latin typeface="Consolas"/>
                <a:ea typeface="Segoe UI Emoji" panose="020B0502040204020203" pitchFamily="34" charset="0"/>
                <a:cs typeface="Consolas" panose="020B0609020204030204" pitchFamily="49" charset="0"/>
              </a:rPr>
              <a:t>name = names[number – </a:t>
            </a:r>
            <a:r>
              <a:rPr lang="en-US">
                <a:solidFill>
                  <a:srgbClr val="0CB5B5"/>
                </a:solidFill>
                <a:latin typeface="Consolas"/>
                <a:ea typeface="Segoe UI Emoji" panose="020B0502040204020203" pitchFamily="34" charset="0"/>
                <a:cs typeface="Consolas" panose="020B0609020204030204" pitchFamily="49" charset="0"/>
              </a:rPr>
              <a:t>1</a:t>
            </a:r>
            <a:r>
              <a:rPr lang="en-US">
                <a:latin typeface="Consolas"/>
                <a:ea typeface="Segoe UI Emoji" panose="020B0502040204020203" pitchFamily="34" charset="0"/>
                <a:cs typeface="Consolas" panose="020B0609020204030204" pitchFamily="49" charset="0"/>
              </a:rPr>
              <a:t>]; </a:t>
            </a:r>
            <a:r>
              <a:rPr lang="en-US">
                <a:solidFill>
                  <a:srgbClr val="007B00"/>
                </a:solidFill>
                <a:latin typeface="Consolas"/>
                <a:ea typeface="Segoe UI Emoji" panose="020B0502040204020203" pitchFamily="34" charset="0"/>
                <a:cs typeface="Consolas" panose="020B0609020204030204" pitchFamily="49" charset="0"/>
              </a:rPr>
              <a:t>// </a:t>
            </a:r>
            <a:r>
              <a:rPr lang="en-US" b="1">
                <a:solidFill>
                  <a:srgbClr val="007B00"/>
                </a:solidFill>
                <a:latin typeface="Consolas"/>
                <a:ea typeface="Segoe UI Emoji" panose="020B0502040204020203" pitchFamily="34" charset="0"/>
                <a:cs typeface="Consolas" panose="020B0609020204030204" pitchFamily="49" charset="0"/>
              </a:rPr>
              <a:t>NOTE:</a:t>
            </a:r>
            <a:r>
              <a:rPr lang="en-US">
                <a:solidFill>
                  <a:srgbClr val="007B00"/>
                </a:solidFill>
                <a:latin typeface="Consolas"/>
                <a:ea typeface="Segoe UI Emoji" panose="020B0502040204020203" pitchFamily="34" charset="0"/>
                <a:cs typeface="Consolas" panose="020B0609020204030204" pitchFamily="49" charset="0"/>
              </a:rPr>
              <a:t> Bulbasaur is #1</a:t>
            </a:r>
          </a:p>
        </p:txBody>
      </p:sp>
      <p:sp>
        <p:nvSpPr>
          <p:cNvPr id="14" name="TextBox 13">
            <a:extLst>
              <a:ext uri="{FF2B5EF4-FFF2-40B4-BE49-F238E27FC236}">
                <a16:creationId xmlns:a16="http://schemas.microsoft.com/office/drawing/2014/main" id="{B33697C8-F420-8D0F-8874-3EDE45F5141D}"/>
              </a:ext>
            </a:extLst>
          </p:cNvPr>
          <p:cNvSpPr txBox="1"/>
          <p:nvPr/>
        </p:nvSpPr>
        <p:spPr>
          <a:xfrm>
            <a:off x="457200" y="1492383"/>
            <a:ext cx="8229600" cy="369332"/>
          </a:xfrm>
          <a:prstGeom prst="rect">
            <a:avLst/>
          </a:prstGeom>
          <a:no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0080"/>
                </a:solidFill>
                <a:latin typeface="Consolas"/>
                <a:ea typeface="Segoe UI Emoji" panose="020B0502040204020203" pitchFamily="34" charset="0"/>
                <a:cs typeface="Consolas" panose="020B0609020204030204" pitchFamily="49" charset="0"/>
              </a:rPr>
              <a:t>String</a:t>
            </a:r>
            <a:r>
              <a:rPr lang="en-US">
                <a:latin typeface="Consolas"/>
                <a:ea typeface="Segoe UI Emoji" panose="020B0502040204020203" pitchFamily="34" charset="0"/>
                <a:cs typeface="Consolas" panose="020B0609020204030204" pitchFamily="49" charset="0"/>
              </a:rPr>
              <a:t>[]</a:t>
            </a:r>
            <a:r>
              <a:rPr lang="en-US">
                <a:solidFill>
                  <a:srgbClr val="0000FF"/>
                </a:solidFill>
                <a:latin typeface="Consolas"/>
                <a:ea typeface="Segoe UI Emoji" panose="020B0502040204020203" pitchFamily="34" charset="0"/>
                <a:cs typeface="Consolas" panose="020B0609020204030204" pitchFamily="49" charset="0"/>
              </a:rPr>
              <a:t> </a:t>
            </a:r>
            <a:r>
              <a:rPr lang="en-US">
                <a:latin typeface="Consolas"/>
                <a:ea typeface="Segoe UI Emoji" panose="020B0502040204020203" pitchFamily="34" charset="0"/>
                <a:cs typeface="Consolas" panose="020B0609020204030204" pitchFamily="49" charset="0"/>
              </a:rPr>
              <a:t>names = { </a:t>
            </a:r>
            <a:r>
              <a:rPr lang="en-US">
                <a:solidFill>
                  <a:srgbClr val="B60E0E"/>
                </a:solidFill>
                <a:latin typeface="Consolas"/>
                <a:ea typeface="Segoe UI Emoji" panose="020B0502040204020203" pitchFamily="34" charset="0"/>
                <a:cs typeface="Consolas" panose="020B0609020204030204" pitchFamily="49" charset="0"/>
              </a:rPr>
              <a:t>"Bulbasaur"</a:t>
            </a:r>
            <a:r>
              <a:rPr lang="en-US">
                <a:latin typeface="Consolas"/>
                <a:ea typeface="Segoe UI Emoji" panose="020B0502040204020203" pitchFamily="34" charset="0"/>
                <a:cs typeface="Consolas" panose="020B0609020204030204" pitchFamily="49" charset="0"/>
              </a:rPr>
              <a:t>,</a:t>
            </a:r>
            <a:r>
              <a:rPr lang="en-US">
                <a:solidFill>
                  <a:srgbClr val="B60E0E"/>
                </a:solidFill>
                <a:latin typeface="Consolas"/>
                <a:ea typeface="Segoe UI Emoji" panose="020B0502040204020203" pitchFamily="34" charset="0"/>
                <a:cs typeface="Consolas" panose="020B0609020204030204" pitchFamily="49" charset="0"/>
              </a:rPr>
              <a:t> "</a:t>
            </a:r>
            <a:r>
              <a:rPr lang="en-US" err="1">
                <a:solidFill>
                  <a:srgbClr val="B60E0E"/>
                </a:solidFill>
                <a:latin typeface="Consolas"/>
                <a:ea typeface="Segoe UI Emoji" panose="020B0502040204020203" pitchFamily="34" charset="0"/>
                <a:cs typeface="Consolas" panose="020B0609020204030204" pitchFamily="49" charset="0"/>
              </a:rPr>
              <a:t>Ivysaur</a:t>
            </a:r>
            <a:r>
              <a:rPr lang="en-US">
                <a:solidFill>
                  <a:srgbClr val="B60E0E"/>
                </a:solidFill>
                <a:latin typeface="Consolas"/>
                <a:ea typeface="Segoe UI Emoji" panose="020B0502040204020203" pitchFamily="34" charset="0"/>
                <a:cs typeface="Consolas" panose="020B0609020204030204" pitchFamily="49" charset="0"/>
              </a:rPr>
              <a:t>"</a:t>
            </a:r>
            <a:r>
              <a:rPr lang="en-US">
                <a:latin typeface="Consolas"/>
                <a:ea typeface="Segoe UI Emoji" panose="020B0502040204020203" pitchFamily="34" charset="0"/>
                <a:cs typeface="Consolas" panose="020B0609020204030204" pitchFamily="49" charset="0"/>
              </a:rPr>
              <a:t>,</a:t>
            </a:r>
            <a:r>
              <a:rPr lang="en-US">
                <a:solidFill>
                  <a:srgbClr val="B60E0E"/>
                </a:solidFill>
                <a:latin typeface="Consolas"/>
                <a:ea typeface="Segoe UI Emoji" panose="020B0502040204020203" pitchFamily="34" charset="0"/>
                <a:cs typeface="Consolas" panose="020B0609020204030204" pitchFamily="49" charset="0"/>
              </a:rPr>
              <a:t> </a:t>
            </a:r>
            <a:r>
              <a:rPr lang="en-US">
                <a:solidFill>
                  <a:srgbClr val="BFBFBF"/>
                </a:solidFill>
                <a:latin typeface="Consolas"/>
                <a:ea typeface="Segoe UI Emoji" panose="020B0502040204020203" pitchFamily="34" charset="0"/>
                <a:cs typeface="Consolas" panose="020B0609020204030204" pitchFamily="49" charset="0"/>
              </a:rPr>
              <a:t>...</a:t>
            </a:r>
            <a:r>
              <a:rPr lang="en-US">
                <a:latin typeface="Consolas"/>
                <a:ea typeface="Segoe UI Emoji" panose="020B0502040204020203" pitchFamily="34" charset="0"/>
                <a:cs typeface="Consolas" panose="020B0609020204030204" pitchFamily="49" charset="0"/>
              </a:rPr>
              <a:t> };</a:t>
            </a:r>
          </a:p>
        </p:txBody>
      </p:sp>
    </p:spTree>
    <p:extLst>
      <p:ext uri="{BB962C8B-B14F-4D97-AF65-F5344CB8AC3E}">
        <p14:creationId xmlns:p14="http://schemas.microsoft.com/office/powerpoint/2010/main" val="2653701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C5B05-A97F-3C7D-1046-480AB240264D}"/>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B390C3F-0D20-1C1D-5BD5-781AAB2A38EB}"/>
              </a:ext>
            </a:extLst>
          </p:cNvPr>
          <p:cNvSpPr>
            <a:spLocks noGrp="1"/>
          </p:cNvSpPr>
          <p:nvPr>
            <p:ph type="title"/>
          </p:nvPr>
        </p:nvSpPr>
        <p:spPr/>
        <p:txBody>
          <a:bodyPr/>
          <a:lstStyle/>
          <a:p>
            <a:r>
              <a:rPr lang="en-US"/>
              <a:t>number </a:t>
            </a:r>
            <a:r>
              <a:rPr lang="en-US">
                <a:sym typeface="Wingdings" pitchFamily="2" charset="2"/>
              </a:rPr>
              <a:t></a:t>
            </a:r>
            <a:r>
              <a:rPr lang="en-US"/>
              <a:t> name </a:t>
            </a:r>
            <a:r>
              <a:rPr lang="en-US">
                <a:solidFill>
                  <a:srgbClr val="BFBFBF"/>
                </a:solidFill>
              </a:rPr>
              <a:t>(Option B)</a:t>
            </a:r>
          </a:p>
        </p:txBody>
      </p:sp>
      <p:sp>
        <p:nvSpPr>
          <p:cNvPr id="13" name="TextBox 12">
            <a:extLst>
              <a:ext uri="{FF2B5EF4-FFF2-40B4-BE49-F238E27FC236}">
                <a16:creationId xmlns:a16="http://schemas.microsoft.com/office/drawing/2014/main" id="{A6963321-1E7F-0887-2FFF-0D23B2407BCE}"/>
              </a:ext>
            </a:extLst>
          </p:cNvPr>
          <p:cNvSpPr txBox="1"/>
          <p:nvPr/>
        </p:nvSpPr>
        <p:spPr>
          <a:xfrm>
            <a:off x="457200" y="3034389"/>
            <a:ext cx="8229600" cy="369332"/>
          </a:xfrm>
          <a:prstGeom prst="rect">
            <a:avLst/>
          </a:prstGeom>
          <a:no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0080"/>
                </a:solidFill>
                <a:latin typeface="Consolas"/>
                <a:ea typeface="Segoe UI Emoji" panose="020B0502040204020203" pitchFamily="34" charset="0"/>
                <a:cs typeface="Consolas" panose="020B0609020204030204" pitchFamily="49" charset="0"/>
              </a:rPr>
              <a:t>String </a:t>
            </a:r>
            <a:r>
              <a:rPr lang="en-US">
                <a:latin typeface="Consolas"/>
                <a:ea typeface="Segoe UI Emoji" panose="020B0502040204020203" pitchFamily="34" charset="0"/>
                <a:cs typeface="Consolas" panose="020B0609020204030204" pitchFamily="49" charset="0"/>
              </a:rPr>
              <a:t>name = </a:t>
            </a:r>
            <a:r>
              <a:rPr lang="en-US" err="1">
                <a:latin typeface="Consolas"/>
                <a:ea typeface="Segoe UI Emoji" panose="020B0502040204020203" pitchFamily="34" charset="0"/>
                <a:cs typeface="Consolas" panose="020B0609020204030204" pitchFamily="49" charset="0"/>
              </a:rPr>
              <a:t>getName</a:t>
            </a:r>
            <a:r>
              <a:rPr lang="en-US">
                <a:latin typeface="Consolas"/>
                <a:ea typeface="Segoe UI Emoji" panose="020B0502040204020203" pitchFamily="34" charset="0"/>
                <a:cs typeface="Consolas" panose="020B0609020204030204" pitchFamily="49" charset="0"/>
              </a:rPr>
              <a:t>(number);</a:t>
            </a:r>
            <a:endParaRPr lang="en-US">
              <a:solidFill>
                <a:srgbClr val="007B00"/>
              </a:solidFill>
              <a:latin typeface="Consolas"/>
              <a:ea typeface="Segoe UI Emoji" panose="020B0502040204020203" pitchFamily="34" charset="0"/>
              <a:cs typeface="Consolas" panose="020B0609020204030204" pitchFamily="49" charset="0"/>
            </a:endParaRPr>
          </a:p>
        </p:txBody>
      </p:sp>
      <p:sp>
        <p:nvSpPr>
          <p:cNvPr id="14" name="TextBox 13">
            <a:extLst>
              <a:ext uri="{FF2B5EF4-FFF2-40B4-BE49-F238E27FC236}">
                <a16:creationId xmlns:a16="http://schemas.microsoft.com/office/drawing/2014/main" id="{935633E3-A809-0E79-6795-47E6B5EFBDA1}"/>
              </a:ext>
            </a:extLst>
          </p:cNvPr>
          <p:cNvSpPr txBox="1"/>
          <p:nvPr/>
        </p:nvSpPr>
        <p:spPr>
          <a:xfrm>
            <a:off x="457200" y="1492378"/>
            <a:ext cx="8229600" cy="1366528"/>
          </a:xfrm>
          <a:prstGeom prst="rect">
            <a:avLst/>
          </a:prstGeom>
          <a:no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0080"/>
                </a:solidFill>
                <a:latin typeface="Consolas"/>
                <a:ea typeface="Segoe UI Emoji" panose="020B0502040204020203" pitchFamily="34" charset="0"/>
                <a:cs typeface="Consolas" panose="020B0609020204030204" pitchFamily="49" charset="0"/>
              </a:rPr>
              <a:t>String</a:t>
            </a:r>
            <a:r>
              <a:rPr lang="en-US">
                <a:latin typeface="Consolas"/>
                <a:ea typeface="Segoe UI Emoji" panose="020B0502040204020203" pitchFamily="34" charset="0"/>
                <a:cs typeface="Consolas" panose="020B0609020204030204" pitchFamily="49" charset="0"/>
              </a:rPr>
              <a:t>[]</a:t>
            </a:r>
            <a:r>
              <a:rPr lang="en-US">
                <a:solidFill>
                  <a:srgbClr val="0000FF"/>
                </a:solidFill>
                <a:latin typeface="Consolas"/>
                <a:ea typeface="Segoe UI Emoji" panose="020B0502040204020203" pitchFamily="34" charset="0"/>
                <a:cs typeface="Consolas" panose="020B0609020204030204" pitchFamily="49" charset="0"/>
              </a:rPr>
              <a:t> </a:t>
            </a:r>
            <a:r>
              <a:rPr lang="en-US">
                <a:latin typeface="Consolas"/>
                <a:ea typeface="Segoe UI Emoji" panose="020B0502040204020203" pitchFamily="34" charset="0"/>
                <a:cs typeface="Consolas" panose="020B0609020204030204" pitchFamily="49" charset="0"/>
              </a:rPr>
              <a:t>_names = { </a:t>
            </a:r>
            <a:r>
              <a:rPr lang="en-US">
                <a:solidFill>
                  <a:srgbClr val="B60E0E"/>
                </a:solidFill>
                <a:latin typeface="Consolas"/>
                <a:ea typeface="Segoe UI Emoji" panose="020B0502040204020203" pitchFamily="34" charset="0"/>
                <a:cs typeface="Consolas" panose="020B0609020204030204" pitchFamily="49" charset="0"/>
              </a:rPr>
              <a:t>"Bulbasaur"</a:t>
            </a:r>
            <a:r>
              <a:rPr lang="en-US">
                <a:latin typeface="Consolas"/>
                <a:ea typeface="Segoe UI Emoji" panose="020B0502040204020203" pitchFamily="34" charset="0"/>
                <a:cs typeface="Consolas" panose="020B0609020204030204" pitchFamily="49" charset="0"/>
              </a:rPr>
              <a:t>,</a:t>
            </a:r>
            <a:r>
              <a:rPr lang="en-US">
                <a:solidFill>
                  <a:srgbClr val="B60E0E"/>
                </a:solidFill>
                <a:latin typeface="Consolas"/>
                <a:ea typeface="Segoe UI Emoji" panose="020B0502040204020203" pitchFamily="34" charset="0"/>
                <a:cs typeface="Consolas" panose="020B0609020204030204" pitchFamily="49" charset="0"/>
              </a:rPr>
              <a:t> "</a:t>
            </a:r>
            <a:r>
              <a:rPr lang="en-US" err="1">
                <a:solidFill>
                  <a:srgbClr val="B60E0E"/>
                </a:solidFill>
                <a:latin typeface="Consolas"/>
                <a:ea typeface="Segoe UI Emoji" panose="020B0502040204020203" pitchFamily="34" charset="0"/>
                <a:cs typeface="Consolas" panose="020B0609020204030204" pitchFamily="49" charset="0"/>
              </a:rPr>
              <a:t>Ivysaur</a:t>
            </a:r>
            <a:r>
              <a:rPr lang="en-US">
                <a:solidFill>
                  <a:srgbClr val="B60E0E"/>
                </a:solidFill>
                <a:latin typeface="Consolas"/>
                <a:ea typeface="Segoe UI Emoji" panose="020B0502040204020203" pitchFamily="34" charset="0"/>
                <a:cs typeface="Consolas" panose="020B0609020204030204" pitchFamily="49" charset="0"/>
              </a:rPr>
              <a:t>"</a:t>
            </a:r>
            <a:r>
              <a:rPr lang="en-US">
                <a:latin typeface="Consolas"/>
                <a:ea typeface="Segoe UI Emoji" panose="020B0502040204020203" pitchFamily="34" charset="0"/>
                <a:cs typeface="Consolas" panose="020B0609020204030204" pitchFamily="49" charset="0"/>
              </a:rPr>
              <a:t>,</a:t>
            </a:r>
            <a:r>
              <a:rPr lang="en-US">
                <a:solidFill>
                  <a:srgbClr val="B60E0E"/>
                </a:solidFill>
                <a:latin typeface="Consolas"/>
                <a:ea typeface="Segoe UI Emoji" panose="020B0502040204020203" pitchFamily="34" charset="0"/>
                <a:cs typeface="Consolas" panose="020B0609020204030204" pitchFamily="49" charset="0"/>
              </a:rPr>
              <a:t> </a:t>
            </a:r>
            <a:r>
              <a:rPr lang="en-US">
                <a:solidFill>
                  <a:srgbClr val="BFBFBF"/>
                </a:solidFill>
                <a:latin typeface="Consolas"/>
                <a:ea typeface="Segoe UI Emoji" panose="020B0502040204020203" pitchFamily="34" charset="0"/>
                <a:cs typeface="Consolas" panose="020B0609020204030204" pitchFamily="49" charset="0"/>
              </a:rPr>
              <a:t>...</a:t>
            </a:r>
            <a:r>
              <a:rPr lang="en-US">
                <a:latin typeface="Consolas"/>
                <a:ea typeface="Segoe UI Emoji" panose="020B0502040204020203" pitchFamily="34" charset="0"/>
                <a:cs typeface="Consolas" panose="020B0609020204030204" pitchFamily="49" charset="0"/>
              </a:rPr>
              <a:t> };</a:t>
            </a:r>
          </a:p>
          <a:p>
            <a:pPr lvl="0" defTabSz="342886">
              <a:spcBef>
                <a:spcPct val="20000"/>
              </a:spcBef>
              <a:buClr>
                <a:srgbClr val="FFFFFF">
                  <a:lumMod val="65000"/>
                </a:srgbClr>
              </a:buClr>
            </a:pPr>
            <a:r>
              <a:rPr lang="en-US">
                <a:solidFill>
                  <a:srgbClr val="000080"/>
                </a:solidFill>
                <a:latin typeface="Consolas"/>
                <a:ea typeface="Segoe UI Emoji" panose="020B0502040204020203" pitchFamily="34" charset="0"/>
                <a:cs typeface="Consolas" panose="020B0609020204030204" pitchFamily="49" charset="0"/>
              </a:rPr>
              <a:t>String </a:t>
            </a:r>
            <a:r>
              <a:rPr lang="en-US" err="1">
                <a:latin typeface="Consolas"/>
                <a:ea typeface="Segoe UI Emoji" panose="020B0502040204020203" pitchFamily="34" charset="0"/>
                <a:cs typeface="Consolas" panose="020B0609020204030204" pitchFamily="49" charset="0"/>
              </a:rPr>
              <a:t>getName</a:t>
            </a:r>
            <a:r>
              <a:rPr lang="en-US">
                <a:latin typeface="Consolas"/>
                <a:ea typeface="Segoe UI Emoji" panose="020B0502040204020203" pitchFamily="34" charset="0"/>
                <a:cs typeface="Consolas" panose="020B0609020204030204" pitchFamily="49" charset="0"/>
              </a:rPr>
              <a:t>(</a:t>
            </a:r>
            <a:r>
              <a:rPr lang="en-US">
                <a:solidFill>
                  <a:srgbClr val="000080"/>
                </a:solidFill>
                <a:latin typeface="Consolas"/>
                <a:ea typeface="Segoe UI Emoji" panose="020B0502040204020203" pitchFamily="34" charset="0"/>
                <a:cs typeface="Consolas" panose="020B0609020204030204" pitchFamily="49" charset="0"/>
              </a:rPr>
              <a:t>int</a:t>
            </a:r>
            <a:r>
              <a:rPr lang="en-US">
                <a:latin typeface="Consolas"/>
                <a:ea typeface="Segoe UI Emoji" panose="020B0502040204020203" pitchFamily="34" charset="0"/>
                <a:cs typeface="Consolas" panose="020B0609020204030204" pitchFamily="49" charset="0"/>
              </a:rPr>
              <a:t> number) {</a:t>
            </a:r>
          </a:p>
          <a:p>
            <a:pPr lvl="0" defTabSz="342886">
              <a:spcBef>
                <a:spcPct val="20000"/>
              </a:spcBef>
              <a:buClr>
                <a:srgbClr val="FFFFFF">
                  <a:lumMod val="65000"/>
                </a:srgbClr>
              </a:buClr>
            </a:pPr>
            <a:r>
              <a:rPr lang="en-US">
                <a:latin typeface="Consolas"/>
                <a:ea typeface="Segoe UI Emoji" panose="020B0502040204020203" pitchFamily="34" charset="0"/>
                <a:cs typeface="Consolas" panose="020B0609020204030204" pitchFamily="49" charset="0"/>
              </a:rPr>
              <a:t>    </a:t>
            </a:r>
            <a:r>
              <a:rPr lang="en-US">
                <a:solidFill>
                  <a:srgbClr val="0000FF"/>
                </a:solidFill>
                <a:latin typeface="Consolas"/>
                <a:ea typeface="Segoe UI Emoji" panose="020B0502040204020203" pitchFamily="34" charset="0"/>
                <a:cs typeface="Consolas" panose="020B0609020204030204" pitchFamily="49" charset="0"/>
              </a:rPr>
              <a:t>return</a:t>
            </a:r>
            <a:r>
              <a:rPr lang="en-US">
                <a:latin typeface="Consolas"/>
                <a:ea typeface="Segoe UI Emoji" panose="020B0502040204020203" pitchFamily="34" charset="0"/>
                <a:cs typeface="Consolas" panose="020B0609020204030204" pitchFamily="49" charset="0"/>
              </a:rPr>
              <a:t> _names[number – </a:t>
            </a:r>
            <a:r>
              <a:rPr lang="en-US">
                <a:solidFill>
                  <a:srgbClr val="0CB5B5"/>
                </a:solidFill>
                <a:latin typeface="Consolas"/>
                <a:ea typeface="Segoe UI Emoji" panose="020B0502040204020203" pitchFamily="34" charset="0"/>
                <a:cs typeface="Consolas" panose="020B0609020204030204" pitchFamily="49" charset="0"/>
              </a:rPr>
              <a:t>1</a:t>
            </a:r>
            <a:r>
              <a:rPr lang="en-US">
                <a:latin typeface="Consolas"/>
                <a:ea typeface="Segoe UI Emoji" panose="020B0502040204020203" pitchFamily="34" charset="0"/>
                <a:cs typeface="Consolas" panose="020B0609020204030204" pitchFamily="49" charset="0"/>
              </a:rPr>
              <a:t>]; </a:t>
            </a:r>
            <a:r>
              <a:rPr lang="en-US">
                <a:solidFill>
                  <a:srgbClr val="007B00"/>
                </a:solidFill>
                <a:latin typeface="Consolas"/>
                <a:ea typeface="Segoe UI Emoji" panose="020B0502040204020203" pitchFamily="34" charset="0"/>
                <a:cs typeface="Consolas" panose="020B0609020204030204" pitchFamily="49" charset="0"/>
              </a:rPr>
              <a:t>// </a:t>
            </a:r>
            <a:r>
              <a:rPr lang="en-US" b="1">
                <a:solidFill>
                  <a:srgbClr val="007B00"/>
                </a:solidFill>
                <a:latin typeface="Consolas"/>
                <a:ea typeface="Segoe UI Emoji" panose="020B0502040204020203" pitchFamily="34" charset="0"/>
                <a:cs typeface="Consolas" panose="020B0609020204030204" pitchFamily="49" charset="0"/>
              </a:rPr>
              <a:t>NOTE:</a:t>
            </a:r>
            <a:r>
              <a:rPr lang="en-US">
                <a:solidFill>
                  <a:srgbClr val="007B00"/>
                </a:solidFill>
                <a:latin typeface="Consolas"/>
                <a:ea typeface="Segoe UI Emoji" panose="020B0502040204020203" pitchFamily="34" charset="0"/>
                <a:cs typeface="Consolas" panose="020B0609020204030204" pitchFamily="49" charset="0"/>
              </a:rPr>
              <a:t> Bulbasaur is #1</a:t>
            </a:r>
            <a:endParaRPr lang="en-US">
              <a:latin typeface="Consolas"/>
              <a:ea typeface="Segoe UI Emoji" panose="020B0502040204020203" pitchFamily="34" charset="0"/>
              <a:cs typeface="Consolas" panose="020B0609020204030204" pitchFamily="49" charset="0"/>
            </a:endParaRPr>
          </a:p>
          <a:p>
            <a:pPr lvl="0" defTabSz="342886">
              <a:spcBef>
                <a:spcPct val="20000"/>
              </a:spcBef>
              <a:buClr>
                <a:srgbClr val="FFFFFF">
                  <a:lumMod val="65000"/>
                </a:srgbClr>
              </a:buClr>
            </a:pPr>
            <a:r>
              <a:rPr lang="en-US">
                <a:latin typeface="Consolas"/>
                <a:ea typeface="Segoe UI Emoji" panose="020B0502040204020203" pitchFamily="34" charset="0"/>
                <a:cs typeface="Consolas" panose="020B0609020204030204" pitchFamily="49" charset="0"/>
              </a:rPr>
              <a:t>}</a:t>
            </a:r>
          </a:p>
        </p:txBody>
      </p:sp>
    </p:spTree>
    <p:extLst>
      <p:ext uri="{BB962C8B-B14F-4D97-AF65-F5344CB8AC3E}">
        <p14:creationId xmlns:p14="http://schemas.microsoft.com/office/powerpoint/2010/main" val="19248137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C612A-CD3F-0957-D04C-64DD1F7E082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023D9F79-22C1-395B-AA4B-21FDCD16A5FE}"/>
              </a:ext>
            </a:extLst>
          </p:cNvPr>
          <p:cNvSpPr>
            <a:spLocks noGrp="1"/>
          </p:cNvSpPr>
          <p:nvPr>
            <p:ph type="title"/>
          </p:nvPr>
        </p:nvSpPr>
        <p:spPr/>
        <p:txBody>
          <a:bodyPr/>
          <a:lstStyle/>
          <a:p>
            <a:r>
              <a:rPr lang="en-US"/>
              <a:t>number </a:t>
            </a:r>
            <a:r>
              <a:rPr lang="en-US">
                <a:sym typeface="Wingdings" pitchFamily="2" charset="2"/>
              </a:rPr>
              <a:t></a:t>
            </a:r>
            <a:r>
              <a:rPr lang="en-US"/>
              <a:t> name </a:t>
            </a:r>
            <a:r>
              <a:rPr lang="en-US">
                <a:solidFill>
                  <a:srgbClr val="BFBFBF"/>
                </a:solidFill>
              </a:rPr>
              <a:t>(Option C)</a:t>
            </a:r>
          </a:p>
        </p:txBody>
      </p:sp>
      <p:sp>
        <p:nvSpPr>
          <p:cNvPr id="13" name="TextBox 12">
            <a:extLst>
              <a:ext uri="{FF2B5EF4-FFF2-40B4-BE49-F238E27FC236}">
                <a16:creationId xmlns:a16="http://schemas.microsoft.com/office/drawing/2014/main" id="{2280AEFF-6860-F0E9-DEC3-971D003323F8}"/>
              </a:ext>
            </a:extLst>
          </p:cNvPr>
          <p:cNvSpPr txBox="1"/>
          <p:nvPr/>
        </p:nvSpPr>
        <p:spPr>
          <a:xfrm>
            <a:off x="457200" y="3034394"/>
            <a:ext cx="8229600" cy="369332"/>
          </a:xfrm>
          <a:prstGeom prst="rect">
            <a:avLst/>
          </a:prstGeom>
          <a:no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0080"/>
                </a:solidFill>
                <a:latin typeface="Consolas"/>
                <a:ea typeface="Segoe UI Emoji" panose="020B0502040204020203" pitchFamily="34" charset="0"/>
                <a:cs typeface="Consolas" panose="020B0609020204030204" pitchFamily="49" charset="0"/>
              </a:rPr>
              <a:t>String </a:t>
            </a:r>
            <a:r>
              <a:rPr lang="en-US">
                <a:latin typeface="Consolas"/>
                <a:ea typeface="Segoe UI Emoji" panose="020B0502040204020203" pitchFamily="34" charset="0"/>
                <a:cs typeface="Consolas" panose="020B0609020204030204" pitchFamily="49" charset="0"/>
              </a:rPr>
              <a:t>name = names[number];</a:t>
            </a:r>
            <a:endParaRPr lang="en-US">
              <a:solidFill>
                <a:srgbClr val="007B00"/>
              </a:solidFill>
              <a:latin typeface="Consolas"/>
              <a:ea typeface="Segoe UI Emoji" panose="020B0502040204020203" pitchFamily="34" charset="0"/>
              <a:cs typeface="Consolas" panose="020B0609020204030204" pitchFamily="49" charset="0"/>
            </a:endParaRPr>
          </a:p>
        </p:txBody>
      </p:sp>
      <p:sp>
        <p:nvSpPr>
          <p:cNvPr id="14" name="TextBox 13">
            <a:extLst>
              <a:ext uri="{FF2B5EF4-FFF2-40B4-BE49-F238E27FC236}">
                <a16:creationId xmlns:a16="http://schemas.microsoft.com/office/drawing/2014/main" id="{29A3357E-7AC2-0BF5-4D74-2059AA3ECA04}"/>
              </a:ext>
            </a:extLst>
          </p:cNvPr>
          <p:cNvSpPr txBox="1"/>
          <p:nvPr/>
        </p:nvSpPr>
        <p:spPr>
          <a:xfrm>
            <a:off x="457200" y="1168289"/>
            <a:ext cx="8229600" cy="701731"/>
          </a:xfrm>
          <a:prstGeom prst="rect">
            <a:avLst/>
          </a:prstGeom>
          <a:no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7B00"/>
                </a:solidFill>
                <a:latin typeface="Consolas"/>
                <a:ea typeface="Segoe UI Emoji" panose="020B0502040204020203" pitchFamily="34" charset="0"/>
                <a:cs typeface="Consolas" panose="020B0609020204030204" pitchFamily="49" charset="0"/>
              </a:rPr>
              <a:t>// </a:t>
            </a:r>
            <a:r>
              <a:rPr lang="en-US" b="1">
                <a:solidFill>
                  <a:srgbClr val="007B00"/>
                </a:solidFill>
                <a:latin typeface="Consolas"/>
                <a:ea typeface="Segoe UI Emoji" panose="020B0502040204020203" pitchFamily="34" charset="0"/>
                <a:cs typeface="Consolas" panose="020B0609020204030204" pitchFamily="49" charset="0"/>
              </a:rPr>
              <a:t>NOTE:</a:t>
            </a:r>
            <a:r>
              <a:rPr lang="en-US">
                <a:solidFill>
                  <a:srgbClr val="007B00"/>
                </a:solidFill>
                <a:latin typeface="Consolas"/>
                <a:ea typeface="Segoe UI Emoji" panose="020B0502040204020203" pitchFamily="34" charset="0"/>
                <a:cs typeface="Consolas" panose="020B0609020204030204" pitchFamily="49" charset="0"/>
              </a:rPr>
              <a:t> Bulbasaur is #1</a:t>
            </a:r>
            <a:endParaRPr lang="en-US">
              <a:solidFill>
                <a:srgbClr val="000080"/>
              </a:solidFill>
              <a:latin typeface="Consolas"/>
              <a:ea typeface="Segoe UI Emoji" panose="020B0502040204020203" pitchFamily="34" charset="0"/>
              <a:cs typeface="Consolas" panose="020B0609020204030204" pitchFamily="49" charset="0"/>
            </a:endParaRPr>
          </a:p>
          <a:p>
            <a:pPr lvl="0" defTabSz="342886">
              <a:spcBef>
                <a:spcPct val="20000"/>
              </a:spcBef>
              <a:buClr>
                <a:srgbClr val="FFFFFF">
                  <a:lumMod val="65000"/>
                </a:srgbClr>
              </a:buClr>
            </a:pPr>
            <a:r>
              <a:rPr lang="en-US">
                <a:solidFill>
                  <a:srgbClr val="000080"/>
                </a:solidFill>
                <a:latin typeface="Consolas"/>
                <a:ea typeface="Segoe UI Emoji" panose="020B0502040204020203" pitchFamily="34" charset="0"/>
                <a:cs typeface="Consolas" panose="020B0609020204030204" pitchFamily="49" charset="0"/>
              </a:rPr>
              <a:t>String</a:t>
            </a:r>
            <a:r>
              <a:rPr lang="en-US">
                <a:latin typeface="Consolas"/>
                <a:ea typeface="Segoe UI Emoji" panose="020B0502040204020203" pitchFamily="34" charset="0"/>
                <a:cs typeface="Consolas" panose="020B0609020204030204" pitchFamily="49" charset="0"/>
              </a:rPr>
              <a:t>[]</a:t>
            </a:r>
            <a:r>
              <a:rPr lang="en-US">
                <a:solidFill>
                  <a:srgbClr val="0000FF"/>
                </a:solidFill>
                <a:latin typeface="Consolas"/>
                <a:ea typeface="Segoe UI Emoji" panose="020B0502040204020203" pitchFamily="34" charset="0"/>
                <a:cs typeface="Consolas" panose="020B0609020204030204" pitchFamily="49" charset="0"/>
              </a:rPr>
              <a:t> </a:t>
            </a:r>
            <a:r>
              <a:rPr lang="en-US">
                <a:latin typeface="Consolas"/>
                <a:ea typeface="Segoe UI Emoji" panose="020B0502040204020203" pitchFamily="34" charset="0"/>
                <a:cs typeface="Consolas" panose="020B0609020204030204" pitchFamily="49" charset="0"/>
              </a:rPr>
              <a:t>names = { </a:t>
            </a:r>
            <a:r>
              <a:rPr lang="en-US">
                <a:solidFill>
                  <a:srgbClr val="B60E0E"/>
                </a:solidFill>
                <a:latin typeface="Consolas"/>
                <a:ea typeface="Segoe UI Emoji" panose="020B0502040204020203" pitchFamily="34" charset="0"/>
                <a:cs typeface="Consolas" panose="020B0609020204030204" pitchFamily="49" charset="0"/>
              </a:rPr>
              <a:t>""</a:t>
            </a:r>
            <a:r>
              <a:rPr lang="en-US">
                <a:latin typeface="Consolas"/>
                <a:ea typeface="Segoe UI Emoji" panose="020B0502040204020203" pitchFamily="34" charset="0"/>
                <a:cs typeface="Consolas" panose="020B0609020204030204" pitchFamily="49" charset="0"/>
              </a:rPr>
              <a:t>, </a:t>
            </a:r>
            <a:r>
              <a:rPr lang="en-US">
                <a:solidFill>
                  <a:srgbClr val="B60E0E"/>
                </a:solidFill>
                <a:latin typeface="Consolas"/>
                <a:ea typeface="Segoe UI Emoji" panose="020B0502040204020203" pitchFamily="34" charset="0"/>
                <a:cs typeface="Consolas" panose="020B0609020204030204" pitchFamily="49" charset="0"/>
              </a:rPr>
              <a:t>"Bulbasaur"</a:t>
            </a:r>
            <a:r>
              <a:rPr lang="en-US">
                <a:latin typeface="Consolas"/>
                <a:ea typeface="Segoe UI Emoji" panose="020B0502040204020203" pitchFamily="34" charset="0"/>
                <a:cs typeface="Consolas" panose="020B0609020204030204" pitchFamily="49" charset="0"/>
              </a:rPr>
              <a:t>,</a:t>
            </a:r>
            <a:r>
              <a:rPr lang="en-US">
                <a:solidFill>
                  <a:srgbClr val="B60E0E"/>
                </a:solidFill>
                <a:latin typeface="Consolas"/>
                <a:ea typeface="Segoe UI Emoji" panose="020B0502040204020203" pitchFamily="34" charset="0"/>
                <a:cs typeface="Consolas" panose="020B0609020204030204" pitchFamily="49" charset="0"/>
              </a:rPr>
              <a:t> "</a:t>
            </a:r>
            <a:r>
              <a:rPr lang="en-US" err="1">
                <a:solidFill>
                  <a:srgbClr val="B60E0E"/>
                </a:solidFill>
                <a:latin typeface="Consolas"/>
                <a:ea typeface="Segoe UI Emoji" panose="020B0502040204020203" pitchFamily="34" charset="0"/>
                <a:cs typeface="Consolas" panose="020B0609020204030204" pitchFamily="49" charset="0"/>
              </a:rPr>
              <a:t>Ivysaur</a:t>
            </a:r>
            <a:r>
              <a:rPr lang="en-US">
                <a:solidFill>
                  <a:srgbClr val="B60E0E"/>
                </a:solidFill>
                <a:latin typeface="Consolas"/>
                <a:ea typeface="Segoe UI Emoji" panose="020B0502040204020203" pitchFamily="34" charset="0"/>
                <a:cs typeface="Consolas" panose="020B0609020204030204" pitchFamily="49" charset="0"/>
              </a:rPr>
              <a:t>"</a:t>
            </a:r>
            <a:r>
              <a:rPr lang="en-US">
                <a:latin typeface="Consolas"/>
                <a:ea typeface="Segoe UI Emoji" panose="020B0502040204020203" pitchFamily="34" charset="0"/>
                <a:cs typeface="Consolas" panose="020B0609020204030204" pitchFamily="49" charset="0"/>
              </a:rPr>
              <a:t>,</a:t>
            </a:r>
            <a:r>
              <a:rPr lang="en-US">
                <a:solidFill>
                  <a:srgbClr val="B60E0E"/>
                </a:solidFill>
                <a:latin typeface="Consolas"/>
                <a:ea typeface="Segoe UI Emoji" panose="020B0502040204020203" pitchFamily="34" charset="0"/>
                <a:cs typeface="Consolas" panose="020B0609020204030204" pitchFamily="49" charset="0"/>
              </a:rPr>
              <a:t> </a:t>
            </a:r>
            <a:r>
              <a:rPr lang="en-US">
                <a:solidFill>
                  <a:srgbClr val="BFBFBF"/>
                </a:solidFill>
                <a:latin typeface="Consolas"/>
                <a:ea typeface="Segoe UI Emoji" panose="020B0502040204020203" pitchFamily="34" charset="0"/>
                <a:cs typeface="Consolas" panose="020B0609020204030204" pitchFamily="49" charset="0"/>
              </a:rPr>
              <a:t>...</a:t>
            </a:r>
            <a:r>
              <a:rPr lang="en-US">
                <a:latin typeface="Consolas"/>
                <a:ea typeface="Segoe UI Emoji" panose="020B0502040204020203" pitchFamily="34" charset="0"/>
                <a:cs typeface="Consolas" panose="020B0609020204030204" pitchFamily="49" charset="0"/>
              </a:rPr>
              <a:t> }; </a:t>
            </a:r>
            <a:endParaRPr lang="en-US">
              <a:solidFill>
                <a:srgbClr val="007B00"/>
              </a:solidFill>
              <a:latin typeface="Consolas"/>
              <a:ea typeface="Segoe UI Emoji" panose="020B0502040204020203" pitchFamily="34" charset="0"/>
              <a:cs typeface="Consolas" panose="020B0609020204030204" pitchFamily="49" charset="0"/>
            </a:endParaRPr>
          </a:p>
        </p:txBody>
      </p:sp>
    </p:spTree>
    <p:extLst>
      <p:ext uri="{BB962C8B-B14F-4D97-AF65-F5344CB8AC3E}">
        <p14:creationId xmlns:p14="http://schemas.microsoft.com/office/powerpoint/2010/main" val="20696858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5AFD-DE8C-B999-965B-180DC89CC59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31C5245-888B-7BE1-2C70-87326C9158D0}"/>
              </a:ext>
            </a:extLst>
          </p:cNvPr>
          <p:cNvSpPr>
            <a:spLocks noGrp="1"/>
          </p:cNvSpPr>
          <p:nvPr>
            <p:ph type="title"/>
          </p:nvPr>
        </p:nvSpPr>
        <p:spPr/>
        <p:txBody>
          <a:bodyPr/>
          <a:lstStyle/>
          <a:p>
            <a:pPr algn="l"/>
            <a:r>
              <a:rPr lang="en-US" sz="3600" b="1"/>
              <a:t>lesson:</a:t>
            </a:r>
            <a:r>
              <a:rPr lang="en-US" sz="3600"/>
              <a:t> if you're mapping from A </a:t>
            </a:r>
            <a:r>
              <a:rPr lang="en-US" sz="3600">
                <a:sym typeface="Wingdings" pitchFamily="2" charset="2"/>
              </a:rPr>
              <a:t> B,</a:t>
            </a:r>
            <a:br>
              <a:rPr lang="en-US" sz="3600">
                <a:sym typeface="Wingdings" pitchFamily="2" charset="2"/>
              </a:rPr>
            </a:br>
            <a:r>
              <a:rPr lang="en-US" sz="3600">
                <a:sym typeface="Wingdings" pitchFamily="2" charset="2"/>
              </a:rPr>
              <a:t>and A is something like 0, 1, 2, 3, ...</a:t>
            </a:r>
            <a:br>
              <a:rPr lang="en-US" sz="3600">
                <a:sym typeface="Wingdings" pitchFamily="2" charset="2"/>
              </a:rPr>
            </a:br>
            <a:br>
              <a:rPr lang="en-US" sz="3600">
                <a:sym typeface="Wingdings" pitchFamily="2" charset="2"/>
              </a:rPr>
            </a:br>
            <a:r>
              <a:rPr lang="en-US" sz="3600">
                <a:sym typeface="Wingdings" pitchFamily="2" charset="2"/>
              </a:rPr>
              <a:t>...then you can just use an array 🙂👍</a:t>
            </a:r>
            <a:br>
              <a:rPr lang="en-US" sz="3600">
                <a:sym typeface="Wingdings" pitchFamily="2" charset="2"/>
              </a:rPr>
            </a:br>
            <a:r>
              <a:rPr lang="en-US" sz="2400">
                <a:sym typeface="Wingdings" pitchFamily="2" charset="2"/>
              </a:rPr>
              <a:t>(or an array list, if you don't know the length ahead of time)</a:t>
            </a:r>
            <a:r>
              <a:rPr lang="en-US" sz="2400"/>
              <a:t> </a:t>
            </a:r>
            <a:endParaRPr lang="en-US" sz="3600" b="1"/>
          </a:p>
        </p:txBody>
      </p:sp>
    </p:spTree>
    <p:extLst>
      <p:ext uri="{BB962C8B-B14F-4D97-AF65-F5344CB8AC3E}">
        <p14:creationId xmlns:p14="http://schemas.microsoft.com/office/powerpoint/2010/main" val="26560697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C5532-DE75-F700-97BD-95974117832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169BBD3-A9F8-03AD-F671-3B49714FB643}"/>
              </a:ext>
            </a:extLst>
          </p:cNvPr>
          <p:cNvSpPr>
            <a:spLocks noGrp="1"/>
          </p:cNvSpPr>
          <p:nvPr>
            <p:ph type="title"/>
          </p:nvPr>
        </p:nvSpPr>
        <p:spPr/>
        <p:txBody>
          <a:bodyPr/>
          <a:lstStyle/>
          <a:p>
            <a:pPr algn="l"/>
            <a:r>
              <a:rPr lang="en-US" sz="3600" err="1"/>
              <a:t>buuut</a:t>
            </a:r>
            <a:r>
              <a:rPr lang="en-US" sz="3600"/>
              <a:t>, if you're mapping from A </a:t>
            </a:r>
            <a:r>
              <a:rPr lang="en-US" sz="3600">
                <a:sym typeface="Wingdings" pitchFamily="2" charset="2"/>
              </a:rPr>
              <a:t> B,</a:t>
            </a:r>
            <a:br>
              <a:rPr lang="en-US" sz="3600">
                <a:sym typeface="Wingdings" pitchFamily="2" charset="2"/>
              </a:rPr>
            </a:br>
            <a:r>
              <a:rPr lang="en-US" sz="3600">
                <a:sym typeface="Wingdings" pitchFamily="2" charset="2"/>
              </a:rPr>
              <a:t>and A is </a:t>
            </a:r>
            <a:r>
              <a:rPr lang="en-US" sz="3600" i="1">
                <a:sym typeface="Wingdings" pitchFamily="2" charset="2"/>
              </a:rPr>
              <a:t>nothing</a:t>
            </a:r>
            <a:r>
              <a:rPr lang="en-US" sz="3600">
                <a:sym typeface="Wingdings" pitchFamily="2" charset="2"/>
              </a:rPr>
              <a:t> like 0, 1, 2, 3, ...</a:t>
            </a:r>
            <a:br>
              <a:rPr lang="en-US" sz="3600">
                <a:sym typeface="Wingdings" pitchFamily="2" charset="2"/>
              </a:rPr>
            </a:br>
            <a:br>
              <a:rPr lang="en-US" sz="3600">
                <a:sym typeface="Wingdings" pitchFamily="2" charset="2"/>
              </a:rPr>
            </a:br>
            <a:r>
              <a:rPr lang="en-US" sz="3600">
                <a:sym typeface="Wingdings" pitchFamily="2" charset="2"/>
              </a:rPr>
              <a:t>...then you may want a </a:t>
            </a:r>
            <a:r>
              <a:rPr lang="en-US" sz="3600" b="1">
                <a:sym typeface="Wingdings" pitchFamily="2" charset="2"/>
              </a:rPr>
              <a:t>map</a:t>
            </a:r>
            <a:r>
              <a:rPr lang="en-US" sz="3600">
                <a:sym typeface="Wingdings" pitchFamily="2" charset="2"/>
              </a:rPr>
              <a:t> 🗺️</a:t>
            </a:r>
            <a:r>
              <a:rPr lang="en-US" sz="3600"/>
              <a:t> </a:t>
            </a:r>
            <a:endParaRPr lang="en-US" sz="3600" b="1"/>
          </a:p>
        </p:txBody>
      </p:sp>
    </p:spTree>
    <p:extLst>
      <p:ext uri="{BB962C8B-B14F-4D97-AF65-F5344CB8AC3E}">
        <p14:creationId xmlns:p14="http://schemas.microsoft.com/office/powerpoint/2010/main" val="23468219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52413-A2F0-1193-0CB8-51D397DA4D8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57D2F589-04A2-4D63-9720-BFC656AC8369}"/>
              </a:ext>
            </a:extLst>
          </p:cNvPr>
          <p:cNvSpPr>
            <a:spLocks noGrp="1"/>
          </p:cNvSpPr>
          <p:nvPr>
            <p:ph type="title"/>
          </p:nvPr>
        </p:nvSpPr>
        <p:spPr/>
        <p:txBody>
          <a:bodyPr/>
          <a:lstStyle/>
          <a:p>
            <a:r>
              <a:rPr lang="en-US"/>
              <a:t>name </a:t>
            </a:r>
            <a:r>
              <a:rPr lang="en-US">
                <a:sym typeface="Wingdings" pitchFamily="2" charset="2"/>
              </a:rPr>
              <a:t></a:t>
            </a:r>
            <a:r>
              <a:rPr lang="en-US"/>
              <a:t> number</a:t>
            </a:r>
            <a:endParaRPr lang="en-US">
              <a:solidFill>
                <a:srgbClr val="BFBFBF"/>
              </a:solidFill>
            </a:endParaRPr>
          </a:p>
        </p:txBody>
      </p:sp>
      <p:sp>
        <p:nvSpPr>
          <p:cNvPr id="5" name="Content Placeholder 4">
            <a:extLst>
              <a:ext uri="{FF2B5EF4-FFF2-40B4-BE49-F238E27FC236}">
                <a16:creationId xmlns:a16="http://schemas.microsoft.com/office/drawing/2014/main" id="{BB2B6686-B016-74B7-1C5D-3CA6987B15BC}"/>
              </a:ext>
            </a:extLst>
          </p:cNvPr>
          <p:cNvSpPr>
            <a:spLocks noGrp="1"/>
          </p:cNvSpPr>
          <p:nvPr>
            <p:ph sz="quarter" idx="10"/>
          </p:nvPr>
        </p:nvSpPr>
        <p:spPr/>
        <p:txBody>
          <a:bodyPr/>
          <a:lstStyle/>
          <a:p>
            <a:pPr marL="342900" indent="-342900" algn="l">
              <a:buFont typeface="+mj-lt"/>
              <a:buAutoNum type="arabicPeriod"/>
            </a:pPr>
            <a:r>
              <a:rPr lang="en-US" sz="1800"/>
              <a:t>what </a:t>
            </a:r>
            <a:r>
              <a:rPr lang="en-US" sz="1800" b="1"/>
              <a:t>data structure</a:t>
            </a:r>
            <a:r>
              <a:rPr lang="en-US" sz="1800"/>
              <a:t> will you need? (</a:t>
            </a:r>
            <a:r>
              <a:rPr lang="en-US" sz="1800" b="1"/>
              <a:t>hint:</a:t>
            </a:r>
            <a:r>
              <a:rPr lang="en-US" sz="1800"/>
              <a:t> </a:t>
            </a:r>
            <a:r>
              <a:rPr lang="en-US" sz="1800">
                <a:latin typeface="+mj-lt"/>
              </a:rPr>
              <a:t>HashMap&lt;???, ???&gt;</a:t>
            </a:r>
            <a:r>
              <a:rPr lang="en-US" sz="1800"/>
              <a:t>)</a:t>
            </a:r>
          </a:p>
          <a:p>
            <a:pPr marL="342900" indent="-342900" algn="l">
              <a:buFont typeface="+mj-lt"/>
              <a:buAutoNum type="arabicPeriod"/>
            </a:pPr>
            <a:r>
              <a:rPr lang="en-US" sz="1800"/>
              <a:t>how will you </a:t>
            </a:r>
            <a:r>
              <a:rPr lang="en-US" sz="1800" b="1"/>
              <a:t>set it up </a:t>
            </a:r>
            <a:r>
              <a:rPr lang="en-US" sz="1800"/>
              <a:t>(how will you populate it)?</a:t>
            </a:r>
          </a:p>
          <a:p>
            <a:pPr marL="342900" indent="-342900" algn="l">
              <a:buFont typeface="+mj-lt"/>
              <a:buAutoNum type="arabicPeriod"/>
            </a:pPr>
            <a:r>
              <a:rPr lang="en-US" sz="1800"/>
              <a:t>how will you </a:t>
            </a:r>
            <a:r>
              <a:rPr lang="en-US" sz="1800" b="1"/>
              <a:t>use it</a:t>
            </a:r>
            <a:r>
              <a:rPr lang="en-US" sz="1800"/>
              <a:t>?</a:t>
            </a:r>
          </a:p>
          <a:p>
            <a:pPr marL="342900" indent="-342900" algn="l">
              <a:buFont typeface="+mj-lt"/>
              <a:buAutoNum type="arabicPeriod"/>
            </a:pPr>
            <a:endParaRPr lang="en-US" sz="1800"/>
          </a:p>
          <a:p>
            <a:endParaRPr lang="en-US"/>
          </a:p>
        </p:txBody>
      </p:sp>
      <p:sp>
        <p:nvSpPr>
          <p:cNvPr id="2" name="Content Placeholder 4">
            <a:extLst>
              <a:ext uri="{FF2B5EF4-FFF2-40B4-BE49-F238E27FC236}">
                <a16:creationId xmlns:a16="http://schemas.microsoft.com/office/drawing/2014/main" id="{71349E87-3A38-B833-817C-9CBA753ABA40}"/>
              </a:ext>
            </a:extLst>
          </p:cNvPr>
          <p:cNvSpPr txBox="1">
            <a:spLocks/>
          </p:cNvSpPr>
          <p:nvPr/>
        </p:nvSpPr>
        <p:spPr>
          <a:xfrm>
            <a:off x="696323" y="2111717"/>
            <a:ext cx="2431209" cy="2068446"/>
          </a:xfrm>
          <a:prstGeom prst="rect">
            <a:avLst/>
          </a:prstGeom>
          <a:noFill/>
          <a:ln>
            <a:solidFill>
              <a:schemeClr val="tx1"/>
            </a:solidFill>
          </a:ln>
        </p:spPr>
        <p:txBody>
          <a:bodyPr/>
          <a:lstStyle>
            <a:lvl1pPr marL="285739"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1pPr>
            <a:lvl2pPr marL="628625"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2pPr>
            <a:lvl3pPr marL="971511"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3pPr>
            <a:lvl4pPr marL="1314397"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4pPr>
            <a:lvl5pPr marL="1657284"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5pPr>
            <a:lvl6pPr marL="2057318" indent="-342886" algn="l" defTabSz="342886" rtl="0" eaLnBrk="1" latinLnBrk="0" hangingPunct="1">
              <a:spcBef>
                <a:spcPct val="20000"/>
              </a:spcBef>
              <a:buFont typeface="Arial"/>
              <a:buChar char="•"/>
              <a:defRPr sz="1500" kern="1200">
                <a:solidFill>
                  <a:schemeClr val="tx1"/>
                </a:solidFill>
                <a:latin typeface="+mn-lt"/>
                <a:ea typeface="+mn-ea"/>
                <a:cs typeface="+mn-cs"/>
              </a:defRPr>
            </a:lvl6pPr>
            <a:lvl7pPr marL="2400204" indent="-342886" algn="l" defTabSz="342886" rtl="0" eaLnBrk="1" latinLnBrk="0" hangingPunct="1">
              <a:spcBef>
                <a:spcPct val="20000"/>
              </a:spcBef>
              <a:buFont typeface="Arial"/>
              <a:buChar char="•"/>
              <a:defRPr sz="1500" kern="1200">
                <a:solidFill>
                  <a:schemeClr val="tx1"/>
                </a:solidFill>
                <a:latin typeface="+mn-lt"/>
                <a:ea typeface="+mn-ea"/>
                <a:cs typeface="+mn-cs"/>
              </a:defRPr>
            </a:lvl7pPr>
            <a:lvl8pPr marL="2743090" indent="-342886" algn="l" defTabSz="342886" rtl="0" eaLnBrk="1" latinLnBrk="0" hangingPunct="1">
              <a:spcBef>
                <a:spcPct val="20000"/>
              </a:spcBef>
              <a:buFont typeface="Arial"/>
              <a:buChar char="•"/>
              <a:defRPr sz="1500" kern="1200">
                <a:solidFill>
                  <a:schemeClr val="tx1"/>
                </a:solidFill>
                <a:latin typeface="+mn-lt"/>
                <a:ea typeface="+mn-ea"/>
                <a:cs typeface="+mn-cs"/>
              </a:defRPr>
            </a:lvl8pPr>
            <a:lvl9pPr marL="3085977" indent="-342886" algn="l" defTabSz="342886" rtl="0" eaLnBrk="1" latinLnBrk="0" hangingPunct="1">
              <a:spcBef>
                <a:spcPct val="20000"/>
              </a:spcBef>
              <a:buFont typeface="Arial"/>
              <a:buChar char="•"/>
              <a:defRPr sz="1500" kern="1200">
                <a:solidFill>
                  <a:schemeClr val="tx1"/>
                </a:solidFill>
                <a:latin typeface="+mn-lt"/>
                <a:ea typeface="+mn-ea"/>
                <a:cs typeface="+mn-cs"/>
              </a:defRPr>
            </a:lvl9pPr>
          </a:lstStyle>
          <a:p>
            <a:pPr marL="0" indent="0">
              <a:buNone/>
            </a:pPr>
            <a:r>
              <a:rPr lang="en-US">
                <a:solidFill>
                  <a:srgbClr val="B60E0E"/>
                </a:solidFill>
                <a:latin typeface="Consolas" panose="020B0609020204030204" pitchFamily="49" charset="0"/>
                <a:cs typeface="Consolas" panose="020B0609020204030204" pitchFamily="49" charset="0"/>
                <a:sym typeface="Wingdings" pitchFamily="2" charset="2"/>
              </a:rPr>
              <a:t>"</a:t>
            </a:r>
            <a:r>
              <a:rPr lang="en-US">
                <a:solidFill>
                  <a:srgbClr val="B60E0E"/>
                </a:solidFill>
                <a:latin typeface="Consolas" panose="020B0609020204030204" pitchFamily="49" charset="0"/>
                <a:cs typeface="Consolas" panose="020B0609020204030204" pitchFamily="49" charset="0"/>
              </a:rPr>
              <a:t>Bulbasaur"  </a:t>
            </a:r>
            <a:r>
              <a:rPr lang="en-US">
                <a:solidFill>
                  <a:srgbClr val="000000"/>
                </a:solidFill>
                <a:latin typeface="Consolas" panose="020B0609020204030204" pitchFamily="49" charset="0"/>
                <a:cs typeface="Consolas" panose="020B0609020204030204" pitchFamily="49" charset="0"/>
                <a:sym typeface="Wingdings" pitchFamily="2" charset="2"/>
              </a:rPr>
              <a:t> </a:t>
            </a:r>
            <a:r>
              <a:rPr lang="en-US">
                <a:solidFill>
                  <a:srgbClr val="0CB5B5"/>
                </a:solidFill>
                <a:latin typeface="Consolas" panose="020B0609020204030204" pitchFamily="49" charset="0"/>
                <a:cs typeface="Consolas" panose="020B0609020204030204" pitchFamily="49" charset="0"/>
                <a:sym typeface="Wingdings" pitchFamily="2" charset="2"/>
              </a:rPr>
              <a:t>1</a:t>
            </a:r>
            <a:endParaRPr lang="en-US">
              <a:solidFill>
                <a:srgbClr val="B60E0E"/>
              </a:solidFill>
              <a:latin typeface="Consolas" panose="020B0609020204030204" pitchFamily="49" charset="0"/>
              <a:cs typeface="Consolas" panose="020B0609020204030204" pitchFamily="49" charset="0"/>
            </a:endParaRPr>
          </a:p>
          <a:p>
            <a:pPr marL="0" indent="0">
              <a:buNone/>
            </a:pPr>
            <a:r>
              <a:rPr lang="en-US">
                <a:solidFill>
                  <a:srgbClr val="B60E0E"/>
                </a:solidFill>
                <a:latin typeface="Consolas" panose="020B0609020204030204" pitchFamily="49" charset="0"/>
                <a:cs typeface="Consolas" panose="020B0609020204030204" pitchFamily="49" charset="0"/>
                <a:sym typeface="Wingdings" pitchFamily="2" charset="2"/>
              </a:rPr>
              <a:t>"</a:t>
            </a:r>
            <a:r>
              <a:rPr lang="en-US" err="1">
                <a:solidFill>
                  <a:srgbClr val="B60E0E"/>
                </a:solidFill>
                <a:latin typeface="Consolas" panose="020B0609020204030204" pitchFamily="49" charset="0"/>
                <a:cs typeface="Consolas" panose="020B0609020204030204" pitchFamily="49" charset="0"/>
              </a:rPr>
              <a:t>Ivysaur</a:t>
            </a:r>
            <a:r>
              <a:rPr lang="en-US">
                <a:solidFill>
                  <a:srgbClr val="B60E0E"/>
                </a:solidFill>
                <a:latin typeface="Consolas" panose="020B0609020204030204" pitchFamily="49" charset="0"/>
                <a:cs typeface="Consolas" panose="020B0609020204030204" pitchFamily="49" charset="0"/>
              </a:rPr>
              <a:t>"    </a:t>
            </a:r>
            <a:r>
              <a:rPr lang="en-US">
                <a:solidFill>
                  <a:srgbClr val="000000"/>
                </a:solidFill>
                <a:latin typeface="Consolas" panose="020B0609020204030204" pitchFamily="49" charset="0"/>
                <a:cs typeface="Consolas" panose="020B0609020204030204" pitchFamily="49" charset="0"/>
                <a:sym typeface="Wingdings" pitchFamily="2" charset="2"/>
              </a:rPr>
              <a:t> </a:t>
            </a:r>
            <a:r>
              <a:rPr lang="en-US">
                <a:solidFill>
                  <a:srgbClr val="0CB5B5"/>
                </a:solidFill>
                <a:latin typeface="Consolas" panose="020B0609020204030204" pitchFamily="49" charset="0"/>
                <a:cs typeface="Consolas" panose="020B0609020204030204" pitchFamily="49" charset="0"/>
                <a:sym typeface="Wingdings" pitchFamily="2" charset="2"/>
              </a:rPr>
              <a:t>2</a:t>
            </a:r>
            <a:endParaRPr lang="en-US">
              <a:solidFill>
                <a:srgbClr val="B60E0E"/>
              </a:solidFill>
              <a:latin typeface="Consolas" panose="020B0609020204030204" pitchFamily="49" charset="0"/>
              <a:cs typeface="Consolas" panose="020B0609020204030204" pitchFamily="49" charset="0"/>
            </a:endParaRPr>
          </a:p>
          <a:p>
            <a:pPr marL="0" indent="0">
              <a:buNone/>
            </a:pPr>
            <a:r>
              <a:rPr lang="en-US">
                <a:solidFill>
                  <a:srgbClr val="B60E0E"/>
                </a:solidFill>
                <a:latin typeface="Consolas" panose="020B0609020204030204" pitchFamily="49" charset="0"/>
                <a:cs typeface="Consolas" panose="020B0609020204030204" pitchFamily="49" charset="0"/>
                <a:sym typeface="Wingdings" pitchFamily="2" charset="2"/>
              </a:rPr>
              <a:t>"</a:t>
            </a:r>
            <a:r>
              <a:rPr lang="en-US" err="1">
                <a:solidFill>
                  <a:srgbClr val="B60E0E"/>
                </a:solidFill>
                <a:latin typeface="Consolas" panose="020B0609020204030204" pitchFamily="49" charset="0"/>
                <a:cs typeface="Consolas" panose="020B0609020204030204" pitchFamily="49" charset="0"/>
              </a:rPr>
              <a:t>Venusaur</a:t>
            </a:r>
            <a:r>
              <a:rPr lang="en-US">
                <a:solidFill>
                  <a:srgbClr val="B60E0E"/>
                </a:solidFill>
                <a:latin typeface="Consolas" panose="020B0609020204030204" pitchFamily="49" charset="0"/>
                <a:cs typeface="Consolas" panose="020B0609020204030204" pitchFamily="49" charset="0"/>
              </a:rPr>
              <a:t>"</a:t>
            </a:r>
            <a:r>
              <a:rPr lang="en-US">
                <a:solidFill>
                  <a:srgbClr val="000000"/>
                </a:solidFill>
                <a:latin typeface="Consolas" panose="020B0609020204030204" pitchFamily="49" charset="0"/>
                <a:cs typeface="Consolas" panose="020B0609020204030204" pitchFamily="49" charset="0"/>
                <a:sym typeface="Wingdings" pitchFamily="2" charset="2"/>
              </a:rPr>
              <a:t>    </a:t>
            </a:r>
            <a:r>
              <a:rPr lang="en-US">
                <a:solidFill>
                  <a:srgbClr val="0CB5B5"/>
                </a:solidFill>
                <a:latin typeface="Consolas" panose="020B0609020204030204" pitchFamily="49" charset="0"/>
                <a:cs typeface="Consolas" panose="020B0609020204030204" pitchFamily="49" charset="0"/>
                <a:sym typeface="Wingdings" pitchFamily="2" charset="2"/>
              </a:rPr>
              <a:t>3</a:t>
            </a:r>
            <a:endParaRPr lang="en-US">
              <a:solidFill>
                <a:srgbClr val="B60E0E"/>
              </a:solidFill>
              <a:latin typeface="Consolas" panose="020B0609020204030204" pitchFamily="49" charset="0"/>
              <a:cs typeface="Consolas" panose="020B0609020204030204" pitchFamily="49" charset="0"/>
            </a:endParaRPr>
          </a:p>
          <a:p>
            <a:pPr marL="0" indent="0">
              <a:buNone/>
            </a:pPr>
            <a:r>
              <a:rPr lang="en-US">
                <a:solidFill>
                  <a:srgbClr val="B60E0E"/>
                </a:solidFill>
                <a:latin typeface="Consolas" panose="020B0609020204030204" pitchFamily="49" charset="0"/>
                <a:cs typeface="Consolas" panose="020B0609020204030204" pitchFamily="49" charset="0"/>
                <a:sym typeface="Wingdings" pitchFamily="2" charset="2"/>
              </a:rPr>
              <a:t>"</a:t>
            </a:r>
            <a:r>
              <a:rPr lang="en-US">
                <a:solidFill>
                  <a:srgbClr val="B60E0E"/>
                </a:solidFill>
                <a:latin typeface="Consolas" panose="020B0609020204030204" pitchFamily="49" charset="0"/>
                <a:cs typeface="Consolas" panose="020B0609020204030204" pitchFamily="49" charset="0"/>
              </a:rPr>
              <a:t>Charmander"</a:t>
            </a:r>
            <a:r>
              <a:rPr lang="en-US">
                <a:solidFill>
                  <a:srgbClr val="000000"/>
                </a:solidFill>
                <a:latin typeface="Consolas" panose="020B0609020204030204" pitchFamily="49" charset="0"/>
                <a:cs typeface="Consolas" panose="020B0609020204030204" pitchFamily="49" charset="0"/>
                <a:sym typeface="Wingdings" pitchFamily="2" charset="2"/>
              </a:rPr>
              <a:t>  </a:t>
            </a:r>
            <a:r>
              <a:rPr lang="en-US">
                <a:solidFill>
                  <a:srgbClr val="0CB5B5"/>
                </a:solidFill>
                <a:latin typeface="Consolas" panose="020B0609020204030204" pitchFamily="49" charset="0"/>
                <a:cs typeface="Consolas" panose="020B0609020204030204" pitchFamily="49" charset="0"/>
                <a:sym typeface="Wingdings" pitchFamily="2" charset="2"/>
              </a:rPr>
              <a:t>4</a:t>
            </a:r>
          </a:p>
          <a:p>
            <a:pPr marL="0" indent="0">
              <a:buNone/>
            </a:pPr>
            <a:r>
              <a:rPr lang="en-US">
                <a:solidFill>
                  <a:srgbClr val="BFBFBF"/>
                </a:solidFill>
                <a:latin typeface="Consolas" panose="020B0609020204030204" pitchFamily="49" charset="0"/>
                <a:cs typeface="Consolas" panose="020B0609020204030204" pitchFamily="49" charset="0"/>
              </a:rPr>
              <a:t>...</a:t>
            </a:r>
          </a:p>
        </p:txBody>
      </p:sp>
      <p:sp>
        <p:nvSpPr>
          <p:cNvPr id="6" name="Title 2">
            <a:extLst>
              <a:ext uri="{FF2B5EF4-FFF2-40B4-BE49-F238E27FC236}">
                <a16:creationId xmlns:a16="http://schemas.microsoft.com/office/drawing/2014/main" id="{FC9E75F0-25DD-1215-C057-F8CE0B2F6F43}"/>
              </a:ext>
            </a:extLst>
          </p:cNvPr>
          <p:cNvSpPr txBox="1">
            <a:spLocks/>
          </p:cNvSpPr>
          <p:nvPr/>
        </p:nvSpPr>
        <p:spPr>
          <a:xfrm>
            <a:off x="3366654" y="3331724"/>
            <a:ext cx="5569527" cy="1556859"/>
          </a:xfrm>
          <a:prstGeom prst="rect">
            <a:avLst/>
          </a:prstGeom>
        </p:spPr>
        <p:txBody>
          <a:bodyPr vert="horz" lIns="91440" tIns="45720" rIns="91440" bIns="45720" rtlCol="0" anchor="t">
            <a:normAutofit/>
          </a:bodyPr>
          <a:lstStyle>
            <a:lvl1pPr algn="ctr" defTabSz="342886" rtl="0" eaLnBrk="1" latinLnBrk="0" hangingPunct="1">
              <a:spcBef>
                <a:spcPct val="0"/>
              </a:spcBef>
              <a:buNone/>
              <a:defRPr sz="3200" kern="1200">
                <a:solidFill>
                  <a:schemeClr val="tx1"/>
                </a:solidFill>
                <a:latin typeface="+mn-lt"/>
                <a:ea typeface="Segoe UI Emoji" panose="020B0502040204020203" pitchFamily="34" charset="0"/>
                <a:cs typeface="+mj-cs"/>
              </a:defRPr>
            </a:lvl1pPr>
          </a:lstStyle>
          <a:p>
            <a:pPr marL="342900" indent="-342900" algn="l">
              <a:buFont typeface="+mj-lt"/>
              <a:buAutoNum type="arabicPeriod"/>
            </a:pPr>
            <a:endParaRPr lang="en-US" sz="1800">
              <a:solidFill>
                <a:schemeClr val="accent5">
                  <a:lumMod val="50000"/>
                </a:schemeClr>
              </a:solidFill>
            </a:endParaRPr>
          </a:p>
        </p:txBody>
      </p:sp>
      <p:sp>
        <p:nvSpPr>
          <p:cNvPr id="7" name="Content Placeholder 3">
            <a:extLst>
              <a:ext uri="{FF2B5EF4-FFF2-40B4-BE49-F238E27FC236}">
                <a16:creationId xmlns:a16="http://schemas.microsoft.com/office/drawing/2014/main" id="{1565BD7B-241F-6ADF-38A8-D1E0A6D48595}"/>
              </a:ext>
            </a:extLst>
          </p:cNvPr>
          <p:cNvSpPr txBox="1">
            <a:spLocks/>
          </p:cNvSpPr>
          <p:nvPr/>
        </p:nvSpPr>
        <p:spPr>
          <a:xfrm>
            <a:off x="3311587" y="2440561"/>
            <a:ext cx="5191158" cy="767361"/>
          </a:xfrm>
          <a:prstGeom prst="rect">
            <a:avLst/>
          </a:prstGeom>
          <a:ln>
            <a:solidFill>
              <a:schemeClr val="tx1"/>
            </a:solidFill>
          </a:ln>
        </p:spPr>
        <p:txBody>
          <a:bodyPr vert="horz" lIns="91440" tIns="45720" rIns="91440" bIns="45720" rtlCol="0">
            <a:noAutofit/>
          </a:bodyPr>
          <a:lstStyle>
            <a:lvl1pPr marL="285739"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1pPr>
            <a:lvl2pPr marL="628625"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2pPr>
            <a:lvl3pPr marL="971511"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3pPr>
            <a:lvl4pPr marL="1314397"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4pPr>
            <a:lvl5pPr marL="1657284"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5pPr>
            <a:lvl6pPr marL="2057318" indent="-342886" algn="l" defTabSz="342886" rtl="0" eaLnBrk="1" latinLnBrk="0" hangingPunct="1">
              <a:spcBef>
                <a:spcPct val="20000"/>
              </a:spcBef>
              <a:buFont typeface="Arial"/>
              <a:buChar char="•"/>
              <a:defRPr sz="1500" kern="1200">
                <a:solidFill>
                  <a:schemeClr val="tx1"/>
                </a:solidFill>
                <a:latin typeface="+mn-lt"/>
                <a:ea typeface="+mn-ea"/>
                <a:cs typeface="+mn-cs"/>
              </a:defRPr>
            </a:lvl6pPr>
            <a:lvl7pPr marL="2400204" indent="-342886" algn="l" defTabSz="342886" rtl="0" eaLnBrk="1" latinLnBrk="0" hangingPunct="1">
              <a:spcBef>
                <a:spcPct val="20000"/>
              </a:spcBef>
              <a:buFont typeface="Arial"/>
              <a:buChar char="•"/>
              <a:defRPr sz="1500" kern="1200">
                <a:solidFill>
                  <a:schemeClr val="tx1"/>
                </a:solidFill>
                <a:latin typeface="+mn-lt"/>
                <a:ea typeface="+mn-ea"/>
                <a:cs typeface="+mn-cs"/>
              </a:defRPr>
            </a:lvl7pPr>
            <a:lvl8pPr marL="2743090" indent="-342886" algn="l" defTabSz="342886" rtl="0" eaLnBrk="1" latinLnBrk="0" hangingPunct="1">
              <a:spcBef>
                <a:spcPct val="20000"/>
              </a:spcBef>
              <a:buFont typeface="Arial"/>
              <a:buChar char="•"/>
              <a:defRPr sz="1500" kern="1200">
                <a:solidFill>
                  <a:schemeClr val="tx1"/>
                </a:solidFill>
                <a:latin typeface="+mn-lt"/>
                <a:ea typeface="+mn-ea"/>
                <a:cs typeface="+mn-cs"/>
              </a:defRPr>
            </a:lvl8pPr>
            <a:lvl9pPr marL="3085977" indent="-342886" algn="l" defTabSz="342886" rtl="0" eaLnBrk="1" latinLnBrk="0" hangingPunct="1">
              <a:spcBef>
                <a:spcPct val="20000"/>
              </a:spcBef>
              <a:buFont typeface="Arial"/>
              <a:buChar char="•"/>
              <a:defRPr sz="1500" kern="1200">
                <a:solidFill>
                  <a:schemeClr val="tx1"/>
                </a:solidFill>
                <a:latin typeface="+mn-lt"/>
                <a:ea typeface="+mn-ea"/>
                <a:cs typeface="+mn-cs"/>
              </a:defRPr>
            </a:lvl9pPr>
          </a:lstStyle>
          <a:p>
            <a:pPr marL="0" indent="0">
              <a:buNone/>
            </a:pPr>
            <a:r>
              <a:rPr lang="en-US">
                <a:solidFill>
                  <a:srgbClr val="000080"/>
                </a:solidFill>
                <a:latin typeface="+mj-lt"/>
              </a:rPr>
              <a:t>void</a:t>
            </a:r>
            <a:r>
              <a:rPr lang="en-US">
                <a:latin typeface="+mj-lt"/>
              </a:rPr>
              <a:t> put(</a:t>
            </a:r>
            <a:r>
              <a:rPr lang="en-US" err="1">
                <a:solidFill>
                  <a:srgbClr val="000080"/>
                </a:solidFill>
                <a:latin typeface="+mj-lt"/>
              </a:rPr>
              <a:t>KeyType</a:t>
            </a:r>
            <a:r>
              <a:rPr lang="en-US">
                <a:latin typeface="+mj-lt"/>
              </a:rPr>
              <a:t> key, </a:t>
            </a:r>
            <a:r>
              <a:rPr lang="en-US" err="1">
                <a:solidFill>
                  <a:srgbClr val="000080"/>
                </a:solidFill>
                <a:latin typeface="+mj-lt"/>
              </a:rPr>
              <a:t>ValueType</a:t>
            </a:r>
            <a:r>
              <a:rPr lang="en-US">
                <a:latin typeface="+mj-lt"/>
              </a:rPr>
              <a:t> value); </a:t>
            </a:r>
          </a:p>
          <a:p>
            <a:pPr marL="0" indent="0">
              <a:buNone/>
            </a:pPr>
            <a:r>
              <a:rPr lang="en-US" err="1">
                <a:solidFill>
                  <a:srgbClr val="000080"/>
                </a:solidFill>
                <a:latin typeface="+mj-lt"/>
              </a:rPr>
              <a:t>ValueType</a:t>
            </a:r>
            <a:r>
              <a:rPr lang="en-US">
                <a:latin typeface="+mj-lt"/>
              </a:rPr>
              <a:t> get(</a:t>
            </a:r>
            <a:r>
              <a:rPr lang="en-US" err="1">
                <a:solidFill>
                  <a:srgbClr val="000080"/>
                </a:solidFill>
                <a:latin typeface="+mj-lt"/>
              </a:rPr>
              <a:t>KeyType</a:t>
            </a:r>
            <a:r>
              <a:rPr lang="en-US">
                <a:latin typeface="+mj-lt"/>
              </a:rPr>
              <a:t> key);</a:t>
            </a:r>
          </a:p>
        </p:txBody>
      </p:sp>
    </p:spTree>
    <p:extLst>
      <p:ext uri="{BB962C8B-B14F-4D97-AF65-F5344CB8AC3E}">
        <p14:creationId xmlns:p14="http://schemas.microsoft.com/office/powerpoint/2010/main" val="808715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F4112-422E-1C8E-5D45-8369341D847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3FCFAB0D-3BAD-5AAA-69AE-9A667335949F}"/>
              </a:ext>
            </a:extLst>
          </p:cNvPr>
          <p:cNvSpPr>
            <a:spLocks noGrp="1"/>
          </p:cNvSpPr>
          <p:nvPr>
            <p:ph type="title"/>
          </p:nvPr>
        </p:nvSpPr>
        <p:spPr/>
        <p:txBody>
          <a:bodyPr/>
          <a:lstStyle/>
          <a:p>
            <a:r>
              <a:rPr lang="en-US"/>
              <a:t>name </a:t>
            </a:r>
            <a:r>
              <a:rPr lang="en-US">
                <a:sym typeface="Wingdings" pitchFamily="2" charset="2"/>
              </a:rPr>
              <a:t></a:t>
            </a:r>
            <a:r>
              <a:rPr lang="en-US"/>
              <a:t> number</a:t>
            </a:r>
          </a:p>
        </p:txBody>
      </p:sp>
      <p:sp>
        <p:nvSpPr>
          <p:cNvPr id="13" name="TextBox 12">
            <a:extLst>
              <a:ext uri="{FF2B5EF4-FFF2-40B4-BE49-F238E27FC236}">
                <a16:creationId xmlns:a16="http://schemas.microsoft.com/office/drawing/2014/main" id="{23D2AB07-43F6-21F4-BF4D-C6E741D93907}"/>
              </a:ext>
            </a:extLst>
          </p:cNvPr>
          <p:cNvSpPr txBox="1"/>
          <p:nvPr/>
        </p:nvSpPr>
        <p:spPr>
          <a:xfrm>
            <a:off x="457200" y="972183"/>
            <a:ext cx="8229600" cy="634020"/>
          </a:xfrm>
          <a:prstGeom prst="rect">
            <a:avLst/>
          </a:prstGeom>
          <a:noFill/>
          <a:ln>
            <a:solidFill>
              <a:schemeClr val="tx1"/>
            </a:solidFill>
          </a:ln>
        </p:spPr>
        <p:txBody>
          <a:bodyPr wrap="square" rtlCol="0">
            <a:spAutoFit/>
          </a:bodyPr>
          <a:lstStyle/>
          <a:p>
            <a:pPr lvl="0" defTabSz="342886">
              <a:spcBef>
                <a:spcPct val="20000"/>
              </a:spcBef>
              <a:buClr>
                <a:srgbClr val="FFFFFF">
                  <a:lumMod val="65000"/>
                </a:srgbClr>
              </a:buClr>
            </a:pPr>
            <a:r>
              <a:rPr lang="en-US" sz="1600">
                <a:solidFill>
                  <a:srgbClr val="007B00"/>
                </a:solidFill>
                <a:latin typeface="Consolas"/>
                <a:ea typeface="Segoe UI Emoji" panose="020B0502040204020203" pitchFamily="34" charset="0"/>
                <a:cs typeface="Consolas" panose="020B0609020204030204" pitchFamily="49" charset="0"/>
              </a:rPr>
              <a:t>// data structures</a:t>
            </a:r>
          </a:p>
          <a:p>
            <a:pPr lvl="0" defTabSz="342886">
              <a:spcBef>
                <a:spcPct val="20000"/>
              </a:spcBef>
              <a:buClr>
                <a:srgbClr val="FFFFFF">
                  <a:lumMod val="65000"/>
                </a:srgbClr>
              </a:buClr>
            </a:pPr>
            <a:r>
              <a:rPr lang="en-US" sz="1600">
                <a:solidFill>
                  <a:srgbClr val="000080"/>
                </a:solidFill>
                <a:latin typeface="Consolas"/>
                <a:ea typeface="Segoe UI Emoji" panose="020B0502040204020203" pitchFamily="34" charset="0"/>
                <a:cs typeface="Consolas" panose="020B0609020204030204" pitchFamily="49" charset="0"/>
              </a:rPr>
              <a:t>HashMap</a:t>
            </a:r>
            <a:r>
              <a:rPr lang="en-US" sz="1600">
                <a:latin typeface="Consolas"/>
                <a:ea typeface="Segoe UI Emoji" panose="020B0502040204020203" pitchFamily="34" charset="0"/>
                <a:cs typeface="Consolas" panose="020B0609020204030204" pitchFamily="49" charset="0"/>
              </a:rPr>
              <a:t>&lt;</a:t>
            </a:r>
            <a:r>
              <a:rPr lang="en-US" sz="1600">
                <a:solidFill>
                  <a:srgbClr val="000080"/>
                </a:solidFill>
                <a:latin typeface="Consolas"/>
                <a:ea typeface="Segoe UI Emoji" panose="020B0502040204020203" pitchFamily="34" charset="0"/>
                <a:cs typeface="Consolas" panose="020B0609020204030204" pitchFamily="49" charset="0"/>
              </a:rPr>
              <a:t>String</a:t>
            </a:r>
            <a:r>
              <a:rPr lang="en-US" sz="1600">
                <a:latin typeface="Consolas"/>
                <a:ea typeface="Segoe UI Emoji" panose="020B0502040204020203" pitchFamily="34" charset="0"/>
                <a:cs typeface="Consolas" panose="020B0609020204030204" pitchFamily="49" charset="0"/>
              </a:rPr>
              <a:t>, </a:t>
            </a:r>
            <a:r>
              <a:rPr lang="en-US" sz="1600">
                <a:solidFill>
                  <a:srgbClr val="000080"/>
                </a:solidFill>
                <a:latin typeface="Consolas"/>
                <a:ea typeface="Segoe UI Emoji" panose="020B0502040204020203" pitchFamily="34" charset="0"/>
                <a:cs typeface="Consolas" panose="020B0609020204030204" pitchFamily="49" charset="0"/>
              </a:rPr>
              <a:t>Integer</a:t>
            </a:r>
            <a:r>
              <a:rPr lang="en-US" sz="1600">
                <a:latin typeface="Consolas"/>
                <a:ea typeface="Segoe UI Emoji" panose="020B0502040204020203" pitchFamily="34" charset="0"/>
                <a:cs typeface="Consolas" panose="020B0609020204030204" pitchFamily="49" charset="0"/>
              </a:rPr>
              <a:t>&gt; </a:t>
            </a:r>
            <a:r>
              <a:rPr lang="en-US" sz="1600" err="1">
                <a:latin typeface="Consolas"/>
                <a:ea typeface="Segoe UI Emoji" panose="020B0502040204020203" pitchFamily="34" charset="0"/>
                <a:cs typeface="Consolas" panose="020B0609020204030204" pitchFamily="49" charset="0"/>
              </a:rPr>
              <a:t>numberFromName</a:t>
            </a:r>
            <a:r>
              <a:rPr lang="en-US" sz="1600">
                <a:latin typeface="Consolas"/>
                <a:ea typeface="Segoe UI Emoji" panose="020B0502040204020203" pitchFamily="34" charset="0"/>
                <a:cs typeface="Consolas" panose="020B0609020204030204" pitchFamily="49" charset="0"/>
              </a:rPr>
              <a:t>;</a:t>
            </a:r>
            <a:endParaRPr lang="en-US" sz="1600">
              <a:solidFill>
                <a:srgbClr val="007B00"/>
              </a:solidFill>
              <a:latin typeface="Consolas"/>
              <a:ea typeface="Segoe UI Emoji" panose="020B0502040204020203" pitchFamily="34" charset="0"/>
              <a:cs typeface="Consolas" panose="020B0609020204030204" pitchFamily="49" charset="0"/>
            </a:endParaRPr>
          </a:p>
        </p:txBody>
      </p:sp>
      <p:sp>
        <p:nvSpPr>
          <p:cNvPr id="2" name="TextBox 1">
            <a:extLst>
              <a:ext uri="{FF2B5EF4-FFF2-40B4-BE49-F238E27FC236}">
                <a16:creationId xmlns:a16="http://schemas.microsoft.com/office/drawing/2014/main" id="{20DA4016-BEA9-189C-A9A7-0B441C8450FE}"/>
              </a:ext>
            </a:extLst>
          </p:cNvPr>
          <p:cNvSpPr txBox="1"/>
          <p:nvPr/>
        </p:nvSpPr>
        <p:spPr>
          <a:xfrm>
            <a:off x="457200" y="1713700"/>
            <a:ext cx="8229600" cy="2148280"/>
          </a:xfrm>
          <a:prstGeom prst="rect">
            <a:avLst/>
          </a:prstGeom>
          <a:noFill/>
          <a:ln>
            <a:solidFill>
              <a:schemeClr val="tx1"/>
            </a:solidFill>
          </a:ln>
        </p:spPr>
        <p:txBody>
          <a:bodyPr wrap="square" rtlCol="0">
            <a:spAutoFit/>
          </a:bodyPr>
          <a:lstStyle/>
          <a:p>
            <a:pPr lvl="0" defTabSz="342886">
              <a:spcBef>
                <a:spcPct val="20000"/>
              </a:spcBef>
              <a:buClr>
                <a:srgbClr val="FFFFFF">
                  <a:lumMod val="65000"/>
                </a:srgbClr>
              </a:buClr>
            </a:pPr>
            <a:r>
              <a:rPr lang="en-US" sz="1600">
                <a:solidFill>
                  <a:srgbClr val="007B00"/>
                </a:solidFill>
                <a:latin typeface="Consolas"/>
                <a:ea typeface="Segoe UI Emoji" panose="020B0502040204020203" pitchFamily="34" charset="0"/>
                <a:cs typeface="Consolas" panose="020B0609020204030204" pitchFamily="49" charset="0"/>
              </a:rPr>
              <a:t>// setup</a:t>
            </a:r>
          </a:p>
          <a:p>
            <a:pPr defTabSz="342886">
              <a:spcBef>
                <a:spcPct val="20000"/>
              </a:spcBef>
              <a:buClr>
                <a:srgbClr val="FFFFFF">
                  <a:lumMod val="65000"/>
                </a:srgbClr>
              </a:buClr>
            </a:pPr>
            <a:r>
              <a:rPr lang="en-US" sz="1600">
                <a:solidFill>
                  <a:srgbClr val="000080"/>
                </a:solidFill>
                <a:latin typeface="Consolas"/>
                <a:ea typeface="Segoe UI Emoji" panose="020B0502040204020203" pitchFamily="34" charset="0"/>
                <a:cs typeface="Consolas" panose="020B0609020204030204" pitchFamily="49" charset="0"/>
              </a:rPr>
              <a:t>String</a:t>
            </a:r>
            <a:r>
              <a:rPr lang="en-US" sz="1600">
                <a:latin typeface="Consolas"/>
                <a:ea typeface="Segoe UI Emoji" panose="020B0502040204020203" pitchFamily="34" charset="0"/>
                <a:cs typeface="Consolas" panose="020B0609020204030204" pitchFamily="49" charset="0"/>
              </a:rPr>
              <a:t>[]</a:t>
            </a:r>
            <a:r>
              <a:rPr lang="en-US" sz="1600">
                <a:solidFill>
                  <a:srgbClr val="0000FF"/>
                </a:solidFill>
                <a:latin typeface="Consolas"/>
                <a:ea typeface="Segoe UI Emoji" panose="020B0502040204020203" pitchFamily="34" charset="0"/>
                <a:cs typeface="Consolas" panose="020B0609020204030204" pitchFamily="49" charset="0"/>
              </a:rPr>
              <a:t> </a:t>
            </a:r>
            <a:r>
              <a:rPr lang="en-US" sz="1600">
                <a:latin typeface="Consolas"/>
                <a:ea typeface="Segoe UI Emoji" panose="020B0502040204020203" pitchFamily="34" charset="0"/>
                <a:cs typeface="Consolas" panose="020B0609020204030204" pitchFamily="49" charset="0"/>
              </a:rPr>
              <a:t>names = { </a:t>
            </a:r>
            <a:r>
              <a:rPr lang="en-US" sz="1600">
                <a:solidFill>
                  <a:srgbClr val="B60E0E"/>
                </a:solidFill>
                <a:latin typeface="Consolas"/>
                <a:ea typeface="Segoe UI Emoji" panose="020B0502040204020203" pitchFamily="34" charset="0"/>
                <a:cs typeface="Consolas" panose="020B0609020204030204" pitchFamily="49" charset="0"/>
              </a:rPr>
              <a:t>"Bulbasaur"</a:t>
            </a:r>
            <a:r>
              <a:rPr lang="en-US" sz="1600">
                <a:latin typeface="Consolas"/>
                <a:ea typeface="Segoe UI Emoji" panose="020B0502040204020203" pitchFamily="34" charset="0"/>
                <a:cs typeface="Consolas" panose="020B0609020204030204" pitchFamily="49" charset="0"/>
              </a:rPr>
              <a:t>,</a:t>
            </a:r>
            <a:r>
              <a:rPr lang="en-US" sz="1600">
                <a:solidFill>
                  <a:srgbClr val="B60E0E"/>
                </a:solidFill>
                <a:latin typeface="Consolas"/>
                <a:ea typeface="Segoe UI Emoji" panose="020B0502040204020203" pitchFamily="34" charset="0"/>
                <a:cs typeface="Consolas" panose="020B0609020204030204" pitchFamily="49" charset="0"/>
              </a:rPr>
              <a:t> "</a:t>
            </a:r>
            <a:r>
              <a:rPr lang="en-US" sz="1600" err="1">
                <a:solidFill>
                  <a:srgbClr val="B60E0E"/>
                </a:solidFill>
                <a:latin typeface="Consolas"/>
                <a:ea typeface="Segoe UI Emoji" panose="020B0502040204020203" pitchFamily="34" charset="0"/>
                <a:cs typeface="Consolas" panose="020B0609020204030204" pitchFamily="49" charset="0"/>
              </a:rPr>
              <a:t>Ivysaur</a:t>
            </a:r>
            <a:r>
              <a:rPr lang="en-US" sz="1600">
                <a:solidFill>
                  <a:srgbClr val="B60E0E"/>
                </a:solidFill>
                <a:latin typeface="Consolas"/>
                <a:ea typeface="Segoe UI Emoji" panose="020B0502040204020203" pitchFamily="34" charset="0"/>
                <a:cs typeface="Consolas" panose="020B0609020204030204" pitchFamily="49" charset="0"/>
              </a:rPr>
              <a:t>"</a:t>
            </a:r>
            <a:r>
              <a:rPr lang="en-US" sz="1600">
                <a:latin typeface="Consolas"/>
                <a:ea typeface="Segoe UI Emoji" panose="020B0502040204020203" pitchFamily="34" charset="0"/>
                <a:cs typeface="Consolas" panose="020B0609020204030204" pitchFamily="49" charset="0"/>
              </a:rPr>
              <a:t>,</a:t>
            </a:r>
            <a:r>
              <a:rPr lang="en-US" sz="1600">
                <a:solidFill>
                  <a:srgbClr val="B60E0E"/>
                </a:solidFill>
                <a:latin typeface="Consolas"/>
                <a:ea typeface="Segoe UI Emoji" panose="020B0502040204020203" pitchFamily="34" charset="0"/>
                <a:cs typeface="Consolas" panose="020B0609020204030204" pitchFamily="49" charset="0"/>
              </a:rPr>
              <a:t> </a:t>
            </a:r>
            <a:r>
              <a:rPr lang="en-US" sz="1600">
                <a:solidFill>
                  <a:srgbClr val="BFBFBF"/>
                </a:solidFill>
                <a:latin typeface="Consolas"/>
                <a:ea typeface="Segoe UI Emoji" panose="020B0502040204020203" pitchFamily="34" charset="0"/>
                <a:cs typeface="Consolas" panose="020B0609020204030204" pitchFamily="49" charset="0"/>
              </a:rPr>
              <a:t>...</a:t>
            </a:r>
            <a:r>
              <a:rPr lang="en-US" sz="1600">
                <a:latin typeface="Consolas"/>
                <a:ea typeface="Segoe UI Emoji" panose="020B0502040204020203" pitchFamily="34" charset="0"/>
                <a:cs typeface="Consolas" panose="020B0609020204030204" pitchFamily="49" charset="0"/>
              </a:rPr>
              <a:t> };</a:t>
            </a:r>
            <a:endParaRPr lang="en-US" sz="1600">
              <a:solidFill>
                <a:srgbClr val="007B00"/>
              </a:solidFill>
              <a:latin typeface="Consolas"/>
              <a:ea typeface="Segoe UI Emoji" panose="020B0502040204020203" pitchFamily="34" charset="0"/>
              <a:cs typeface="Consolas" panose="020B0609020204030204" pitchFamily="49" charset="0"/>
            </a:endParaRPr>
          </a:p>
          <a:p>
            <a:pPr lvl="0" defTabSz="342886">
              <a:spcBef>
                <a:spcPct val="20000"/>
              </a:spcBef>
              <a:buClr>
                <a:srgbClr val="FFFFFF">
                  <a:lumMod val="65000"/>
                </a:srgbClr>
              </a:buClr>
            </a:pPr>
            <a:r>
              <a:rPr lang="en-US" sz="1600" err="1">
                <a:latin typeface="Consolas"/>
                <a:ea typeface="Segoe UI Emoji" panose="020B0502040204020203" pitchFamily="34" charset="0"/>
                <a:cs typeface="Consolas" panose="020B0609020204030204" pitchFamily="49" charset="0"/>
              </a:rPr>
              <a:t>numberFromName</a:t>
            </a:r>
            <a:r>
              <a:rPr lang="en-US" sz="1600">
                <a:latin typeface="Consolas"/>
                <a:ea typeface="Segoe UI Emoji" panose="020B0502040204020203" pitchFamily="34" charset="0"/>
                <a:cs typeface="Consolas" panose="020B0609020204030204" pitchFamily="49" charset="0"/>
              </a:rPr>
              <a:t> = new </a:t>
            </a:r>
            <a:r>
              <a:rPr lang="en-US" sz="1600">
                <a:solidFill>
                  <a:srgbClr val="000080"/>
                </a:solidFill>
                <a:latin typeface="Consolas"/>
                <a:ea typeface="Segoe UI Emoji" panose="020B0502040204020203" pitchFamily="34" charset="0"/>
                <a:cs typeface="Consolas" panose="020B0609020204030204" pitchFamily="49" charset="0"/>
              </a:rPr>
              <a:t>HashMap</a:t>
            </a:r>
            <a:r>
              <a:rPr lang="en-US" sz="1600">
                <a:latin typeface="Consolas"/>
                <a:ea typeface="Segoe UI Emoji" panose="020B0502040204020203" pitchFamily="34" charset="0"/>
                <a:cs typeface="Consolas" panose="020B0609020204030204" pitchFamily="49" charset="0"/>
              </a:rPr>
              <a:t>&lt;&gt;();</a:t>
            </a:r>
          </a:p>
          <a:p>
            <a:pPr lvl="0" defTabSz="342886">
              <a:spcBef>
                <a:spcPct val="20000"/>
              </a:spcBef>
              <a:buClr>
                <a:srgbClr val="FFFFFF">
                  <a:lumMod val="65000"/>
                </a:srgbClr>
              </a:buClr>
            </a:pPr>
            <a:r>
              <a:rPr lang="en-US" sz="1600">
                <a:solidFill>
                  <a:srgbClr val="0000FF"/>
                </a:solidFill>
                <a:latin typeface="Consolas"/>
                <a:ea typeface="Segoe UI Emoji" panose="020B0502040204020203" pitchFamily="34" charset="0"/>
                <a:cs typeface="Consolas" panose="020B0609020204030204" pitchFamily="49" charset="0"/>
              </a:rPr>
              <a:t>for</a:t>
            </a:r>
            <a:r>
              <a:rPr lang="en-US" sz="1600">
                <a:latin typeface="Consolas"/>
                <a:ea typeface="Segoe UI Emoji" panose="020B0502040204020203" pitchFamily="34" charset="0"/>
                <a:cs typeface="Consolas" panose="020B0609020204030204" pitchFamily="49" charset="0"/>
              </a:rPr>
              <a:t> (</a:t>
            </a:r>
            <a:r>
              <a:rPr lang="en-US" sz="1600">
                <a:solidFill>
                  <a:srgbClr val="000080"/>
                </a:solidFill>
                <a:latin typeface="Consolas"/>
                <a:ea typeface="Segoe UI Emoji" panose="020B0502040204020203" pitchFamily="34" charset="0"/>
                <a:cs typeface="Consolas" panose="020B0609020204030204" pitchFamily="49" charset="0"/>
              </a:rPr>
              <a:t>int</a:t>
            </a:r>
            <a:r>
              <a:rPr lang="en-US" sz="1600">
                <a:latin typeface="Consolas"/>
                <a:ea typeface="Segoe UI Emoji" panose="020B0502040204020203" pitchFamily="34" charset="0"/>
                <a:cs typeface="Consolas" panose="020B0609020204030204" pitchFamily="49" charset="0"/>
              </a:rPr>
              <a:t> </a:t>
            </a:r>
            <a:r>
              <a:rPr lang="en-US" sz="1600" err="1">
                <a:latin typeface="Consolas"/>
                <a:ea typeface="Segoe UI Emoji" panose="020B0502040204020203" pitchFamily="34" charset="0"/>
                <a:cs typeface="Consolas" panose="020B0609020204030204" pitchFamily="49" charset="0"/>
              </a:rPr>
              <a:t>i</a:t>
            </a:r>
            <a:r>
              <a:rPr lang="en-US" sz="1600">
                <a:latin typeface="Consolas"/>
                <a:ea typeface="Segoe UI Emoji" panose="020B0502040204020203" pitchFamily="34" charset="0"/>
                <a:cs typeface="Consolas" panose="020B0609020204030204" pitchFamily="49" charset="0"/>
              </a:rPr>
              <a:t> = </a:t>
            </a:r>
            <a:r>
              <a:rPr lang="en-US" sz="1600">
                <a:solidFill>
                  <a:srgbClr val="0CB5B5"/>
                </a:solidFill>
                <a:latin typeface="Consolas"/>
                <a:ea typeface="Segoe UI Emoji" panose="020B0502040204020203" pitchFamily="34" charset="0"/>
                <a:cs typeface="Consolas" panose="020B0609020204030204" pitchFamily="49" charset="0"/>
              </a:rPr>
              <a:t>0</a:t>
            </a:r>
            <a:r>
              <a:rPr lang="en-US" sz="1600">
                <a:latin typeface="Consolas"/>
                <a:ea typeface="Segoe UI Emoji" panose="020B0502040204020203" pitchFamily="34" charset="0"/>
                <a:cs typeface="Consolas" panose="020B0609020204030204" pitchFamily="49" charset="0"/>
              </a:rPr>
              <a:t>; </a:t>
            </a:r>
            <a:r>
              <a:rPr lang="en-US" sz="1600" err="1">
                <a:latin typeface="Consolas"/>
                <a:ea typeface="Segoe UI Emoji" panose="020B0502040204020203" pitchFamily="34" charset="0"/>
                <a:cs typeface="Consolas" panose="020B0609020204030204" pitchFamily="49" charset="0"/>
              </a:rPr>
              <a:t>i</a:t>
            </a:r>
            <a:r>
              <a:rPr lang="en-US" sz="1600">
                <a:latin typeface="Consolas"/>
                <a:ea typeface="Segoe UI Emoji" panose="020B0502040204020203" pitchFamily="34" charset="0"/>
                <a:cs typeface="Consolas" panose="020B0609020204030204" pitchFamily="49" charset="0"/>
              </a:rPr>
              <a:t> &lt; </a:t>
            </a:r>
            <a:r>
              <a:rPr lang="en-US" sz="1600" err="1">
                <a:latin typeface="Consolas"/>
                <a:ea typeface="Segoe UI Emoji" panose="020B0502040204020203" pitchFamily="34" charset="0"/>
                <a:cs typeface="Consolas" panose="020B0609020204030204" pitchFamily="49" charset="0"/>
              </a:rPr>
              <a:t>names.length</a:t>
            </a:r>
            <a:r>
              <a:rPr lang="en-US" sz="1600">
                <a:latin typeface="Consolas"/>
                <a:ea typeface="Segoe UI Emoji" panose="020B0502040204020203" pitchFamily="34" charset="0"/>
                <a:cs typeface="Consolas" panose="020B0609020204030204" pitchFamily="49" charset="0"/>
              </a:rPr>
              <a:t>; ++</a:t>
            </a:r>
            <a:r>
              <a:rPr lang="en-US" sz="1600" err="1">
                <a:latin typeface="Consolas"/>
                <a:ea typeface="Segoe UI Emoji" panose="020B0502040204020203" pitchFamily="34" charset="0"/>
                <a:cs typeface="Consolas" panose="020B0609020204030204" pitchFamily="49" charset="0"/>
              </a:rPr>
              <a:t>i</a:t>
            </a:r>
            <a:r>
              <a:rPr lang="en-US" sz="1600">
                <a:latin typeface="Consolas"/>
                <a:ea typeface="Segoe UI Emoji" panose="020B0502040204020203" pitchFamily="34" charset="0"/>
                <a:cs typeface="Consolas" panose="020B0609020204030204" pitchFamily="49" charset="0"/>
              </a:rPr>
              <a:t>) {</a:t>
            </a:r>
          </a:p>
          <a:p>
            <a:pPr lvl="0" defTabSz="342886">
              <a:spcBef>
                <a:spcPct val="20000"/>
              </a:spcBef>
              <a:buClr>
                <a:srgbClr val="FFFFFF">
                  <a:lumMod val="65000"/>
                </a:srgbClr>
              </a:buClr>
            </a:pPr>
            <a:r>
              <a:rPr lang="en-US" sz="1600">
                <a:solidFill>
                  <a:srgbClr val="007B00"/>
                </a:solidFill>
                <a:latin typeface="Consolas"/>
                <a:ea typeface="Segoe UI Emoji" panose="020B0502040204020203" pitchFamily="34" charset="0"/>
                <a:cs typeface="Consolas" panose="020B0609020204030204" pitchFamily="49" charset="0"/>
              </a:rPr>
              <a:t>    // Bulbasaur = 1</a:t>
            </a:r>
            <a:endParaRPr lang="en-US" sz="1600">
              <a:latin typeface="Consolas"/>
              <a:ea typeface="Segoe UI Emoji" panose="020B0502040204020203" pitchFamily="34" charset="0"/>
              <a:cs typeface="Consolas" panose="020B0609020204030204" pitchFamily="49" charset="0"/>
            </a:endParaRPr>
          </a:p>
          <a:p>
            <a:pPr lvl="0" defTabSz="342886">
              <a:spcBef>
                <a:spcPct val="20000"/>
              </a:spcBef>
              <a:buClr>
                <a:srgbClr val="FFFFFF">
                  <a:lumMod val="65000"/>
                </a:srgbClr>
              </a:buClr>
            </a:pPr>
            <a:r>
              <a:rPr lang="en-US" sz="1600">
                <a:latin typeface="Consolas"/>
                <a:ea typeface="Segoe UI Emoji" panose="020B0502040204020203" pitchFamily="34" charset="0"/>
                <a:cs typeface="Consolas" panose="020B0609020204030204" pitchFamily="49" charset="0"/>
              </a:rPr>
              <a:t>    </a:t>
            </a:r>
            <a:r>
              <a:rPr lang="en-US" sz="1600" err="1">
                <a:latin typeface="Consolas"/>
                <a:ea typeface="Segoe UI Emoji" panose="020B0502040204020203" pitchFamily="34" charset="0"/>
                <a:cs typeface="Consolas" panose="020B0609020204030204" pitchFamily="49" charset="0"/>
              </a:rPr>
              <a:t>numberFromName.put</a:t>
            </a:r>
            <a:r>
              <a:rPr lang="en-US" sz="1600">
                <a:latin typeface="Consolas"/>
                <a:ea typeface="Segoe UI Emoji" panose="020B0502040204020203" pitchFamily="34" charset="0"/>
                <a:cs typeface="Consolas" panose="020B0609020204030204" pitchFamily="49" charset="0"/>
              </a:rPr>
              <a:t>(names[</a:t>
            </a:r>
            <a:r>
              <a:rPr lang="en-US" sz="1600" err="1">
                <a:latin typeface="Consolas"/>
                <a:ea typeface="Segoe UI Emoji" panose="020B0502040204020203" pitchFamily="34" charset="0"/>
                <a:cs typeface="Consolas" panose="020B0609020204030204" pitchFamily="49" charset="0"/>
              </a:rPr>
              <a:t>i</a:t>
            </a:r>
            <a:r>
              <a:rPr lang="en-US" sz="1600">
                <a:latin typeface="Consolas"/>
                <a:ea typeface="Segoe UI Emoji" panose="020B0502040204020203" pitchFamily="34" charset="0"/>
                <a:cs typeface="Consolas" panose="020B0609020204030204" pitchFamily="49" charset="0"/>
              </a:rPr>
              <a:t>], </a:t>
            </a:r>
            <a:r>
              <a:rPr lang="en-US" sz="1600" err="1">
                <a:latin typeface="Consolas"/>
                <a:ea typeface="Segoe UI Emoji" panose="020B0502040204020203" pitchFamily="34" charset="0"/>
                <a:cs typeface="Consolas" panose="020B0609020204030204" pitchFamily="49" charset="0"/>
              </a:rPr>
              <a:t>i</a:t>
            </a:r>
            <a:r>
              <a:rPr lang="en-US" sz="1600">
                <a:latin typeface="Consolas"/>
                <a:ea typeface="Segoe UI Emoji" panose="020B0502040204020203" pitchFamily="34" charset="0"/>
                <a:cs typeface="Consolas" panose="020B0609020204030204" pitchFamily="49" charset="0"/>
              </a:rPr>
              <a:t> + </a:t>
            </a:r>
            <a:r>
              <a:rPr lang="en-US" sz="1600">
                <a:solidFill>
                  <a:srgbClr val="0CB5B5"/>
                </a:solidFill>
                <a:latin typeface="Consolas"/>
                <a:ea typeface="Segoe UI Emoji" panose="020B0502040204020203" pitchFamily="34" charset="0"/>
                <a:cs typeface="Consolas" panose="020B0609020204030204" pitchFamily="49" charset="0"/>
              </a:rPr>
              <a:t>1</a:t>
            </a:r>
            <a:r>
              <a:rPr lang="en-US" sz="1600">
                <a:latin typeface="Consolas"/>
                <a:ea typeface="Segoe UI Emoji" panose="020B0502040204020203" pitchFamily="34" charset="0"/>
                <a:cs typeface="Consolas" panose="020B0609020204030204" pitchFamily="49" charset="0"/>
              </a:rPr>
              <a:t>);</a:t>
            </a:r>
            <a:endParaRPr lang="en-US" sz="1600">
              <a:solidFill>
                <a:srgbClr val="007B00"/>
              </a:solidFill>
              <a:latin typeface="Consolas"/>
              <a:ea typeface="Segoe UI Emoji" panose="020B0502040204020203" pitchFamily="34" charset="0"/>
              <a:cs typeface="Consolas" panose="020B0609020204030204" pitchFamily="49" charset="0"/>
            </a:endParaRPr>
          </a:p>
          <a:p>
            <a:pPr lvl="0" defTabSz="342886">
              <a:spcBef>
                <a:spcPct val="20000"/>
              </a:spcBef>
              <a:buClr>
                <a:srgbClr val="FFFFFF">
                  <a:lumMod val="65000"/>
                </a:srgbClr>
              </a:buClr>
            </a:pPr>
            <a:r>
              <a:rPr lang="en-US" sz="1600">
                <a:latin typeface="Consolas"/>
                <a:ea typeface="Segoe UI Emoji" panose="020B0502040204020203" pitchFamily="34" charset="0"/>
                <a:cs typeface="Consolas" panose="020B0609020204030204" pitchFamily="49" charset="0"/>
              </a:rPr>
              <a:t>}</a:t>
            </a:r>
          </a:p>
        </p:txBody>
      </p:sp>
      <p:sp>
        <p:nvSpPr>
          <p:cNvPr id="4" name="TextBox 3">
            <a:extLst>
              <a:ext uri="{FF2B5EF4-FFF2-40B4-BE49-F238E27FC236}">
                <a16:creationId xmlns:a16="http://schemas.microsoft.com/office/drawing/2014/main" id="{2F854E61-9910-0032-7A93-3A7B62D56FB6}"/>
              </a:ext>
            </a:extLst>
          </p:cNvPr>
          <p:cNvSpPr txBox="1"/>
          <p:nvPr/>
        </p:nvSpPr>
        <p:spPr>
          <a:xfrm>
            <a:off x="457200" y="3981410"/>
            <a:ext cx="8229600" cy="966418"/>
          </a:xfrm>
          <a:prstGeom prst="rect">
            <a:avLst/>
          </a:prstGeom>
          <a:noFill/>
          <a:ln>
            <a:solidFill>
              <a:schemeClr val="tx1"/>
            </a:solidFill>
          </a:ln>
        </p:spPr>
        <p:txBody>
          <a:bodyPr wrap="square" rtlCol="0">
            <a:spAutoFit/>
          </a:bodyPr>
          <a:lstStyle/>
          <a:p>
            <a:pPr lvl="0" defTabSz="342886">
              <a:spcBef>
                <a:spcPct val="20000"/>
              </a:spcBef>
              <a:buClr>
                <a:srgbClr val="FFFFFF">
                  <a:lumMod val="65000"/>
                </a:srgbClr>
              </a:buClr>
            </a:pPr>
            <a:r>
              <a:rPr lang="en-US" sz="1600">
                <a:solidFill>
                  <a:srgbClr val="007B00"/>
                </a:solidFill>
                <a:latin typeface="Consolas"/>
                <a:ea typeface="Segoe UI Emoji" panose="020B0502040204020203" pitchFamily="34" charset="0"/>
                <a:cs typeface="Consolas" panose="020B0609020204030204" pitchFamily="49" charset="0"/>
              </a:rPr>
              <a:t>// usage</a:t>
            </a:r>
          </a:p>
          <a:p>
            <a:pPr lvl="0" defTabSz="342886">
              <a:spcBef>
                <a:spcPct val="20000"/>
              </a:spcBef>
              <a:buClr>
                <a:srgbClr val="FFFFFF">
                  <a:lumMod val="65000"/>
                </a:srgbClr>
              </a:buClr>
            </a:pPr>
            <a:r>
              <a:rPr lang="en-US" sz="1600">
                <a:solidFill>
                  <a:srgbClr val="000080"/>
                </a:solidFill>
                <a:latin typeface="Consolas"/>
                <a:ea typeface="Segoe UI Emoji" panose="020B0502040204020203" pitchFamily="34" charset="0"/>
                <a:cs typeface="Consolas" panose="020B0609020204030204" pitchFamily="49" charset="0"/>
              </a:rPr>
              <a:t>String</a:t>
            </a:r>
            <a:r>
              <a:rPr lang="en-US" sz="1600">
                <a:latin typeface="Consolas"/>
                <a:ea typeface="Segoe UI Emoji" panose="020B0502040204020203" pitchFamily="34" charset="0"/>
                <a:cs typeface="Consolas" panose="020B0609020204030204" pitchFamily="49" charset="0"/>
              </a:rPr>
              <a:t> name = </a:t>
            </a:r>
            <a:r>
              <a:rPr lang="en-US" sz="1600">
                <a:solidFill>
                  <a:srgbClr val="BFBFBF"/>
                </a:solidFill>
                <a:latin typeface="Consolas"/>
                <a:ea typeface="Segoe UI Emoji" panose="020B0502040204020203" pitchFamily="34" charset="0"/>
                <a:cs typeface="Consolas" panose="020B0609020204030204" pitchFamily="49" charset="0"/>
              </a:rPr>
              <a:t>...</a:t>
            </a:r>
            <a:r>
              <a:rPr lang="en-US" sz="1600">
                <a:latin typeface="Consolas"/>
                <a:ea typeface="Segoe UI Emoji" panose="020B0502040204020203" pitchFamily="34" charset="0"/>
                <a:cs typeface="Consolas" panose="020B0609020204030204" pitchFamily="49" charset="0"/>
              </a:rPr>
              <a:t>;</a:t>
            </a:r>
          </a:p>
          <a:p>
            <a:pPr lvl="0" defTabSz="342886">
              <a:spcBef>
                <a:spcPct val="20000"/>
              </a:spcBef>
              <a:buClr>
                <a:srgbClr val="FFFFFF">
                  <a:lumMod val="65000"/>
                </a:srgbClr>
              </a:buClr>
            </a:pPr>
            <a:r>
              <a:rPr lang="en-US" sz="1600">
                <a:solidFill>
                  <a:srgbClr val="000080"/>
                </a:solidFill>
                <a:latin typeface="Consolas"/>
                <a:ea typeface="Segoe UI Emoji" panose="020B0502040204020203" pitchFamily="34" charset="0"/>
                <a:cs typeface="Consolas" panose="020B0609020204030204" pitchFamily="49" charset="0"/>
              </a:rPr>
              <a:t>int</a:t>
            </a:r>
            <a:r>
              <a:rPr lang="en-US" sz="1600">
                <a:latin typeface="Consolas"/>
                <a:ea typeface="Segoe UI Emoji" panose="020B0502040204020203" pitchFamily="34" charset="0"/>
                <a:cs typeface="Consolas" panose="020B0609020204030204" pitchFamily="49" charset="0"/>
              </a:rPr>
              <a:t> number = </a:t>
            </a:r>
            <a:r>
              <a:rPr lang="en-US" sz="1600" err="1">
                <a:latin typeface="Consolas"/>
                <a:ea typeface="Segoe UI Emoji" panose="020B0502040204020203" pitchFamily="34" charset="0"/>
                <a:cs typeface="Consolas" panose="020B0609020204030204" pitchFamily="49" charset="0"/>
              </a:rPr>
              <a:t>numberFromName.get</a:t>
            </a:r>
            <a:r>
              <a:rPr lang="en-US" sz="1600">
                <a:latin typeface="Consolas"/>
                <a:ea typeface="Segoe UI Emoji" panose="020B0502040204020203" pitchFamily="34" charset="0"/>
                <a:cs typeface="Consolas" panose="020B0609020204030204" pitchFamily="49" charset="0"/>
              </a:rPr>
              <a:t>(name);</a:t>
            </a:r>
          </a:p>
        </p:txBody>
      </p:sp>
    </p:spTree>
    <p:extLst>
      <p:ext uri="{BB962C8B-B14F-4D97-AF65-F5344CB8AC3E}">
        <p14:creationId xmlns:p14="http://schemas.microsoft.com/office/powerpoint/2010/main" val="4277975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 grpId="0" animBg="1"/>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07276-1B4C-F15D-C5DD-65FE4BB1C9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FAE5D15-273C-97A2-96F7-B0A9F58AE886}"/>
              </a:ext>
            </a:extLst>
          </p:cNvPr>
          <p:cNvSpPr>
            <a:spLocks noGrp="1"/>
          </p:cNvSpPr>
          <p:nvPr>
            <p:ph type="title"/>
          </p:nvPr>
        </p:nvSpPr>
        <p:spPr/>
        <p:txBody>
          <a:bodyPr/>
          <a:lstStyle/>
          <a:p>
            <a:r>
              <a:rPr lang="en-US" sz="4000"/>
              <a:t>[let's implement </a:t>
            </a:r>
            <a:r>
              <a:rPr lang="en-US" sz="4000" err="1">
                <a:latin typeface="Consolas"/>
                <a:ea typeface="Segoe UI Emoji" panose="020B0502040204020203" pitchFamily="34" charset="0"/>
                <a:cs typeface="Consolas" panose="020B0609020204030204" pitchFamily="49" charset="0"/>
              </a:rPr>
              <a:t>numberFromName</a:t>
            </a:r>
            <a:r>
              <a:rPr lang="en-US" sz="4000" err="1">
                <a:latin typeface="Arial" panose="020B0604020202020204" pitchFamily="34" charset="0"/>
                <a:cs typeface="Arial" panose="020B0604020202020204" pitchFamily="34" charset="0"/>
              </a:rPr>
              <a:t>]</a:t>
            </a:r>
            <a:br>
              <a:rPr lang="en-US" sz="4000"/>
            </a:br>
            <a:r>
              <a:rPr lang="en-US" sz="1800" b="1"/>
              <a:t>TODO (Jim):</a:t>
            </a:r>
            <a:r>
              <a:rPr lang="en-US" sz="1800"/>
              <a:t> use </a:t>
            </a:r>
            <a:r>
              <a:rPr lang="en-US" sz="1800" err="1">
                <a:latin typeface="+mj-lt"/>
              </a:rPr>
              <a:t>keySet</a:t>
            </a:r>
            <a:r>
              <a:rPr lang="en-US" sz="1800">
                <a:latin typeface="+mj-lt"/>
              </a:rPr>
              <a:t>()</a:t>
            </a:r>
            <a:r>
              <a:rPr lang="en-US" sz="1800"/>
              <a:t> method in test code</a:t>
            </a:r>
            <a:endParaRPr lang="en-US" sz="4000"/>
          </a:p>
        </p:txBody>
      </p:sp>
    </p:spTree>
    <p:extLst>
      <p:ext uri="{BB962C8B-B14F-4D97-AF65-F5344CB8AC3E}">
        <p14:creationId xmlns:p14="http://schemas.microsoft.com/office/powerpoint/2010/main" val="22776854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A17EE-E80E-CFFA-3CA3-0607155956A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D77078F-BD82-5D8F-CD5D-1B5918A247CA}"/>
              </a:ext>
            </a:extLst>
          </p:cNvPr>
          <p:cNvSpPr>
            <a:spLocks noGrp="1"/>
          </p:cNvSpPr>
          <p:nvPr>
            <p:ph type="title"/>
          </p:nvPr>
        </p:nvSpPr>
        <p:spPr/>
        <p:txBody>
          <a:bodyPr/>
          <a:lstStyle/>
          <a:p>
            <a:r>
              <a:rPr lang="en-US" err="1">
                <a:latin typeface="+mj-lt"/>
              </a:rPr>
              <a:t>PokemonExample</a:t>
            </a:r>
            <a:endParaRPr lang="en-US">
              <a:latin typeface="+mj-lt"/>
            </a:endParaRPr>
          </a:p>
        </p:txBody>
      </p:sp>
      <p:sp>
        <p:nvSpPr>
          <p:cNvPr id="4" name="Content Placeholder 3">
            <a:extLst>
              <a:ext uri="{FF2B5EF4-FFF2-40B4-BE49-F238E27FC236}">
                <a16:creationId xmlns:a16="http://schemas.microsoft.com/office/drawing/2014/main" id="{85BBD9C7-46C4-77F3-6D68-23C5F9440532}"/>
              </a:ext>
            </a:extLst>
          </p:cNvPr>
          <p:cNvSpPr>
            <a:spLocks noGrp="1"/>
          </p:cNvSpPr>
          <p:nvPr>
            <p:ph sz="quarter" idx="10"/>
          </p:nvPr>
        </p:nvSpPr>
        <p:spPr/>
        <p:txBody>
          <a:bodyPr>
            <a:noAutofit/>
          </a:bodyPr>
          <a:lstStyle/>
          <a:p>
            <a:pPr marL="0" indent="0">
              <a:buNone/>
            </a:pPr>
            <a:r>
              <a:rPr lang="en-US" sz="1200" b="1">
                <a:solidFill>
                  <a:srgbClr val="7F0055"/>
                </a:solidFill>
                <a:effectLst/>
                <a:latin typeface="Menlo" panose="020B0609030804020204" pitchFamily="49" charset="0"/>
              </a:rPr>
              <a:t>import</a:t>
            </a:r>
            <a:r>
              <a:rPr lang="en-US" sz="1200">
                <a:effectLst/>
                <a:latin typeface="Menlo" panose="020B0609030804020204" pitchFamily="49" charset="0"/>
              </a:rPr>
              <a:t> java.util.*;</a:t>
            </a:r>
          </a:p>
          <a:p>
            <a:pPr marL="0" indent="0">
              <a:buNone/>
            </a:pPr>
            <a:r>
              <a:rPr lang="en-US" sz="1200" b="1">
                <a:solidFill>
                  <a:srgbClr val="7F0055"/>
                </a:solidFill>
                <a:effectLst/>
                <a:latin typeface="Menlo" panose="020B0609030804020204" pitchFamily="49" charset="0"/>
              </a:rPr>
              <a:t>class</a:t>
            </a:r>
            <a:r>
              <a:rPr lang="en-US" sz="1200">
                <a:effectLst/>
                <a:latin typeface="Menlo" panose="020B0609030804020204" pitchFamily="49" charset="0"/>
              </a:rPr>
              <a:t> Main </a:t>
            </a:r>
            <a:r>
              <a:rPr lang="en-US" sz="1200" b="1">
                <a:solidFill>
                  <a:srgbClr val="7F0055"/>
                </a:solidFill>
                <a:effectLst/>
                <a:latin typeface="Menlo" panose="020B0609030804020204" pitchFamily="49" charset="0"/>
              </a:rPr>
              <a:t>extends</a:t>
            </a:r>
            <a:r>
              <a:rPr lang="en-US" sz="1200">
                <a:effectLst/>
                <a:latin typeface="Menlo" panose="020B0609030804020204" pitchFamily="49" charset="0"/>
              </a:rPr>
              <a:t> Cow {</a:t>
            </a:r>
          </a:p>
          <a:p>
            <a:pPr marL="342886" lvl="1" indent="0">
              <a:buNone/>
            </a:pPr>
            <a:r>
              <a:rPr lang="en-US" sz="1200" b="1">
                <a:solidFill>
                  <a:srgbClr val="7F0055"/>
                </a:solidFill>
                <a:effectLst/>
                <a:latin typeface="Menlo" panose="020B0609030804020204" pitchFamily="49" charset="0"/>
              </a:rPr>
              <a:t>public</a:t>
            </a:r>
            <a:r>
              <a:rPr lang="en-US" sz="1200">
                <a:effectLst/>
                <a:latin typeface="Menlo" panose="020B0609030804020204" pitchFamily="49" charset="0"/>
              </a:rPr>
              <a:t> </a:t>
            </a:r>
            <a:r>
              <a:rPr lang="en-US" sz="1200" b="1">
                <a:solidFill>
                  <a:srgbClr val="7F0055"/>
                </a:solidFill>
                <a:effectLst/>
                <a:latin typeface="Menlo" panose="020B0609030804020204" pitchFamily="49" charset="0"/>
              </a:rPr>
              <a:t>static</a:t>
            </a:r>
            <a:r>
              <a:rPr lang="en-US" sz="1200">
                <a:effectLst/>
                <a:latin typeface="Menlo" panose="020B0609030804020204" pitchFamily="49" charset="0"/>
              </a:rPr>
              <a:t> </a:t>
            </a:r>
            <a:r>
              <a:rPr lang="en-US" sz="1200" b="1">
                <a:solidFill>
                  <a:srgbClr val="7F0055"/>
                </a:solidFill>
                <a:effectLst/>
                <a:latin typeface="Menlo" panose="020B0609030804020204" pitchFamily="49" charset="0"/>
              </a:rPr>
              <a:t>void</a:t>
            </a:r>
            <a:r>
              <a:rPr lang="en-US" sz="1200">
                <a:effectLst/>
                <a:latin typeface="Menlo" panose="020B0609030804020204" pitchFamily="49" charset="0"/>
              </a:rPr>
              <a:t> main(String[] </a:t>
            </a:r>
            <a:r>
              <a:rPr lang="en-US" sz="1200">
                <a:solidFill>
                  <a:srgbClr val="6A3E3E"/>
                </a:solidFill>
                <a:effectLst/>
                <a:latin typeface="Menlo" panose="020B0609030804020204" pitchFamily="49" charset="0"/>
              </a:rPr>
              <a:t>args</a:t>
            </a:r>
            <a:r>
              <a:rPr lang="en-US" sz="1200">
                <a:effectLst/>
                <a:latin typeface="Menlo" panose="020B0609030804020204" pitchFamily="49" charset="0"/>
              </a:rPr>
              <a:t>) {</a:t>
            </a:r>
          </a:p>
          <a:p>
            <a:pPr marL="685772" lvl="2" indent="0">
              <a:buNone/>
            </a:pPr>
            <a:r>
              <a:rPr lang="en-US" sz="1200">
                <a:solidFill>
                  <a:srgbClr val="3F7F5F"/>
                </a:solidFill>
                <a:effectLst/>
                <a:latin typeface="Menlo" panose="020B0609030804020204" pitchFamily="49" charset="0"/>
              </a:rPr>
              <a:t>// setup</a:t>
            </a:r>
          </a:p>
          <a:p>
            <a:pPr marL="685772" lvl="2" indent="0">
              <a:buNone/>
            </a:pPr>
            <a:r>
              <a:rPr lang="en-US" sz="1200">
                <a:effectLst/>
                <a:latin typeface="Menlo" panose="020B0609030804020204" pitchFamily="49" charset="0"/>
              </a:rPr>
              <a:t>HashMap&lt;String, Integer&gt; </a:t>
            </a:r>
            <a:r>
              <a:rPr lang="en-US" sz="1200">
                <a:solidFill>
                  <a:srgbClr val="6A3E3E"/>
                </a:solidFill>
                <a:effectLst/>
                <a:latin typeface="Menlo" panose="020B0609030804020204" pitchFamily="49" charset="0"/>
              </a:rPr>
              <a:t>numberFromName</a:t>
            </a:r>
            <a:r>
              <a:rPr lang="en-US" sz="1200">
                <a:effectLst/>
                <a:latin typeface="Menlo" panose="020B0609030804020204" pitchFamily="49" charset="0"/>
              </a:rPr>
              <a:t> = </a:t>
            </a:r>
            <a:r>
              <a:rPr lang="en-US" sz="1200" b="1">
                <a:solidFill>
                  <a:srgbClr val="7F0055"/>
                </a:solidFill>
                <a:effectLst/>
                <a:latin typeface="Menlo" panose="020B0609030804020204" pitchFamily="49" charset="0"/>
              </a:rPr>
              <a:t>new</a:t>
            </a:r>
            <a:r>
              <a:rPr lang="en-US" sz="1200">
                <a:effectLst/>
                <a:latin typeface="Menlo" panose="020B0609030804020204" pitchFamily="49" charset="0"/>
              </a:rPr>
              <a:t> HashMap&lt;&gt;();</a:t>
            </a:r>
          </a:p>
          <a:p>
            <a:pPr marL="685772" lvl="2" indent="0">
              <a:buNone/>
            </a:pPr>
            <a:r>
              <a:rPr lang="en-US" sz="1200">
                <a:solidFill>
                  <a:srgbClr val="000000"/>
                </a:solidFill>
                <a:effectLst/>
                <a:latin typeface="Menlo" panose="020B0609030804020204" pitchFamily="49" charset="0"/>
              </a:rPr>
              <a:t>String[] </a:t>
            </a:r>
            <a:r>
              <a:rPr lang="en-US" sz="1200">
                <a:solidFill>
                  <a:srgbClr val="6A3E3E"/>
                </a:solidFill>
                <a:effectLst/>
                <a:latin typeface="Menlo" panose="020B0609030804020204" pitchFamily="49" charset="0"/>
              </a:rPr>
              <a:t>names</a:t>
            </a:r>
            <a:r>
              <a:rPr lang="en-US" sz="1200">
                <a:solidFill>
                  <a:srgbClr val="000000"/>
                </a:solidFill>
                <a:effectLst/>
                <a:latin typeface="Menlo" panose="020B0609030804020204" pitchFamily="49" charset="0"/>
              </a:rPr>
              <a:t> = { </a:t>
            </a:r>
            <a:r>
              <a:rPr lang="en-US" sz="1200">
                <a:solidFill>
                  <a:srgbClr val="2A00FF"/>
                </a:solidFill>
                <a:effectLst/>
                <a:latin typeface="Menlo" panose="020B0609030804020204" pitchFamily="49" charset="0"/>
              </a:rPr>
              <a:t>"Bulbasaur"</a:t>
            </a:r>
            <a:r>
              <a:rPr lang="en-US" sz="1200">
                <a:solidFill>
                  <a:srgbClr val="000000"/>
                </a:solidFill>
                <a:effectLst/>
                <a:latin typeface="Menlo" panose="020B0609030804020204" pitchFamily="49" charset="0"/>
              </a:rPr>
              <a:t>, </a:t>
            </a:r>
            <a:r>
              <a:rPr lang="en-US" sz="1200">
                <a:solidFill>
                  <a:srgbClr val="2A00FF"/>
                </a:solidFill>
                <a:effectLst/>
                <a:latin typeface="Menlo" panose="020B0609030804020204" pitchFamily="49" charset="0"/>
              </a:rPr>
              <a:t>"Ivysaur"</a:t>
            </a:r>
            <a:r>
              <a:rPr lang="en-US" sz="1200">
                <a:solidFill>
                  <a:srgbClr val="000000"/>
                </a:solidFill>
                <a:effectLst/>
                <a:latin typeface="Menlo" panose="020B0609030804020204" pitchFamily="49" charset="0"/>
              </a:rPr>
              <a:t>, </a:t>
            </a:r>
            <a:r>
              <a:rPr lang="en-US" sz="1200">
                <a:solidFill>
                  <a:srgbClr val="2A00FF"/>
                </a:solidFill>
                <a:effectLst/>
                <a:latin typeface="Menlo" panose="020B0609030804020204" pitchFamily="49" charset="0"/>
              </a:rPr>
              <a:t>"Venusaur"</a:t>
            </a:r>
            <a:r>
              <a:rPr lang="en-US" sz="1200">
                <a:solidFill>
                  <a:srgbClr val="000000"/>
                </a:solidFill>
                <a:effectLst/>
                <a:latin typeface="Menlo" panose="020B0609030804020204" pitchFamily="49" charset="0"/>
              </a:rPr>
              <a:t>, </a:t>
            </a:r>
            <a:r>
              <a:rPr lang="en-US" sz="1200">
                <a:solidFill>
                  <a:schemeClr val="bg1">
                    <a:lumMod val="75000"/>
                  </a:schemeClr>
                </a:solidFill>
                <a:latin typeface="Menlo" panose="020B0609030804020204" pitchFamily="49" charset="0"/>
              </a:rPr>
              <a:t>...</a:t>
            </a:r>
            <a:r>
              <a:rPr lang="en-US" sz="1200">
                <a:solidFill>
                  <a:srgbClr val="000000"/>
                </a:solidFill>
                <a:effectLst/>
                <a:latin typeface="Menlo" panose="020B0609030804020204" pitchFamily="49" charset="0"/>
              </a:rPr>
              <a:t> };</a:t>
            </a:r>
            <a:endParaRPr lang="en-US" sz="1200">
              <a:solidFill>
                <a:srgbClr val="2A00FF"/>
              </a:solidFill>
              <a:effectLst/>
              <a:latin typeface="Menlo" panose="020B0609030804020204" pitchFamily="49" charset="0"/>
            </a:endParaRPr>
          </a:p>
          <a:p>
            <a:pPr marL="685772" lvl="2" indent="0">
              <a:buNone/>
            </a:pPr>
            <a:r>
              <a:rPr lang="en-US" sz="1200" b="1">
                <a:solidFill>
                  <a:srgbClr val="7F0055"/>
                </a:solidFill>
                <a:effectLst/>
                <a:latin typeface="Menlo" panose="020B0609030804020204" pitchFamily="49" charset="0"/>
              </a:rPr>
              <a:t>for</a:t>
            </a:r>
            <a:r>
              <a:rPr lang="en-US" sz="1200">
                <a:solidFill>
                  <a:srgbClr val="000000"/>
                </a:solidFill>
                <a:effectLst/>
                <a:latin typeface="Menlo" panose="020B0609030804020204" pitchFamily="49" charset="0"/>
              </a:rPr>
              <a:t> (</a:t>
            </a:r>
            <a:r>
              <a:rPr lang="en-US" sz="1200" b="1">
                <a:solidFill>
                  <a:srgbClr val="7F0055"/>
                </a:solidFill>
                <a:effectLst/>
                <a:latin typeface="Menlo" panose="020B0609030804020204" pitchFamily="49" charset="0"/>
              </a:rPr>
              <a:t>int</a:t>
            </a:r>
            <a:r>
              <a:rPr lang="en-US" sz="1200">
                <a:solidFill>
                  <a:srgbClr val="000000"/>
                </a:solidFill>
                <a:effectLst/>
                <a:latin typeface="Menlo" panose="020B0609030804020204" pitchFamily="49" charset="0"/>
              </a:rPr>
              <a:t> </a:t>
            </a:r>
            <a:r>
              <a:rPr lang="en-US" sz="1200">
                <a:solidFill>
                  <a:srgbClr val="6A3E3E"/>
                </a:solidFill>
                <a:effectLst/>
                <a:latin typeface="Menlo" panose="020B0609030804020204" pitchFamily="49" charset="0"/>
              </a:rPr>
              <a:t>number</a:t>
            </a:r>
            <a:r>
              <a:rPr lang="en-US" sz="1200">
                <a:solidFill>
                  <a:srgbClr val="000000"/>
                </a:solidFill>
                <a:effectLst/>
                <a:latin typeface="Menlo" panose="020B0609030804020204" pitchFamily="49" charset="0"/>
              </a:rPr>
              <a:t> = 0; </a:t>
            </a:r>
            <a:r>
              <a:rPr lang="en-US" sz="1200">
                <a:solidFill>
                  <a:srgbClr val="6A3E3E"/>
                </a:solidFill>
                <a:effectLst/>
                <a:latin typeface="Menlo" panose="020B0609030804020204" pitchFamily="49" charset="0"/>
              </a:rPr>
              <a:t>number</a:t>
            </a:r>
            <a:r>
              <a:rPr lang="en-US" sz="1200">
                <a:solidFill>
                  <a:srgbClr val="000000"/>
                </a:solidFill>
                <a:effectLst/>
                <a:latin typeface="Menlo" panose="020B0609030804020204" pitchFamily="49" charset="0"/>
              </a:rPr>
              <a:t> &lt; </a:t>
            </a:r>
            <a:r>
              <a:rPr lang="en-US" sz="1200">
                <a:solidFill>
                  <a:srgbClr val="6A3E3E"/>
                </a:solidFill>
                <a:effectLst/>
                <a:latin typeface="Menlo" panose="020B0609030804020204" pitchFamily="49" charset="0"/>
              </a:rPr>
              <a:t>names</a:t>
            </a:r>
            <a:r>
              <a:rPr lang="en-US" sz="1200">
                <a:solidFill>
                  <a:srgbClr val="000000"/>
                </a:solidFill>
                <a:effectLst/>
                <a:latin typeface="Menlo" panose="020B0609030804020204" pitchFamily="49" charset="0"/>
              </a:rPr>
              <a:t>.</a:t>
            </a:r>
            <a:r>
              <a:rPr lang="en-US" sz="1200">
                <a:solidFill>
                  <a:srgbClr val="0000C0"/>
                </a:solidFill>
                <a:effectLst/>
                <a:latin typeface="Menlo" panose="020B0609030804020204" pitchFamily="49" charset="0"/>
              </a:rPr>
              <a:t>length</a:t>
            </a:r>
            <a:r>
              <a:rPr lang="en-US" sz="1200">
                <a:solidFill>
                  <a:srgbClr val="000000"/>
                </a:solidFill>
                <a:effectLst/>
                <a:latin typeface="Menlo" panose="020B0609030804020204" pitchFamily="49" charset="0"/>
              </a:rPr>
              <a:t>; ++</a:t>
            </a:r>
            <a:r>
              <a:rPr lang="en-US" sz="1200">
                <a:solidFill>
                  <a:srgbClr val="6A3E3E"/>
                </a:solidFill>
                <a:effectLst/>
                <a:latin typeface="Menlo" panose="020B0609030804020204" pitchFamily="49" charset="0"/>
              </a:rPr>
              <a:t>number</a:t>
            </a:r>
            <a:r>
              <a:rPr lang="en-US" sz="1200">
                <a:solidFill>
                  <a:srgbClr val="000000"/>
                </a:solidFill>
                <a:effectLst/>
                <a:latin typeface="Menlo" panose="020B0609030804020204" pitchFamily="49" charset="0"/>
              </a:rPr>
              <a:t>) {</a:t>
            </a:r>
            <a:endParaRPr lang="en-US" sz="1200">
              <a:solidFill>
                <a:srgbClr val="6A3E3E"/>
              </a:solidFill>
              <a:effectLst/>
              <a:latin typeface="Menlo" panose="020B0609030804020204" pitchFamily="49" charset="0"/>
            </a:endParaRPr>
          </a:p>
          <a:p>
            <a:pPr marL="1028658" lvl="3" indent="0">
              <a:buNone/>
            </a:pPr>
            <a:r>
              <a:rPr lang="en-US" sz="1200">
                <a:solidFill>
                  <a:srgbClr val="6A3E3E"/>
                </a:solidFill>
                <a:effectLst/>
                <a:latin typeface="Menlo" panose="020B0609030804020204" pitchFamily="49" charset="0"/>
              </a:rPr>
              <a:t>numberFromName</a:t>
            </a:r>
            <a:r>
              <a:rPr lang="en-US" sz="1200">
                <a:solidFill>
                  <a:srgbClr val="000000"/>
                </a:solidFill>
                <a:effectLst/>
                <a:latin typeface="Menlo" panose="020B0609030804020204" pitchFamily="49" charset="0"/>
              </a:rPr>
              <a:t>.put(</a:t>
            </a:r>
            <a:r>
              <a:rPr lang="en-US" sz="1200">
                <a:solidFill>
                  <a:srgbClr val="6A3E3E"/>
                </a:solidFill>
                <a:effectLst/>
                <a:latin typeface="Menlo" panose="020B0609030804020204" pitchFamily="49" charset="0"/>
              </a:rPr>
              <a:t>names</a:t>
            </a:r>
            <a:r>
              <a:rPr lang="en-US" sz="1200">
                <a:solidFill>
                  <a:srgbClr val="000000"/>
                </a:solidFill>
                <a:effectLst/>
                <a:latin typeface="Menlo" panose="020B0609030804020204" pitchFamily="49" charset="0"/>
              </a:rPr>
              <a:t>[</a:t>
            </a:r>
            <a:r>
              <a:rPr lang="en-US" sz="1200">
                <a:solidFill>
                  <a:srgbClr val="6A3E3E"/>
                </a:solidFill>
                <a:effectLst/>
                <a:latin typeface="Menlo" panose="020B0609030804020204" pitchFamily="49" charset="0"/>
              </a:rPr>
              <a:t>number</a:t>
            </a:r>
            <a:r>
              <a:rPr lang="en-US" sz="1200">
                <a:solidFill>
                  <a:srgbClr val="000000"/>
                </a:solidFill>
                <a:effectLst/>
                <a:latin typeface="Menlo" panose="020B0609030804020204" pitchFamily="49" charset="0"/>
              </a:rPr>
              <a:t>], </a:t>
            </a:r>
            <a:r>
              <a:rPr lang="en-US" sz="1200">
                <a:solidFill>
                  <a:srgbClr val="6A3E3E"/>
                </a:solidFill>
                <a:effectLst/>
                <a:latin typeface="Menlo" panose="020B0609030804020204" pitchFamily="49" charset="0"/>
              </a:rPr>
              <a:t>number</a:t>
            </a:r>
            <a:r>
              <a:rPr lang="en-US" sz="1200">
                <a:solidFill>
                  <a:srgbClr val="000000"/>
                </a:solidFill>
                <a:effectLst/>
                <a:latin typeface="Menlo" panose="020B0609030804020204" pitchFamily="49" charset="0"/>
              </a:rPr>
              <a:t> + 1);</a:t>
            </a:r>
            <a:endParaRPr lang="en-US" sz="1200">
              <a:solidFill>
                <a:srgbClr val="6A3E3E"/>
              </a:solidFill>
              <a:effectLst/>
              <a:latin typeface="Menlo" panose="020B0609030804020204" pitchFamily="49" charset="0"/>
            </a:endParaRPr>
          </a:p>
          <a:p>
            <a:pPr marL="685772" lvl="2" indent="0">
              <a:buNone/>
            </a:pPr>
            <a:r>
              <a:rPr lang="en-US" sz="1200">
                <a:effectLst/>
                <a:latin typeface="Menlo" panose="020B0609030804020204" pitchFamily="49" charset="0"/>
              </a:rPr>
              <a:t>}</a:t>
            </a:r>
          </a:p>
          <a:p>
            <a:pPr marL="685772" lvl="2" indent="0">
              <a:buNone/>
            </a:pPr>
            <a:br>
              <a:rPr lang="en-US" sz="1200">
                <a:effectLst/>
                <a:latin typeface="Menlo" panose="020B0609030804020204" pitchFamily="49" charset="0"/>
              </a:rPr>
            </a:br>
            <a:endParaRPr lang="en-US" sz="1200">
              <a:effectLst/>
              <a:latin typeface="Menlo" panose="020B0609030804020204" pitchFamily="49" charset="0"/>
            </a:endParaRPr>
          </a:p>
          <a:p>
            <a:pPr marL="685772" lvl="2" indent="0">
              <a:buNone/>
            </a:pPr>
            <a:r>
              <a:rPr lang="en-US" sz="1200">
                <a:solidFill>
                  <a:srgbClr val="3F7F5F"/>
                </a:solidFill>
                <a:effectLst/>
                <a:latin typeface="Menlo" panose="020B0609030804020204" pitchFamily="49" charset="0"/>
              </a:rPr>
              <a:t>// usage</a:t>
            </a:r>
          </a:p>
          <a:p>
            <a:pPr marL="685772" lvl="2" indent="0">
              <a:buNone/>
            </a:pPr>
            <a:r>
              <a:rPr lang="en-US" sz="1200" b="1">
                <a:solidFill>
                  <a:srgbClr val="7F0055"/>
                </a:solidFill>
                <a:effectLst/>
                <a:latin typeface="Menlo" panose="020B0609030804020204" pitchFamily="49" charset="0"/>
              </a:rPr>
              <a:t>for</a:t>
            </a:r>
            <a:r>
              <a:rPr lang="en-US" sz="1200">
                <a:effectLst/>
                <a:latin typeface="Menlo" panose="020B0609030804020204" pitchFamily="49" charset="0"/>
              </a:rPr>
              <a:t> (String </a:t>
            </a:r>
            <a:r>
              <a:rPr lang="en-US" sz="1200">
                <a:solidFill>
                  <a:srgbClr val="6A3E3E"/>
                </a:solidFill>
                <a:effectLst/>
                <a:latin typeface="Menlo" panose="020B0609030804020204" pitchFamily="49" charset="0"/>
              </a:rPr>
              <a:t>name</a:t>
            </a:r>
            <a:r>
              <a:rPr lang="en-US" sz="1200">
                <a:effectLst/>
                <a:latin typeface="Menlo" panose="020B0609030804020204" pitchFamily="49" charset="0"/>
              </a:rPr>
              <a:t> : </a:t>
            </a:r>
            <a:r>
              <a:rPr lang="en-US" sz="1200">
                <a:solidFill>
                  <a:srgbClr val="6A3E3E"/>
                </a:solidFill>
                <a:effectLst/>
                <a:latin typeface="Menlo" panose="020B0609030804020204" pitchFamily="49" charset="0"/>
              </a:rPr>
              <a:t>numberFromName</a:t>
            </a:r>
            <a:r>
              <a:rPr lang="en-US" sz="1200">
                <a:effectLst/>
                <a:latin typeface="Menlo" panose="020B0609030804020204" pitchFamily="49" charset="0"/>
              </a:rPr>
              <a:t>.keySet()) {</a:t>
            </a:r>
          </a:p>
          <a:p>
            <a:pPr marL="1028658" lvl="3" indent="0">
              <a:buNone/>
            </a:pPr>
            <a:r>
              <a:rPr lang="en-US" sz="1200" i="1">
                <a:effectLst/>
                <a:latin typeface="Menlo" panose="020B0609030804020204" pitchFamily="49" charset="0"/>
              </a:rPr>
              <a:t>PRINT</a:t>
            </a:r>
            <a:r>
              <a:rPr lang="en-US" sz="1200">
                <a:effectLst/>
                <a:latin typeface="Menlo" panose="020B0609030804020204" pitchFamily="49" charset="0"/>
              </a:rPr>
              <a:t>(</a:t>
            </a:r>
            <a:r>
              <a:rPr lang="en-US" sz="1200">
                <a:solidFill>
                  <a:srgbClr val="6A3E3E"/>
                </a:solidFill>
                <a:effectLst/>
                <a:latin typeface="Menlo" panose="020B0609030804020204" pitchFamily="49" charset="0"/>
              </a:rPr>
              <a:t>name</a:t>
            </a:r>
            <a:r>
              <a:rPr lang="en-US" sz="1200">
                <a:effectLst/>
                <a:latin typeface="Menlo" panose="020B0609030804020204" pitchFamily="49" charset="0"/>
              </a:rPr>
              <a:t> + </a:t>
            </a:r>
            <a:r>
              <a:rPr lang="en-US" sz="1200">
                <a:solidFill>
                  <a:srgbClr val="2A00FF"/>
                </a:solidFill>
                <a:effectLst/>
                <a:latin typeface="Menlo" panose="020B0609030804020204" pitchFamily="49" charset="0"/>
              </a:rPr>
              <a:t>" -&gt; "</a:t>
            </a:r>
            <a:r>
              <a:rPr lang="en-US" sz="1200">
                <a:effectLst/>
                <a:latin typeface="Menlo" panose="020B0609030804020204" pitchFamily="49" charset="0"/>
              </a:rPr>
              <a:t> + </a:t>
            </a:r>
            <a:r>
              <a:rPr lang="en-US" sz="1200">
                <a:solidFill>
                  <a:srgbClr val="6A3E3E"/>
                </a:solidFill>
                <a:effectLst/>
                <a:latin typeface="Menlo" panose="020B0609030804020204" pitchFamily="49" charset="0"/>
              </a:rPr>
              <a:t>numberFromName</a:t>
            </a:r>
            <a:r>
              <a:rPr lang="en-US" sz="1200">
                <a:effectLst/>
                <a:latin typeface="Menlo" panose="020B0609030804020204" pitchFamily="49" charset="0"/>
              </a:rPr>
              <a:t>.get(</a:t>
            </a:r>
            <a:r>
              <a:rPr lang="en-US" sz="1200">
                <a:solidFill>
                  <a:srgbClr val="6A3E3E"/>
                </a:solidFill>
                <a:effectLst/>
                <a:latin typeface="Menlo" panose="020B0609030804020204" pitchFamily="49" charset="0"/>
              </a:rPr>
              <a:t>name</a:t>
            </a:r>
            <a:r>
              <a:rPr lang="en-US" sz="1200">
                <a:effectLst/>
                <a:latin typeface="Menlo" panose="020B0609030804020204" pitchFamily="49" charset="0"/>
              </a:rPr>
              <a:t>));</a:t>
            </a:r>
          </a:p>
          <a:p>
            <a:pPr marL="685772" lvl="2" indent="0">
              <a:buNone/>
            </a:pPr>
            <a:r>
              <a:rPr lang="en-US" sz="1200">
                <a:effectLst/>
                <a:latin typeface="Menlo" panose="020B0609030804020204" pitchFamily="49" charset="0"/>
              </a:rPr>
              <a:t>}</a:t>
            </a:r>
          </a:p>
          <a:p>
            <a:pPr marL="342886" lvl="1" indent="0">
              <a:buNone/>
            </a:pPr>
            <a:r>
              <a:rPr lang="en-US" sz="1200">
                <a:effectLst/>
                <a:latin typeface="Menlo" panose="020B0609030804020204" pitchFamily="49" charset="0"/>
              </a:rPr>
              <a:t>}</a:t>
            </a:r>
          </a:p>
          <a:p>
            <a:pPr marL="0" indent="0">
              <a:buNone/>
            </a:pPr>
            <a:r>
              <a:rPr lang="en-US" sz="1200">
                <a:effectLst/>
                <a:latin typeface="Menlo" panose="020B0609030804020204" pitchFamily="49" charset="0"/>
              </a:rPr>
              <a:t>}</a:t>
            </a:r>
          </a:p>
        </p:txBody>
      </p:sp>
      <p:sp>
        <p:nvSpPr>
          <p:cNvPr id="5" name="Content Placeholder 3">
            <a:extLst>
              <a:ext uri="{FF2B5EF4-FFF2-40B4-BE49-F238E27FC236}">
                <a16:creationId xmlns:a16="http://schemas.microsoft.com/office/drawing/2014/main" id="{40542A34-24CE-8727-9452-92FB279F0C74}"/>
              </a:ext>
            </a:extLst>
          </p:cNvPr>
          <p:cNvSpPr txBox="1">
            <a:spLocks/>
          </p:cNvSpPr>
          <p:nvPr/>
        </p:nvSpPr>
        <p:spPr>
          <a:xfrm>
            <a:off x="7292051" y="0"/>
            <a:ext cx="1851949" cy="5417773"/>
          </a:xfrm>
          <a:prstGeom prst="rect">
            <a:avLst/>
          </a:prstGeom>
          <a:solidFill>
            <a:schemeClr val="accent4">
              <a:lumMod val="20000"/>
              <a:lumOff val="80000"/>
            </a:schemeClr>
          </a:solidFill>
        </p:spPr>
        <p:txBody>
          <a:bodyPr vert="horz" lIns="91440" tIns="45720" rIns="91440" bIns="45720" rtlCol="0">
            <a:noAutofit/>
          </a:bodyPr>
          <a:lstStyle>
            <a:lvl1pPr marL="285739"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1pPr>
            <a:lvl2pPr marL="628625"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2pPr>
            <a:lvl3pPr marL="971511"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3pPr>
            <a:lvl4pPr marL="1314397"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4pPr>
            <a:lvl5pPr marL="1657284"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5pPr>
            <a:lvl6pPr marL="2057318" indent="-342886" algn="l" defTabSz="342886" rtl="0" eaLnBrk="1" latinLnBrk="0" hangingPunct="1">
              <a:spcBef>
                <a:spcPct val="20000"/>
              </a:spcBef>
              <a:buFont typeface="Arial"/>
              <a:buChar char="•"/>
              <a:defRPr sz="1500" kern="1200">
                <a:solidFill>
                  <a:schemeClr val="tx1"/>
                </a:solidFill>
                <a:latin typeface="+mn-lt"/>
                <a:ea typeface="+mn-ea"/>
                <a:cs typeface="+mn-cs"/>
              </a:defRPr>
            </a:lvl6pPr>
            <a:lvl7pPr marL="2400204" indent="-342886" algn="l" defTabSz="342886" rtl="0" eaLnBrk="1" latinLnBrk="0" hangingPunct="1">
              <a:spcBef>
                <a:spcPct val="20000"/>
              </a:spcBef>
              <a:buFont typeface="Arial"/>
              <a:buChar char="•"/>
              <a:defRPr sz="1500" kern="1200">
                <a:solidFill>
                  <a:schemeClr val="tx1"/>
                </a:solidFill>
                <a:latin typeface="+mn-lt"/>
                <a:ea typeface="+mn-ea"/>
                <a:cs typeface="+mn-cs"/>
              </a:defRPr>
            </a:lvl7pPr>
            <a:lvl8pPr marL="2743090" indent="-342886" algn="l" defTabSz="342886" rtl="0" eaLnBrk="1" latinLnBrk="0" hangingPunct="1">
              <a:spcBef>
                <a:spcPct val="20000"/>
              </a:spcBef>
              <a:buFont typeface="Arial"/>
              <a:buChar char="•"/>
              <a:defRPr sz="1500" kern="1200">
                <a:solidFill>
                  <a:schemeClr val="tx1"/>
                </a:solidFill>
                <a:latin typeface="+mn-lt"/>
                <a:ea typeface="+mn-ea"/>
                <a:cs typeface="+mn-cs"/>
              </a:defRPr>
            </a:lvl8pPr>
            <a:lvl9pPr marL="3085977" indent="-342886" algn="l" defTabSz="342886" rtl="0" eaLnBrk="1" latinLnBrk="0" hangingPunct="1">
              <a:spcBef>
                <a:spcPct val="20000"/>
              </a:spcBef>
              <a:buFont typeface="Arial"/>
              <a:buChar char="•"/>
              <a:defRPr sz="1500" kern="1200">
                <a:solidFill>
                  <a:schemeClr val="tx1"/>
                </a:solidFill>
                <a:latin typeface="+mn-lt"/>
                <a:ea typeface="+mn-ea"/>
                <a:cs typeface="+mn-cs"/>
              </a:defRPr>
            </a:lvl9pPr>
          </a:lstStyle>
          <a:p>
            <a:pPr marL="0" indent="0">
              <a:buFont typeface="System Font Regular"/>
              <a:buNone/>
            </a:pPr>
            <a:r>
              <a:rPr lang="en-US" sz="1200" err="1">
                <a:solidFill>
                  <a:srgbClr val="007B00"/>
                </a:solidFill>
              </a:rPr>
              <a:t>Mewtwo</a:t>
            </a:r>
            <a:r>
              <a:rPr lang="en-US" sz="1200">
                <a:solidFill>
                  <a:srgbClr val="007B00"/>
                </a:solidFill>
              </a:rPr>
              <a:t> -&gt; 150</a:t>
            </a:r>
          </a:p>
          <a:p>
            <a:pPr marL="0" indent="0">
              <a:buFont typeface="System Font Regular"/>
              <a:buNone/>
            </a:pPr>
            <a:r>
              <a:rPr lang="en-US" sz="1200" err="1">
                <a:solidFill>
                  <a:srgbClr val="007B00"/>
                </a:solidFill>
              </a:rPr>
              <a:t>Raichu</a:t>
            </a:r>
            <a:r>
              <a:rPr lang="en-US" sz="1200">
                <a:solidFill>
                  <a:srgbClr val="007B00"/>
                </a:solidFill>
              </a:rPr>
              <a:t> -&gt; 26</a:t>
            </a:r>
          </a:p>
          <a:p>
            <a:pPr marL="0" indent="0">
              <a:buFont typeface="System Font Regular"/>
              <a:buNone/>
            </a:pPr>
            <a:r>
              <a:rPr lang="en-US" sz="1200" err="1">
                <a:solidFill>
                  <a:srgbClr val="007B00"/>
                </a:solidFill>
              </a:rPr>
              <a:t>Arbok</a:t>
            </a:r>
            <a:r>
              <a:rPr lang="en-US" sz="1200">
                <a:solidFill>
                  <a:srgbClr val="007B00"/>
                </a:solidFill>
              </a:rPr>
              <a:t> -&gt; 24</a:t>
            </a:r>
          </a:p>
          <a:p>
            <a:pPr marL="0" indent="0">
              <a:buFont typeface="System Font Regular"/>
              <a:buNone/>
            </a:pPr>
            <a:r>
              <a:rPr lang="en-US" sz="1200">
                <a:solidFill>
                  <a:srgbClr val="007B00"/>
                </a:solidFill>
              </a:rPr>
              <a:t>Kabuto -&gt; 140</a:t>
            </a:r>
          </a:p>
          <a:p>
            <a:pPr marL="0" indent="0">
              <a:buFont typeface="System Font Regular"/>
              <a:buNone/>
            </a:pPr>
            <a:r>
              <a:rPr lang="en-US" sz="1200">
                <a:solidFill>
                  <a:srgbClr val="007B00"/>
                </a:solidFill>
              </a:rPr>
              <a:t>Charmander -&gt; 4</a:t>
            </a:r>
          </a:p>
          <a:p>
            <a:pPr marL="0" indent="0">
              <a:buFont typeface="System Font Regular"/>
              <a:buNone/>
            </a:pPr>
            <a:r>
              <a:rPr lang="en-US" sz="1200" err="1">
                <a:solidFill>
                  <a:srgbClr val="007B00"/>
                </a:solidFill>
              </a:rPr>
              <a:t>Charmeleon</a:t>
            </a:r>
            <a:r>
              <a:rPr lang="en-US" sz="1200">
                <a:solidFill>
                  <a:srgbClr val="007B00"/>
                </a:solidFill>
              </a:rPr>
              <a:t> -&gt; 5</a:t>
            </a:r>
          </a:p>
          <a:p>
            <a:pPr marL="0" indent="0">
              <a:buFont typeface="System Font Regular"/>
              <a:buNone/>
            </a:pPr>
            <a:r>
              <a:rPr lang="en-US" sz="1200" err="1">
                <a:solidFill>
                  <a:srgbClr val="007B00"/>
                </a:solidFill>
              </a:rPr>
              <a:t>Shellder</a:t>
            </a:r>
            <a:r>
              <a:rPr lang="en-US" sz="1200">
                <a:solidFill>
                  <a:srgbClr val="007B00"/>
                </a:solidFill>
              </a:rPr>
              <a:t> -&gt; 90</a:t>
            </a:r>
          </a:p>
          <a:p>
            <a:pPr marL="0" indent="0">
              <a:buFont typeface="System Font Regular"/>
              <a:buNone/>
            </a:pPr>
            <a:r>
              <a:rPr lang="en-US" sz="1200" err="1">
                <a:solidFill>
                  <a:srgbClr val="007B00"/>
                </a:solidFill>
              </a:rPr>
              <a:t>Fearow</a:t>
            </a:r>
            <a:r>
              <a:rPr lang="en-US" sz="1200">
                <a:solidFill>
                  <a:srgbClr val="007B00"/>
                </a:solidFill>
              </a:rPr>
              <a:t> -&gt; 22</a:t>
            </a:r>
          </a:p>
          <a:p>
            <a:pPr marL="0" indent="0">
              <a:buFont typeface="System Font Regular"/>
              <a:buNone/>
            </a:pPr>
            <a:r>
              <a:rPr lang="en-US" sz="1200" err="1">
                <a:solidFill>
                  <a:srgbClr val="007B00"/>
                </a:solidFill>
              </a:rPr>
              <a:t>Kangaskhan</a:t>
            </a:r>
            <a:r>
              <a:rPr lang="en-US" sz="1200">
                <a:solidFill>
                  <a:srgbClr val="007B00"/>
                </a:solidFill>
              </a:rPr>
              <a:t> -&gt; 115</a:t>
            </a:r>
          </a:p>
          <a:p>
            <a:pPr marL="0" indent="0">
              <a:buFont typeface="System Font Regular"/>
              <a:buNone/>
            </a:pPr>
            <a:r>
              <a:rPr lang="en-US" sz="1200" err="1">
                <a:solidFill>
                  <a:srgbClr val="007B00"/>
                </a:solidFill>
              </a:rPr>
              <a:t>Mankey</a:t>
            </a:r>
            <a:r>
              <a:rPr lang="en-US" sz="1200">
                <a:solidFill>
                  <a:srgbClr val="007B00"/>
                </a:solidFill>
              </a:rPr>
              <a:t> -&gt; 56</a:t>
            </a:r>
          </a:p>
          <a:p>
            <a:pPr marL="0" indent="0">
              <a:buFont typeface="System Font Regular"/>
              <a:buNone/>
            </a:pPr>
            <a:r>
              <a:rPr lang="en-US" sz="1200" err="1">
                <a:solidFill>
                  <a:srgbClr val="007B00"/>
                </a:solidFill>
              </a:rPr>
              <a:t>Dodrio</a:t>
            </a:r>
            <a:r>
              <a:rPr lang="en-US" sz="1200">
                <a:solidFill>
                  <a:srgbClr val="007B00"/>
                </a:solidFill>
              </a:rPr>
              <a:t> -&gt; 85</a:t>
            </a:r>
          </a:p>
          <a:p>
            <a:pPr marL="0" indent="0">
              <a:buFont typeface="System Font Regular"/>
              <a:buNone/>
            </a:pPr>
            <a:r>
              <a:rPr lang="en-US" sz="1200" err="1">
                <a:solidFill>
                  <a:srgbClr val="007B00"/>
                </a:solidFill>
              </a:rPr>
              <a:t>Vaporeon</a:t>
            </a:r>
            <a:r>
              <a:rPr lang="en-US" sz="1200">
                <a:solidFill>
                  <a:srgbClr val="007B00"/>
                </a:solidFill>
              </a:rPr>
              <a:t> -&gt; 134</a:t>
            </a:r>
          </a:p>
          <a:p>
            <a:pPr marL="0" indent="0">
              <a:buFont typeface="System Font Regular"/>
              <a:buNone/>
            </a:pPr>
            <a:r>
              <a:rPr lang="en-US" sz="1200">
                <a:solidFill>
                  <a:srgbClr val="007B00"/>
                </a:solidFill>
              </a:rPr>
              <a:t>Golem -&gt; 76</a:t>
            </a:r>
          </a:p>
          <a:p>
            <a:pPr marL="0" indent="0">
              <a:buFont typeface="System Font Regular"/>
              <a:buNone/>
            </a:pPr>
            <a:r>
              <a:rPr lang="en-US" sz="1200" err="1">
                <a:solidFill>
                  <a:srgbClr val="007B00"/>
                </a:solidFill>
              </a:rPr>
              <a:t>Marowak</a:t>
            </a:r>
            <a:r>
              <a:rPr lang="en-US" sz="1200">
                <a:solidFill>
                  <a:srgbClr val="007B00"/>
                </a:solidFill>
              </a:rPr>
              <a:t> -&gt; 105</a:t>
            </a:r>
          </a:p>
          <a:p>
            <a:pPr marL="0" indent="0">
              <a:buFont typeface="System Font Regular"/>
              <a:buNone/>
            </a:pPr>
            <a:r>
              <a:rPr lang="en-US" sz="1200">
                <a:solidFill>
                  <a:srgbClr val="007B00"/>
                </a:solidFill>
              </a:rPr>
              <a:t>Pikachu -&gt; 25</a:t>
            </a:r>
          </a:p>
          <a:p>
            <a:pPr marL="0" indent="0">
              <a:buFont typeface="System Font Regular"/>
              <a:buNone/>
            </a:pPr>
            <a:r>
              <a:rPr lang="en-US" sz="1200" err="1">
                <a:solidFill>
                  <a:srgbClr val="007B00"/>
                </a:solidFill>
              </a:rPr>
              <a:t>Raticate</a:t>
            </a:r>
            <a:r>
              <a:rPr lang="en-US" sz="1200">
                <a:solidFill>
                  <a:srgbClr val="007B00"/>
                </a:solidFill>
              </a:rPr>
              <a:t> -&gt; 20</a:t>
            </a:r>
          </a:p>
          <a:p>
            <a:pPr marL="0" indent="0">
              <a:buFont typeface="System Font Regular"/>
              <a:buNone/>
            </a:pPr>
            <a:r>
              <a:rPr lang="en-US" sz="1200" err="1">
                <a:solidFill>
                  <a:srgbClr val="007B00"/>
                </a:solidFill>
              </a:rPr>
              <a:t>Kadabra</a:t>
            </a:r>
            <a:r>
              <a:rPr lang="en-US" sz="1200">
                <a:solidFill>
                  <a:srgbClr val="007B00"/>
                </a:solidFill>
              </a:rPr>
              <a:t> -&gt; 64</a:t>
            </a:r>
          </a:p>
          <a:p>
            <a:pPr marL="0" indent="0">
              <a:buFont typeface="System Font Regular"/>
              <a:buNone/>
            </a:pPr>
            <a:r>
              <a:rPr lang="en-US" sz="1200" err="1">
                <a:solidFill>
                  <a:srgbClr val="007B00"/>
                </a:solidFill>
              </a:rPr>
              <a:t>Primeape</a:t>
            </a:r>
            <a:r>
              <a:rPr lang="en-US" sz="1200">
                <a:solidFill>
                  <a:srgbClr val="007B00"/>
                </a:solidFill>
              </a:rPr>
              <a:t> -&gt; 57</a:t>
            </a:r>
          </a:p>
          <a:p>
            <a:pPr marL="0" indent="0">
              <a:buFont typeface="System Font Regular"/>
              <a:buNone/>
            </a:pPr>
            <a:r>
              <a:rPr lang="en-US" sz="1200" err="1">
                <a:solidFill>
                  <a:srgbClr val="007B00"/>
                </a:solidFill>
              </a:rPr>
              <a:t>Venomoth</a:t>
            </a:r>
            <a:r>
              <a:rPr lang="en-US" sz="1200">
                <a:solidFill>
                  <a:srgbClr val="007B00"/>
                </a:solidFill>
              </a:rPr>
              <a:t> -&gt; 49</a:t>
            </a:r>
          </a:p>
          <a:p>
            <a:pPr marL="0" indent="0">
              <a:buFont typeface="System Font Regular"/>
              <a:buNone/>
            </a:pPr>
            <a:r>
              <a:rPr lang="en-US" sz="1200" err="1">
                <a:solidFill>
                  <a:srgbClr val="007B00"/>
                </a:solidFill>
              </a:rPr>
              <a:t>Magikarp</a:t>
            </a:r>
            <a:r>
              <a:rPr lang="en-US" sz="1200">
                <a:solidFill>
                  <a:srgbClr val="007B00"/>
                </a:solidFill>
              </a:rPr>
              <a:t> -&gt; 129</a:t>
            </a:r>
          </a:p>
          <a:p>
            <a:pPr marL="0" indent="0">
              <a:buFont typeface="System Font Regular"/>
              <a:buNone/>
            </a:pPr>
            <a:r>
              <a:rPr lang="en-US" sz="1200" err="1">
                <a:solidFill>
                  <a:srgbClr val="007B00"/>
                </a:solidFill>
              </a:rPr>
              <a:t>Pidgeotto</a:t>
            </a:r>
            <a:r>
              <a:rPr lang="en-US" sz="1200">
                <a:solidFill>
                  <a:srgbClr val="007B00"/>
                </a:solidFill>
              </a:rPr>
              <a:t> -&gt; 17</a:t>
            </a:r>
          </a:p>
          <a:p>
            <a:pPr marL="0" indent="0">
              <a:buFont typeface="System Font Regular"/>
              <a:buNone/>
            </a:pPr>
            <a:r>
              <a:rPr lang="en-US" sz="1200" err="1">
                <a:solidFill>
                  <a:srgbClr val="007B00"/>
                </a:solidFill>
              </a:rPr>
              <a:t>Slowbro</a:t>
            </a:r>
            <a:r>
              <a:rPr lang="en-US" sz="1200">
                <a:solidFill>
                  <a:srgbClr val="007B00"/>
                </a:solidFill>
              </a:rPr>
              <a:t> -&gt; 80</a:t>
            </a:r>
          </a:p>
          <a:p>
            <a:pPr marL="0" indent="0">
              <a:buFont typeface="System Font Regular"/>
              <a:buNone/>
            </a:pPr>
            <a:r>
              <a:rPr lang="en-US" sz="1200" err="1">
                <a:solidFill>
                  <a:srgbClr val="007B00"/>
                </a:solidFill>
              </a:rPr>
              <a:t>Gastly</a:t>
            </a:r>
            <a:r>
              <a:rPr lang="en-US" sz="1200">
                <a:solidFill>
                  <a:srgbClr val="007B00"/>
                </a:solidFill>
              </a:rPr>
              <a:t> -&gt; 92</a:t>
            </a:r>
          </a:p>
          <a:p>
            <a:pPr marL="0" indent="0">
              <a:buFont typeface="System Font Regular"/>
              <a:buNone/>
            </a:pPr>
            <a:r>
              <a:rPr lang="en-US" sz="1200">
                <a:solidFill>
                  <a:srgbClr val="007B00"/>
                </a:solidFill>
              </a:rPr>
              <a:t>Magneton -&gt; 82</a:t>
            </a:r>
          </a:p>
          <a:p>
            <a:pPr marL="0" indent="0">
              <a:buFont typeface="System Font Regular"/>
              <a:buNone/>
            </a:pPr>
            <a:r>
              <a:rPr lang="en-US" sz="1200" err="1">
                <a:solidFill>
                  <a:srgbClr val="007B00"/>
                </a:solidFill>
              </a:rPr>
              <a:t>Jolteon</a:t>
            </a:r>
            <a:r>
              <a:rPr lang="en-US" sz="1200">
                <a:solidFill>
                  <a:srgbClr val="007B00"/>
                </a:solidFill>
              </a:rPr>
              <a:t> -&gt; 135</a:t>
            </a:r>
          </a:p>
          <a:p>
            <a:pPr marL="0" indent="0">
              <a:buFont typeface="System Font Regular"/>
              <a:buNone/>
            </a:pPr>
            <a:r>
              <a:rPr lang="en-US" sz="1200" err="1">
                <a:solidFill>
                  <a:srgbClr val="007B00"/>
                </a:solidFill>
              </a:rPr>
              <a:t>Metapod</a:t>
            </a:r>
            <a:r>
              <a:rPr lang="en-US" sz="1200">
                <a:solidFill>
                  <a:srgbClr val="007B00"/>
                </a:solidFill>
              </a:rPr>
              <a:t> -&gt; 11</a:t>
            </a:r>
          </a:p>
          <a:p>
            <a:pPr marL="0" indent="0">
              <a:buFont typeface="System Font Regular"/>
              <a:buNone/>
            </a:pPr>
            <a:r>
              <a:rPr lang="en-US" sz="1200" err="1">
                <a:solidFill>
                  <a:srgbClr val="007B00"/>
                </a:solidFill>
              </a:rPr>
              <a:t>Diglett</a:t>
            </a:r>
            <a:r>
              <a:rPr lang="en-US" sz="1200">
                <a:solidFill>
                  <a:srgbClr val="007B00"/>
                </a:solidFill>
              </a:rPr>
              <a:t> -&gt; 50</a:t>
            </a:r>
          </a:p>
          <a:p>
            <a:pPr marL="0" indent="0">
              <a:buFont typeface="System Font Regular"/>
              <a:buNone/>
            </a:pPr>
            <a:r>
              <a:rPr lang="en-US" sz="1200" err="1">
                <a:solidFill>
                  <a:srgbClr val="007B00"/>
                </a:solidFill>
              </a:rPr>
              <a:t>Eevee</a:t>
            </a:r>
            <a:r>
              <a:rPr lang="en-US" sz="1200">
                <a:solidFill>
                  <a:srgbClr val="007B00"/>
                </a:solidFill>
              </a:rPr>
              <a:t> -&gt; 133</a:t>
            </a:r>
          </a:p>
          <a:p>
            <a:pPr marL="0" indent="0">
              <a:buFont typeface="System Font Regular"/>
              <a:buNone/>
            </a:pPr>
            <a:r>
              <a:rPr lang="en-US" sz="1200" err="1">
                <a:solidFill>
                  <a:srgbClr val="007B00"/>
                </a:solidFill>
              </a:rPr>
              <a:t>Caterpie</a:t>
            </a:r>
            <a:r>
              <a:rPr lang="en-US" sz="1200">
                <a:solidFill>
                  <a:srgbClr val="007B00"/>
                </a:solidFill>
              </a:rPr>
              <a:t> -&gt; 10</a:t>
            </a:r>
          </a:p>
          <a:p>
            <a:pPr marL="0" indent="0">
              <a:buFont typeface="System Font Regular"/>
              <a:buNone/>
            </a:pPr>
            <a:r>
              <a:rPr lang="en-US" sz="1200" err="1">
                <a:solidFill>
                  <a:srgbClr val="007B00"/>
                </a:solidFill>
              </a:rPr>
              <a:t>Goldeen</a:t>
            </a:r>
            <a:r>
              <a:rPr lang="en-US" sz="1200">
                <a:solidFill>
                  <a:srgbClr val="007B00"/>
                </a:solidFill>
              </a:rPr>
              <a:t> -&gt; 118</a:t>
            </a:r>
          </a:p>
          <a:p>
            <a:pPr marL="0" indent="0">
              <a:buFont typeface="System Font Regular"/>
              <a:buNone/>
            </a:pPr>
            <a:r>
              <a:rPr lang="en-US" sz="1200" err="1">
                <a:solidFill>
                  <a:srgbClr val="007B00"/>
                </a:solidFill>
              </a:rPr>
              <a:t>Abra</a:t>
            </a:r>
            <a:r>
              <a:rPr lang="en-US" sz="1200">
                <a:solidFill>
                  <a:srgbClr val="007B00"/>
                </a:solidFill>
              </a:rPr>
              <a:t> -&gt; 63</a:t>
            </a:r>
          </a:p>
          <a:p>
            <a:pPr marL="0" indent="0">
              <a:buFont typeface="System Font Regular"/>
              <a:buNone/>
            </a:pPr>
            <a:r>
              <a:rPr lang="en-US" sz="1200" err="1">
                <a:solidFill>
                  <a:srgbClr val="007B00"/>
                </a:solidFill>
              </a:rPr>
              <a:t>Blastoise</a:t>
            </a:r>
            <a:r>
              <a:rPr lang="en-US" sz="1200">
                <a:solidFill>
                  <a:srgbClr val="007B00"/>
                </a:solidFill>
              </a:rPr>
              <a:t> -&gt; 9</a:t>
            </a:r>
          </a:p>
          <a:p>
            <a:pPr marL="0" indent="0">
              <a:buFont typeface="System Font Regular"/>
              <a:buNone/>
            </a:pPr>
            <a:r>
              <a:rPr lang="en-US" sz="1200" err="1">
                <a:solidFill>
                  <a:srgbClr val="007B00"/>
                </a:solidFill>
              </a:rPr>
              <a:t>Magnemite</a:t>
            </a:r>
            <a:r>
              <a:rPr lang="en-US" sz="1200">
                <a:solidFill>
                  <a:srgbClr val="007B00"/>
                </a:solidFill>
              </a:rPr>
              <a:t> -&gt; 81</a:t>
            </a:r>
          </a:p>
          <a:p>
            <a:pPr marL="0" indent="0">
              <a:buFont typeface="System Font Regular"/>
              <a:buNone/>
            </a:pPr>
            <a:r>
              <a:rPr lang="en-US" sz="1200" err="1">
                <a:solidFill>
                  <a:srgbClr val="007B00"/>
                </a:solidFill>
              </a:rPr>
              <a:t>Pinsir</a:t>
            </a:r>
            <a:r>
              <a:rPr lang="en-US" sz="1200">
                <a:solidFill>
                  <a:srgbClr val="007B00"/>
                </a:solidFill>
              </a:rPr>
              <a:t> -&gt; 127</a:t>
            </a:r>
          </a:p>
          <a:p>
            <a:pPr marL="0" indent="0">
              <a:buFont typeface="System Font Regular"/>
              <a:buNone/>
            </a:pPr>
            <a:r>
              <a:rPr lang="en-US" sz="1200" err="1">
                <a:solidFill>
                  <a:srgbClr val="007B00"/>
                </a:solidFill>
              </a:rPr>
              <a:t>Machoke</a:t>
            </a:r>
            <a:r>
              <a:rPr lang="en-US" sz="1200">
                <a:solidFill>
                  <a:srgbClr val="007B00"/>
                </a:solidFill>
              </a:rPr>
              <a:t> -&gt; 67</a:t>
            </a:r>
          </a:p>
          <a:p>
            <a:pPr marL="0" indent="0">
              <a:buFont typeface="System Font Regular"/>
              <a:buNone/>
            </a:pPr>
            <a:r>
              <a:rPr lang="en-US" sz="1200" err="1">
                <a:solidFill>
                  <a:srgbClr val="007B00"/>
                </a:solidFill>
              </a:rPr>
              <a:t>Graveler</a:t>
            </a:r>
            <a:r>
              <a:rPr lang="en-US" sz="1200">
                <a:solidFill>
                  <a:srgbClr val="007B00"/>
                </a:solidFill>
              </a:rPr>
              <a:t> -&gt; 75</a:t>
            </a:r>
          </a:p>
          <a:p>
            <a:pPr marL="0" indent="0">
              <a:buFont typeface="System Font Regular"/>
              <a:buNone/>
            </a:pPr>
            <a:r>
              <a:rPr lang="en-US" sz="1200" err="1">
                <a:solidFill>
                  <a:srgbClr val="007B00"/>
                </a:solidFill>
              </a:rPr>
              <a:t>Meowth</a:t>
            </a:r>
            <a:r>
              <a:rPr lang="en-US" sz="1200">
                <a:solidFill>
                  <a:srgbClr val="007B00"/>
                </a:solidFill>
              </a:rPr>
              <a:t> -&gt; 52</a:t>
            </a:r>
          </a:p>
          <a:p>
            <a:pPr marL="0" indent="0">
              <a:buFont typeface="System Font Regular"/>
              <a:buNone/>
            </a:pPr>
            <a:r>
              <a:rPr lang="en-US" sz="1200" err="1">
                <a:solidFill>
                  <a:srgbClr val="007B00"/>
                </a:solidFill>
              </a:rPr>
              <a:t>Staryu</a:t>
            </a:r>
            <a:r>
              <a:rPr lang="en-US" sz="1200">
                <a:solidFill>
                  <a:srgbClr val="007B00"/>
                </a:solidFill>
              </a:rPr>
              <a:t> -&gt; 120</a:t>
            </a:r>
          </a:p>
          <a:p>
            <a:pPr marL="0" indent="0">
              <a:buFont typeface="System Font Regular"/>
              <a:buNone/>
            </a:pPr>
            <a:r>
              <a:rPr lang="en-US" sz="1200" err="1">
                <a:solidFill>
                  <a:srgbClr val="007B00"/>
                </a:solidFill>
              </a:rPr>
              <a:t>Gengar</a:t>
            </a:r>
            <a:r>
              <a:rPr lang="en-US" sz="1200">
                <a:solidFill>
                  <a:srgbClr val="007B00"/>
                </a:solidFill>
              </a:rPr>
              <a:t> -&gt; 94</a:t>
            </a:r>
          </a:p>
          <a:p>
            <a:pPr marL="0" indent="0">
              <a:buFont typeface="System Font Regular"/>
              <a:buNone/>
            </a:pPr>
            <a:r>
              <a:rPr lang="en-US" sz="1200" err="1">
                <a:solidFill>
                  <a:srgbClr val="007B00"/>
                </a:solidFill>
              </a:rPr>
              <a:t>Moltres</a:t>
            </a:r>
            <a:r>
              <a:rPr lang="en-US" sz="1200">
                <a:solidFill>
                  <a:srgbClr val="007B00"/>
                </a:solidFill>
              </a:rPr>
              <a:t> -&gt; 146</a:t>
            </a:r>
          </a:p>
          <a:p>
            <a:pPr marL="0" indent="0">
              <a:buFont typeface="System Font Regular"/>
              <a:buNone/>
            </a:pPr>
            <a:r>
              <a:rPr lang="en-US" sz="1200" err="1">
                <a:solidFill>
                  <a:srgbClr val="007B00"/>
                </a:solidFill>
              </a:rPr>
              <a:t>Dragonite</a:t>
            </a:r>
            <a:r>
              <a:rPr lang="en-US" sz="1200">
                <a:solidFill>
                  <a:srgbClr val="007B00"/>
                </a:solidFill>
              </a:rPr>
              <a:t> -&gt; 149</a:t>
            </a:r>
          </a:p>
          <a:p>
            <a:pPr marL="0" indent="0">
              <a:buFont typeface="System Font Regular"/>
              <a:buNone/>
            </a:pPr>
            <a:r>
              <a:rPr lang="en-US" sz="1200" err="1">
                <a:solidFill>
                  <a:srgbClr val="007B00"/>
                </a:solidFill>
              </a:rPr>
              <a:t>Golbat</a:t>
            </a:r>
            <a:r>
              <a:rPr lang="en-US" sz="1200">
                <a:solidFill>
                  <a:srgbClr val="007B00"/>
                </a:solidFill>
              </a:rPr>
              <a:t> -&gt; 42</a:t>
            </a:r>
          </a:p>
          <a:p>
            <a:pPr marL="0" indent="0">
              <a:buFont typeface="System Font Regular"/>
              <a:buNone/>
            </a:pPr>
            <a:r>
              <a:rPr lang="en-US" sz="1200">
                <a:solidFill>
                  <a:srgbClr val="007B00"/>
                </a:solidFill>
              </a:rPr>
              <a:t>Persian -&gt; 53</a:t>
            </a:r>
          </a:p>
          <a:p>
            <a:pPr marL="0" indent="0">
              <a:buFont typeface="System Font Regular"/>
              <a:buNone/>
            </a:pPr>
            <a:r>
              <a:rPr lang="en-US" sz="1200" err="1">
                <a:solidFill>
                  <a:srgbClr val="007B00"/>
                </a:solidFill>
              </a:rPr>
              <a:t>Dugtrio</a:t>
            </a:r>
            <a:r>
              <a:rPr lang="en-US" sz="1200">
                <a:solidFill>
                  <a:srgbClr val="007B00"/>
                </a:solidFill>
              </a:rPr>
              <a:t> -&gt; 51</a:t>
            </a:r>
          </a:p>
          <a:p>
            <a:pPr marL="0" indent="0">
              <a:buFont typeface="System Font Regular"/>
              <a:buNone/>
            </a:pPr>
            <a:r>
              <a:rPr lang="en-US" sz="1200" err="1">
                <a:solidFill>
                  <a:srgbClr val="007B00"/>
                </a:solidFill>
              </a:rPr>
              <a:t>Onix</a:t>
            </a:r>
            <a:r>
              <a:rPr lang="en-US" sz="1200">
                <a:solidFill>
                  <a:srgbClr val="007B00"/>
                </a:solidFill>
              </a:rPr>
              <a:t> -&gt; 95</a:t>
            </a:r>
          </a:p>
          <a:p>
            <a:pPr marL="0" indent="0">
              <a:buFont typeface="System Font Regular"/>
              <a:buNone/>
            </a:pPr>
            <a:r>
              <a:rPr lang="en-US" sz="1200" err="1">
                <a:solidFill>
                  <a:srgbClr val="007B00"/>
                </a:solidFill>
              </a:rPr>
              <a:t>Hypno</a:t>
            </a:r>
            <a:r>
              <a:rPr lang="en-US" sz="1200">
                <a:solidFill>
                  <a:srgbClr val="007B00"/>
                </a:solidFill>
              </a:rPr>
              <a:t> -&gt; 97</a:t>
            </a:r>
          </a:p>
          <a:p>
            <a:pPr marL="0" indent="0">
              <a:buFont typeface="System Font Regular"/>
              <a:buNone/>
            </a:pPr>
            <a:r>
              <a:rPr lang="en-US" sz="1200" err="1">
                <a:solidFill>
                  <a:srgbClr val="007B00"/>
                </a:solidFill>
              </a:rPr>
              <a:t>Machop</a:t>
            </a:r>
            <a:r>
              <a:rPr lang="en-US" sz="1200">
                <a:solidFill>
                  <a:srgbClr val="007B00"/>
                </a:solidFill>
              </a:rPr>
              <a:t> -&gt; 66</a:t>
            </a:r>
          </a:p>
          <a:p>
            <a:pPr marL="0" indent="0">
              <a:buFont typeface="System Font Regular"/>
              <a:buNone/>
            </a:pPr>
            <a:r>
              <a:rPr lang="en-US" sz="1200" err="1">
                <a:solidFill>
                  <a:srgbClr val="007B00"/>
                </a:solidFill>
              </a:rPr>
              <a:t>Victreebel</a:t>
            </a:r>
            <a:r>
              <a:rPr lang="en-US" sz="1200">
                <a:solidFill>
                  <a:srgbClr val="007B00"/>
                </a:solidFill>
              </a:rPr>
              <a:t> -&gt; 71</a:t>
            </a:r>
          </a:p>
          <a:p>
            <a:pPr marL="0" indent="0">
              <a:buFont typeface="System Font Regular"/>
              <a:buNone/>
            </a:pPr>
            <a:r>
              <a:rPr lang="en-US" sz="1200" err="1">
                <a:solidFill>
                  <a:srgbClr val="007B00"/>
                </a:solidFill>
              </a:rPr>
              <a:t>Krabby</a:t>
            </a:r>
            <a:r>
              <a:rPr lang="en-US" sz="1200">
                <a:solidFill>
                  <a:srgbClr val="007B00"/>
                </a:solidFill>
              </a:rPr>
              <a:t> -&gt; 98</a:t>
            </a:r>
          </a:p>
          <a:p>
            <a:pPr marL="0" indent="0">
              <a:buFont typeface="System Font Regular"/>
              <a:buNone/>
            </a:pPr>
            <a:r>
              <a:rPr lang="en-US" sz="1200">
                <a:solidFill>
                  <a:srgbClr val="007B00"/>
                </a:solidFill>
              </a:rPr>
              <a:t>Jynx -&gt; 124</a:t>
            </a:r>
          </a:p>
          <a:p>
            <a:pPr marL="0" indent="0">
              <a:buFont typeface="System Font Regular"/>
              <a:buNone/>
            </a:pPr>
            <a:r>
              <a:rPr lang="en-US" sz="1200" err="1">
                <a:solidFill>
                  <a:srgbClr val="007B00"/>
                </a:solidFill>
              </a:rPr>
              <a:t>Seadra</a:t>
            </a:r>
            <a:r>
              <a:rPr lang="en-US" sz="1200">
                <a:solidFill>
                  <a:srgbClr val="007B00"/>
                </a:solidFill>
              </a:rPr>
              <a:t> -&gt; 117</a:t>
            </a:r>
          </a:p>
          <a:p>
            <a:pPr marL="0" indent="0">
              <a:buFont typeface="System Font Regular"/>
              <a:buNone/>
            </a:pPr>
            <a:r>
              <a:rPr lang="en-US" sz="1200" err="1">
                <a:solidFill>
                  <a:srgbClr val="007B00"/>
                </a:solidFill>
              </a:rPr>
              <a:t>Rhydon</a:t>
            </a:r>
            <a:r>
              <a:rPr lang="en-US" sz="1200">
                <a:solidFill>
                  <a:srgbClr val="007B00"/>
                </a:solidFill>
              </a:rPr>
              <a:t> -&gt; 112</a:t>
            </a:r>
          </a:p>
          <a:p>
            <a:pPr marL="0" indent="0">
              <a:buFont typeface="System Font Regular"/>
              <a:buNone/>
            </a:pPr>
            <a:r>
              <a:rPr lang="en-US" sz="1200">
                <a:solidFill>
                  <a:srgbClr val="007B00"/>
                </a:solidFill>
              </a:rPr>
              <a:t>Jigglypuff -&gt; 39</a:t>
            </a:r>
          </a:p>
          <a:p>
            <a:pPr marL="0" indent="0">
              <a:buFont typeface="System Font Regular"/>
              <a:buNone/>
            </a:pPr>
            <a:r>
              <a:rPr lang="en-US" sz="1200" err="1">
                <a:solidFill>
                  <a:srgbClr val="007B00"/>
                </a:solidFill>
              </a:rPr>
              <a:t>Machamp</a:t>
            </a:r>
            <a:r>
              <a:rPr lang="en-US" sz="1200">
                <a:solidFill>
                  <a:srgbClr val="007B00"/>
                </a:solidFill>
              </a:rPr>
              <a:t> -&gt; 68</a:t>
            </a:r>
          </a:p>
          <a:p>
            <a:pPr marL="0" indent="0">
              <a:buFont typeface="System Font Regular"/>
              <a:buNone/>
            </a:pPr>
            <a:r>
              <a:rPr lang="en-US" sz="1200" err="1">
                <a:solidFill>
                  <a:srgbClr val="007B00"/>
                </a:solidFill>
              </a:rPr>
              <a:t>Psyduck</a:t>
            </a:r>
            <a:r>
              <a:rPr lang="en-US" sz="1200">
                <a:solidFill>
                  <a:srgbClr val="007B00"/>
                </a:solidFill>
              </a:rPr>
              <a:t> -&gt; 54</a:t>
            </a:r>
          </a:p>
          <a:p>
            <a:pPr marL="0" indent="0">
              <a:buFont typeface="System Font Regular"/>
              <a:buNone/>
            </a:pPr>
            <a:r>
              <a:rPr lang="en-US" sz="1200" err="1">
                <a:solidFill>
                  <a:srgbClr val="007B00"/>
                </a:solidFill>
              </a:rPr>
              <a:t>Rapidash</a:t>
            </a:r>
            <a:r>
              <a:rPr lang="en-US" sz="1200">
                <a:solidFill>
                  <a:srgbClr val="007B00"/>
                </a:solidFill>
              </a:rPr>
              <a:t> -&gt; 78</a:t>
            </a:r>
          </a:p>
          <a:p>
            <a:pPr marL="0" indent="0">
              <a:buFont typeface="System Font Regular"/>
              <a:buNone/>
            </a:pPr>
            <a:r>
              <a:rPr lang="en-US" sz="1200" err="1">
                <a:solidFill>
                  <a:srgbClr val="007B00"/>
                </a:solidFill>
              </a:rPr>
              <a:t>Pidgey</a:t>
            </a:r>
            <a:r>
              <a:rPr lang="en-US" sz="1200">
                <a:solidFill>
                  <a:srgbClr val="007B00"/>
                </a:solidFill>
              </a:rPr>
              <a:t> -&gt; 16</a:t>
            </a:r>
          </a:p>
          <a:p>
            <a:pPr marL="0" indent="0">
              <a:buFont typeface="System Font Regular"/>
              <a:buNone/>
            </a:pPr>
            <a:r>
              <a:rPr lang="en-US" sz="1200" err="1">
                <a:solidFill>
                  <a:srgbClr val="007B00"/>
                </a:solidFill>
              </a:rPr>
              <a:t>Horsea</a:t>
            </a:r>
            <a:r>
              <a:rPr lang="en-US" sz="1200">
                <a:solidFill>
                  <a:srgbClr val="007B00"/>
                </a:solidFill>
              </a:rPr>
              <a:t> -&gt; 116</a:t>
            </a:r>
          </a:p>
          <a:p>
            <a:pPr marL="0" indent="0">
              <a:buFont typeface="System Font Regular"/>
              <a:buNone/>
            </a:pPr>
            <a:r>
              <a:rPr lang="en-US" sz="1200" err="1">
                <a:solidFill>
                  <a:srgbClr val="007B00"/>
                </a:solidFill>
              </a:rPr>
              <a:t>Poliwrath</a:t>
            </a:r>
            <a:r>
              <a:rPr lang="en-US" sz="1200">
                <a:solidFill>
                  <a:srgbClr val="007B00"/>
                </a:solidFill>
              </a:rPr>
              <a:t> -&gt; 62</a:t>
            </a:r>
          </a:p>
          <a:p>
            <a:pPr marL="0" indent="0">
              <a:buFont typeface="System Font Regular"/>
              <a:buNone/>
            </a:pPr>
            <a:r>
              <a:rPr lang="en-US" sz="1200" err="1">
                <a:solidFill>
                  <a:srgbClr val="007B00"/>
                </a:solidFill>
              </a:rPr>
              <a:t>Omastar</a:t>
            </a:r>
            <a:r>
              <a:rPr lang="en-US" sz="1200">
                <a:solidFill>
                  <a:srgbClr val="007B00"/>
                </a:solidFill>
              </a:rPr>
              <a:t> -&gt; 139</a:t>
            </a:r>
          </a:p>
          <a:p>
            <a:pPr marL="0" indent="0">
              <a:buFont typeface="System Font Regular"/>
              <a:buNone/>
            </a:pPr>
            <a:r>
              <a:rPr lang="en-US" sz="1200" err="1">
                <a:solidFill>
                  <a:srgbClr val="007B00"/>
                </a:solidFill>
              </a:rPr>
              <a:t>Clefairy</a:t>
            </a:r>
            <a:r>
              <a:rPr lang="en-US" sz="1200">
                <a:solidFill>
                  <a:srgbClr val="007B00"/>
                </a:solidFill>
              </a:rPr>
              <a:t> -&gt; 35</a:t>
            </a:r>
          </a:p>
          <a:p>
            <a:pPr marL="0" indent="0">
              <a:buFont typeface="System Font Regular"/>
              <a:buNone/>
            </a:pPr>
            <a:r>
              <a:rPr lang="en-US" sz="1200" err="1">
                <a:solidFill>
                  <a:srgbClr val="007B00"/>
                </a:solidFill>
              </a:rPr>
              <a:t>Exeggutor</a:t>
            </a:r>
            <a:r>
              <a:rPr lang="en-US" sz="1200">
                <a:solidFill>
                  <a:srgbClr val="007B00"/>
                </a:solidFill>
              </a:rPr>
              <a:t> -&gt; 103</a:t>
            </a:r>
          </a:p>
          <a:p>
            <a:pPr marL="0" indent="0">
              <a:buFont typeface="System Font Regular"/>
              <a:buNone/>
            </a:pPr>
            <a:r>
              <a:rPr lang="en-US" sz="1200" err="1">
                <a:solidFill>
                  <a:srgbClr val="007B00"/>
                </a:solidFill>
              </a:rPr>
              <a:t>Farfetch'd</a:t>
            </a:r>
            <a:r>
              <a:rPr lang="en-US" sz="1200">
                <a:solidFill>
                  <a:srgbClr val="007B00"/>
                </a:solidFill>
              </a:rPr>
              <a:t> -&gt; 83</a:t>
            </a:r>
          </a:p>
          <a:p>
            <a:pPr marL="0" indent="0">
              <a:buFont typeface="System Font Regular"/>
              <a:buNone/>
            </a:pPr>
            <a:r>
              <a:rPr lang="en-US" sz="1200" err="1">
                <a:solidFill>
                  <a:srgbClr val="007B00"/>
                </a:solidFill>
              </a:rPr>
              <a:t>Clefable</a:t>
            </a:r>
            <a:r>
              <a:rPr lang="en-US" sz="1200">
                <a:solidFill>
                  <a:srgbClr val="007B00"/>
                </a:solidFill>
              </a:rPr>
              <a:t> -&gt; 36</a:t>
            </a:r>
          </a:p>
          <a:p>
            <a:pPr marL="0" indent="0">
              <a:buFont typeface="System Font Regular"/>
              <a:buNone/>
            </a:pPr>
            <a:r>
              <a:rPr lang="en-US" sz="1200">
                <a:solidFill>
                  <a:srgbClr val="007B00"/>
                </a:solidFill>
              </a:rPr>
              <a:t>Oddish -&gt; 43</a:t>
            </a:r>
          </a:p>
          <a:p>
            <a:pPr marL="0" indent="0">
              <a:buFont typeface="System Font Regular"/>
              <a:buNone/>
            </a:pPr>
            <a:r>
              <a:rPr lang="en-US" sz="1200" err="1">
                <a:solidFill>
                  <a:srgbClr val="007B00"/>
                </a:solidFill>
              </a:rPr>
              <a:t>Weedle</a:t>
            </a:r>
            <a:r>
              <a:rPr lang="en-US" sz="1200">
                <a:solidFill>
                  <a:srgbClr val="007B00"/>
                </a:solidFill>
              </a:rPr>
              <a:t> -&gt; 13</a:t>
            </a:r>
          </a:p>
          <a:p>
            <a:pPr marL="0" indent="0">
              <a:buFont typeface="System Font Regular"/>
              <a:buNone/>
            </a:pPr>
            <a:r>
              <a:rPr lang="en-US" sz="1200">
                <a:solidFill>
                  <a:srgbClr val="007B00"/>
                </a:solidFill>
              </a:rPr>
              <a:t>Gloom -&gt; 44</a:t>
            </a:r>
          </a:p>
          <a:p>
            <a:pPr marL="0" indent="0">
              <a:buFont typeface="System Font Regular"/>
              <a:buNone/>
            </a:pPr>
            <a:r>
              <a:rPr lang="en-US" sz="1200" err="1">
                <a:solidFill>
                  <a:srgbClr val="007B00"/>
                </a:solidFill>
              </a:rPr>
              <a:t>Vileplume</a:t>
            </a:r>
            <a:r>
              <a:rPr lang="en-US" sz="1200">
                <a:solidFill>
                  <a:srgbClr val="007B00"/>
                </a:solidFill>
              </a:rPr>
              <a:t> -&gt; 45</a:t>
            </a:r>
          </a:p>
          <a:p>
            <a:pPr marL="0" indent="0">
              <a:buFont typeface="System Font Regular"/>
              <a:buNone/>
            </a:pPr>
            <a:r>
              <a:rPr lang="en-US" sz="1200" err="1">
                <a:solidFill>
                  <a:srgbClr val="007B00"/>
                </a:solidFill>
              </a:rPr>
              <a:t>Vulpix</a:t>
            </a:r>
            <a:r>
              <a:rPr lang="en-US" sz="1200">
                <a:solidFill>
                  <a:srgbClr val="007B00"/>
                </a:solidFill>
              </a:rPr>
              <a:t> -&gt; 37</a:t>
            </a:r>
          </a:p>
          <a:p>
            <a:pPr marL="0" indent="0">
              <a:buFont typeface="System Font Regular"/>
              <a:buNone/>
            </a:pPr>
            <a:r>
              <a:rPr lang="en-US" sz="1200">
                <a:solidFill>
                  <a:srgbClr val="007B00"/>
                </a:solidFill>
              </a:rPr>
              <a:t>Slowpoke -&gt; 79</a:t>
            </a:r>
          </a:p>
          <a:p>
            <a:pPr marL="0" indent="0">
              <a:buFont typeface="System Font Regular"/>
              <a:buNone/>
            </a:pPr>
            <a:r>
              <a:rPr lang="en-US" sz="1200" err="1">
                <a:solidFill>
                  <a:srgbClr val="007B00"/>
                </a:solidFill>
              </a:rPr>
              <a:t>Lickitung</a:t>
            </a:r>
            <a:r>
              <a:rPr lang="en-US" sz="1200">
                <a:solidFill>
                  <a:srgbClr val="007B00"/>
                </a:solidFill>
              </a:rPr>
              <a:t> -&gt; 108</a:t>
            </a:r>
          </a:p>
          <a:p>
            <a:pPr marL="0" indent="0">
              <a:buFont typeface="System Font Regular"/>
              <a:buNone/>
            </a:pPr>
            <a:r>
              <a:rPr lang="en-US" sz="1200" err="1">
                <a:solidFill>
                  <a:srgbClr val="007B00"/>
                </a:solidFill>
              </a:rPr>
              <a:t>Golduck</a:t>
            </a:r>
            <a:r>
              <a:rPr lang="en-US" sz="1200">
                <a:solidFill>
                  <a:srgbClr val="007B00"/>
                </a:solidFill>
              </a:rPr>
              <a:t> -&gt; 55</a:t>
            </a:r>
          </a:p>
          <a:p>
            <a:pPr marL="0" indent="0">
              <a:buFont typeface="System Font Regular"/>
              <a:buNone/>
            </a:pPr>
            <a:r>
              <a:rPr lang="en-US" sz="1200" err="1">
                <a:solidFill>
                  <a:srgbClr val="007B00"/>
                </a:solidFill>
              </a:rPr>
              <a:t>Tentacruel</a:t>
            </a:r>
            <a:r>
              <a:rPr lang="en-US" sz="1200">
                <a:solidFill>
                  <a:srgbClr val="007B00"/>
                </a:solidFill>
              </a:rPr>
              <a:t> -&gt; 73</a:t>
            </a:r>
          </a:p>
          <a:p>
            <a:pPr marL="0" indent="0">
              <a:buFont typeface="System Font Regular"/>
              <a:buNone/>
            </a:pPr>
            <a:r>
              <a:rPr lang="en-US" sz="1200" err="1">
                <a:solidFill>
                  <a:srgbClr val="007B00"/>
                </a:solidFill>
              </a:rPr>
              <a:t>Weezing</a:t>
            </a:r>
            <a:r>
              <a:rPr lang="en-US" sz="1200">
                <a:solidFill>
                  <a:srgbClr val="007B00"/>
                </a:solidFill>
              </a:rPr>
              <a:t> -&gt; 110</a:t>
            </a:r>
          </a:p>
          <a:p>
            <a:pPr marL="0" indent="0">
              <a:buFont typeface="System Font Regular"/>
              <a:buNone/>
            </a:pPr>
            <a:r>
              <a:rPr lang="en-US" sz="1200" err="1">
                <a:solidFill>
                  <a:srgbClr val="007B00"/>
                </a:solidFill>
              </a:rPr>
              <a:t>Zapdos</a:t>
            </a:r>
            <a:r>
              <a:rPr lang="en-US" sz="1200">
                <a:solidFill>
                  <a:srgbClr val="007B00"/>
                </a:solidFill>
              </a:rPr>
              <a:t> -&gt; 145</a:t>
            </a:r>
          </a:p>
          <a:p>
            <a:pPr marL="0" indent="0">
              <a:buFont typeface="System Font Regular"/>
              <a:buNone/>
            </a:pPr>
            <a:r>
              <a:rPr lang="en-US" sz="1200" err="1">
                <a:solidFill>
                  <a:srgbClr val="007B00"/>
                </a:solidFill>
              </a:rPr>
              <a:t>Doduo</a:t>
            </a:r>
            <a:r>
              <a:rPr lang="en-US" sz="1200">
                <a:solidFill>
                  <a:srgbClr val="007B00"/>
                </a:solidFill>
              </a:rPr>
              <a:t> -&gt; 84</a:t>
            </a:r>
          </a:p>
          <a:p>
            <a:pPr marL="0" indent="0">
              <a:buFont typeface="System Font Regular"/>
              <a:buNone/>
            </a:pPr>
            <a:r>
              <a:rPr lang="en-US" sz="1200">
                <a:solidFill>
                  <a:srgbClr val="007B00"/>
                </a:solidFill>
              </a:rPr>
              <a:t>Haunter -&gt; 93</a:t>
            </a:r>
          </a:p>
          <a:p>
            <a:pPr marL="0" indent="0">
              <a:buFont typeface="System Font Regular"/>
              <a:buNone/>
            </a:pPr>
            <a:r>
              <a:rPr lang="en-US" sz="1200" err="1">
                <a:solidFill>
                  <a:srgbClr val="007B00"/>
                </a:solidFill>
              </a:rPr>
              <a:t>Poliwhirl</a:t>
            </a:r>
            <a:r>
              <a:rPr lang="en-US" sz="1200">
                <a:solidFill>
                  <a:srgbClr val="007B00"/>
                </a:solidFill>
              </a:rPr>
              <a:t> -&gt; 61</a:t>
            </a:r>
          </a:p>
          <a:p>
            <a:pPr marL="0" indent="0">
              <a:buFont typeface="System Font Regular"/>
              <a:buNone/>
            </a:pPr>
            <a:r>
              <a:rPr lang="en-US" sz="1200">
                <a:solidFill>
                  <a:srgbClr val="007B00"/>
                </a:solidFill>
              </a:rPr>
              <a:t>Squirtle -&gt; 7</a:t>
            </a:r>
          </a:p>
          <a:p>
            <a:pPr marL="0" indent="0">
              <a:buFont typeface="System Font Regular"/>
              <a:buNone/>
            </a:pPr>
            <a:r>
              <a:rPr lang="en-US" sz="1200" err="1">
                <a:solidFill>
                  <a:srgbClr val="007B00"/>
                </a:solidFill>
              </a:rPr>
              <a:t>Omanyte</a:t>
            </a:r>
            <a:r>
              <a:rPr lang="en-US" sz="1200">
                <a:solidFill>
                  <a:srgbClr val="007B00"/>
                </a:solidFill>
              </a:rPr>
              <a:t> -&gt; 138</a:t>
            </a:r>
          </a:p>
          <a:p>
            <a:pPr marL="0" indent="0">
              <a:buFont typeface="System Font Regular"/>
              <a:buNone/>
            </a:pPr>
            <a:r>
              <a:rPr lang="en-US" sz="1200" err="1">
                <a:solidFill>
                  <a:srgbClr val="007B00"/>
                </a:solidFill>
              </a:rPr>
              <a:t>Wigglytuff</a:t>
            </a:r>
            <a:r>
              <a:rPr lang="en-US" sz="1200">
                <a:solidFill>
                  <a:srgbClr val="007B00"/>
                </a:solidFill>
              </a:rPr>
              <a:t> -&gt; 40</a:t>
            </a:r>
          </a:p>
          <a:p>
            <a:pPr marL="0" indent="0">
              <a:buFont typeface="System Font Regular"/>
              <a:buNone/>
            </a:pPr>
            <a:r>
              <a:rPr lang="en-US" sz="1200" err="1">
                <a:solidFill>
                  <a:srgbClr val="007B00"/>
                </a:solidFill>
              </a:rPr>
              <a:t>Arcanine</a:t>
            </a:r>
            <a:r>
              <a:rPr lang="en-US" sz="1200">
                <a:solidFill>
                  <a:srgbClr val="007B00"/>
                </a:solidFill>
              </a:rPr>
              <a:t> -&gt; 59</a:t>
            </a:r>
          </a:p>
          <a:p>
            <a:pPr marL="0" indent="0">
              <a:buFont typeface="System Font Regular"/>
              <a:buNone/>
            </a:pPr>
            <a:r>
              <a:rPr lang="en-US" sz="1200" err="1">
                <a:solidFill>
                  <a:srgbClr val="007B00"/>
                </a:solidFill>
              </a:rPr>
              <a:t>Hitmonlee</a:t>
            </a:r>
            <a:r>
              <a:rPr lang="en-US" sz="1200">
                <a:solidFill>
                  <a:srgbClr val="007B00"/>
                </a:solidFill>
              </a:rPr>
              <a:t> -&gt; 106</a:t>
            </a:r>
          </a:p>
          <a:p>
            <a:pPr marL="0" indent="0">
              <a:buFont typeface="System Font Regular"/>
              <a:buNone/>
            </a:pPr>
            <a:r>
              <a:rPr lang="en-US" sz="1200" err="1">
                <a:solidFill>
                  <a:srgbClr val="007B00"/>
                </a:solidFill>
              </a:rPr>
              <a:t>Kabutops</a:t>
            </a:r>
            <a:r>
              <a:rPr lang="en-US" sz="1200">
                <a:solidFill>
                  <a:srgbClr val="007B00"/>
                </a:solidFill>
              </a:rPr>
              <a:t> -&gt; 141</a:t>
            </a:r>
          </a:p>
          <a:p>
            <a:pPr marL="0" indent="0">
              <a:buFont typeface="System Font Regular"/>
              <a:buNone/>
            </a:pPr>
            <a:r>
              <a:rPr lang="en-US" sz="1200" err="1">
                <a:solidFill>
                  <a:srgbClr val="007B00"/>
                </a:solidFill>
              </a:rPr>
              <a:t>Sandshrew</a:t>
            </a:r>
            <a:r>
              <a:rPr lang="en-US" sz="1200">
                <a:solidFill>
                  <a:srgbClr val="007B00"/>
                </a:solidFill>
              </a:rPr>
              <a:t> -&gt; 27</a:t>
            </a:r>
          </a:p>
          <a:p>
            <a:pPr marL="0" indent="0">
              <a:buFont typeface="System Font Regular"/>
              <a:buNone/>
            </a:pPr>
            <a:r>
              <a:rPr lang="en-US" sz="1200" err="1">
                <a:solidFill>
                  <a:srgbClr val="007B00"/>
                </a:solidFill>
              </a:rPr>
              <a:t>Venusaur</a:t>
            </a:r>
            <a:r>
              <a:rPr lang="en-US" sz="1200">
                <a:solidFill>
                  <a:srgbClr val="007B00"/>
                </a:solidFill>
              </a:rPr>
              <a:t> -&gt; 3</a:t>
            </a:r>
          </a:p>
          <a:p>
            <a:pPr marL="0" indent="0">
              <a:buFont typeface="System Font Regular"/>
              <a:buNone/>
            </a:pPr>
            <a:r>
              <a:rPr lang="en-US" sz="1200" err="1">
                <a:solidFill>
                  <a:srgbClr val="007B00"/>
                </a:solidFill>
              </a:rPr>
              <a:t>Kakuna</a:t>
            </a:r>
            <a:r>
              <a:rPr lang="en-US" sz="1200">
                <a:solidFill>
                  <a:srgbClr val="007B00"/>
                </a:solidFill>
              </a:rPr>
              <a:t> -&gt; 14</a:t>
            </a:r>
          </a:p>
          <a:p>
            <a:pPr marL="0" indent="0">
              <a:buFont typeface="System Font Regular"/>
              <a:buNone/>
            </a:pPr>
            <a:r>
              <a:rPr lang="en-US" sz="1200">
                <a:solidFill>
                  <a:srgbClr val="007B00"/>
                </a:solidFill>
              </a:rPr>
              <a:t>Tangela -&gt; 114</a:t>
            </a:r>
          </a:p>
          <a:p>
            <a:pPr marL="0" indent="0">
              <a:buFont typeface="System Font Regular"/>
              <a:buNone/>
            </a:pPr>
            <a:r>
              <a:rPr lang="en-US" sz="1200" err="1">
                <a:solidFill>
                  <a:srgbClr val="007B00"/>
                </a:solidFill>
              </a:rPr>
              <a:t>Ekans</a:t>
            </a:r>
            <a:r>
              <a:rPr lang="en-US" sz="1200">
                <a:solidFill>
                  <a:srgbClr val="007B00"/>
                </a:solidFill>
              </a:rPr>
              <a:t> -&gt; 23</a:t>
            </a:r>
          </a:p>
          <a:p>
            <a:pPr marL="0" indent="0">
              <a:buFont typeface="System Font Regular"/>
              <a:buNone/>
            </a:pPr>
            <a:r>
              <a:rPr lang="en-US" sz="1200" err="1">
                <a:solidFill>
                  <a:srgbClr val="007B00"/>
                </a:solidFill>
              </a:rPr>
              <a:t>Wartortle</a:t>
            </a:r>
            <a:r>
              <a:rPr lang="en-US" sz="1200">
                <a:solidFill>
                  <a:srgbClr val="007B00"/>
                </a:solidFill>
              </a:rPr>
              <a:t> -&gt; 8</a:t>
            </a:r>
          </a:p>
          <a:p>
            <a:pPr marL="0" indent="0">
              <a:buFont typeface="System Font Regular"/>
              <a:buNone/>
            </a:pPr>
            <a:r>
              <a:rPr lang="en-US" sz="1200" err="1">
                <a:solidFill>
                  <a:srgbClr val="007B00"/>
                </a:solidFill>
              </a:rPr>
              <a:t>Venonat</a:t>
            </a:r>
            <a:r>
              <a:rPr lang="en-US" sz="1200">
                <a:solidFill>
                  <a:srgbClr val="007B00"/>
                </a:solidFill>
              </a:rPr>
              <a:t> -&gt; 48</a:t>
            </a:r>
          </a:p>
          <a:p>
            <a:pPr marL="0" indent="0">
              <a:buFont typeface="System Font Regular"/>
              <a:buNone/>
            </a:pPr>
            <a:r>
              <a:rPr lang="en-US" sz="1200" err="1">
                <a:solidFill>
                  <a:srgbClr val="007B00"/>
                </a:solidFill>
              </a:rPr>
              <a:t>Muk</a:t>
            </a:r>
            <a:r>
              <a:rPr lang="en-US" sz="1200">
                <a:solidFill>
                  <a:srgbClr val="007B00"/>
                </a:solidFill>
              </a:rPr>
              <a:t> -&gt; 89</a:t>
            </a:r>
          </a:p>
          <a:p>
            <a:pPr marL="0" indent="0">
              <a:buFont typeface="System Font Regular"/>
              <a:buNone/>
            </a:pPr>
            <a:r>
              <a:rPr lang="en-US" sz="1200" err="1">
                <a:solidFill>
                  <a:srgbClr val="007B00"/>
                </a:solidFill>
              </a:rPr>
              <a:t>Articuno</a:t>
            </a:r>
            <a:r>
              <a:rPr lang="en-US" sz="1200">
                <a:solidFill>
                  <a:srgbClr val="007B00"/>
                </a:solidFill>
              </a:rPr>
              <a:t> -&gt; 144</a:t>
            </a:r>
          </a:p>
          <a:p>
            <a:pPr marL="0" indent="0">
              <a:buFont typeface="System Font Regular"/>
              <a:buNone/>
            </a:pPr>
            <a:r>
              <a:rPr lang="en-US" sz="1200">
                <a:solidFill>
                  <a:srgbClr val="007B00"/>
                </a:solidFill>
              </a:rPr>
              <a:t>Electrode -&gt; 101</a:t>
            </a:r>
          </a:p>
          <a:p>
            <a:pPr marL="0" indent="0">
              <a:buFont typeface="System Font Regular"/>
              <a:buNone/>
            </a:pPr>
            <a:r>
              <a:rPr lang="en-US" sz="1200" err="1">
                <a:solidFill>
                  <a:srgbClr val="007B00"/>
                </a:solidFill>
              </a:rPr>
              <a:t>Electabuzz</a:t>
            </a:r>
            <a:r>
              <a:rPr lang="en-US" sz="1200">
                <a:solidFill>
                  <a:srgbClr val="007B00"/>
                </a:solidFill>
              </a:rPr>
              <a:t> -&gt; 125</a:t>
            </a:r>
          </a:p>
          <a:p>
            <a:pPr marL="0" indent="0">
              <a:buFont typeface="System Font Regular"/>
              <a:buNone/>
            </a:pPr>
            <a:r>
              <a:rPr lang="en-US" sz="1200" err="1">
                <a:solidFill>
                  <a:srgbClr val="007B00"/>
                </a:solidFill>
              </a:rPr>
              <a:t>Cubone</a:t>
            </a:r>
            <a:r>
              <a:rPr lang="en-US" sz="1200">
                <a:solidFill>
                  <a:srgbClr val="007B00"/>
                </a:solidFill>
              </a:rPr>
              <a:t> -&gt; 104</a:t>
            </a:r>
          </a:p>
          <a:p>
            <a:pPr marL="0" indent="0">
              <a:buFont typeface="System Font Regular"/>
              <a:buNone/>
            </a:pPr>
            <a:r>
              <a:rPr lang="en-US" sz="1200" err="1">
                <a:solidFill>
                  <a:srgbClr val="007B00"/>
                </a:solidFill>
              </a:rPr>
              <a:t>Nidoran</a:t>
            </a:r>
            <a:r>
              <a:rPr lang="en-US" sz="1200">
                <a:solidFill>
                  <a:srgbClr val="007B00"/>
                </a:solidFill>
              </a:rPr>
              <a:t>♀ -&gt; 29</a:t>
            </a:r>
          </a:p>
          <a:p>
            <a:pPr marL="0" indent="0">
              <a:buFont typeface="System Font Regular"/>
              <a:buNone/>
            </a:pPr>
            <a:r>
              <a:rPr lang="en-US" sz="1200" err="1">
                <a:solidFill>
                  <a:srgbClr val="007B00"/>
                </a:solidFill>
              </a:rPr>
              <a:t>Magmar</a:t>
            </a:r>
            <a:r>
              <a:rPr lang="en-US" sz="1200">
                <a:solidFill>
                  <a:srgbClr val="007B00"/>
                </a:solidFill>
              </a:rPr>
              <a:t> -&gt; 126</a:t>
            </a:r>
          </a:p>
          <a:p>
            <a:pPr marL="0" indent="0">
              <a:buFont typeface="System Font Regular"/>
              <a:buNone/>
            </a:pPr>
            <a:r>
              <a:rPr lang="en-US" sz="1200" err="1">
                <a:solidFill>
                  <a:srgbClr val="007B00"/>
                </a:solidFill>
              </a:rPr>
              <a:t>Nidoran</a:t>
            </a:r>
            <a:r>
              <a:rPr lang="en-US" sz="1200">
                <a:solidFill>
                  <a:srgbClr val="007B00"/>
                </a:solidFill>
              </a:rPr>
              <a:t>♂ -&gt; 32</a:t>
            </a:r>
          </a:p>
          <a:p>
            <a:pPr marL="0" indent="0">
              <a:buFont typeface="System Font Regular"/>
              <a:buNone/>
            </a:pPr>
            <a:r>
              <a:rPr lang="en-US" sz="1200" err="1">
                <a:solidFill>
                  <a:srgbClr val="007B00"/>
                </a:solidFill>
              </a:rPr>
              <a:t>Dewgong</a:t>
            </a:r>
            <a:r>
              <a:rPr lang="en-US" sz="1200">
                <a:solidFill>
                  <a:srgbClr val="007B00"/>
                </a:solidFill>
              </a:rPr>
              <a:t> -&gt; 87</a:t>
            </a:r>
          </a:p>
          <a:p>
            <a:pPr marL="0" indent="0">
              <a:buFont typeface="System Font Regular"/>
              <a:buNone/>
            </a:pPr>
            <a:r>
              <a:rPr lang="en-US" sz="1200" err="1">
                <a:solidFill>
                  <a:srgbClr val="007B00"/>
                </a:solidFill>
              </a:rPr>
              <a:t>Tauros</a:t>
            </a:r>
            <a:r>
              <a:rPr lang="en-US" sz="1200">
                <a:solidFill>
                  <a:srgbClr val="007B00"/>
                </a:solidFill>
              </a:rPr>
              <a:t> -&gt; 128</a:t>
            </a:r>
          </a:p>
          <a:p>
            <a:pPr marL="0" indent="0">
              <a:buFont typeface="System Font Regular"/>
              <a:buNone/>
            </a:pPr>
            <a:r>
              <a:rPr lang="en-US" sz="1200">
                <a:solidFill>
                  <a:srgbClr val="007B00"/>
                </a:solidFill>
              </a:rPr>
              <a:t>Mr. Mime -&gt; 122</a:t>
            </a:r>
          </a:p>
          <a:p>
            <a:pPr marL="0" indent="0">
              <a:buFont typeface="System Font Regular"/>
              <a:buNone/>
            </a:pPr>
            <a:r>
              <a:rPr lang="en-US" sz="1200" err="1">
                <a:solidFill>
                  <a:srgbClr val="007B00"/>
                </a:solidFill>
              </a:rPr>
              <a:t>Koffing</a:t>
            </a:r>
            <a:r>
              <a:rPr lang="en-US" sz="1200">
                <a:solidFill>
                  <a:srgbClr val="007B00"/>
                </a:solidFill>
              </a:rPr>
              <a:t> -&gt; 109</a:t>
            </a:r>
          </a:p>
          <a:p>
            <a:pPr marL="0" indent="0">
              <a:buFont typeface="System Font Regular"/>
              <a:buNone/>
            </a:pPr>
            <a:r>
              <a:rPr lang="en-US" sz="1200" err="1">
                <a:solidFill>
                  <a:srgbClr val="007B00"/>
                </a:solidFill>
              </a:rPr>
              <a:t>Starmie</a:t>
            </a:r>
            <a:r>
              <a:rPr lang="en-US" sz="1200">
                <a:solidFill>
                  <a:srgbClr val="007B00"/>
                </a:solidFill>
              </a:rPr>
              <a:t> -&gt; 121</a:t>
            </a:r>
          </a:p>
          <a:p>
            <a:pPr marL="0" indent="0">
              <a:buFont typeface="System Font Regular"/>
              <a:buNone/>
            </a:pPr>
            <a:r>
              <a:rPr lang="en-US" sz="1200">
                <a:solidFill>
                  <a:srgbClr val="007B00"/>
                </a:solidFill>
              </a:rPr>
              <a:t>Bulbasaur -&gt; 1</a:t>
            </a:r>
          </a:p>
          <a:p>
            <a:pPr marL="0" indent="0">
              <a:buFont typeface="System Font Regular"/>
              <a:buNone/>
            </a:pPr>
            <a:r>
              <a:rPr lang="en-US" sz="1200" err="1">
                <a:solidFill>
                  <a:srgbClr val="007B00"/>
                </a:solidFill>
              </a:rPr>
              <a:t>Gyarados</a:t>
            </a:r>
            <a:r>
              <a:rPr lang="en-US" sz="1200">
                <a:solidFill>
                  <a:srgbClr val="007B00"/>
                </a:solidFill>
              </a:rPr>
              <a:t> -&gt; 130</a:t>
            </a:r>
          </a:p>
          <a:p>
            <a:pPr marL="0" indent="0">
              <a:buFont typeface="System Font Regular"/>
              <a:buNone/>
            </a:pPr>
            <a:r>
              <a:rPr lang="en-US" sz="1200" err="1">
                <a:solidFill>
                  <a:srgbClr val="007B00"/>
                </a:solidFill>
              </a:rPr>
              <a:t>Nidoqueen</a:t>
            </a:r>
            <a:r>
              <a:rPr lang="en-US" sz="1200">
                <a:solidFill>
                  <a:srgbClr val="007B00"/>
                </a:solidFill>
              </a:rPr>
              <a:t> -&gt; 31</a:t>
            </a:r>
          </a:p>
          <a:p>
            <a:pPr marL="0" indent="0">
              <a:buFont typeface="System Font Regular"/>
              <a:buNone/>
            </a:pPr>
            <a:r>
              <a:rPr lang="en-US" sz="1200" err="1">
                <a:solidFill>
                  <a:srgbClr val="007B00"/>
                </a:solidFill>
              </a:rPr>
              <a:t>Seel</a:t>
            </a:r>
            <a:r>
              <a:rPr lang="en-US" sz="1200">
                <a:solidFill>
                  <a:srgbClr val="007B00"/>
                </a:solidFill>
              </a:rPr>
              <a:t> -&gt; 86</a:t>
            </a:r>
          </a:p>
          <a:p>
            <a:pPr marL="0" indent="0">
              <a:buFont typeface="System Font Regular"/>
              <a:buNone/>
            </a:pPr>
            <a:r>
              <a:rPr lang="en-US" sz="1200">
                <a:solidFill>
                  <a:srgbClr val="007B00"/>
                </a:solidFill>
              </a:rPr>
              <a:t>Mew -&gt; 151</a:t>
            </a:r>
          </a:p>
          <a:p>
            <a:pPr marL="0" indent="0">
              <a:buFont typeface="System Font Regular"/>
              <a:buNone/>
            </a:pPr>
            <a:r>
              <a:rPr lang="en-US" sz="1200">
                <a:solidFill>
                  <a:srgbClr val="007B00"/>
                </a:solidFill>
              </a:rPr>
              <a:t>Alakazam -&gt; 65</a:t>
            </a:r>
          </a:p>
          <a:p>
            <a:pPr marL="0" indent="0">
              <a:buFont typeface="System Font Regular"/>
              <a:buNone/>
            </a:pPr>
            <a:r>
              <a:rPr lang="en-US" sz="1200" err="1">
                <a:solidFill>
                  <a:srgbClr val="007B00"/>
                </a:solidFill>
              </a:rPr>
              <a:t>Nidoking</a:t>
            </a:r>
            <a:r>
              <a:rPr lang="en-US" sz="1200">
                <a:solidFill>
                  <a:srgbClr val="007B00"/>
                </a:solidFill>
              </a:rPr>
              <a:t> -&gt; 34</a:t>
            </a:r>
          </a:p>
          <a:p>
            <a:pPr marL="0" indent="0">
              <a:buFont typeface="System Font Regular"/>
              <a:buNone/>
            </a:pPr>
            <a:r>
              <a:rPr lang="en-US" sz="1200" err="1">
                <a:solidFill>
                  <a:srgbClr val="007B00"/>
                </a:solidFill>
              </a:rPr>
              <a:t>Drowzee</a:t>
            </a:r>
            <a:r>
              <a:rPr lang="en-US" sz="1200">
                <a:solidFill>
                  <a:srgbClr val="007B00"/>
                </a:solidFill>
              </a:rPr>
              <a:t> -&gt; 96</a:t>
            </a:r>
          </a:p>
          <a:p>
            <a:pPr marL="0" indent="0">
              <a:buFont typeface="System Font Regular"/>
              <a:buNone/>
            </a:pPr>
            <a:r>
              <a:rPr lang="en-US" sz="1200" err="1">
                <a:solidFill>
                  <a:srgbClr val="007B00"/>
                </a:solidFill>
              </a:rPr>
              <a:t>Seaking</a:t>
            </a:r>
            <a:r>
              <a:rPr lang="en-US" sz="1200">
                <a:solidFill>
                  <a:srgbClr val="007B00"/>
                </a:solidFill>
              </a:rPr>
              <a:t> -&gt; 119</a:t>
            </a:r>
          </a:p>
          <a:p>
            <a:pPr marL="0" indent="0">
              <a:buFont typeface="System Font Regular"/>
              <a:buNone/>
            </a:pPr>
            <a:r>
              <a:rPr lang="en-US" sz="1200" err="1">
                <a:solidFill>
                  <a:srgbClr val="007B00"/>
                </a:solidFill>
              </a:rPr>
              <a:t>Rattata</a:t>
            </a:r>
            <a:r>
              <a:rPr lang="en-US" sz="1200">
                <a:solidFill>
                  <a:srgbClr val="007B00"/>
                </a:solidFill>
              </a:rPr>
              <a:t> -&gt; 19</a:t>
            </a:r>
          </a:p>
          <a:p>
            <a:pPr marL="0" indent="0">
              <a:buFont typeface="System Font Regular"/>
              <a:buNone/>
            </a:pPr>
            <a:r>
              <a:rPr lang="en-US" sz="1200" err="1">
                <a:solidFill>
                  <a:srgbClr val="007B00"/>
                </a:solidFill>
              </a:rPr>
              <a:t>Sandslash</a:t>
            </a:r>
            <a:r>
              <a:rPr lang="en-US" sz="1200">
                <a:solidFill>
                  <a:srgbClr val="007B00"/>
                </a:solidFill>
              </a:rPr>
              <a:t> -&gt; 28</a:t>
            </a:r>
          </a:p>
          <a:p>
            <a:pPr marL="0" indent="0">
              <a:buFont typeface="System Font Regular"/>
              <a:buNone/>
            </a:pPr>
            <a:r>
              <a:rPr lang="en-US" sz="1200" err="1">
                <a:solidFill>
                  <a:srgbClr val="007B00"/>
                </a:solidFill>
              </a:rPr>
              <a:t>Tentacool</a:t>
            </a:r>
            <a:r>
              <a:rPr lang="en-US" sz="1200">
                <a:solidFill>
                  <a:srgbClr val="007B00"/>
                </a:solidFill>
              </a:rPr>
              <a:t> -&gt; 72</a:t>
            </a:r>
          </a:p>
          <a:p>
            <a:pPr marL="0" indent="0">
              <a:buFont typeface="System Font Regular"/>
              <a:buNone/>
            </a:pPr>
            <a:r>
              <a:rPr lang="en-US" sz="1200" err="1">
                <a:solidFill>
                  <a:srgbClr val="007B00"/>
                </a:solidFill>
              </a:rPr>
              <a:t>Grimer</a:t>
            </a:r>
            <a:r>
              <a:rPr lang="en-US" sz="1200">
                <a:solidFill>
                  <a:srgbClr val="007B00"/>
                </a:solidFill>
              </a:rPr>
              <a:t> -&gt; 88</a:t>
            </a:r>
          </a:p>
          <a:p>
            <a:pPr marL="0" indent="0">
              <a:buFont typeface="System Font Regular"/>
              <a:buNone/>
            </a:pPr>
            <a:r>
              <a:rPr lang="en-US" sz="1200" err="1">
                <a:solidFill>
                  <a:srgbClr val="007B00"/>
                </a:solidFill>
              </a:rPr>
              <a:t>Ponyta</a:t>
            </a:r>
            <a:r>
              <a:rPr lang="en-US" sz="1200">
                <a:solidFill>
                  <a:srgbClr val="007B00"/>
                </a:solidFill>
              </a:rPr>
              <a:t> -&gt; 77</a:t>
            </a:r>
          </a:p>
          <a:p>
            <a:pPr marL="0" indent="0">
              <a:buFont typeface="System Font Regular"/>
              <a:buNone/>
            </a:pPr>
            <a:r>
              <a:rPr lang="en-US" sz="1200" err="1">
                <a:solidFill>
                  <a:srgbClr val="007B00"/>
                </a:solidFill>
              </a:rPr>
              <a:t>Exeggcute</a:t>
            </a:r>
            <a:r>
              <a:rPr lang="en-US" sz="1200">
                <a:solidFill>
                  <a:srgbClr val="007B00"/>
                </a:solidFill>
              </a:rPr>
              <a:t> -&gt; 102</a:t>
            </a:r>
          </a:p>
          <a:p>
            <a:pPr marL="0" indent="0">
              <a:buFont typeface="System Font Regular"/>
              <a:buNone/>
            </a:pPr>
            <a:r>
              <a:rPr lang="en-US" sz="1200">
                <a:solidFill>
                  <a:srgbClr val="007B00"/>
                </a:solidFill>
              </a:rPr>
              <a:t>Ditto -&gt; 132</a:t>
            </a:r>
          </a:p>
          <a:p>
            <a:pPr marL="0" indent="0">
              <a:buFont typeface="System Font Regular"/>
              <a:buNone/>
            </a:pPr>
            <a:r>
              <a:rPr lang="en-US" sz="1200" err="1">
                <a:solidFill>
                  <a:srgbClr val="007B00"/>
                </a:solidFill>
              </a:rPr>
              <a:t>Flareon</a:t>
            </a:r>
            <a:r>
              <a:rPr lang="en-US" sz="1200">
                <a:solidFill>
                  <a:srgbClr val="007B00"/>
                </a:solidFill>
              </a:rPr>
              <a:t> -&gt; 136</a:t>
            </a:r>
          </a:p>
          <a:p>
            <a:pPr marL="0" indent="0">
              <a:buFont typeface="System Font Regular"/>
              <a:buNone/>
            </a:pPr>
            <a:r>
              <a:rPr lang="en-US" sz="1200" err="1">
                <a:solidFill>
                  <a:srgbClr val="007B00"/>
                </a:solidFill>
              </a:rPr>
              <a:t>Growlithe</a:t>
            </a:r>
            <a:r>
              <a:rPr lang="en-US" sz="1200">
                <a:solidFill>
                  <a:srgbClr val="007B00"/>
                </a:solidFill>
              </a:rPr>
              <a:t> -&gt; 58</a:t>
            </a:r>
          </a:p>
          <a:p>
            <a:pPr marL="0" indent="0">
              <a:buFont typeface="System Font Regular"/>
              <a:buNone/>
            </a:pPr>
            <a:r>
              <a:rPr lang="en-US" sz="1200" err="1">
                <a:solidFill>
                  <a:srgbClr val="007B00"/>
                </a:solidFill>
              </a:rPr>
              <a:t>Beedrill</a:t>
            </a:r>
            <a:r>
              <a:rPr lang="en-US" sz="1200">
                <a:solidFill>
                  <a:srgbClr val="007B00"/>
                </a:solidFill>
              </a:rPr>
              <a:t> -&gt; 15</a:t>
            </a:r>
          </a:p>
          <a:p>
            <a:pPr marL="0" indent="0">
              <a:buFont typeface="System Font Regular"/>
              <a:buNone/>
            </a:pPr>
            <a:r>
              <a:rPr lang="en-US" sz="1200" err="1">
                <a:solidFill>
                  <a:srgbClr val="007B00"/>
                </a:solidFill>
              </a:rPr>
              <a:t>Nidorina</a:t>
            </a:r>
            <a:r>
              <a:rPr lang="en-US" sz="1200">
                <a:solidFill>
                  <a:srgbClr val="007B00"/>
                </a:solidFill>
              </a:rPr>
              <a:t> -&gt; 30</a:t>
            </a:r>
          </a:p>
          <a:p>
            <a:pPr marL="0" indent="0">
              <a:buFont typeface="System Font Regular"/>
              <a:buNone/>
            </a:pPr>
            <a:r>
              <a:rPr lang="en-US" sz="1200" err="1">
                <a:solidFill>
                  <a:srgbClr val="007B00"/>
                </a:solidFill>
              </a:rPr>
              <a:t>Ivysaur</a:t>
            </a:r>
            <a:r>
              <a:rPr lang="en-US" sz="1200">
                <a:solidFill>
                  <a:srgbClr val="007B00"/>
                </a:solidFill>
              </a:rPr>
              <a:t> -&gt; 2</a:t>
            </a:r>
          </a:p>
          <a:p>
            <a:pPr marL="0" indent="0">
              <a:buFont typeface="System Font Regular"/>
              <a:buNone/>
            </a:pPr>
            <a:r>
              <a:rPr lang="en-US" sz="1200" err="1">
                <a:solidFill>
                  <a:srgbClr val="007B00"/>
                </a:solidFill>
              </a:rPr>
              <a:t>Cloyster</a:t>
            </a:r>
            <a:r>
              <a:rPr lang="en-US" sz="1200">
                <a:solidFill>
                  <a:srgbClr val="007B00"/>
                </a:solidFill>
              </a:rPr>
              <a:t> -&gt; 91</a:t>
            </a:r>
          </a:p>
          <a:p>
            <a:pPr marL="0" indent="0">
              <a:buFont typeface="System Font Regular"/>
              <a:buNone/>
            </a:pPr>
            <a:r>
              <a:rPr lang="en-US" sz="1200" err="1">
                <a:solidFill>
                  <a:srgbClr val="007B00"/>
                </a:solidFill>
              </a:rPr>
              <a:t>Kingler</a:t>
            </a:r>
            <a:r>
              <a:rPr lang="en-US" sz="1200">
                <a:solidFill>
                  <a:srgbClr val="007B00"/>
                </a:solidFill>
              </a:rPr>
              <a:t> -&gt; 99</a:t>
            </a:r>
          </a:p>
          <a:p>
            <a:pPr marL="0" indent="0">
              <a:buFont typeface="System Font Regular"/>
              <a:buNone/>
            </a:pPr>
            <a:r>
              <a:rPr lang="en-US" sz="1200" err="1">
                <a:solidFill>
                  <a:srgbClr val="007B00"/>
                </a:solidFill>
              </a:rPr>
              <a:t>Nidorino</a:t>
            </a:r>
            <a:r>
              <a:rPr lang="en-US" sz="1200">
                <a:solidFill>
                  <a:srgbClr val="007B00"/>
                </a:solidFill>
              </a:rPr>
              <a:t> -&gt; 33</a:t>
            </a:r>
          </a:p>
          <a:p>
            <a:pPr marL="0" indent="0">
              <a:buFont typeface="System Font Regular"/>
              <a:buNone/>
            </a:pPr>
            <a:r>
              <a:rPr lang="en-US" sz="1200" err="1">
                <a:solidFill>
                  <a:srgbClr val="007B00"/>
                </a:solidFill>
              </a:rPr>
              <a:t>Scyther</a:t>
            </a:r>
            <a:r>
              <a:rPr lang="en-US" sz="1200">
                <a:solidFill>
                  <a:srgbClr val="007B00"/>
                </a:solidFill>
              </a:rPr>
              <a:t> -&gt; 123</a:t>
            </a:r>
          </a:p>
          <a:p>
            <a:pPr marL="0" indent="0">
              <a:buFont typeface="System Font Regular"/>
              <a:buNone/>
            </a:pPr>
            <a:r>
              <a:rPr lang="en-US" sz="1200" err="1">
                <a:solidFill>
                  <a:srgbClr val="007B00"/>
                </a:solidFill>
              </a:rPr>
              <a:t>Dratini</a:t>
            </a:r>
            <a:r>
              <a:rPr lang="en-US" sz="1200">
                <a:solidFill>
                  <a:srgbClr val="007B00"/>
                </a:solidFill>
              </a:rPr>
              <a:t> -&gt; 147</a:t>
            </a:r>
          </a:p>
          <a:p>
            <a:pPr marL="0" indent="0">
              <a:buFont typeface="System Font Regular"/>
              <a:buNone/>
            </a:pPr>
            <a:r>
              <a:rPr lang="en-US" sz="1200" err="1">
                <a:solidFill>
                  <a:srgbClr val="007B00"/>
                </a:solidFill>
              </a:rPr>
              <a:t>Spearow</a:t>
            </a:r>
            <a:r>
              <a:rPr lang="en-US" sz="1200">
                <a:solidFill>
                  <a:srgbClr val="007B00"/>
                </a:solidFill>
              </a:rPr>
              <a:t> -&gt; 21</a:t>
            </a:r>
          </a:p>
          <a:p>
            <a:pPr marL="0" indent="0">
              <a:buFont typeface="System Font Regular"/>
              <a:buNone/>
            </a:pPr>
            <a:r>
              <a:rPr lang="en-US" sz="1200">
                <a:solidFill>
                  <a:srgbClr val="007B00"/>
                </a:solidFill>
              </a:rPr>
              <a:t>Charizard -&gt; 6</a:t>
            </a:r>
          </a:p>
          <a:p>
            <a:pPr marL="0" indent="0">
              <a:buFont typeface="System Font Regular"/>
              <a:buNone/>
            </a:pPr>
            <a:r>
              <a:rPr lang="en-US" sz="1200" err="1">
                <a:solidFill>
                  <a:srgbClr val="007B00"/>
                </a:solidFill>
              </a:rPr>
              <a:t>Hitmonchan</a:t>
            </a:r>
            <a:r>
              <a:rPr lang="en-US" sz="1200">
                <a:solidFill>
                  <a:srgbClr val="007B00"/>
                </a:solidFill>
              </a:rPr>
              <a:t> -&gt; 107</a:t>
            </a:r>
          </a:p>
          <a:p>
            <a:pPr marL="0" indent="0">
              <a:buFont typeface="System Font Regular"/>
              <a:buNone/>
            </a:pPr>
            <a:r>
              <a:rPr lang="en-US" sz="1200">
                <a:solidFill>
                  <a:srgbClr val="007B00"/>
                </a:solidFill>
              </a:rPr>
              <a:t>Paras -&gt; 46</a:t>
            </a:r>
          </a:p>
          <a:p>
            <a:pPr marL="0" indent="0">
              <a:buFont typeface="System Font Regular"/>
              <a:buNone/>
            </a:pPr>
            <a:r>
              <a:rPr lang="en-US" sz="1200" err="1">
                <a:solidFill>
                  <a:srgbClr val="007B00"/>
                </a:solidFill>
              </a:rPr>
              <a:t>Aerodactyl</a:t>
            </a:r>
            <a:r>
              <a:rPr lang="en-US" sz="1200">
                <a:solidFill>
                  <a:srgbClr val="007B00"/>
                </a:solidFill>
              </a:rPr>
              <a:t> -&gt; 142</a:t>
            </a:r>
          </a:p>
          <a:p>
            <a:pPr marL="0" indent="0">
              <a:buFont typeface="System Font Regular"/>
              <a:buNone/>
            </a:pPr>
            <a:r>
              <a:rPr lang="en-US" sz="1200" err="1">
                <a:solidFill>
                  <a:srgbClr val="007B00"/>
                </a:solidFill>
              </a:rPr>
              <a:t>Parasect</a:t>
            </a:r>
            <a:r>
              <a:rPr lang="en-US" sz="1200">
                <a:solidFill>
                  <a:srgbClr val="007B00"/>
                </a:solidFill>
              </a:rPr>
              <a:t> -&gt; 47</a:t>
            </a:r>
          </a:p>
          <a:p>
            <a:pPr marL="0" indent="0">
              <a:buFont typeface="System Font Regular"/>
              <a:buNone/>
            </a:pPr>
            <a:r>
              <a:rPr lang="en-US" sz="1200" err="1">
                <a:solidFill>
                  <a:srgbClr val="007B00"/>
                </a:solidFill>
              </a:rPr>
              <a:t>Butterfree</a:t>
            </a:r>
            <a:r>
              <a:rPr lang="en-US" sz="1200">
                <a:solidFill>
                  <a:srgbClr val="007B00"/>
                </a:solidFill>
              </a:rPr>
              <a:t> -&gt; 12</a:t>
            </a:r>
          </a:p>
          <a:p>
            <a:pPr marL="0" indent="0">
              <a:buFont typeface="System Font Regular"/>
              <a:buNone/>
            </a:pPr>
            <a:r>
              <a:rPr lang="en-US" sz="1200" err="1">
                <a:solidFill>
                  <a:srgbClr val="007B00"/>
                </a:solidFill>
              </a:rPr>
              <a:t>Snorlax</a:t>
            </a:r>
            <a:r>
              <a:rPr lang="en-US" sz="1200">
                <a:solidFill>
                  <a:srgbClr val="007B00"/>
                </a:solidFill>
              </a:rPr>
              <a:t> -&gt; 143</a:t>
            </a:r>
          </a:p>
          <a:p>
            <a:pPr marL="0" indent="0">
              <a:buFont typeface="System Font Regular"/>
              <a:buNone/>
            </a:pPr>
            <a:r>
              <a:rPr lang="en-US" sz="1200" err="1">
                <a:solidFill>
                  <a:srgbClr val="007B00"/>
                </a:solidFill>
              </a:rPr>
              <a:t>Weepinbell</a:t>
            </a:r>
            <a:r>
              <a:rPr lang="en-US" sz="1200">
                <a:solidFill>
                  <a:srgbClr val="007B00"/>
                </a:solidFill>
              </a:rPr>
              <a:t> -&gt; 70</a:t>
            </a:r>
          </a:p>
          <a:p>
            <a:pPr marL="0" indent="0">
              <a:buFont typeface="System Font Regular"/>
              <a:buNone/>
            </a:pPr>
            <a:r>
              <a:rPr lang="en-US" sz="1200" err="1">
                <a:solidFill>
                  <a:srgbClr val="007B00"/>
                </a:solidFill>
              </a:rPr>
              <a:t>Zubat</a:t>
            </a:r>
            <a:r>
              <a:rPr lang="en-US" sz="1200">
                <a:solidFill>
                  <a:srgbClr val="007B00"/>
                </a:solidFill>
              </a:rPr>
              <a:t> -&gt; 41</a:t>
            </a:r>
          </a:p>
          <a:p>
            <a:pPr marL="0" indent="0">
              <a:buFont typeface="System Font Regular"/>
              <a:buNone/>
            </a:pPr>
            <a:r>
              <a:rPr lang="en-US" sz="1200" err="1">
                <a:solidFill>
                  <a:srgbClr val="007B00"/>
                </a:solidFill>
              </a:rPr>
              <a:t>Chansey</a:t>
            </a:r>
            <a:r>
              <a:rPr lang="en-US" sz="1200">
                <a:solidFill>
                  <a:srgbClr val="007B00"/>
                </a:solidFill>
              </a:rPr>
              <a:t> -&gt; 113</a:t>
            </a:r>
          </a:p>
          <a:p>
            <a:pPr marL="0" indent="0">
              <a:buFont typeface="System Font Regular"/>
              <a:buNone/>
            </a:pPr>
            <a:r>
              <a:rPr lang="en-US" sz="1200" err="1">
                <a:solidFill>
                  <a:srgbClr val="007B00"/>
                </a:solidFill>
              </a:rPr>
              <a:t>Lapras</a:t>
            </a:r>
            <a:r>
              <a:rPr lang="en-US" sz="1200">
                <a:solidFill>
                  <a:srgbClr val="007B00"/>
                </a:solidFill>
              </a:rPr>
              <a:t> -&gt; 131</a:t>
            </a:r>
          </a:p>
          <a:p>
            <a:pPr marL="0" indent="0">
              <a:buFont typeface="System Font Regular"/>
              <a:buNone/>
            </a:pPr>
            <a:r>
              <a:rPr lang="en-US" sz="1200" err="1">
                <a:solidFill>
                  <a:srgbClr val="007B00"/>
                </a:solidFill>
              </a:rPr>
              <a:t>Voltorb</a:t>
            </a:r>
            <a:r>
              <a:rPr lang="en-US" sz="1200">
                <a:solidFill>
                  <a:srgbClr val="007B00"/>
                </a:solidFill>
              </a:rPr>
              <a:t> -&gt; 100</a:t>
            </a:r>
          </a:p>
          <a:p>
            <a:pPr marL="0" indent="0">
              <a:buFont typeface="System Font Regular"/>
              <a:buNone/>
            </a:pPr>
            <a:r>
              <a:rPr lang="en-US" sz="1200" err="1">
                <a:solidFill>
                  <a:srgbClr val="007B00"/>
                </a:solidFill>
              </a:rPr>
              <a:t>Dragonair</a:t>
            </a:r>
            <a:r>
              <a:rPr lang="en-US" sz="1200">
                <a:solidFill>
                  <a:srgbClr val="007B00"/>
                </a:solidFill>
              </a:rPr>
              <a:t> -&gt; 148</a:t>
            </a:r>
          </a:p>
          <a:p>
            <a:pPr marL="0" indent="0">
              <a:buFont typeface="System Font Regular"/>
              <a:buNone/>
            </a:pPr>
            <a:r>
              <a:rPr lang="en-US" sz="1200" err="1">
                <a:solidFill>
                  <a:srgbClr val="007B00"/>
                </a:solidFill>
              </a:rPr>
              <a:t>Ninetales</a:t>
            </a:r>
            <a:r>
              <a:rPr lang="en-US" sz="1200">
                <a:solidFill>
                  <a:srgbClr val="007B00"/>
                </a:solidFill>
              </a:rPr>
              <a:t> -&gt; 38</a:t>
            </a:r>
          </a:p>
          <a:p>
            <a:pPr marL="0" indent="0">
              <a:buFont typeface="System Font Regular"/>
              <a:buNone/>
            </a:pPr>
            <a:r>
              <a:rPr lang="en-US" sz="1200" err="1">
                <a:solidFill>
                  <a:srgbClr val="007B00"/>
                </a:solidFill>
              </a:rPr>
              <a:t>Bellsprout</a:t>
            </a:r>
            <a:r>
              <a:rPr lang="en-US" sz="1200">
                <a:solidFill>
                  <a:srgbClr val="007B00"/>
                </a:solidFill>
              </a:rPr>
              <a:t> -&gt; 69</a:t>
            </a:r>
          </a:p>
          <a:p>
            <a:pPr marL="0" indent="0">
              <a:buFont typeface="System Font Regular"/>
              <a:buNone/>
            </a:pPr>
            <a:r>
              <a:rPr lang="en-US" sz="1200" err="1">
                <a:solidFill>
                  <a:srgbClr val="007B00"/>
                </a:solidFill>
              </a:rPr>
              <a:t>Rhyhorn</a:t>
            </a:r>
            <a:r>
              <a:rPr lang="en-US" sz="1200">
                <a:solidFill>
                  <a:srgbClr val="007B00"/>
                </a:solidFill>
              </a:rPr>
              <a:t> -&gt; 111</a:t>
            </a:r>
          </a:p>
          <a:p>
            <a:pPr marL="0" indent="0">
              <a:buFont typeface="System Font Regular"/>
              <a:buNone/>
            </a:pPr>
            <a:r>
              <a:rPr lang="en-US" sz="1200" err="1">
                <a:solidFill>
                  <a:srgbClr val="007B00"/>
                </a:solidFill>
              </a:rPr>
              <a:t>Porygon</a:t>
            </a:r>
            <a:r>
              <a:rPr lang="en-US" sz="1200">
                <a:solidFill>
                  <a:srgbClr val="007B00"/>
                </a:solidFill>
              </a:rPr>
              <a:t> -&gt; 137</a:t>
            </a:r>
          </a:p>
          <a:p>
            <a:pPr marL="0" indent="0">
              <a:buFont typeface="System Font Regular"/>
              <a:buNone/>
            </a:pPr>
            <a:r>
              <a:rPr lang="en-US" sz="1200" err="1">
                <a:solidFill>
                  <a:srgbClr val="007B00"/>
                </a:solidFill>
              </a:rPr>
              <a:t>Geodude</a:t>
            </a:r>
            <a:r>
              <a:rPr lang="en-US" sz="1200">
                <a:solidFill>
                  <a:srgbClr val="007B00"/>
                </a:solidFill>
              </a:rPr>
              <a:t> -&gt; 74</a:t>
            </a:r>
          </a:p>
          <a:p>
            <a:pPr marL="0" indent="0">
              <a:buFont typeface="System Font Regular"/>
              <a:buNone/>
            </a:pPr>
            <a:r>
              <a:rPr lang="en-US" sz="1200" err="1">
                <a:solidFill>
                  <a:srgbClr val="007B00"/>
                </a:solidFill>
              </a:rPr>
              <a:t>Pidgeot</a:t>
            </a:r>
            <a:r>
              <a:rPr lang="en-US" sz="1200">
                <a:solidFill>
                  <a:srgbClr val="007B00"/>
                </a:solidFill>
              </a:rPr>
              <a:t> -&gt; 18</a:t>
            </a:r>
          </a:p>
          <a:p>
            <a:pPr marL="0" indent="0">
              <a:buFont typeface="System Font Regular"/>
              <a:buNone/>
            </a:pPr>
            <a:r>
              <a:rPr lang="en-US" sz="1200" err="1">
                <a:solidFill>
                  <a:srgbClr val="007B00"/>
                </a:solidFill>
              </a:rPr>
              <a:t>Poliwag</a:t>
            </a:r>
            <a:r>
              <a:rPr lang="en-US" sz="1200">
                <a:solidFill>
                  <a:srgbClr val="007B00"/>
                </a:solidFill>
              </a:rPr>
              <a:t> -&gt; 60</a:t>
            </a:r>
          </a:p>
        </p:txBody>
      </p:sp>
    </p:spTree>
    <p:extLst>
      <p:ext uri="{BB962C8B-B14F-4D97-AF65-F5344CB8AC3E}">
        <p14:creationId xmlns:p14="http://schemas.microsoft.com/office/powerpoint/2010/main" val="1803411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0DB15D-1C34-2D0D-3592-E2BFDB9FE9BD}"/>
              </a:ext>
            </a:extLst>
          </p:cNvPr>
          <p:cNvSpPr>
            <a:spLocks noGrp="1"/>
          </p:cNvSpPr>
          <p:nvPr>
            <p:ph type="title"/>
          </p:nvPr>
        </p:nvSpPr>
        <p:spPr/>
        <p:txBody>
          <a:bodyPr/>
          <a:lstStyle/>
          <a:p>
            <a:r>
              <a:rPr lang="en-US" sz="3600" b="1"/>
              <a:t>reminder:</a:t>
            </a:r>
            <a:r>
              <a:rPr lang="en-US" sz="3600"/>
              <a:t> hash maps are NOT ordered</a:t>
            </a:r>
            <a:br>
              <a:rPr lang="en-US" sz="3600"/>
            </a:br>
            <a:r>
              <a:rPr lang="en-US" sz="2400"/>
              <a:t>(even though we put Pokemon into the hash map in order, the hash map did NOT store them in order)</a:t>
            </a:r>
            <a:endParaRPr lang="en-US" sz="3600"/>
          </a:p>
        </p:txBody>
      </p:sp>
    </p:spTree>
    <p:extLst>
      <p:ext uri="{BB962C8B-B14F-4D97-AF65-F5344CB8AC3E}">
        <p14:creationId xmlns:p14="http://schemas.microsoft.com/office/powerpoint/2010/main" val="40410001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F903D-252C-3234-995A-C798EE47CB7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86E25D3-1D91-7B35-825B-7DFB8C60FCFB}"/>
              </a:ext>
            </a:extLst>
          </p:cNvPr>
          <p:cNvSpPr>
            <a:spLocks noGrp="1"/>
          </p:cNvSpPr>
          <p:nvPr>
            <p:ph type="title"/>
          </p:nvPr>
        </p:nvSpPr>
        <p:spPr/>
        <p:txBody>
          <a:bodyPr/>
          <a:lstStyle/>
          <a:p>
            <a:r>
              <a:rPr lang="en-US"/>
              <a:t>maps in other languages</a:t>
            </a:r>
          </a:p>
        </p:txBody>
      </p:sp>
    </p:spTree>
    <p:extLst>
      <p:ext uri="{BB962C8B-B14F-4D97-AF65-F5344CB8AC3E}">
        <p14:creationId xmlns:p14="http://schemas.microsoft.com/office/powerpoint/2010/main" val="6815185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ADF6B-FA28-B7B0-AF77-965A188369C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51B880B-0088-3CB3-AC11-AEEDE77F0802}"/>
              </a:ext>
            </a:extLst>
          </p:cNvPr>
          <p:cNvSpPr>
            <a:spLocks noGrp="1"/>
          </p:cNvSpPr>
          <p:nvPr>
            <p:ph type="title"/>
          </p:nvPr>
        </p:nvSpPr>
        <p:spPr/>
        <p:txBody>
          <a:bodyPr/>
          <a:lstStyle/>
          <a:p>
            <a:r>
              <a:rPr lang="en-US">
                <a:effectLst/>
              </a:rPr>
              <a:t>🐍 Python has a built-in map (dictionary)</a:t>
            </a:r>
            <a:endParaRPr lang="en-US"/>
          </a:p>
        </p:txBody>
      </p:sp>
      <p:sp>
        <p:nvSpPr>
          <p:cNvPr id="8" name="TextBox 7">
            <a:extLst>
              <a:ext uri="{FF2B5EF4-FFF2-40B4-BE49-F238E27FC236}">
                <a16:creationId xmlns:a16="http://schemas.microsoft.com/office/drawing/2014/main" id="{CE2B645C-B9D8-B0B0-4FB6-65C73F7A4445}"/>
              </a:ext>
            </a:extLst>
          </p:cNvPr>
          <p:cNvSpPr txBox="1"/>
          <p:nvPr/>
        </p:nvSpPr>
        <p:spPr>
          <a:xfrm>
            <a:off x="457200" y="1039071"/>
            <a:ext cx="8229600" cy="1643527"/>
          </a:xfrm>
          <a:prstGeom prst="rect">
            <a:avLst/>
          </a:prstGeom>
          <a:solidFill>
            <a:schemeClr val="accent3">
              <a:lumMod val="20000"/>
              <a:lumOff val="80000"/>
            </a:schemeClr>
          </a:solidFill>
          <a:ln>
            <a:solidFill>
              <a:schemeClr val="tx1"/>
            </a:solidFill>
          </a:ln>
        </p:spPr>
        <p:txBody>
          <a:bodyPr wrap="square" rtlCol="0">
            <a:spAutoFit/>
          </a:bodyPr>
          <a:lstStyle/>
          <a:p>
            <a:pPr lvl="0" defTabSz="342886">
              <a:spcBef>
                <a:spcPct val="20000"/>
              </a:spcBef>
              <a:buClr>
                <a:srgbClr val="FFFFFF">
                  <a:lumMod val="65000"/>
                </a:srgbClr>
              </a:buClr>
            </a:pPr>
            <a:r>
              <a:rPr lang="en-US" err="1">
                <a:solidFill>
                  <a:srgbClr val="000000"/>
                </a:solidFill>
                <a:latin typeface="Consolas" panose="020B0609020204030204" pitchFamily="49" charset="0"/>
                <a:ea typeface="Segoe UI Emoji" panose="020B0502040204020203" pitchFamily="34" charset="0"/>
                <a:cs typeface="Consolas" panose="020B0609020204030204" pitchFamily="49" charset="0"/>
              </a:rPr>
              <a:t>numbers</a:t>
            </a:r>
            <a:r>
              <a:rPr lang="en-US">
                <a:solidFill>
                  <a:srgbClr val="000000"/>
                </a:solidFill>
                <a:latin typeface="Consolas" panose="020B0609020204030204" pitchFamily="49" charset="0"/>
                <a:ea typeface="Segoe UI Emoji" panose="020B0502040204020203" pitchFamily="34" charset="0"/>
                <a:cs typeface="Consolas" panose="020B0609020204030204" pitchFamily="49" charset="0"/>
              </a:rPr>
              <a:t> = {}</a:t>
            </a:r>
          </a:p>
          <a:p>
            <a:pPr lvl="0" defTabSz="342886">
              <a:spcBef>
                <a:spcPct val="20000"/>
              </a:spcBef>
              <a:buClr>
                <a:srgbClr val="FFFFFF">
                  <a:lumMod val="65000"/>
                </a:srgbClr>
              </a:buClr>
            </a:pPr>
            <a:r>
              <a:rPr lang="en-US" err="1">
                <a:solidFill>
                  <a:srgbClr val="000000"/>
                </a:solidFill>
                <a:latin typeface="Consolas" panose="020B0609020204030204" pitchFamily="49" charset="0"/>
                <a:ea typeface="Segoe UI Emoji" panose="020B0502040204020203" pitchFamily="34" charset="0"/>
                <a:cs typeface="Consolas" panose="020B0609020204030204" pitchFamily="49" charset="0"/>
              </a:rPr>
              <a:t>numbers</a:t>
            </a:r>
            <a:r>
              <a:rPr lang="en-US">
                <a:solidFill>
                  <a:srgbClr val="000000"/>
                </a:solidFill>
                <a:latin typeface="Consolas" panose="020B0609020204030204" pitchFamily="49" charset="0"/>
                <a:ea typeface="Segoe UI Emoji" panose="020B0502040204020203" pitchFamily="34" charset="0"/>
                <a:cs typeface="Consolas" panose="020B0609020204030204" pitchFamily="49" charset="0"/>
              </a:rPr>
              <a:t>[</a:t>
            </a:r>
            <a:r>
              <a:rPr lang="en-US">
                <a:solidFill>
                  <a:srgbClr val="B60E0E"/>
                </a:solidFill>
                <a:latin typeface="Consolas" panose="020B0609020204030204" pitchFamily="49" charset="0"/>
                <a:ea typeface="Segoe UI Emoji" panose="020B0502040204020203" pitchFamily="34" charset="0"/>
                <a:cs typeface="Consolas" panose="020B0609020204030204" pitchFamily="49" charset="0"/>
              </a:rPr>
              <a:t>"Bulbasaur"</a:t>
            </a:r>
            <a:r>
              <a:rPr lang="en-US">
                <a:solidFill>
                  <a:srgbClr val="000000"/>
                </a:solidFill>
                <a:latin typeface="Consolas" panose="020B0609020204030204" pitchFamily="49" charset="0"/>
                <a:ea typeface="Segoe UI Emoji" panose="020B0502040204020203" pitchFamily="34" charset="0"/>
                <a:cs typeface="Consolas" panose="020B0609020204030204" pitchFamily="49" charset="0"/>
              </a:rPr>
              <a:t>] = </a:t>
            </a:r>
            <a:r>
              <a:rPr lang="en-US">
                <a:solidFill>
                  <a:srgbClr val="0CB5B5"/>
                </a:solidFill>
                <a:latin typeface="Consolas" panose="020B0609020204030204" pitchFamily="49" charset="0"/>
                <a:ea typeface="Segoe UI Emoji" panose="020B0502040204020203" pitchFamily="34" charset="0"/>
                <a:cs typeface="Consolas" panose="020B0609020204030204" pitchFamily="49" charset="0"/>
              </a:rPr>
              <a:t>1</a:t>
            </a:r>
          </a:p>
          <a:p>
            <a:pPr defTabSz="342886">
              <a:spcBef>
                <a:spcPct val="20000"/>
              </a:spcBef>
              <a:buClr>
                <a:srgbClr val="FFFFFF">
                  <a:lumMod val="65000"/>
                </a:srgbClr>
              </a:buClr>
            </a:pPr>
            <a:r>
              <a:rPr lang="en-US" err="1">
                <a:solidFill>
                  <a:srgbClr val="000000"/>
                </a:solidFill>
                <a:latin typeface="Consolas" panose="020B0609020204030204" pitchFamily="49" charset="0"/>
                <a:ea typeface="Segoe UI Emoji" panose="020B0502040204020203" pitchFamily="34" charset="0"/>
                <a:cs typeface="Consolas" panose="020B0609020204030204" pitchFamily="49" charset="0"/>
              </a:rPr>
              <a:t>numbers</a:t>
            </a:r>
            <a:r>
              <a:rPr lang="en-US">
                <a:solidFill>
                  <a:srgbClr val="000000"/>
                </a:solidFill>
                <a:latin typeface="Consolas" panose="020B0609020204030204" pitchFamily="49" charset="0"/>
                <a:ea typeface="Segoe UI Emoji" panose="020B0502040204020203" pitchFamily="34" charset="0"/>
                <a:cs typeface="Consolas" panose="020B0609020204030204" pitchFamily="49" charset="0"/>
              </a:rPr>
              <a:t>[</a:t>
            </a:r>
            <a:r>
              <a:rPr lang="en-US">
                <a:solidFill>
                  <a:srgbClr val="B60E0E"/>
                </a:solidFill>
                <a:latin typeface="Consolas" panose="020B0609020204030204" pitchFamily="49" charset="0"/>
                <a:ea typeface="Segoe UI Emoji" panose="020B0502040204020203" pitchFamily="34" charset="0"/>
                <a:cs typeface="Consolas" panose="020B0609020204030204" pitchFamily="49" charset="0"/>
              </a:rPr>
              <a:t>"</a:t>
            </a:r>
            <a:r>
              <a:rPr lang="en-US" err="1">
                <a:solidFill>
                  <a:srgbClr val="B60E0E"/>
                </a:solidFill>
                <a:latin typeface="Consolas" panose="020B0609020204030204" pitchFamily="49" charset="0"/>
                <a:ea typeface="Segoe UI Emoji" panose="020B0502040204020203" pitchFamily="34" charset="0"/>
                <a:cs typeface="Consolas" panose="020B0609020204030204" pitchFamily="49" charset="0"/>
              </a:rPr>
              <a:t>Ivysaur"</a:t>
            </a:r>
            <a:r>
              <a:rPr lang="en-US">
                <a:solidFill>
                  <a:srgbClr val="000000"/>
                </a:solidFill>
                <a:latin typeface="Consolas" panose="020B0609020204030204" pitchFamily="49" charset="0"/>
                <a:ea typeface="Segoe UI Emoji" panose="020B0502040204020203" pitchFamily="34" charset="0"/>
                <a:cs typeface="Consolas" panose="020B0609020204030204" pitchFamily="49" charset="0"/>
              </a:rPr>
              <a:t>] = </a:t>
            </a:r>
            <a:r>
              <a:rPr lang="en-US">
                <a:solidFill>
                  <a:srgbClr val="0CB5B5"/>
                </a:solidFill>
                <a:latin typeface="Consolas" panose="020B0609020204030204" pitchFamily="49" charset="0"/>
                <a:ea typeface="Segoe UI Emoji" panose="020B0502040204020203" pitchFamily="34" charset="0"/>
                <a:cs typeface="Consolas" panose="020B0609020204030204" pitchFamily="49" charset="0"/>
              </a:rPr>
              <a:t>2</a:t>
            </a:r>
            <a:endParaRPr lang="en-US">
              <a:solidFill>
                <a:schemeClr val="accent2">
                  <a:lumMod val="75000"/>
                </a:schemeClr>
              </a:solidFill>
              <a:latin typeface="Consolas" panose="020B0609020204030204" pitchFamily="49" charset="0"/>
              <a:ea typeface="Segoe UI Emoji" panose="020B0502040204020203" pitchFamily="34" charset="0"/>
              <a:cs typeface="Consolas" panose="020B0609020204030204" pitchFamily="49" charset="0"/>
            </a:endParaRPr>
          </a:p>
          <a:p>
            <a:pPr lvl="0" defTabSz="342886">
              <a:spcBef>
                <a:spcPct val="20000"/>
              </a:spcBef>
              <a:buClr>
                <a:srgbClr val="FFFFFF">
                  <a:lumMod val="65000"/>
                </a:srgbClr>
              </a:buClr>
            </a:pPr>
            <a:r>
              <a:rPr lang="en-US">
                <a:solidFill>
                  <a:schemeClr val="accent2">
                    <a:lumMod val="75000"/>
                  </a:schemeClr>
                </a:solidFill>
                <a:latin typeface="Consolas" panose="020B0609020204030204" pitchFamily="49" charset="0"/>
                <a:ea typeface="Segoe UI Emoji" panose="020B0502040204020203" pitchFamily="34" charset="0"/>
                <a:cs typeface="Consolas" panose="020B0609020204030204" pitchFamily="49" charset="0"/>
              </a:rPr>
              <a:t>print</a:t>
            </a:r>
            <a:r>
              <a:rPr lang="en-US">
                <a:solidFill>
                  <a:srgbClr val="000000"/>
                </a:solidFill>
                <a:latin typeface="Consolas" panose="020B0609020204030204" pitchFamily="49" charset="0"/>
                <a:ea typeface="Segoe UI Emoji" panose="020B0502040204020203" pitchFamily="34" charset="0"/>
                <a:cs typeface="Consolas" panose="020B0609020204030204" pitchFamily="49" charset="0"/>
              </a:rPr>
              <a:t>(</a:t>
            </a:r>
            <a:r>
              <a:rPr lang="en-US" err="1">
                <a:solidFill>
                  <a:srgbClr val="000000"/>
                </a:solidFill>
                <a:latin typeface="Consolas" panose="020B0609020204030204" pitchFamily="49" charset="0"/>
                <a:ea typeface="Segoe UI Emoji" panose="020B0502040204020203" pitchFamily="34" charset="0"/>
                <a:cs typeface="Consolas" panose="020B0609020204030204" pitchFamily="49" charset="0"/>
              </a:rPr>
              <a:t>numbers</a:t>
            </a:r>
            <a:r>
              <a:rPr lang="en-US">
                <a:solidFill>
                  <a:srgbClr val="000000"/>
                </a:solidFill>
                <a:latin typeface="Consolas" panose="020B0609020204030204" pitchFamily="49" charset="0"/>
                <a:ea typeface="Segoe UI Emoji" panose="020B0502040204020203" pitchFamily="34" charset="0"/>
                <a:cs typeface="Consolas" panose="020B0609020204030204" pitchFamily="49" charset="0"/>
              </a:rPr>
              <a:t>[</a:t>
            </a:r>
            <a:r>
              <a:rPr lang="en-US">
                <a:solidFill>
                  <a:srgbClr val="B60E0E"/>
                </a:solidFill>
                <a:latin typeface="Consolas" panose="020B0609020204030204" pitchFamily="49" charset="0"/>
                <a:ea typeface="Segoe UI Emoji" panose="020B0502040204020203" pitchFamily="34" charset="0"/>
                <a:cs typeface="Consolas" panose="020B0609020204030204" pitchFamily="49" charset="0"/>
              </a:rPr>
              <a:t>"Bulbasaur"</a:t>
            </a:r>
            <a:r>
              <a:rPr lang="en-US">
                <a:solidFill>
                  <a:srgbClr val="000000"/>
                </a:solidFill>
                <a:latin typeface="Consolas" panose="020B0609020204030204" pitchFamily="49" charset="0"/>
                <a:ea typeface="Segoe UI Emoji" panose="020B0502040204020203" pitchFamily="34" charset="0"/>
                <a:cs typeface="Consolas" panose="020B0609020204030204" pitchFamily="49" charset="0"/>
              </a:rPr>
              <a:t>]) </a:t>
            </a:r>
            <a:r>
              <a:rPr lang="en-US">
                <a:solidFill>
                  <a:srgbClr val="007B00"/>
                </a:solidFill>
                <a:latin typeface="Consolas" panose="020B0609020204030204" pitchFamily="49" charset="0"/>
                <a:ea typeface="Segoe UI Emoji" panose="020B0502040204020203" pitchFamily="34" charset="0"/>
                <a:cs typeface="Consolas" panose="020B0609020204030204" pitchFamily="49" charset="0"/>
              </a:rPr>
              <a:t># 1</a:t>
            </a:r>
          </a:p>
          <a:p>
            <a:r>
              <a:rPr lang="en-US">
                <a:solidFill>
                  <a:schemeClr val="accent2">
                    <a:lumMod val="75000"/>
                  </a:schemeClr>
                </a:solidFill>
                <a:latin typeface="Consolas" panose="020B0609020204030204" pitchFamily="49" charset="0"/>
                <a:ea typeface="Segoe UI Emoji" panose="020B0502040204020203" pitchFamily="34" charset="0"/>
                <a:cs typeface="Consolas" panose="020B0609020204030204" pitchFamily="49" charset="0"/>
              </a:rPr>
              <a:t>print</a:t>
            </a:r>
            <a:r>
              <a:rPr lang="en-US">
                <a:solidFill>
                  <a:srgbClr val="000000"/>
                </a:solidFill>
                <a:latin typeface="Consolas" panose="020B0609020204030204" pitchFamily="49" charset="0"/>
                <a:ea typeface="Segoe UI Emoji" panose="020B0502040204020203" pitchFamily="34" charset="0"/>
                <a:cs typeface="Consolas" panose="020B0609020204030204" pitchFamily="49" charset="0"/>
              </a:rPr>
              <a:t>(</a:t>
            </a:r>
            <a:r>
              <a:rPr lang="en-US" err="1">
                <a:solidFill>
                  <a:srgbClr val="000000"/>
                </a:solidFill>
                <a:latin typeface="Consolas" panose="020B0609020204030204" pitchFamily="49" charset="0"/>
                <a:ea typeface="Segoe UI Emoji" panose="020B0502040204020203" pitchFamily="34" charset="0"/>
                <a:cs typeface="Consolas" panose="020B0609020204030204" pitchFamily="49" charset="0"/>
              </a:rPr>
              <a:t>numbers</a:t>
            </a:r>
            <a:r>
              <a:rPr lang="en-US">
                <a:solidFill>
                  <a:srgbClr val="000000"/>
                </a:solidFill>
                <a:latin typeface="Consolas" panose="020B0609020204030204" pitchFamily="49" charset="0"/>
                <a:ea typeface="Segoe UI Emoji" panose="020B0502040204020203" pitchFamily="34" charset="0"/>
                <a:cs typeface="Consolas" panose="020B0609020204030204" pitchFamily="49" charset="0"/>
              </a:rPr>
              <a:t>) </a:t>
            </a:r>
            <a:r>
              <a:rPr lang="en-US">
                <a:solidFill>
                  <a:srgbClr val="007B00"/>
                </a:solidFill>
                <a:latin typeface="Consolas" panose="020B0609020204030204" pitchFamily="49" charset="0"/>
                <a:ea typeface="Segoe UI Emoji" panose="020B0502040204020203" pitchFamily="34" charset="0"/>
                <a:cs typeface="Consolas" panose="020B0609020204030204" pitchFamily="49" charset="0"/>
              </a:rPr>
              <a:t># </a:t>
            </a:r>
            <a:r>
              <a:rPr lang="en-US">
                <a:solidFill>
                  <a:srgbClr val="007B00"/>
                </a:solidFill>
                <a:latin typeface="Consolas" panose="020B0609020204030204" pitchFamily="49" charset="0"/>
                <a:cs typeface="Consolas" panose="020B0609020204030204" pitchFamily="49" charset="0"/>
              </a:rPr>
              <a:t>{"Bulbasaur": 1, "</a:t>
            </a:r>
            <a:r>
              <a:rPr lang="en-US" err="1">
                <a:solidFill>
                  <a:srgbClr val="007B00"/>
                </a:solidFill>
                <a:latin typeface="Consolas" panose="020B0609020204030204" pitchFamily="49" charset="0"/>
                <a:cs typeface="Consolas" panose="020B0609020204030204" pitchFamily="49" charset="0"/>
              </a:rPr>
              <a:t>Ivysaur"</a:t>
            </a:r>
            <a:r>
              <a:rPr lang="en-US">
                <a:solidFill>
                  <a:srgbClr val="007B00"/>
                </a:solidFill>
                <a:latin typeface="Consolas" panose="020B0609020204030204" pitchFamily="49" charset="0"/>
                <a:cs typeface="Consolas" panose="020B0609020204030204" pitchFamily="49" charset="0"/>
              </a:rPr>
              <a:t>: 2}</a:t>
            </a:r>
          </a:p>
        </p:txBody>
      </p:sp>
      <p:sp>
        <p:nvSpPr>
          <p:cNvPr id="2" name="TextBox 1">
            <a:extLst>
              <a:ext uri="{FF2B5EF4-FFF2-40B4-BE49-F238E27FC236}">
                <a16:creationId xmlns:a16="http://schemas.microsoft.com/office/drawing/2014/main" id="{C903C341-BF82-F95C-3FAC-4D71ACDE0313}"/>
              </a:ext>
            </a:extLst>
          </p:cNvPr>
          <p:cNvSpPr txBox="1"/>
          <p:nvPr/>
        </p:nvSpPr>
        <p:spPr>
          <a:xfrm>
            <a:off x="457200" y="2857259"/>
            <a:ext cx="8229600" cy="1975926"/>
          </a:xfrm>
          <a:prstGeom prst="rect">
            <a:avLst/>
          </a:prstGeom>
          <a:solidFill>
            <a:schemeClr val="accent3">
              <a:lumMod val="20000"/>
              <a:lumOff val="80000"/>
            </a:schemeClr>
          </a:solid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7B00"/>
                </a:solidFill>
                <a:latin typeface="Consolas" panose="020B0609020204030204" pitchFamily="49" charset="0"/>
                <a:ea typeface="Segoe UI Emoji" panose="020B0502040204020203" pitchFamily="34" charset="0"/>
                <a:cs typeface="Consolas" panose="020B0609020204030204" pitchFamily="49" charset="0"/>
              </a:rPr>
              <a:t># hmm...</a:t>
            </a:r>
          </a:p>
          <a:p>
            <a:pPr lvl="0" defTabSz="342886">
              <a:spcBef>
                <a:spcPct val="20000"/>
              </a:spcBef>
              <a:buClr>
                <a:srgbClr val="FFFFFF">
                  <a:lumMod val="65000"/>
                </a:srgbClr>
              </a:buClr>
            </a:pPr>
            <a:r>
              <a:rPr lang="en-US">
                <a:solidFill>
                  <a:srgbClr val="000000"/>
                </a:solidFill>
                <a:latin typeface="Consolas" panose="020B0609020204030204" pitchFamily="49" charset="0"/>
                <a:ea typeface="Segoe UI Emoji" panose="020B0502040204020203" pitchFamily="34" charset="0"/>
                <a:cs typeface="Consolas" panose="020B0609020204030204" pitchFamily="49" charset="0"/>
              </a:rPr>
              <a:t>map = {}</a:t>
            </a:r>
          </a:p>
          <a:p>
            <a:pPr lvl="0" defTabSz="342886">
              <a:spcBef>
                <a:spcPct val="20000"/>
              </a:spcBef>
              <a:buClr>
                <a:srgbClr val="FFFFFF">
                  <a:lumMod val="65000"/>
                </a:srgbClr>
              </a:buClr>
            </a:pPr>
            <a:r>
              <a:rPr lang="en-US">
                <a:solidFill>
                  <a:srgbClr val="000000"/>
                </a:solidFill>
                <a:latin typeface="Consolas" panose="020B0609020204030204" pitchFamily="49" charset="0"/>
                <a:ea typeface="Segoe UI Emoji" panose="020B0502040204020203" pitchFamily="34" charset="0"/>
                <a:cs typeface="Consolas" panose="020B0609020204030204" pitchFamily="49" charset="0"/>
              </a:rPr>
              <a:t>map[</a:t>
            </a:r>
            <a:r>
              <a:rPr lang="en-US">
                <a:solidFill>
                  <a:srgbClr val="0000FF"/>
                </a:solidFill>
                <a:latin typeface="Consolas" panose="020B0609020204030204" pitchFamily="49" charset="0"/>
                <a:ea typeface="Segoe UI Emoji" panose="020B0502040204020203" pitchFamily="34" charset="0"/>
                <a:cs typeface="Consolas" panose="020B0609020204030204" pitchFamily="49" charset="0"/>
              </a:rPr>
              <a:t>True</a:t>
            </a:r>
            <a:r>
              <a:rPr lang="en-US">
                <a:solidFill>
                  <a:srgbClr val="000000"/>
                </a:solidFill>
                <a:latin typeface="Consolas" panose="020B0609020204030204" pitchFamily="49" charset="0"/>
                <a:ea typeface="Segoe UI Emoji" panose="020B0502040204020203" pitchFamily="34" charset="0"/>
                <a:cs typeface="Consolas" panose="020B0609020204030204" pitchFamily="49" charset="0"/>
              </a:rPr>
              <a:t>] = </a:t>
            </a:r>
            <a:r>
              <a:rPr lang="en-US">
                <a:solidFill>
                  <a:srgbClr val="0000FF"/>
                </a:solidFill>
                <a:latin typeface="Consolas" panose="020B0609020204030204" pitchFamily="49" charset="0"/>
                <a:ea typeface="Segoe UI Emoji" panose="020B0502040204020203" pitchFamily="34" charset="0"/>
                <a:cs typeface="Consolas" panose="020B0609020204030204" pitchFamily="49" charset="0"/>
              </a:rPr>
              <a:t>False</a:t>
            </a:r>
          </a:p>
          <a:p>
            <a:pPr lvl="0" defTabSz="342886">
              <a:spcBef>
                <a:spcPct val="20000"/>
              </a:spcBef>
              <a:buClr>
                <a:srgbClr val="FFFFFF">
                  <a:lumMod val="65000"/>
                </a:srgbClr>
              </a:buClr>
            </a:pPr>
            <a:r>
              <a:rPr lang="en-US">
                <a:solidFill>
                  <a:srgbClr val="000000"/>
                </a:solidFill>
                <a:latin typeface="Consolas" panose="020B0609020204030204" pitchFamily="49" charset="0"/>
                <a:ea typeface="Segoe UI Emoji" panose="020B0502040204020203" pitchFamily="34" charset="0"/>
                <a:cs typeface="Consolas" panose="020B0609020204030204" pitchFamily="49" charset="0"/>
              </a:rPr>
              <a:t>map[</a:t>
            </a:r>
            <a:r>
              <a:rPr lang="en-US">
                <a:solidFill>
                  <a:srgbClr val="B60E0E"/>
                </a:solidFill>
                <a:latin typeface="Consolas" panose="020B0609020204030204" pitchFamily="49" charset="0"/>
                <a:ea typeface="Segoe UI Emoji" panose="020B0502040204020203" pitchFamily="34" charset="0"/>
                <a:cs typeface="Consolas" panose="020B0609020204030204" pitchFamily="49" charset="0"/>
              </a:rPr>
              <a:t>'Jim'</a:t>
            </a:r>
            <a:r>
              <a:rPr lang="en-US">
                <a:solidFill>
                  <a:srgbClr val="000000"/>
                </a:solidFill>
                <a:latin typeface="Consolas" panose="020B0609020204030204" pitchFamily="49" charset="0"/>
                <a:ea typeface="Segoe UI Emoji" panose="020B0502040204020203" pitchFamily="34" charset="0"/>
                <a:cs typeface="Consolas" panose="020B0609020204030204" pitchFamily="49" charset="0"/>
              </a:rPr>
              <a:t>] = 3</a:t>
            </a:r>
          </a:p>
          <a:p>
            <a:pPr lvl="0" defTabSz="342886">
              <a:spcBef>
                <a:spcPct val="20000"/>
              </a:spcBef>
              <a:buClr>
                <a:srgbClr val="FFFFFF">
                  <a:lumMod val="65000"/>
                </a:srgbClr>
              </a:buClr>
            </a:pPr>
            <a:r>
              <a:rPr lang="en-US">
                <a:solidFill>
                  <a:srgbClr val="000000"/>
                </a:solidFill>
                <a:latin typeface="Consolas" panose="020B0609020204030204" pitchFamily="49" charset="0"/>
                <a:ea typeface="Segoe UI Emoji" panose="020B0502040204020203" pitchFamily="34" charset="0"/>
                <a:cs typeface="Consolas" panose="020B0609020204030204" pitchFamily="49" charset="0"/>
              </a:rPr>
              <a:t>map[-</a:t>
            </a:r>
            <a:r>
              <a:rPr lang="en-US">
                <a:solidFill>
                  <a:srgbClr val="0CB5B5"/>
                </a:solidFill>
                <a:latin typeface="Consolas" panose="020B0609020204030204" pitchFamily="49" charset="0"/>
                <a:ea typeface="Segoe UI Emoji" panose="020B0502040204020203" pitchFamily="34" charset="0"/>
                <a:cs typeface="Consolas" panose="020B0609020204030204" pitchFamily="49" charset="0"/>
              </a:rPr>
              <a:t>1</a:t>
            </a:r>
            <a:r>
              <a:rPr lang="en-US">
                <a:solidFill>
                  <a:srgbClr val="000000"/>
                </a:solidFill>
                <a:latin typeface="Consolas" panose="020B0609020204030204" pitchFamily="49" charset="0"/>
                <a:ea typeface="Segoe UI Emoji" panose="020B0502040204020203" pitchFamily="34" charset="0"/>
                <a:cs typeface="Consolas" panose="020B0609020204030204" pitchFamily="49" charset="0"/>
              </a:rPr>
              <a:t>] = map</a:t>
            </a:r>
          </a:p>
          <a:p>
            <a:r>
              <a:rPr lang="en-US">
                <a:solidFill>
                  <a:schemeClr val="accent2">
                    <a:lumMod val="75000"/>
                  </a:schemeClr>
                </a:solidFill>
                <a:latin typeface="Consolas" panose="020B0609020204030204" pitchFamily="49" charset="0"/>
                <a:ea typeface="Segoe UI Emoji" panose="020B0502040204020203" pitchFamily="34" charset="0"/>
                <a:cs typeface="Consolas" panose="020B0609020204030204" pitchFamily="49" charset="0"/>
              </a:rPr>
              <a:t>print</a:t>
            </a:r>
            <a:r>
              <a:rPr lang="en-US">
                <a:solidFill>
                  <a:srgbClr val="000000"/>
                </a:solidFill>
                <a:latin typeface="Consolas" panose="020B0609020204030204" pitchFamily="49" charset="0"/>
                <a:ea typeface="Segoe UI Emoji" panose="020B0502040204020203" pitchFamily="34" charset="0"/>
                <a:cs typeface="Consolas" panose="020B0609020204030204" pitchFamily="49" charset="0"/>
              </a:rPr>
              <a:t>(map) </a:t>
            </a:r>
            <a:r>
              <a:rPr lang="en-US">
                <a:solidFill>
                  <a:srgbClr val="007B00"/>
                </a:solidFill>
                <a:latin typeface="Consolas" panose="020B0609020204030204" pitchFamily="49" charset="0"/>
                <a:ea typeface="Segoe UI Emoji" panose="020B0502040204020203" pitchFamily="34" charset="0"/>
                <a:cs typeface="Consolas" panose="020B0609020204030204" pitchFamily="49" charset="0"/>
              </a:rPr>
              <a:t># </a:t>
            </a:r>
            <a:r>
              <a:rPr lang="en-US">
                <a:solidFill>
                  <a:srgbClr val="007B00"/>
                </a:solidFill>
                <a:latin typeface="Consolas" panose="020B0609020204030204" pitchFamily="49" charset="0"/>
                <a:cs typeface="Consolas" panose="020B0609020204030204" pitchFamily="49" charset="0"/>
              </a:rPr>
              <a:t>{True: False, 'Jim': 3, -1: {...}}</a:t>
            </a:r>
          </a:p>
        </p:txBody>
      </p:sp>
    </p:spTree>
    <p:extLst>
      <p:ext uri="{BB962C8B-B14F-4D97-AF65-F5344CB8AC3E}">
        <p14:creationId xmlns:p14="http://schemas.microsoft.com/office/powerpoint/2010/main" val="3366587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1D907-CC99-F017-133C-8E7A09E1D74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56A870-2FF1-FA27-52DE-25827EB2D6D4}"/>
              </a:ext>
            </a:extLst>
          </p:cNvPr>
          <p:cNvSpPr>
            <a:spLocks noGrp="1"/>
          </p:cNvSpPr>
          <p:nvPr>
            <p:ph type="title"/>
          </p:nvPr>
        </p:nvSpPr>
        <p:spPr/>
        <p:txBody>
          <a:bodyPr/>
          <a:lstStyle/>
          <a:p>
            <a:r>
              <a:rPr lang="en-US">
                <a:effectLst/>
              </a:rPr>
              <a:t>🥰 Lua's </a:t>
            </a:r>
            <a:r>
              <a:rPr lang="en-US" i="1">
                <a:effectLst/>
              </a:rPr>
              <a:t>only</a:t>
            </a:r>
            <a:r>
              <a:rPr lang="en-US">
                <a:effectLst/>
              </a:rPr>
              <a:t> data structure is a map (table)</a:t>
            </a:r>
            <a:endParaRPr lang="en-US"/>
          </a:p>
        </p:txBody>
      </p:sp>
      <p:sp>
        <p:nvSpPr>
          <p:cNvPr id="2" name="Content Placeholder 1">
            <a:extLst>
              <a:ext uri="{FF2B5EF4-FFF2-40B4-BE49-F238E27FC236}">
                <a16:creationId xmlns:a16="http://schemas.microsoft.com/office/drawing/2014/main" id="{296EECB9-FE88-9883-96EA-4572E0C7C976}"/>
              </a:ext>
            </a:extLst>
          </p:cNvPr>
          <p:cNvSpPr>
            <a:spLocks noGrp="1"/>
          </p:cNvSpPr>
          <p:nvPr>
            <p:ph sz="quarter" idx="10"/>
          </p:nvPr>
        </p:nvSpPr>
        <p:spPr/>
        <p:txBody>
          <a:bodyPr/>
          <a:lstStyle/>
          <a:p>
            <a:r>
              <a:rPr lang="en-US"/>
              <a:t>why?</a:t>
            </a:r>
          </a:p>
          <a:p>
            <a:r>
              <a:rPr lang="en-US"/>
              <a:t>how?</a:t>
            </a:r>
          </a:p>
          <a:p>
            <a:pPr lvl="1"/>
            <a:r>
              <a:rPr lang="en-US"/>
              <a:t>what about like...arrays?</a:t>
            </a:r>
          </a:p>
        </p:txBody>
      </p:sp>
      <p:sp>
        <p:nvSpPr>
          <p:cNvPr id="8" name="TextBox 7">
            <a:extLst>
              <a:ext uri="{FF2B5EF4-FFF2-40B4-BE49-F238E27FC236}">
                <a16:creationId xmlns:a16="http://schemas.microsoft.com/office/drawing/2014/main" id="{EF289D5F-F3C3-C1B3-E017-4481C8B32451}"/>
              </a:ext>
            </a:extLst>
          </p:cNvPr>
          <p:cNvSpPr txBox="1"/>
          <p:nvPr/>
        </p:nvSpPr>
        <p:spPr>
          <a:xfrm>
            <a:off x="457200" y="2359485"/>
            <a:ext cx="8458200" cy="1366528"/>
          </a:xfrm>
          <a:prstGeom prst="rect">
            <a:avLst/>
          </a:prstGeom>
          <a:solidFill>
            <a:srgbClr val="FFE6FF"/>
          </a:solidFill>
          <a:ln>
            <a:solidFill>
              <a:schemeClr val="tx1"/>
            </a:solidFill>
          </a:ln>
        </p:spPr>
        <p:txBody>
          <a:bodyPr wrap="square" rtlCol="0">
            <a:spAutoFit/>
          </a:bodyPr>
          <a:lstStyle/>
          <a:p>
            <a:pPr lvl="0" defTabSz="342886">
              <a:spcBef>
                <a:spcPct val="20000"/>
              </a:spcBef>
              <a:buClr>
                <a:srgbClr val="FFFFFF">
                  <a:lumMod val="65000"/>
                </a:srgbClr>
              </a:buClr>
            </a:pPr>
            <a:r>
              <a:rPr lang="en-US" err="1">
                <a:solidFill>
                  <a:srgbClr val="000000"/>
                </a:solidFill>
                <a:latin typeface="Consolas"/>
                <a:ea typeface="Segoe UI Emoji" panose="020B0502040204020203" pitchFamily="34" charset="0"/>
              </a:rPr>
              <a:t>names</a:t>
            </a:r>
            <a:r>
              <a:rPr lang="en-US">
                <a:solidFill>
                  <a:srgbClr val="000000"/>
                </a:solidFill>
                <a:latin typeface="Consolas"/>
                <a:ea typeface="Segoe UI Emoji" panose="020B0502040204020203" pitchFamily="34" charset="0"/>
              </a:rPr>
              <a:t> = {}</a:t>
            </a:r>
          </a:p>
          <a:p>
            <a:pPr lvl="0" defTabSz="342886">
              <a:spcBef>
                <a:spcPct val="20000"/>
              </a:spcBef>
              <a:buClr>
                <a:srgbClr val="FFFFFF">
                  <a:lumMod val="65000"/>
                </a:srgbClr>
              </a:buClr>
            </a:pPr>
            <a:r>
              <a:rPr lang="en-US" err="1">
                <a:solidFill>
                  <a:srgbClr val="000000"/>
                </a:solidFill>
                <a:latin typeface="Consolas"/>
                <a:ea typeface="Segoe UI Emoji" panose="020B0502040204020203" pitchFamily="34" charset="0"/>
              </a:rPr>
              <a:t>names</a:t>
            </a:r>
            <a:r>
              <a:rPr lang="en-US">
                <a:solidFill>
                  <a:srgbClr val="000000"/>
                </a:solidFill>
                <a:latin typeface="Consolas"/>
                <a:ea typeface="Segoe UI Emoji" panose="020B0502040204020203" pitchFamily="34" charset="0"/>
              </a:rPr>
              <a:t>[</a:t>
            </a:r>
            <a:r>
              <a:rPr lang="en-US">
                <a:solidFill>
                  <a:srgbClr val="0CB5B5"/>
                </a:solidFill>
                <a:latin typeface="Consolas" panose="020B0609020204030204" pitchFamily="49" charset="0"/>
                <a:ea typeface="Segoe UI Emoji" panose="020B0502040204020203" pitchFamily="34" charset="0"/>
                <a:cs typeface="Consolas" panose="020B0609020204030204" pitchFamily="49" charset="0"/>
              </a:rPr>
              <a:t>1</a:t>
            </a:r>
            <a:r>
              <a:rPr lang="en-US">
                <a:solidFill>
                  <a:srgbClr val="000000"/>
                </a:solidFill>
                <a:latin typeface="Consolas"/>
                <a:ea typeface="Segoe UI Emoji" panose="020B0502040204020203" pitchFamily="34" charset="0"/>
              </a:rPr>
              <a:t>] = </a:t>
            </a:r>
            <a:r>
              <a:rPr lang="en-US">
                <a:solidFill>
                  <a:srgbClr val="B60E0E"/>
                </a:solidFill>
                <a:latin typeface="Consolas"/>
                <a:ea typeface="Segoe UI Emoji" panose="020B0502040204020203" pitchFamily="34" charset="0"/>
              </a:rPr>
              <a:t>"Bulbasaur"</a:t>
            </a:r>
            <a:r>
              <a:rPr lang="en-US">
                <a:solidFill>
                  <a:srgbClr val="000000"/>
                </a:solidFill>
                <a:latin typeface="Consolas"/>
                <a:ea typeface="Segoe UI Emoji" panose="020B0502040204020203" pitchFamily="34" charset="0"/>
              </a:rPr>
              <a:t> </a:t>
            </a:r>
            <a:r>
              <a:rPr lang="en-US">
                <a:solidFill>
                  <a:srgbClr val="BFBFBF"/>
                </a:solidFill>
                <a:latin typeface="Consolas"/>
                <a:ea typeface="Segoe UI Emoji" panose="020B0502040204020203" pitchFamily="34" charset="0"/>
              </a:rPr>
              <a:t>-- okay fine, i guess Lua also has strings</a:t>
            </a:r>
          </a:p>
          <a:p>
            <a:pPr lvl="0" defTabSz="342886">
              <a:spcBef>
                <a:spcPct val="20000"/>
              </a:spcBef>
              <a:buClr>
                <a:srgbClr val="FFFFFF">
                  <a:lumMod val="65000"/>
                </a:srgbClr>
              </a:buClr>
            </a:pPr>
            <a:r>
              <a:rPr lang="en-US" err="1">
                <a:solidFill>
                  <a:srgbClr val="000000"/>
                </a:solidFill>
                <a:latin typeface="Consolas"/>
                <a:ea typeface="Segoe UI Emoji" panose="020B0502040204020203" pitchFamily="34" charset="0"/>
              </a:rPr>
              <a:t>names</a:t>
            </a:r>
            <a:r>
              <a:rPr lang="en-US">
                <a:solidFill>
                  <a:srgbClr val="000000"/>
                </a:solidFill>
                <a:latin typeface="Consolas"/>
                <a:ea typeface="Segoe UI Emoji" panose="020B0502040204020203" pitchFamily="34" charset="0"/>
              </a:rPr>
              <a:t>[</a:t>
            </a:r>
            <a:r>
              <a:rPr lang="en-US">
                <a:solidFill>
                  <a:srgbClr val="0CB5B5"/>
                </a:solidFill>
                <a:latin typeface="Consolas" panose="020B0609020204030204" pitchFamily="49" charset="0"/>
                <a:ea typeface="Segoe UI Emoji" panose="020B0502040204020203" pitchFamily="34" charset="0"/>
                <a:cs typeface="Consolas" panose="020B0609020204030204" pitchFamily="49" charset="0"/>
              </a:rPr>
              <a:t>2</a:t>
            </a:r>
            <a:r>
              <a:rPr lang="en-US">
                <a:solidFill>
                  <a:srgbClr val="000000"/>
                </a:solidFill>
                <a:latin typeface="Consolas"/>
                <a:ea typeface="Segoe UI Emoji" panose="020B0502040204020203" pitchFamily="34" charset="0"/>
              </a:rPr>
              <a:t>] = </a:t>
            </a:r>
            <a:r>
              <a:rPr lang="en-US">
                <a:solidFill>
                  <a:srgbClr val="B60E0E"/>
                </a:solidFill>
                <a:latin typeface="Consolas"/>
                <a:ea typeface="Segoe UI Emoji" panose="020B0502040204020203" pitchFamily="34" charset="0"/>
              </a:rPr>
              <a:t>"</a:t>
            </a:r>
            <a:r>
              <a:rPr lang="en-US" err="1">
                <a:solidFill>
                  <a:srgbClr val="B60E0E"/>
                </a:solidFill>
                <a:latin typeface="Consolas"/>
                <a:ea typeface="Segoe UI Emoji" panose="020B0502040204020203" pitchFamily="34" charset="0"/>
              </a:rPr>
              <a:t>Ivysaur</a:t>
            </a:r>
            <a:r>
              <a:rPr lang="en-US">
                <a:solidFill>
                  <a:srgbClr val="B60E0E"/>
                </a:solidFill>
                <a:latin typeface="Consolas"/>
                <a:ea typeface="Segoe UI Emoji" panose="020B0502040204020203" pitchFamily="34" charset="0"/>
              </a:rPr>
              <a:t>"</a:t>
            </a:r>
          </a:p>
          <a:p>
            <a:pPr lvl="0" defTabSz="342886">
              <a:spcBef>
                <a:spcPct val="20000"/>
              </a:spcBef>
              <a:buClr>
                <a:srgbClr val="FFFFFF">
                  <a:lumMod val="65000"/>
                </a:srgbClr>
              </a:buClr>
            </a:pPr>
            <a:r>
              <a:rPr lang="en-US">
                <a:solidFill>
                  <a:schemeClr val="accent2">
                    <a:lumMod val="75000"/>
                  </a:schemeClr>
                </a:solidFill>
                <a:latin typeface="Consolas"/>
                <a:ea typeface="Segoe UI Emoji" panose="020B0502040204020203" pitchFamily="34" charset="0"/>
              </a:rPr>
              <a:t>print</a:t>
            </a:r>
            <a:r>
              <a:rPr lang="en-US">
                <a:latin typeface="Consolas"/>
                <a:ea typeface="Segoe UI Emoji" panose="020B0502040204020203" pitchFamily="34" charset="0"/>
              </a:rPr>
              <a:t>(</a:t>
            </a:r>
            <a:r>
              <a:rPr lang="en-US" err="1">
                <a:latin typeface="Consolas"/>
                <a:ea typeface="Segoe UI Emoji" panose="020B0502040204020203" pitchFamily="34" charset="0"/>
              </a:rPr>
              <a:t>names</a:t>
            </a:r>
            <a:r>
              <a:rPr lang="en-US">
                <a:latin typeface="Consolas"/>
                <a:ea typeface="Segoe UI Emoji" panose="020B0502040204020203" pitchFamily="34" charset="0"/>
              </a:rPr>
              <a:t>[</a:t>
            </a:r>
            <a:r>
              <a:rPr lang="en-US">
                <a:solidFill>
                  <a:srgbClr val="0CB5B5"/>
                </a:solidFill>
                <a:latin typeface="Consolas" panose="020B0609020204030204" pitchFamily="49" charset="0"/>
                <a:ea typeface="Segoe UI Emoji" panose="020B0502040204020203" pitchFamily="34" charset="0"/>
                <a:cs typeface="Consolas" panose="020B0609020204030204" pitchFamily="49" charset="0"/>
              </a:rPr>
              <a:t>1</a:t>
            </a:r>
            <a:r>
              <a:rPr lang="en-US">
                <a:latin typeface="Consolas"/>
                <a:ea typeface="Segoe UI Emoji" panose="020B0502040204020203" pitchFamily="34" charset="0"/>
              </a:rPr>
              <a:t>]) </a:t>
            </a:r>
            <a:r>
              <a:rPr lang="en-US">
                <a:solidFill>
                  <a:schemeClr val="bg1">
                    <a:lumMod val="75000"/>
                  </a:schemeClr>
                </a:solidFill>
                <a:latin typeface="Consolas"/>
                <a:ea typeface="Segoe UI Emoji" panose="020B0502040204020203" pitchFamily="34" charset="0"/>
              </a:rPr>
              <a:t>-- Bulbasaur</a:t>
            </a:r>
          </a:p>
        </p:txBody>
      </p:sp>
    </p:spTree>
    <p:extLst>
      <p:ext uri="{BB962C8B-B14F-4D97-AF65-F5344CB8AC3E}">
        <p14:creationId xmlns:p14="http://schemas.microsoft.com/office/powerpoint/2010/main" val="221744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A434C-930F-8C92-3408-E48A605ADAF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F91C515-3468-A922-460C-85816402CEFC}"/>
              </a:ext>
            </a:extLst>
          </p:cNvPr>
          <p:cNvPicPr>
            <a:picLocks noChangeAspect="1"/>
          </p:cNvPicPr>
          <p:nvPr/>
        </p:nvPicPr>
        <p:blipFill>
          <a:blip r:embed="rId2"/>
          <a:stretch>
            <a:fillRect/>
          </a:stretch>
        </p:blipFill>
        <p:spPr>
          <a:xfrm>
            <a:off x="685800" y="555563"/>
            <a:ext cx="7772400" cy="4032373"/>
          </a:xfrm>
          <a:prstGeom prst="rect">
            <a:avLst/>
          </a:prstGeom>
        </p:spPr>
      </p:pic>
    </p:spTree>
    <p:extLst>
      <p:ext uri="{BB962C8B-B14F-4D97-AF65-F5344CB8AC3E}">
        <p14:creationId xmlns:p14="http://schemas.microsoft.com/office/powerpoint/2010/main" val="25637627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FAF1A-E95C-4319-E9C1-6F8C1889288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592079A-11CF-B5BB-E59B-0BE2B432A749}"/>
              </a:ext>
            </a:extLst>
          </p:cNvPr>
          <p:cNvSpPr>
            <a:spLocks noGrp="1"/>
          </p:cNvSpPr>
          <p:nvPr>
            <p:ph type="title"/>
          </p:nvPr>
        </p:nvSpPr>
        <p:spPr>
          <a:xfrm>
            <a:off x="457200" y="254916"/>
            <a:ext cx="8229600" cy="1893924"/>
          </a:xfrm>
        </p:spPr>
        <p:txBody>
          <a:bodyPr/>
          <a:lstStyle/>
          <a:p>
            <a:r>
              <a:rPr lang="en-US" sz="8800"/>
              <a:t>Week07b</a:t>
            </a:r>
          </a:p>
        </p:txBody>
      </p:sp>
      <p:sp>
        <p:nvSpPr>
          <p:cNvPr id="6" name="Content Placeholder 5">
            <a:extLst>
              <a:ext uri="{FF2B5EF4-FFF2-40B4-BE49-F238E27FC236}">
                <a16:creationId xmlns:a16="http://schemas.microsoft.com/office/drawing/2014/main" id="{45BCD446-CB68-946E-D61D-1D4ED3DB99B8}"/>
              </a:ext>
            </a:extLst>
          </p:cNvPr>
          <p:cNvSpPr>
            <a:spLocks noGrp="1"/>
          </p:cNvSpPr>
          <p:nvPr>
            <p:ph sz="quarter" idx="10"/>
          </p:nvPr>
        </p:nvSpPr>
        <p:spPr>
          <a:xfrm>
            <a:off x="457200" y="1819230"/>
            <a:ext cx="8229600" cy="2894013"/>
          </a:xfrm>
        </p:spPr>
        <p:txBody>
          <a:bodyPr>
            <a:noAutofit/>
          </a:bodyPr>
          <a:lstStyle/>
          <a:p>
            <a:r>
              <a:rPr lang="en-US" sz="2400"/>
              <a:t>hash functions</a:t>
            </a:r>
          </a:p>
          <a:p>
            <a:r>
              <a:rPr lang="en-US" sz="2400"/>
              <a:t>hash map with separate chaining</a:t>
            </a:r>
          </a:p>
        </p:txBody>
      </p:sp>
      <p:sp>
        <p:nvSpPr>
          <p:cNvPr id="13" name="TextBox 12">
            <a:extLst>
              <a:ext uri="{FF2B5EF4-FFF2-40B4-BE49-F238E27FC236}">
                <a16:creationId xmlns:a16="http://schemas.microsoft.com/office/drawing/2014/main" id="{D2D6E64E-ACEE-94A8-E130-C7B8F997FB2A}"/>
              </a:ext>
            </a:extLst>
          </p:cNvPr>
          <p:cNvSpPr txBox="1"/>
          <p:nvPr/>
        </p:nvSpPr>
        <p:spPr>
          <a:xfrm>
            <a:off x="4549252" y="235575"/>
            <a:ext cx="4648200" cy="707886"/>
          </a:xfrm>
          <a:prstGeom prst="rect">
            <a:avLst/>
          </a:prstGeom>
          <a:noFill/>
        </p:spPr>
        <p:txBody>
          <a:bodyPr wrap="square" rtlCol="0">
            <a:spAutoFit/>
          </a:bodyPr>
          <a:lstStyle/>
          <a:p>
            <a:pPr algn="ctr"/>
            <a:r>
              <a:rPr lang="en-US" sz="2000">
                <a:solidFill>
                  <a:srgbClr val="000000"/>
                </a:solidFill>
                <a:ea typeface="Segoe UI Emoji" panose="020B0502040204020203" pitchFamily="34" charset="0"/>
              </a:rPr>
              <a:t>✨</a:t>
            </a:r>
            <a:r>
              <a:rPr lang="en-US" sz="2000" b="1">
                <a:solidFill>
                  <a:srgbClr val="F80B8D"/>
                </a:solidFill>
                <a:ea typeface="Segoe UI Emoji" panose="020B0502040204020203" pitchFamily="34" charset="0"/>
              </a:rPr>
              <a:t>Today is Prof. Steve Freund is Visiting Wednesday </a:t>
            </a:r>
            <a:r>
              <a:rPr lang="en-US" sz="2000" b="1">
                <a:solidFill>
                  <a:srgbClr val="F80B8D"/>
                </a:solidFill>
              </a:rPr>
              <a:t>!</a:t>
            </a:r>
            <a:r>
              <a:rPr lang="en-US" sz="2000">
                <a:solidFill>
                  <a:srgbClr val="000000"/>
                </a:solidFill>
                <a:ea typeface="Segoe UI Emoji" panose="020B0502040204020203" pitchFamily="34" charset="0"/>
              </a:rPr>
              <a:t> ✨</a:t>
            </a:r>
          </a:p>
        </p:txBody>
      </p:sp>
      <p:sp>
        <p:nvSpPr>
          <p:cNvPr id="10" name="TextBox 9">
            <a:extLst>
              <a:ext uri="{FF2B5EF4-FFF2-40B4-BE49-F238E27FC236}">
                <a16:creationId xmlns:a16="http://schemas.microsoft.com/office/drawing/2014/main" id="{0D7DA4AD-7C1E-7FB0-BC37-683A19CCA7BF}"/>
              </a:ext>
            </a:extLst>
          </p:cNvPr>
          <p:cNvSpPr txBox="1"/>
          <p:nvPr/>
        </p:nvSpPr>
        <p:spPr>
          <a:xfrm>
            <a:off x="457200" y="2847229"/>
            <a:ext cx="5976059" cy="2031325"/>
          </a:xfrm>
          <a:prstGeom prst="rect">
            <a:avLst/>
          </a:prstGeom>
          <a:solidFill>
            <a:schemeClr val="accent3">
              <a:lumMod val="40000"/>
              <a:lumOff val="60000"/>
            </a:schemeClr>
          </a:solidFill>
          <a:ln>
            <a:solidFill>
              <a:schemeClr val="tx1"/>
            </a:solidFill>
          </a:ln>
        </p:spPr>
        <p:txBody>
          <a:bodyPr wrap="square" rtlCol="0">
            <a:spAutoFit/>
          </a:bodyPr>
          <a:lstStyle/>
          <a:p>
            <a:pPr algn="ctr"/>
            <a:r>
              <a:rPr lang="en-US" b="1">
                <a:cs typeface="Consolas" panose="020B0609020204030204" pitchFamily="49" charset="0"/>
              </a:rPr>
              <a:t>WARMUP: </a:t>
            </a:r>
            <a:r>
              <a:rPr lang="en-US">
                <a:sym typeface="Wingdings" pitchFamily="2" charset="2"/>
              </a:rPr>
              <a:t>what does this print?</a:t>
            </a:r>
          </a:p>
          <a:p>
            <a:pPr algn="ctr"/>
            <a:endParaRPr lang="en-US" b="1">
              <a:cs typeface="Consolas" panose="020B0609020204030204" pitchFamily="49" charset="0"/>
            </a:endParaRPr>
          </a:p>
          <a:p>
            <a:r>
              <a:rPr lang="en-US">
                <a:effectLst/>
                <a:latin typeface="Consolas" panose="020B0609020204030204" pitchFamily="49" charset="0"/>
                <a:cs typeface="Consolas" panose="020B0609020204030204" pitchFamily="49" charset="0"/>
              </a:rPr>
              <a:t>HashMap&lt;String, String&gt; </a:t>
            </a:r>
            <a:r>
              <a:rPr lang="en-US">
                <a:solidFill>
                  <a:srgbClr val="6A3E3E"/>
                </a:solidFill>
                <a:effectLst/>
                <a:latin typeface="Consolas" panose="020B0609020204030204" pitchFamily="49" charset="0"/>
                <a:cs typeface="Consolas" panose="020B0609020204030204" pitchFamily="49" charset="0"/>
              </a:rPr>
              <a:t>map</a:t>
            </a:r>
            <a:r>
              <a:rPr lang="en-US">
                <a:effectLst/>
                <a:latin typeface="Consolas" panose="020B0609020204030204" pitchFamily="49" charset="0"/>
                <a:cs typeface="Consolas" panose="020B0609020204030204" pitchFamily="49" charset="0"/>
              </a:rPr>
              <a:t> = </a:t>
            </a:r>
            <a:r>
              <a:rPr lang="en-US" b="1">
                <a:solidFill>
                  <a:srgbClr val="7F0055"/>
                </a:solidFill>
                <a:effectLst/>
                <a:latin typeface="Consolas" panose="020B0609020204030204" pitchFamily="49" charset="0"/>
                <a:cs typeface="Consolas" panose="020B0609020204030204" pitchFamily="49" charset="0"/>
              </a:rPr>
              <a:t>new</a:t>
            </a:r>
            <a:r>
              <a:rPr lang="en-US">
                <a:effectLst/>
                <a:latin typeface="Consolas" panose="020B0609020204030204" pitchFamily="49" charset="0"/>
                <a:cs typeface="Consolas" panose="020B0609020204030204" pitchFamily="49" charset="0"/>
              </a:rPr>
              <a:t> HashMap&lt;&gt;();</a:t>
            </a:r>
          </a:p>
          <a:p>
            <a:r>
              <a:rPr lang="en-US">
                <a:solidFill>
                  <a:srgbClr val="6A3E3E"/>
                </a:solidFill>
                <a:effectLst/>
                <a:latin typeface="Consolas" panose="020B0609020204030204" pitchFamily="49" charset="0"/>
                <a:cs typeface="Consolas" panose="020B0609020204030204" pitchFamily="49" charset="0"/>
              </a:rPr>
              <a:t>map</a:t>
            </a:r>
            <a:r>
              <a:rPr lang="en-US">
                <a:solidFill>
                  <a:srgbClr val="000000"/>
                </a:solidFill>
                <a:effectLst/>
                <a:latin typeface="Consolas" panose="020B0609020204030204" pitchFamily="49" charset="0"/>
                <a:cs typeface="Consolas" panose="020B0609020204030204" pitchFamily="49" charset="0"/>
              </a:rPr>
              <a:t>.put(</a:t>
            </a:r>
            <a:r>
              <a:rPr lang="en-US">
                <a:solidFill>
                  <a:srgbClr val="2A00FF"/>
                </a:solidFill>
                <a:effectLst/>
                <a:latin typeface="Consolas" panose="020B0609020204030204" pitchFamily="49" charset="0"/>
                <a:cs typeface="Consolas" panose="020B0609020204030204" pitchFamily="49" charset="0"/>
              </a:rPr>
              <a:t>"hello"</a:t>
            </a:r>
            <a:r>
              <a:rPr lang="en-US">
                <a:solidFill>
                  <a:srgbClr val="000000"/>
                </a:solidFill>
                <a:effectLst/>
                <a:latin typeface="Consolas" panose="020B0609020204030204" pitchFamily="49" charset="0"/>
                <a:cs typeface="Consolas" panose="020B0609020204030204" pitchFamily="49" charset="0"/>
              </a:rPr>
              <a:t>, </a:t>
            </a:r>
            <a:r>
              <a:rPr lang="en-US">
                <a:solidFill>
                  <a:srgbClr val="2A00FF"/>
                </a:solidFill>
                <a:effectLst/>
                <a:latin typeface="Consolas" panose="020B0609020204030204" pitchFamily="49" charset="0"/>
                <a:cs typeface="Consolas" panose="020B0609020204030204" pitchFamily="49" charset="0"/>
              </a:rPr>
              <a:t>"world"</a:t>
            </a:r>
            <a:r>
              <a:rPr lang="en-US">
                <a:solidFill>
                  <a:srgbClr val="000000"/>
                </a:solidFill>
                <a:effectLst/>
                <a:latin typeface="Consolas" panose="020B0609020204030204" pitchFamily="49" charset="0"/>
                <a:cs typeface="Consolas" panose="020B0609020204030204" pitchFamily="49" charset="0"/>
              </a:rPr>
              <a:t>);</a:t>
            </a:r>
            <a:endParaRPr lang="en-US">
              <a:solidFill>
                <a:srgbClr val="2A00FF"/>
              </a:solidFill>
              <a:effectLst/>
              <a:latin typeface="Consolas" panose="020B0609020204030204" pitchFamily="49" charset="0"/>
              <a:cs typeface="Consolas" panose="020B0609020204030204" pitchFamily="49" charset="0"/>
            </a:endParaRPr>
          </a:p>
          <a:p>
            <a:r>
              <a:rPr lang="en-US">
                <a:solidFill>
                  <a:srgbClr val="6A3E3E"/>
                </a:solidFill>
                <a:effectLst/>
                <a:latin typeface="Consolas" panose="020B0609020204030204" pitchFamily="49" charset="0"/>
                <a:cs typeface="Consolas" panose="020B0609020204030204" pitchFamily="49" charset="0"/>
              </a:rPr>
              <a:t>map</a:t>
            </a:r>
            <a:r>
              <a:rPr lang="en-US">
                <a:effectLst/>
                <a:latin typeface="Consolas" panose="020B0609020204030204" pitchFamily="49" charset="0"/>
                <a:cs typeface="Consolas" panose="020B0609020204030204" pitchFamily="49" charset="0"/>
              </a:rPr>
              <a:t>.put(</a:t>
            </a:r>
            <a:r>
              <a:rPr lang="en-US">
                <a:solidFill>
                  <a:srgbClr val="6A3E3E"/>
                </a:solidFill>
                <a:effectLst/>
                <a:latin typeface="Consolas" panose="020B0609020204030204" pitchFamily="49" charset="0"/>
                <a:cs typeface="Consolas" panose="020B0609020204030204" pitchFamily="49" charset="0"/>
              </a:rPr>
              <a:t>map</a:t>
            </a:r>
            <a:r>
              <a:rPr lang="en-US">
                <a:effectLst/>
                <a:latin typeface="Consolas" panose="020B0609020204030204" pitchFamily="49" charset="0"/>
                <a:cs typeface="Consolas" panose="020B0609020204030204" pitchFamily="49" charset="0"/>
              </a:rPr>
              <a:t>.get(</a:t>
            </a:r>
            <a:r>
              <a:rPr lang="en-US">
                <a:solidFill>
                  <a:srgbClr val="2A00FF"/>
                </a:solidFill>
                <a:effectLst/>
                <a:latin typeface="Consolas" panose="020B0609020204030204" pitchFamily="49" charset="0"/>
                <a:cs typeface="Consolas" panose="020B0609020204030204" pitchFamily="49" charset="0"/>
              </a:rPr>
              <a:t>"hello"</a:t>
            </a:r>
            <a:r>
              <a:rPr lang="en-US">
                <a:effectLst/>
                <a:latin typeface="Consolas" panose="020B0609020204030204" pitchFamily="49" charset="0"/>
                <a:cs typeface="Consolas" panose="020B0609020204030204" pitchFamily="49" charset="0"/>
              </a:rPr>
              <a:t>), </a:t>
            </a:r>
            <a:r>
              <a:rPr lang="en-US">
                <a:solidFill>
                  <a:srgbClr val="2A00FF"/>
                </a:solidFill>
                <a:effectLst/>
                <a:latin typeface="Consolas" panose="020B0609020204030204" pitchFamily="49" charset="0"/>
                <a:cs typeface="Consolas" panose="020B0609020204030204" pitchFamily="49" charset="0"/>
              </a:rPr>
              <a:t>"on fire"</a:t>
            </a:r>
            <a:r>
              <a:rPr lang="en-US">
                <a:effectLst/>
                <a:latin typeface="Consolas" panose="020B0609020204030204" pitchFamily="49" charset="0"/>
                <a:cs typeface="Consolas" panose="020B0609020204030204" pitchFamily="49" charset="0"/>
              </a:rPr>
              <a:t>);</a:t>
            </a:r>
          </a:p>
          <a:p>
            <a:r>
              <a:rPr lang="en-US" i="1">
                <a:effectLst/>
                <a:latin typeface="Consolas" panose="020B0609020204030204" pitchFamily="49" charset="0"/>
                <a:cs typeface="Consolas" panose="020B0609020204030204" pitchFamily="49" charset="0"/>
              </a:rPr>
              <a:t>PRINT</a:t>
            </a:r>
            <a:r>
              <a:rPr lang="en-US">
                <a:effectLst/>
                <a:latin typeface="Consolas" panose="020B0609020204030204" pitchFamily="49" charset="0"/>
                <a:cs typeface="Consolas" panose="020B0609020204030204" pitchFamily="49" charset="0"/>
              </a:rPr>
              <a:t>(</a:t>
            </a:r>
            <a:r>
              <a:rPr lang="en-US">
                <a:solidFill>
                  <a:srgbClr val="6A3E3E"/>
                </a:solidFill>
                <a:effectLst/>
                <a:latin typeface="Consolas" panose="020B0609020204030204" pitchFamily="49" charset="0"/>
                <a:cs typeface="Consolas" panose="020B0609020204030204" pitchFamily="49" charset="0"/>
              </a:rPr>
              <a:t>map</a:t>
            </a:r>
            <a:r>
              <a:rPr lang="en-US">
                <a:effectLst/>
                <a:latin typeface="Consolas" panose="020B0609020204030204" pitchFamily="49" charset="0"/>
                <a:cs typeface="Consolas" panose="020B0609020204030204" pitchFamily="49" charset="0"/>
              </a:rPr>
              <a:t>.get(</a:t>
            </a:r>
            <a:r>
              <a:rPr lang="en-US">
                <a:solidFill>
                  <a:srgbClr val="2A00FF"/>
                </a:solidFill>
                <a:effectLst/>
                <a:latin typeface="Consolas" panose="020B0609020204030204" pitchFamily="49" charset="0"/>
                <a:cs typeface="Consolas" panose="020B0609020204030204" pitchFamily="49" charset="0"/>
              </a:rPr>
              <a:t>"world"</a:t>
            </a:r>
            <a:r>
              <a:rPr lang="en-US">
                <a:effectLst/>
                <a:latin typeface="Consolas" panose="020B0609020204030204" pitchFamily="49" charset="0"/>
                <a:cs typeface="Consolas" panose="020B0609020204030204" pitchFamily="49" charset="0"/>
              </a:rPr>
              <a:t>));</a:t>
            </a:r>
          </a:p>
          <a:p>
            <a:r>
              <a:rPr lang="en-US" i="1">
                <a:effectLst/>
                <a:latin typeface="Consolas" panose="020B0609020204030204" pitchFamily="49" charset="0"/>
                <a:cs typeface="Consolas" panose="020B0609020204030204" pitchFamily="49" charset="0"/>
              </a:rPr>
              <a:t>PRINT</a:t>
            </a:r>
            <a:r>
              <a:rPr lang="en-US">
                <a:effectLst/>
                <a:latin typeface="Consolas" panose="020B0609020204030204" pitchFamily="49" charset="0"/>
                <a:cs typeface="Consolas" panose="020B0609020204030204" pitchFamily="49" charset="0"/>
              </a:rPr>
              <a:t>(</a:t>
            </a:r>
            <a:r>
              <a:rPr lang="en-US">
                <a:solidFill>
                  <a:srgbClr val="6A3E3E"/>
                </a:solidFill>
                <a:effectLst/>
                <a:latin typeface="Consolas" panose="020B0609020204030204" pitchFamily="49" charset="0"/>
                <a:cs typeface="Consolas" panose="020B0609020204030204" pitchFamily="49" charset="0"/>
              </a:rPr>
              <a:t>map</a:t>
            </a:r>
            <a:r>
              <a:rPr lang="en-US">
                <a:effectLst/>
                <a:latin typeface="Consolas" panose="020B0609020204030204" pitchFamily="49" charset="0"/>
                <a:cs typeface="Consolas" panose="020B0609020204030204" pitchFamily="49" charset="0"/>
              </a:rPr>
              <a:t>.get(</a:t>
            </a:r>
            <a:r>
              <a:rPr lang="en-US">
                <a:solidFill>
                  <a:srgbClr val="2A00FF"/>
                </a:solidFill>
                <a:effectLst/>
                <a:latin typeface="Consolas" panose="020B0609020204030204" pitchFamily="49" charset="0"/>
                <a:cs typeface="Consolas" panose="020B0609020204030204" pitchFamily="49" charset="0"/>
              </a:rPr>
              <a:t>"on fire"</a:t>
            </a:r>
            <a:r>
              <a:rPr lang="en-US">
                <a:effectLst/>
                <a:latin typeface="Consolas" panose="020B0609020204030204" pitchFamily="49" charset="0"/>
                <a:cs typeface="Consolas" panose="020B0609020204030204" pitchFamily="49" charset="0"/>
              </a:rPr>
              <a:t>));</a:t>
            </a:r>
          </a:p>
        </p:txBody>
      </p:sp>
      <p:grpSp>
        <p:nvGrpSpPr>
          <p:cNvPr id="17" name="Group 16">
            <a:extLst>
              <a:ext uri="{FF2B5EF4-FFF2-40B4-BE49-F238E27FC236}">
                <a16:creationId xmlns:a16="http://schemas.microsoft.com/office/drawing/2014/main" id="{AC1BAAE4-FED7-6798-3B02-3F1C2975B2A2}"/>
              </a:ext>
            </a:extLst>
          </p:cNvPr>
          <p:cNvGrpSpPr/>
          <p:nvPr/>
        </p:nvGrpSpPr>
        <p:grpSpPr>
          <a:xfrm rot="10800000">
            <a:off x="6756152" y="1247965"/>
            <a:ext cx="1644604" cy="3764538"/>
            <a:chOff x="8052482" y="242908"/>
            <a:chExt cx="1020050" cy="2334918"/>
          </a:xfrm>
        </p:grpSpPr>
        <p:sp>
          <p:nvSpPr>
            <p:cNvPr id="9" name="TextBox 8">
              <a:extLst>
                <a:ext uri="{FF2B5EF4-FFF2-40B4-BE49-F238E27FC236}">
                  <a16:creationId xmlns:a16="http://schemas.microsoft.com/office/drawing/2014/main" id="{65BB512C-333F-2C9A-ABDE-0066FDF507C9}"/>
                </a:ext>
              </a:extLst>
            </p:cNvPr>
            <p:cNvSpPr txBox="1"/>
            <p:nvPr/>
          </p:nvSpPr>
          <p:spPr>
            <a:xfrm>
              <a:off x="8052482" y="242908"/>
              <a:ext cx="454075" cy="629954"/>
            </a:xfrm>
            <a:prstGeom prst="rect">
              <a:avLst/>
            </a:prstGeom>
            <a:noFill/>
          </p:spPr>
          <p:txBody>
            <a:bodyPr wrap="square">
              <a:spAutoFit/>
            </a:bodyPr>
            <a:lstStyle/>
            <a:p>
              <a:pPr algn="ctr"/>
              <a:r>
                <a:rPr kumimoji="0" lang="en-US" sz="6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6000"/>
            </a:p>
          </p:txBody>
        </p:sp>
        <p:sp>
          <p:nvSpPr>
            <p:cNvPr id="5" name="TextBox 4">
              <a:extLst>
                <a:ext uri="{FF2B5EF4-FFF2-40B4-BE49-F238E27FC236}">
                  <a16:creationId xmlns:a16="http://schemas.microsoft.com/office/drawing/2014/main" id="{FED385DE-ADFA-9B89-5242-022CD576D551}"/>
                </a:ext>
              </a:extLst>
            </p:cNvPr>
            <p:cNvSpPr txBox="1"/>
            <p:nvPr/>
          </p:nvSpPr>
          <p:spPr>
            <a:xfrm rot="2674879">
              <a:off x="8220077" y="337020"/>
              <a:ext cx="454075" cy="687223"/>
            </a:xfrm>
            <a:prstGeom prst="rect">
              <a:avLst/>
            </a:prstGeom>
            <a:noFill/>
          </p:spPr>
          <p:txBody>
            <a:bodyPr wrap="square">
              <a:spAutoFit/>
            </a:bodyPr>
            <a:lstStyle/>
            <a:p>
              <a:pPr algn="ctr"/>
              <a:r>
                <a:rPr kumimoji="0" lang="en-US" sz="66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6600"/>
            </a:p>
          </p:txBody>
        </p:sp>
        <p:sp>
          <p:nvSpPr>
            <p:cNvPr id="7" name="TextBox 6">
              <a:extLst>
                <a:ext uri="{FF2B5EF4-FFF2-40B4-BE49-F238E27FC236}">
                  <a16:creationId xmlns:a16="http://schemas.microsoft.com/office/drawing/2014/main" id="{BEDE3522-C61B-D9E4-490A-490D4BA09502}"/>
                </a:ext>
              </a:extLst>
            </p:cNvPr>
            <p:cNvSpPr txBox="1"/>
            <p:nvPr/>
          </p:nvSpPr>
          <p:spPr>
            <a:xfrm rot="4734159">
              <a:off x="8354806" y="547508"/>
              <a:ext cx="454075" cy="744492"/>
            </a:xfrm>
            <a:prstGeom prst="rect">
              <a:avLst/>
            </a:prstGeom>
            <a:noFill/>
          </p:spPr>
          <p:txBody>
            <a:bodyPr wrap="square">
              <a:spAutoFit/>
            </a:bodyPr>
            <a:lstStyle/>
            <a:p>
              <a:pPr algn="ctr"/>
              <a:r>
                <a:rPr kumimoji="0" lang="en-US" sz="72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7200"/>
            </a:p>
          </p:txBody>
        </p:sp>
        <p:sp>
          <p:nvSpPr>
            <p:cNvPr id="11" name="TextBox 10">
              <a:extLst>
                <a:ext uri="{FF2B5EF4-FFF2-40B4-BE49-F238E27FC236}">
                  <a16:creationId xmlns:a16="http://schemas.microsoft.com/office/drawing/2014/main" id="{F64300D7-CB2E-C33E-45F1-61204D1752CC}"/>
                </a:ext>
              </a:extLst>
            </p:cNvPr>
            <p:cNvSpPr txBox="1"/>
            <p:nvPr/>
          </p:nvSpPr>
          <p:spPr>
            <a:xfrm rot="5792460">
              <a:off x="8427583" y="787743"/>
              <a:ext cx="454075" cy="820850"/>
            </a:xfrm>
            <a:prstGeom prst="rect">
              <a:avLst/>
            </a:prstGeom>
            <a:noFill/>
          </p:spPr>
          <p:txBody>
            <a:bodyPr wrap="square">
              <a:spAutoFit/>
            </a:bodyPr>
            <a:lstStyle/>
            <a:p>
              <a:pPr algn="ctr"/>
              <a:r>
                <a:rPr kumimoji="0" lang="en-US" sz="8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8000"/>
            </a:p>
          </p:txBody>
        </p:sp>
        <p:sp>
          <p:nvSpPr>
            <p:cNvPr id="14" name="TextBox 13">
              <a:extLst>
                <a:ext uri="{FF2B5EF4-FFF2-40B4-BE49-F238E27FC236}">
                  <a16:creationId xmlns:a16="http://schemas.microsoft.com/office/drawing/2014/main" id="{AEA055B5-5A09-C117-81DA-79C4F80322A5}"/>
                </a:ext>
              </a:extLst>
            </p:cNvPr>
            <p:cNvSpPr txBox="1"/>
            <p:nvPr/>
          </p:nvSpPr>
          <p:spPr>
            <a:xfrm rot="7627788">
              <a:off x="8396890" y="1022167"/>
              <a:ext cx="454075" cy="897208"/>
            </a:xfrm>
            <a:prstGeom prst="rect">
              <a:avLst/>
            </a:prstGeom>
            <a:noFill/>
          </p:spPr>
          <p:txBody>
            <a:bodyPr wrap="square">
              <a:spAutoFit/>
            </a:bodyPr>
            <a:lstStyle/>
            <a:p>
              <a:pPr algn="ctr"/>
              <a:r>
                <a:rPr kumimoji="0" lang="en-US" sz="8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8800"/>
            </a:p>
          </p:txBody>
        </p:sp>
        <p:sp>
          <p:nvSpPr>
            <p:cNvPr id="15" name="TextBox 14">
              <a:extLst>
                <a:ext uri="{FF2B5EF4-FFF2-40B4-BE49-F238E27FC236}">
                  <a16:creationId xmlns:a16="http://schemas.microsoft.com/office/drawing/2014/main" id="{202C6E52-0080-A1C1-A3BA-61E287318B19}"/>
                </a:ext>
              </a:extLst>
            </p:cNvPr>
            <p:cNvSpPr txBox="1"/>
            <p:nvPr/>
          </p:nvSpPr>
          <p:spPr>
            <a:xfrm rot="8936788">
              <a:off x="8278351" y="1260649"/>
              <a:ext cx="454075" cy="973565"/>
            </a:xfrm>
            <a:prstGeom prst="rect">
              <a:avLst/>
            </a:prstGeom>
            <a:noFill/>
          </p:spPr>
          <p:txBody>
            <a:bodyPr wrap="square">
              <a:spAutoFit/>
            </a:bodyPr>
            <a:lstStyle/>
            <a:p>
              <a:pPr algn="ctr"/>
              <a:r>
                <a:rPr kumimoji="0" lang="en-US" sz="96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9600"/>
            </a:p>
          </p:txBody>
        </p:sp>
        <p:sp>
          <p:nvSpPr>
            <p:cNvPr id="16" name="TextBox 15">
              <a:extLst>
                <a:ext uri="{FF2B5EF4-FFF2-40B4-BE49-F238E27FC236}">
                  <a16:creationId xmlns:a16="http://schemas.microsoft.com/office/drawing/2014/main" id="{BA51AF75-CFB0-8F92-2709-364DA02266D4}"/>
                </a:ext>
              </a:extLst>
            </p:cNvPr>
            <p:cNvSpPr txBox="1"/>
            <p:nvPr/>
          </p:nvSpPr>
          <p:spPr>
            <a:xfrm rot="10343958">
              <a:off x="8063867" y="1422910"/>
              <a:ext cx="454075" cy="1154916"/>
            </a:xfrm>
            <a:prstGeom prst="rect">
              <a:avLst/>
            </a:prstGeom>
            <a:noFill/>
          </p:spPr>
          <p:txBody>
            <a:bodyPr wrap="square">
              <a:spAutoFit/>
            </a:bodyPr>
            <a:lstStyle/>
            <a:p>
              <a:pPr algn="ctr"/>
              <a:r>
                <a:rPr kumimoji="0" lang="en-US" sz="115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500"/>
            </a:p>
          </p:txBody>
        </p:sp>
      </p:grpSp>
    </p:spTree>
    <p:extLst>
      <p:ext uri="{BB962C8B-B14F-4D97-AF65-F5344CB8AC3E}">
        <p14:creationId xmlns:p14="http://schemas.microsoft.com/office/powerpoint/2010/main" val="5654247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F0884-2785-E02B-62D4-0AD02D7AEBE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095E60-E45A-8443-24B4-4EE7D94897C2}"/>
              </a:ext>
            </a:extLst>
          </p:cNvPr>
          <p:cNvSpPr>
            <a:spLocks noGrp="1"/>
          </p:cNvSpPr>
          <p:nvPr>
            <p:ph type="title"/>
          </p:nvPr>
        </p:nvSpPr>
        <p:spPr/>
        <p:txBody>
          <a:bodyPr/>
          <a:lstStyle/>
          <a:p>
            <a:r>
              <a:rPr lang="en-US" b="1"/>
              <a:t>map</a:t>
            </a:r>
            <a:r>
              <a:rPr lang="en-US"/>
              <a:t> interface</a:t>
            </a:r>
          </a:p>
        </p:txBody>
      </p:sp>
      <p:sp>
        <p:nvSpPr>
          <p:cNvPr id="4" name="Content Placeholder 3">
            <a:extLst>
              <a:ext uri="{FF2B5EF4-FFF2-40B4-BE49-F238E27FC236}">
                <a16:creationId xmlns:a16="http://schemas.microsoft.com/office/drawing/2014/main" id="{DCB29E36-9613-AB2F-A59C-AD4E6D2367E4}"/>
              </a:ext>
            </a:extLst>
          </p:cNvPr>
          <p:cNvSpPr>
            <a:spLocks noGrp="1"/>
          </p:cNvSpPr>
          <p:nvPr>
            <p:ph sz="quarter" idx="10"/>
          </p:nvPr>
        </p:nvSpPr>
        <p:spPr/>
        <p:txBody>
          <a:bodyPr>
            <a:noAutofit/>
          </a:bodyPr>
          <a:lstStyle/>
          <a:p>
            <a:r>
              <a:rPr lang="en-US">
                <a:solidFill>
                  <a:srgbClr val="007B00"/>
                </a:solidFill>
                <a:effectLst/>
                <a:latin typeface="+mj-lt"/>
              </a:rPr>
              <a:t>// </a:t>
            </a:r>
            <a:r>
              <a:rPr lang="en-US" b="1">
                <a:solidFill>
                  <a:srgbClr val="007B00"/>
                </a:solidFill>
                <a:effectLst/>
                <a:latin typeface="+mj-lt"/>
              </a:rPr>
              <a:t>Put</a:t>
            </a:r>
            <a:r>
              <a:rPr lang="en-US">
                <a:solidFill>
                  <a:srgbClr val="007B00"/>
                </a:solidFill>
                <a:effectLst/>
                <a:latin typeface="+mj-lt"/>
              </a:rPr>
              <a:t> (</a:t>
            </a:r>
            <a:r>
              <a:rPr lang="en-US" b="1">
                <a:solidFill>
                  <a:srgbClr val="007B00"/>
                </a:solidFill>
                <a:effectLst/>
                <a:latin typeface="+mj-lt"/>
              </a:rPr>
              <a:t>add</a:t>
            </a:r>
            <a:r>
              <a:rPr lang="en-US">
                <a:solidFill>
                  <a:srgbClr val="007B00"/>
                </a:solidFill>
                <a:latin typeface="+mj-lt"/>
              </a:rPr>
              <a:t>,</a:t>
            </a:r>
            <a:r>
              <a:rPr lang="en-US" b="1">
                <a:solidFill>
                  <a:srgbClr val="007B00"/>
                </a:solidFill>
                <a:latin typeface="+mj-lt"/>
              </a:rPr>
              <a:t> insert</a:t>
            </a:r>
            <a:r>
              <a:rPr lang="en-US">
                <a:solidFill>
                  <a:srgbClr val="007B00"/>
                </a:solidFill>
                <a:effectLst/>
                <a:latin typeface="+mj-lt"/>
              </a:rPr>
              <a:t>) a new key-value pair into the map.</a:t>
            </a:r>
            <a:br>
              <a:rPr lang="en-US">
                <a:solidFill>
                  <a:srgbClr val="007B00"/>
                </a:solidFill>
                <a:effectLst/>
                <a:latin typeface="+mj-lt"/>
              </a:rPr>
            </a:br>
            <a:r>
              <a:rPr lang="en-US">
                <a:solidFill>
                  <a:srgbClr val="007B00"/>
                </a:solidFill>
                <a:effectLst/>
                <a:latin typeface="+mj-lt"/>
              </a:rPr>
              <a:t>// </a:t>
            </a:r>
            <a:r>
              <a:rPr lang="en-US" b="1">
                <a:solidFill>
                  <a:srgbClr val="007B00"/>
                </a:solidFill>
                <a:effectLst/>
                <a:latin typeface="+mj-lt"/>
              </a:rPr>
              <a:t>NOTE: </a:t>
            </a:r>
            <a:r>
              <a:rPr lang="en-US">
                <a:solidFill>
                  <a:srgbClr val="007B00"/>
                </a:solidFill>
                <a:effectLst/>
                <a:latin typeface="+mj-lt"/>
              </a:rPr>
              <a:t>Can also be used to update a key's value.</a:t>
            </a:r>
            <a:br>
              <a:rPr lang="en-US">
                <a:solidFill>
                  <a:srgbClr val="007B00"/>
                </a:solidFill>
                <a:effectLst/>
                <a:latin typeface="+mj-lt"/>
              </a:rPr>
            </a:br>
            <a:r>
              <a:rPr lang="en-US">
                <a:solidFill>
                  <a:srgbClr val="007B00"/>
                </a:solidFill>
                <a:effectLst/>
                <a:latin typeface="+mj-lt"/>
              </a:rPr>
              <a:t>// </a:t>
            </a:r>
            <a:r>
              <a:rPr lang="en-US" b="1">
                <a:solidFill>
                  <a:srgbClr val="007B00"/>
                </a:solidFill>
                <a:effectLst/>
                <a:latin typeface="+mj-lt"/>
              </a:rPr>
              <a:t>NOTE:</a:t>
            </a:r>
            <a:r>
              <a:rPr lang="en-US">
                <a:solidFill>
                  <a:srgbClr val="007B00"/>
                </a:solidFill>
                <a:effectLst/>
                <a:latin typeface="+mj-lt"/>
              </a:rPr>
              <a:t> All keys are unique.</a:t>
            </a:r>
            <a:br>
              <a:rPr lang="en-US">
                <a:solidFill>
                  <a:srgbClr val="000080"/>
                </a:solidFill>
                <a:effectLst/>
                <a:latin typeface="+mj-lt"/>
              </a:rPr>
            </a:br>
            <a:r>
              <a:rPr lang="en-US">
                <a:solidFill>
                  <a:srgbClr val="000080"/>
                </a:solidFill>
                <a:effectLst/>
                <a:latin typeface="+mj-lt"/>
              </a:rPr>
              <a:t>void</a:t>
            </a:r>
            <a:r>
              <a:rPr lang="en-US">
                <a:latin typeface="+mj-lt"/>
              </a:rPr>
              <a:t> </a:t>
            </a:r>
            <a:r>
              <a:rPr lang="en-US">
                <a:effectLst/>
                <a:latin typeface="+mj-lt"/>
              </a:rPr>
              <a:t>put</a:t>
            </a:r>
            <a:r>
              <a:rPr lang="en-US">
                <a:latin typeface="+mj-lt"/>
              </a:rPr>
              <a:t>(</a:t>
            </a:r>
            <a:r>
              <a:rPr lang="en-US" err="1">
                <a:solidFill>
                  <a:srgbClr val="000080"/>
                </a:solidFill>
                <a:effectLst/>
                <a:latin typeface="+mj-lt"/>
              </a:rPr>
              <a:t>KeyType</a:t>
            </a:r>
            <a:r>
              <a:rPr lang="en-US">
                <a:latin typeface="+mj-lt"/>
              </a:rPr>
              <a:t> </a:t>
            </a:r>
            <a:r>
              <a:rPr lang="en-US">
                <a:effectLst/>
                <a:latin typeface="+mj-lt"/>
              </a:rPr>
              <a:t>key, </a:t>
            </a:r>
            <a:r>
              <a:rPr lang="en-US" err="1">
                <a:solidFill>
                  <a:srgbClr val="000080"/>
                </a:solidFill>
                <a:effectLst/>
                <a:latin typeface="+mj-lt"/>
              </a:rPr>
              <a:t>ValueType</a:t>
            </a:r>
            <a:r>
              <a:rPr lang="en-US">
                <a:effectLst/>
                <a:latin typeface="+mj-lt"/>
              </a:rPr>
              <a:t> value</a:t>
            </a:r>
            <a:r>
              <a:rPr lang="en-US">
                <a:latin typeface="+mj-lt"/>
              </a:rPr>
              <a:t>); </a:t>
            </a:r>
          </a:p>
          <a:p>
            <a:pPr lvl="1"/>
            <a:endParaRPr lang="en-US">
              <a:latin typeface="+mj-lt"/>
            </a:endParaRPr>
          </a:p>
          <a:p>
            <a:r>
              <a:rPr lang="en-US">
                <a:solidFill>
                  <a:srgbClr val="007B00"/>
                </a:solidFill>
                <a:effectLst/>
                <a:latin typeface="+mj-lt"/>
              </a:rPr>
              <a:t>// </a:t>
            </a:r>
            <a:r>
              <a:rPr lang="en-US" b="1">
                <a:solidFill>
                  <a:srgbClr val="007B00"/>
                </a:solidFill>
                <a:effectLst/>
                <a:latin typeface="+mj-lt"/>
              </a:rPr>
              <a:t>Get</a:t>
            </a:r>
            <a:r>
              <a:rPr lang="en-US">
                <a:solidFill>
                  <a:srgbClr val="007B00"/>
                </a:solidFill>
                <a:effectLst/>
                <a:latin typeface="+mj-lt"/>
              </a:rPr>
              <a:t> (</a:t>
            </a:r>
            <a:r>
              <a:rPr lang="en-US" b="1">
                <a:solidFill>
                  <a:srgbClr val="007B00"/>
                </a:solidFill>
                <a:latin typeface="+mj-lt"/>
              </a:rPr>
              <a:t>lookup</a:t>
            </a:r>
            <a:r>
              <a:rPr lang="en-US">
                <a:solidFill>
                  <a:srgbClr val="007B00"/>
                </a:solidFill>
                <a:effectLst/>
                <a:latin typeface="+mj-lt"/>
              </a:rPr>
              <a:t>) a key's </a:t>
            </a:r>
            <a:r>
              <a:rPr lang="en-US">
                <a:solidFill>
                  <a:srgbClr val="007B00"/>
                </a:solidFill>
                <a:latin typeface="+mj-lt"/>
              </a:rPr>
              <a:t>value in the map.</a:t>
            </a:r>
            <a:br>
              <a:rPr lang="en-US">
                <a:solidFill>
                  <a:srgbClr val="007B00"/>
                </a:solidFill>
                <a:latin typeface="+mj-lt"/>
              </a:rPr>
            </a:br>
            <a:r>
              <a:rPr lang="en-US">
                <a:solidFill>
                  <a:srgbClr val="007B00"/>
                </a:solidFill>
                <a:latin typeface="+mj-lt"/>
              </a:rPr>
              <a:t>// </a:t>
            </a:r>
            <a:r>
              <a:rPr lang="en-US" b="1">
                <a:solidFill>
                  <a:srgbClr val="007B00"/>
                </a:solidFill>
                <a:latin typeface="+mj-lt"/>
              </a:rPr>
              <a:t>NOTE:</a:t>
            </a:r>
            <a:r>
              <a:rPr lang="en-US">
                <a:solidFill>
                  <a:srgbClr val="007B00"/>
                </a:solidFill>
                <a:latin typeface="+mj-lt"/>
              </a:rPr>
              <a:t> if key not in map, returns null</a:t>
            </a:r>
            <a:br>
              <a:rPr lang="en-US">
                <a:solidFill>
                  <a:srgbClr val="000080"/>
                </a:solidFill>
                <a:effectLst/>
                <a:latin typeface="+mj-lt"/>
              </a:rPr>
            </a:br>
            <a:r>
              <a:rPr lang="en-US" err="1">
                <a:solidFill>
                  <a:srgbClr val="000080"/>
                </a:solidFill>
                <a:latin typeface="+mj-lt"/>
              </a:rPr>
              <a:t>ValueType</a:t>
            </a:r>
            <a:r>
              <a:rPr lang="en-US">
                <a:latin typeface="+mj-lt"/>
              </a:rPr>
              <a:t> </a:t>
            </a:r>
            <a:r>
              <a:rPr lang="en-US">
                <a:effectLst/>
                <a:latin typeface="+mj-lt"/>
              </a:rPr>
              <a:t>get</a:t>
            </a:r>
            <a:r>
              <a:rPr lang="en-US">
                <a:latin typeface="+mj-lt"/>
              </a:rPr>
              <a:t>(</a:t>
            </a:r>
            <a:r>
              <a:rPr lang="en-US" err="1">
                <a:solidFill>
                  <a:srgbClr val="000080"/>
                </a:solidFill>
                <a:effectLst/>
                <a:latin typeface="+mj-lt"/>
              </a:rPr>
              <a:t>KeyType</a:t>
            </a:r>
            <a:r>
              <a:rPr lang="en-US">
                <a:latin typeface="+mj-lt"/>
              </a:rPr>
              <a:t> </a:t>
            </a:r>
            <a:r>
              <a:rPr lang="en-US">
                <a:effectLst/>
                <a:latin typeface="+mj-lt"/>
              </a:rPr>
              <a:t>key</a:t>
            </a:r>
            <a:r>
              <a:rPr lang="en-US">
                <a:latin typeface="+mj-lt"/>
              </a:rPr>
              <a:t>);</a:t>
            </a:r>
            <a:endParaRPr lang="en-US">
              <a:effectLst/>
              <a:latin typeface="+mj-lt"/>
            </a:endParaRPr>
          </a:p>
          <a:p>
            <a:pPr lvl="1"/>
            <a:endParaRPr lang="en-US">
              <a:effectLst/>
              <a:latin typeface="+mj-lt"/>
            </a:endParaRPr>
          </a:p>
          <a:p>
            <a:r>
              <a:rPr lang="en-US">
                <a:solidFill>
                  <a:srgbClr val="007B00"/>
                </a:solidFill>
                <a:effectLst/>
                <a:latin typeface="+mj-lt"/>
              </a:rPr>
              <a:t>// Get the (unordered) </a:t>
            </a:r>
            <a:r>
              <a:rPr lang="en-US" b="1">
                <a:solidFill>
                  <a:srgbClr val="007B00"/>
                </a:solidFill>
                <a:effectLst/>
                <a:latin typeface="+mj-lt"/>
              </a:rPr>
              <a:t>set of all keys</a:t>
            </a:r>
            <a:r>
              <a:rPr lang="en-US">
                <a:solidFill>
                  <a:srgbClr val="007B00"/>
                </a:solidFill>
                <a:effectLst/>
                <a:latin typeface="+mj-lt"/>
              </a:rPr>
              <a:t>.</a:t>
            </a:r>
            <a:br>
              <a:rPr lang="en-US">
                <a:solidFill>
                  <a:srgbClr val="007B00"/>
                </a:solidFill>
                <a:effectLst/>
                <a:latin typeface="+mj-lt"/>
              </a:rPr>
            </a:br>
            <a:r>
              <a:rPr lang="en-US">
                <a:solidFill>
                  <a:srgbClr val="007B00"/>
                </a:solidFill>
                <a:effectLst/>
                <a:latin typeface="+mj-lt"/>
              </a:rPr>
              <a:t>// </a:t>
            </a:r>
            <a:r>
              <a:rPr lang="en-US" b="1">
                <a:solidFill>
                  <a:srgbClr val="007B00"/>
                </a:solidFill>
                <a:effectLst/>
                <a:latin typeface="+mj-lt"/>
              </a:rPr>
              <a:t>NOTE:</a:t>
            </a:r>
            <a:r>
              <a:rPr lang="en-US">
                <a:solidFill>
                  <a:srgbClr val="007B00"/>
                </a:solidFill>
                <a:effectLst/>
                <a:latin typeface="+mj-lt"/>
              </a:rPr>
              <a:t> Use a for-each loop to iterate through this.</a:t>
            </a:r>
            <a:br>
              <a:rPr lang="en-US">
                <a:solidFill>
                  <a:srgbClr val="007B00"/>
                </a:solidFill>
                <a:effectLst/>
                <a:latin typeface="+mj-lt"/>
              </a:rPr>
            </a:br>
            <a:r>
              <a:rPr lang="en-US">
                <a:solidFill>
                  <a:srgbClr val="007B00"/>
                </a:solidFill>
                <a:effectLst/>
                <a:latin typeface="+mj-lt"/>
              </a:rPr>
              <a:t>//       for (</a:t>
            </a:r>
            <a:r>
              <a:rPr lang="en-US" err="1">
                <a:solidFill>
                  <a:srgbClr val="007B00"/>
                </a:solidFill>
                <a:effectLst/>
                <a:latin typeface="+mj-lt"/>
              </a:rPr>
              <a:t>KeyType</a:t>
            </a:r>
            <a:r>
              <a:rPr lang="en-US">
                <a:solidFill>
                  <a:srgbClr val="007B00"/>
                </a:solidFill>
                <a:effectLst/>
                <a:latin typeface="+mj-lt"/>
              </a:rPr>
              <a:t> key : </a:t>
            </a:r>
            <a:r>
              <a:rPr lang="en-US" err="1">
                <a:solidFill>
                  <a:srgbClr val="007B00"/>
                </a:solidFill>
                <a:effectLst/>
                <a:latin typeface="+mj-lt"/>
              </a:rPr>
              <a:t>map.keySet</a:t>
            </a:r>
            <a:r>
              <a:rPr lang="en-US">
                <a:solidFill>
                  <a:srgbClr val="007B00"/>
                </a:solidFill>
                <a:effectLst/>
                <a:latin typeface="+mj-lt"/>
              </a:rPr>
              <a:t>()) { ... }</a:t>
            </a:r>
            <a:br>
              <a:rPr lang="en-US">
                <a:solidFill>
                  <a:srgbClr val="000080"/>
                </a:solidFill>
                <a:effectLst/>
                <a:latin typeface="+mj-lt"/>
              </a:rPr>
            </a:br>
            <a:r>
              <a:rPr lang="en-US">
                <a:solidFill>
                  <a:srgbClr val="000080"/>
                </a:solidFill>
                <a:effectLst/>
                <a:latin typeface="+mj-lt"/>
              </a:rPr>
              <a:t>Set&lt;</a:t>
            </a:r>
            <a:r>
              <a:rPr lang="en-US" err="1">
                <a:solidFill>
                  <a:srgbClr val="000080"/>
                </a:solidFill>
                <a:effectLst/>
                <a:latin typeface="+mj-lt"/>
              </a:rPr>
              <a:t>KeyType</a:t>
            </a:r>
            <a:r>
              <a:rPr lang="en-US">
                <a:solidFill>
                  <a:srgbClr val="000080"/>
                </a:solidFill>
                <a:effectLst/>
                <a:latin typeface="+mj-lt"/>
              </a:rPr>
              <a:t>&gt;</a:t>
            </a:r>
            <a:r>
              <a:rPr lang="en-US">
                <a:latin typeface="+mj-lt"/>
              </a:rPr>
              <a:t> </a:t>
            </a:r>
            <a:r>
              <a:rPr lang="en-US" err="1">
                <a:effectLst/>
                <a:latin typeface="+mj-lt"/>
              </a:rPr>
              <a:t>keySet</a:t>
            </a:r>
            <a:r>
              <a:rPr lang="en-US">
                <a:latin typeface="+mj-lt"/>
              </a:rPr>
              <a:t>();</a:t>
            </a:r>
          </a:p>
        </p:txBody>
      </p:sp>
    </p:spTree>
    <p:extLst>
      <p:ext uri="{BB962C8B-B14F-4D97-AF65-F5344CB8AC3E}">
        <p14:creationId xmlns:p14="http://schemas.microsoft.com/office/powerpoint/2010/main" val="40480897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7CC0A-811D-781C-B6B1-362A4273A436}"/>
              </a:ext>
            </a:extLst>
          </p:cNvPr>
          <p:cNvSpPr>
            <a:spLocks noGrp="1"/>
          </p:cNvSpPr>
          <p:nvPr>
            <p:ph type="title"/>
          </p:nvPr>
        </p:nvSpPr>
        <p:spPr/>
        <p:txBody>
          <a:bodyPr/>
          <a:lstStyle/>
          <a:p>
            <a:r>
              <a:rPr lang="en-US"/>
              <a:t>motivation</a:t>
            </a:r>
          </a:p>
        </p:txBody>
      </p:sp>
    </p:spTree>
    <p:extLst>
      <p:ext uri="{BB962C8B-B14F-4D97-AF65-F5344CB8AC3E}">
        <p14:creationId xmlns:p14="http://schemas.microsoft.com/office/powerpoint/2010/main" val="10814051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C53BBB3-7417-9781-2A86-C41599508DAF}"/>
              </a:ext>
            </a:extLst>
          </p:cNvPr>
          <p:cNvSpPr>
            <a:spLocks noGrp="1"/>
          </p:cNvSpPr>
          <p:nvPr>
            <p:ph type="title"/>
          </p:nvPr>
        </p:nvSpPr>
        <p:spPr/>
        <p:txBody>
          <a:bodyPr/>
          <a:lstStyle/>
          <a:p>
            <a:r>
              <a:rPr lang="en-US"/>
              <a:t>let's get motivated !</a:t>
            </a:r>
          </a:p>
        </p:txBody>
      </p:sp>
    </p:spTree>
    <p:extLst>
      <p:ext uri="{BB962C8B-B14F-4D97-AF65-F5344CB8AC3E}">
        <p14:creationId xmlns:p14="http://schemas.microsoft.com/office/powerpoint/2010/main" val="16228064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865759-47BD-4D2F-829F-2EE8FC5BCBE3}"/>
              </a:ext>
            </a:extLst>
          </p:cNvPr>
          <p:cNvPicPr>
            <a:picLocks noChangeAspect="1"/>
          </p:cNvPicPr>
          <p:nvPr/>
        </p:nvPicPr>
        <p:blipFill>
          <a:blip r:embed="rId2"/>
          <a:stretch>
            <a:fillRect/>
          </a:stretch>
        </p:blipFill>
        <p:spPr>
          <a:xfrm>
            <a:off x="685800" y="504364"/>
            <a:ext cx="7772400" cy="4134771"/>
          </a:xfrm>
          <a:prstGeom prst="rect">
            <a:avLst/>
          </a:prstGeom>
        </p:spPr>
      </p:pic>
    </p:spTree>
    <p:extLst>
      <p:ext uri="{BB962C8B-B14F-4D97-AF65-F5344CB8AC3E}">
        <p14:creationId xmlns:p14="http://schemas.microsoft.com/office/powerpoint/2010/main" val="2770434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DCDA4-CF08-718C-4B29-B76F65A2602F}"/>
              </a:ext>
            </a:extLst>
          </p:cNvPr>
          <p:cNvSpPr>
            <a:spLocks noGrp="1"/>
          </p:cNvSpPr>
          <p:nvPr>
            <p:ph type="title"/>
          </p:nvPr>
        </p:nvSpPr>
        <p:spPr/>
        <p:txBody>
          <a:bodyPr/>
          <a:lstStyle/>
          <a:p>
            <a:r>
              <a:rPr lang="en-US"/>
              <a:t>so basically...</a:t>
            </a:r>
          </a:p>
        </p:txBody>
      </p:sp>
    </p:spTree>
    <p:extLst>
      <p:ext uri="{BB962C8B-B14F-4D97-AF65-F5344CB8AC3E}">
        <p14:creationId xmlns:p14="http://schemas.microsoft.com/office/powerpoint/2010/main" val="27319839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97614-36B6-5ACF-E53F-C8F819E0933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438ADEB-2E17-AC64-8B0F-EA522873F970}"/>
              </a:ext>
            </a:extLst>
          </p:cNvPr>
          <p:cNvSpPr>
            <a:spLocks noGrp="1"/>
          </p:cNvSpPr>
          <p:nvPr>
            <p:ph type="title"/>
          </p:nvPr>
        </p:nvSpPr>
        <p:spPr/>
        <p:txBody>
          <a:bodyPr/>
          <a:lstStyle/>
          <a:p>
            <a:pPr algn="l"/>
            <a:r>
              <a:rPr lang="en-US" sz="4000"/>
              <a:t>in ~1953 someone realized that if you combined an array, the %, and something called a "hash function," you could implement a map that had O(1) get and set!</a:t>
            </a:r>
          </a:p>
        </p:txBody>
      </p:sp>
    </p:spTree>
    <p:extLst>
      <p:ext uri="{BB962C8B-B14F-4D97-AF65-F5344CB8AC3E}">
        <p14:creationId xmlns:p14="http://schemas.microsoft.com/office/powerpoint/2010/main" val="1031839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27D2B-C6ED-D544-ECB1-63945127AD7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BB23230-A5D1-4903-144C-D6563F6D748E}"/>
              </a:ext>
            </a:extLst>
          </p:cNvPr>
          <p:cNvSpPr>
            <a:spLocks noGrp="1"/>
          </p:cNvSpPr>
          <p:nvPr>
            <p:ph type="title"/>
          </p:nvPr>
        </p:nvSpPr>
        <p:spPr/>
        <p:txBody>
          <a:bodyPr/>
          <a:lstStyle/>
          <a:p>
            <a:r>
              <a:rPr lang="en-US" sz="4000"/>
              <a:t>let's learn how this works 🙂👍</a:t>
            </a:r>
          </a:p>
        </p:txBody>
      </p:sp>
    </p:spTree>
    <p:extLst>
      <p:ext uri="{BB962C8B-B14F-4D97-AF65-F5344CB8AC3E}">
        <p14:creationId xmlns:p14="http://schemas.microsoft.com/office/powerpoint/2010/main" val="37542475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74540-A3A8-A2CB-CA32-2CDB4B75DDA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45FD154-8E71-BC18-3629-5E8A6B1E3BD4}"/>
              </a:ext>
            </a:extLst>
          </p:cNvPr>
          <p:cNvSpPr>
            <a:spLocks noGrp="1"/>
          </p:cNvSpPr>
          <p:nvPr>
            <p:ph type="title"/>
          </p:nvPr>
        </p:nvSpPr>
        <p:spPr/>
        <p:txBody>
          <a:bodyPr/>
          <a:lstStyle/>
          <a:p>
            <a:pPr algn="r"/>
            <a:r>
              <a:rPr lang="en-US" b="1"/>
              <a:t>review: </a:t>
            </a:r>
            <a:r>
              <a:rPr lang="en-US"/>
              <a:t>% vs. MODULO</a:t>
            </a:r>
            <a:br>
              <a:rPr lang="en-US"/>
            </a:br>
            <a:r>
              <a:rPr lang="en-US" sz="3200"/>
              <a:t>(Math.floorMod)</a:t>
            </a:r>
            <a:endParaRPr lang="en-US"/>
          </a:p>
        </p:txBody>
      </p:sp>
    </p:spTree>
    <p:extLst>
      <p:ext uri="{BB962C8B-B14F-4D97-AF65-F5344CB8AC3E}">
        <p14:creationId xmlns:p14="http://schemas.microsoft.com/office/powerpoint/2010/main" val="6454867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57911-9F51-77B0-C39F-7DEE6E8AEBD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851F3A7-5BCE-D7F3-A3A0-D50AA7D74ECB}"/>
              </a:ext>
            </a:extLst>
          </p:cNvPr>
          <p:cNvSpPr txBox="1"/>
          <p:nvPr/>
        </p:nvSpPr>
        <p:spPr>
          <a:xfrm>
            <a:off x="4204855" y="2187029"/>
            <a:ext cx="734289" cy="769441"/>
          </a:xfrm>
          <a:prstGeom prst="rect">
            <a:avLst/>
          </a:prstGeom>
          <a:noFill/>
        </p:spPr>
        <p:txBody>
          <a:bodyPr wrap="square" rtlCol="0">
            <a:spAutoFit/>
          </a:bodyPr>
          <a:lstStyle/>
          <a:p>
            <a:r>
              <a:rPr lang="en-US" sz="4400">
                <a:solidFill>
                  <a:schemeClr val="accent1"/>
                </a:solidFill>
                <a:latin typeface="+mj-lt"/>
              </a:rPr>
              <a:t>7</a:t>
            </a:r>
          </a:p>
        </p:txBody>
      </p:sp>
      <p:cxnSp>
        <p:nvCxnSpPr>
          <p:cNvPr id="5" name="Straight Connector 4">
            <a:extLst>
              <a:ext uri="{FF2B5EF4-FFF2-40B4-BE49-F238E27FC236}">
                <a16:creationId xmlns:a16="http://schemas.microsoft.com/office/drawing/2014/main" id="{A5555DE2-42BE-15DF-C751-EAAAC0B0FC67}"/>
              </a:ext>
            </a:extLst>
          </p:cNvPr>
          <p:cNvCxnSpPr>
            <a:cxnSpLocks/>
          </p:cNvCxnSpPr>
          <p:nvPr/>
        </p:nvCxnSpPr>
        <p:spPr>
          <a:xfrm>
            <a:off x="4135580" y="2231622"/>
            <a:ext cx="0" cy="615236"/>
          </a:xfrm>
          <a:prstGeom prst="line">
            <a:avLst/>
          </a:prstGeom>
          <a:ln w="57150">
            <a:solidFill>
              <a:schemeClr val="accent6"/>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2E4462F4-543A-7A6B-4215-DFBDFE484391}"/>
              </a:ext>
            </a:extLst>
          </p:cNvPr>
          <p:cNvCxnSpPr>
            <a:cxnSpLocks/>
          </p:cNvCxnSpPr>
          <p:nvPr/>
        </p:nvCxnSpPr>
        <p:spPr>
          <a:xfrm>
            <a:off x="4135580" y="2259332"/>
            <a:ext cx="678873" cy="0"/>
          </a:xfrm>
          <a:prstGeom prst="line">
            <a:avLst/>
          </a:prstGeom>
          <a:ln w="57150">
            <a:solidFill>
              <a:schemeClr val="accent6"/>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629AD08E-6FA9-2A64-2D68-170A57E6D4AC}"/>
              </a:ext>
            </a:extLst>
          </p:cNvPr>
          <p:cNvSpPr txBox="1"/>
          <p:nvPr/>
        </p:nvSpPr>
        <p:spPr>
          <a:xfrm>
            <a:off x="3595256" y="2187029"/>
            <a:ext cx="471048" cy="769441"/>
          </a:xfrm>
          <a:prstGeom prst="rect">
            <a:avLst/>
          </a:prstGeom>
          <a:noFill/>
        </p:spPr>
        <p:txBody>
          <a:bodyPr wrap="square" rtlCol="0">
            <a:spAutoFit/>
          </a:bodyPr>
          <a:lstStyle/>
          <a:p>
            <a:r>
              <a:rPr lang="en-US" sz="4400">
                <a:solidFill>
                  <a:schemeClr val="accent2"/>
                </a:solidFill>
                <a:latin typeface="+mj-lt"/>
              </a:rPr>
              <a:t>3</a:t>
            </a:r>
          </a:p>
        </p:txBody>
      </p:sp>
      <p:sp>
        <p:nvSpPr>
          <p:cNvPr id="13" name="TextBox 12">
            <a:extLst>
              <a:ext uri="{FF2B5EF4-FFF2-40B4-BE49-F238E27FC236}">
                <a16:creationId xmlns:a16="http://schemas.microsoft.com/office/drawing/2014/main" id="{DD42A066-A74D-0BEC-F751-56631F48E985}"/>
              </a:ext>
            </a:extLst>
          </p:cNvPr>
          <p:cNvSpPr txBox="1"/>
          <p:nvPr/>
        </p:nvSpPr>
        <p:spPr>
          <a:xfrm>
            <a:off x="4191000" y="1511187"/>
            <a:ext cx="1678746" cy="769441"/>
          </a:xfrm>
          <a:prstGeom prst="rect">
            <a:avLst/>
          </a:prstGeom>
          <a:noFill/>
        </p:spPr>
        <p:txBody>
          <a:bodyPr wrap="square" rtlCol="0">
            <a:spAutoFit/>
          </a:bodyPr>
          <a:lstStyle/>
          <a:p>
            <a:r>
              <a:rPr lang="en-US" sz="4400">
                <a:latin typeface="+mj-lt"/>
              </a:rPr>
              <a:t>2</a:t>
            </a:r>
            <a:endParaRPr lang="en-US" sz="4400">
              <a:solidFill>
                <a:schemeClr val="accent4"/>
              </a:solidFill>
              <a:latin typeface="+mj-lt"/>
            </a:endParaRPr>
          </a:p>
        </p:txBody>
      </p:sp>
      <p:sp>
        <p:nvSpPr>
          <p:cNvPr id="14" name="TextBox 13">
            <a:extLst>
              <a:ext uri="{FF2B5EF4-FFF2-40B4-BE49-F238E27FC236}">
                <a16:creationId xmlns:a16="http://schemas.microsoft.com/office/drawing/2014/main" id="{FC95C90A-45F8-AE45-F4DE-E5926648DF71}"/>
              </a:ext>
            </a:extLst>
          </p:cNvPr>
          <p:cNvSpPr txBox="1"/>
          <p:nvPr/>
        </p:nvSpPr>
        <p:spPr>
          <a:xfrm>
            <a:off x="4204854" y="3028773"/>
            <a:ext cx="734289" cy="769441"/>
          </a:xfrm>
          <a:prstGeom prst="rect">
            <a:avLst/>
          </a:prstGeom>
          <a:noFill/>
        </p:spPr>
        <p:txBody>
          <a:bodyPr wrap="square" rtlCol="0">
            <a:spAutoFit/>
          </a:bodyPr>
          <a:lstStyle/>
          <a:p>
            <a:r>
              <a:rPr lang="en-US" sz="4400">
                <a:latin typeface="+mj-lt"/>
              </a:rPr>
              <a:t>6</a:t>
            </a:r>
          </a:p>
        </p:txBody>
      </p:sp>
      <p:cxnSp>
        <p:nvCxnSpPr>
          <p:cNvPr id="16" name="Straight Connector 15">
            <a:extLst>
              <a:ext uri="{FF2B5EF4-FFF2-40B4-BE49-F238E27FC236}">
                <a16:creationId xmlns:a16="http://schemas.microsoft.com/office/drawing/2014/main" id="{A06281D5-D113-3D46-90EC-485FDBB2DFC2}"/>
              </a:ext>
            </a:extLst>
          </p:cNvPr>
          <p:cNvCxnSpPr>
            <a:cxnSpLocks/>
          </p:cNvCxnSpPr>
          <p:nvPr/>
        </p:nvCxnSpPr>
        <p:spPr>
          <a:xfrm flipH="1">
            <a:off x="3924193" y="3798214"/>
            <a:ext cx="1120789" cy="0"/>
          </a:xfrm>
          <a:prstGeom prst="line">
            <a:avLst/>
          </a:prstGeom>
          <a:ln w="57150">
            <a:solidFill>
              <a:schemeClr val="accent6"/>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0E4BC9DA-599E-7A9E-CBCA-96896D8FFB4E}"/>
              </a:ext>
            </a:extLst>
          </p:cNvPr>
          <p:cNvSpPr txBox="1"/>
          <p:nvPr/>
        </p:nvSpPr>
        <p:spPr>
          <a:xfrm>
            <a:off x="3879591" y="2669972"/>
            <a:ext cx="734289" cy="769441"/>
          </a:xfrm>
          <a:prstGeom prst="rect">
            <a:avLst/>
          </a:prstGeom>
          <a:noFill/>
        </p:spPr>
        <p:txBody>
          <a:bodyPr wrap="square" rtlCol="0">
            <a:spAutoFit/>
          </a:bodyPr>
          <a:lstStyle/>
          <a:p>
            <a:r>
              <a:rPr lang="en-US" sz="4400">
                <a:solidFill>
                  <a:schemeClr val="bg2"/>
                </a:solidFill>
                <a:latin typeface="+mj-lt"/>
              </a:rPr>
              <a:t>-</a:t>
            </a:r>
          </a:p>
        </p:txBody>
      </p:sp>
      <p:sp>
        <p:nvSpPr>
          <p:cNvPr id="23" name="TextBox 22">
            <a:extLst>
              <a:ext uri="{FF2B5EF4-FFF2-40B4-BE49-F238E27FC236}">
                <a16:creationId xmlns:a16="http://schemas.microsoft.com/office/drawing/2014/main" id="{061EB2DC-C8C2-673D-F1C9-39F60131C0E1}"/>
              </a:ext>
            </a:extLst>
          </p:cNvPr>
          <p:cNvSpPr txBox="1"/>
          <p:nvPr/>
        </p:nvSpPr>
        <p:spPr>
          <a:xfrm>
            <a:off x="4204854" y="3850052"/>
            <a:ext cx="734289" cy="769441"/>
          </a:xfrm>
          <a:prstGeom prst="rect">
            <a:avLst/>
          </a:prstGeom>
          <a:noFill/>
        </p:spPr>
        <p:txBody>
          <a:bodyPr wrap="square" rtlCol="0">
            <a:spAutoFit/>
          </a:bodyPr>
          <a:lstStyle/>
          <a:p>
            <a:r>
              <a:rPr lang="en-US" sz="4400">
                <a:solidFill>
                  <a:schemeClr val="accent4"/>
                </a:solidFill>
                <a:latin typeface="+mj-lt"/>
              </a:rPr>
              <a:t>1</a:t>
            </a:r>
          </a:p>
        </p:txBody>
      </p:sp>
      <p:sp>
        <p:nvSpPr>
          <p:cNvPr id="47" name="TextBox 46">
            <a:extLst>
              <a:ext uri="{FF2B5EF4-FFF2-40B4-BE49-F238E27FC236}">
                <a16:creationId xmlns:a16="http://schemas.microsoft.com/office/drawing/2014/main" id="{8C0D35EC-D880-BE8E-B550-49B5E68644C4}"/>
              </a:ext>
            </a:extLst>
          </p:cNvPr>
          <p:cNvSpPr txBox="1"/>
          <p:nvPr/>
        </p:nvSpPr>
        <p:spPr>
          <a:xfrm>
            <a:off x="2754885" y="343115"/>
            <a:ext cx="3133551" cy="923330"/>
          </a:xfrm>
          <a:prstGeom prst="rect">
            <a:avLst/>
          </a:prstGeom>
          <a:noFill/>
        </p:spPr>
        <p:txBody>
          <a:bodyPr wrap="square" rtlCol="0">
            <a:spAutoFit/>
          </a:bodyPr>
          <a:lstStyle/>
          <a:p>
            <a:pPr algn="ctr"/>
            <a:r>
              <a:rPr kumimoji="0" lang="en-US" sz="5400" b="0" i="0" u="none" strike="noStrike" kern="1200" cap="none" spc="0" normalizeH="0" baseline="0" noProof="0">
                <a:ln>
                  <a:noFill/>
                </a:ln>
                <a:solidFill>
                  <a:schemeClr val="accent1"/>
                </a:solidFill>
                <a:effectLst/>
                <a:uLnTx/>
                <a:uFillTx/>
                <a:latin typeface="Consolas" panose="020B0609020204030204" pitchFamily="49" charset="0"/>
                <a:ea typeface="Segoe UI Emoji" panose="020B0502040204020203" pitchFamily="34" charset="0"/>
                <a:cs typeface="Consolas" panose="020B0609020204030204" pitchFamily="49" charset="0"/>
              </a:rPr>
              <a:t>7</a:t>
            </a:r>
            <a:r>
              <a:rPr kumimoji="0" lang="en-US" sz="5400" b="0" i="0" u="none" strike="noStrike" kern="1200" cap="none" spc="0" normalizeH="0" baseline="0" noProof="0">
                <a:ln>
                  <a:noFill/>
                </a:ln>
                <a:solidFill>
                  <a:srgbClr val="000000"/>
                </a:solidFill>
                <a:effectLst/>
                <a:uLnTx/>
                <a:uFillTx/>
                <a:latin typeface="Consolas" panose="020B0609020204030204" pitchFamily="49" charset="0"/>
                <a:ea typeface="Segoe UI Emoji" panose="020B0502040204020203" pitchFamily="34" charset="0"/>
                <a:cs typeface="Consolas" panose="020B0609020204030204" pitchFamily="49" charset="0"/>
              </a:rPr>
              <a:t> % </a:t>
            </a:r>
            <a:r>
              <a:rPr kumimoji="0" lang="en-US" sz="5400" b="0" i="0" u="none" strike="noStrike" kern="1200" cap="none" spc="0" normalizeH="0" baseline="0" noProof="0">
                <a:ln>
                  <a:noFill/>
                </a:ln>
                <a:solidFill>
                  <a:schemeClr val="accent2"/>
                </a:solidFill>
                <a:effectLst/>
                <a:uLnTx/>
                <a:uFillTx/>
                <a:latin typeface="Consolas" panose="020B0609020204030204" pitchFamily="49" charset="0"/>
                <a:ea typeface="Segoe UI Emoji" panose="020B0502040204020203" pitchFamily="34" charset="0"/>
                <a:cs typeface="Consolas" panose="020B0609020204030204" pitchFamily="49" charset="0"/>
              </a:rPr>
              <a:t>3</a:t>
            </a:r>
            <a:endParaRPr lang="en-US" sz="5400">
              <a:solidFill>
                <a:schemeClr val="accent2"/>
              </a:solidFill>
              <a:latin typeface="Consolas" panose="020B0609020204030204" pitchFamily="49" charset="0"/>
              <a:cs typeface="Consolas" panose="020B0609020204030204" pitchFamily="49" charset="0"/>
            </a:endParaRPr>
          </a:p>
        </p:txBody>
      </p:sp>
      <p:sp>
        <p:nvSpPr>
          <p:cNvPr id="48" name="TextBox 47">
            <a:extLst>
              <a:ext uri="{FF2B5EF4-FFF2-40B4-BE49-F238E27FC236}">
                <a16:creationId xmlns:a16="http://schemas.microsoft.com/office/drawing/2014/main" id="{8EC0B117-4D93-6E96-644F-AE63DBA78C6D}"/>
              </a:ext>
            </a:extLst>
          </p:cNvPr>
          <p:cNvSpPr txBox="1"/>
          <p:nvPr/>
        </p:nvSpPr>
        <p:spPr>
          <a:xfrm>
            <a:off x="4565072" y="1511187"/>
            <a:ext cx="1678746" cy="769441"/>
          </a:xfrm>
          <a:prstGeom prst="rect">
            <a:avLst/>
          </a:prstGeom>
          <a:noFill/>
        </p:spPr>
        <p:txBody>
          <a:bodyPr wrap="square" rtlCol="0">
            <a:spAutoFit/>
          </a:bodyPr>
          <a:lstStyle/>
          <a:p>
            <a:r>
              <a:rPr lang="en-US" sz="4400">
                <a:latin typeface="+mj-lt"/>
              </a:rPr>
              <a:t>R</a:t>
            </a:r>
            <a:r>
              <a:rPr lang="en-US" sz="4400">
                <a:solidFill>
                  <a:schemeClr val="accent4"/>
                </a:solidFill>
                <a:latin typeface="+mj-lt"/>
              </a:rPr>
              <a:t>1</a:t>
            </a:r>
          </a:p>
        </p:txBody>
      </p:sp>
    </p:spTree>
    <p:extLst>
      <p:ext uri="{BB962C8B-B14F-4D97-AF65-F5344CB8AC3E}">
        <p14:creationId xmlns:p14="http://schemas.microsoft.com/office/powerpoint/2010/main" val="3673123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p:bldP spid="13" grpId="0"/>
      <p:bldP spid="14" grpId="0"/>
      <p:bldP spid="21" grpId="0"/>
      <p:bldP spid="23" grpId="0"/>
      <p:bldP spid="4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9A1AD-DF44-A167-7654-1A087B9ED75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75B6C2-B9C2-614E-8D8C-482F33A5F490}"/>
              </a:ext>
            </a:extLst>
          </p:cNvPr>
          <p:cNvSpPr txBox="1"/>
          <p:nvPr/>
        </p:nvSpPr>
        <p:spPr>
          <a:xfrm>
            <a:off x="852663" y="2265150"/>
            <a:ext cx="1249122" cy="769441"/>
          </a:xfrm>
          <a:prstGeom prst="rect">
            <a:avLst/>
          </a:prstGeom>
          <a:noFill/>
        </p:spPr>
        <p:txBody>
          <a:bodyPr wrap="square" rtlCol="0">
            <a:spAutoFit/>
          </a:bodyPr>
          <a:lstStyle/>
          <a:p>
            <a:r>
              <a:rPr lang="en-US" sz="4400">
                <a:solidFill>
                  <a:schemeClr val="accent1"/>
                </a:solidFill>
                <a:latin typeface="+mj-lt"/>
              </a:rPr>
              <a:t>-7</a:t>
            </a:r>
          </a:p>
        </p:txBody>
      </p:sp>
      <p:cxnSp>
        <p:nvCxnSpPr>
          <p:cNvPr id="3" name="Straight Connector 2">
            <a:extLst>
              <a:ext uri="{FF2B5EF4-FFF2-40B4-BE49-F238E27FC236}">
                <a16:creationId xmlns:a16="http://schemas.microsoft.com/office/drawing/2014/main" id="{7CDB66C4-8A54-4D41-8F19-5223B148F26A}"/>
              </a:ext>
            </a:extLst>
          </p:cNvPr>
          <p:cNvCxnSpPr>
            <a:cxnSpLocks/>
          </p:cNvCxnSpPr>
          <p:nvPr/>
        </p:nvCxnSpPr>
        <p:spPr>
          <a:xfrm>
            <a:off x="783388" y="2309743"/>
            <a:ext cx="0" cy="615236"/>
          </a:xfrm>
          <a:prstGeom prst="line">
            <a:avLst/>
          </a:prstGeom>
          <a:ln w="57150">
            <a:solidFill>
              <a:schemeClr val="accent6"/>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 name="Straight Connector 3">
            <a:extLst>
              <a:ext uri="{FF2B5EF4-FFF2-40B4-BE49-F238E27FC236}">
                <a16:creationId xmlns:a16="http://schemas.microsoft.com/office/drawing/2014/main" id="{D528D3D6-53AA-B95B-C894-3C6502DC03B5}"/>
              </a:ext>
            </a:extLst>
          </p:cNvPr>
          <p:cNvCxnSpPr>
            <a:cxnSpLocks/>
          </p:cNvCxnSpPr>
          <p:nvPr/>
        </p:nvCxnSpPr>
        <p:spPr>
          <a:xfrm>
            <a:off x="783388" y="2337453"/>
            <a:ext cx="678873" cy="0"/>
          </a:xfrm>
          <a:prstGeom prst="line">
            <a:avLst/>
          </a:prstGeom>
          <a:ln w="57150">
            <a:solidFill>
              <a:schemeClr val="accent6"/>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7A71F06E-3BDF-6280-D070-5535C4FB86E2}"/>
              </a:ext>
            </a:extLst>
          </p:cNvPr>
          <p:cNvSpPr txBox="1"/>
          <p:nvPr/>
        </p:nvSpPr>
        <p:spPr>
          <a:xfrm>
            <a:off x="243064" y="2265150"/>
            <a:ext cx="471048" cy="769441"/>
          </a:xfrm>
          <a:prstGeom prst="rect">
            <a:avLst/>
          </a:prstGeom>
          <a:noFill/>
        </p:spPr>
        <p:txBody>
          <a:bodyPr wrap="square" rtlCol="0">
            <a:spAutoFit/>
          </a:bodyPr>
          <a:lstStyle/>
          <a:p>
            <a:r>
              <a:rPr lang="en-US" sz="4400">
                <a:solidFill>
                  <a:schemeClr val="accent2"/>
                </a:solidFill>
                <a:latin typeface="+mj-lt"/>
              </a:rPr>
              <a:t>3</a:t>
            </a:r>
          </a:p>
        </p:txBody>
      </p:sp>
      <p:sp>
        <p:nvSpPr>
          <p:cNvPr id="6" name="TextBox 5">
            <a:extLst>
              <a:ext uri="{FF2B5EF4-FFF2-40B4-BE49-F238E27FC236}">
                <a16:creationId xmlns:a16="http://schemas.microsoft.com/office/drawing/2014/main" id="{6911F219-7122-7546-2CCF-C210453985DD}"/>
              </a:ext>
            </a:extLst>
          </p:cNvPr>
          <p:cNvSpPr txBox="1"/>
          <p:nvPr/>
        </p:nvSpPr>
        <p:spPr>
          <a:xfrm>
            <a:off x="838808" y="1589308"/>
            <a:ext cx="1134644" cy="769441"/>
          </a:xfrm>
          <a:prstGeom prst="rect">
            <a:avLst/>
          </a:prstGeom>
          <a:noFill/>
        </p:spPr>
        <p:txBody>
          <a:bodyPr wrap="square" rtlCol="0">
            <a:spAutoFit/>
          </a:bodyPr>
          <a:lstStyle/>
          <a:p>
            <a:r>
              <a:rPr lang="en-US" sz="4400">
                <a:latin typeface="+mj-lt"/>
              </a:rPr>
              <a:t>-2</a:t>
            </a:r>
            <a:endParaRPr lang="en-US" sz="4400">
              <a:solidFill>
                <a:schemeClr val="accent4"/>
              </a:solidFill>
              <a:latin typeface="+mj-lt"/>
            </a:endParaRPr>
          </a:p>
        </p:txBody>
      </p:sp>
      <p:sp>
        <p:nvSpPr>
          <p:cNvPr id="7" name="TextBox 6">
            <a:extLst>
              <a:ext uri="{FF2B5EF4-FFF2-40B4-BE49-F238E27FC236}">
                <a16:creationId xmlns:a16="http://schemas.microsoft.com/office/drawing/2014/main" id="{835996DC-DC7F-4207-A615-33A96C0407CD}"/>
              </a:ext>
            </a:extLst>
          </p:cNvPr>
          <p:cNvSpPr txBox="1"/>
          <p:nvPr/>
        </p:nvSpPr>
        <p:spPr>
          <a:xfrm>
            <a:off x="852662" y="3106894"/>
            <a:ext cx="1120789" cy="769441"/>
          </a:xfrm>
          <a:prstGeom prst="rect">
            <a:avLst/>
          </a:prstGeom>
          <a:noFill/>
        </p:spPr>
        <p:txBody>
          <a:bodyPr wrap="square" rtlCol="0">
            <a:spAutoFit/>
          </a:bodyPr>
          <a:lstStyle/>
          <a:p>
            <a:r>
              <a:rPr lang="en-US" sz="4400">
                <a:latin typeface="+mj-lt"/>
              </a:rPr>
              <a:t>-6</a:t>
            </a:r>
          </a:p>
        </p:txBody>
      </p:sp>
      <p:cxnSp>
        <p:nvCxnSpPr>
          <p:cNvPr id="8" name="Straight Connector 7">
            <a:extLst>
              <a:ext uri="{FF2B5EF4-FFF2-40B4-BE49-F238E27FC236}">
                <a16:creationId xmlns:a16="http://schemas.microsoft.com/office/drawing/2014/main" id="{180501CA-EADC-3E55-66A5-2A0EDC6AFF72}"/>
              </a:ext>
            </a:extLst>
          </p:cNvPr>
          <p:cNvCxnSpPr>
            <a:cxnSpLocks/>
          </p:cNvCxnSpPr>
          <p:nvPr/>
        </p:nvCxnSpPr>
        <p:spPr>
          <a:xfrm flipH="1">
            <a:off x="572001" y="3876335"/>
            <a:ext cx="1120789" cy="0"/>
          </a:xfrm>
          <a:prstGeom prst="line">
            <a:avLst/>
          </a:prstGeom>
          <a:ln w="57150">
            <a:solidFill>
              <a:schemeClr val="accent6"/>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D62801C6-2EB6-F728-75F7-BBDD65F938AE}"/>
              </a:ext>
            </a:extLst>
          </p:cNvPr>
          <p:cNvSpPr txBox="1"/>
          <p:nvPr/>
        </p:nvSpPr>
        <p:spPr>
          <a:xfrm>
            <a:off x="527399" y="2748093"/>
            <a:ext cx="734289" cy="769441"/>
          </a:xfrm>
          <a:prstGeom prst="rect">
            <a:avLst/>
          </a:prstGeom>
          <a:noFill/>
        </p:spPr>
        <p:txBody>
          <a:bodyPr wrap="square" rtlCol="0">
            <a:spAutoFit/>
          </a:bodyPr>
          <a:lstStyle/>
          <a:p>
            <a:r>
              <a:rPr lang="en-US" sz="4400">
                <a:solidFill>
                  <a:schemeClr val="bg2"/>
                </a:solidFill>
                <a:latin typeface="+mj-lt"/>
              </a:rPr>
              <a:t>-</a:t>
            </a:r>
          </a:p>
        </p:txBody>
      </p:sp>
      <p:sp>
        <p:nvSpPr>
          <p:cNvPr id="10" name="TextBox 9">
            <a:extLst>
              <a:ext uri="{FF2B5EF4-FFF2-40B4-BE49-F238E27FC236}">
                <a16:creationId xmlns:a16="http://schemas.microsoft.com/office/drawing/2014/main" id="{14E2A295-6043-F5AE-3CB6-F0CC2550D390}"/>
              </a:ext>
            </a:extLst>
          </p:cNvPr>
          <p:cNvSpPr txBox="1"/>
          <p:nvPr/>
        </p:nvSpPr>
        <p:spPr>
          <a:xfrm>
            <a:off x="852662" y="3928173"/>
            <a:ext cx="1249122" cy="769441"/>
          </a:xfrm>
          <a:prstGeom prst="rect">
            <a:avLst/>
          </a:prstGeom>
          <a:noFill/>
        </p:spPr>
        <p:txBody>
          <a:bodyPr wrap="square" rtlCol="0">
            <a:spAutoFit/>
          </a:bodyPr>
          <a:lstStyle/>
          <a:p>
            <a:r>
              <a:rPr lang="en-US" sz="4400">
                <a:solidFill>
                  <a:schemeClr val="accent4"/>
                </a:solidFill>
                <a:latin typeface="+mj-lt"/>
              </a:rPr>
              <a:t>-1</a:t>
            </a:r>
          </a:p>
        </p:txBody>
      </p:sp>
      <p:cxnSp>
        <p:nvCxnSpPr>
          <p:cNvPr id="11" name="Straight Arrow Connector 10">
            <a:extLst>
              <a:ext uri="{FF2B5EF4-FFF2-40B4-BE49-F238E27FC236}">
                <a16:creationId xmlns:a16="http://schemas.microsoft.com/office/drawing/2014/main" id="{656B1CB9-8D66-78CC-C3CF-174603D811DD}"/>
              </a:ext>
            </a:extLst>
          </p:cNvPr>
          <p:cNvCxnSpPr>
            <a:cxnSpLocks/>
          </p:cNvCxnSpPr>
          <p:nvPr/>
        </p:nvCxnSpPr>
        <p:spPr>
          <a:xfrm flipH="1">
            <a:off x="1650293" y="2804815"/>
            <a:ext cx="603819" cy="226769"/>
          </a:xfrm>
          <a:prstGeom prst="straightConnector1">
            <a:avLst/>
          </a:prstGeom>
          <a:ln w="57150">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A2E18E1B-A0EC-47CB-50EF-F4C9B76E6E78}"/>
              </a:ext>
            </a:extLst>
          </p:cNvPr>
          <p:cNvSpPr txBox="1"/>
          <p:nvPr/>
        </p:nvSpPr>
        <p:spPr>
          <a:xfrm>
            <a:off x="2320662" y="2543178"/>
            <a:ext cx="1837001" cy="1200329"/>
          </a:xfrm>
          <a:prstGeom prst="rect">
            <a:avLst/>
          </a:prstGeom>
          <a:noFill/>
        </p:spPr>
        <p:txBody>
          <a:bodyPr wrap="square" rtlCol="0">
            <a:spAutoFit/>
          </a:bodyPr>
          <a:lstStyle/>
          <a:p>
            <a:r>
              <a:rPr lang="en-US" sz="2400">
                <a:solidFill>
                  <a:schemeClr val="accent5"/>
                </a:solidFill>
                <a:latin typeface="Consolas" panose="020B0609020204030204" pitchFamily="49" charset="0"/>
                <a:cs typeface="Consolas" panose="020B0609020204030204" pitchFamily="49" charset="0"/>
              </a:rPr>
              <a:t>-7 - (-</a:t>
            </a:r>
            <a:r>
              <a:rPr lang="en-US" sz="2400">
                <a:solidFill>
                  <a:schemeClr val="accent5"/>
                </a:solidFill>
                <a:latin typeface="+mj-lt"/>
              </a:rPr>
              <a:t>6)</a:t>
            </a:r>
          </a:p>
          <a:p>
            <a:r>
              <a:rPr lang="en-US" sz="2400">
                <a:solidFill>
                  <a:schemeClr val="accent5"/>
                </a:solidFill>
                <a:latin typeface="+mj-lt"/>
              </a:rPr>
              <a:t>= -7 + 6</a:t>
            </a:r>
          </a:p>
          <a:p>
            <a:r>
              <a:rPr lang="en-US" sz="2400">
                <a:solidFill>
                  <a:schemeClr val="accent5"/>
                </a:solidFill>
                <a:latin typeface="+mj-lt"/>
              </a:rPr>
              <a:t>= -1</a:t>
            </a:r>
          </a:p>
        </p:txBody>
      </p:sp>
      <p:sp>
        <p:nvSpPr>
          <p:cNvPr id="14" name="TextBox 13">
            <a:extLst>
              <a:ext uri="{FF2B5EF4-FFF2-40B4-BE49-F238E27FC236}">
                <a16:creationId xmlns:a16="http://schemas.microsoft.com/office/drawing/2014/main" id="{B47705B2-ABF4-1FAF-E352-A24F35C38503}"/>
              </a:ext>
            </a:extLst>
          </p:cNvPr>
          <p:cNvSpPr txBox="1"/>
          <p:nvPr/>
        </p:nvSpPr>
        <p:spPr>
          <a:xfrm>
            <a:off x="249985" y="456442"/>
            <a:ext cx="3707651" cy="830997"/>
          </a:xfrm>
          <a:prstGeom prst="rect">
            <a:avLst/>
          </a:prstGeom>
          <a:noFill/>
        </p:spPr>
        <p:txBody>
          <a:bodyPr wrap="square" rtlCol="0">
            <a:spAutoFit/>
          </a:bodyPr>
          <a:lstStyle/>
          <a:p>
            <a:r>
              <a:rPr kumimoji="0" lang="en-US" sz="4800" b="0" i="0" u="none" strike="noStrike" kern="1200" cap="none" spc="0" normalizeH="0" baseline="0" noProof="0">
                <a:ln>
                  <a:noFill/>
                </a:ln>
                <a:solidFill>
                  <a:srgbClr val="000000"/>
                </a:solidFill>
                <a:effectLst/>
                <a:uLnTx/>
                <a:uFillTx/>
                <a:latin typeface="Consolas" panose="020B0609020204030204" pitchFamily="49" charset="0"/>
                <a:ea typeface="Segoe UI Emoji" panose="020B0502040204020203" pitchFamily="34" charset="0"/>
                <a:cs typeface="Consolas" panose="020B0609020204030204" pitchFamily="49" charset="0"/>
              </a:rPr>
              <a:t>☕️ </a:t>
            </a:r>
            <a:r>
              <a:rPr kumimoji="0" lang="en-US" sz="4800" b="0" i="0" u="none" strike="noStrike" kern="1200" cap="none" spc="0" normalizeH="0" baseline="0" noProof="0">
                <a:ln>
                  <a:noFill/>
                </a:ln>
                <a:solidFill>
                  <a:schemeClr val="accent1"/>
                </a:solidFill>
                <a:effectLst/>
                <a:uLnTx/>
                <a:uFillTx/>
                <a:latin typeface="Consolas" panose="020B0609020204030204" pitchFamily="49" charset="0"/>
                <a:ea typeface="Segoe UI Emoji" panose="020B0502040204020203" pitchFamily="34" charset="0"/>
                <a:cs typeface="Consolas" panose="020B0609020204030204" pitchFamily="49" charset="0"/>
              </a:rPr>
              <a:t>-7</a:t>
            </a:r>
            <a:r>
              <a:rPr kumimoji="0" lang="en-US" sz="4800" b="0" i="0" u="none" strike="noStrike" kern="1200" cap="none" spc="0" normalizeH="0" baseline="0" noProof="0">
                <a:ln>
                  <a:noFill/>
                </a:ln>
                <a:solidFill>
                  <a:srgbClr val="000000"/>
                </a:solidFill>
                <a:effectLst/>
                <a:uLnTx/>
                <a:uFillTx/>
                <a:latin typeface="Consolas" panose="020B0609020204030204" pitchFamily="49" charset="0"/>
                <a:ea typeface="Segoe UI Emoji" panose="020B0502040204020203" pitchFamily="34" charset="0"/>
                <a:cs typeface="Consolas" panose="020B0609020204030204" pitchFamily="49" charset="0"/>
              </a:rPr>
              <a:t> % </a:t>
            </a:r>
            <a:r>
              <a:rPr kumimoji="0" lang="en-US" sz="4800" b="0" i="0" u="none" strike="noStrike" kern="1200" cap="none" spc="0" normalizeH="0" baseline="0" noProof="0">
                <a:ln>
                  <a:noFill/>
                </a:ln>
                <a:solidFill>
                  <a:schemeClr val="accent2"/>
                </a:solidFill>
                <a:effectLst/>
                <a:uLnTx/>
                <a:uFillTx/>
                <a:latin typeface="Consolas" panose="020B0609020204030204" pitchFamily="49" charset="0"/>
                <a:ea typeface="Segoe UI Emoji" panose="020B0502040204020203" pitchFamily="34" charset="0"/>
                <a:cs typeface="Consolas" panose="020B0609020204030204" pitchFamily="49" charset="0"/>
              </a:rPr>
              <a:t>3</a:t>
            </a:r>
            <a:endParaRPr lang="en-US" sz="4800">
              <a:solidFill>
                <a:schemeClr val="accent2"/>
              </a:solidFill>
              <a:latin typeface="Consolas" panose="020B0609020204030204" pitchFamily="49" charset="0"/>
              <a:cs typeface="Consolas" panose="020B0609020204030204" pitchFamily="49" charset="0"/>
            </a:endParaRPr>
          </a:p>
        </p:txBody>
      </p:sp>
      <p:sp>
        <p:nvSpPr>
          <p:cNvPr id="39" name="TextBox 38">
            <a:extLst>
              <a:ext uri="{FF2B5EF4-FFF2-40B4-BE49-F238E27FC236}">
                <a16:creationId xmlns:a16="http://schemas.microsoft.com/office/drawing/2014/main" id="{2F02291F-EC26-656C-EB1B-B2AB6EDCF1DA}"/>
              </a:ext>
            </a:extLst>
          </p:cNvPr>
          <p:cNvSpPr txBox="1"/>
          <p:nvPr/>
        </p:nvSpPr>
        <p:spPr>
          <a:xfrm>
            <a:off x="4216536" y="312036"/>
            <a:ext cx="5199206" cy="2123658"/>
          </a:xfrm>
          <a:prstGeom prst="rect">
            <a:avLst/>
          </a:prstGeom>
          <a:noFill/>
        </p:spPr>
        <p:txBody>
          <a:bodyPr wrap="square" rtlCol="0">
            <a:spAutoFit/>
          </a:bodyPr>
          <a:lstStyle/>
          <a:p>
            <a:r>
              <a:rPr kumimoji="0" lang="en-US" sz="3600" b="0" i="0" u="none" strike="noStrike" kern="1200" cap="none" spc="0" normalizeH="0" baseline="0" noProof="0">
                <a:ln>
                  <a:noFill/>
                </a:ln>
                <a:solidFill>
                  <a:srgbClr val="000000"/>
                </a:solidFill>
                <a:effectLst/>
                <a:uLnTx/>
                <a:uFillTx/>
                <a:latin typeface="Consolas" panose="020B0609020204030204" pitchFamily="49" charset="0"/>
                <a:ea typeface="Segoe UI Emoji" panose="020B0502040204020203" pitchFamily="34" charset="0"/>
                <a:cs typeface="Consolas" panose="020B0609020204030204" pitchFamily="49" charset="0"/>
              </a:rPr>
              <a:t>🐍 </a:t>
            </a:r>
            <a:r>
              <a:rPr kumimoji="0" lang="en-US" sz="3600" b="0" i="0" u="none" strike="noStrike" kern="1200" cap="none" spc="0" normalizeH="0" baseline="0" noProof="0">
                <a:ln>
                  <a:noFill/>
                </a:ln>
                <a:solidFill>
                  <a:schemeClr val="accent1"/>
                </a:solidFill>
                <a:effectLst/>
                <a:uLnTx/>
                <a:uFillTx/>
                <a:latin typeface="Consolas" panose="020B0609020204030204" pitchFamily="49" charset="0"/>
                <a:ea typeface="Segoe UI Emoji" panose="020B0502040204020203" pitchFamily="34" charset="0"/>
                <a:cs typeface="Consolas" panose="020B0609020204030204" pitchFamily="49" charset="0"/>
              </a:rPr>
              <a:t>-7</a:t>
            </a:r>
            <a:r>
              <a:rPr kumimoji="0" lang="en-US" sz="3600" b="0" i="0" u="none" strike="noStrike" kern="1200" cap="none" spc="0" normalizeH="0" baseline="0" noProof="0">
                <a:ln>
                  <a:noFill/>
                </a:ln>
                <a:solidFill>
                  <a:srgbClr val="000000"/>
                </a:solidFill>
                <a:effectLst/>
                <a:uLnTx/>
                <a:uFillTx/>
                <a:latin typeface="Consolas" panose="020B0609020204030204" pitchFamily="49" charset="0"/>
                <a:ea typeface="Segoe UI Emoji" panose="020B0502040204020203" pitchFamily="34" charset="0"/>
                <a:cs typeface="Consolas" panose="020B0609020204030204" pitchFamily="49" charset="0"/>
              </a:rPr>
              <a:t> % </a:t>
            </a:r>
            <a:r>
              <a:rPr kumimoji="0" lang="en-US" sz="3600" b="0" i="0" u="none" strike="noStrike" kern="1200" cap="none" spc="0" normalizeH="0" baseline="0" noProof="0">
                <a:ln>
                  <a:noFill/>
                </a:ln>
                <a:solidFill>
                  <a:schemeClr val="accent2"/>
                </a:solidFill>
                <a:effectLst/>
                <a:uLnTx/>
                <a:uFillTx/>
                <a:latin typeface="Consolas" panose="020B0609020204030204" pitchFamily="49" charset="0"/>
                <a:ea typeface="Segoe UI Emoji" panose="020B0502040204020203" pitchFamily="34" charset="0"/>
                <a:cs typeface="Consolas" panose="020B0609020204030204" pitchFamily="49" charset="0"/>
              </a:rPr>
              <a:t>3</a:t>
            </a:r>
          </a:p>
          <a:p>
            <a:r>
              <a:rPr kumimoji="0" lang="en-US" sz="3600" b="0" i="0" u="none" strike="noStrike" kern="1200" cap="none" spc="0" normalizeH="0" baseline="0" noProof="0">
                <a:ln>
                  <a:noFill/>
                </a:ln>
                <a:solidFill>
                  <a:srgbClr val="000000"/>
                </a:solidFill>
                <a:effectLst/>
                <a:uLnTx/>
                <a:uFillTx/>
                <a:latin typeface="Consolas" panose="020B0609020204030204" pitchFamily="49" charset="0"/>
                <a:ea typeface="Segoe UI Emoji" panose="020B0502040204020203" pitchFamily="34" charset="0"/>
                <a:cs typeface="Consolas" panose="020B0609020204030204" pitchFamily="49" charset="0"/>
              </a:rPr>
              <a:t>☕️</a:t>
            </a:r>
            <a:r>
              <a:rPr kumimoji="0" lang="en-US" sz="2800" b="0" i="0" u="none" strike="noStrike" kern="1200" cap="none" spc="0" normalizeH="0" baseline="0" noProof="0">
                <a:ln>
                  <a:noFill/>
                </a:ln>
                <a:solidFill>
                  <a:srgbClr val="000000"/>
                </a:solidFill>
                <a:effectLst/>
                <a:uLnTx/>
                <a:uFillTx/>
                <a:latin typeface="Consolas" panose="020B0609020204030204" pitchFamily="49" charset="0"/>
                <a:ea typeface="Segoe UI Emoji" panose="020B0502040204020203" pitchFamily="34" charset="0"/>
                <a:cs typeface="Consolas" panose="020B0609020204030204" pitchFamily="49" charset="0"/>
              </a:rPr>
              <a:t> </a:t>
            </a:r>
            <a:r>
              <a:rPr kumimoji="0" lang="en-US" sz="2800" b="0" i="0" u="none" strike="noStrike" kern="1200" cap="none" spc="0" normalizeH="0" baseline="0" noProof="0">
                <a:ln>
                  <a:noFill/>
                </a:ln>
                <a:solidFill>
                  <a:srgbClr val="00007F"/>
                </a:solidFill>
                <a:effectLst/>
                <a:uLnTx/>
                <a:uFillTx/>
                <a:latin typeface="Consolas" panose="020B0609020204030204" pitchFamily="49" charset="0"/>
                <a:ea typeface="Segoe UI Emoji" panose="020B0502040204020203" pitchFamily="34" charset="0"/>
                <a:cs typeface="Consolas" panose="020B0609020204030204" pitchFamily="49" charset="0"/>
              </a:rPr>
              <a:t>Math</a:t>
            </a:r>
            <a:r>
              <a:rPr kumimoji="0" lang="en-US" sz="2800" b="0" i="0" u="none" strike="noStrike" kern="1200" cap="none" spc="0" normalizeH="0" baseline="0" noProof="0">
                <a:ln>
                  <a:noFill/>
                </a:ln>
                <a:solidFill>
                  <a:srgbClr val="000000"/>
                </a:solidFill>
                <a:effectLst/>
                <a:uLnTx/>
                <a:uFillTx/>
                <a:latin typeface="Consolas" panose="020B0609020204030204" pitchFamily="49" charset="0"/>
                <a:ea typeface="Segoe UI Emoji" panose="020B0502040204020203" pitchFamily="34" charset="0"/>
                <a:cs typeface="Consolas" panose="020B0609020204030204" pitchFamily="49" charset="0"/>
              </a:rPr>
              <a:t>.floorMod(</a:t>
            </a:r>
            <a:r>
              <a:rPr kumimoji="0" lang="en-US" sz="2800" b="0" i="0" u="none" strike="noStrike" kern="1200" cap="none" spc="0" normalizeH="0" baseline="0" noProof="0">
                <a:ln>
                  <a:noFill/>
                </a:ln>
                <a:solidFill>
                  <a:schemeClr val="accent1"/>
                </a:solidFill>
                <a:effectLst/>
                <a:uLnTx/>
                <a:uFillTx/>
                <a:latin typeface="Consolas" panose="020B0609020204030204" pitchFamily="49" charset="0"/>
                <a:ea typeface="Segoe UI Emoji" panose="020B0502040204020203" pitchFamily="34" charset="0"/>
                <a:cs typeface="Consolas" panose="020B0609020204030204" pitchFamily="49" charset="0"/>
              </a:rPr>
              <a:t>-7</a:t>
            </a:r>
            <a:r>
              <a:rPr kumimoji="0" lang="en-US" sz="2800" b="0" i="0" u="none" strike="noStrike" kern="1200" cap="none" spc="0" normalizeH="0" baseline="0" noProof="0">
                <a:ln>
                  <a:noFill/>
                </a:ln>
                <a:solidFill>
                  <a:srgbClr val="000000"/>
                </a:solidFill>
                <a:effectLst/>
                <a:uLnTx/>
                <a:uFillTx/>
                <a:latin typeface="Consolas" panose="020B0609020204030204" pitchFamily="49" charset="0"/>
                <a:ea typeface="Segoe UI Emoji" panose="020B0502040204020203" pitchFamily="34" charset="0"/>
                <a:cs typeface="Consolas" panose="020B0609020204030204" pitchFamily="49" charset="0"/>
              </a:rPr>
              <a:t>, </a:t>
            </a:r>
            <a:r>
              <a:rPr kumimoji="0" lang="en-US" sz="2800" b="0" i="0" u="none" strike="noStrike" kern="1200" cap="none" spc="0" normalizeH="0" baseline="0" noProof="0">
                <a:ln>
                  <a:noFill/>
                </a:ln>
                <a:solidFill>
                  <a:schemeClr val="accent2"/>
                </a:solidFill>
                <a:effectLst/>
                <a:uLnTx/>
                <a:uFillTx/>
                <a:latin typeface="Consolas" panose="020B0609020204030204" pitchFamily="49" charset="0"/>
                <a:ea typeface="Segoe UI Emoji" panose="020B0502040204020203" pitchFamily="34" charset="0"/>
                <a:cs typeface="Consolas" panose="020B0609020204030204" pitchFamily="49" charset="0"/>
              </a:rPr>
              <a:t>3</a:t>
            </a:r>
            <a:r>
              <a:rPr kumimoji="0" lang="en-US" sz="2800" b="0" i="0" u="none" strike="noStrike" kern="1200" cap="none" spc="0" normalizeH="0" baseline="0" noProof="0">
                <a:ln>
                  <a:noFill/>
                </a:ln>
                <a:solidFill>
                  <a:srgbClr val="000000"/>
                </a:solidFill>
                <a:effectLst/>
                <a:uLnTx/>
                <a:uFillTx/>
                <a:latin typeface="Consolas" panose="020B0609020204030204" pitchFamily="49" charset="0"/>
                <a:ea typeface="Segoe UI Emoji" panose="020B0502040204020203" pitchFamily="34" charset="0"/>
                <a:cs typeface="Consolas" panose="020B0609020204030204" pitchFamily="49" charset="0"/>
              </a:rPr>
              <a:t>)</a:t>
            </a:r>
          </a:p>
          <a:p>
            <a:r>
              <a:rPr lang="en-US" sz="2800">
                <a:solidFill>
                  <a:srgbClr val="000000"/>
                </a:solidFill>
                <a:latin typeface="Consolas" panose="020B0609020204030204" pitchFamily="49" charset="0"/>
                <a:ea typeface="Segoe UI Emoji" panose="020B0502040204020203" pitchFamily="34" charset="0"/>
                <a:cs typeface="Consolas" panose="020B0609020204030204" pitchFamily="49" charset="0"/>
              </a:rPr>
              <a:t>🐮.☕️ </a:t>
            </a:r>
            <a:r>
              <a:rPr lang="en-US" sz="2800">
                <a:solidFill>
                  <a:srgbClr val="00007F"/>
                </a:solidFill>
                <a:latin typeface="Consolas" panose="020B0609020204030204" pitchFamily="49" charset="0"/>
                <a:ea typeface="Segoe UI Emoji" panose="020B0502040204020203" pitchFamily="34" charset="0"/>
                <a:cs typeface="Consolas" panose="020B0609020204030204" pitchFamily="49" charset="0"/>
              </a:rPr>
              <a:t>MODULO</a:t>
            </a:r>
            <a:r>
              <a:rPr lang="en-US" sz="2800">
                <a:solidFill>
                  <a:srgbClr val="000000"/>
                </a:solidFill>
                <a:latin typeface="Consolas" panose="020B0609020204030204" pitchFamily="49" charset="0"/>
                <a:ea typeface="Segoe UI Emoji" panose="020B0502040204020203" pitchFamily="34" charset="0"/>
                <a:cs typeface="Consolas" panose="020B0609020204030204" pitchFamily="49" charset="0"/>
              </a:rPr>
              <a:t>(</a:t>
            </a:r>
            <a:r>
              <a:rPr lang="en-US" sz="2800">
                <a:solidFill>
                  <a:schemeClr val="accent1"/>
                </a:solidFill>
                <a:latin typeface="Consolas" panose="020B0609020204030204" pitchFamily="49" charset="0"/>
                <a:ea typeface="Segoe UI Emoji" panose="020B0502040204020203" pitchFamily="34" charset="0"/>
                <a:cs typeface="Consolas" panose="020B0609020204030204" pitchFamily="49" charset="0"/>
              </a:rPr>
              <a:t>-7</a:t>
            </a:r>
            <a:r>
              <a:rPr lang="en-US" sz="2800">
                <a:solidFill>
                  <a:srgbClr val="000000"/>
                </a:solidFill>
                <a:latin typeface="Consolas" panose="020B0609020204030204" pitchFamily="49" charset="0"/>
                <a:ea typeface="Segoe UI Emoji" panose="020B0502040204020203" pitchFamily="34" charset="0"/>
                <a:cs typeface="Consolas" panose="020B0609020204030204" pitchFamily="49" charset="0"/>
              </a:rPr>
              <a:t>, </a:t>
            </a:r>
            <a:r>
              <a:rPr lang="en-US" sz="2800">
                <a:solidFill>
                  <a:schemeClr val="accent2"/>
                </a:solidFill>
                <a:latin typeface="Consolas" panose="020B0609020204030204" pitchFamily="49" charset="0"/>
                <a:ea typeface="Segoe UI Emoji" panose="020B0502040204020203" pitchFamily="34" charset="0"/>
                <a:cs typeface="Consolas" panose="020B0609020204030204" pitchFamily="49" charset="0"/>
              </a:rPr>
              <a:t>3</a:t>
            </a:r>
            <a:r>
              <a:rPr lang="en-US" sz="2800">
                <a:solidFill>
                  <a:srgbClr val="000000"/>
                </a:solidFill>
                <a:latin typeface="Consolas" panose="020B0609020204030204" pitchFamily="49" charset="0"/>
                <a:ea typeface="Segoe UI Emoji" panose="020B0502040204020203" pitchFamily="34" charset="0"/>
                <a:cs typeface="Consolas" panose="020B0609020204030204" pitchFamily="49" charset="0"/>
              </a:rPr>
              <a:t>)</a:t>
            </a:r>
            <a:endParaRPr lang="en-US" sz="2800">
              <a:solidFill>
                <a:schemeClr val="accent4"/>
              </a:solidFill>
              <a:latin typeface="Consolas" panose="020B0609020204030204" pitchFamily="49" charset="0"/>
              <a:cs typeface="Consolas" panose="020B0609020204030204" pitchFamily="49" charset="0"/>
            </a:endParaRPr>
          </a:p>
          <a:p>
            <a:endParaRPr lang="en-US" sz="2800">
              <a:solidFill>
                <a:schemeClr val="accent4"/>
              </a:solidFill>
              <a:latin typeface="Consolas" panose="020B0609020204030204" pitchFamily="49" charset="0"/>
              <a:cs typeface="Consolas" panose="020B0609020204030204" pitchFamily="49" charset="0"/>
            </a:endParaRPr>
          </a:p>
        </p:txBody>
      </p:sp>
      <p:cxnSp>
        <p:nvCxnSpPr>
          <p:cNvPr id="41" name="Straight Connector 40">
            <a:extLst>
              <a:ext uri="{FF2B5EF4-FFF2-40B4-BE49-F238E27FC236}">
                <a16:creationId xmlns:a16="http://schemas.microsoft.com/office/drawing/2014/main" id="{A0461AB3-6856-835B-D472-88D23AD89114}"/>
              </a:ext>
            </a:extLst>
          </p:cNvPr>
          <p:cNvCxnSpPr>
            <a:cxnSpLocks/>
          </p:cNvCxnSpPr>
          <p:nvPr/>
        </p:nvCxnSpPr>
        <p:spPr>
          <a:xfrm flipV="1">
            <a:off x="4057649" y="0"/>
            <a:ext cx="0" cy="5143500"/>
          </a:xfrm>
          <a:prstGeom prst="line">
            <a:avLst/>
          </a:prstGeom>
          <a:ln w="76200">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4" name="TextBox 43">
            <a:extLst>
              <a:ext uri="{FF2B5EF4-FFF2-40B4-BE49-F238E27FC236}">
                <a16:creationId xmlns:a16="http://schemas.microsoft.com/office/drawing/2014/main" id="{BAF3C500-0B92-0C32-1A6D-5A1EF4E5A3F6}"/>
              </a:ext>
            </a:extLst>
          </p:cNvPr>
          <p:cNvSpPr txBox="1"/>
          <p:nvPr/>
        </p:nvSpPr>
        <p:spPr>
          <a:xfrm>
            <a:off x="4586656" y="3004983"/>
            <a:ext cx="1094816" cy="769441"/>
          </a:xfrm>
          <a:prstGeom prst="rect">
            <a:avLst/>
          </a:prstGeom>
          <a:noFill/>
        </p:spPr>
        <p:txBody>
          <a:bodyPr wrap="square" rtlCol="0">
            <a:spAutoFit/>
          </a:bodyPr>
          <a:lstStyle/>
          <a:p>
            <a:r>
              <a:rPr lang="en-US" sz="4400">
                <a:solidFill>
                  <a:schemeClr val="accent4">
                    <a:lumMod val="50000"/>
                  </a:schemeClr>
                </a:solidFill>
                <a:latin typeface="+mj-lt"/>
              </a:rPr>
              <a:t>-1</a:t>
            </a:r>
            <a:endParaRPr lang="en-US" sz="4400" b="1">
              <a:solidFill>
                <a:schemeClr val="accent4"/>
              </a:solidFill>
              <a:latin typeface="+mj-lt"/>
            </a:endParaRPr>
          </a:p>
        </p:txBody>
      </p:sp>
      <p:cxnSp>
        <p:nvCxnSpPr>
          <p:cNvPr id="45" name="Straight Arrow Connector 44">
            <a:extLst>
              <a:ext uri="{FF2B5EF4-FFF2-40B4-BE49-F238E27FC236}">
                <a16:creationId xmlns:a16="http://schemas.microsoft.com/office/drawing/2014/main" id="{DB775E1E-C1A6-A630-A4A4-8EAB4D9F93BB}"/>
              </a:ext>
            </a:extLst>
          </p:cNvPr>
          <p:cNvCxnSpPr>
            <a:cxnSpLocks/>
          </p:cNvCxnSpPr>
          <p:nvPr/>
        </p:nvCxnSpPr>
        <p:spPr>
          <a:xfrm flipV="1">
            <a:off x="1692790" y="3648698"/>
            <a:ext cx="3022080" cy="689841"/>
          </a:xfrm>
          <a:prstGeom prst="straightConnector1">
            <a:avLst/>
          </a:prstGeom>
          <a:ln w="28575">
            <a:solidFill>
              <a:schemeClr val="accent4">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D18F6445-4EC4-9407-D39C-F74F58C235BA}"/>
              </a:ext>
            </a:extLst>
          </p:cNvPr>
          <p:cNvSpPr txBox="1"/>
          <p:nvPr/>
        </p:nvSpPr>
        <p:spPr>
          <a:xfrm>
            <a:off x="1462261" y="1584076"/>
            <a:ext cx="4718304" cy="769441"/>
          </a:xfrm>
          <a:prstGeom prst="rect">
            <a:avLst/>
          </a:prstGeom>
          <a:noFill/>
        </p:spPr>
        <p:txBody>
          <a:bodyPr wrap="square">
            <a:spAutoFit/>
          </a:bodyPr>
          <a:lstStyle/>
          <a:p>
            <a:r>
              <a:rPr kumimoji="0" lang="en-US" sz="4400" b="0" i="0" u="none" strike="noStrike" kern="1200" cap="none" spc="0" normalizeH="0" baseline="0" noProof="0">
                <a:ln>
                  <a:noFill/>
                </a:ln>
                <a:solidFill>
                  <a:srgbClr val="000000"/>
                </a:solidFill>
                <a:effectLst/>
                <a:uLnTx/>
                <a:uFillTx/>
                <a:latin typeface="Consolas"/>
                <a:ea typeface="+mn-ea"/>
                <a:cs typeface="+mn-cs"/>
              </a:rPr>
              <a:t>R</a:t>
            </a:r>
            <a:r>
              <a:rPr kumimoji="0" lang="en-US" sz="4400" b="0" i="0" u="none" strike="noStrike" kern="1200" cap="none" spc="0" normalizeH="0" baseline="0" noProof="0">
                <a:ln>
                  <a:noFill/>
                </a:ln>
                <a:solidFill>
                  <a:srgbClr val="A6E22E"/>
                </a:solidFill>
                <a:effectLst/>
                <a:uLnTx/>
                <a:uFillTx/>
                <a:latin typeface="Consolas"/>
                <a:ea typeface="+mn-ea"/>
                <a:cs typeface="+mn-cs"/>
              </a:rPr>
              <a:t>-1</a:t>
            </a:r>
            <a:endParaRPr lang="en-US"/>
          </a:p>
        </p:txBody>
      </p:sp>
      <p:sp>
        <p:nvSpPr>
          <p:cNvPr id="57" name="TextBox 56">
            <a:extLst>
              <a:ext uri="{FF2B5EF4-FFF2-40B4-BE49-F238E27FC236}">
                <a16:creationId xmlns:a16="http://schemas.microsoft.com/office/drawing/2014/main" id="{94B68FAF-9EF8-5BD7-F14B-039358532880}"/>
              </a:ext>
            </a:extLst>
          </p:cNvPr>
          <p:cNvSpPr txBox="1"/>
          <p:nvPr/>
        </p:nvSpPr>
        <p:spPr>
          <a:xfrm>
            <a:off x="5515343" y="2543178"/>
            <a:ext cx="3871733" cy="1323439"/>
          </a:xfrm>
          <a:prstGeom prst="rect">
            <a:avLst/>
          </a:prstGeom>
          <a:noFill/>
        </p:spPr>
        <p:txBody>
          <a:bodyPr wrap="square" rtlCol="0">
            <a:spAutoFit/>
          </a:bodyPr>
          <a:lstStyle/>
          <a:p>
            <a:r>
              <a:rPr lang="en-US" sz="4400">
                <a:latin typeface="+mj-lt"/>
              </a:rPr>
              <a:t>+</a:t>
            </a:r>
            <a:r>
              <a:rPr lang="en-US" sz="4400">
                <a:solidFill>
                  <a:schemeClr val="accent4"/>
                </a:solidFill>
                <a:latin typeface="+mj-lt"/>
              </a:rPr>
              <a:t> </a:t>
            </a:r>
            <a:r>
              <a:rPr lang="en-US" sz="4400">
                <a:solidFill>
                  <a:schemeClr val="accent2"/>
                </a:solidFill>
                <a:latin typeface="+mj-lt"/>
              </a:rPr>
              <a:t>3 </a:t>
            </a:r>
            <a:r>
              <a:rPr lang="en-US" sz="4400">
                <a:latin typeface="+mj-lt"/>
              </a:rPr>
              <a:t>= </a:t>
            </a:r>
            <a:r>
              <a:rPr lang="en-US" sz="8000" b="1">
                <a:solidFill>
                  <a:schemeClr val="accent4"/>
                </a:solidFill>
                <a:latin typeface="+mj-lt"/>
              </a:rPr>
              <a:t>2</a:t>
            </a:r>
            <a:endParaRPr lang="en-US" sz="4400" b="1">
              <a:solidFill>
                <a:schemeClr val="accent4"/>
              </a:solidFill>
              <a:latin typeface="+mj-lt"/>
            </a:endParaRPr>
          </a:p>
        </p:txBody>
      </p:sp>
    </p:spTree>
    <p:extLst>
      <p:ext uri="{BB962C8B-B14F-4D97-AF65-F5344CB8AC3E}">
        <p14:creationId xmlns:p14="http://schemas.microsoft.com/office/powerpoint/2010/main" val="27270239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P spid="9" grpId="0"/>
      <p:bldP spid="10" grpId="0"/>
      <p:bldP spid="12" grpId="0"/>
      <p:bldP spid="39" grpId="0"/>
      <p:bldP spid="44" grpId="0"/>
      <p:bldP spid="56" grpId="0"/>
      <p:bldP spid="5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AEB16-FC87-2F0C-4328-B185BD12C5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46102-57FF-F249-CFB3-D164FA623BFA}"/>
              </a:ext>
            </a:extLst>
          </p:cNvPr>
          <p:cNvSpPr>
            <a:spLocks noGrp="1"/>
          </p:cNvSpPr>
          <p:nvPr>
            <p:ph type="title"/>
          </p:nvPr>
        </p:nvSpPr>
        <p:spPr/>
        <p:txBody>
          <a:bodyPr>
            <a:normAutofit/>
          </a:bodyPr>
          <a:lstStyle/>
          <a:p>
            <a:r>
              <a:rPr lang="en-US">
                <a:latin typeface="Consolas" panose="020B0609020204030204" pitchFamily="49" charset="0"/>
                <a:cs typeface="Consolas" panose="020B0609020204030204" pitchFamily="49" charset="0"/>
              </a:rPr>
              <a:t>%</a:t>
            </a:r>
            <a:endParaRPr lang="en-US">
              <a:solidFill>
                <a:srgbClr val="F92672"/>
              </a:solidFill>
              <a:latin typeface="Consolas" panose="020B0609020204030204" pitchFamily="49" charset="0"/>
              <a:cs typeface="Consolas" panose="020B0609020204030204" pitchFamily="49" charset="0"/>
            </a:endParaRPr>
          </a:p>
        </p:txBody>
      </p:sp>
      <p:sp>
        <p:nvSpPr>
          <p:cNvPr id="3" name="Content Placeholder 2">
            <a:extLst>
              <a:ext uri="{FF2B5EF4-FFF2-40B4-BE49-F238E27FC236}">
                <a16:creationId xmlns:a16="http://schemas.microsoft.com/office/drawing/2014/main" id="{905E9DB9-88DC-256D-2D14-26AFA6933DEE}"/>
              </a:ext>
            </a:extLst>
          </p:cNvPr>
          <p:cNvSpPr>
            <a:spLocks noGrp="1"/>
          </p:cNvSpPr>
          <p:nvPr>
            <p:ph sz="quarter" idx="10"/>
          </p:nvPr>
        </p:nvSpPr>
        <p:spPr/>
        <p:txBody>
          <a:bodyPr>
            <a:normAutofit/>
          </a:bodyPr>
          <a:lstStyle/>
          <a:p>
            <a:r>
              <a:rPr lang="en-US" sz="1800">
                <a:latin typeface="+mj-lt"/>
              </a:rPr>
              <a:t>x % y</a:t>
            </a:r>
            <a:r>
              <a:rPr lang="en-US" sz="1800"/>
              <a:t> returns the </a:t>
            </a:r>
            <a:r>
              <a:rPr lang="en-US" sz="1800" b="1"/>
              <a:t>remainder</a:t>
            </a:r>
            <a:r>
              <a:rPr lang="en-US" sz="1800"/>
              <a:t> of </a:t>
            </a:r>
            <a:r>
              <a:rPr lang="en-US">
                <a:latin typeface="Consolas" panose="020B0609020204030204" pitchFamily="49" charset="0"/>
                <a:cs typeface="Consolas" panose="020B0609020204030204" pitchFamily="49" charset="0"/>
              </a:rPr>
              <a:t>(</a:t>
            </a:r>
            <a:r>
              <a:rPr lang="en-US" sz="1800">
                <a:latin typeface="Consolas" panose="020B0609020204030204" pitchFamily="49" charset="0"/>
                <a:cs typeface="Consolas" panose="020B0609020204030204" pitchFamily="49" charset="0"/>
              </a:rPr>
              <a:t>x / y)</a:t>
            </a:r>
            <a:r>
              <a:rPr lang="en-US" sz="1800">
                <a:latin typeface="+mj-lt"/>
              </a:rPr>
              <a:t> </a:t>
            </a:r>
            <a:r>
              <a:rPr lang="en-US"/>
              <a:t>and is read "x </a:t>
            </a:r>
            <a:r>
              <a:rPr lang="en-US" b="1"/>
              <a:t>modulo</a:t>
            </a:r>
            <a:r>
              <a:rPr lang="en-US"/>
              <a:t> y"</a:t>
            </a:r>
            <a:endParaRPr lang="en-US" sz="1800"/>
          </a:p>
          <a:p>
            <a:pPr lvl="1"/>
            <a:r>
              <a:rPr lang="en-US">
                <a:solidFill>
                  <a:srgbClr val="000080"/>
                </a:solidFill>
                <a:effectLst/>
                <a:latin typeface="+mj-lt"/>
              </a:rPr>
              <a:t>int</a:t>
            </a:r>
            <a:r>
              <a:rPr lang="en-US">
                <a:latin typeface="+mj-lt"/>
              </a:rPr>
              <a:t> foo </a:t>
            </a:r>
            <a:r>
              <a:rPr lang="en-US">
                <a:effectLst/>
                <a:latin typeface="+mj-lt"/>
              </a:rPr>
              <a:t>=</a:t>
            </a:r>
            <a:r>
              <a:rPr lang="en-US">
                <a:latin typeface="+mj-lt"/>
              </a:rPr>
              <a:t> </a:t>
            </a:r>
            <a:r>
              <a:rPr lang="en-US">
                <a:solidFill>
                  <a:srgbClr val="02B5B5"/>
                </a:solidFill>
                <a:effectLst/>
                <a:latin typeface="+mj-lt"/>
              </a:rPr>
              <a:t>17</a:t>
            </a:r>
            <a:r>
              <a:rPr lang="en-US">
                <a:latin typeface="+mj-lt"/>
              </a:rPr>
              <a:t> </a:t>
            </a:r>
            <a:r>
              <a:rPr lang="en-US">
                <a:effectLst/>
                <a:latin typeface="+mj-lt"/>
              </a:rPr>
              <a:t>%</a:t>
            </a:r>
            <a:r>
              <a:rPr lang="en-US">
                <a:latin typeface="+mj-lt"/>
              </a:rPr>
              <a:t> </a:t>
            </a:r>
            <a:r>
              <a:rPr lang="en-US">
                <a:solidFill>
                  <a:srgbClr val="02B5B5"/>
                </a:solidFill>
                <a:effectLst/>
                <a:latin typeface="+mj-lt"/>
              </a:rPr>
              <a:t>5</a:t>
            </a:r>
            <a:r>
              <a:rPr lang="en-US">
                <a:latin typeface="+mj-lt"/>
              </a:rPr>
              <a:t>; </a:t>
            </a:r>
            <a:r>
              <a:rPr lang="en-US">
                <a:solidFill>
                  <a:srgbClr val="007B00"/>
                </a:solidFill>
                <a:effectLst/>
                <a:latin typeface="+mj-lt"/>
              </a:rPr>
              <a:t>// 2 ("17 divided by 5 is 3 remainder 2")</a:t>
            </a:r>
            <a:endParaRPr lang="en-US">
              <a:latin typeface="+mj-lt"/>
            </a:endParaRPr>
          </a:p>
          <a:p>
            <a:r>
              <a:rPr lang="en-US" b="1">
                <a:effectLst/>
              </a:rPr>
              <a:t>☠ </a:t>
            </a:r>
            <a:r>
              <a:rPr kumimoji="0" lang="en-US" sz="1800" b="1" u="none" strike="noStrike" kern="1200" cap="none" spc="0" normalizeH="0" baseline="0" noProof="0">
                <a:ln>
                  <a:noFill/>
                </a:ln>
                <a:effectLst/>
                <a:uLnTx/>
                <a:uFillTx/>
                <a:latin typeface="Consolas"/>
                <a:ea typeface="Segoe UI Emoji" panose="020B0502040204020203" pitchFamily="34" charset="0"/>
                <a:cs typeface="+mn-cs"/>
              </a:rPr>
              <a:t>%</a:t>
            </a:r>
            <a:r>
              <a:rPr lang="en-US" b="1">
                <a:effectLst/>
              </a:rPr>
              <a:t> probably doesn't do what you expect for negative numbers</a:t>
            </a:r>
            <a:r>
              <a:rPr lang="en-US" b="1"/>
              <a:t>;</a:t>
            </a:r>
            <a:br>
              <a:rPr lang="en-US" b="1"/>
            </a:br>
            <a:r>
              <a:rPr lang="en-US" b="1"/>
              <a:t>if </a:t>
            </a:r>
            <a:r>
              <a:rPr lang="en-US" b="1">
                <a:latin typeface="+mj-lt"/>
              </a:rPr>
              <a:t>x</a:t>
            </a:r>
            <a:r>
              <a:rPr lang="en-US" b="1"/>
              <a:t> can be negative, use </a:t>
            </a:r>
            <a:r>
              <a:rPr lang="en-US" b="1" err="1">
                <a:solidFill>
                  <a:srgbClr val="000080"/>
                </a:solidFill>
                <a:latin typeface="+mj-lt"/>
              </a:rPr>
              <a:t>MODULO</a:t>
            </a:r>
            <a:r>
              <a:rPr lang="en-US" b="1">
                <a:latin typeface="+mj-lt"/>
              </a:rPr>
              <a:t>(x, y)</a:t>
            </a:r>
            <a:r>
              <a:rPr lang="en-US" b="1"/>
              <a:t> instead</a:t>
            </a:r>
            <a:endParaRPr lang="en-US" b="1">
              <a:effectLst/>
            </a:endParaRPr>
          </a:p>
          <a:p>
            <a:pPr lvl="1"/>
            <a:r>
              <a:rPr lang="en-US" b="1">
                <a:solidFill>
                  <a:srgbClr val="0CB5B5"/>
                </a:solidFill>
                <a:effectLst/>
                <a:latin typeface="Consolas" panose="020B0609020204030204" pitchFamily="49" charset="0"/>
                <a:cs typeface="Consolas" panose="020B0609020204030204" pitchFamily="49" charset="0"/>
              </a:rPr>
              <a:t> 5</a:t>
            </a:r>
            <a:r>
              <a:rPr lang="en-US" b="1">
                <a:effectLst/>
                <a:latin typeface="Consolas" panose="020B0609020204030204" pitchFamily="49" charset="0"/>
                <a:cs typeface="Consolas" panose="020B0609020204030204" pitchFamily="49" charset="0"/>
              </a:rPr>
              <a:t> % </a:t>
            </a:r>
            <a:r>
              <a:rPr lang="en-US" b="1">
                <a:solidFill>
                  <a:srgbClr val="0CB5B5"/>
                </a:solidFill>
                <a:effectLst/>
                <a:latin typeface="Consolas" panose="020B0609020204030204" pitchFamily="49" charset="0"/>
                <a:cs typeface="Consolas" panose="020B0609020204030204" pitchFamily="49" charset="0"/>
              </a:rPr>
              <a:t>3</a:t>
            </a:r>
            <a:r>
              <a:rPr lang="en-US" b="1">
                <a:effectLst/>
                <a:latin typeface="Consolas" panose="020B0609020204030204" pitchFamily="49" charset="0"/>
                <a:cs typeface="Consolas" panose="020B0609020204030204" pitchFamily="49" charset="0"/>
              </a:rPr>
              <a:t> </a:t>
            </a:r>
            <a:r>
              <a:rPr lang="en-US" b="1">
                <a:solidFill>
                  <a:srgbClr val="007B00"/>
                </a:solidFill>
                <a:effectLst/>
                <a:latin typeface="Consolas" panose="020B0609020204030204" pitchFamily="49" charset="0"/>
                <a:cs typeface="Consolas" panose="020B0609020204030204" pitchFamily="49" charset="0"/>
              </a:rPr>
              <a:t>//  2</a:t>
            </a:r>
          </a:p>
          <a:p>
            <a:pPr lvl="1"/>
            <a:r>
              <a:rPr lang="en-US" b="1">
                <a:solidFill>
                  <a:srgbClr val="0CB5B5"/>
                </a:solidFill>
                <a:latin typeface="Consolas" panose="020B0609020204030204" pitchFamily="49" charset="0"/>
                <a:cs typeface="Consolas" panose="020B0609020204030204" pitchFamily="49" charset="0"/>
              </a:rPr>
              <a:t> 4</a:t>
            </a:r>
            <a:r>
              <a:rPr lang="en-US" b="1">
                <a:effectLst/>
                <a:latin typeface="Consolas" panose="020B0609020204030204" pitchFamily="49" charset="0"/>
                <a:cs typeface="Consolas" panose="020B0609020204030204" pitchFamily="49" charset="0"/>
              </a:rPr>
              <a:t> % </a:t>
            </a:r>
            <a:r>
              <a:rPr lang="en-US" b="1">
                <a:solidFill>
                  <a:srgbClr val="0CB5B5"/>
                </a:solidFill>
                <a:effectLst/>
                <a:latin typeface="Consolas" panose="020B0609020204030204" pitchFamily="49" charset="0"/>
                <a:cs typeface="Consolas" panose="020B0609020204030204" pitchFamily="49" charset="0"/>
              </a:rPr>
              <a:t>3</a:t>
            </a:r>
            <a:r>
              <a:rPr lang="en-US" b="1">
                <a:effectLst/>
                <a:latin typeface="Consolas" panose="020B0609020204030204" pitchFamily="49" charset="0"/>
                <a:cs typeface="Consolas" panose="020B0609020204030204" pitchFamily="49" charset="0"/>
              </a:rPr>
              <a:t> </a:t>
            </a:r>
            <a:r>
              <a:rPr lang="en-US" b="1">
                <a:solidFill>
                  <a:srgbClr val="007B00"/>
                </a:solidFill>
                <a:effectLst/>
                <a:latin typeface="Consolas" panose="020B0609020204030204" pitchFamily="49" charset="0"/>
                <a:cs typeface="Consolas" panose="020B0609020204030204" pitchFamily="49" charset="0"/>
              </a:rPr>
              <a:t>//  1</a:t>
            </a:r>
          </a:p>
          <a:p>
            <a:pPr lvl="1"/>
            <a:r>
              <a:rPr lang="en-US" b="1">
                <a:solidFill>
                  <a:srgbClr val="0CB5B5"/>
                </a:solidFill>
                <a:effectLst/>
                <a:latin typeface="Consolas" panose="020B0609020204030204" pitchFamily="49" charset="0"/>
                <a:cs typeface="Consolas" panose="020B0609020204030204" pitchFamily="49" charset="0"/>
              </a:rPr>
              <a:t> 3</a:t>
            </a:r>
            <a:r>
              <a:rPr lang="en-US" b="1">
                <a:effectLst/>
                <a:latin typeface="Consolas" panose="020B0609020204030204" pitchFamily="49" charset="0"/>
                <a:cs typeface="Consolas" panose="020B0609020204030204" pitchFamily="49" charset="0"/>
              </a:rPr>
              <a:t> % </a:t>
            </a:r>
            <a:r>
              <a:rPr lang="en-US" b="1">
                <a:solidFill>
                  <a:srgbClr val="0CB5B5"/>
                </a:solidFill>
                <a:effectLst/>
                <a:latin typeface="Consolas" panose="020B0609020204030204" pitchFamily="49" charset="0"/>
                <a:cs typeface="Consolas" panose="020B0609020204030204" pitchFamily="49" charset="0"/>
              </a:rPr>
              <a:t>3</a:t>
            </a:r>
            <a:r>
              <a:rPr lang="en-US" b="1">
                <a:effectLst/>
                <a:latin typeface="Consolas" panose="020B0609020204030204" pitchFamily="49" charset="0"/>
                <a:cs typeface="Consolas" panose="020B0609020204030204" pitchFamily="49" charset="0"/>
              </a:rPr>
              <a:t> </a:t>
            </a:r>
            <a:r>
              <a:rPr lang="en-US" b="1">
                <a:solidFill>
                  <a:srgbClr val="007B00"/>
                </a:solidFill>
                <a:effectLst/>
                <a:latin typeface="Consolas" panose="020B0609020204030204" pitchFamily="49" charset="0"/>
                <a:cs typeface="Consolas" panose="020B0609020204030204" pitchFamily="49" charset="0"/>
              </a:rPr>
              <a:t>//  0</a:t>
            </a:r>
            <a:r>
              <a:rPr lang="en-US" b="1">
                <a:solidFill>
                  <a:srgbClr val="0CB5B5"/>
                </a:solidFill>
                <a:effectLst/>
                <a:latin typeface="Consolas" panose="020B0609020204030204" pitchFamily="49" charset="0"/>
                <a:cs typeface="Consolas" panose="020B0609020204030204" pitchFamily="49" charset="0"/>
              </a:rPr>
              <a:t> </a:t>
            </a:r>
          </a:p>
          <a:p>
            <a:pPr lvl="1"/>
            <a:r>
              <a:rPr lang="en-US" b="1">
                <a:solidFill>
                  <a:srgbClr val="0CB5B5"/>
                </a:solidFill>
                <a:latin typeface="Consolas" panose="020B0609020204030204" pitchFamily="49" charset="0"/>
                <a:cs typeface="Consolas" panose="020B0609020204030204" pitchFamily="49" charset="0"/>
              </a:rPr>
              <a:t> </a:t>
            </a:r>
            <a:r>
              <a:rPr lang="en-US" b="1">
                <a:solidFill>
                  <a:srgbClr val="0CB5B5"/>
                </a:solidFill>
                <a:effectLst/>
                <a:latin typeface="Consolas" panose="020B0609020204030204" pitchFamily="49" charset="0"/>
                <a:cs typeface="Consolas" panose="020B0609020204030204" pitchFamily="49" charset="0"/>
              </a:rPr>
              <a:t>2</a:t>
            </a:r>
            <a:r>
              <a:rPr lang="en-US" b="1">
                <a:effectLst/>
                <a:latin typeface="Consolas" panose="020B0609020204030204" pitchFamily="49" charset="0"/>
                <a:cs typeface="Consolas" panose="020B0609020204030204" pitchFamily="49" charset="0"/>
              </a:rPr>
              <a:t> % </a:t>
            </a:r>
            <a:r>
              <a:rPr lang="en-US" b="1">
                <a:solidFill>
                  <a:srgbClr val="0CB5B5"/>
                </a:solidFill>
                <a:effectLst/>
                <a:latin typeface="Consolas" panose="020B0609020204030204" pitchFamily="49" charset="0"/>
                <a:cs typeface="Consolas" panose="020B0609020204030204" pitchFamily="49" charset="0"/>
              </a:rPr>
              <a:t>3</a:t>
            </a:r>
            <a:r>
              <a:rPr lang="en-US" b="1">
                <a:effectLst/>
                <a:latin typeface="Consolas" panose="020B0609020204030204" pitchFamily="49" charset="0"/>
                <a:cs typeface="Consolas" panose="020B0609020204030204" pitchFamily="49" charset="0"/>
              </a:rPr>
              <a:t> </a:t>
            </a:r>
            <a:r>
              <a:rPr lang="en-US" b="1">
                <a:solidFill>
                  <a:srgbClr val="007B00"/>
                </a:solidFill>
                <a:effectLst/>
                <a:latin typeface="Consolas" panose="020B0609020204030204" pitchFamily="49" charset="0"/>
                <a:cs typeface="Consolas" panose="020B0609020204030204" pitchFamily="49" charset="0"/>
              </a:rPr>
              <a:t>//  2</a:t>
            </a:r>
          </a:p>
          <a:p>
            <a:pPr lvl="1"/>
            <a:r>
              <a:rPr lang="en-US" b="1">
                <a:solidFill>
                  <a:srgbClr val="0CB5B5"/>
                </a:solidFill>
                <a:latin typeface="Consolas" panose="020B0609020204030204" pitchFamily="49" charset="0"/>
                <a:cs typeface="Consolas" panose="020B0609020204030204" pitchFamily="49" charset="0"/>
              </a:rPr>
              <a:t> 1</a:t>
            </a:r>
            <a:r>
              <a:rPr lang="en-US" b="1">
                <a:effectLst/>
                <a:latin typeface="Consolas" panose="020B0609020204030204" pitchFamily="49" charset="0"/>
                <a:cs typeface="Consolas" panose="020B0609020204030204" pitchFamily="49" charset="0"/>
              </a:rPr>
              <a:t> % </a:t>
            </a:r>
            <a:r>
              <a:rPr lang="en-US" b="1">
                <a:solidFill>
                  <a:srgbClr val="0CB5B5"/>
                </a:solidFill>
                <a:effectLst/>
                <a:latin typeface="Consolas" panose="020B0609020204030204" pitchFamily="49" charset="0"/>
                <a:cs typeface="Consolas" panose="020B0609020204030204" pitchFamily="49" charset="0"/>
              </a:rPr>
              <a:t>3</a:t>
            </a:r>
            <a:r>
              <a:rPr lang="en-US" b="1">
                <a:effectLst/>
                <a:latin typeface="Consolas" panose="020B0609020204030204" pitchFamily="49" charset="0"/>
                <a:cs typeface="Consolas" panose="020B0609020204030204" pitchFamily="49" charset="0"/>
              </a:rPr>
              <a:t> </a:t>
            </a:r>
            <a:r>
              <a:rPr lang="en-US" b="1">
                <a:solidFill>
                  <a:srgbClr val="007B00"/>
                </a:solidFill>
                <a:effectLst/>
                <a:latin typeface="Consolas" panose="020B0609020204030204" pitchFamily="49" charset="0"/>
                <a:cs typeface="Consolas" panose="020B0609020204030204" pitchFamily="49" charset="0"/>
              </a:rPr>
              <a:t>//  1</a:t>
            </a:r>
          </a:p>
          <a:p>
            <a:pPr lvl="1"/>
            <a:r>
              <a:rPr lang="en-US" b="1">
                <a:solidFill>
                  <a:srgbClr val="0CB5B5"/>
                </a:solidFill>
                <a:effectLst/>
                <a:latin typeface="Consolas" panose="020B0609020204030204" pitchFamily="49" charset="0"/>
                <a:cs typeface="Consolas" panose="020B0609020204030204" pitchFamily="49" charset="0"/>
              </a:rPr>
              <a:t> 0</a:t>
            </a:r>
            <a:r>
              <a:rPr lang="en-US" b="1">
                <a:effectLst/>
                <a:latin typeface="Consolas" panose="020B0609020204030204" pitchFamily="49" charset="0"/>
                <a:cs typeface="Consolas" panose="020B0609020204030204" pitchFamily="49" charset="0"/>
              </a:rPr>
              <a:t> % </a:t>
            </a:r>
            <a:r>
              <a:rPr lang="en-US" b="1">
                <a:solidFill>
                  <a:srgbClr val="0CB5B5"/>
                </a:solidFill>
                <a:effectLst/>
                <a:latin typeface="Consolas" panose="020B0609020204030204" pitchFamily="49" charset="0"/>
                <a:cs typeface="Consolas" panose="020B0609020204030204" pitchFamily="49" charset="0"/>
              </a:rPr>
              <a:t>3</a:t>
            </a:r>
            <a:r>
              <a:rPr lang="en-US" b="1">
                <a:effectLst/>
                <a:latin typeface="Consolas" panose="020B0609020204030204" pitchFamily="49" charset="0"/>
                <a:cs typeface="Consolas" panose="020B0609020204030204" pitchFamily="49" charset="0"/>
              </a:rPr>
              <a:t> </a:t>
            </a:r>
            <a:r>
              <a:rPr lang="en-US" b="1">
                <a:solidFill>
                  <a:srgbClr val="007B00"/>
                </a:solidFill>
                <a:effectLst/>
                <a:latin typeface="Consolas" panose="020B0609020204030204" pitchFamily="49" charset="0"/>
                <a:cs typeface="Consolas" panose="020B0609020204030204" pitchFamily="49" charset="0"/>
              </a:rPr>
              <a:t>//  0</a:t>
            </a:r>
            <a:endParaRPr lang="en-US" b="1">
              <a:effectLst/>
            </a:endParaRPr>
          </a:p>
          <a:p>
            <a:pPr lvl="1"/>
            <a:r>
              <a:rPr lang="en-US" b="1">
                <a:effectLst/>
                <a:latin typeface="Consolas" panose="020B0609020204030204" pitchFamily="49" charset="0"/>
                <a:cs typeface="Consolas" panose="020B0609020204030204" pitchFamily="49" charset="0"/>
              </a:rPr>
              <a:t>-</a:t>
            </a:r>
            <a:r>
              <a:rPr lang="en-US" b="1">
                <a:solidFill>
                  <a:srgbClr val="0CB5B5"/>
                </a:solidFill>
                <a:effectLst/>
                <a:latin typeface="Consolas" panose="020B0609020204030204" pitchFamily="49" charset="0"/>
                <a:cs typeface="Consolas" panose="020B0609020204030204" pitchFamily="49" charset="0"/>
              </a:rPr>
              <a:t>1</a:t>
            </a:r>
            <a:r>
              <a:rPr lang="en-US" b="1">
                <a:effectLst/>
                <a:latin typeface="Consolas" panose="020B0609020204030204" pitchFamily="49" charset="0"/>
                <a:cs typeface="Consolas" panose="020B0609020204030204" pitchFamily="49" charset="0"/>
              </a:rPr>
              <a:t> % </a:t>
            </a:r>
            <a:r>
              <a:rPr lang="en-US" b="1">
                <a:solidFill>
                  <a:srgbClr val="0CB5B5"/>
                </a:solidFill>
                <a:effectLst/>
                <a:latin typeface="Consolas" panose="020B0609020204030204" pitchFamily="49" charset="0"/>
                <a:cs typeface="Consolas" panose="020B0609020204030204" pitchFamily="49" charset="0"/>
              </a:rPr>
              <a:t>3</a:t>
            </a:r>
            <a:r>
              <a:rPr lang="en-US" b="1">
                <a:effectLst/>
                <a:latin typeface="Consolas" panose="020B0609020204030204" pitchFamily="49" charset="0"/>
                <a:cs typeface="Consolas" panose="020B0609020204030204" pitchFamily="49" charset="0"/>
              </a:rPr>
              <a:t> </a:t>
            </a:r>
            <a:r>
              <a:rPr lang="en-US" b="1">
                <a:solidFill>
                  <a:srgbClr val="007B00"/>
                </a:solidFill>
                <a:effectLst/>
                <a:latin typeface="Consolas" panose="020B0609020204030204" pitchFamily="49" charset="0"/>
                <a:cs typeface="Consolas" panose="020B0609020204030204" pitchFamily="49" charset="0"/>
              </a:rPr>
              <a:t>// -1 WAIT WHAT 🤔</a:t>
            </a:r>
          </a:p>
          <a:p>
            <a:pPr lvl="1"/>
            <a:r>
              <a:rPr lang="en-US" b="1" err="1">
                <a:solidFill>
                  <a:srgbClr val="000080"/>
                </a:solidFill>
                <a:effectLst/>
                <a:latin typeface="Consolas" panose="020B0609020204030204" pitchFamily="49" charset="0"/>
                <a:cs typeface="Consolas" panose="020B0609020204030204" pitchFamily="49" charset="0"/>
              </a:rPr>
              <a:t>MODULO</a:t>
            </a:r>
            <a:r>
              <a:rPr lang="en-US" b="1">
                <a:effectLst/>
                <a:latin typeface="Consolas" panose="020B0609020204030204" pitchFamily="49" charset="0"/>
                <a:cs typeface="Consolas" panose="020B0609020204030204" pitchFamily="49" charset="0"/>
              </a:rPr>
              <a:t>(-</a:t>
            </a:r>
            <a:r>
              <a:rPr lang="en-US" b="1">
                <a:solidFill>
                  <a:srgbClr val="0CB5B5"/>
                </a:solidFill>
                <a:effectLst/>
                <a:latin typeface="Consolas" panose="020B0609020204030204" pitchFamily="49" charset="0"/>
                <a:cs typeface="Consolas" panose="020B0609020204030204" pitchFamily="49" charset="0"/>
              </a:rPr>
              <a:t>1</a:t>
            </a:r>
            <a:r>
              <a:rPr lang="en-US" b="1">
                <a:effectLst/>
                <a:latin typeface="Consolas" panose="020B0609020204030204" pitchFamily="49" charset="0"/>
                <a:cs typeface="Consolas" panose="020B0609020204030204" pitchFamily="49" charset="0"/>
              </a:rPr>
              <a:t>, </a:t>
            </a:r>
            <a:r>
              <a:rPr lang="en-US" b="1">
                <a:solidFill>
                  <a:srgbClr val="0CB5B5"/>
                </a:solidFill>
                <a:effectLst/>
                <a:latin typeface="Consolas" panose="020B0609020204030204" pitchFamily="49" charset="0"/>
                <a:cs typeface="Consolas" panose="020B0609020204030204" pitchFamily="49" charset="0"/>
              </a:rPr>
              <a:t>3</a:t>
            </a:r>
            <a:r>
              <a:rPr lang="en-US" b="1">
                <a:effectLst/>
                <a:latin typeface="Consolas" panose="020B0609020204030204" pitchFamily="49" charset="0"/>
                <a:cs typeface="Consolas" panose="020B0609020204030204" pitchFamily="49" charset="0"/>
              </a:rPr>
              <a:t>) </a:t>
            </a:r>
            <a:r>
              <a:rPr lang="en-US" b="1">
                <a:solidFill>
                  <a:srgbClr val="007B00"/>
                </a:solidFill>
                <a:effectLst/>
                <a:latin typeface="Consolas" panose="020B0609020204030204" pitchFamily="49" charset="0"/>
                <a:cs typeface="Consolas" panose="020B0609020204030204" pitchFamily="49" charset="0"/>
              </a:rPr>
              <a:t>// 2 🙂👍</a:t>
            </a:r>
          </a:p>
          <a:p>
            <a:pPr lvl="1"/>
            <a:endParaRPr lang="en-US" b="1">
              <a:solidFill>
                <a:srgbClr val="007B00"/>
              </a:solidFill>
              <a:effectLst/>
              <a:latin typeface="Consolas" panose="020B0609020204030204" pitchFamily="49" charset="0"/>
              <a:cs typeface="Consolas" panose="020B0609020204030204" pitchFamily="49" charset="0"/>
            </a:endParaRPr>
          </a:p>
          <a:p>
            <a:pPr lvl="1"/>
            <a:endParaRPr lang="en-US" b="1">
              <a:effectLst/>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3193116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7E0DA-09C7-9213-56A8-2788FD8D3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FBE79E-410C-3151-2DF2-F14E7F1CD78C}"/>
              </a:ext>
            </a:extLst>
          </p:cNvPr>
          <p:cNvSpPr>
            <a:spLocks noGrp="1"/>
          </p:cNvSpPr>
          <p:nvPr>
            <p:ph type="title"/>
          </p:nvPr>
        </p:nvSpPr>
        <p:spPr/>
        <p:txBody>
          <a:bodyPr>
            <a:normAutofit/>
          </a:bodyPr>
          <a:lstStyle/>
          <a:p>
            <a:r>
              <a:rPr lang="en-US" err="1">
                <a:solidFill>
                  <a:srgbClr val="000080"/>
                </a:solidFill>
                <a:effectLst/>
                <a:latin typeface="Consolas" panose="020B0609020204030204" pitchFamily="49" charset="0"/>
                <a:cs typeface="Consolas" panose="020B0609020204030204" pitchFamily="49" charset="0"/>
              </a:rPr>
              <a:t>MODULO</a:t>
            </a:r>
            <a:r>
              <a:rPr lang="en-US" err="1">
                <a:effectLst/>
                <a:latin typeface="Consolas" panose="020B0609020204030204" pitchFamily="49" charset="0"/>
                <a:cs typeface="Consolas" panose="020B0609020204030204" pitchFamily="49" charset="0"/>
              </a:rPr>
              <a:t>(x, y)</a:t>
            </a:r>
            <a:endParaRPr lang="en-US">
              <a:solidFill>
                <a:srgbClr val="F92672"/>
              </a:solidFill>
              <a:latin typeface="+mj-lt"/>
            </a:endParaRPr>
          </a:p>
        </p:txBody>
      </p:sp>
      <p:sp>
        <p:nvSpPr>
          <p:cNvPr id="3" name="Content Placeholder 2">
            <a:extLst>
              <a:ext uri="{FF2B5EF4-FFF2-40B4-BE49-F238E27FC236}">
                <a16:creationId xmlns:a16="http://schemas.microsoft.com/office/drawing/2014/main" id="{B31E84F1-67A9-D7E6-9BBE-45F36C868F78}"/>
              </a:ext>
            </a:extLst>
          </p:cNvPr>
          <p:cNvSpPr>
            <a:spLocks noGrp="1"/>
          </p:cNvSpPr>
          <p:nvPr>
            <p:ph sz="quarter" idx="10"/>
          </p:nvPr>
        </p:nvSpPr>
        <p:spPr/>
        <p:txBody>
          <a:bodyPr>
            <a:noAutofit/>
          </a:bodyPr>
          <a:lstStyle/>
          <a:p>
            <a:r>
              <a:rPr lang="en-US" err="1">
                <a:solidFill>
                  <a:srgbClr val="000080"/>
                </a:solidFill>
                <a:effectLst/>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5</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2</a:t>
            </a:r>
          </a:p>
          <a:p>
            <a:r>
              <a:rPr lang="en-US" err="1">
                <a:solidFill>
                  <a:srgbClr val="000080"/>
                </a:solidFill>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 </a:t>
            </a:r>
            <a:r>
              <a:rPr lang="en-US">
                <a:solidFill>
                  <a:srgbClr val="0CB5B5"/>
                </a:solidFill>
                <a:latin typeface="Consolas" panose="020B0609020204030204" pitchFamily="49" charset="0"/>
                <a:cs typeface="Consolas" panose="020B0609020204030204" pitchFamily="49" charset="0"/>
              </a:rPr>
              <a:t>4</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1</a:t>
            </a:r>
          </a:p>
          <a:p>
            <a:r>
              <a:rPr lang="en-US" err="1">
                <a:solidFill>
                  <a:srgbClr val="000080"/>
                </a:solidFill>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 </a:t>
            </a:r>
            <a:r>
              <a:rPr lang="en-US">
                <a:solidFill>
                  <a:srgbClr val="0CB5B5"/>
                </a:solidFill>
                <a:latin typeface="Consolas" panose="020B0609020204030204" pitchFamily="49" charset="0"/>
                <a:cs typeface="Consolas" panose="020B0609020204030204" pitchFamily="49" charset="0"/>
              </a:rPr>
              <a:t>3</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0</a:t>
            </a:r>
          </a:p>
          <a:p>
            <a:r>
              <a:rPr lang="en-US" err="1">
                <a:solidFill>
                  <a:srgbClr val="000080"/>
                </a:solidFill>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 </a:t>
            </a:r>
            <a:r>
              <a:rPr lang="en-US">
                <a:solidFill>
                  <a:srgbClr val="0CB5B5"/>
                </a:solidFill>
                <a:latin typeface="Consolas" panose="020B0609020204030204" pitchFamily="49" charset="0"/>
                <a:cs typeface="Consolas" panose="020B0609020204030204" pitchFamily="49" charset="0"/>
              </a:rPr>
              <a:t>2</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2</a:t>
            </a:r>
          </a:p>
          <a:p>
            <a:r>
              <a:rPr lang="en-US" err="1">
                <a:solidFill>
                  <a:srgbClr val="000080"/>
                </a:solidFill>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 </a:t>
            </a:r>
            <a:r>
              <a:rPr lang="en-US">
                <a:solidFill>
                  <a:srgbClr val="0CB5B5"/>
                </a:solidFill>
                <a:latin typeface="Consolas" panose="020B0609020204030204" pitchFamily="49" charset="0"/>
                <a:cs typeface="Consolas" panose="020B0609020204030204" pitchFamily="49" charset="0"/>
              </a:rPr>
              <a:t>1</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1</a:t>
            </a:r>
          </a:p>
          <a:p>
            <a:r>
              <a:rPr lang="en-US" err="1">
                <a:solidFill>
                  <a:srgbClr val="000080"/>
                </a:solidFill>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 </a:t>
            </a:r>
            <a:r>
              <a:rPr lang="en-US">
                <a:solidFill>
                  <a:srgbClr val="0CB5B5"/>
                </a:solidFill>
                <a:latin typeface="Consolas" panose="020B0609020204030204" pitchFamily="49" charset="0"/>
                <a:cs typeface="Consolas" panose="020B0609020204030204" pitchFamily="49" charset="0"/>
              </a:rPr>
              <a:t>0</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0</a:t>
            </a:r>
          </a:p>
          <a:p>
            <a:r>
              <a:rPr lang="en-US" err="1">
                <a:solidFill>
                  <a:srgbClr val="000080"/>
                </a:solidFill>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1</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2</a:t>
            </a:r>
          </a:p>
          <a:p>
            <a:r>
              <a:rPr lang="en-US" err="1">
                <a:solidFill>
                  <a:srgbClr val="000080"/>
                </a:solidFill>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2</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1</a:t>
            </a:r>
          </a:p>
          <a:p>
            <a:r>
              <a:rPr lang="en-US" err="1">
                <a:solidFill>
                  <a:srgbClr val="000080"/>
                </a:solidFill>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3</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0</a:t>
            </a:r>
          </a:p>
          <a:p>
            <a:r>
              <a:rPr lang="en-US" err="1">
                <a:solidFill>
                  <a:srgbClr val="000080"/>
                </a:solidFill>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4</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2</a:t>
            </a:r>
          </a:p>
          <a:p>
            <a:r>
              <a:rPr lang="en-US" err="1">
                <a:solidFill>
                  <a:srgbClr val="000080"/>
                </a:solidFill>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a:t>
            </a:r>
            <a:r>
              <a:rPr lang="en-US">
                <a:solidFill>
                  <a:srgbClr val="0CB5B5"/>
                </a:solidFill>
                <a:effectLst/>
                <a:latin typeface="Consolas" panose="020B0609020204030204" pitchFamily="49" charset="0"/>
                <a:cs typeface="Consolas" panose="020B0609020204030204" pitchFamily="49" charset="0"/>
              </a:rPr>
              <a:t>5</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1</a:t>
            </a:r>
          </a:p>
          <a:p>
            <a:r>
              <a:rPr lang="en-US" err="1">
                <a:solidFill>
                  <a:srgbClr val="000080"/>
                </a:solidFill>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6</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0</a:t>
            </a:r>
          </a:p>
          <a:p>
            <a:r>
              <a:rPr lang="en-US" err="1">
                <a:solidFill>
                  <a:srgbClr val="000080"/>
                </a:solidFill>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a:t>
            </a:r>
            <a:r>
              <a:rPr lang="en-US">
                <a:solidFill>
                  <a:srgbClr val="0CB5B5"/>
                </a:solidFill>
                <a:effectLst/>
                <a:latin typeface="Consolas" panose="020B0609020204030204" pitchFamily="49" charset="0"/>
                <a:cs typeface="Consolas" panose="020B0609020204030204" pitchFamily="49" charset="0"/>
              </a:rPr>
              <a:t>7</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2</a:t>
            </a:r>
          </a:p>
        </p:txBody>
      </p:sp>
    </p:spTree>
    <p:extLst>
      <p:ext uri="{BB962C8B-B14F-4D97-AF65-F5344CB8AC3E}">
        <p14:creationId xmlns:p14="http://schemas.microsoft.com/office/powerpoint/2010/main" val="39511255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34636-3789-9E5C-FE86-1DF5225D1EA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76C328A-5DD5-5DEB-7F62-D4FA3F278A00}"/>
              </a:ext>
            </a:extLst>
          </p:cNvPr>
          <p:cNvSpPr>
            <a:spLocks noGrp="1"/>
          </p:cNvSpPr>
          <p:nvPr>
            <p:ph type="title"/>
          </p:nvPr>
        </p:nvSpPr>
        <p:spPr/>
        <p:txBody>
          <a:bodyPr/>
          <a:lstStyle/>
          <a:p>
            <a:r>
              <a:rPr lang="en-US"/>
              <a:t>hash function</a:t>
            </a:r>
          </a:p>
        </p:txBody>
      </p:sp>
    </p:spTree>
    <p:extLst>
      <p:ext uri="{BB962C8B-B14F-4D97-AF65-F5344CB8AC3E}">
        <p14:creationId xmlns:p14="http://schemas.microsoft.com/office/powerpoint/2010/main" val="8903978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247DC-276D-F503-6E77-E7D75C38AB9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CD4D666-9D5C-6CBC-86CC-C7C0056C1FF2}"/>
              </a:ext>
            </a:extLst>
          </p:cNvPr>
          <p:cNvSpPr>
            <a:spLocks noGrp="1"/>
          </p:cNvSpPr>
          <p:nvPr>
            <p:ph type="title"/>
          </p:nvPr>
        </p:nvSpPr>
        <p:spPr/>
        <p:txBody>
          <a:bodyPr/>
          <a:lstStyle/>
          <a:p>
            <a:r>
              <a:rPr lang="en-US"/>
              <a:t>hash function</a:t>
            </a:r>
          </a:p>
        </p:txBody>
      </p:sp>
    </p:spTree>
    <p:extLst>
      <p:ext uri="{BB962C8B-B14F-4D97-AF65-F5344CB8AC3E}">
        <p14:creationId xmlns:p14="http://schemas.microsoft.com/office/powerpoint/2010/main" val="13740476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91C9A-F6BF-5FA7-D1C7-74D8A74A45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D94E117-0F83-CA4E-ED0D-5246A9943CE5}"/>
              </a:ext>
            </a:extLst>
          </p:cNvPr>
          <p:cNvSpPr>
            <a:spLocks noGrp="1"/>
          </p:cNvSpPr>
          <p:nvPr>
            <p:ph type="title"/>
          </p:nvPr>
        </p:nvSpPr>
        <p:spPr/>
        <p:txBody>
          <a:bodyPr/>
          <a:lstStyle/>
          <a:p>
            <a:r>
              <a:rPr lang="en-US"/>
              <a:t>hash function</a:t>
            </a:r>
          </a:p>
        </p:txBody>
      </p:sp>
      <p:sp>
        <p:nvSpPr>
          <p:cNvPr id="4" name="Content Placeholder 3">
            <a:extLst>
              <a:ext uri="{FF2B5EF4-FFF2-40B4-BE49-F238E27FC236}">
                <a16:creationId xmlns:a16="http://schemas.microsoft.com/office/drawing/2014/main" id="{2313C4CF-95EC-2D58-B2B8-A5225E90AB1A}"/>
              </a:ext>
            </a:extLst>
          </p:cNvPr>
          <p:cNvSpPr>
            <a:spLocks noGrp="1"/>
          </p:cNvSpPr>
          <p:nvPr>
            <p:ph sz="quarter" idx="10"/>
          </p:nvPr>
        </p:nvSpPr>
        <p:spPr/>
        <p:txBody>
          <a:bodyPr/>
          <a:lstStyle/>
          <a:p>
            <a:r>
              <a:rPr lang="en-US"/>
              <a:t>a </a:t>
            </a:r>
            <a:r>
              <a:rPr lang="en-US" b="1"/>
              <a:t>hash function </a:t>
            </a:r>
            <a:r>
              <a:rPr lang="en-US"/>
              <a:t>takes some data and returns an integer called the data's</a:t>
            </a:r>
            <a:br>
              <a:rPr lang="en-US"/>
            </a:br>
            <a:r>
              <a:rPr lang="en-US" b="1"/>
              <a:t>hash code</a:t>
            </a:r>
            <a:r>
              <a:rPr lang="en-US"/>
              <a:t> (</a:t>
            </a:r>
            <a:r>
              <a:rPr lang="en-US" b="1"/>
              <a:t>hash</a:t>
            </a:r>
            <a:r>
              <a:rPr lang="en-US"/>
              <a:t>, hash value)</a:t>
            </a:r>
          </a:p>
          <a:p>
            <a:pPr lvl="1"/>
            <a:r>
              <a:rPr lang="en-US"/>
              <a:t>this is called "</a:t>
            </a:r>
            <a:r>
              <a:rPr lang="en-US" b="1"/>
              <a:t>hashing</a:t>
            </a:r>
            <a:r>
              <a:rPr lang="en-US"/>
              <a:t>" the data</a:t>
            </a:r>
          </a:p>
          <a:p>
            <a:pPr lvl="1"/>
            <a:r>
              <a:rPr lang="en-US"/>
              <a:t>🚨 a hash function MUST be </a:t>
            </a:r>
            <a:r>
              <a:rPr lang="en-US" b="1"/>
              <a:t>deterministic</a:t>
            </a:r>
            <a:endParaRPr lang="en-US"/>
          </a:p>
          <a:p>
            <a:pPr lvl="2"/>
            <a:r>
              <a:rPr lang="en-US"/>
              <a:t>given the same data, a hash function MUST return the same value every time is is called</a:t>
            </a:r>
          </a:p>
          <a:p>
            <a:endParaRPr lang="en-US"/>
          </a:p>
          <a:p>
            <a:r>
              <a:rPr lang="en-US"/>
              <a:t>a </a:t>
            </a:r>
            <a:r>
              <a:rPr lang="en-US" b="1"/>
              <a:t>hash</a:t>
            </a:r>
            <a:r>
              <a:rPr lang="en-US"/>
              <a:t> </a:t>
            </a:r>
            <a:r>
              <a:rPr lang="en-US" b="1"/>
              <a:t>collision</a:t>
            </a:r>
            <a:r>
              <a:rPr lang="en-US"/>
              <a:t> (hash clash) happens when two different pieces of data have the same hash code</a:t>
            </a:r>
          </a:p>
          <a:p>
            <a:pPr lvl="1"/>
            <a:r>
              <a:rPr lang="en-US"/>
              <a:t>a </a:t>
            </a:r>
            <a:r>
              <a:rPr lang="en-US" i="1"/>
              <a:t>good</a:t>
            </a:r>
            <a:r>
              <a:rPr lang="en-US"/>
              <a:t> hash function has very few collisions</a:t>
            </a:r>
          </a:p>
          <a:p>
            <a:endParaRPr lang="en-US"/>
          </a:p>
          <a:p>
            <a:endParaRPr lang="en-US"/>
          </a:p>
        </p:txBody>
      </p:sp>
    </p:spTree>
    <p:extLst>
      <p:ext uri="{BB962C8B-B14F-4D97-AF65-F5344CB8AC3E}">
        <p14:creationId xmlns:p14="http://schemas.microsoft.com/office/powerpoint/2010/main" val="29765205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E71B1-2226-C05C-F926-148EEF0B31F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0BF222F-47DB-9E42-E801-3325C71ADF58}"/>
              </a:ext>
            </a:extLst>
          </p:cNvPr>
          <p:cNvSpPr>
            <a:spLocks noGrp="1"/>
          </p:cNvSpPr>
          <p:nvPr>
            <p:ph type="title"/>
          </p:nvPr>
        </p:nvSpPr>
        <p:spPr/>
        <p:txBody>
          <a:bodyPr/>
          <a:lstStyle/>
          <a:p>
            <a:r>
              <a:rPr lang="en-US"/>
              <a:t>hash function</a:t>
            </a:r>
          </a:p>
        </p:txBody>
      </p:sp>
      <p:sp>
        <p:nvSpPr>
          <p:cNvPr id="4" name="Content Placeholder 3">
            <a:extLst>
              <a:ext uri="{FF2B5EF4-FFF2-40B4-BE49-F238E27FC236}">
                <a16:creationId xmlns:a16="http://schemas.microsoft.com/office/drawing/2014/main" id="{44977348-4D20-E639-1EA1-0FD7810FD91A}"/>
              </a:ext>
            </a:extLst>
          </p:cNvPr>
          <p:cNvSpPr>
            <a:spLocks noGrp="1"/>
          </p:cNvSpPr>
          <p:nvPr>
            <p:ph sz="quarter" idx="10"/>
          </p:nvPr>
        </p:nvSpPr>
        <p:spPr/>
        <p:txBody>
          <a:bodyPr/>
          <a:lstStyle/>
          <a:p>
            <a:r>
              <a:rPr lang="en-US">
                <a:solidFill>
                  <a:schemeClr val="bg1"/>
                </a:solidFill>
              </a:rPr>
              <a:t>a </a:t>
            </a:r>
            <a:r>
              <a:rPr lang="en-US" b="1">
                <a:solidFill>
                  <a:schemeClr val="bg1"/>
                </a:solidFill>
              </a:rPr>
              <a:t>hash function </a:t>
            </a:r>
            <a:r>
              <a:rPr lang="en-US">
                <a:solidFill>
                  <a:schemeClr val="bg1"/>
                </a:solidFill>
              </a:rPr>
              <a:t>takes some data and returns an integer called the data's</a:t>
            </a:r>
            <a:br>
              <a:rPr lang="en-US">
                <a:solidFill>
                  <a:schemeClr val="bg1"/>
                </a:solidFill>
              </a:rPr>
            </a:br>
            <a:r>
              <a:rPr lang="en-US" b="1">
                <a:solidFill>
                  <a:schemeClr val="bg1"/>
                </a:solidFill>
              </a:rPr>
              <a:t>hash code</a:t>
            </a:r>
            <a:r>
              <a:rPr lang="en-US">
                <a:solidFill>
                  <a:schemeClr val="bg1"/>
                </a:solidFill>
              </a:rPr>
              <a:t> (</a:t>
            </a:r>
            <a:r>
              <a:rPr lang="en-US" b="1">
                <a:solidFill>
                  <a:schemeClr val="bg1"/>
                </a:solidFill>
              </a:rPr>
              <a:t>hash</a:t>
            </a:r>
            <a:r>
              <a:rPr lang="en-US">
                <a:solidFill>
                  <a:schemeClr val="bg1"/>
                </a:solidFill>
              </a:rPr>
              <a:t>, hash value)</a:t>
            </a:r>
          </a:p>
          <a:p>
            <a:pPr lvl="1"/>
            <a:r>
              <a:rPr lang="en-US">
                <a:solidFill>
                  <a:schemeClr val="bg1"/>
                </a:solidFill>
              </a:rPr>
              <a:t>this is called "</a:t>
            </a:r>
            <a:r>
              <a:rPr lang="en-US" b="1">
                <a:solidFill>
                  <a:schemeClr val="bg1"/>
                </a:solidFill>
              </a:rPr>
              <a:t>hashing</a:t>
            </a:r>
            <a:r>
              <a:rPr lang="en-US">
                <a:solidFill>
                  <a:schemeClr val="bg1"/>
                </a:solidFill>
              </a:rPr>
              <a:t>" the data</a:t>
            </a:r>
          </a:p>
          <a:p>
            <a:pPr lvl="1"/>
            <a:r>
              <a:rPr lang="en-US"/>
              <a:t>🚨 a hash function MUST be </a:t>
            </a:r>
            <a:r>
              <a:rPr lang="en-US" b="1"/>
              <a:t>deterministic</a:t>
            </a:r>
            <a:endParaRPr lang="en-US"/>
          </a:p>
          <a:p>
            <a:pPr lvl="2"/>
            <a:r>
              <a:rPr lang="en-US">
                <a:solidFill>
                  <a:schemeClr val="bg1"/>
                </a:solidFill>
              </a:rPr>
              <a:t>given the same data, a hash function MUST return the same value every time is is called</a:t>
            </a:r>
          </a:p>
          <a:p>
            <a:endParaRPr lang="en-US"/>
          </a:p>
          <a:p>
            <a:r>
              <a:rPr lang="en-US">
                <a:solidFill>
                  <a:schemeClr val="bg1"/>
                </a:solidFill>
              </a:rPr>
              <a:t>a </a:t>
            </a:r>
            <a:r>
              <a:rPr lang="en-US" b="1">
                <a:solidFill>
                  <a:schemeClr val="bg1"/>
                </a:solidFill>
              </a:rPr>
              <a:t>hash</a:t>
            </a:r>
            <a:r>
              <a:rPr lang="en-US">
                <a:solidFill>
                  <a:schemeClr val="bg1"/>
                </a:solidFill>
              </a:rPr>
              <a:t> </a:t>
            </a:r>
            <a:r>
              <a:rPr lang="en-US" b="1">
                <a:solidFill>
                  <a:schemeClr val="bg1"/>
                </a:solidFill>
              </a:rPr>
              <a:t>collision</a:t>
            </a:r>
            <a:r>
              <a:rPr lang="en-US">
                <a:solidFill>
                  <a:schemeClr val="bg1"/>
                </a:solidFill>
              </a:rPr>
              <a:t> (hash clash) happens when two different pieces of data have the same hash code</a:t>
            </a:r>
          </a:p>
          <a:p>
            <a:pPr lvl="1"/>
            <a:r>
              <a:rPr lang="en-US"/>
              <a:t>a </a:t>
            </a:r>
            <a:r>
              <a:rPr lang="en-US" i="1"/>
              <a:t>good</a:t>
            </a:r>
            <a:r>
              <a:rPr lang="en-US"/>
              <a:t> hash function has very few collisions</a:t>
            </a:r>
          </a:p>
          <a:p>
            <a:endParaRPr lang="en-US"/>
          </a:p>
          <a:p>
            <a:endParaRPr lang="en-US"/>
          </a:p>
        </p:txBody>
      </p:sp>
    </p:spTree>
    <p:extLst>
      <p:ext uri="{BB962C8B-B14F-4D97-AF65-F5344CB8AC3E}">
        <p14:creationId xmlns:p14="http://schemas.microsoft.com/office/powerpoint/2010/main" val="2163853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FD8B5-A01E-CD58-1816-6A7E647634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72B99F-497C-9771-2AD9-9B82D30C4184}"/>
              </a:ext>
            </a:extLst>
          </p:cNvPr>
          <p:cNvSpPr>
            <a:spLocks noGrp="1"/>
          </p:cNvSpPr>
          <p:nvPr>
            <p:ph type="title"/>
          </p:nvPr>
        </p:nvSpPr>
        <p:spPr/>
        <p:txBody>
          <a:bodyPr/>
          <a:lstStyle/>
          <a:p>
            <a:r>
              <a:rPr lang="en-US"/>
              <a:t>let's play...</a:t>
            </a:r>
            <a:r>
              <a:rPr lang="en-US" b="1"/>
              <a:t>is it a hash function</a:t>
            </a:r>
            <a:r>
              <a:rPr lang="en-US"/>
              <a:t>?</a:t>
            </a:r>
          </a:p>
        </p:txBody>
      </p:sp>
      <p:sp>
        <p:nvSpPr>
          <p:cNvPr id="3" name="Content Placeholder 2">
            <a:extLst>
              <a:ext uri="{FF2B5EF4-FFF2-40B4-BE49-F238E27FC236}">
                <a16:creationId xmlns:a16="http://schemas.microsoft.com/office/drawing/2014/main" id="{41A10278-90AB-80FC-C64D-E4DC18363856}"/>
              </a:ext>
            </a:extLst>
          </p:cNvPr>
          <p:cNvSpPr>
            <a:spLocks noGrp="1"/>
          </p:cNvSpPr>
          <p:nvPr>
            <p:ph sz="quarter" idx="10"/>
          </p:nvPr>
        </p:nvSpPr>
        <p:spPr>
          <a:xfrm>
            <a:off x="457200" y="963337"/>
            <a:ext cx="7436840" cy="4080271"/>
          </a:xfrm>
        </p:spPr>
        <p:txBody>
          <a:bodyPr>
            <a:normAutofit/>
          </a:bodyPr>
          <a:lstStyle/>
          <a:p>
            <a:endParaRPr lang="en-US" b="1">
              <a:solidFill>
                <a:srgbClr val="7F0055"/>
              </a:solidFill>
              <a:effectLst/>
              <a:latin typeface="Consolas" panose="020B0609020204030204" pitchFamily="49" charset="0"/>
              <a:cs typeface="Consolas" panose="020B0609020204030204" pitchFamily="49" charset="0"/>
            </a:endParaRPr>
          </a:p>
          <a:p>
            <a:r>
              <a:rPr lang="en-US" b="1">
                <a:solidFill>
                  <a:srgbClr val="7F0055"/>
                </a:solidFill>
                <a:effectLst/>
                <a:highlight>
                  <a:srgbClr val="EDF9D5"/>
                </a:highlight>
                <a:latin typeface="Consolas" panose="020B0609020204030204" pitchFamily="49" charset="0"/>
                <a:cs typeface="Consolas" panose="020B0609020204030204" pitchFamily="49" charset="0"/>
              </a:rPr>
              <a:t>int</a:t>
            </a:r>
            <a:r>
              <a:rPr lang="en-US">
                <a:effectLst/>
                <a:highlight>
                  <a:srgbClr val="EDF9D5"/>
                </a:highlight>
                <a:latin typeface="Consolas" panose="020B0609020204030204" pitchFamily="49" charset="0"/>
                <a:cs typeface="Consolas" panose="020B0609020204030204" pitchFamily="49" charset="0"/>
              </a:rPr>
              <a:t> foo(String a) { </a:t>
            </a:r>
            <a:r>
              <a:rPr lang="en-US" b="1">
                <a:solidFill>
                  <a:srgbClr val="7F0055"/>
                </a:solidFill>
                <a:effectLst/>
                <a:highlight>
                  <a:srgbClr val="EDF9D5"/>
                </a:highlight>
                <a:latin typeface="Consolas" panose="020B0609020204030204" pitchFamily="49" charset="0"/>
                <a:cs typeface="Consolas" panose="020B0609020204030204" pitchFamily="49" charset="0"/>
              </a:rPr>
              <a:t>return</a:t>
            </a:r>
            <a:r>
              <a:rPr lang="en-US">
                <a:effectLst/>
                <a:highlight>
                  <a:srgbClr val="EDF9D5"/>
                </a:highlight>
                <a:latin typeface="Consolas" panose="020B0609020204030204" pitchFamily="49" charset="0"/>
                <a:cs typeface="Consolas" panose="020B0609020204030204" pitchFamily="49" charset="0"/>
              </a:rPr>
              <a:t> a.length(); }</a:t>
            </a:r>
          </a:p>
          <a:p>
            <a:pPr lvl="1"/>
            <a:r>
              <a:rPr lang="en-US" b="1"/>
              <a:t>yes, though it's bad.</a:t>
            </a:r>
          </a:p>
          <a:p>
            <a:pPr lvl="2"/>
            <a:r>
              <a:rPr lang="en-US" b="1"/>
              <a:t>note: </a:t>
            </a:r>
            <a:r>
              <a:rPr lang="en-US">
                <a:solidFill>
                  <a:srgbClr val="0432FF"/>
                </a:solidFill>
                <a:latin typeface="+mj-lt"/>
              </a:rPr>
              <a:t>"foo"</a:t>
            </a:r>
            <a:r>
              <a:rPr lang="en-US"/>
              <a:t> and </a:t>
            </a:r>
            <a:r>
              <a:rPr lang="en-US">
                <a:solidFill>
                  <a:srgbClr val="0432FF"/>
                </a:solidFill>
                <a:latin typeface="+mj-lt"/>
              </a:rPr>
              <a:t>"bar"</a:t>
            </a:r>
            <a:r>
              <a:rPr lang="en-US"/>
              <a:t> collide</a:t>
            </a:r>
            <a:br>
              <a:rPr lang="en-US"/>
            </a:br>
            <a:endParaRPr lang="en-US"/>
          </a:p>
          <a:p>
            <a:r>
              <a:rPr lang="en-US" b="1">
                <a:solidFill>
                  <a:srgbClr val="7F0055"/>
                </a:solidFill>
                <a:effectLst/>
                <a:highlight>
                  <a:srgbClr val="EDF9D5"/>
                </a:highlight>
                <a:latin typeface="Consolas" panose="020B0609020204030204" pitchFamily="49" charset="0"/>
                <a:cs typeface="Consolas" panose="020B0609020204030204" pitchFamily="49" charset="0"/>
              </a:rPr>
              <a:t>int</a:t>
            </a:r>
            <a:r>
              <a:rPr lang="en-US">
                <a:highlight>
                  <a:srgbClr val="EDF9D5"/>
                </a:highlight>
                <a:latin typeface="+mj-lt"/>
              </a:rPr>
              <a:t> bar(String a) { </a:t>
            </a:r>
            <a:r>
              <a:rPr lang="en-US" b="1">
                <a:solidFill>
                  <a:srgbClr val="7F0055"/>
                </a:solidFill>
                <a:effectLst/>
                <a:highlight>
                  <a:srgbClr val="EDF9D5"/>
                </a:highlight>
                <a:latin typeface="Consolas" panose="020B0609020204030204" pitchFamily="49" charset="0"/>
                <a:cs typeface="Consolas" panose="020B0609020204030204" pitchFamily="49" charset="0"/>
              </a:rPr>
              <a:t>return</a:t>
            </a:r>
            <a:r>
              <a:rPr lang="en-US">
                <a:highlight>
                  <a:srgbClr val="EDF9D5"/>
                </a:highlight>
                <a:latin typeface="+mj-lt"/>
              </a:rPr>
              <a:t> 0; }</a:t>
            </a:r>
          </a:p>
          <a:p>
            <a:pPr lvl="1"/>
            <a:r>
              <a:rPr lang="en-US" b="1"/>
              <a:t>yes, though it's very, very bad.</a:t>
            </a:r>
          </a:p>
          <a:p>
            <a:pPr lvl="2"/>
            <a:r>
              <a:rPr lang="en-US" b="1"/>
              <a:t>note: </a:t>
            </a:r>
            <a:r>
              <a:rPr lang="en-US"/>
              <a:t>everything collides</a:t>
            </a:r>
          </a:p>
          <a:p>
            <a:endParaRPr lang="en-US"/>
          </a:p>
          <a:p>
            <a:r>
              <a:rPr lang="en-US" b="1">
                <a:solidFill>
                  <a:srgbClr val="7F0055"/>
                </a:solidFill>
                <a:effectLst/>
                <a:highlight>
                  <a:srgbClr val="EDF9D5"/>
                </a:highlight>
                <a:latin typeface="Consolas" panose="020B0609020204030204" pitchFamily="49" charset="0"/>
                <a:cs typeface="Consolas" panose="020B0609020204030204" pitchFamily="49" charset="0"/>
              </a:rPr>
              <a:t>int</a:t>
            </a:r>
            <a:r>
              <a:rPr lang="en-US">
                <a:highlight>
                  <a:srgbClr val="EDF9D5"/>
                </a:highlight>
                <a:latin typeface="+mj-lt"/>
              </a:rPr>
              <a:t> baz(String a) { </a:t>
            </a:r>
            <a:r>
              <a:rPr lang="en-US" b="1">
                <a:solidFill>
                  <a:srgbClr val="7F0055"/>
                </a:solidFill>
                <a:effectLst/>
                <a:highlight>
                  <a:srgbClr val="EDF9D5"/>
                </a:highlight>
                <a:latin typeface="Consolas" panose="020B0609020204030204" pitchFamily="49" charset="0"/>
                <a:cs typeface="Consolas" panose="020B0609020204030204" pitchFamily="49" charset="0"/>
              </a:rPr>
              <a:t>return</a:t>
            </a:r>
            <a:r>
              <a:rPr lang="en-US">
                <a:highlight>
                  <a:srgbClr val="EDF9D5"/>
                </a:highlight>
                <a:latin typeface="+mj-lt"/>
              </a:rPr>
              <a:t> random.nextInt(); }</a:t>
            </a:r>
          </a:p>
          <a:p>
            <a:pPr lvl="1"/>
            <a:r>
              <a:rPr lang="en-US" b="1"/>
              <a:t>no, function is not deterministic.</a:t>
            </a:r>
          </a:p>
        </p:txBody>
      </p:sp>
    </p:spTree>
    <p:extLst>
      <p:ext uri="{BB962C8B-B14F-4D97-AF65-F5344CB8AC3E}">
        <p14:creationId xmlns:p14="http://schemas.microsoft.com/office/powerpoint/2010/main" val="6787030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SCII Table in Java Programming. When I was still a junior developer, my… |  by Aida Fariha | Medium">
            <a:extLst>
              <a:ext uri="{FF2B5EF4-FFF2-40B4-BE49-F238E27FC236}">
                <a16:creationId xmlns:a16="http://schemas.microsoft.com/office/drawing/2014/main" id="{6B026687-9C9F-43F9-FF6B-2444824007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97350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157D8-FFCA-A23B-3B8B-C381F5AFDC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41EE5E-B6A6-94BE-5DB7-928368038A1B}"/>
              </a:ext>
            </a:extLst>
          </p:cNvPr>
          <p:cNvSpPr>
            <a:spLocks noGrp="1"/>
          </p:cNvSpPr>
          <p:nvPr>
            <p:ph type="title"/>
          </p:nvPr>
        </p:nvSpPr>
        <p:spPr/>
        <p:txBody>
          <a:bodyPr/>
          <a:lstStyle/>
          <a:p>
            <a:r>
              <a:rPr lang="en-US"/>
              <a:t>let's play...</a:t>
            </a:r>
            <a:r>
              <a:rPr lang="en-US" b="1"/>
              <a:t>do they collide</a:t>
            </a:r>
            <a:r>
              <a:rPr lang="en-US"/>
              <a:t>?</a:t>
            </a:r>
          </a:p>
        </p:txBody>
      </p:sp>
      <p:sp>
        <p:nvSpPr>
          <p:cNvPr id="10" name="Content Placeholder 9">
            <a:extLst>
              <a:ext uri="{FF2B5EF4-FFF2-40B4-BE49-F238E27FC236}">
                <a16:creationId xmlns:a16="http://schemas.microsoft.com/office/drawing/2014/main" id="{3079298F-710E-E37B-ED90-6C3FA911358E}"/>
              </a:ext>
            </a:extLst>
          </p:cNvPr>
          <p:cNvSpPr>
            <a:spLocks noGrp="1"/>
          </p:cNvSpPr>
          <p:nvPr>
            <p:ph sz="quarter" idx="10"/>
          </p:nvPr>
        </p:nvSpPr>
        <p:spPr/>
        <p:txBody>
          <a:bodyPr/>
          <a:lstStyle/>
          <a:p>
            <a:endParaRPr lang="en-US"/>
          </a:p>
          <a:p>
            <a:endParaRPr lang="en-US"/>
          </a:p>
          <a:p>
            <a:endParaRPr lang="en-US"/>
          </a:p>
          <a:p>
            <a:endParaRPr lang="en-US"/>
          </a:p>
          <a:p>
            <a:endParaRPr lang="en-US"/>
          </a:p>
          <a:p>
            <a:endParaRPr lang="en-US"/>
          </a:p>
          <a:p>
            <a:endParaRPr lang="en-US">
              <a:solidFill>
                <a:srgbClr val="0432FF"/>
              </a:solidFill>
              <a:latin typeface="+mj-lt"/>
            </a:endParaRPr>
          </a:p>
          <a:p>
            <a:r>
              <a:rPr lang="en-US">
                <a:solidFill>
                  <a:srgbClr val="0432FF"/>
                </a:solidFill>
                <a:latin typeface="+mj-lt"/>
              </a:rPr>
              <a:t>"a"</a:t>
            </a:r>
            <a:r>
              <a:rPr lang="en-US"/>
              <a:t> and </a:t>
            </a:r>
            <a:r>
              <a:rPr lang="en-US">
                <a:solidFill>
                  <a:srgbClr val="0432FF"/>
                </a:solidFill>
                <a:latin typeface="+mj-lt"/>
              </a:rPr>
              <a:t>"z"</a:t>
            </a:r>
            <a:r>
              <a:rPr lang="en-US"/>
              <a:t>?</a:t>
            </a:r>
          </a:p>
          <a:p>
            <a:r>
              <a:rPr lang="en-US">
                <a:solidFill>
                  <a:srgbClr val="0432FF"/>
                </a:solidFill>
                <a:latin typeface="+mj-lt"/>
              </a:rPr>
              <a:t>"cat"</a:t>
            </a:r>
            <a:r>
              <a:rPr lang="en-US"/>
              <a:t> and </a:t>
            </a:r>
            <a:r>
              <a:rPr lang="en-US">
                <a:solidFill>
                  <a:srgbClr val="0432FF"/>
                </a:solidFill>
                <a:latin typeface="+mj-lt"/>
              </a:rPr>
              <a:t>"dog"</a:t>
            </a:r>
            <a:r>
              <a:rPr lang="en-US"/>
              <a:t>?</a:t>
            </a:r>
            <a:endParaRPr lang="en-US">
              <a:solidFill>
                <a:srgbClr val="0432FF"/>
              </a:solidFill>
              <a:latin typeface="+mj-lt"/>
            </a:endParaRPr>
          </a:p>
          <a:p>
            <a:r>
              <a:rPr lang="en-US">
                <a:solidFill>
                  <a:srgbClr val="0432FF"/>
                </a:solidFill>
                <a:latin typeface="+mj-lt"/>
              </a:rPr>
              <a:t>"abc"</a:t>
            </a:r>
            <a:r>
              <a:rPr lang="en-US"/>
              <a:t> and </a:t>
            </a:r>
            <a:r>
              <a:rPr lang="en-US">
                <a:solidFill>
                  <a:srgbClr val="0432FF"/>
                </a:solidFill>
                <a:latin typeface="+mj-lt"/>
              </a:rPr>
              <a:t>"ABC"</a:t>
            </a:r>
            <a:r>
              <a:rPr lang="en-US"/>
              <a:t>?</a:t>
            </a:r>
          </a:p>
          <a:p>
            <a:r>
              <a:rPr lang="en-US">
                <a:solidFill>
                  <a:srgbClr val="0432FF"/>
                </a:solidFill>
                <a:latin typeface="+mj-lt"/>
              </a:rPr>
              <a:t>"iamlordvoldemort"</a:t>
            </a:r>
            <a:r>
              <a:rPr lang="en-US"/>
              <a:t> and </a:t>
            </a:r>
            <a:r>
              <a:rPr lang="en-US">
                <a:solidFill>
                  <a:srgbClr val="0432FF"/>
                </a:solidFill>
                <a:latin typeface="+mj-lt"/>
              </a:rPr>
              <a:t>"tommarvoloriddle"</a:t>
            </a:r>
            <a:r>
              <a:rPr lang="en-US"/>
              <a:t>?</a:t>
            </a:r>
          </a:p>
        </p:txBody>
      </p:sp>
      <p:sp>
        <p:nvSpPr>
          <p:cNvPr id="5" name="TextBox 4">
            <a:extLst>
              <a:ext uri="{FF2B5EF4-FFF2-40B4-BE49-F238E27FC236}">
                <a16:creationId xmlns:a16="http://schemas.microsoft.com/office/drawing/2014/main" id="{7CE86C57-26E5-5685-0540-FFECA1A5068E}"/>
              </a:ext>
            </a:extLst>
          </p:cNvPr>
          <p:cNvSpPr txBox="1"/>
          <p:nvPr/>
        </p:nvSpPr>
        <p:spPr>
          <a:xfrm>
            <a:off x="505436" y="972631"/>
            <a:ext cx="8133127" cy="2031325"/>
          </a:xfrm>
          <a:prstGeom prst="rect">
            <a:avLst/>
          </a:prstGeom>
          <a:noFill/>
          <a:ln>
            <a:solidFill>
              <a:schemeClr val="tx1"/>
            </a:solidFill>
          </a:ln>
        </p:spPr>
        <p:txBody>
          <a:bodyPr wrap="square">
            <a:spAutoFit/>
          </a:bodyPr>
          <a:lstStyle/>
          <a:p>
            <a:r>
              <a:rPr lang="en-US" b="1">
                <a:solidFill>
                  <a:srgbClr val="7F0055"/>
                </a:solidFill>
                <a:effectLst/>
                <a:latin typeface="Consolas" panose="020B0609020204030204" pitchFamily="49" charset="0"/>
                <a:cs typeface="Consolas" panose="020B0609020204030204" pitchFamily="49" charset="0"/>
              </a:rPr>
              <a:t>int</a:t>
            </a:r>
            <a:r>
              <a:rPr lang="en-US">
                <a:effectLst/>
                <a:latin typeface="Consolas" panose="020B0609020204030204" pitchFamily="49" charset="0"/>
                <a:cs typeface="Consolas" panose="020B0609020204030204" pitchFamily="49" charset="0"/>
              </a:rPr>
              <a:t> hash(String string) {</a:t>
            </a:r>
            <a:br>
              <a:rPr lang="en-US">
                <a:effectLst/>
                <a:latin typeface="Consolas" panose="020B0609020204030204" pitchFamily="49" charset="0"/>
                <a:cs typeface="Consolas" panose="020B0609020204030204" pitchFamily="49" charset="0"/>
              </a:rPr>
            </a:br>
            <a:r>
              <a:rPr lang="en-US">
                <a:effectLst/>
                <a:latin typeface="Consolas" panose="020B0609020204030204" pitchFamily="49" charset="0"/>
                <a:cs typeface="Consolas" panose="020B0609020204030204" pitchFamily="49" charset="0"/>
              </a:rPr>
              <a:t>    </a:t>
            </a:r>
            <a:r>
              <a:rPr kumimoji="0" lang="en-US" sz="1800" b="1" i="0" u="none" strike="noStrike" kern="1200" cap="none" spc="0" normalizeH="0" baseline="0" noProof="0">
                <a:ln>
                  <a:noFill/>
                </a:ln>
                <a:solidFill>
                  <a:srgbClr val="7F0055"/>
                </a:solidFill>
                <a:effectLst/>
                <a:uLnTx/>
                <a:uFillTx/>
                <a:latin typeface="Consolas" panose="020B0609020204030204" pitchFamily="49" charset="0"/>
                <a:ea typeface="Segoe UI Emoji" panose="020B0502040204020203" pitchFamily="34" charset="0"/>
                <a:cs typeface="Consolas" panose="020B0609020204030204" pitchFamily="49" charset="0"/>
              </a:rPr>
              <a:t>int</a:t>
            </a:r>
            <a:r>
              <a:rPr lang="en-US">
                <a:effectLst/>
                <a:latin typeface="Consolas" panose="020B0609020204030204" pitchFamily="49" charset="0"/>
                <a:cs typeface="Consolas" panose="020B0609020204030204" pitchFamily="49" charset="0"/>
              </a:rPr>
              <a:t> result = 0;</a:t>
            </a:r>
            <a:br>
              <a:rPr lang="en-US">
                <a:effectLst/>
                <a:latin typeface="Consolas" panose="020B0609020204030204" pitchFamily="49" charset="0"/>
                <a:cs typeface="Consolas" panose="020B0609020204030204" pitchFamily="49" charset="0"/>
              </a:rPr>
            </a:br>
            <a:r>
              <a:rPr lang="en-US">
                <a:effectLst/>
                <a:latin typeface="Consolas" panose="020B0609020204030204" pitchFamily="49" charset="0"/>
                <a:cs typeface="Consolas" panose="020B0609020204030204" pitchFamily="49" charset="0"/>
              </a:rPr>
              <a:t>    </a:t>
            </a:r>
            <a:r>
              <a:rPr lang="en-US" b="1">
                <a:solidFill>
                  <a:srgbClr val="7F0055"/>
                </a:solidFill>
                <a:effectLst/>
                <a:latin typeface="Consolas" panose="020B0609020204030204" pitchFamily="49" charset="0"/>
                <a:cs typeface="Consolas" panose="020B0609020204030204" pitchFamily="49" charset="0"/>
              </a:rPr>
              <a:t>for</a:t>
            </a:r>
            <a:r>
              <a:rPr lang="en-US">
                <a:effectLst/>
                <a:latin typeface="Consolas" panose="020B0609020204030204" pitchFamily="49" charset="0"/>
                <a:cs typeface="Consolas" panose="020B0609020204030204" pitchFamily="49" charset="0"/>
              </a:rPr>
              <a:t> (</a:t>
            </a:r>
            <a:r>
              <a:rPr lang="en-US" b="1">
                <a:solidFill>
                  <a:srgbClr val="7F0055"/>
                </a:solidFill>
                <a:effectLst/>
                <a:latin typeface="Consolas" panose="020B0609020204030204" pitchFamily="49" charset="0"/>
                <a:cs typeface="Consolas" panose="020B0609020204030204" pitchFamily="49" charset="0"/>
              </a:rPr>
              <a:t>int</a:t>
            </a:r>
            <a:r>
              <a:rPr lang="en-US">
                <a:effectLst/>
                <a:latin typeface="Consolas" panose="020B0609020204030204" pitchFamily="49" charset="0"/>
                <a:cs typeface="Consolas" panose="020B0609020204030204" pitchFamily="49" charset="0"/>
              </a:rPr>
              <a:t> i = 0; i &lt; string.length(); ++i) {</a:t>
            </a:r>
            <a:br>
              <a:rPr lang="en-US">
                <a:effectLst/>
                <a:latin typeface="Consolas" panose="020B0609020204030204" pitchFamily="49" charset="0"/>
                <a:cs typeface="Consolas" panose="020B0609020204030204" pitchFamily="49" charset="0"/>
              </a:rPr>
            </a:br>
            <a:r>
              <a:rPr lang="en-US">
                <a:effectLst/>
                <a:latin typeface="Consolas" panose="020B0609020204030204" pitchFamily="49" charset="0"/>
                <a:cs typeface="Consolas" panose="020B0609020204030204" pitchFamily="49" charset="0"/>
              </a:rPr>
              <a:t>        result += string.charAt(i); </a:t>
            </a:r>
            <a:r>
              <a:rPr lang="en-US">
                <a:solidFill>
                  <a:srgbClr val="007B00"/>
                </a:solidFill>
                <a:effectLst/>
                <a:latin typeface="Consolas" panose="020B0609020204030204" pitchFamily="49" charset="0"/>
                <a:cs typeface="Consolas" panose="020B0609020204030204" pitchFamily="49" charset="0"/>
              </a:rPr>
              <a:t>// </a:t>
            </a:r>
            <a:r>
              <a:rPr lang="en-US" b="1">
                <a:solidFill>
                  <a:srgbClr val="007B00"/>
                </a:solidFill>
                <a:effectLst/>
                <a:latin typeface="Consolas" panose="020B0609020204030204" pitchFamily="49" charset="0"/>
                <a:cs typeface="Consolas" panose="020B0609020204030204" pitchFamily="49" charset="0"/>
              </a:rPr>
              <a:t>NOTE:</a:t>
            </a:r>
            <a:r>
              <a:rPr lang="en-US">
                <a:solidFill>
                  <a:srgbClr val="007B00"/>
                </a:solidFill>
                <a:effectLst/>
                <a:latin typeface="Consolas" panose="020B0609020204030204" pitchFamily="49" charset="0"/>
                <a:cs typeface="Consolas" panose="020B0609020204030204" pitchFamily="49" charset="0"/>
              </a:rPr>
              <a:t> chars are integers</a:t>
            </a:r>
            <a:br>
              <a:rPr lang="en-US">
                <a:solidFill>
                  <a:srgbClr val="007B00"/>
                </a:solidFill>
                <a:effectLst/>
                <a:latin typeface="Consolas" panose="020B0609020204030204" pitchFamily="49" charset="0"/>
                <a:cs typeface="Consolas" panose="020B0609020204030204" pitchFamily="49" charset="0"/>
              </a:rPr>
            </a:br>
            <a:r>
              <a:rPr lang="en-US">
                <a:effectLst/>
                <a:latin typeface="Consolas" panose="020B0609020204030204" pitchFamily="49" charset="0"/>
                <a:cs typeface="Consolas" panose="020B0609020204030204" pitchFamily="49" charset="0"/>
              </a:rPr>
              <a:t>    }</a:t>
            </a:r>
            <a:br>
              <a:rPr lang="en-US">
                <a:effectLst/>
                <a:latin typeface="Consolas" panose="020B0609020204030204" pitchFamily="49" charset="0"/>
                <a:cs typeface="Consolas" panose="020B0609020204030204" pitchFamily="49" charset="0"/>
              </a:rPr>
            </a:br>
            <a:r>
              <a:rPr lang="en-US">
                <a:effectLst/>
                <a:latin typeface="Consolas" panose="020B0609020204030204" pitchFamily="49" charset="0"/>
                <a:cs typeface="Consolas" panose="020B0609020204030204" pitchFamily="49" charset="0"/>
              </a:rPr>
              <a:t>    </a:t>
            </a:r>
            <a:r>
              <a:rPr lang="en-US" b="1">
                <a:solidFill>
                  <a:srgbClr val="7F0055"/>
                </a:solidFill>
                <a:effectLst/>
                <a:latin typeface="Consolas" panose="020B0609020204030204" pitchFamily="49" charset="0"/>
                <a:cs typeface="Consolas" panose="020B0609020204030204" pitchFamily="49" charset="0"/>
              </a:rPr>
              <a:t>return</a:t>
            </a:r>
            <a:r>
              <a:rPr lang="en-US">
                <a:effectLst/>
                <a:latin typeface="Consolas" panose="020B0609020204030204" pitchFamily="49" charset="0"/>
                <a:cs typeface="Consolas" panose="020B0609020204030204" pitchFamily="49" charset="0"/>
              </a:rPr>
              <a:t> result;</a:t>
            </a:r>
            <a:br>
              <a:rPr lang="en-US">
                <a:effectLst/>
                <a:latin typeface="Consolas" panose="020B0609020204030204" pitchFamily="49" charset="0"/>
                <a:cs typeface="Consolas" panose="020B0609020204030204" pitchFamily="49" charset="0"/>
              </a:rPr>
            </a:br>
            <a:r>
              <a:rPr lang="en-US">
                <a:effectLst/>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40664636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EA03B-6A65-482A-8764-6805402977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2E1F055-5F3F-3D0A-BCDF-56C0029BC7A5}"/>
              </a:ext>
            </a:extLst>
          </p:cNvPr>
          <p:cNvSpPr>
            <a:spLocks noGrp="1"/>
          </p:cNvSpPr>
          <p:nvPr>
            <p:ph type="title"/>
          </p:nvPr>
        </p:nvSpPr>
        <p:spPr/>
        <p:txBody>
          <a:bodyPr/>
          <a:lstStyle/>
          <a:p>
            <a:r>
              <a:rPr lang="en-US" err="1">
                <a:latin typeface="+mj-lt"/>
              </a:rPr>
              <a:t>hashCode</a:t>
            </a:r>
            <a:r>
              <a:rPr lang="en-US">
                <a:latin typeface="+mj-lt"/>
              </a:rPr>
              <a:t>()</a:t>
            </a:r>
            <a:endParaRPr lang="en-US"/>
          </a:p>
        </p:txBody>
      </p:sp>
    </p:spTree>
    <p:extLst>
      <p:ext uri="{BB962C8B-B14F-4D97-AF65-F5344CB8AC3E}">
        <p14:creationId xmlns:p14="http://schemas.microsoft.com/office/powerpoint/2010/main" val="8222600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749D8-CD54-7773-8EB9-E69C2602451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BD064B7-4D36-5DCE-E8F0-321E690EE073}"/>
              </a:ext>
            </a:extLst>
          </p:cNvPr>
          <p:cNvSpPr>
            <a:spLocks noGrp="1"/>
          </p:cNvSpPr>
          <p:nvPr>
            <p:ph type="title"/>
          </p:nvPr>
        </p:nvSpPr>
        <p:spPr/>
        <p:txBody>
          <a:bodyPr/>
          <a:lstStyle/>
          <a:p>
            <a:r>
              <a:rPr lang="en-US" err="1">
                <a:latin typeface="+mj-lt"/>
              </a:rPr>
              <a:t>hashCode</a:t>
            </a:r>
            <a:r>
              <a:rPr lang="en-US">
                <a:latin typeface="+mj-lt"/>
              </a:rPr>
              <a:t>()</a:t>
            </a:r>
            <a:endParaRPr lang="en-US"/>
          </a:p>
        </p:txBody>
      </p:sp>
      <p:sp>
        <p:nvSpPr>
          <p:cNvPr id="4" name="Content Placeholder 3">
            <a:extLst>
              <a:ext uri="{FF2B5EF4-FFF2-40B4-BE49-F238E27FC236}">
                <a16:creationId xmlns:a16="http://schemas.microsoft.com/office/drawing/2014/main" id="{663A8374-CCC9-DE75-10D5-E3BB74B25046}"/>
              </a:ext>
            </a:extLst>
          </p:cNvPr>
          <p:cNvSpPr>
            <a:spLocks noGrp="1"/>
          </p:cNvSpPr>
          <p:nvPr>
            <p:ph sz="quarter" idx="10"/>
          </p:nvPr>
        </p:nvSpPr>
        <p:spPr/>
        <p:txBody>
          <a:bodyPr/>
          <a:lstStyle/>
          <a:p>
            <a:r>
              <a:rPr lang="en-US"/>
              <a:t>all Java objects have a built-in hash function called </a:t>
            </a:r>
            <a:r>
              <a:rPr lang="en-US" err="1">
                <a:latin typeface="+mj-lt"/>
              </a:rPr>
              <a:t>hashCode</a:t>
            </a:r>
            <a:r>
              <a:rPr lang="en-US">
                <a:latin typeface="+mj-lt"/>
              </a:rPr>
              <a:t>()</a:t>
            </a:r>
          </a:p>
          <a:p>
            <a:pPr lvl="1"/>
            <a:r>
              <a:rPr lang="en-US" err="1">
                <a:latin typeface="+mj-lt"/>
              </a:rPr>
              <a:t>hashCode</a:t>
            </a:r>
            <a:r>
              <a:rPr lang="en-US">
                <a:latin typeface="+mj-lt"/>
              </a:rPr>
              <a:t>()</a:t>
            </a:r>
            <a:r>
              <a:rPr lang="en-US"/>
              <a:t> can be negative!</a:t>
            </a:r>
            <a:endParaRPr lang="en-US">
              <a:latin typeface="+mj-lt"/>
            </a:endParaRPr>
          </a:p>
        </p:txBody>
      </p:sp>
      <p:sp>
        <p:nvSpPr>
          <p:cNvPr id="5" name="TextBox 4">
            <a:extLst>
              <a:ext uri="{FF2B5EF4-FFF2-40B4-BE49-F238E27FC236}">
                <a16:creationId xmlns:a16="http://schemas.microsoft.com/office/drawing/2014/main" id="{EC6BCDCD-E243-85D4-D6A8-E278DBFA6E23}"/>
              </a:ext>
            </a:extLst>
          </p:cNvPr>
          <p:cNvSpPr txBox="1"/>
          <p:nvPr/>
        </p:nvSpPr>
        <p:spPr>
          <a:xfrm>
            <a:off x="457200" y="1809564"/>
            <a:ext cx="8229600" cy="1698927"/>
          </a:xfrm>
          <a:prstGeom prst="rect">
            <a:avLst/>
          </a:prstGeom>
          <a:noFill/>
          <a:ln>
            <a:solidFill>
              <a:schemeClr val="tx1"/>
            </a:solidFill>
          </a:ln>
        </p:spPr>
        <p:txBody>
          <a:bodyPr wrap="square" rtlCol="0">
            <a:spAutoFit/>
          </a:bodyPr>
          <a:lstStyle/>
          <a:p>
            <a:pPr lvl="0" defTabSz="342886">
              <a:spcBef>
                <a:spcPct val="20000"/>
              </a:spcBef>
              <a:buClr>
                <a:srgbClr val="FFFFFF">
                  <a:lumMod val="65000"/>
                </a:srgbClr>
              </a:buClr>
            </a:pPr>
            <a:endParaRPr lang="en-US" err="1">
              <a:solidFill>
                <a:srgbClr val="00007F"/>
              </a:solidFill>
              <a:latin typeface="Consolas"/>
              <a:ea typeface="Segoe UI Emoji" panose="020B0502040204020203" pitchFamily="34" charset="0"/>
              <a:cs typeface="Consolas" panose="020B0609020204030204" pitchFamily="49" charset="0"/>
            </a:endParaRPr>
          </a:p>
          <a:p>
            <a:pPr lvl="0" defTabSz="342886">
              <a:spcBef>
                <a:spcPct val="20000"/>
              </a:spcBef>
              <a:buClr>
                <a:srgbClr val="FFFFFF">
                  <a:lumMod val="65000"/>
                </a:srgbClr>
              </a:buClr>
            </a:pPr>
            <a:r>
              <a:rPr lang="en-US" err="1">
                <a:solidFill>
                  <a:srgbClr val="00007F"/>
                </a:solidFill>
                <a:latin typeface="Consolas"/>
                <a:ea typeface="Segoe UI Emoji" panose="020B0502040204020203" pitchFamily="34" charset="0"/>
                <a:cs typeface="Consolas" panose="020B0609020204030204" pitchFamily="49" charset="0"/>
              </a:rPr>
              <a:t>PRINT</a:t>
            </a:r>
            <a:r>
              <a:rPr lang="en-US">
                <a:latin typeface="Consolas"/>
                <a:ea typeface="Segoe UI Emoji" panose="020B0502040204020203" pitchFamily="34" charset="0"/>
                <a:cs typeface="Consolas" panose="020B0609020204030204" pitchFamily="49" charset="0"/>
              </a:rPr>
              <a:t>(  </a:t>
            </a:r>
            <a:r>
              <a:rPr lang="en-US">
                <a:solidFill>
                  <a:srgbClr val="B60E0E"/>
                </a:solidFill>
                <a:latin typeface="Consolas"/>
                <a:ea typeface="Segoe UI Emoji" panose="020B0502040204020203" pitchFamily="34" charset="0"/>
                <a:cs typeface="Consolas" panose="020B0609020204030204" pitchFamily="49" charset="0"/>
              </a:rPr>
              <a:t>"Hans"</a:t>
            </a:r>
            <a:r>
              <a:rPr lang="en-US">
                <a:latin typeface="Consolas"/>
                <a:ea typeface="Segoe UI Emoji" panose="020B0502040204020203" pitchFamily="34" charset="0"/>
                <a:cs typeface="Consolas" panose="020B0609020204030204" pitchFamily="49" charset="0"/>
              </a:rPr>
              <a:t>.</a:t>
            </a:r>
            <a:r>
              <a:rPr lang="en-US" err="1">
                <a:latin typeface="Consolas"/>
                <a:ea typeface="Segoe UI Emoji" panose="020B0502040204020203" pitchFamily="34" charset="0"/>
                <a:cs typeface="Consolas" panose="020B0609020204030204" pitchFamily="49" charset="0"/>
              </a:rPr>
              <a:t>hashCode</a:t>
            </a:r>
            <a:r>
              <a:rPr lang="en-US">
                <a:latin typeface="Consolas"/>
                <a:ea typeface="Segoe UI Emoji" panose="020B0502040204020203" pitchFamily="34" charset="0"/>
                <a:cs typeface="Consolas" panose="020B0609020204030204" pitchFamily="49" charset="0"/>
              </a:rPr>
              <a:t>()); </a:t>
            </a:r>
            <a:r>
              <a:rPr lang="en-US">
                <a:solidFill>
                  <a:srgbClr val="007B00"/>
                </a:solidFill>
                <a:latin typeface="Consolas"/>
                <a:ea typeface="Segoe UI Emoji" panose="020B0502040204020203" pitchFamily="34" charset="0"/>
                <a:cs typeface="Consolas" panose="020B0609020204030204" pitchFamily="49" charset="0"/>
              </a:rPr>
              <a:t>// 2241694</a:t>
            </a:r>
          </a:p>
          <a:p>
            <a:pPr lvl="0" defTabSz="342886">
              <a:spcBef>
                <a:spcPct val="20000"/>
              </a:spcBef>
              <a:buClr>
                <a:srgbClr val="FFFFFF">
                  <a:lumMod val="65000"/>
                </a:srgbClr>
              </a:buClr>
            </a:pPr>
            <a:r>
              <a:rPr lang="en-US" err="1">
                <a:solidFill>
                  <a:srgbClr val="00007F"/>
                </a:solidFill>
                <a:latin typeface="Consolas"/>
                <a:ea typeface="Segoe UI Emoji" panose="020B0502040204020203" pitchFamily="34" charset="0"/>
                <a:cs typeface="Consolas" panose="020B0609020204030204" pitchFamily="49" charset="0"/>
              </a:rPr>
              <a:t>PRINT</a:t>
            </a:r>
            <a:r>
              <a:rPr lang="en-US">
                <a:latin typeface="Consolas"/>
                <a:ea typeface="Segoe UI Emoji" panose="020B0502040204020203" pitchFamily="34" charset="0"/>
                <a:cs typeface="Consolas" panose="020B0609020204030204" pitchFamily="49" charset="0"/>
              </a:rPr>
              <a:t>(  </a:t>
            </a:r>
            <a:r>
              <a:rPr lang="en-US">
                <a:solidFill>
                  <a:srgbClr val="B60E0E"/>
                </a:solidFill>
                <a:latin typeface="Consolas"/>
                <a:ea typeface="Segoe UI Emoji" panose="020B0502040204020203" pitchFamily="34" charset="0"/>
                <a:cs typeface="Consolas" panose="020B0609020204030204" pitchFamily="49" charset="0"/>
              </a:rPr>
              <a:t>"Gary"</a:t>
            </a:r>
            <a:r>
              <a:rPr lang="en-US">
                <a:latin typeface="Consolas"/>
                <a:ea typeface="Segoe UI Emoji" panose="020B0502040204020203" pitchFamily="34" charset="0"/>
                <a:cs typeface="Consolas" panose="020B0609020204030204" pitchFamily="49" charset="0"/>
              </a:rPr>
              <a:t>.</a:t>
            </a:r>
            <a:r>
              <a:rPr lang="en-US" err="1">
                <a:latin typeface="Consolas"/>
                <a:ea typeface="Segoe UI Emoji" panose="020B0502040204020203" pitchFamily="34" charset="0"/>
                <a:cs typeface="Consolas" panose="020B0609020204030204" pitchFamily="49" charset="0"/>
              </a:rPr>
              <a:t>hashCode</a:t>
            </a:r>
            <a:r>
              <a:rPr lang="en-US">
                <a:latin typeface="Consolas"/>
                <a:ea typeface="Segoe UI Emoji" panose="020B0502040204020203" pitchFamily="34" charset="0"/>
                <a:cs typeface="Consolas" panose="020B0609020204030204" pitchFamily="49" charset="0"/>
              </a:rPr>
              <a:t>()); </a:t>
            </a:r>
            <a:r>
              <a:rPr lang="en-US">
                <a:solidFill>
                  <a:srgbClr val="007B00"/>
                </a:solidFill>
                <a:latin typeface="Consolas"/>
                <a:ea typeface="Segoe UI Emoji" panose="020B0502040204020203" pitchFamily="34" charset="0"/>
                <a:cs typeface="Consolas" panose="020B0609020204030204" pitchFamily="49" charset="0"/>
              </a:rPr>
              <a:t>// 2212033</a:t>
            </a:r>
          </a:p>
          <a:p>
            <a:pPr lvl="0" defTabSz="342886">
              <a:spcBef>
                <a:spcPct val="20000"/>
              </a:spcBef>
              <a:buClr>
                <a:srgbClr val="FFFFFF">
                  <a:lumMod val="65000"/>
                </a:srgbClr>
              </a:buClr>
            </a:pPr>
            <a:r>
              <a:rPr lang="en-US" err="1">
                <a:solidFill>
                  <a:srgbClr val="00007F"/>
                </a:solidFill>
                <a:latin typeface="Consolas"/>
                <a:ea typeface="Segoe UI Emoji" panose="020B0502040204020203" pitchFamily="34" charset="0"/>
                <a:cs typeface="Consolas" panose="020B0609020204030204" pitchFamily="49" charset="0"/>
              </a:rPr>
              <a:t>PRINT</a:t>
            </a:r>
            <a:r>
              <a:rPr lang="en-US">
                <a:latin typeface="Consolas"/>
                <a:ea typeface="Segoe UI Emoji" panose="020B0502040204020203" pitchFamily="34" charset="0"/>
                <a:cs typeface="Consolas" panose="020B0609020204030204" pitchFamily="49" charset="0"/>
              </a:rPr>
              <a:t>(</a:t>
            </a:r>
            <a:r>
              <a:rPr lang="en-US">
                <a:solidFill>
                  <a:srgbClr val="B60E0E"/>
                </a:solidFill>
                <a:latin typeface="Consolas"/>
                <a:ea typeface="Segoe UI Emoji" panose="020B0502040204020203" pitchFamily="34" charset="0"/>
                <a:cs typeface="Consolas" panose="020B0609020204030204" pitchFamily="49" charset="0"/>
              </a:rPr>
              <a:t>"Kahoot"</a:t>
            </a:r>
            <a:r>
              <a:rPr lang="en-US">
                <a:latin typeface="Consolas"/>
                <a:ea typeface="Segoe UI Emoji" panose="020B0502040204020203" pitchFamily="34" charset="0"/>
                <a:cs typeface="Consolas" panose="020B0609020204030204" pitchFamily="49" charset="0"/>
              </a:rPr>
              <a:t>.</a:t>
            </a:r>
            <a:r>
              <a:rPr lang="en-US" err="1">
                <a:latin typeface="Consolas"/>
                <a:ea typeface="Segoe UI Emoji" panose="020B0502040204020203" pitchFamily="34" charset="0"/>
                <a:cs typeface="Consolas" panose="020B0609020204030204" pitchFamily="49" charset="0"/>
              </a:rPr>
              <a:t>hashCode</a:t>
            </a:r>
            <a:r>
              <a:rPr lang="en-US">
                <a:latin typeface="Consolas"/>
                <a:ea typeface="Segoe UI Emoji" panose="020B0502040204020203" pitchFamily="34" charset="0"/>
                <a:cs typeface="Consolas" panose="020B0609020204030204" pitchFamily="49" charset="0"/>
              </a:rPr>
              <a:t>()); </a:t>
            </a:r>
            <a:r>
              <a:rPr lang="en-US">
                <a:solidFill>
                  <a:srgbClr val="007B00"/>
                </a:solidFill>
                <a:latin typeface="Consolas"/>
                <a:ea typeface="Segoe UI Emoji" panose="020B0502040204020203" pitchFamily="34" charset="0"/>
                <a:cs typeface="Consolas" panose="020B0609020204030204" pitchFamily="49" charset="0"/>
              </a:rPr>
              <a:t>// -2054990942</a:t>
            </a:r>
          </a:p>
          <a:p>
            <a:pPr defTabSz="342886">
              <a:spcBef>
                <a:spcPct val="20000"/>
              </a:spcBef>
              <a:buClr>
                <a:srgbClr val="FFFFFF">
                  <a:lumMod val="65000"/>
                </a:srgbClr>
              </a:buClr>
            </a:pPr>
            <a:r>
              <a:rPr lang="en-US" err="1">
                <a:solidFill>
                  <a:srgbClr val="00007F"/>
                </a:solidFill>
                <a:latin typeface="Consolas"/>
                <a:ea typeface="Segoe UI Emoji" panose="020B0502040204020203" pitchFamily="34" charset="0"/>
                <a:cs typeface="Consolas" panose="020B0609020204030204" pitchFamily="49" charset="0"/>
              </a:rPr>
              <a:t>PRINT</a:t>
            </a:r>
            <a:r>
              <a:rPr lang="en-US">
                <a:latin typeface="Consolas"/>
                <a:ea typeface="Segoe UI Emoji" panose="020B0502040204020203" pitchFamily="34" charset="0"/>
                <a:cs typeface="Consolas" panose="020B0609020204030204" pitchFamily="49" charset="0"/>
              </a:rPr>
              <a:t>(</a:t>
            </a:r>
            <a:r>
              <a:rPr lang="en-US">
                <a:solidFill>
                  <a:srgbClr val="B60E0E"/>
                </a:solidFill>
                <a:latin typeface="Consolas"/>
                <a:ea typeface="Segoe UI Emoji" panose="020B0502040204020203" pitchFamily="34" charset="0"/>
                <a:cs typeface="Consolas" panose="020B0609020204030204" pitchFamily="49" charset="0"/>
              </a:rPr>
              <a:t>"Kahoot"</a:t>
            </a:r>
            <a:r>
              <a:rPr lang="en-US">
                <a:latin typeface="Consolas"/>
                <a:ea typeface="Segoe UI Emoji" panose="020B0502040204020203" pitchFamily="34" charset="0"/>
                <a:cs typeface="Consolas" panose="020B0609020204030204" pitchFamily="49" charset="0"/>
              </a:rPr>
              <a:t>.</a:t>
            </a:r>
            <a:r>
              <a:rPr lang="en-US" err="1">
                <a:latin typeface="Consolas"/>
                <a:ea typeface="Segoe UI Emoji" panose="020B0502040204020203" pitchFamily="34" charset="0"/>
                <a:cs typeface="Consolas" panose="020B0609020204030204" pitchFamily="49" charset="0"/>
              </a:rPr>
              <a:t>hashCode</a:t>
            </a:r>
            <a:r>
              <a:rPr lang="en-US">
                <a:latin typeface="Consolas"/>
                <a:ea typeface="Segoe UI Emoji" panose="020B0502040204020203" pitchFamily="34" charset="0"/>
                <a:cs typeface="Consolas" panose="020B0609020204030204" pitchFamily="49" charset="0"/>
              </a:rPr>
              <a:t>()); </a:t>
            </a:r>
            <a:r>
              <a:rPr lang="en-US">
                <a:solidFill>
                  <a:srgbClr val="007B00"/>
                </a:solidFill>
                <a:latin typeface="Consolas"/>
                <a:ea typeface="Segoe UI Emoji" panose="020B0502040204020203" pitchFamily="34" charset="0"/>
                <a:cs typeface="Consolas" panose="020B0609020204030204" pitchFamily="49" charset="0"/>
              </a:rPr>
              <a:t>// -2054990942</a:t>
            </a:r>
          </a:p>
        </p:txBody>
      </p:sp>
    </p:spTree>
    <p:extLst>
      <p:ext uri="{BB962C8B-B14F-4D97-AF65-F5344CB8AC3E}">
        <p14:creationId xmlns:p14="http://schemas.microsoft.com/office/powerpoint/2010/main" val="3367037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4BF8B-88A6-5C56-C913-682DFD739A2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9BB12DD-EC96-D28C-53F0-4807D982B84F}"/>
              </a:ext>
            </a:extLst>
          </p:cNvPr>
          <p:cNvSpPr>
            <a:spLocks noGrp="1"/>
          </p:cNvSpPr>
          <p:nvPr>
            <p:ph type="title"/>
          </p:nvPr>
        </p:nvSpPr>
        <p:spPr/>
        <p:txBody>
          <a:bodyPr/>
          <a:lstStyle/>
          <a:p>
            <a:r>
              <a:rPr lang="en-US" err="1">
                <a:latin typeface="+mj-lt"/>
              </a:rPr>
              <a:t>hashCode</a:t>
            </a:r>
            <a:r>
              <a:rPr lang="en-US">
                <a:latin typeface="+mj-lt"/>
              </a:rPr>
              <a:t>()</a:t>
            </a:r>
            <a:endParaRPr lang="en-US"/>
          </a:p>
        </p:txBody>
      </p:sp>
      <p:sp>
        <p:nvSpPr>
          <p:cNvPr id="4" name="Content Placeholder 3">
            <a:extLst>
              <a:ext uri="{FF2B5EF4-FFF2-40B4-BE49-F238E27FC236}">
                <a16:creationId xmlns:a16="http://schemas.microsoft.com/office/drawing/2014/main" id="{D93E0093-2F42-55BA-906C-0805EC03BFE6}"/>
              </a:ext>
            </a:extLst>
          </p:cNvPr>
          <p:cNvSpPr>
            <a:spLocks noGrp="1"/>
          </p:cNvSpPr>
          <p:nvPr>
            <p:ph sz="quarter" idx="10"/>
          </p:nvPr>
        </p:nvSpPr>
        <p:spPr>
          <a:xfrm>
            <a:off x="457200" y="963337"/>
            <a:ext cx="8229600" cy="4080271"/>
          </a:xfrm>
        </p:spPr>
        <p:txBody>
          <a:bodyPr/>
          <a:lstStyle/>
          <a:p>
            <a:r>
              <a:rPr lang="en-US"/>
              <a:t>often, you want to use a hash code to index into an array</a:t>
            </a:r>
          </a:p>
          <a:p>
            <a:pPr lvl="1"/>
            <a:r>
              <a:rPr lang="en-US"/>
              <a:t>✨ </a:t>
            </a:r>
            <a:r>
              <a:rPr lang="en-US">
                <a:solidFill>
                  <a:srgbClr val="00007F"/>
                </a:solidFill>
                <a:latin typeface="+mj-lt"/>
              </a:rPr>
              <a:t>MODULO</a:t>
            </a:r>
            <a:r>
              <a:rPr lang="en-US">
                <a:latin typeface="+mj-lt"/>
              </a:rPr>
              <a:t>(object.hashCode(), array.length)</a:t>
            </a:r>
          </a:p>
        </p:txBody>
      </p:sp>
      <p:sp>
        <p:nvSpPr>
          <p:cNvPr id="6" name="TextBox 5">
            <a:extLst>
              <a:ext uri="{FF2B5EF4-FFF2-40B4-BE49-F238E27FC236}">
                <a16:creationId xmlns:a16="http://schemas.microsoft.com/office/drawing/2014/main" id="{382EDBC9-7EAD-B043-8EBB-BB7F017AA2BB}"/>
              </a:ext>
            </a:extLst>
          </p:cNvPr>
          <p:cNvSpPr txBox="1"/>
          <p:nvPr/>
        </p:nvSpPr>
        <p:spPr>
          <a:xfrm>
            <a:off x="457200" y="1809564"/>
            <a:ext cx="8229600" cy="1698927"/>
          </a:xfrm>
          <a:prstGeom prst="rect">
            <a:avLst/>
          </a:prstGeom>
          <a:noFill/>
          <a:ln>
            <a:solidFill>
              <a:schemeClr val="tx1"/>
            </a:solidFill>
          </a:ln>
        </p:spPr>
        <p:txBody>
          <a:bodyPr wrap="square" rtlCol="0">
            <a:spAutoFit/>
          </a:bodyPr>
          <a:lstStyle/>
          <a:p>
            <a:pPr lvl="0" defTabSz="342886">
              <a:spcBef>
                <a:spcPct val="20000"/>
              </a:spcBef>
              <a:buClr>
                <a:srgbClr val="FFFFFF">
                  <a:lumMod val="65000"/>
                </a:srgbClr>
              </a:buClr>
            </a:pPr>
            <a:r>
              <a:rPr lang="en-US" err="1">
                <a:solidFill>
                  <a:srgbClr val="00007F"/>
                </a:solidFill>
                <a:latin typeface="Consolas"/>
                <a:ea typeface="Segoe UI Emoji" panose="020B0502040204020203" pitchFamily="34" charset="0"/>
                <a:cs typeface="Consolas" panose="020B0609020204030204" pitchFamily="49" charset="0"/>
              </a:rPr>
              <a:t>int </a:t>
            </a:r>
            <a:r>
              <a:rPr lang="en-US" err="1">
                <a:latin typeface="Consolas"/>
                <a:ea typeface="Segoe UI Emoji" panose="020B0502040204020203" pitchFamily="34" charset="0"/>
                <a:cs typeface="Consolas" panose="020B0609020204030204" pitchFamily="49" charset="0"/>
              </a:rPr>
              <a:t>N</a:t>
            </a:r>
            <a:r>
              <a:rPr lang="en-US" err="1">
                <a:solidFill>
                  <a:srgbClr val="00007F"/>
                </a:solidFill>
                <a:latin typeface="Consolas"/>
                <a:ea typeface="Segoe UI Emoji" panose="020B0502040204020203" pitchFamily="34" charset="0"/>
                <a:cs typeface="Consolas" panose="020B0609020204030204" pitchFamily="49" charset="0"/>
              </a:rPr>
              <a:t> </a:t>
            </a:r>
            <a:r>
              <a:rPr lang="en-US" err="1">
                <a:latin typeface="Consolas"/>
                <a:ea typeface="Segoe UI Emoji" panose="020B0502040204020203" pitchFamily="34" charset="0"/>
                <a:cs typeface="Consolas" panose="020B0609020204030204" pitchFamily="49" charset="0"/>
              </a:rPr>
              <a:t>= </a:t>
            </a:r>
            <a:r>
              <a:rPr lang="en-US">
                <a:solidFill>
                  <a:srgbClr val="09B5B6"/>
                </a:solidFill>
                <a:latin typeface="Consolas"/>
                <a:ea typeface="Segoe UI Emoji" panose="020B0502040204020203" pitchFamily="34" charset="0"/>
                <a:cs typeface="Consolas" panose="020B0609020204030204" pitchFamily="49" charset="0"/>
              </a:rPr>
              <a:t>10</a:t>
            </a:r>
            <a:r>
              <a:rPr lang="en-US" err="1">
                <a:latin typeface="Consolas"/>
                <a:ea typeface="Segoe UI Emoji" panose="020B0502040204020203" pitchFamily="34" charset="0"/>
                <a:cs typeface="Consolas" panose="020B0609020204030204" pitchFamily="49" charset="0"/>
              </a:rPr>
              <a:t>;</a:t>
            </a:r>
          </a:p>
          <a:p>
            <a:pPr lvl="0" defTabSz="342886">
              <a:spcBef>
                <a:spcPct val="20000"/>
              </a:spcBef>
              <a:buClr>
                <a:srgbClr val="FFFFFF">
                  <a:lumMod val="65000"/>
                </a:srgbClr>
              </a:buClr>
            </a:pPr>
            <a:r>
              <a:rPr lang="en-US" err="1">
                <a:solidFill>
                  <a:srgbClr val="00007F"/>
                </a:solidFill>
                <a:latin typeface="Consolas"/>
                <a:ea typeface="Segoe UI Emoji" panose="020B0502040204020203" pitchFamily="34" charset="0"/>
                <a:cs typeface="Consolas" panose="020B0609020204030204" pitchFamily="49" charset="0"/>
              </a:rPr>
              <a:t>PRINT</a:t>
            </a:r>
            <a:r>
              <a:rPr lang="en-US">
                <a:latin typeface="Consolas"/>
                <a:ea typeface="Segoe UI Emoji" panose="020B0502040204020203" pitchFamily="34" charset="0"/>
                <a:cs typeface="Consolas" panose="020B0609020204030204" pitchFamily="49" charset="0"/>
              </a:rPr>
              <a:t>(</a:t>
            </a:r>
            <a:r>
              <a:rPr lang="en-US">
                <a:solidFill>
                  <a:srgbClr val="00007F"/>
                </a:solidFill>
                <a:latin typeface="Consolas"/>
                <a:ea typeface="Segoe UI Emoji" panose="020B0502040204020203" pitchFamily="34" charset="0"/>
                <a:cs typeface="Consolas" panose="020B0609020204030204" pitchFamily="49" charset="0"/>
              </a:rPr>
              <a:t>MODULO</a:t>
            </a:r>
            <a:r>
              <a:rPr lang="en-US">
                <a:latin typeface="Consolas"/>
                <a:ea typeface="Segoe UI Emoji" panose="020B0502040204020203" pitchFamily="34" charset="0"/>
                <a:cs typeface="Consolas" panose="020B0609020204030204" pitchFamily="49" charset="0"/>
              </a:rPr>
              <a:t>(  </a:t>
            </a:r>
            <a:r>
              <a:rPr lang="en-US">
                <a:solidFill>
                  <a:srgbClr val="B60E0E"/>
                </a:solidFill>
                <a:latin typeface="Consolas"/>
                <a:ea typeface="Segoe UI Emoji" panose="020B0502040204020203" pitchFamily="34" charset="0"/>
                <a:cs typeface="Consolas" panose="020B0609020204030204" pitchFamily="49" charset="0"/>
              </a:rPr>
              <a:t>"Hans"</a:t>
            </a:r>
            <a:r>
              <a:rPr lang="en-US">
                <a:latin typeface="Consolas"/>
                <a:ea typeface="Segoe UI Emoji" panose="020B0502040204020203" pitchFamily="34" charset="0"/>
                <a:cs typeface="Consolas" panose="020B0609020204030204" pitchFamily="49" charset="0"/>
              </a:rPr>
              <a:t>.</a:t>
            </a:r>
            <a:r>
              <a:rPr lang="en-US" err="1">
                <a:latin typeface="Consolas"/>
                <a:ea typeface="Segoe UI Emoji" panose="020B0502040204020203" pitchFamily="34" charset="0"/>
                <a:cs typeface="Consolas" panose="020B0609020204030204" pitchFamily="49" charset="0"/>
              </a:rPr>
              <a:t>hashCode</a:t>
            </a:r>
            <a:r>
              <a:rPr lang="en-US">
                <a:latin typeface="Consolas"/>
                <a:ea typeface="Segoe UI Emoji" panose="020B0502040204020203" pitchFamily="34" charset="0"/>
                <a:cs typeface="Consolas" panose="020B0609020204030204" pitchFamily="49" charset="0"/>
              </a:rPr>
              <a:t>(), </a:t>
            </a:r>
            <a:r>
              <a:rPr lang="en-US" err="1">
                <a:latin typeface="Consolas"/>
                <a:ea typeface="Segoe UI Emoji" panose="020B0502040204020203" pitchFamily="34" charset="0"/>
                <a:cs typeface="Consolas" panose="020B0609020204030204" pitchFamily="49" charset="0"/>
              </a:rPr>
              <a:t>N</a:t>
            </a:r>
            <a:r>
              <a:rPr lang="en-US">
                <a:latin typeface="Consolas"/>
                <a:ea typeface="Segoe UI Emoji" panose="020B0502040204020203" pitchFamily="34" charset="0"/>
                <a:cs typeface="Consolas" panose="020B0609020204030204" pitchFamily="49" charset="0"/>
              </a:rPr>
              <a:t>)); </a:t>
            </a:r>
            <a:r>
              <a:rPr lang="en-US">
                <a:solidFill>
                  <a:srgbClr val="007B00"/>
                </a:solidFill>
                <a:latin typeface="Consolas"/>
                <a:ea typeface="Segoe UI Emoji" panose="020B0502040204020203" pitchFamily="34" charset="0"/>
                <a:cs typeface="Consolas" panose="020B0609020204030204" pitchFamily="49" charset="0"/>
              </a:rPr>
              <a:t>// 4</a:t>
            </a:r>
          </a:p>
          <a:p>
            <a:pPr lvl="0" defTabSz="342886">
              <a:spcBef>
                <a:spcPct val="20000"/>
              </a:spcBef>
              <a:buClr>
                <a:srgbClr val="FFFFFF">
                  <a:lumMod val="65000"/>
                </a:srgbClr>
              </a:buClr>
            </a:pPr>
            <a:r>
              <a:rPr lang="en-US" err="1">
                <a:solidFill>
                  <a:srgbClr val="00007F"/>
                </a:solidFill>
                <a:latin typeface="Consolas"/>
                <a:ea typeface="Segoe UI Emoji" panose="020B0502040204020203" pitchFamily="34" charset="0"/>
                <a:cs typeface="Consolas" panose="020B0609020204030204" pitchFamily="49" charset="0"/>
              </a:rPr>
              <a:t>PRINT</a:t>
            </a:r>
            <a:r>
              <a:rPr lang="en-US">
                <a:latin typeface="Consolas"/>
                <a:ea typeface="Segoe UI Emoji" panose="020B0502040204020203" pitchFamily="34" charset="0"/>
                <a:cs typeface="Consolas" panose="020B0609020204030204" pitchFamily="49" charset="0"/>
              </a:rPr>
              <a:t>(</a:t>
            </a:r>
            <a:r>
              <a:rPr lang="en-US">
                <a:solidFill>
                  <a:srgbClr val="00007F"/>
                </a:solidFill>
                <a:latin typeface="Consolas"/>
                <a:ea typeface="Segoe UI Emoji" panose="020B0502040204020203" pitchFamily="34" charset="0"/>
                <a:cs typeface="Consolas" panose="020B0609020204030204" pitchFamily="49" charset="0"/>
              </a:rPr>
              <a:t>MODULO</a:t>
            </a:r>
            <a:r>
              <a:rPr lang="en-US">
                <a:latin typeface="Consolas"/>
                <a:ea typeface="Segoe UI Emoji" panose="020B0502040204020203" pitchFamily="34" charset="0"/>
                <a:cs typeface="Consolas" panose="020B0609020204030204" pitchFamily="49" charset="0"/>
              </a:rPr>
              <a:t>(  </a:t>
            </a:r>
            <a:r>
              <a:rPr lang="en-US">
                <a:solidFill>
                  <a:srgbClr val="B60E0E"/>
                </a:solidFill>
                <a:latin typeface="Consolas"/>
                <a:ea typeface="Segoe UI Emoji" panose="020B0502040204020203" pitchFamily="34" charset="0"/>
                <a:cs typeface="Consolas" panose="020B0609020204030204" pitchFamily="49" charset="0"/>
              </a:rPr>
              <a:t>"Gary"</a:t>
            </a:r>
            <a:r>
              <a:rPr lang="en-US">
                <a:latin typeface="Consolas"/>
                <a:ea typeface="Segoe UI Emoji" panose="020B0502040204020203" pitchFamily="34" charset="0"/>
                <a:cs typeface="Consolas" panose="020B0609020204030204" pitchFamily="49" charset="0"/>
              </a:rPr>
              <a:t>.</a:t>
            </a:r>
            <a:r>
              <a:rPr lang="en-US" err="1">
                <a:latin typeface="Consolas"/>
                <a:ea typeface="Segoe UI Emoji" panose="020B0502040204020203" pitchFamily="34" charset="0"/>
                <a:cs typeface="Consolas" panose="020B0609020204030204" pitchFamily="49" charset="0"/>
              </a:rPr>
              <a:t>hashCode</a:t>
            </a:r>
            <a:r>
              <a:rPr lang="en-US">
                <a:latin typeface="Consolas"/>
                <a:ea typeface="Segoe UI Emoji" panose="020B0502040204020203" pitchFamily="34" charset="0"/>
                <a:cs typeface="Consolas" panose="020B0609020204030204" pitchFamily="49" charset="0"/>
              </a:rPr>
              <a:t>(), </a:t>
            </a:r>
            <a:r>
              <a:rPr lang="en-US" err="1">
                <a:latin typeface="Consolas"/>
                <a:ea typeface="Segoe UI Emoji" panose="020B0502040204020203" pitchFamily="34" charset="0"/>
                <a:cs typeface="Consolas" panose="020B0609020204030204" pitchFamily="49" charset="0"/>
              </a:rPr>
              <a:t>N</a:t>
            </a:r>
            <a:r>
              <a:rPr lang="en-US">
                <a:latin typeface="Consolas"/>
                <a:ea typeface="Segoe UI Emoji" panose="020B0502040204020203" pitchFamily="34" charset="0"/>
                <a:cs typeface="Consolas" panose="020B0609020204030204" pitchFamily="49" charset="0"/>
              </a:rPr>
              <a:t>)); </a:t>
            </a:r>
            <a:r>
              <a:rPr lang="en-US">
                <a:solidFill>
                  <a:srgbClr val="007B00"/>
                </a:solidFill>
                <a:latin typeface="Consolas"/>
                <a:ea typeface="Segoe UI Emoji" panose="020B0502040204020203" pitchFamily="34" charset="0"/>
                <a:cs typeface="Consolas" panose="020B0609020204030204" pitchFamily="49" charset="0"/>
              </a:rPr>
              <a:t>// 3</a:t>
            </a:r>
          </a:p>
          <a:p>
            <a:pPr lvl="0" defTabSz="342886">
              <a:spcBef>
                <a:spcPct val="20000"/>
              </a:spcBef>
              <a:buClr>
                <a:srgbClr val="FFFFFF">
                  <a:lumMod val="65000"/>
                </a:srgbClr>
              </a:buClr>
            </a:pPr>
            <a:r>
              <a:rPr lang="en-US" err="1">
                <a:solidFill>
                  <a:srgbClr val="00007F"/>
                </a:solidFill>
                <a:latin typeface="Consolas"/>
                <a:ea typeface="Segoe UI Emoji" panose="020B0502040204020203" pitchFamily="34" charset="0"/>
                <a:cs typeface="Consolas" panose="020B0609020204030204" pitchFamily="49" charset="0"/>
              </a:rPr>
              <a:t>PRINT</a:t>
            </a:r>
            <a:r>
              <a:rPr lang="en-US">
                <a:latin typeface="Consolas"/>
                <a:ea typeface="Segoe UI Emoji" panose="020B0502040204020203" pitchFamily="34" charset="0"/>
                <a:cs typeface="Consolas" panose="020B0609020204030204" pitchFamily="49" charset="0"/>
              </a:rPr>
              <a:t>(</a:t>
            </a:r>
            <a:r>
              <a:rPr lang="en-US">
                <a:solidFill>
                  <a:srgbClr val="00007F"/>
                </a:solidFill>
                <a:latin typeface="Consolas"/>
                <a:ea typeface="Segoe UI Emoji" panose="020B0502040204020203" pitchFamily="34" charset="0"/>
                <a:cs typeface="Consolas" panose="020B0609020204030204" pitchFamily="49" charset="0"/>
              </a:rPr>
              <a:t>MODULO</a:t>
            </a:r>
            <a:r>
              <a:rPr lang="en-US">
                <a:latin typeface="Consolas"/>
                <a:ea typeface="Segoe UI Emoji" panose="020B0502040204020203" pitchFamily="34" charset="0"/>
                <a:cs typeface="Consolas" panose="020B0609020204030204" pitchFamily="49" charset="0"/>
              </a:rPr>
              <a:t>(</a:t>
            </a:r>
            <a:r>
              <a:rPr lang="en-US">
                <a:solidFill>
                  <a:srgbClr val="B60E0E"/>
                </a:solidFill>
                <a:latin typeface="Consolas"/>
                <a:ea typeface="Segoe UI Emoji" panose="020B0502040204020203" pitchFamily="34" charset="0"/>
                <a:cs typeface="Consolas" panose="020B0609020204030204" pitchFamily="49" charset="0"/>
              </a:rPr>
              <a:t>"Kahoot"</a:t>
            </a:r>
            <a:r>
              <a:rPr lang="en-US">
                <a:latin typeface="Consolas"/>
                <a:ea typeface="Segoe UI Emoji" panose="020B0502040204020203" pitchFamily="34" charset="0"/>
                <a:cs typeface="Consolas" panose="020B0609020204030204" pitchFamily="49" charset="0"/>
              </a:rPr>
              <a:t>.</a:t>
            </a:r>
            <a:r>
              <a:rPr lang="en-US" err="1">
                <a:latin typeface="Consolas"/>
                <a:ea typeface="Segoe UI Emoji" panose="020B0502040204020203" pitchFamily="34" charset="0"/>
                <a:cs typeface="Consolas" panose="020B0609020204030204" pitchFamily="49" charset="0"/>
              </a:rPr>
              <a:t>hashCode</a:t>
            </a:r>
            <a:r>
              <a:rPr lang="en-US">
                <a:latin typeface="Consolas"/>
                <a:ea typeface="Segoe UI Emoji" panose="020B0502040204020203" pitchFamily="34" charset="0"/>
                <a:cs typeface="Consolas" panose="020B0609020204030204" pitchFamily="49" charset="0"/>
              </a:rPr>
              <a:t>(), </a:t>
            </a:r>
            <a:r>
              <a:rPr lang="en-US" err="1">
                <a:latin typeface="Consolas"/>
                <a:ea typeface="Segoe UI Emoji" panose="020B0502040204020203" pitchFamily="34" charset="0"/>
                <a:cs typeface="Consolas" panose="020B0609020204030204" pitchFamily="49" charset="0"/>
              </a:rPr>
              <a:t>N</a:t>
            </a:r>
            <a:r>
              <a:rPr lang="en-US">
                <a:latin typeface="Consolas"/>
                <a:ea typeface="Segoe UI Emoji" panose="020B0502040204020203" pitchFamily="34" charset="0"/>
                <a:cs typeface="Consolas" panose="020B0609020204030204" pitchFamily="49" charset="0"/>
              </a:rPr>
              <a:t>)); </a:t>
            </a:r>
            <a:r>
              <a:rPr lang="en-US">
                <a:solidFill>
                  <a:srgbClr val="007B00"/>
                </a:solidFill>
                <a:latin typeface="Consolas"/>
                <a:ea typeface="Segoe UI Emoji" panose="020B0502040204020203" pitchFamily="34" charset="0"/>
                <a:cs typeface="Consolas" panose="020B0609020204030204" pitchFamily="49" charset="0"/>
              </a:rPr>
              <a:t>// 8</a:t>
            </a:r>
          </a:p>
          <a:p>
            <a:pPr defTabSz="342886">
              <a:spcBef>
                <a:spcPct val="20000"/>
              </a:spcBef>
              <a:buClr>
                <a:srgbClr val="FFFFFF">
                  <a:lumMod val="65000"/>
                </a:srgbClr>
              </a:buClr>
            </a:pPr>
            <a:r>
              <a:rPr lang="en-US" err="1">
                <a:solidFill>
                  <a:srgbClr val="00007F"/>
                </a:solidFill>
                <a:latin typeface="Consolas"/>
                <a:ea typeface="Segoe UI Emoji" panose="020B0502040204020203" pitchFamily="34" charset="0"/>
                <a:cs typeface="Consolas" panose="020B0609020204030204" pitchFamily="49" charset="0"/>
              </a:rPr>
              <a:t>PRINT</a:t>
            </a:r>
            <a:r>
              <a:rPr lang="en-US">
                <a:latin typeface="Consolas"/>
                <a:ea typeface="Segoe UI Emoji" panose="020B0502040204020203" pitchFamily="34" charset="0"/>
                <a:cs typeface="Consolas" panose="020B0609020204030204" pitchFamily="49" charset="0"/>
              </a:rPr>
              <a:t>(</a:t>
            </a:r>
            <a:r>
              <a:rPr lang="en-US">
                <a:solidFill>
                  <a:srgbClr val="00007F"/>
                </a:solidFill>
                <a:latin typeface="Consolas"/>
                <a:ea typeface="Segoe UI Emoji" panose="020B0502040204020203" pitchFamily="34" charset="0"/>
                <a:cs typeface="Consolas" panose="020B0609020204030204" pitchFamily="49" charset="0"/>
              </a:rPr>
              <a:t>MODULO</a:t>
            </a:r>
            <a:r>
              <a:rPr lang="en-US">
                <a:latin typeface="Consolas"/>
                <a:ea typeface="Segoe UI Emoji" panose="020B0502040204020203" pitchFamily="34" charset="0"/>
                <a:cs typeface="Consolas" panose="020B0609020204030204" pitchFamily="49" charset="0"/>
              </a:rPr>
              <a:t>(</a:t>
            </a:r>
            <a:r>
              <a:rPr lang="en-US">
                <a:solidFill>
                  <a:srgbClr val="B60E0E"/>
                </a:solidFill>
                <a:latin typeface="Consolas"/>
                <a:ea typeface="Segoe UI Emoji" panose="020B0502040204020203" pitchFamily="34" charset="0"/>
                <a:cs typeface="Consolas" panose="020B0609020204030204" pitchFamily="49" charset="0"/>
              </a:rPr>
              <a:t>"Kahoot"</a:t>
            </a:r>
            <a:r>
              <a:rPr lang="en-US">
                <a:latin typeface="Consolas"/>
                <a:ea typeface="Segoe UI Emoji" panose="020B0502040204020203" pitchFamily="34" charset="0"/>
                <a:cs typeface="Consolas" panose="020B0609020204030204" pitchFamily="49" charset="0"/>
              </a:rPr>
              <a:t>.</a:t>
            </a:r>
            <a:r>
              <a:rPr lang="en-US" err="1">
                <a:latin typeface="Consolas"/>
                <a:ea typeface="Segoe UI Emoji" panose="020B0502040204020203" pitchFamily="34" charset="0"/>
                <a:cs typeface="Consolas" panose="020B0609020204030204" pitchFamily="49" charset="0"/>
              </a:rPr>
              <a:t>hashCode</a:t>
            </a:r>
            <a:r>
              <a:rPr lang="en-US">
                <a:latin typeface="Consolas"/>
                <a:ea typeface="Segoe UI Emoji" panose="020B0502040204020203" pitchFamily="34" charset="0"/>
                <a:cs typeface="Consolas" panose="020B0609020204030204" pitchFamily="49" charset="0"/>
              </a:rPr>
              <a:t>(), </a:t>
            </a:r>
            <a:r>
              <a:rPr lang="en-US" err="1">
                <a:latin typeface="Consolas"/>
                <a:ea typeface="Segoe UI Emoji" panose="020B0502040204020203" pitchFamily="34" charset="0"/>
                <a:cs typeface="Consolas" panose="020B0609020204030204" pitchFamily="49" charset="0"/>
              </a:rPr>
              <a:t>N</a:t>
            </a:r>
            <a:r>
              <a:rPr lang="en-US">
                <a:latin typeface="Consolas"/>
                <a:ea typeface="Segoe UI Emoji" panose="020B0502040204020203" pitchFamily="34" charset="0"/>
                <a:cs typeface="Consolas" panose="020B0609020204030204" pitchFamily="49" charset="0"/>
              </a:rPr>
              <a:t>)); </a:t>
            </a:r>
            <a:r>
              <a:rPr lang="en-US">
                <a:solidFill>
                  <a:srgbClr val="007B00"/>
                </a:solidFill>
                <a:latin typeface="Consolas"/>
                <a:ea typeface="Segoe UI Emoji" panose="020B0502040204020203" pitchFamily="34" charset="0"/>
                <a:cs typeface="Consolas" panose="020B0609020204030204" pitchFamily="49" charset="0"/>
              </a:rPr>
              <a:t>// 8</a:t>
            </a:r>
          </a:p>
        </p:txBody>
      </p:sp>
    </p:spTree>
    <p:extLst>
      <p:ext uri="{BB962C8B-B14F-4D97-AF65-F5344CB8AC3E}">
        <p14:creationId xmlns:p14="http://schemas.microsoft.com/office/powerpoint/2010/main" val="29280360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E747A-40C9-AFAA-4CE1-69271181CEC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3E29CFC-63C9-E032-A739-7A612B720C83}"/>
              </a:ext>
            </a:extLst>
          </p:cNvPr>
          <p:cNvPicPr>
            <a:picLocks noChangeAspect="1"/>
          </p:cNvPicPr>
          <p:nvPr/>
        </p:nvPicPr>
        <p:blipFill rotWithShape="1">
          <a:blip r:embed="rId2"/>
          <a:srcRect t="2790"/>
          <a:stretch/>
        </p:blipFill>
        <p:spPr>
          <a:xfrm>
            <a:off x="537398" y="1447800"/>
            <a:ext cx="6844477" cy="3348916"/>
          </a:xfrm>
          <a:prstGeom prst="rect">
            <a:avLst/>
          </a:prstGeom>
        </p:spPr>
      </p:pic>
      <p:pic>
        <p:nvPicPr>
          <p:cNvPr id="5" name="Picture 4">
            <a:extLst>
              <a:ext uri="{FF2B5EF4-FFF2-40B4-BE49-F238E27FC236}">
                <a16:creationId xmlns:a16="http://schemas.microsoft.com/office/drawing/2014/main" id="{B8BDCBF5-0F91-1EDD-EE58-B04253207925}"/>
              </a:ext>
            </a:extLst>
          </p:cNvPr>
          <p:cNvPicPr>
            <a:picLocks noChangeAspect="1"/>
          </p:cNvPicPr>
          <p:nvPr/>
        </p:nvPicPr>
        <p:blipFill>
          <a:blip r:embed="rId3"/>
          <a:stretch>
            <a:fillRect/>
          </a:stretch>
        </p:blipFill>
        <p:spPr>
          <a:xfrm>
            <a:off x="542925" y="354956"/>
            <a:ext cx="6838540" cy="682752"/>
          </a:xfrm>
          <a:prstGeom prst="rect">
            <a:avLst/>
          </a:prstGeom>
        </p:spPr>
      </p:pic>
    </p:spTree>
    <p:extLst>
      <p:ext uri="{BB962C8B-B14F-4D97-AF65-F5344CB8AC3E}">
        <p14:creationId xmlns:p14="http://schemas.microsoft.com/office/powerpoint/2010/main" val="885821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58844-7F42-5BB5-88AA-DDCAED90229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1278B4A-82CE-02C4-125B-897805635CB8}"/>
              </a:ext>
            </a:extLst>
          </p:cNvPr>
          <p:cNvSpPr>
            <a:spLocks noGrp="1"/>
          </p:cNvSpPr>
          <p:nvPr>
            <p:ph type="title"/>
          </p:nvPr>
        </p:nvSpPr>
        <p:spPr/>
        <p:txBody>
          <a:bodyPr/>
          <a:lstStyle/>
          <a:p>
            <a:r>
              <a:rPr lang="en-US"/>
              <a:t>hash maps</a:t>
            </a:r>
          </a:p>
        </p:txBody>
      </p:sp>
    </p:spTree>
    <p:extLst>
      <p:ext uri="{BB962C8B-B14F-4D97-AF65-F5344CB8AC3E}">
        <p14:creationId xmlns:p14="http://schemas.microsoft.com/office/powerpoint/2010/main" val="222952017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C5ABA-169A-34B2-C1A2-1710717E771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D76B962-FAD2-4525-1D8A-6DD9A7E6935B}"/>
              </a:ext>
            </a:extLst>
          </p:cNvPr>
          <p:cNvSpPr>
            <a:spLocks noGrp="1"/>
          </p:cNvSpPr>
          <p:nvPr>
            <p:ph type="title"/>
          </p:nvPr>
        </p:nvSpPr>
        <p:spPr/>
        <p:txBody>
          <a:bodyPr/>
          <a:lstStyle/>
          <a:p>
            <a:r>
              <a:rPr lang="en-US"/>
              <a:t>hash map</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F630D73-2DC9-F52D-F90F-A57BABFA9B96}"/>
                  </a:ext>
                </a:extLst>
              </p:cNvPr>
              <p:cNvSpPr>
                <a:spLocks noGrp="1"/>
              </p:cNvSpPr>
              <p:nvPr>
                <p:ph sz="quarter" idx="10"/>
              </p:nvPr>
            </p:nvSpPr>
            <p:spPr/>
            <p:txBody>
              <a:bodyPr/>
              <a:lstStyle/>
              <a:p>
                <a:r>
                  <a:rPr lang="en-US"/>
                  <a:t>a </a:t>
                </a:r>
                <a:r>
                  <a:rPr lang="en-US" b="1"/>
                  <a:t>hash map</a:t>
                </a:r>
                <a:r>
                  <a:rPr lang="en-US"/>
                  <a:t> (</a:t>
                </a:r>
                <a:r>
                  <a:rPr lang="en-US" b="1"/>
                  <a:t>hash table</a:t>
                </a:r>
                <a:r>
                  <a:rPr lang="en-US"/>
                  <a:t>) is a great way to implement a map</a:t>
                </a:r>
              </a:p>
              <a:p>
                <a:pPr lvl="1"/>
                <a:r>
                  <a:rPr lang="en-US">
                    <a:solidFill>
                      <a:srgbClr val="000000"/>
                    </a:solidFill>
                  </a:rPr>
                  <a:t>hash map are implemented using an </a:t>
                </a:r>
                <a:r>
                  <a:rPr lang="en-US" b="1"/>
                  <a:t>array</a:t>
                </a:r>
                <a:r>
                  <a:rPr lang="en-US">
                    <a:solidFill>
                      <a:srgbClr val="000000"/>
                    </a:solidFill>
                  </a:rPr>
                  <a:t> and a </a:t>
                </a:r>
                <a:r>
                  <a:rPr lang="en-US" b="1">
                    <a:solidFill>
                      <a:srgbClr val="000000"/>
                    </a:solidFill>
                  </a:rPr>
                  <a:t>hash function</a:t>
                </a:r>
                <a:endParaRPr lang="en-US"/>
              </a:p>
              <a:p>
                <a:pPr lvl="1"/>
                <a:r>
                  <a:rPr lang="en-US"/>
                  <a:t>hash maps are FAST</a:t>
                </a:r>
                <a:endParaRPr lang="en-US">
                  <a:solidFill>
                    <a:srgbClr val="000000"/>
                  </a:solidFill>
                  <a:latin typeface="Consolas"/>
                </a:endParaRPr>
              </a:p>
              <a:p>
                <a:pPr lvl="2">
                  <a:buClr>
                    <a:srgbClr val="FFFFFF">
                      <a:lumMod val="65000"/>
                    </a:srgbClr>
                  </a:buClr>
                </a:pPr>
                <a:r>
                  <a:rPr lang="en-US">
                    <a:solidFill>
                      <a:srgbClr val="000000"/>
                    </a:solidFill>
                    <a:latin typeface="Consolas"/>
                  </a:rPr>
                  <a:t>put(key, value)</a:t>
                </a:r>
                <a:r>
                  <a:rPr lang="en-US">
                    <a:solidFill>
                      <a:srgbClr val="000000"/>
                    </a:solidFill>
                  </a:rPr>
                  <a:t> is </a:t>
                </a:r>
                <a14:m>
                  <m:oMath xmlns:m="http://schemas.openxmlformats.org/officeDocument/2006/math">
                    <m:r>
                      <a:rPr lang="en-US" b="0" i="1" smtClean="0">
                        <a:latin typeface="Cambria Math" panose="02040503050406030204" pitchFamily="18" charset="0"/>
                        <a:ea typeface="Cambria Math" panose="02040503050406030204" pitchFamily="18" charset="0"/>
                      </a:rPr>
                      <m:t>𝒪</m:t>
                    </m:r>
                    <m:d>
                      <m:dPr>
                        <m:ctrlPr>
                          <a:rPr lang="en-US" b="0" i="1" smtClean="0">
                            <a:latin typeface="Cambria Math" panose="02040503050406030204" pitchFamily="18" charset="0"/>
                          </a:rPr>
                        </m:ctrlPr>
                      </m:dPr>
                      <m:e>
                        <m:r>
                          <a:rPr lang="en-US" b="0" i="1" smtClean="0">
                            <a:latin typeface="Cambria Math" panose="02040503050406030204" pitchFamily="18" charset="0"/>
                          </a:rPr>
                          <m:t>1</m:t>
                        </m:r>
                      </m:e>
                    </m:d>
                  </m:oMath>
                </a14:m>
                <a:r>
                  <a:rPr lang="en-US">
                    <a:solidFill>
                      <a:srgbClr val="000000"/>
                    </a:solidFill>
                  </a:rPr>
                  <a:t> time </a:t>
                </a:r>
                <a:r>
                  <a:rPr lang="en-US" sz="1200">
                    <a:solidFill>
                      <a:srgbClr val="000000"/>
                    </a:solidFill>
                  </a:rPr>
                  <a:t>(ish)</a:t>
                </a:r>
                <a:r>
                  <a:rPr lang="en-US">
                    <a:solidFill>
                      <a:srgbClr val="000000"/>
                    </a:solidFill>
                    <a:latin typeface="Consolas"/>
                  </a:rPr>
                  <a:t>	</a:t>
                </a:r>
                <a:r>
                  <a:rPr lang="en-US"/>
                  <a:t>😀 </a:t>
                </a:r>
                <a:r>
                  <a:rPr lang="en-US">
                    <a:solidFill>
                      <a:schemeClr val="accent2"/>
                    </a:solidFill>
                  </a:rPr>
                  <a:t>FAST</a:t>
                </a:r>
                <a:endParaRPr lang="en-US">
                  <a:solidFill>
                    <a:schemeClr val="accent2"/>
                  </a:solidFill>
                  <a:latin typeface="Consolas"/>
                </a:endParaRPr>
              </a:p>
              <a:p>
                <a:pPr lvl="2">
                  <a:buClr>
                    <a:srgbClr val="FFFFFF">
                      <a:lumMod val="65000"/>
                    </a:srgbClr>
                  </a:buClr>
                </a:pPr>
                <a:r>
                  <a:rPr lang="en-US">
                    <a:solidFill>
                      <a:srgbClr val="000000"/>
                    </a:solidFill>
                    <a:latin typeface="Consolas"/>
                  </a:rPr>
                  <a:t>get(key)</a:t>
                </a:r>
                <a:r>
                  <a:rPr lang="en-US">
                    <a:solidFill>
                      <a:srgbClr val="000000"/>
                    </a:solidFill>
                  </a:rPr>
                  <a:t> is </a:t>
                </a:r>
                <a14:m>
                  <m:oMath xmlns:m="http://schemas.openxmlformats.org/officeDocument/2006/math">
                    <m:r>
                      <a:rPr lang="en-US" i="1">
                        <a:latin typeface="Cambria Math" panose="02040503050406030204" pitchFamily="18" charset="0"/>
                        <a:ea typeface="Cambria Math" panose="02040503050406030204" pitchFamily="18" charset="0"/>
                      </a:rPr>
                      <m:t>𝒪</m:t>
                    </m:r>
                    <m:r>
                      <a:rPr lang="en-US" i="1">
                        <a:latin typeface="Cambria Math" panose="02040503050406030204" pitchFamily="18" charset="0"/>
                      </a:rPr>
                      <m:t>(1)</m:t>
                    </m:r>
                  </m:oMath>
                </a14:m>
                <a:r>
                  <a:rPr lang="en-US">
                    <a:solidFill>
                      <a:srgbClr val="000000"/>
                    </a:solidFill>
                  </a:rPr>
                  <a:t> time </a:t>
                </a:r>
                <a:r>
                  <a:rPr lang="en-US" sz="1200">
                    <a:solidFill>
                      <a:srgbClr val="000000"/>
                    </a:solidFill>
                  </a:rPr>
                  <a:t>(ish)</a:t>
                </a:r>
                <a:r>
                  <a:rPr lang="en-US">
                    <a:solidFill>
                      <a:srgbClr val="000000"/>
                    </a:solidFill>
                  </a:rPr>
                  <a:t>				</a:t>
                </a:r>
                <a:r>
                  <a:rPr lang="en-US"/>
                  <a:t>😀 </a:t>
                </a:r>
                <a:r>
                  <a:rPr lang="en-US">
                    <a:solidFill>
                      <a:schemeClr val="accent2"/>
                    </a:solidFill>
                  </a:rPr>
                  <a:t>FAST</a:t>
                </a:r>
                <a:endParaRPr lang="en-US">
                  <a:solidFill>
                    <a:srgbClr val="000000"/>
                  </a:solidFill>
                  <a:latin typeface="Consolas"/>
                </a:endParaRPr>
              </a:p>
              <a:p>
                <a:pPr lvl="1">
                  <a:buClr>
                    <a:srgbClr val="FFFFFF">
                      <a:lumMod val="65000"/>
                    </a:srgbClr>
                  </a:buClr>
                </a:pPr>
                <a:r>
                  <a:rPr lang="en-US">
                    <a:solidFill>
                      <a:srgbClr val="000000"/>
                    </a:solidFill>
                  </a:rPr>
                  <a:t>there are many different "flavors" of hash maps</a:t>
                </a:r>
              </a:p>
              <a:p>
                <a:pPr lvl="2">
                  <a:buClr>
                    <a:srgbClr val="FFFFFF">
                      <a:lumMod val="65000"/>
                    </a:srgbClr>
                  </a:buClr>
                </a:pPr>
                <a:r>
                  <a:rPr lang="en-US">
                    <a:solidFill>
                      <a:srgbClr val="000000"/>
                    </a:solidFill>
                  </a:rPr>
                  <a:t>separate chaining </a:t>
                </a:r>
                <a:r>
                  <a:rPr lang="en-US">
                    <a:solidFill>
                      <a:srgbClr val="BFBFBF"/>
                    </a:solidFill>
                  </a:rPr>
                  <a:t>(today)</a:t>
                </a:r>
              </a:p>
              <a:p>
                <a:pPr lvl="2">
                  <a:buClr>
                    <a:srgbClr val="FFFFFF">
                      <a:lumMod val="65000"/>
                    </a:srgbClr>
                  </a:buClr>
                </a:pPr>
                <a:r>
                  <a:rPr lang="en-US">
                    <a:solidFill>
                      <a:srgbClr val="000000"/>
                    </a:solidFill>
                  </a:rPr>
                  <a:t>open addressing </a:t>
                </a:r>
                <a:r>
                  <a:rPr lang="en-US">
                    <a:solidFill>
                      <a:srgbClr val="BFBFBF"/>
                    </a:solidFill>
                  </a:rPr>
                  <a:t>(</a:t>
                </a:r>
                <a:r>
                  <a:rPr lang="en-US" err="1">
                    <a:solidFill>
                      <a:srgbClr val="BFBFBF"/>
                    </a:solidFill>
                  </a:rPr>
                  <a:t>friday</a:t>
                </a:r>
                <a:r>
                  <a:rPr lang="en-US">
                    <a:solidFill>
                      <a:srgbClr val="BFBFBF"/>
                    </a:solidFill>
                  </a:rPr>
                  <a:t>)</a:t>
                </a:r>
              </a:p>
              <a:p>
                <a:pPr lvl="2">
                  <a:buClr>
                    <a:srgbClr val="FFFFFF">
                      <a:lumMod val="65000"/>
                    </a:srgbClr>
                  </a:buClr>
                </a:pPr>
                <a:r>
                  <a:rPr lang="en-US"/>
                  <a:t>and soo much more!</a:t>
                </a:r>
              </a:p>
              <a:p>
                <a:pPr lvl="2">
                  <a:buClr>
                    <a:srgbClr val="FFFFFF">
                      <a:lumMod val="65000"/>
                    </a:srgbClr>
                  </a:buClr>
                </a:pPr>
                <a:endParaRPr lang="en-US">
                  <a:solidFill>
                    <a:srgbClr val="000000"/>
                  </a:solidFill>
                </a:endParaRPr>
              </a:p>
            </p:txBody>
          </p:sp>
        </mc:Choice>
        <mc:Fallback xmlns="">
          <p:sp>
            <p:nvSpPr>
              <p:cNvPr id="4" name="Content Placeholder 3">
                <a:extLst>
                  <a:ext uri="{FF2B5EF4-FFF2-40B4-BE49-F238E27FC236}">
                    <a16:creationId xmlns:a16="http://schemas.microsoft.com/office/drawing/2014/main" id="{5F630D73-2DC9-F52D-F90F-A57BABFA9B96}"/>
                  </a:ext>
                </a:extLst>
              </p:cNvPr>
              <p:cNvSpPr>
                <a:spLocks noGrp="1" noRot="1" noChangeAspect="1" noMove="1" noResize="1" noEditPoints="1" noAdjustHandles="1" noChangeArrowheads="1" noChangeShapeType="1" noTextEdit="1"/>
              </p:cNvSpPr>
              <p:nvPr>
                <p:ph sz="quarter" idx="10"/>
              </p:nvPr>
            </p:nvSpPr>
            <p:spPr>
              <a:blipFill>
                <a:blip r:embed="rId3"/>
                <a:stretch>
                  <a:fillRect l="-617" t="-621"/>
                </a:stretch>
              </a:blipFill>
            </p:spPr>
            <p:txBody>
              <a:bodyPr/>
              <a:lstStyle/>
              <a:p>
                <a:r>
                  <a:rPr lang="en-US">
                    <a:noFill/>
                  </a:rPr>
                  <a:t> </a:t>
                </a:r>
              </a:p>
            </p:txBody>
          </p:sp>
        </mc:Fallback>
      </mc:AlternateContent>
    </p:spTree>
    <p:extLst>
      <p:ext uri="{BB962C8B-B14F-4D97-AF65-F5344CB8AC3E}">
        <p14:creationId xmlns:p14="http://schemas.microsoft.com/office/powerpoint/2010/main" val="32709673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46C9F1-463D-1BF1-0D22-AA11925643CE}"/>
              </a:ext>
            </a:extLst>
          </p:cNvPr>
          <p:cNvPicPr>
            <a:picLocks noChangeAspect="1"/>
          </p:cNvPicPr>
          <p:nvPr/>
        </p:nvPicPr>
        <p:blipFill>
          <a:blip r:embed="rId2"/>
          <a:stretch>
            <a:fillRect/>
          </a:stretch>
        </p:blipFill>
        <p:spPr>
          <a:xfrm>
            <a:off x="3479508" y="2944536"/>
            <a:ext cx="3030706" cy="2099112"/>
          </a:xfrm>
          <a:prstGeom prst="rect">
            <a:avLst/>
          </a:prstGeom>
        </p:spPr>
      </p:pic>
    </p:spTree>
    <p:extLst>
      <p:ext uri="{BB962C8B-B14F-4D97-AF65-F5344CB8AC3E}">
        <p14:creationId xmlns:p14="http://schemas.microsoft.com/office/powerpoint/2010/main" val="31382023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A21A61-E861-51B2-7B3F-A49CB7D78395}"/>
              </a:ext>
            </a:extLst>
          </p:cNvPr>
          <p:cNvPicPr>
            <a:picLocks noChangeAspect="1"/>
          </p:cNvPicPr>
          <p:nvPr/>
        </p:nvPicPr>
        <p:blipFill>
          <a:blip r:embed="rId2"/>
          <a:stretch>
            <a:fillRect/>
          </a:stretch>
        </p:blipFill>
        <p:spPr>
          <a:xfrm>
            <a:off x="4943451" y="2571750"/>
            <a:ext cx="1365070" cy="2047604"/>
          </a:xfrm>
          <a:prstGeom prst="rect">
            <a:avLst/>
          </a:prstGeom>
        </p:spPr>
      </p:pic>
    </p:spTree>
    <p:extLst>
      <p:ext uri="{BB962C8B-B14F-4D97-AF65-F5344CB8AC3E}">
        <p14:creationId xmlns:p14="http://schemas.microsoft.com/office/powerpoint/2010/main" val="3463037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390D5-45C5-A847-678B-30FD98E92A0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ADEF83B-EF2D-98B9-8006-46499E1D3462}"/>
              </a:ext>
            </a:extLst>
          </p:cNvPr>
          <p:cNvSpPr>
            <a:spLocks noGrp="1"/>
          </p:cNvSpPr>
          <p:nvPr>
            <p:ph type="title"/>
          </p:nvPr>
        </p:nvSpPr>
        <p:spPr/>
        <p:txBody>
          <a:bodyPr/>
          <a:lstStyle/>
          <a:p>
            <a:r>
              <a:rPr lang="en-US"/>
              <a:t>separate chaining</a:t>
            </a:r>
          </a:p>
        </p:txBody>
      </p:sp>
    </p:spTree>
    <p:extLst>
      <p:ext uri="{BB962C8B-B14F-4D97-AF65-F5344CB8AC3E}">
        <p14:creationId xmlns:p14="http://schemas.microsoft.com/office/powerpoint/2010/main" val="255514091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5AD68-465D-2478-803B-100A7BA0138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08CF17E-4385-2F6A-0BA3-152647848856}"/>
              </a:ext>
            </a:extLst>
          </p:cNvPr>
          <p:cNvSpPr>
            <a:spLocks noGrp="1"/>
          </p:cNvSpPr>
          <p:nvPr>
            <p:ph type="title"/>
          </p:nvPr>
        </p:nvSpPr>
        <p:spPr/>
        <p:txBody>
          <a:bodyPr/>
          <a:lstStyle/>
          <a:p>
            <a:r>
              <a:rPr lang="en-US"/>
              <a:t>separate chaining</a:t>
            </a:r>
          </a:p>
        </p:txBody>
      </p:sp>
      <p:sp>
        <p:nvSpPr>
          <p:cNvPr id="4" name="Content Placeholder 3">
            <a:extLst>
              <a:ext uri="{FF2B5EF4-FFF2-40B4-BE49-F238E27FC236}">
                <a16:creationId xmlns:a16="http://schemas.microsoft.com/office/drawing/2014/main" id="{9D573E3B-D182-BB29-C871-EEA125582307}"/>
              </a:ext>
            </a:extLst>
          </p:cNvPr>
          <p:cNvSpPr>
            <a:spLocks noGrp="1"/>
          </p:cNvSpPr>
          <p:nvPr>
            <p:ph sz="quarter" idx="10"/>
          </p:nvPr>
        </p:nvSpPr>
        <p:spPr/>
        <p:txBody>
          <a:bodyPr/>
          <a:lstStyle/>
          <a:p>
            <a:r>
              <a:rPr lang="en-US" b="1"/>
              <a:t>separate chaining</a:t>
            </a:r>
            <a:r>
              <a:rPr lang="en-US"/>
              <a:t> is one way of implementing a hash map</a:t>
            </a:r>
          </a:p>
          <a:p>
            <a:pPr lvl="1"/>
            <a:r>
              <a:rPr lang="en-US">
                <a:solidFill>
                  <a:srgbClr val="000000"/>
                </a:solidFill>
              </a:rPr>
              <a:t>key-value pairs are stored in an array of </a:t>
            </a:r>
            <a:r>
              <a:rPr lang="en-US" b="1">
                <a:solidFill>
                  <a:srgbClr val="000000"/>
                </a:solidFill>
              </a:rPr>
              <a:t>buckets</a:t>
            </a:r>
          </a:p>
          <a:p>
            <a:pPr lvl="2"/>
            <a:r>
              <a:rPr lang="en-US">
                <a:solidFill>
                  <a:srgbClr val="000000"/>
                </a:solidFill>
              </a:rPr>
              <a:t>one good choice of bucket is an array list</a:t>
            </a:r>
          </a:p>
          <a:p>
            <a:pPr lvl="3"/>
            <a:r>
              <a:rPr lang="en-US" err="1">
                <a:solidFill>
                  <a:srgbClr val="00007F"/>
                </a:solidFill>
                <a:latin typeface="+mj-lt"/>
              </a:rPr>
              <a:t>ArrayList</a:t>
            </a:r>
            <a:r>
              <a:rPr lang="en-US">
                <a:solidFill>
                  <a:srgbClr val="000000"/>
                </a:solidFill>
                <a:latin typeface="+mj-lt"/>
              </a:rPr>
              <a:t>&lt;</a:t>
            </a:r>
            <a:r>
              <a:rPr lang="en-US">
                <a:solidFill>
                  <a:srgbClr val="00007F"/>
                </a:solidFill>
                <a:latin typeface="+mj-lt"/>
              </a:rPr>
              <a:t>KeyValuePair</a:t>
            </a:r>
            <a:r>
              <a:rPr lang="en-US">
                <a:solidFill>
                  <a:srgbClr val="000000"/>
                </a:solidFill>
                <a:latin typeface="+mj-lt"/>
              </a:rPr>
              <a:t>&gt; bucket;</a:t>
            </a:r>
            <a:endParaRPr lang="en-US">
              <a:solidFill>
                <a:srgbClr val="000000"/>
              </a:solidFill>
            </a:endParaRPr>
          </a:p>
          <a:p>
            <a:pPr lvl="2"/>
            <a:endParaRPr lang="en-US">
              <a:solidFill>
                <a:srgbClr val="000000"/>
              </a:solidFill>
            </a:endParaRPr>
          </a:p>
          <a:p>
            <a:pPr lvl="2"/>
            <a:r>
              <a:rPr lang="en-US">
                <a:solidFill>
                  <a:srgbClr val="BFBFBF"/>
                </a:solidFill>
              </a:rPr>
              <a:t>in practice, you don't have to use an array list;</a:t>
            </a:r>
            <a:br>
              <a:rPr lang="en-US">
                <a:solidFill>
                  <a:srgbClr val="BFBFBF"/>
                </a:solidFill>
              </a:rPr>
            </a:br>
            <a:r>
              <a:rPr lang="en-US">
                <a:solidFill>
                  <a:srgbClr val="BFBFBF"/>
                </a:solidFill>
              </a:rPr>
              <a:t>you can use linked lists, binary search trees,</a:t>
            </a:r>
            <a:br>
              <a:rPr lang="en-US">
                <a:solidFill>
                  <a:srgbClr val="BFBFBF"/>
                </a:solidFill>
              </a:rPr>
            </a:br>
            <a:r>
              <a:rPr lang="en-US">
                <a:solidFill>
                  <a:srgbClr val="BFBFBF"/>
                </a:solidFill>
              </a:rPr>
              <a:t>or some mixture of the two (this is actually what Java does)</a:t>
            </a:r>
          </a:p>
          <a:p>
            <a:pPr lvl="2"/>
            <a:endParaRPr lang="en-US">
              <a:solidFill>
                <a:srgbClr val="000000"/>
              </a:solidFill>
              <a:latin typeface="+mj-lt"/>
            </a:endParaRPr>
          </a:p>
        </p:txBody>
      </p:sp>
    </p:spTree>
    <p:extLst>
      <p:ext uri="{BB962C8B-B14F-4D97-AF65-F5344CB8AC3E}">
        <p14:creationId xmlns:p14="http://schemas.microsoft.com/office/powerpoint/2010/main" val="194297615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5E9477F-F919-AEE2-5FC0-9FF214B7E73C}"/>
              </a:ext>
            </a:extLst>
          </p:cNvPr>
          <p:cNvSpPr>
            <a:spLocks noGrp="1"/>
          </p:cNvSpPr>
          <p:nvPr>
            <p:ph type="title"/>
          </p:nvPr>
        </p:nvSpPr>
        <p:spPr/>
        <p:txBody>
          <a:bodyPr/>
          <a:lstStyle/>
          <a:p>
            <a:r>
              <a:rPr lang="en-US"/>
              <a:t>analogy</a:t>
            </a:r>
          </a:p>
        </p:txBody>
      </p:sp>
    </p:spTree>
    <p:extLst>
      <p:ext uri="{BB962C8B-B14F-4D97-AF65-F5344CB8AC3E}">
        <p14:creationId xmlns:p14="http://schemas.microsoft.com/office/powerpoint/2010/main" val="28255320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63801-5E5C-997D-38B5-CE68353718D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55A55DF-F420-7F3E-0B59-998FD975DA83}"/>
              </a:ext>
            </a:extLst>
          </p:cNvPr>
          <p:cNvSpPr>
            <a:spLocks noGrp="1"/>
          </p:cNvSpPr>
          <p:nvPr>
            <p:ph type="title"/>
          </p:nvPr>
        </p:nvSpPr>
        <p:spPr/>
        <p:txBody>
          <a:bodyPr/>
          <a:lstStyle/>
          <a:p>
            <a:r>
              <a:rPr lang="en-US" sz="2400"/>
              <a:t>previously, on </a:t>
            </a:r>
            <a:r>
              <a:rPr lang="en-US" sz="2400" i="1">
                <a:solidFill>
                  <a:srgbClr val="F90A8D"/>
                </a:solidFill>
              </a:rPr>
              <a:t>Hans</a:t>
            </a:r>
            <a:r>
              <a:rPr lang="en-US" sz="2400" i="1"/>
              <a:t> the Parrot</a:t>
            </a:r>
          </a:p>
        </p:txBody>
      </p:sp>
      <p:pic>
        <p:nvPicPr>
          <p:cNvPr id="5" name="Picture 4">
            <a:extLst>
              <a:ext uri="{FF2B5EF4-FFF2-40B4-BE49-F238E27FC236}">
                <a16:creationId xmlns:a16="http://schemas.microsoft.com/office/drawing/2014/main" id="{F7133E75-8D85-A207-D1CC-4CF0776A491F}"/>
              </a:ext>
            </a:extLst>
          </p:cNvPr>
          <p:cNvPicPr>
            <a:picLocks noChangeAspect="1"/>
          </p:cNvPicPr>
          <p:nvPr/>
        </p:nvPicPr>
        <p:blipFill>
          <a:blip r:embed="rId2"/>
          <a:stretch>
            <a:fillRect/>
          </a:stretch>
        </p:blipFill>
        <p:spPr>
          <a:xfrm>
            <a:off x="3323844" y="3000375"/>
            <a:ext cx="2496312" cy="1872234"/>
          </a:xfrm>
          <a:prstGeom prst="rect">
            <a:avLst/>
          </a:prstGeom>
        </p:spPr>
      </p:pic>
    </p:spTree>
    <p:extLst>
      <p:ext uri="{BB962C8B-B14F-4D97-AF65-F5344CB8AC3E}">
        <p14:creationId xmlns:p14="http://schemas.microsoft.com/office/powerpoint/2010/main" val="40306479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41069-AA8B-7144-28B4-C66F6BA7D6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1FD1FE-22B8-0ED1-31F9-DCF730DA78A9}"/>
              </a:ext>
            </a:extLst>
          </p:cNvPr>
          <p:cNvSpPr>
            <a:spLocks noGrp="1"/>
          </p:cNvSpPr>
          <p:nvPr>
            <p:ph type="title"/>
          </p:nvPr>
        </p:nvSpPr>
        <p:spPr/>
        <p:txBody>
          <a:bodyPr/>
          <a:lstStyle/>
          <a:p>
            <a:r>
              <a:rPr lang="en-US"/>
              <a:t>you have a three week long road trip planned to Bennington, but your prized parrot </a:t>
            </a:r>
            <a:r>
              <a:rPr lang="en-US">
                <a:solidFill>
                  <a:srgbClr val="F80B8D"/>
                </a:solidFill>
              </a:rPr>
              <a:t>Hans</a:t>
            </a:r>
            <a:r>
              <a:rPr lang="en-US"/>
              <a:t> is deathly afraid of driving</a:t>
            </a:r>
            <a:br>
              <a:rPr lang="en-US"/>
            </a:br>
            <a:br>
              <a:rPr lang="en-US"/>
            </a:br>
            <a:r>
              <a:rPr lang="en-US" sz="3200"/>
              <a:t>it's time to </a:t>
            </a:r>
            <a:r>
              <a:rPr lang="en-US" sz="3200" b="1"/>
              <a:t>put</a:t>
            </a:r>
            <a:r>
              <a:rPr lang="en-US" sz="3200"/>
              <a:t> </a:t>
            </a:r>
            <a:r>
              <a:rPr lang="en-US" sz="3200">
                <a:solidFill>
                  <a:srgbClr val="F80B8D"/>
                </a:solidFill>
              </a:rPr>
              <a:t>Hans</a:t>
            </a:r>
            <a:r>
              <a:rPr lang="en-US" sz="3200"/>
              <a:t> in the bird kennel</a:t>
            </a:r>
            <a:endParaRPr lang="en-US"/>
          </a:p>
        </p:txBody>
      </p:sp>
    </p:spTree>
    <p:extLst>
      <p:ext uri="{BB962C8B-B14F-4D97-AF65-F5344CB8AC3E}">
        <p14:creationId xmlns:p14="http://schemas.microsoft.com/office/powerpoint/2010/main" val="193314337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E8624-250F-A642-0A94-3822616B20E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65C4A94-9CDE-3870-7CF4-306B0B52C458}"/>
              </a:ext>
            </a:extLst>
          </p:cNvPr>
          <p:cNvSpPr txBox="1"/>
          <p:nvPr/>
        </p:nvSpPr>
        <p:spPr>
          <a:xfrm>
            <a:off x="1911928" y="2065133"/>
            <a:ext cx="3030808" cy="1862048"/>
          </a:xfrm>
          <a:prstGeom prst="rect">
            <a:avLst/>
          </a:prstGeom>
          <a:noFill/>
        </p:spPr>
        <p:txBody>
          <a:bodyPr wrap="square">
            <a:spAutoFit/>
          </a:bodyPr>
          <a:lstStyle/>
          <a:p>
            <a:pPr algn="ctr"/>
            <a:r>
              <a:rPr lang="en-US" sz="11500">
                <a:solidFill>
                  <a:srgbClr val="000000"/>
                </a:solidFill>
                <a:latin typeface="Arial"/>
                <a:ea typeface="Segoe UI Emoji" panose="020B0502040204020203" pitchFamily="34" charset="0"/>
                <a:cs typeface="+mj-cs"/>
              </a:rPr>
              <a:t>🤵</a:t>
            </a:r>
            <a:endParaRPr lang="en-US" sz="8800"/>
          </a:p>
        </p:txBody>
      </p:sp>
      <p:sp>
        <p:nvSpPr>
          <p:cNvPr id="6" name="Rectangle 5">
            <a:extLst>
              <a:ext uri="{FF2B5EF4-FFF2-40B4-BE49-F238E27FC236}">
                <a16:creationId xmlns:a16="http://schemas.microsoft.com/office/drawing/2014/main" id="{6358F26D-BDA1-D28D-D82A-57C6120F3FAF}"/>
              </a:ext>
            </a:extLst>
          </p:cNvPr>
          <p:cNvSpPr/>
          <p:nvPr/>
        </p:nvSpPr>
        <p:spPr>
          <a:xfrm>
            <a:off x="910960" y="3734677"/>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3E212EE-48D1-F68B-ED86-B4277CB14075}"/>
              </a:ext>
            </a:extLst>
          </p:cNvPr>
          <p:cNvSpPr txBox="1"/>
          <p:nvPr/>
        </p:nvSpPr>
        <p:spPr>
          <a:xfrm>
            <a:off x="4166399" y="2780656"/>
            <a:ext cx="1242029" cy="1107996"/>
          </a:xfrm>
          <a:prstGeom prst="rect">
            <a:avLst/>
          </a:prstGeom>
          <a:noFill/>
        </p:spPr>
        <p:txBody>
          <a:bodyPr wrap="square">
            <a:spAutoFit/>
          </a:bodyPr>
          <a:lstStyle/>
          <a:p>
            <a:pPr algn="ctr"/>
            <a:r>
              <a:rPr kumimoji="0" lang="en-US" sz="66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sz="5400"/>
          </a:p>
        </p:txBody>
      </p:sp>
      <p:sp>
        <p:nvSpPr>
          <p:cNvPr id="11" name="TextBox 10">
            <a:extLst>
              <a:ext uri="{FF2B5EF4-FFF2-40B4-BE49-F238E27FC236}">
                <a16:creationId xmlns:a16="http://schemas.microsoft.com/office/drawing/2014/main" id="{292799DD-2F28-A5F1-62A1-BC82D22A243A}"/>
              </a:ext>
            </a:extLst>
          </p:cNvPr>
          <p:cNvSpPr txBox="1"/>
          <p:nvPr/>
        </p:nvSpPr>
        <p:spPr>
          <a:xfrm>
            <a:off x="4950695" y="2919155"/>
            <a:ext cx="3727140" cy="830997"/>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US" sz="2400" err="1">
                <a:solidFill>
                  <a:srgbClr val="F80B8D"/>
                </a:solidFill>
                <a:latin typeface="Consolas" panose="020B0609020204030204" pitchFamily="49" charset="0"/>
                <a:cs typeface="Consolas" panose="020B0609020204030204" pitchFamily="49" charset="0"/>
              </a:rPr>
              <a:t>map.put</a:t>
            </a:r>
            <a:r>
              <a:rPr lang="en-US" sz="2400">
                <a:solidFill>
                  <a:srgbClr val="F80B8D"/>
                </a:solidFill>
                <a:latin typeface="Consolas" panose="020B0609020204030204" pitchFamily="49" charset="0"/>
                <a:cs typeface="Consolas" panose="020B0609020204030204" pitchFamily="49" charset="0"/>
              </a:rPr>
              <a:t>("Hans", </a:t>
            </a:r>
            <a:r>
              <a:rPr kumimoji="0" lang="en-US" sz="2400" b="0" i="0" u="none" strike="noStrike" kern="1200" cap="none" spc="0" normalizeH="0" baseline="0" noProof="0">
                <a:ln>
                  <a:noFill/>
                </a:ln>
                <a:solidFill>
                  <a:srgbClr val="F80B8D"/>
                </a:solidFill>
                <a:effectLst/>
                <a:uLnTx/>
                <a:uFillTx/>
                <a:latin typeface="Consolas" panose="020B0609020204030204" pitchFamily="49" charset="0"/>
                <a:ea typeface="Segoe UI Emoji" panose="020B0502040204020203" pitchFamily="34" charset="0"/>
                <a:cs typeface="Consolas" panose="020B0609020204030204" pitchFamily="49" charset="0"/>
              </a:rPr>
              <a:t>🦜)</a:t>
            </a:r>
            <a:endParaRPr kumimoji="0" lang="en-US" sz="2400" b="0" i="0" u="none" strike="noStrike" kern="1200" cap="none" spc="0" normalizeH="0" baseline="0" noProof="0">
              <a:ln>
                <a:noFill/>
              </a:ln>
              <a:solidFill>
                <a:srgbClr val="F80B8D"/>
              </a:solidFill>
              <a:effectLst/>
              <a:uLnTx/>
              <a:uFillTx/>
              <a:latin typeface="Consolas" panose="020B0609020204030204" pitchFamily="49" charset="0"/>
              <a:cs typeface="Consolas" panose="020B0609020204030204" pitchFamily="49" charset="0"/>
            </a:endParaRPr>
          </a:p>
          <a:p>
            <a:pPr algn="ctr"/>
            <a:endParaRPr lang="en-US" sz="2400">
              <a:solidFill>
                <a:srgbClr val="F80B8D"/>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452468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10"/>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10" grpId="0"/>
      <p:bldP spid="10" grpId="1"/>
      <p:bldP spid="11" grpId="0"/>
      <p:bldP spid="11" grpId="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6AFE9-04D5-FD42-1CA9-8BF0386948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F8910A-CB9A-2648-C5EF-C019B64B9343}"/>
              </a:ext>
            </a:extLst>
          </p:cNvPr>
          <p:cNvSpPr>
            <a:spLocks noGrp="1"/>
          </p:cNvSpPr>
          <p:nvPr>
            <p:ph type="title"/>
          </p:nvPr>
        </p:nvSpPr>
        <p:spPr>
          <a:xfrm>
            <a:off x="457200" y="2143125"/>
            <a:ext cx="8229600" cy="857250"/>
          </a:xfrm>
        </p:spPr>
        <p:txBody>
          <a:bodyPr/>
          <a:lstStyle/>
          <a:p>
            <a:r>
              <a:rPr lang="en-US"/>
              <a:t>you return invigorated from a lovely trek to Bennington</a:t>
            </a:r>
            <a:br>
              <a:rPr lang="en-US"/>
            </a:br>
            <a:br>
              <a:rPr lang="en-US"/>
            </a:br>
            <a:r>
              <a:rPr lang="en-US" sz="2800"/>
              <a:t>it's time to </a:t>
            </a:r>
            <a:r>
              <a:rPr lang="en-US" sz="2800" b="1"/>
              <a:t>get</a:t>
            </a:r>
            <a:r>
              <a:rPr lang="en-US" sz="2800"/>
              <a:t> </a:t>
            </a:r>
            <a:r>
              <a:rPr lang="en-US" sz="2800">
                <a:solidFill>
                  <a:srgbClr val="F80B8D"/>
                </a:solidFill>
              </a:rPr>
              <a:t>Hans</a:t>
            </a:r>
            <a:r>
              <a:rPr lang="en-US" sz="2800"/>
              <a:t> from the bird kennel</a:t>
            </a:r>
            <a:endParaRPr lang="en-US"/>
          </a:p>
        </p:txBody>
      </p:sp>
    </p:spTree>
    <p:extLst>
      <p:ext uri="{BB962C8B-B14F-4D97-AF65-F5344CB8AC3E}">
        <p14:creationId xmlns:p14="http://schemas.microsoft.com/office/powerpoint/2010/main" val="22271737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C6B3B-1DA4-6F8F-3523-F48C9074885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10A298E-5811-F4E5-8A77-CED196E6FCD5}"/>
              </a:ext>
            </a:extLst>
          </p:cNvPr>
          <p:cNvSpPr txBox="1"/>
          <p:nvPr/>
        </p:nvSpPr>
        <p:spPr>
          <a:xfrm>
            <a:off x="2387421" y="2065133"/>
            <a:ext cx="2079821" cy="3216265"/>
          </a:xfrm>
          <a:prstGeom prst="rect">
            <a:avLst/>
          </a:prstGeom>
          <a:noFill/>
        </p:spPr>
        <p:txBody>
          <a:bodyPr wrap="square">
            <a:spAutoFit/>
          </a:bodyPr>
          <a:lstStyle/>
          <a:p>
            <a:pPr algn="ctr"/>
            <a:r>
              <a:rPr lang="en-US" sz="11500">
                <a:solidFill>
                  <a:srgbClr val="000000"/>
                </a:solidFill>
                <a:ea typeface="Segoe UI Emoji" panose="020B0502040204020203" pitchFamily="34" charset="0"/>
              </a:rPr>
              <a:t>🤵</a:t>
            </a:r>
            <a:endParaRPr lang="en-US" sz="8800"/>
          </a:p>
          <a:p>
            <a:pPr algn="ctr"/>
            <a:endParaRPr lang="en-US" sz="8800"/>
          </a:p>
        </p:txBody>
      </p:sp>
      <p:sp>
        <p:nvSpPr>
          <p:cNvPr id="6" name="Rectangle 5">
            <a:extLst>
              <a:ext uri="{FF2B5EF4-FFF2-40B4-BE49-F238E27FC236}">
                <a16:creationId xmlns:a16="http://schemas.microsoft.com/office/drawing/2014/main" id="{C61A2248-1A0F-5E61-AF9C-00DBFE33A148}"/>
              </a:ext>
            </a:extLst>
          </p:cNvPr>
          <p:cNvSpPr/>
          <p:nvPr/>
        </p:nvSpPr>
        <p:spPr>
          <a:xfrm>
            <a:off x="910960" y="3734677"/>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56698A2-9046-9F85-180B-D1AA38088BA0}"/>
              </a:ext>
            </a:extLst>
          </p:cNvPr>
          <p:cNvSpPr txBox="1"/>
          <p:nvPr/>
        </p:nvSpPr>
        <p:spPr>
          <a:xfrm>
            <a:off x="4166399" y="2780656"/>
            <a:ext cx="1242029" cy="1107996"/>
          </a:xfrm>
          <a:prstGeom prst="rect">
            <a:avLst/>
          </a:prstGeom>
          <a:noFill/>
        </p:spPr>
        <p:txBody>
          <a:bodyPr wrap="square">
            <a:spAutoFit/>
          </a:bodyPr>
          <a:lstStyle/>
          <a:p>
            <a:pPr algn="ctr"/>
            <a:r>
              <a:rPr kumimoji="0" lang="en-US" sz="66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sz="5400"/>
          </a:p>
        </p:txBody>
      </p:sp>
      <p:sp>
        <p:nvSpPr>
          <p:cNvPr id="11" name="TextBox 10">
            <a:extLst>
              <a:ext uri="{FF2B5EF4-FFF2-40B4-BE49-F238E27FC236}">
                <a16:creationId xmlns:a16="http://schemas.microsoft.com/office/drawing/2014/main" id="{03B2FFEB-1B0D-2DC9-A8D3-770A6833FE07}"/>
              </a:ext>
            </a:extLst>
          </p:cNvPr>
          <p:cNvSpPr txBox="1"/>
          <p:nvPr/>
        </p:nvSpPr>
        <p:spPr>
          <a:xfrm>
            <a:off x="4950695" y="2919155"/>
            <a:ext cx="3467164" cy="830997"/>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US" sz="2400" err="1">
                <a:solidFill>
                  <a:srgbClr val="F80B8D"/>
                </a:solidFill>
                <a:latin typeface="+mj-lt"/>
              </a:rPr>
              <a:t>map.get</a:t>
            </a:r>
            <a:r>
              <a:rPr lang="en-US" sz="2400">
                <a:solidFill>
                  <a:srgbClr val="F80B8D"/>
                </a:solidFill>
                <a:latin typeface="+mj-lt"/>
              </a:rPr>
              <a:t>("Hans"</a:t>
            </a:r>
            <a:r>
              <a:rPr kumimoji="0" lang="en-US" sz="2400" b="0" i="0" u="none" strike="noStrike" kern="1200" cap="none" spc="0" normalizeH="0" baseline="0" noProof="0">
                <a:ln>
                  <a:noFill/>
                </a:ln>
                <a:solidFill>
                  <a:srgbClr val="F80B8D"/>
                </a:solidFill>
                <a:effectLst/>
                <a:uLnTx/>
                <a:uFillTx/>
                <a:latin typeface="+mj-lt"/>
                <a:ea typeface="Segoe UI Emoji" panose="020B0502040204020203" pitchFamily="34" charset="0"/>
              </a:rPr>
              <a:t>)</a:t>
            </a:r>
            <a:endParaRPr kumimoji="0" lang="en-US" sz="2400" b="0" i="0" u="none" strike="noStrike" kern="1200" cap="none" spc="0" normalizeH="0" baseline="0" noProof="0">
              <a:ln>
                <a:noFill/>
              </a:ln>
              <a:solidFill>
                <a:srgbClr val="F80B8D"/>
              </a:solidFill>
              <a:effectLst/>
              <a:uLnTx/>
              <a:uFillTx/>
              <a:latin typeface="+mj-lt"/>
            </a:endParaRPr>
          </a:p>
          <a:p>
            <a:pPr algn="ctr"/>
            <a:endParaRPr lang="en-US" sz="2400">
              <a:solidFill>
                <a:srgbClr val="F80B8D"/>
              </a:solidFill>
              <a:latin typeface="+mj-lt"/>
            </a:endParaRPr>
          </a:p>
        </p:txBody>
      </p:sp>
      <p:grpSp>
        <p:nvGrpSpPr>
          <p:cNvPr id="8" name="Group 7">
            <a:extLst>
              <a:ext uri="{FF2B5EF4-FFF2-40B4-BE49-F238E27FC236}">
                <a16:creationId xmlns:a16="http://schemas.microsoft.com/office/drawing/2014/main" id="{99B14261-2057-1F81-298F-9A6CE7FD70A2}"/>
              </a:ext>
            </a:extLst>
          </p:cNvPr>
          <p:cNvGrpSpPr/>
          <p:nvPr/>
        </p:nvGrpSpPr>
        <p:grpSpPr>
          <a:xfrm>
            <a:off x="4780744" y="1828937"/>
            <a:ext cx="1448875" cy="1224327"/>
            <a:chOff x="4617608" y="699029"/>
            <a:chExt cx="923365" cy="780261"/>
          </a:xfrm>
        </p:grpSpPr>
        <p:pic>
          <p:nvPicPr>
            <p:cNvPr id="7" name="Picture 6">
              <a:extLst>
                <a:ext uri="{FF2B5EF4-FFF2-40B4-BE49-F238E27FC236}">
                  <a16:creationId xmlns:a16="http://schemas.microsoft.com/office/drawing/2014/main" id="{53505384-52C0-AC70-F514-E34FF9919299}"/>
                </a:ext>
              </a:extLst>
            </p:cNvPr>
            <p:cNvPicPr>
              <a:picLocks noChangeAspect="1"/>
            </p:cNvPicPr>
            <p:nvPr/>
          </p:nvPicPr>
          <p:blipFill rotWithShape="1">
            <a:blip r:embed="rId2"/>
            <a:srcRect l="27802" t="21749" r="27802" b="34051"/>
            <a:stretch/>
          </p:blipFill>
          <p:spPr>
            <a:xfrm flipH="1">
              <a:off x="4617608" y="699029"/>
              <a:ext cx="923365" cy="780261"/>
            </a:xfrm>
            <a:prstGeom prst="rect">
              <a:avLst/>
            </a:prstGeom>
          </p:spPr>
        </p:pic>
        <p:sp>
          <p:nvSpPr>
            <p:cNvPr id="4" name="TextBox 3">
              <a:extLst>
                <a:ext uri="{FF2B5EF4-FFF2-40B4-BE49-F238E27FC236}">
                  <a16:creationId xmlns:a16="http://schemas.microsoft.com/office/drawing/2014/main" id="{00C0D6BC-EF68-47C9-AB63-7D681D3AFBE5}"/>
                </a:ext>
              </a:extLst>
            </p:cNvPr>
            <p:cNvSpPr txBox="1"/>
            <p:nvPr/>
          </p:nvSpPr>
          <p:spPr>
            <a:xfrm>
              <a:off x="4617608" y="914725"/>
              <a:ext cx="923365" cy="294218"/>
            </a:xfrm>
            <a:prstGeom prst="rect">
              <a:avLst/>
            </a:prstGeom>
            <a:noFill/>
          </p:spPr>
          <p:txBody>
            <a:bodyPr wrap="square">
              <a:spAutoFit/>
            </a:bodyPr>
            <a:lstStyle/>
            <a:p>
              <a:pPr algn="ctr"/>
              <a:r>
                <a:rPr lang="en-US" sz="2400">
                  <a:solidFill>
                    <a:schemeClr val="bg2"/>
                  </a:solidFill>
                </a:rPr>
                <a:t>Hans</a:t>
              </a:r>
            </a:p>
          </p:txBody>
        </p:sp>
      </p:grpSp>
      <p:grpSp>
        <p:nvGrpSpPr>
          <p:cNvPr id="9" name="Group 8">
            <a:extLst>
              <a:ext uri="{FF2B5EF4-FFF2-40B4-BE49-F238E27FC236}">
                <a16:creationId xmlns:a16="http://schemas.microsoft.com/office/drawing/2014/main" id="{E9ACA235-3603-1513-FEA1-81227C40EEB5}"/>
              </a:ext>
            </a:extLst>
          </p:cNvPr>
          <p:cNvGrpSpPr/>
          <p:nvPr/>
        </p:nvGrpSpPr>
        <p:grpSpPr>
          <a:xfrm flipH="1">
            <a:off x="3610090" y="1417829"/>
            <a:ext cx="1448875" cy="1224327"/>
            <a:chOff x="4617608" y="699029"/>
            <a:chExt cx="923365" cy="780261"/>
          </a:xfrm>
        </p:grpSpPr>
        <p:pic>
          <p:nvPicPr>
            <p:cNvPr id="12" name="Picture 11">
              <a:extLst>
                <a:ext uri="{FF2B5EF4-FFF2-40B4-BE49-F238E27FC236}">
                  <a16:creationId xmlns:a16="http://schemas.microsoft.com/office/drawing/2014/main" id="{0F07EB54-91E6-38FF-DCEC-356FD60E0028}"/>
                </a:ext>
              </a:extLst>
            </p:cNvPr>
            <p:cNvPicPr>
              <a:picLocks noChangeAspect="1"/>
            </p:cNvPicPr>
            <p:nvPr/>
          </p:nvPicPr>
          <p:blipFill rotWithShape="1">
            <a:blip r:embed="rId2"/>
            <a:srcRect l="27802" t="21749" r="27802" b="34051"/>
            <a:stretch/>
          </p:blipFill>
          <p:spPr>
            <a:xfrm flipH="1">
              <a:off x="4617608" y="699029"/>
              <a:ext cx="923365" cy="780261"/>
            </a:xfrm>
            <a:prstGeom prst="rect">
              <a:avLst/>
            </a:prstGeom>
          </p:spPr>
        </p:pic>
        <p:sp>
          <p:nvSpPr>
            <p:cNvPr id="13" name="TextBox 12">
              <a:extLst>
                <a:ext uri="{FF2B5EF4-FFF2-40B4-BE49-F238E27FC236}">
                  <a16:creationId xmlns:a16="http://schemas.microsoft.com/office/drawing/2014/main" id="{E5506D86-F863-51A6-E3F2-092A2067E635}"/>
                </a:ext>
              </a:extLst>
            </p:cNvPr>
            <p:cNvSpPr txBox="1"/>
            <p:nvPr/>
          </p:nvSpPr>
          <p:spPr>
            <a:xfrm>
              <a:off x="4617608" y="850888"/>
              <a:ext cx="923365" cy="451134"/>
            </a:xfrm>
            <a:prstGeom prst="rect">
              <a:avLst/>
            </a:prstGeom>
            <a:noFill/>
          </p:spPr>
          <p:txBody>
            <a:bodyPr wrap="square">
              <a:spAutoFit/>
            </a:bodyPr>
            <a:lstStyle/>
            <a:p>
              <a:pPr algn="ctr"/>
              <a:r>
                <a:rPr lang="en-US" sz="2000">
                  <a:solidFill>
                    <a:schemeClr val="bg2"/>
                  </a:solidFill>
                </a:rPr>
                <a:t>here is Hans</a:t>
              </a:r>
            </a:p>
          </p:txBody>
        </p:sp>
      </p:grpSp>
      <p:grpSp>
        <p:nvGrpSpPr>
          <p:cNvPr id="14" name="Group 13">
            <a:extLst>
              <a:ext uri="{FF2B5EF4-FFF2-40B4-BE49-F238E27FC236}">
                <a16:creationId xmlns:a16="http://schemas.microsoft.com/office/drawing/2014/main" id="{03871985-F1B8-CBE2-B143-5BAE7149DB7B}"/>
              </a:ext>
            </a:extLst>
          </p:cNvPr>
          <p:cNvGrpSpPr/>
          <p:nvPr/>
        </p:nvGrpSpPr>
        <p:grpSpPr>
          <a:xfrm>
            <a:off x="3952347" y="2523030"/>
            <a:ext cx="614345" cy="519133"/>
            <a:chOff x="4617608" y="699029"/>
            <a:chExt cx="923365" cy="780261"/>
          </a:xfrm>
        </p:grpSpPr>
        <p:pic>
          <p:nvPicPr>
            <p:cNvPr id="15" name="Picture 14">
              <a:extLst>
                <a:ext uri="{FF2B5EF4-FFF2-40B4-BE49-F238E27FC236}">
                  <a16:creationId xmlns:a16="http://schemas.microsoft.com/office/drawing/2014/main" id="{1B356FA7-DB89-3343-B557-D90147826401}"/>
                </a:ext>
              </a:extLst>
            </p:cNvPr>
            <p:cNvPicPr>
              <a:picLocks noChangeAspect="1"/>
            </p:cNvPicPr>
            <p:nvPr/>
          </p:nvPicPr>
          <p:blipFill rotWithShape="1">
            <a:blip r:embed="rId2"/>
            <a:srcRect l="27802" t="21749" r="27802" b="34051"/>
            <a:stretch/>
          </p:blipFill>
          <p:spPr>
            <a:xfrm flipH="1">
              <a:off x="4617608" y="699029"/>
              <a:ext cx="923365" cy="780261"/>
            </a:xfrm>
            <a:prstGeom prst="rect">
              <a:avLst/>
            </a:prstGeom>
          </p:spPr>
        </p:pic>
        <p:sp>
          <p:nvSpPr>
            <p:cNvPr id="16" name="TextBox 15">
              <a:extLst>
                <a:ext uri="{FF2B5EF4-FFF2-40B4-BE49-F238E27FC236}">
                  <a16:creationId xmlns:a16="http://schemas.microsoft.com/office/drawing/2014/main" id="{2C28E4FC-9384-6F00-833B-7F7075BE073C}"/>
                </a:ext>
              </a:extLst>
            </p:cNvPr>
            <p:cNvSpPr txBox="1"/>
            <p:nvPr/>
          </p:nvSpPr>
          <p:spPr>
            <a:xfrm>
              <a:off x="4617608" y="847353"/>
              <a:ext cx="923365" cy="393202"/>
            </a:xfrm>
            <a:prstGeom prst="rect">
              <a:avLst/>
            </a:prstGeom>
            <a:noFill/>
          </p:spPr>
          <p:txBody>
            <a:bodyPr wrap="square">
              <a:spAutoFit/>
            </a:bodyPr>
            <a:lstStyle/>
            <a:p>
              <a:pPr algn="ctr"/>
              <a:r>
                <a:rPr lang="en-US" sz="1050" err="1">
                  <a:solidFill>
                    <a:schemeClr val="bg2"/>
                  </a:solidFill>
                </a:rPr>
                <a:t>squack</a:t>
              </a:r>
              <a:endParaRPr lang="en-US" sz="1050">
                <a:solidFill>
                  <a:schemeClr val="bg2"/>
                </a:solidFill>
              </a:endParaRPr>
            </a:p>
          </p:txBody>
        </p:sp>
      </p:grpSp>
    </p:spTree>
    <p:extLst>
      <p:ext uri="{BB962C8B-B14F-4D97-AF65-F5344CB8AC3E}">
        <p14:creationId xmlns:p14="http://schemas.microsoft.com/office/powerpoint/2010/main" val="2888581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F42BA-0EDF-BE8B-57A3-FF05CA39328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219551F-58C7-F1C7-0EF1-19E630A72025}"/>
              </a:ext>
            </a:extLst>
          </p:cNvPr>
          <p:cNvSpPr txBox="1"/>
          <p:nvPr/>
        </p:nvSpPr>
        <p:spPr>
          <a:xfrm>
            <a:off x="2387421" y="2065133"/>
            <a:ext cx="2079821" cy="1862048"/>
          </a:xfrm>
          <a:prstGeom prst="rect">
            <a:avLst/>
          </a:prstGeom>
          <a:noFill/>
        </p:spPr>
        <p:txBody>
          <a:bodyPr wrap="square">
            <a:spAutoFit/>
          </a:bodyPr>
          <a:lstStyle/>
          <a:p>
            <a:pPr algn="ctr"/>
            <a:r>
              <a:rPr lang="en-US" sz="11500">
                <a:solidFill>
                  <a:srgbClr val="000000"/>
                </a:solidFill>
                <a:ea typeface="Segoe UI Emoji" panose="020B0502040204020203" pitchFamily="34" charset="0"/>
              </a:rPr>
              <a:t>🤵</a:t>
            </a:r>
            <a:endParaRPr lang="en-US" sz="8800"/>
          </a:p>
        </p:txBody>
      </p:sp>
      <p:sp>
        <p:nvSpPr>
          <p:cNvPr id="6" name="Rectangle 5">
            <a:extLst>
              <a:ext uri="{FF2B5EF4-FFF2-40B4-BE49-F238E27FC236}">
                <a16:creationId xmlns:a16="http://schemas.microsoft.com/office/drawing/2014/main" id="{61BFFC86-0864-1B1F-9B77-2EB8E7FD85C2}"/>
              </a:ext>
            </a:extLst>
          </p:cNvPr>
          <p:cNvSpPr/>
          <p:nvPr/>
        </p:nvSpPr>
        <p:spPr>
          <a:xfrm>
            <a:off x="910960" y="3734677"/>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676A3EE-F036-F042-E721-A1932DC0D14A}"/>
              </a:ext>
            </a:extLst>
          </p:cNvPr>
          <p:cNvSpPr txBox="1"/>
          <p:nvPr/>
        </p:nvSpPr>
        <p:spPr>
          <a:xfrm>
            <a:off x="669455" y="1560952"/>
            <a:ext cx="5707140" cy="584775"/>
          </a:xfrm>
          <a:prstGeom prst="rect">
            <a:avLst/>
          </a:prstGeom>
          <a:noFill/>
        </p:spPr>
        <p:txBody>
          <a:bodyPr wrap="square" rtlCol="0">
            <a:spAutoFit/>
          </a:bodyPr>
          <a:lstStyle/>
          <a:p>
            <a:pPr algn="ctr"/>
            <a:r>
              <a:rPr lang="en-US" sz="3200">
                <a:solidFill>
                  <a:schemeClr val="accent2"/>
                </a:solidFill>
                <a:latin typeface="+mj-lt"/>
              </a:rPr>
              <a:t>HashMap&lt;String, Bird&gt;</a:t>
            </a:r>
          </a:p>
        </p:txBody>
      </p:sp>
    </p:spTree>
    <p:extLst>
      <p:ext uri="{BB962C8B-B14F-4D97-AF65-F5344CB8AC3E}">
        <p14:creationId xmlns:p14="http://schemas.microsoft.com/office/powerpoint/2010/main" val="65359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B0F3E-E14A-9D2A-C15A-F88013FB5F2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906FA6-5B49-E094-5CA0-E1EF41B9C102}"/>
              </a:ext>
            </a:extLst>
          </p:cNvPr>
          <p:cNvSpPr>
            <a:spLocks noGrp="1"/>
          </p:cNvSpPr>
          <p:nvPr>
            <p:ph type="title"/>
          </p:nvPr>
        </p:nvSpPr>
        <p:spPr/>
        <p:txBody>
          <a:bodyPr/>
          <a:lstStyle/>
          <a:p>
            <a:r>
              <a:rPr lang="en-US" sz="2400"/>
              <a:t>now, let us imagine again...</a:t>
            </a:r>
          </a:p>
        </p:txBody>
      </p:sp>
      <p:pic>
        <p:nvPicPr>
          <p:cNvPr id="1026" name="Picture 2" descr="Imagination Spongebob | Know Your Meme">
            <a:extLst>
              <a:ext uri="{FF2B5EF4-FFF2-40B4-BE49-F238E27FC236}">
                <a16:creationId xmlns:a16="http://schemas.microsoft.com/office/drawing/2014/main" id="{2554D12A-8F40-A218-A2CE-8D391053C8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2884394"/>
            <a:ext cx="304800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583355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1C764-2D7B-C016-DFB8-1B96698023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68C519-351F-6FCC-20B3-ECFFEBFC8B86}"/>
              </a:ext>
            </a:extLst>
          </p:cNvPr>
          <p:cNvSpPr>
            <a:spLocks noGrp="1"/>
          </p:cNvSpPr>
          <p:nvPr>
            <p:ph type="title"/>
          </p:nvPr>
        </p:nvSpPr>
        <p:spPr/>
        <p:txBody>
          <a:bodyPr/>
          <a:lstStyle/>
          <a:p>
            <a:pPr>
              <a:tabLst>
                <a:tab pos="5364163" algn="l"/>
              </a:tabLst>
            </a:pPr>
            <a:r>
              <a:rPr lang="en-US"/>
              <a:t>in a thrilling twist, it turns out that the Bennington trip was secretly cover for Agent </a:t>
            </a:r>
            <a:r>
              <a:rPr lang="en-US">
                <a:solidFill>
                  <a:srgbClr val="F80B8D"/>
                </a:solidFill>
              </a:rPr>
              <a:t>Hans</a:t>
            </a:r>
            <a:r>
              <a:rPr lang="en-US"/>
              <a:t>'s</a:t>
            </a:r>
            <a:br>
              <a:rPr lang="en-US"/>
            </a:br>
            <a:r>
              <a:rPr lang="en-US"/>
              <a:t>corporate espionage of</a:t>
            </a:r>
            <a:br>
              <a:rPr lang="en-US"/>
            </a:br>
            <a:r>
              <a:rPr lang="en-US"/>
              <a:t>the bird kennel</a:t>
            </a:r>
            <a:br>
              <a:rPr lang="en-US"/>
            </a:br>
            <a:r>
              <a:rPr lang="en-US" sz="2400"/>
              <a:t>(rumor had it they were keeping the birds in </a:t>
            </a:r>
            <a:r>
              <a:rPr lang="en-US" sz="2400" i="1"/>
              <a:t>buckets </a:t>
            </a:r>
            <a:r>
              <a:rPr lang="en-US" sz="2400"/>
              <a:t>🤨)</a:t>
            </a:r>
            <a:br>
              <a:rPr lang="en-US"/>
            </a:br>
            <a:br>
              <a:rPr lang="en-US"/>
            </a:br>
            <a:r>
              <a:rPr lang="en-US" sz="3200"/>
              <a:t>it's time to </a:t>
            </a:r>
            <a:r>
              <a:rPr lang="en-US" sz="3200" b="1"/>
              <a:t>get</a:t>
            </a:r>
            <a:r>
              <a:rPr lang="en-US" sz="3200"/>
              <a:t> </a:t>
            </a:r>
            <a:r>
              <a:rPr lang="en-US" sz="3200">
                <a:solidFill>
                  <a:srgbClr val="F80B8D"/>
                </a:solidFill>
              </a:rPr>
              <a:t>Hans </a:t>
            </a:r>
            <a:r>
              <a:rPr lang="en-US" sz="3200"/>
              <a:t>back to the hideout</a:t>
            </a:r>
            <a:endParaRPr lang="en-US"/>
          </a:p>
        </p:txBody>
      </p:sp>
    </p:spTree>
    <p:extLst>
      <p:ext uri="{BB962C8B-B14F-4D97-AF65-F5344CB8AC3E}">
        <p14:creationId xmlns:p14="http://schemas.microsoft.com/office/powerpoint/2010/main" val="34309843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83EF73A-C94A-774C-D554-BFCFAAACD6F9}"/>
            </a:ext>
          </a:extLst>
        </p:cNvPr>
        <p:cNvGrpSpPr/>
        <p:nvPr/>
      </p:nvGrpSpPr>
      <p:grpSpPr>
        <a:xfrm>
          <a:off x="0" y="0"/>
          <a:ext cx="0" cy="0"/>
          <a:chOff x="0" y="0"/>
          <a:chExt cx="0" cy="0"/>
        </a:xfrm>
      </p:grpSpPr>
      <p:grpSp>
        <p:nvGrpSpPr>
          <p:cNvPr id="26" name="Group 25">
            <a:extLst>
              <a:ext uri="{FF2B5EF4-FFF2-40B4-BE49-F238E27FC236}">
                <a16:creationId xmlns:a16="http://schemas.microsoft.com/office/drawing/2014/main" id="{AD749CF1-FBD5-B896-99B2-6681FDA81399}"/>
              </a:ext>
            </a:extLst>
          </p:cNvPr>
          <p:cNvGrpSpPr/>
          <p:nvPr/>
        </p:nvGrpSpPr>
        <p:grpSpPr>
          <a:xfrm>
            <a:off x="320789" y="671693"/>
            <a:ext cx="8400984" cy="1446550"/>
            <a:chOff x="320789" y="671693"/>
            <a:chExt cx="8400984" cy="1446550"/>
          </a:xfrm>
        </p:grpSpPr>
        <p:sp>
          <p:nvSpPr>
            <p:cNvPr id="7" name="TextBox 6">
              <a:extLst>
                <a:ext uri="{FF2B5EF4-FFF2-40B4-BE49-F238E27FC236}">
                  <a16:creationId xmlns:a16="http://schemas.microsoft.com/office/drawing/2014/main" id="{740483CA-0B06-2A36-4CDB-4E120BC3D633}"/>
                </a:ext>
              </a:extLst>
            </p:cNvPr>
            <p:cNvSpPr txBox="1"/>
            <p:nvPr/>
          </p:nvSpPr>
          <p:spPr>
            <a:xfrm>
              <a:off x="3679639" y="671693"/>
              <a:ext cx="1683284" cy="1446550"/>
            </a:xfrm>
            <a:prstGeom prst="rect">
              <a:avLst/>
            </a:prstGeom>
            <a:noFill/>
          </p:spPr>
          <p:txBody>
            <a:bodyPr wrap="square">
              <a:spAutoFit/>
            </a:bodyPr>
            <a:lstStyle/>
            <a:p>
              <a:r>
                <a:rPr kumimoji="0" lang="en-US" sz="8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8800"/>
            </a:p>
          </p:txBody>
        </p:sp>
        <p:sp>
          <p:nvSpPr>
            <p:cNvPr id="8" name="TextBox 7">
              <a:extLst>
                <a:ext uri="{FF2B5EF4-FFF2-40B4-BE49-F238E27FC236}">
                  <a16:creationId xmlns:a16="http://schemas.microsoft.com/office/drawing/2014/main" id="{52ACFE43-C19A-3DD5-45B4-8883CCBD75A0}"/>
                </a:ext>
              </a:extLst>
            </p:cNvPr>
            <p:cNvSpPr txBox="1"/>
            <p:nvPr/>
          </p:nvSpPr>
          <p:spPr>
            <a:xfrm>
              <a:off x="320789" y="671693"/>
              <a:ext cx="1683284" cy="1446550"/>
            </a:xfrm>
            <a:prstGeom prst="rect">
              <a:avLst/>
            </a:prstGeom>
            <a:noFill/>
          </p:spPr>
          <p:txBody>
            <a:bodyPr wrap="square">
              <a:spAutoFit/>
            </a:bodyPr>
            <a:lstStyle/>
            <a:p>
              <a:r>
                <a:rPr kumimoji="0" lang="en-US" sz="8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8800"/>
            </a:p>
          </p:txBody>
        </p:sp>
        <p:sp>
          <p:nvSpPr>
            <p:cNvPr id="3" name="TextBox 2">
              <a:extLst>
                <a:ext uri="{FF2B5EF4-FFF2-40B4-BE49-F238E27FC236}">
                  <a16:creationId xmlns:a16="http://schemas.microsoft.com/office/drawing/2014/main" id="{89A83AD9-8F7E-CF33-4C65-1B9814755F65}"/>
                </a:ext>
              </a:extLst>
            </p:cNvPr>
            <p:cNvSpPr txBox="1"/>
            <p:nvPr/>
          </p:nvSpPr>
          <p:spPr>
            <a:xfrm>
              <a:off x="1996355" y="671693"/>
              <a:ext cx="1683284" cy="1446550"/>
            </a:xfrm>
            <a:prstGeom prst="rect">
              <a:avLst/>
            </a:prstGeom>
            <a:noFill/>
          </p:spPr>
          <p:txBody>
            <a:bodyPr wrap="square">
              <a:spAutoFit/>
            </a:bodyPr>
            <a:lstStyle/>
            <a:p>
              <a:r>
                <a:rPr kumimoji="0" lang="en-US" sz="8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8800"/>
            </a:p>
          </p:txBody>
        </p:sp>
        <p:sp>
          <p:nvSpPr>
            <p:cNvPr id="12" name="TextBox 11">
              <a:extLst>
                <a:ext uri="{FF2B5EF4-FFF2-40B4-BE49-F238E27FC236}">
                  <a16:creationId xmlns:a16="http://schemas.microsoft.com/office/drawing/2014/main" id="{EEB6E292-02EA-ED17-93C5-660985285703}"/>
                </a:ext>
              </a:extLst>
            </p:cNvPr>
            <p:cNvSpPr txBox="1"/>
            <p:nvPr/>
          </p:nvSpPr>
          <p:spPr>
            <a:xfrm>
              <a:off x="5355205" y="671693"/>
              <a:ext cx="1683284" cy="1446550"/>
            </a:xfrm>
            <a:prstGeom prst="rect">
              <a:avLst/>
            </a:prstGeom>
            <a:noFill/>
          </p:spPr>
          <p:txBody>
            <a:bodyPr wrap="square">
              <a:spAutoFit/>
            </a:bodyPr>
            <a:lstStyle/>
            <a:p>
              <a:r>
                <a:rPr kumimoji="0" lang="en-US" sz="8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8800"/>
            </a:p>
          </p:txBody>
        </p:sp>
        <p:sp>
          <p:nvSpPr>
            <p:cNvPr id="19" name="TextBox 18">
              <a:extLst>
                <a:ext uri="{FF2B5EF4-FFF2-40B4-BE49-F238E27FC236}">
                  <a16:creationId xmlns:a16="http://schemas.microsoft.com/office/drawing/2014/main" id="{843DFEA4-7A66-E476-BBAC-3AC1BDDBC3AB}"/>
                </a:ext>
              </a:extLst>
            </p:cNvPr>
            <p:cNvSpPr txBox="1"/>
            <p:nvPr/>
          </p:nvSpPr>
          <p:spPr>
            <a:xfrm>
              <a:off x="7038489" y="671693"/>
              <a:ext cx="1683284" cy="1446550"/>
            </a:xfrm>
            <a:prstGeom prst="rect">
              <a:avLst/>
            </a:prstGeom>
            <a:noFill/>
          </p:spPr>
          <p:txBody>
            <a:bodyPr wrap="square">
              <a:spAutoFit/>
            </a:bodyPr>
            <a:lstStyle/>
            <a:p>
              <a:r>
                <a:rPr kumimoji="0" lang="en-US" sz="8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8800"/>
            </a:p>
          </p:txBody>
        </p:sp>
        <p:sp>
          <p:nvSpPr>
            <p:cNvPr id="21" name="TextBox 20">
              <a:extLst>
                <a:ext uri="{FF2B5EF4-FFF2-40B4-BE49-F238E27FC236}">
                  <a16:creationId xmlns:a16="http://schemas.microsoft.com/office/drawing/2014/main" id="{F28FBBB4-CE37-A255-3905-B51FBFAECA62}"/>
                </a:ext>
              </a:extLst>
            </p:cNvPr>
            <p:cNvSpPr txBox="1"/>
            <p:nvPr/>
          </p:nvSpPr>
          <p:spPr>
            <a:xfrm>
              <a:off x="1163784" y="1454730"/>
              <a:ext cx="401781" cy="523220"/>
            </a:xfrm>
            <a:prstGeom prst="rect">
              <a:avLst/>
            </a:prstGeom>
            <a:noFill/>
          </p:spPr>
          <p:txBody>
            <a:bodyPr wrap="square" rtlCol="0">
              <a:spAutoFit/>
            </a:bodyPr>
            <a:lstStyle/>
            <a:p>
              <a:r>
                <a:rPr lang="en-US" sz="2800">
                  <a:solidFill>
                    <a:srgbClr val="04A6EE"/>
                  </a:solidFill>
                  <a:latin typeface="+mj-lt"/>
                </a:rPr>
                <a:t>0</a:t>
              </a:r>
            </a:p>
          </p:txBody>
        </p:sp>
        <p:sp>
          <p:nvSpPr>
            <p:cNvPr id="22" name="TextBox 21">
              <a:extLst>
                <a:ext uri="{FF2B5EF4-FFF2-40B4-BE49-F238E27FC236}">
                  <a16:creationId xmlns:a16="http://schemas.microsoft.com/office/drawing/2014/main" id="{D5AAE49B-8683-7A64-E63B-E3CF4F099D97}"/>
                </a:ext>
              </a:extLst>
            </p:cNvPr>
            <p:cNvSpPr txBox="1"/>
            <p:nvPr/>
          </p:nvSpPr>
          <p:spPr>
            <a:xfrm>
              <a:off x="2806166" y="1454730"/>
              <a:ext cx="401781" cy="523220"/>
            </a:xfrm>
            <a:prstGeom prst="rect">
              <a:avLst/>
            </a:prstGeom>
            <a:noFill/>
          </p:spPr>
          <p:txBody>
            <a:bodyPr wrap="square" rtlCol="0">
              <a:spAutoFit/>
            </a:bodyPr>
            <a:lstStyle/>
            <a:p>
              <a:r>
                <a:rPr lang="en-US" sz="2800">
                  <a:solidFill>
                    <a:srgbClr val="04A6EE"/>
                  </a:solidFill>
                  <a:latin typeface="+mj-lt"/>
                </a:rPr>
                <a:t>1</a:t>
              </a:r>
            </a:p>
          </p:txBody>
        </p:sp>
        <p:sp>
          <p:nvSpPr>
            <p:cNvPr id="23" name="TextBox 22">
              <a:extLst>
                <a:ext uri="{FF2B5EF4-FFF2-40B4-BE49-F238E27FC236}">
                  <a16:creationId xmlns:a16="http://schemas.microsoft.com/office/drawing/2014/main" id="{EE52676D-765D-72F2-1663-E7FA44939696}"/>
                </a:ext>
              </a:extLst>
            </p:cNvPr>
            <p:cNvSpPr txBox="1"/>
            <p:nvPr/>
          </p:nvSpPr>
          <p:spPr>
            <a:xfrm>
              <a:off x="4526037" y="1454730"/>
              <a:ext cx="401781" cy="523220"/>
            </a:xfrm>
            <a:prstGeom prst="rect">
              <a:avLst/>
            </a:prstGeom>
            <a:noFill/>
          </p:spPr>
          <p:txBody>
            <a:bodyPr wrap="square" rtlCol="0">
              <a:spAutoFit/>
            </a:bodyPr>
            <a:lstStyle/>
            <a:p>
              <a:r>
                <a:rPr lang="en-US" sz="2800">
                  <a:solidFill>
                    <a:srgbClr val="04A6EE"/>
                  </a:solidFill>
                  <a:latin typeface="+mj-lt"/>
                </a:rPr>
                <a:t>2</a:t>
              </a:r>
            </a:p>
          </p:txBody>
        </p:sp>
        <p:sp>
          <p:nvSpPr>
            <p:cNvPr id="24" name="TextBox 23">
              <a:extLst>
                <a:ext uri="{FF2B5EF4-FFF2-40B4-BE49-F238E27FC236}">
                  <a16:creationId xmlns:a16="http://schemas.microsoft.com/office/drawing/2014/main" id="{12F20060-6FF8-CFF8-9584-54D6632785FE}"/>
                </a:ext>
              </a:extLst>
            </p:cNvPr>
            <p:cNvSpPr txBox="1"/>
            <p:nvPr/>
          </p:nvSpPr>
          <p:spPr>
            <a:xfrm>
              <a:off x="6207397" y="1454730"/>
              <a:ext cx="401781" cy="523220"/>
            </a:xfrm>
            <a:prstGeom prst="rect">
              <a:avLst/>
            </a:prstGeom>
            <a:noFill/>
          </p:spPr>
          <p:txBody>
            <a:bodyPr wrap="square" rtlCol="0">
              <a:spAutoFit/>
            </a:bodyPr>
            <a:lstStyle/>
            <a:p>
              <a:r>
                <a:rPr lang="en-US" sz="2800">
                  <a:solidFill>
                    <a:srgbClr val="04A6EE"/>
                  </a:solidFill>
                  <a:latin typeface="+mj-lt"/>
                </a:rPr>
                <a:t>3</a:t>
              </a:r>
            </a:p>
          </p:txBody>
        </p:sp>
        <p:sp>
          <p:nvSpPr>
            <p:cNvPr id="25" name="TextBox 24">
              <a:extLst>
                <a:ext uri="{FF2B5EF4-FFF2-40B4-BE49-F238E27FC236}">
                  <a16:creationId xmlns:a16="http://schemas.microsoft.com/office/drawing/2014/main" id="{BA9E2A45-54BF-7E84-955D-6E5B6AB41592}"/>
                </a:ext>
              </a:extLst>
            </p:cNvPr>
            <p:cNvSpPr txBox="1"/>
            <p:nvPr/>
          </p:nvSpPr>
          <p:spPr>
            <a:xfrm>
              <a:off x="7898742" y="1454730"/>
              <a:ext cx="401781" cy="523220"/>
            </a:xfrm>
            <a:prstGeom prst="rect">
              <a:avLst/>
            </a:prstGeom>
            <a:noFill/>
          </p:spPr>
          <p:txBody>
            <a:bodyPr wrap="square" rtlCol="0">
              <a:spAutoFit/>
            </a:bodyPr>
            <a:lstStyle/>
            <a:p>
              <a:r>
                <a:rPr lang="en-US" sz="2800">
                  <a:solidFill>
                    <a:srgbClr val="04A6EE"/>
                  </a:solidFill>
                  <a:latin typeface="+mj-lt"/>
                </a:rPr>
                <a:t>4</a:t>
              </a:r>
            </a:p>
          </p:txBody>
        </p:sp>
      </p:grpSp>
      <p:sp>
        <p:nvSpPr>
          <p:cNvPr id="5" name="TextBox 4">
            <a:extLst>
              <a:ext uri="{FF2B5EF4-FFF2-40B4-BE49-F238E27FC236}">
                <a16:creationId xmlns:a16="http://schemas.microsoft.com/office/drawing/2014/main" id="{F646DBD7-4956-97B7-5C8F-A8A97B7E8D4C}"/>
              </a:ext>
            </a:extLst>
          </p:cNvPr>
          <p:cNvSpPr txBox="1"/>
          <p:nvPr/>
        </p:nvSpPr>
        <p:spPr>
          <a:xfrm>
            <a:off x="2387421" y="2065133"/>
            <a:ext cx="2079821" cy="1862048"/>
          </a:xfrm>
          <a:prstGeom prst="rect">
            <a:avLst/>
          </a:prstGeom>
          <a:noFill/>
        </p:spPr>
        <p:txBody>
          <a:bodyPr wrap="square">
            <a:spAutoFit/>
          </a:bodyPr>
          <a:lstStyle/>
          <a:p>
            <a:pPr algn="ctr"/>
            <a:r>
              <a:rPr lang="en-US" sz="11500">
                <a:solidFill>
                  <a:srgbClr val="000000"/>
                </a:solidFill>
                <a:latin typeface="Arial"/>
                <a:ea typeface="Segoe UI Emoji" panose="020B0502040204020203" pitchFamily="34" charset="0"/>
                <a:cs typeface="+mj-cs"/>
              </a:rPr>
              <a:t>👮</a:t>
            </a:r>
            <a:endParaRPr lang="en-US" sz="8800"/>
          </a:p>
        </p:txBody>
      </p:sp>
      <p:sp>
        <p:nvSpPr>
          <p:cNvPr id="6" name="Rectangle 5">
            <a:extLst>
              <a:ext uri="{FF2B5EF4-FFF2-40B4-BE49-F238E27FC236}">
                <a16:creationId xmlns:a16="http://schemas.microsoft.com/office/drawing/2014/main" id="{E9E37C4E-2A64-A630-53EA-0EEF54E1312B}"/>
              </a:ext>
            </a:extLst>
          </p:cNvPr>
          <p:cNvSpPr/>
          <p:nvPr/>
        </p:nvSpPr>
        <p:spPr>
          <a:xfrm>
            <a:off x="910960" y="3734677"/>
            <a:ext cx="5224130" cy="1311349"/>
          </a:xfrm>
          <a:prstGeom prst="rect">
            <a:avLst/>
          </a:prstGeom>
          <a:solidFill>
            <a:schemeClr val="accent2">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B3BD2194-EFA4-8EE6-00EE-1C860DCCFC2C}"/>
              </a:ext>
            </a:extLst>
          </p:cNvPr>
          <p:cNvGrpSpPr/>
          <p:nvPr/>
        </p:nvGrpSpPr>
        <p:grpSpPr>
          <a:xfrm>
            <a:off x="617269" y="636440"/>
            <a:ext cx="8040900" cy="462517"/>
            <a:chOff x="617269" y="636440"/>
            <a:chExt cx="8040900" cy="462517"/>
          </a:xfrm>
        </p:grpSpPr>
        <p:sp>
          <p:nvSpPr>
            <p:cNvPr id="4" name="TextBox 3">
              <a:extLst>
                <a:ext uri="{FF2B5EF4-FFF2-40B4-BE49-F238E27FC236}">
                  <a16:creationId xmlns:a16="http://schemas.microsoft.com/office/drawing/2014/main" id="{D2E95FD9-778A-5B8A-F28C-3AB6A072F2FB}"/>
                </a:ext>
              </a:extLst>
            </p:cNvPr>
            <p:cNvSpPr txBox="1"/>
            <p:nvPr/>
          </p:nvSpPr>
          <p:spPr>
            <a:xfrm>
              <a:off x="617269" y="636440"/>
              <a:ext cx="1477131" cy="461665"/>
            </a:xfrm>
            <a:prstGeom prst="rect">
              <a:avLst/>
            </a:prstGeom>
            <a:noFill/>
          </p:spPr>
          <p:txBody>
            <a:bodyPr wrap="square">
              <a:spAutoFit/>
            </a:bodyPr>
            <a:lstStyle/>
            <a:p>
              <a:r>
                <a:rPr kumimoji="0" lang="en-US" sz="24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2400"/>
            </a:p>
          </p:txBody>
        </p:sp>
        <p:sp>
          <p:nvSpPr>
            <p:cNvPr id="2" name="TextBox 1">
              <a:extLst>
                <a:ext uri="{FF2B5EF4-FFF2-40B4-BE49-F238E27FC236}">
                  <a16:creationId xmlns:a16="http://schemas.microsoft.com/office/drawing/2014/main" id="{AE186850-B402-DA90-6EAB-F76BCA210DE8}"/>
                </a:ext>
              </a:extLst>
            </p:cNvPr>
            <p:cNvSpPr txBox="1"/>
            <p:nvPr/>
          </p:nvSpPr>
          <p:spPr>
            <a:xfrm>
              <a:off x="3969879" y="636443"/>
              <a:ext cx="742227" cy="461664"/>
            </a:xfrm>
            <a:prstGeom prst="rect">
              <a:avLst/>
            </a:prstGeom>
            <a:noFill/>
          </p:spPr>
          <p:txBody>
            <a:bodyPr wrap="square">
              <a:spAutoFit/>
            </a:bodyPr>
            <a:lstStyle/>
            <a:p>
              <a:r>
                <a:rPr kumimoji="0" lang="en-US" sz="24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2400"/>
            </a:p>
          </p:txBody>
        </p:sp>
        <p:sp>
          <p:nvSpPr>
            <p:cNvPr id="14" name="TextBox 13">
              <a:extLst>
                <a:ext uri="{FF2B5EF4-FFF2-40B4-BE49-F238E27FC236}">
                  <a16:creationId xmlns:a16="http://schemas.microsoft.com/office/drawing/2014/main" id="{8BEEFE57-E514-5532-3BFA-B3C862EA130A}"/>
                </a:ext>
              </a:extLst>
            </p:cNvPr>
            <p:cNvSpPr txBox="1"/>
            <p:nvPr/>
          </p:nvSpPr>
          <p:spPr>
            <a:xfrm>
              <a:off x="5514103" y="637292"/>
              <a:ext cx="1565867" cy="461665"/>
            </a:xfrm>
            <a:prstGeom prst="rect">
              <a:avLst/>
            </a:prstGeom>
            <a:noFill/>
          </p:spPr>
          <p:txBody>
            <a:bodyPr wrap="square">
              <a:spAutoFit/>
            </a:bodyPr>
            <a:lstStyle/>
            <a:p>
              <a:r>
                <a:rPr kumimoji="0" lang="en-US" sz="24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a:p>
          </p:txBody>
        </p:sp>
        <p:sp>
          <p:nvSpPr>
            <p:cNvPr id="16" name="TextBox 15">
              <a:extLst>
                <a:ext uri="{FF2B5EF4-FFF2-40B4-BE49-F238E27FC236}">
                  <a16:creationId xmlns:a16="http://schemas.microsoft.com/office/drawing/2014/main" id="{94F7F6FA-411B-3058-7BFB-897D73EBDDC9}"/>
                </a:ext>
              </a:extLst>
            </p:cNvPr>
            <p:cNvSpPr txBox="1"/>
            <p:nvPr/>
          </p:nvSpPr>
          <p:spPr>
            <a:xfrm>
              <a:off x="4340479" y="636441"/>
              <a:ext cx="1139983" cy="461665"/>
            </a:xfrm>
            <a:prstGeom prst="rect">
              <a:avLst/>
            </a:prstGeom>
            <a:noFill/>
          </p:spPr>
          <p:txBody>
            <a:bodyPr wrap="square">
              <a:spAutoFit/>
            </a:bodyPr>
            <a:lstStyle/>
            <a:p>
              <a:r>
                <a:rPr kumimoji="0" lang="en-US" sz="24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 🦜</a:t>
              </a:r>
              <a:endParaRPr lang="en-US"/>
            </a:p>
          </p:txBody>
        </p:sp>
        <p:sp>
          <p:nvSpPr>
            <p:cNvPr id="20" name="TextBox 19">
              <a:extLst>
                <a:ext uri="{FF2B5EF4-FFF2-40B4-BE49-F238E27FC236}">
                  <a16:creationId xmlns:a16="http://schemas.microsoft.com/office/drawing/2014/main" id="{FCD8E403-5A3D-FA83-FE35-B75C79BC9342}"/>
                </a:ext>
              </a:extLst>
            </p:cNvPr>
            <p:cNvSpPr txBox="1"/>
            <p:nvPr/>
          </p:nvSpPr>
          <p:spPr>
            <a:xfrm>
              <a:off x="7290012" y="636442"/>
              <a:ext cx="1368157" cy="461665"/>
            </a:xfrm>
            <a:prstGeom prst="rect">
              <a:avLst/>
            </a:prstGeom>
            <a:noFill/>
          </p:spPr>
          <p:txBody>
            <a:bodyPr wrap="square">
              <a:spAutoFit/>
            </a:bodyPr>
            <a:lstStyle/>
            <a:p>
              <a:r>
                <a:rPr kumimoji="0" lang="en-US" sz="24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2400"/>
            </a:p>
          </p:txBody>
        </p:sp>
      </p:grpSp>
      <p:sp>
        <p:nvSpPr>
          <p:cNvPr id="28" name="TextBox 27">
            <a:extLst>
              <a:ext uri="{FF2B5EF4-FFF2-40B4-BE49-F238E27FC236}">
                <a16:creationId xmlns:a16="http://schemas.microsoft.com/office/drawing/2014/main" id="{B1E98D98-CFBC-0172-FB0F-A1FFBF0839AC}"/>
              </a:ext>
            </a:extLst>
          </p:cNvPr>
          <p:cNvSpPr txBox="1"/>
          <p:nvPr/>
        </p:nvSpPr>
        <p:spPr>
          <a:xfrm>
            <a:off x="668070" y="973813"/>
            <a:ext cx="7683253" cy="261610"/>
          </a:xfrm>
          <a:prstGeom prst="rect">
            <a:avLst/>
          </a:prstGeom>
          <a:noFill/>
        </p:spPr>
        <p:txBody>
          <a:bodyPr wrap="square" rtlCol="0">
            <a:spAutoFit/>
          </a:bodyPr>
          <a:lstStyle/>
          <a:p>
            <a:r>
              <a:rPr lang="en-US" sz="1050">
                <a:solidFill>
                  <a:schemeClr val="accent5">
                    <a:lumMod val="20000"/>
                    <a:lumOff val="80000"/>
                  </a:schemeClr>
                </a:solidFill>
                <a:latin typeface="Comic Sans MS" panose="030F0902030302020204" pitchFamily="66" charset="0"/>
              </a:rPr>
              <a:t> Joe   Kahoot                                                                Cheep  Hans                      Doug   Io  Gary                   Max</a:t>
            </a:r>
          </a:p>
        </p:txBody>
      </p:sp>
    </p:spTree>
    <p:extLst>
      <p:ext uri="{BB962C8B-B14F-4D97-AF65-F5344CB8AC3E}">
        <p14:creationId xmlns:p14="http://schemas.microsoft.com/office/powerpoint/2010/main" val="2293884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97971A1-CF63-2C87-B988-7C31826764B8}"/>
            </a:ext>
          </a:extLst>
        </p:cNvPr>
        <p:cNvGrpSpPr/>
        <p:nvPr/>
      </p:nvGrpSpPr>
      <p:grpSpPr>
        <a:xfrm>
          <a:off x="0" y="0"/>
          <a:ext cx="0" cy="0"/>
          <a:chOff x="0" y="0"/>
          <a:chExt cx="0" cy="0"/>
        </a:xfrm>
      </p:grpSpPr>
      <p:grpSp>
        <p:nvGrpSpPr>
          <p:cNvPr id="26" name="Group 25">
            <a:extLst>
              <a:ext uri="{FF2B5EF4-FFF2-40B4-BE49-F238E27FC236}">
                <a16:creationId xmlns:a16="http://schemas.microsoft.com/office/drawing/2014/main" id="{CAEBDB4B-36E5-2AC9-B933-FDF22FBBEBAC}"/>
              </a:ext>
            </a:extLst>
          </p:cNvPr>
          <p:cNvGrpSpPr/>
          <p:nvPr/>
        </p:nvGrpSpPr>
        <p:grpSpPr>
          <a:xfrm>
            <a:off x="320789" y="671693"/>
            <a:ext cx="8400984" cy="1446550"/>
            <a:chOff x="320789" y="671693"/>
            <a:chExt cx="8400984" cy="1446550"/>
          </a:xfrm>
        </p:grpSpPr>
        <p:sp>
          <p:nvSpPr>
            <p:cNvPr id="7" name="TextBox 6">
              <a:extLst>
                <a:ext uri="{FF2B5EF4-FFF2-40B4-BE49-F238E27FC236}">
                  <a16:creationId xmlns:a16="http://schemas.microsoft.com/office/drawing/2014/main" id="{3799AC09-58AB-BE86-32CB-5AC42FE605E4}"/>
                </a:ext>
              </a:extLst>
            </p:cNvPr>
            <p:cNvSpPr txBox="1"/>
            <p:nvPr/>
          </p:nvSpPr>
          <p:spPr>
            <a:xfrm>
              <a:off x="3679639" y="671693"/>
              <a:ext cx="1683284" cy="144655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8800" b="0" i="0" u="none" strike="noStrike" kern="1200" cap="none" spc="0" normalizeH="0" baseline="0" noProof="0">
                <a:ln>
                  <a:noFill/>
                </a:ln>
                <a:solidFill>
                  <a:srgbClr val="000000"/>
                </a:solidFill>
                <a:effectLst/>
                <a:uLnTx/>
                <a:uFillTx/>
                <a:latin typeface="Arial"/>
                <a:ea typeface="+mn-ea"/>
                <a:cs typeface="+mn-cs"/>
              </a:endParaRPr>
            </a:p>
          </p:txBody>
        </p:sp>
        <p:sp>
          <p:nvSpPr>
            <p:cNvPr id="8" name="TextBox 7">
              <a:extLst>
                <a:ext uri="{FF2B5EF4-FFF2-40B4-BE49-F238E27FC236}">
                  <a16:creationId xmlns:a16="http://schemas.microsoft.com/office/drawing/2014/main" id="{1A2461B5-3FB1-A9B6-043F-86BF47480C80}"/>
                </a:ext>
              </a:extLst>
            </p:cNvPr>
            <p:cNvSpPr txBox="1"/>
            <p:nvPr/>
          </p:nvSpPr>
          <p:spPr>
            <a:xfrm>
              <a:off x="320789" y="671693"/>
              <a:ext cx="1683284" cy="144655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8800" b="0" i="0" u="none" strike="noStrike" kern="1200" cap="none" spc="0" normalizeH="0" baseline="0" noProof="0">
                <a:ln>
                  <a:noFill/>
                </a:ln>
                <a:solidFill>
                  <a:srgbClr val="000000"/>
                </a:solidFill>
                <a:effectLst/>
                <a:uLnTx/>
                <a:uFillTx/>
                <a:latin typeface="Arial"/>
                <a:ea typeface="+mn-ea"/>
                <a:cs typeface="+mn-cs"/>
              </a:endParaRPr>
            </a:p>
          </p:txBody>
        </p:sp>
        <p:sp>
          <p:nvSpPr>
            <p:cNvPr id="3" name="TextBox 2">
              <a:extLst>
                <a:ext uri="{FF2B5EF4-FFF2-40B4-BE49-F238E27FC236}">
                  <a16:creationId xmlns:a16="http://schemas.microsoft.com/office/drawing/2014/main" id="{70785CAD-729F-CD3F-5BD0-BDE5BD42367D}"/>
                </a:ext>
              </a:extLst>
            </p:cNvPr>
            <p:cNvSpPr txBox="1"/>
            <p:nvPr/>
          </p:nvSpPr>
          <p:spPr>
            <a:xfrm>
              <a:off x="1996355" y="671693"/>
              <a:ext cx="1683284" cy="144655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8800" b="0" i="0" u="none" strike="noStrike" kern="1200" cap="none" spc="0" normalizeH="0" baseline="0" noProof="0">
                <a:ln>
                  <a:noFill/>
                </a:ln>
                <a:solidFill>
                  <a:srgbClr val="000000"/>
                </a:solidFill>
                <a:effectLst/>
                <a:uLnTx/>
                <a:uFillTx/>
                <a:latin typeface="Arial"/>
                <a:ea typeface="+mn-ea"/>
                <a:cs typeface="+mn-cs"/>
              </a:endParaRPr>
            </a:p>
          </p:txBody>
        </p:sp>
        <p:sp>
          <p:nvSpPr>
            <p:cNvPr id="12" name="TextBox 11">
              <a:extLst>
                <a:ext uri="{FF2B5EF4-FFF2-40B4-BE49-F238E27FC236}">
                  <a16:creationId xmlns:a16="http://schemas.microsoft.com/office/drawing/2014/main" id="{1E20543C-5F84-FCAC-D193-F9442D086872}"/>
                </a:ext>
              </a:extLst>
            </p:cNvPr>
            <p:cNvSpPr txBox="1"/>
            <p:nvPr/>
          </p:nvSpPr>
          <p:spPr>
            <a:xfrm>
              <a:off x="5355205" y="671693"/>
              <a:ext cx="1683284" cy="144655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8800" b="0" i="0" u="none" strike="noStrike" kern="1200" cap="none" spc="0" normalizeH="0" baseline="0" noProof="0">
                <a:ln>
                  <a:noFill/>
                </a:ln>
                <a:solidFill>
                  <a:srgbClr val="000000"/>
                </a:solidFill>
                <a:effectLst/>
                <a:uLnTx/>
                <a:uFillTx/>
                <a:latin typeface="Arial"/>
                <a:ea typeface="+mn-ea"/>
                <a:cs typeface="+mn-cs"/>
              </a:endParaRPr>
            </a:p>
          </p:txBody>
        </p:sp>
        <p:sp>
          <p:nvSpPr>
            <p:cNvPr id="19" name="TextBox 18">
              <a:extLst>
                <a:ext uri="{FF2B5EF4-FFF2-40B4-BE49-F238E27FC236}">
                  <a16:creationId xmlns:a16="http://schemas.microsoft.com/office/drawing/2014/main" id="{D9EA4139-F72F-D13B-6849-162736114CC6}"/>
                </a:ext>
              </a:extLst>
            </p:cNvPr>
            <p:cNvSpPr txBox="1"/>
            <p:nvPr/>
          </p:nvSpPr>
          <p:spPr>
            <a:xfrm>
              <a:off x="7038489" y="671693"/>
              <a:ext cx="1683284" cy="144655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8800" b="0" i="0" u="none" strike="noStrike" kern="1200" cap="none" spc="0" normalizeH="0" baseline="0" noProof="0">
                <a:ln>
                  <a:noFill/>
                </a:ln>
                <a:solidFill>
                  <a:srgbClr val="000000"/>
                </a:solidFill>
                <a:effectLst/>
                <a:uLnTx/>
                <a:uFillTx/>
                <a:latin typeface="Arial"/>
                <a:ea typeface="+mn-ea"/>
                <a:cs typeface="+mn-cs"/>
              </a:endParaRPr>
            </a:p>
          </p:txBody>
        </p:sp>
        <p:sp>
          <p:nvSpPr>
            <p:cNvPr id="21" name="TextBox 20">
              <a:extLst>
                <a:ext uri="{FF2B5EF4-FFF2-40B4-BE49-F238E27FC236}">
                  <a16:creationId xmlns:a16="http://schemas.microsoft.com/office/drawing/2014/main" id="{23CDF000-5B4D-8701-3BA8-80A21A8BA23F}"/>
                </a:ext>
              </a:extLst>
            </p:cNvPr>
            <p:cNvSpPr txBox="1"/>
            <p:nvPr/>
          </p:nvSpPr>
          <p:spPr>
            <a:xfrm>
              <a:off x="1163784" y="1454730"/>
              <a:ext cx="401781"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4A6EE"/>
                  </a:solidFill>
                  <a:effectLst/>
                  <a:uLnTx/>
                  <a:uFillTx/>
                  <a:latin typeface="Consolas"/>
                  <a:ea typeface="+mn-ea"/>
                  <a:cs typeface="+mn-cs"/>
                </a:rPr>
                <a:t>0</a:t>
              </a:r>
            </a:p>
          </p:txBody>
        </p:sp>
        <p:sp>
          <p:nvSpPr>
            <p:cNvPr id="22" name="TextBox 21">
              <a:extLst>
                <a:ext uri="{FF2B5EF4-FFF2-40B4-BE49-F238E27FC236}">
                  <a16:creationId xmlns:a16="http://schemas.microsoft.com/office/drawing/2014/main" id="{27CD5ACB-A986-7D5F-D5A9-B248ED8985FC}"/>
                </a:ext>
              </a:extLst>
            </p:cNvPr>
            <p:cNvSpPr txBox="1"/>
            <p:nvPr/>
          </p:nvSpPr>
          <p:spPr>
            <a:xfrm>
              <a:off x="2806166" y="1454730"/>
              <a:ext cx="401781"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4A6EE"/>
                  </a:solidFill>
                  <a:effectLst/>
                  <a:uLnTx/>
                  <a:uFillTx/>
                  <a:latin typeface="Consolas"/>
                  <a:ea typeface="+mn-ea"/>
                  <a:cs typeface="+mn-cs"/>
                </a:rPr>
                <a:t>1</a:t>
              </a:r>
            </a:p>
          </p:txBody>
        </p:sp>
        <p:sp>
          <p:nvSpPr>
            <p:cNvPr id="23" name="TextBox 22">
              <a:extLst>
                <a:ext uri="{FF2B5EF4-FFF2-40B4-BE49-F238E27FC236}">
                  <a16:creationId xmlns:a16="http://schemas.microsoft.com/office/drawing/2014/main" id="{A28705FA-6017-53E6-A9C2-2D27B29854EE}"/>
                </a:ext>
              </a:extLst>
            </p:cNvPr>
            <p:cNvSpPr txBox="1"/>
            <p:nvPr/>
          </p:nvSpPr>
          <p:spPr>
            <a:xfrm>
              <a:off x="4526037" y="1454730"/>
              <a:ext cx="401781"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4A6EE"/>
                  </a:solidFill>
                  <a:effectLst/>
                  <a:uLnTx/>
                  <a:uFillTx/>
                  <a:latin typeface="Consolas"/>
                  <a:ea typeface="+mn-ea"/>
                  <a:cs typeface="+mn-cs"/>
                </a:rPr>
                <a:t>2</a:t>
              </a:r>
            </a:p>
          </p:txBody>
        </p:sp>
        <p:sp>
          <p:nvSpPr>
            <p:cNvPr id="24" name="TextBox 23">
              <a:extLst>
                <a:ext uri="{FF2B5EF4-FFF2-40B4-BE49-F238E27FC236}">
                  <a16:creationId xmlns:a16="http://schemas.microsoft.com/office/drawing/2014/main" id="{543A104B-3553-D2B9-4710-AC8DDD904364}"/>
                </a:ext>
              </a:extLst>
            </p:cNvPr>
            <p:cNvSpPr txBox="1"/>
            <p:nvPr/>
          </p:nvSpPr>
          <p:spPr>
            <a:xfrm>
              <a:off x="6207397" y="1454730"/>
              <a:ext cx="401781"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4A6EE"/>
                  </a:solidFill>
                  <a:effectLst/>
                  <a:uLnTx/>
                  <a:uFillTx/>
                  <a:latin typeface="Consolas"/>
                  <a:ea typeface="+mn-ea"/>
                  <a:cs typeface="+mn-cs"/>
                </a:rPr>
                <a:t>3</a:t>
              </a:r>
            </a:p>
          </p:txBody>
        </p:sp>
        <p:sp>
          <p:nvSpPr>
            <p:cNvPr id="25" name="TextBox 24">
              <a:extLst>
                <a:ext uri="{FF2B5EF4-FFF2-40B4-BE49-F238E27FC236}">
                  <a16:creationId xmlns:a16="http://schemas.microsoft.com/office/drawing/2014/main" id="{0C1D3148-71B8-5475-11F1-43A8A02E0B09}"/>
                </a:ext>
              </a:extLst>
            </p:cNvPr>
            <p:cNvSpPr txBox="1"/>
            <p:nvPr/>
          </p:nvSpPr>
          <p:spPr>
            <a:xfrm>
              <a:off x="7898742" y="1454730"/>
              <a:ext cx="401781"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4A6EE"/>
                  </a:solidFill>
                  <a:effectLst/>
                  <a:uLnTx/>
                  <a:uFillTx/>
                  <a:latin typeface="Consolas"/>
                  <a:ea typeface="+mn-ea"/>
                  <a:cs typeface="+mn-cs"/>
                </a:rPr>
                <a:t>4</a:t>
              </a:r>
            </a:p>
          </p:txBody>
        </p:sp>
      </p:grpSp>
      <p:grpSp>
        <p:nvGrpSpPr>
          <p:cNvPr id="27" name="Group 26">
            <a:extLst>
              <a:ext uri="{FF2B5EF4-FFF2-40B4-BE49-F238E27FC236}">
                <a16:creationId xmlns:a16="http://schemas.microsoft.com/office/drawing/2014/main" id="{23A7F0F6-E810-5E66-05AE-2805F3C0DD8B}"/>
              </a:ext>
            </a:extLst>
          </p:cNvPr>
          <p:cNvGrpSpPr/>
          <p:nvPr/>
        </p:nvGrpSpPr>
        <p:grpSpPr>
          <a:xfrm>
            <a:off x="617269" y="636440"/>
            <a:ext cx="8040900" cy="462517"/>
            <a:chOff x="617269" y="636440"/>
            <a:chExt cx="8040900" cy="462517"/>
          </a:xfrm>
        </p:grpSpPr>
        <p:sp>
          <p:nvSpPr>
            <p:cNvPr id="4" name="TextBox 3">
              <a:extLst>
                <a:ext uri="{FF2B5EF4-FFF2-40B4-BE49-F238E27FC236}">
                  <a16:creationId xmlns:a16="http://schemas.microsoft.com/office/drawing/2014/main" id="{11BAE75F-8012-7945-181A-058D858777CC}"/>
                </a:ext>
              </a:extLst>
            </p:cNvPr>
            <p:cNvSpPr txBox="1"/>
            <p:nvPr/>
          </p:nvSpPr>
          <p:spPr>
            <a:xfrm>
              <a:off x="617269" y="636440"/>
              <a:ext cx="1477131"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2400" b="0" i="0" u="none" strike="noStrike" kern="1200" cap="none" spc="0" normalizeH="0" baseline="0" noProof="0">
                <a:ln>
                  <a:noFill/>
                </a:ln>
                <a:solidFill>
                  <a:srgbClr val="000000"/>
                </a:solidFill>
                <a:effectLst/>
                <a:uLnTx/>
                <a:uFillTx/>
                <a:latin typeface="Arial"/>
                <a:ea typeface="+mn-ea"/>
                <a:cs typeface="+mn-cs"/>
              </a:endParaRPr>
            </a:p>
          </p:txBody>
        </p:sp>
        <p:sp>
          <p:nvSpPr>
            <p:cNvPr id="2" name="TextBox 1">
              <a:extLst>
                <a:ext uri="{FF2B5EF4-FFF2-40B4-BE49-F238E27FC236}">
                  <a16:creationId xmlns:a16="http://schemas.microsoft.com/office/drawing/2014/main" id="{F75A3F43-7AD7-713B-E2EA-BCB9CD192622}"/>
                </a:ext>
              </a:extLst>
            </p:cNvPr>
            <p:cNvSpPr txBox="1"/>
            <p:nvPr/>
          </p:nvSpPr>
          <p:spPr>
            <a:xfrm>
              <a:off x="3969879" y="636443"/>
              <a:ext cx="742227" cy="46166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2400" b="0" i="0" u="none" strike="noStrike" kern="1200" cap="none" spc="0" normalizeH="0" baseline="0" noProof="0">
                <a:ln>
                  <a:noFill/>
                </a:ln>
                <a:solidFill>
                  <a:srgbClr val="000000"/>
                </a:solidFill>
                <a:effectLst/>
                <a:uLnTx/>
                <a:uFillTx/>
                <a:latin typeface="Arial"/>
                <a:ea typeface="+mn-ea"/>
                <a:cs typeface="+mn-cs"/>
              </a:endParaRPr>
            </a:p>
          </p:txBody>
        </p:sp>
        <p:sp>
          <p:nvSpPr>
            <p:cNvPr id="14" name="TextBox 13">
              <a:extLst>
                <a:ext uri="{FF2B5EF4-FFF2-40B4-BE49-F238E27FC236}">
                  <a16:creationId xmlns:a16="http://schemas.microsoft.com/office/drawing/2014/main" id="{D15514F4-0F0A-625C-9BC8-F7000DE52CDE}"/>
                </a:ext>
              </a:extLst>
            </p:cNvPr>
            <p:cNvSpPr txBox="1"/>
            <p:nvPr/>
          </p:nvSpPr>
          <p:spPr>
            <a:xfrm>
              <a:off x="5514103" y="637292"/>
              <a:ext cx="1565867"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0" name="TextBox 19">
              <a:extLst>
                <a:ext uri="{FF2B5EF4-FFF2-40B4-BE49-F238E27FC236}">
                  <a16:creationId xmlns:a16="http://schemas.microsoft.com/office/drawing/2014/main" id="{9F9B3925-FC83-D3C1-3092-3A5FA65CEC34}"/>
                </a:ext>
              </a:extLst>
            </p:cNvPr>
            <p:cNvSpPr txBox="1"/>
            <p:nvPr/>
          </p:nvSpPr>
          <p:spPr>
            <a:xfrm>
              <a:off x="7290012" y="636442"/>
              <a:ext cx="1368157"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2400" b="0" i="0" u="none" strike="noStrike" kern="1200" cap="none" spc="0" normalizeH="0" baseline="0" noProof="0">
                <a:ln>
                  <a:noFill/>
                </a:ln>
                <a:solidFill>
                  <a:srgbClr val="000000"/>
                </a:solidFill>
                <a:effectLst/>
                <a:uLnTx/>
                <a:uFillTx/>
                <a:latin typeface="Arial"/>
                <a:ea typeface="+mn-ea"/>
                <a:cs typeface="+mn-cs"/>
              </a:endParaRPr>
            </a:p>
          </p:txBody>
        </p:sp>
      </p:grpSp>
      <p:sp>
        <p:nvSpPr>
          <p:cNvPr id="28" name="TextBox 27">
            <a:extLst>
              <a:ext uri="{FF2B5EF4-FFF2-40B4-BE49-F238E27FC236}">
                <a16:creationId xmlns:a16="http://schemas.microsoft.com/office/drawing/2014/main" id="{49A55EB8-6084-5E82-354F-77D64EDEF256}"/>
              </a:ext>
            </a:extLst>
          </p:cNvPr>
          <p:cNvSpPr txBox="1"/>
          <p:nvPr/>
        </p:nvSpPr>
        <p:spPr>
          <a:xfrm>
            <a:off x="668070" y="973813"/>
            <a:ext cx="7683253"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66D9ED">
                    <a:lumMod val="20000"/>
                    <a:lumOff val="80000"/>
                  </a:srgbClr>
                </a:solidFill>
                <a:effectLst/>
                <a:uLnTx/>
                <a:uFillTx/>
                <a:latin typeface="Comic Sans MS" panose="030F0902030302020204" pitchFamily="66" charset="0"/>
                <a:ea typeface="+mn-ea"/>
                <a:cs typeface="+mn-cs"/>
              </a:rPr>
              <a:t> Joe   Kahoot                                                                Cheep  Hans                      Doug   Io  Gary                   Max</a:t>
            </a:r>
          </a:p>
        </p:txBody>
      </p:sp>
      <p:sp>
        <p:nvSpPr>
          <p:cNvPr id="11" name="TextBox 10">
            <a:extLst>
              <a:ext uri="{FF2B5EF4-FFF2-40B4-BE49-F238E27FC236}">
                <a16:creationId xmlns:a16="http://schemas.microsoft.com/office/drawing/2014/main" id="{B01A523E-15CD-767F-DDCA-8867C05DE3A9}"/>
              </a:ext>
            </a:extLst>
          </p:cNvPr>
          <p:cNvSpPr txBox="1"/>
          <p:nvPr/>
        </p:nvSpPr>
        <p:spPr>
          <a:xfrm>
            <a:off x="4133864" y="3029961"/>
            <a:ext cx="3467164" cy="830997"/>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US" sz="2400" err="1">
                <a:solidFill>
                  <a:schemeClr val="accent2"/>
                </a:solidFill>
                <a:latin typeface="+mj-lt"/>
              </a:rPr>
              <a:t>map.get</a:t>
            </a:r>
            <a:r>
              <a:rPr lang="en-US" sz="2400">
                <a:solidFill>
                  <a:schemeClr val="accent2"/>
                </a:solidFill>
                <a:latin typeface="+mj-lt"/>
              </a:rPr>
              <a:t>("Hans"</a:t>
            </a:r>
            <a:r>
              <a:rPr kumimoji="0" lang="en-US" sz="2400" b="0" i="0" u="none" strike="noStrike" kern="1200" cap="none" spc="0" normalizeH="0" baseline="0" noProof="0">
                <a:ln>
                  <a:noFill/>
                </a:ln>
                <a:solidFill>
                  <a:schemeClr val="accent2"/>
                </a:solidFill>
                <a:effectLst/>
                <a:uLnTx/>
                <a:uFillTx/>
                <a:latin typeface="+mj-lt"/>
                <a:ea typeface="Segoe UI Emoji" panose="020B0502040204020203" pitchFamily="34" charset="0"/>
              </a:rPr>
              <a:t>)</a:t>
            </a:r>
            <a:endParaRPr kumimoji="0" lang="en-US" sz="2400" b="0" i="0" u="none" strike="noStrike" kern="1200" cap="none" spc="0" normalizeH="0" baseline="0" noProof="0">
              <a:ln>
                <a:noFill/>
              </a:ln>
              <a:solidFill>
                <a:schemeClr val="accent2"/>
              </a:solidFill>
              <a:effectLst/>
              <a:uLnTx/>
              <a:uFillTx/>
              <a:latin typeface="+mj-lt"/>
            </a:endParaRPr>
          </a:p>
          <a:p>
            <a:pPr algn="ctr"/>
            <a:endParaRPr lang="en-US" sz="2400">
              <a:solidFill>
                <a:srgbClr val="F80B8D"/>
              </a:solidFill>
              <a:latin typeface="+mj-lt"/>
            </a:endParaRPr>
          </a:p>
        </p:txBody>
      </p:sp>
      <p:sp>
        <p:nvSpPr>
          <p:cNvPr id="13" name="Rectangle 12">
            <a:extLst>
              <a:ext uri="{FF2B5EF4-FFF2-40B4-BE49-F238E27FC236}">
                <a16:creationId xmlns:a16="http://schemas.microsoft.com/office/drawing/2014/main" id="{818EE649-25DE-46AF-B171-B8F41674800B}"/>
              </a:ext>
            </a:extLst>
          </p:cNvPr>
          <p:cNvSpPr/>
          <p:nvPr/>
        </p:nvSpPr>
        <p:spPr>
          <a:xfrm>
            <a:off x="457200" y="467360"/>
            <a:ext cx="3222439" cy="1828800"/>
          </a:xfrm>
          <a:prstGeom prst="rect">
            <a:avLst/>
          </a:prstGeom>
          <a:solidFill>
            <a:schemeClr val="tx1">
              <a:alpha val="74902"/>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63188E2-0C69-B86D-10B9-C5806E55F01E}"/>
              </a:ext>
            </a:extLst>
          </p:cNvPr>
          <p:cNvSpPr/>
          <p:nvPr/>
        </p:nvSpPr>
        <p:spPr>
          <a:xfrm>
            <a:off x="5570917" y="326833"/>
            <a:ext cx="3222439" cy="1828800"/>
          </a:xfrm>
          <a:prstGeom prst="rect">
            <a:avLst/>
          </a:prstGeom>
          <a:solidFill>
            <a:schemeClr val="tx1">
              <a:alpha val="74902"/>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673ED83E-25E5-10E7-0838-F9F8CF328C20}"/>
              </a:ext>
            </a:extLst>
          </p:cNvPr>
          <p:cNvCxnSpPr>
            <a:cxnSpLocks/>
          </p:cNvCxnSpPr>
          <p:nvPr/>
        </p:nvCxnSpPr>
        <p:spPr>
          <a:xfrm flipH="1" flipV="1">
            <a:off x="4741144" y="2010074"/>
            <a:ext cx="273968" cy="1028594"/>
          </a:xfrm>
          <a:prstGeom prst="straightConnector1">
            <a:avLst/>
          </a:prstGeom>
          <a:ln w="5715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D21DA214-D5B9-FCD3-2B14-C66B84ACA57A}"/>
              </a:ext>
            </a:extLst>
          </p:cNvPr>
          <p:cNvSpPr txBox="1"/>
          <p:nvPr/>
        </p:nvSpPr>
        <p:spPr>
          <a:xfrm>
            <a:off x="2387421" y="2065133"/>
            <a:ext cx="2079821" cy="1862048"/>
          </a:xfrm>
          <a:prstGeom prst="rect">
            <a:avLst/>
          </a:prstGeom>
          <a:noFill/>
        </p:spPr>
        <p:txBody>
          <a:bodyPr wrap="square">
            <a:spAutoFit/>
          </a:bodyPr>
          <a:lstStyle/>
          <a:p>
            <a:pPr algn="ctr"/>
            <a:r>
              <a:rPr lang="en-US" sz="11500">
                <a:solidFill>
                  <a:srgbClr val="000000"/>
                </a:solidFill>
                <a:latin typeface="Arial"/>
                <a:ea typeface="Segoe UI Emoji" panose="020B0502040204020203" pitchFamily="34" charset="0"/>
                <a:cs typeface="+mj-cs"/>
              </a:rPr>
              <a:t>👮</a:t>
            </a:r>
            <a:endParaRPr lang="en-US" sz="8800"/>
          </a:p>
        </p:txBody>
      </p:sp>
      <p:sp>
        <p:nvSpPr>
          <p:cNvPr id="41" name="Rectangle 40">
            <a:extLst>
              <a:ext uri="{FF2B5EF4-FFF2-40B4-BE49-F238E27FC236}">
                <a16:creationId xmlns:a16="http://schemas.microsoft.com/office/drawing/2014/main" id="{8920F026-006A-5476-BC11-134FCA59186C}"/>
              </a:ext>
            </a:extLst>
          </p:cNvPr>
          <p:cNvSpPr/>
          <p:nvPr/>
        </p:nvSpPr>
        <p:spPr>
          <a:xfrm>
            <a:off x="910960" y="3734677"/>
            <a:ext cx="5224130" cy="1311349"/>
          </a:xfrm>
          <a:prstGeom prst="rect">
            <a:avLst/>
          </a:prstGeom>
          <a:solidFill>
            <a:schemeClr val="accent2">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1214CF7B-BE27-2A64-7651-7BBA2CA12D92}"/>
              </a:ext>
            </a:extLst>
          </p:cNvPr>
          <p:cNvGrpSpPr/>
          <p:nvPr/>
        </p:nvGrpSpPr>
        <p:grpSpPr>
          <a:xfrm>
            <a:off x="-341375" y="144876"/>
            <a:ext cx="4589820" cy="477054"/>
            <a:chOff x="-341375" y="144876"/>
            <a:chExt cx="4589820" cy="477054"/>
          </a:xfrm>
        </p:grpSpPr>
        <p:cxnSp>
          <p:nvCxnSpPr>
            <p:cNvPr id="32" name="Straight Arrow Connector 31">
              <a:extLst>
                <a:ext uri="{FF2B5EF4-FFF2-40B4-BE49-F238E27FC236}">
                  <a16:creationId xmlns:a16="http://schemas.microsoft.com/office/drawing/2014/main" id="{581A8778-6532-3778-745C-CFE0AC76883F}"/>
                </a:ext>
              </a:extLst>
            </p:cNvPr>
            <p:cNvCxnSpPr>
              <a:cxnSpLocks/>
            </p:cNvCxnSpPr>
            <p:nvPr/>
          </p:nvCxnSpPr>
          <p:spPr>
            <a:xfrm>
              <a:off x="4248445" y="148903"/>
              <a:ext cx="0" cy="468232"/>
            </a:xfrm>
            <a:prstGeom prst="straightConnector1">
              <a:avLst/>
            </a:prstGeom>
            <a:ln w="38100">
              <a:solidFill>
                <a:srgbClr val="BFBFBF"/>
              </a:solidFill>
              <a:tailEnd type="triangle"/>
            </a:ln>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F0EC03C6-F1A1-D975-1D58-7C52BDEC9358}"/>
                </a:ext>
              </a:extLst>
            </p:cNvPr>
            <p:cNvSpPr txBox="1"/>
            <p:nvPr/>
          </p:nvSpPr>
          <p:spPr>
            <a:xfrm>
              <a:off x="-341375" y="144876"/>
              <a:ext cx="4510101" cy="477054"/>
            </a:xfrm>
            <a:prstGeom prst="rect">
              <a:avLst/>
            </a:prstGeom>
            <a:noFill/>
          </p:spPr>
          <p:txBody>
            <a:bodyPr wrap="square" rtlCol="0">
              <a:spAutoFit/>
            </a:bodyPr>
            <a:lstStyle/>
            <a:p>
              <a:pPr algn="r"/>
              <a:r>
                <a:rPr lang="en-US" sz="1400">
                  <a:solidFill>
                    <a:schemeClr val="bg1">
                      <a:lumMod val="85000"/>
                    </a:schemeClr>
                  </a:solidFill>
                </a:rPr>
                <a:t>is this </a:t>
              </a:r>
              <a:r>
                <a:rPr lang="en-US" sz="1400">
                  <a:solidFill>
                    <a:schemeClr val="bg1">
                      <a:lumMod val="85000"/>
                    </a:schemeClr>
                  </a:solidFill>
                  <a:latin typeface="Comic Sans MS" panose="030F0902030302020204" pitchFamily="66" charset="0"/>
                </a:rPr>
                <a:t>Hans</a:t>
              </a:r>
              <a:r>
                <a:rPr lang="en-US" sz="1400">
                  <a:solidFill>
                    <a:schemeClr val="bg1">
                      <a:lumMod val="85000"/>
                    </a:schemeClr>
                  </a:solidFill>
                </a:rPr>
                <a:t>?</a:t>
              </a:r>
            </a:p>
            <a:p>
              <a:pPr algn="r"/>
              <a:r>
                <a:rPr lang="en-US" sz="1100">
                  <a:solidFill>
                    <a:schemeClr val="bg1">
                      <a:lumMod val="75000"/>
                    </a:schemeClr>
                  </a:solidFill>
                  <a:latin typeface="+mj-lt"/>
                </a:rPr>
                <a:t>bucket.get(i).</a:t>
              </a:r>
              <a:r>
                <a:rPr lang="en-US" sz="1100" err="1">
                  <a:solidFill>
                    <a:schemeClr val="bg1">
                      <a:lumMod val="75000"/>
                    </a:schemeClr>
                  </a:solidFill>
                  <a:latin typeface="+mj-lt"/>
                </a:rPr>
                <a:t>key.equals</a:t>
              </a:r>
              <a:r>
                <a:rPr lang="en-US" sz="1100">
                  <a:solidFill>
                    <a:schemeClr val="bg1">
                      <a:lumMod val="75000"/>
                    </a:schemeClr>
                  </a:solidFill>
                  <a:latin typeface="+mj-lt"/>
                </a:rPr>
                <a:t>("Hans")?</a:t>
              </a:r>
            </a:p>
          </p:txBody>
        </p:sp>
      </p:grpSp>
      <p:cxnSp>
        <p:nvCxnSpPr>
          <p:cNvPr id="47" name="Straight Arrow Connector 46">
            <a:extLst>
              <a:ext uri="{FF2B5EF4-FFF2-40B4-BE49-F238E27FC236}">
                <a16:creationId xmlns:a16="http://schemas.microsoft.com/office/drawing/2014/main" id="{B530D85A-5EDD-02EB-8DF8-583C6CB11DEB}"/>
              </a:ext>
            </a:extLst>
          </p:cNvPr>
          <p:cNvCxnSpPr>
            <a:cxnSpLocks/>
          </p:cNvCxnSpPr>
          <p:nvPr/>
        </p:nvCxnSpPr>
        <p:spPr>
          <a:xfrm>
            <a:off x="4688615" y="147888"/>
            <a:ext cx="0" cy="468232"/>
          </a:xfrm>
          <a:prstGeom prst="straightConnector1">
            <a:avLst/>
          </a:prstGeom>
          <a:ln w="76200">
            <a:solidFill>
              <a:schemeClr val="accent4"/>
            </a:solidFill>
            <a:tailEnd type="triangle"/>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99883278-4100-C88B-1DCB-CB2D233AF69B}"/>
              </a:ext>
            </a:extLst>
          </p:cNvPr>
          <p:cNvSpPr txBox="1"/>
          <p:nvPr/>
        </p:nvSpPr>
        <p:spPr>
          <a:xfrm>
            <a:off x="4526848" y="1453227"/>
            <a:ext cx="401781"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chemeClr val="accent3"/>
                </a:solidFill>
                <a:effectLst/>
                <a:uLnTx/>
                <a:uFillTx/>
                <a:latin typeface="Consolas"/>
                <a:ea typeface="+mn-ea"/>
                <a:cs typeface="+mn-cs"/>
              </a:rPr>
              <a:t>2</a:t>
            </a:r>
          </a:p>
        </p:txBody>
      </p:sp>
      <p:grpSp>
        <p:nvGrpSpPr>
          <p:cNvPr id="50" name="Group 49">
            <a:extLst>
              <a:ext uri="{FF2B5EF4-FFF2-40B4-BE49-F238E27FC236}">
                <a16:creationId xmlns:a16="http://schemas.microsoft.com/office/drawing/2014/main" id="{3D8DF2E4-864E-0400-1DCB-B4BCFA52ECCE}"/>
              </a:ext>
            </a:extLst>
          </p:cNvPr>
          <p:cNvGrpSpPr/>
          <p:nvPr/>
        </p:nvGrpSpPr>
        <p:grpSpPr>
          <a:xfrm>
            <a:off x="3843844" y="656781"/>
            <a:ext cx="1205220" cy="1353057"/>
            <a:chOff x="3887634" y="645888"/>
            <a:chExt cx="1205220" cy="1353057"/>
          </a:xfrm>
        </p:grpSpPr>
        <p:sp>
          <p:nvSpPr>
            <p:cNvPr id="48" name="Rectangle 47">
              <a:extLst>
                <a:ext uri="{FF2B5EF4-FFF2-40B4-BE49-F238E27FC236}">
                  <a16:creationId xmlns:a16="http://schemas.microsoft.com/office/drawing/2014/main" id="{B030E24E-EF92-F10D-A8ED-6C87D9E90DB3}"/>
                </a:ext>
              </a:extLst>
            </p:cNvPr>
            <p:cNvSpPr/>
            <p:nvPr/>
          </p:nvSpPr>
          <p:spPr>
            <a:xfrm>
              <a:off x="3887634" y="998014"/>
              <a:ext cx="1205220" cy="1000931"/>
            </a:xfrm>
            <a:prstGeom prst="rect">
              <a:avLst/>
            </a:prstGeom>
            <a:solidFill>
              <a:schemeClr val="tx1">
                <a:alpha val="74902"/>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B1DACD1D-9C4D-D712-F952-12E427867464}"/>
                </a:ext>
              </a:extLst>
            </p:cNvPr>
            <p:cNvSpPr/>
            <p:nvPr/>
          </p:nvSpPr>
          <p:spPr>
            <a:xfrm>
              <a:off x="4063522" y="645888"/>
              <a:ext cx="512032" cy="354374"/>
            </a:xfrm>
            <a:prstGeom prst="rect">
              <a:avLst/>
            </a:prstGeom>
            <a:solidFill>
              <a:schemeClr val="tx1">
                <a:alpha val="74902"/>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sp>
        <p:nvSpPr>
          <p:cNvPr id="52" name="TextBox 51">
            <a:extLst>
              <a:ext uri="{FF2B5EF4-FFF2-40B4-BE49-F238E27FC236}">
                <a16:creationId xmlns:a16="http://schemas.microsoft.com/office/drawing/2014/main" id="{AA21AC9D-102B-9FA8-94C7-E9CEB9733CA6}"/>
              </a:ext>
            </a:extLst>
          </p:cNvPr>
          <p:cNvSpPr txBox="1"/>
          <p:nvPr/>
        </p:nvSpPr>
        <p:spPr>
          <a:xfrm>
            <a:off x="5040023" y="2144154"/>
            <a:ext cx="3996931" cy="507831"/>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US" sz="1600">
                <a:solidFill>
                  <a:schemeClr val="accent3"/>
                </a:solidFill>
              </a:rPr>
              <a:t>which </a:t>
            </a:r>
            <a:r>
              <a:rPr lang="en-US" sz="1600">
                <a:solidFill>
                  <a:schemeClr val="accent3"/>
                </a:solidFill>
                <a:latin typeface="+mj-lt"/>
              </a:rPr>
              <a:t>bucket</a:t>
            </a:r>
            <a:r>
              <a:rPr lang="en-US" sz="1600">
                <a:solidFill>
                  <a:schemeClr val="accent3"/>
                </a:solidFill>
              </a:rPr>
              <a:t> is </a:t>
            </a:r>
            <a:r>
              <a:rPr lang="en-US" sz="1600">
                <a:solidFill>
                  <a:schemeClr val="accent3"/>
                </a:solidFill>
                <a:latin typeface="Comic Sans MS" panose="030F0902030302020204" pitchFamily="66" charset="0"/>
              </a:rPr>
              <a:t>Hans</a:t>
            </a:r>
            <a:r>
              <a:rPr lang="en-US" sz="1600">
                <a:solidFill>
                  <a:schemeClr val="accent3"/>
                </a:solidFill>
              </a:rPr>
              <a:t> in?</a:t>
            </a:r>
          </a:p>
          <a:p>
            <a:pPr marL="0" marR="0" lvl="0" indent="0" defTabSz="457200" rtl="0" eaLnBrk="1" fontAlgn="auto" latinLnBrk="0" hangingPunct="1">
              <a:lnSpc>
                <a:spcPct val="100000"/>
              </a:lnSpc>
              <a:spcBef>
                <a:spcPts val="0"/>
              </a:spcBef>
              <a:spcAft>
                <a:spcPts val="0"/>
              </a:spcAft>
              <a:buClrTx/>
              <a:buSzTx/>
              <a:buFontTx/>
              <a:buNone/>
              <a:tabLst/>
              <a:defRPr/>
            </a:pPr>
            <a:r>
              <a:rPr lang="en-US" sz="1100" err="1">
                <a:solidFill>
                  <a:schemeClr val="accent3">
                    <a:lumMod val="75000"/>
                  </a:schemeClr>
                </a:solidFill>
                <a:latin typeface="+mj-lt"/>
              </a:rPr>
              <a:t>MODULO</a:t>
            </a:r>
            <a:r>
              <a:rPr lang="en-US" sz="1100">
                <a:solidFill>
                  <a:schemeClr val="accent3">
                    <a:lumMod val="75000"/>
                  </a:schemeClr>
                </a:solidFill>
                <a:latin typeface="+mj-lt"/>
              </a:rPr>
              <a:t>("Hans"</a:t>
            </a:r>
            <a:r>
              <a:rPr lang="en-US" sz="1100">
                <a:solidFill>
                  <a:schemeClr val="accent3">
                    <a:lumMod val="75000"/>
                  </a:schemeClr>
                </a:solidFill>
                <a:latin typeface="+mj-lt"/>
                <a:ea typeface="Segoe UI Emoji" panose="020B0502040204020203" pitchFamily="34" charset="0"/>
              </a:rPr>
              <a:t>.</a:t>
            </a:r>
            <a:r>
              <a:rPr lang="en-US" sz="1100" err="1">
                <a:solidFill>
                  <a:schemeClr val="accent3">
                    <a:lumMod val="75000"/>
                  </a:schemeClr>
                </a:solidFill>
                <a:latin typeface="+mj-lt"/>
                <a:ea typeface="Segoe UI Emoji" panose="020B0502040204020203" pitchFamily="34" charset="0"/>
              </a:rPr>
              <a:t>hashCode</a:t>
            </a:r>
            <a:r>
              <a:rPr lang="en-US" sz="1100">
                <a:solidFill>
                  <a:schemeClr val="accent3">
                    <a:lumMod val="75000"/>
                  </a:schemeClr>
                </a:solidFill>
                <a:latin typeface="+mj-lt"/>
                <a:ea typeface="Segoe UI Emoji" panose="020B0502040204020203" pitchFamily="34" charset="0"/>
              </a:rPr>
              <a:t>(), </a:t>
            </a:r>
            <a:r>
              <a:rPr lang="en-US" sz="1100" err="1">
                <a:solidFill>
                  <a:schemeClr val="accent3">
                    <a:lumMod val="75000"/>
                  </a:schemeClr>
                </a:solidFill>
                <a:latin typeface="+mj-lt"/>
                <a:ea typeface="Segoe UI Emoji" panose="020B0502040204020203" pitchFamily="34" charset="0"/>
              </a:rPr>
              <a:t>buckets.length</a:t>
            </a:r>
            <a:r>
              <a:rPr lang="en-US" sz="1100">
                <a:solidFill>
                  <a:schemeClr val="accent3">
                    <a:lumMod val="75000"/>
                  </a:schemeClr>
                </a:solidFill>
                <a:latin typeface="+mj-lt"/>
                <a:ea typeface="Segoe UI Emoji" panose="020B0502040204020203" pitchFamily="34" charset="0"/>
              </a:rPr>
              <a:t>)</a:t>
            </a:r>
            <a:endParaRPr kumimoji="0" lang="en-US" sz="1100" b="0" i="0" u="none" strike="noStrike" kern="1200" cap="none" spc="0" normalizeH="0" baseline="0" noProof="0">
              <a:ln>
                <a:noFill/>
              </a:ln>
              <a:solidFill>
                <a:schemeClr val="accent3">
                  <a:lumMod val="75000"/>
                </a:schemeClr>
              </a:solidFill>
              <a:effectLst/>
              <a:uLnTx/>
              <a:uFillTx/>
              <a:latin typeface="+mj-lt"/>
            </a:endParaRPr>
          </a:p>
        </p:txBody>
      </p:sp>
      <p:sp>
        <p:nvSpPr>
          <p:cNvPr id="5" name="TextBox 4">
            <a:extLst>
              <a:ext uri="{FF2B5EF4-FFF2-40B4-BE49-F238E27FC236}">
                <a16:creationId xmlns:a16="http://schemas.microsoft.com/office/drawing/2014/main" id="{A0AE0A91-03A9-EEB4-65B4-52AB8D02C76F}"/>
              </a:ext>
            </a:extLst>
          </p:cNvPr>
          <p:cNvSpPr txBox="1"/>
          <p:nvPr/>
        </p:nvSpPr>
        <p:spPr>
          <a:xfrm>
            <a:off x="4340479" y="636441"/>
            <a:ext cx="1139983"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 🦜</a:t>
            </a: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 name="TextBox 9">
            <a:extLst>
              <a:ext uri="{FF2B5EF4-FFF2-40B4-BE49-F238E27FC236}">
                <a16:creationId xmlns:a16="http://schemas.microsoft.com/office/drawing/2014/main" id="{1119052B-8C83-904E-F315-7C3B50A1FAD8}"/>
              </a:ext>
            </a:extLst>
          </p:cNvPr>
          <p:cNvSpPr txBox="1"/>
          <p:nvPr/>
        </p:nvSpPr>
        <p:spPr>
          <a:xfrm>
            <a:off x="4717110" y="79653"/>
            <a:ext cx="2925709" cy="261610"/>
          </a:xfrm>
          <a:prstGeom prst="rect">
            <a:avLst/>
          </a:prstGeom>
          <a:noFill/>
        </p:spPr>
        <p:txBody>
          <a:bodyPr wrap="square" rtlCol="0">
            <a:spAutoFit/>
          </a:bodyPr>
          <a:lstStyle/>
          <a:p>
            <a:r>
              <a:rPr lang="en-US" sz="1100">
                <a:solidFill>
                  <a:schemeClr val="accent4"/>
                </a:solidFill>
                <a:latin typeface="Arial" panose="020B0604020202020204" pitchFamily="34" charset="0"/>
                <a:ea typeface="Segoe UI Emoji" panose="020B0502040204020203" pitchFamily="34" charset="0"/>
                <a:cs typeface="Arial" panose="020B0604020202020204" pitchFamily="34" charset="0"/>
              </a:rPr>
              <a:t>✅</a:t>
            </a:r>
            <a:r>
              <a:rPr lang="en-US" sz="1100">
                <a:solidFill>
                  <a:schemeClr val="accent4"/>
                </a:solidFill>
                <a:latin typeface="+mj-lt"/>
              </a:rPr>
              <a:t> bucket.get(1).</a:t>
            </a:r>
            <a:r>
              <a:rPr lang="en-US" sz="1100" err="1">
                <a:solidFill>
                  <a:schemeClr val="accent4"/>
                </a:solidFill>
                <a:latin typeface="+mj-lt"/>
              </a:rPr>
              <a:t>key.equals</a:t>
            </a:r>
            <a:r>
              <a:rPr lang="en-US" sz="1100">
                <a:solidFill>
                  <a:schemeClr val="accent4"/>
                </a:solidFill>
                <a:latin typeface="+mj-lt"/>
              </a:rPr>
              <a:t>("Hans")</a:t>
            </a:r>
            <a:endParaRPr lang="en-US" sz="1100">
              <a:solidFill>
                <a:schemeClr val="accent4"/>
              </a:solidFill>
              <a:latin typeface="Arial" panose="020B0604020202020204" pitchFamily="34" charset="0"/>
              <a:ea typeface="Segoe UI Emoji" panose="020B0502040204020203" pitchFamily="34" charset="0"/>
              <a:cs typeface="Arial" panose="020B0604020202020204" pitchFamily="34" charset="0"/>
            </a:endParaRPr>
          </a:p>
        </p:txBody>
      </p:sp>
    </p:spTree>
    <p:extLst>
      <p:ext uri="{BB962C8B-B14F-4D97-AF65-F5344CB8AC3E}">
        <p14:creationId xmlns:p14="http://schemas.microsoft.com/office/powerpoint/2010/main" val="4064415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
                                        </p:tgtEl>
                                        <p:attrNameLst>
                                          <p:attrName>style.visibility</p:attrName>
                                        </p:attrNameLst>
                                      </p:cBhvr>
                                      <p:to>
                                        <p:strVal val="visible"/>
                                      </p:to>
                                    </p:set>
                                  </p:childTnLst>
                                </p:cTn>
                              </p:par>
                              <p:par>
                                <p:cTn id="9" presetID="10"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500"/>
                                        <p:tgtEl>
                                          <p:spTgt spid="15"/>
                                        </p:tgtEl>
                                      </p:cBhvr>
                                    </p:animEffect>
                                  </p:childTnLst>
                                </p:cTn>
                              </p:par>
                              <p:par>
                                <p:cTn id="15" presetID="17" presetClass="entr" presetSubtype="10" fill="hold" grpId="0" nodeType="withEffect">
                                  <p:stCondLst>
                                    <p:cond delay="0"/>
                                  </p:stCondLst>
                                  <p:childTnLst>
                                    <p:set>
                                      <p:cBhvr>
                                        <p:cTn id="16" dur="1" fill="hold">
                                          <p:stCondLst>
                                            <p:cond delay="0"/>
                                          </p:stCondLst>
                                        </p:cTn>
                                        <p:tgtEl>
                                          <p:spTgt spid="51"/>
                                        </p:tgtEl>
                                        <p:attrNameLst>
                                          <p:attrName>style.visibility</p:attrName>
                                        </p:attrNameLst>
                                      </p:cBhvr>
                                      <p:to>
                                        <p:strVal val="visible"/>
                                      </p:to>
                                    </p:set>
                                    <p:anim calcmode="lin" valueType="num">
                                      <p:cBhvr>
                                        <p:cTn id="17" dur="500" fill="hold"/>
                                        <p:tgtEl>
                                          <p:spTgt spid="51"/>
                                        </p:tgtEl>
                                        <p:attrNameLst>
                                          <p:attrName>ppt_w</p:attrName>
                                        </p:attrNameLst>
                                      </p:cBhvr>
                                      <p:tavLst>
                                        <p:tav tm="0">
                                          <p:val>
                                            <p:fltVal val="0"/>
                                          </p:val>
                                        </p:tav>
                                        <p:tav tm="100000">
                                          <p:val>
                                            <p:strVal val="#ppt_w"/>
                                          </p:val>
                                        </p:tav>
                                      </p:tavLst>
                                    </p:anim>
                                    <p:anim calcmode="lin" valueType="num">
                                      <p:cBhvr>
                                        <p:cTn id="18" dur="500" fill="hold"/>
                                        <p:tgtEl>
                                          <p:spTgt spid="51"/>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fade">
                                      <p:cBhvr>
                                        <p:cTn id="23" dur="500"/>
                                        <p:tgtEl>
                                          <p:spTgt spid="43"/>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path" presetSubtype="0" accel="50000" decel="50000" fill="hold" nodeType="clickEffect">
                                  <p:stCondLst>
                                    <p:cond delay="0"/>
                                  </p:stCondLst>
                                  <p:childTnLst>
                                    <p:animMotion origin="layout" path="M -1.66667E-6 -2.71605E-6 L 0.04757 -2.71605E-6 " pathEditMode="relative" rAng="0" ptsTypes="AA">
                                      <p:cBhvr>
                                        <p:cTn id="27" dur="500" fill="hold"/>
                                        <p:tgtEl>
                                          <p:spTgt spid="43"/>
                                        </p:tgtEl>
                                        <p:attrNameLst>
                                          <p:attrName>ppt_x</p:attrName>
                                          <p:attrName>ppt_y</p:attrName>
                                        </p:attrNameLst>
                                      </p:cBhvr>
                                      <p:rCtr x="2378" y="0"/>
                                    </p:animMotion>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nodeType="clickEffect">
                                  <p:stCondLst>
                                    <p:cond delay="0"/>
                                  </p:stCondLst>
                                  <p:childTnLst>
                                    <p:animEffect transition="out" filter="fade">
                                      <p:cBhvr>
                                        <p:cTn id="35" dur="500"/>
                                        <p:tgtEl>
                                          <p:spTgt spid="43"/>
                                        </p:tgtEl>
                                      </p:cBhvr>
                                    </p:animEffect>
                                    <p:set>
                                      <p:cBhvr>
                                        <p:cTn id="36" dur="1" fill="hold">
                                          <p:stCondLst>
                                            <p:cond delay="499"/>
                                          </p:stCondLst>
                                        </p:cTn>
                                        <p:tgtEl>
                                          <p:spTgt spid="43"/>
                                        </p:tgtEl>
                                        <p:attrNameLst>
                                          <p:attrName>style.visibility</p:attrName>
                                        </p:attrNameLst>
                                      </p:cBhvr>
                                      <p:to>
                                        <p:strVal val="hidden"/>
                                      </p:to>
                                    </p:set>
                                  </p:childTnLst>
                                </p:cTn>
                              </p:par>
                              <p:par>
                                <p:cTn id="37" presetID="53" presetClass="entr" presetSubtype="16" fill="hold" nodeType="withEffect">
                                  <p:stCondLst>
                                    <p:cond delay="0"/>
                                  </p:stCondLst>
                                  <p:childTnLst>
                                    <p:set>
                                      <p:cBhvr>
                                        <p:cTn id="38" dur="1" fill="hold">
                                          <p:stCondLst>
                                            <p:cond delay="0"/>
                                          </p:stCondLst>
                                        </p:cTn>
                                        <p:tgtEl>
                                          <p:spTgt spid="47"/>
                                        </p:tgtEl>
                                        <p:attrNameLst>
                                          <p:attrName>style.visibility</p:attrName>
                                        </p:attrNameLst>
                                      </p:cBhvr>
                                      <p:to>
                                        <p:strVal val="visible"/>
                                      </p:to>
                                    </p:set>
                                    <p:anim calcmode="lin" valueType="num">
                                      <p:cBhvr>
                                        <p:cTn id="39" dur="500" fill="hold"/>
                                        <p:tgtEl>
                                          <p:spTgt spid="47"/>
                                        </p:tgtEl>
                                        <p:attrNameLst>
                                          <p:attrName>ppt_w</p:attrName>
                                        </p:attrNameLst>
                                      </p:cBhvr>
                                      <p:tavLst>
                                        <p:tav tm="0">
                                          <p:val>
                                            <p:fltVal val="0"/>
                                          </p:val>
                                        </p:tav>
                                        <p:tav tm="100000">
                                          <p:val>
                                            <p:strVal val="#ppt_w"/>
                                          </p:val>
                                        </p:tav>
                                      </p:tavLst>
                                    </p:anim>
                                    <p:anim calcmode="lin" valueType="num">
                                      <p:cBhvr>
                                        <p:cTn id="40" dur="500" fill="hold"/>
                                        <p:tgtEl>
                                          <p:spTgt spid="47"/>
                                        </p:tgtEl>
                                        <p:attrNameLst>
                                          <p:attrName>ppt_h</p:attrName>
                                        </p:attrNameLst>
                                      </p:cBhvr>
                                      <p:tavLst>
                                        <p:tav tm="0">
                                          <p:val>
                                            <p:fltVal val="0"/>
                                          </p:val>
                                        </p:tav>
                                        <p:tav tm="100000">
                                          <p:val>
                                            <p:strVal val="#ppt_h"/>
                                          </p:val>
                                        </p:tav>
                                      </p:tavLst>
                                    </p:anim>
                                    <p:animEffect transition="in" filter="fade">
                                      <p:cBhvr>
                                        <p:cTn id="41" dur="500"/>
                                        <p:tgtEl>
                                          <p:spTgt spid="47"/>
                                        </p:tgtEl>
                                      </p:cBhvr>
                                    </p:animEffect>
                                  </p:childTnLst>
                                </p:cTn>
                              </p:par>
                              <p:par>
                                <p:cTn id="42" presetID="10" presetClass="entr" presetSubtype="0" fill="hold" nodeType="withEffect">
                                  <p:stCondLst>
                                    <p:cond delay="0"/>
                                  </p:stCondLst>
                                  <p:childTnLst>
                                    <p:set>
                                      <p:cBhvr>
                                        <p:cTn id="43" dur="1" fill="hold">
                                          <p:stCondLst>
                                            <p:cond delay="0"/>
                                          </p:stCondLst>
                                        </p:cTn>
                                        <p:tgtEl>
                                          <p:spTgt spid="50"/>
                                        </p:tgtEl>
                                        <p:attrNameLst>
                                          <p:attrName>style.visibility</p:attrName>
                                        </p:attrNameLst>
                                      </p:cBhvr>
                                      <p:to>
                                        <p:strVal val="visible"/>
                                      </p:to>
                                    </p:set>
                                    <p:animEffect transition="in" filter="fade">
                                      <p:cBhvr>
                                        <p:cTn id="44"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51" grpId="0"/>
      <p:bldP spid="52"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AE32-D24C-3B81-E8FA-5D065C9EA5F7}"/>
              </a:ext>
            </a:extLst>
          </p:cNvPr>
          <p:cNvSpPr>
            <a:spLocks noGrp="1"/>
          </p:cNvSpPr>
          <p:nvPr>
            <p:ph type="title"/>
          </p:nvPr>
        </p:nvSpPr>
        <p:spPr/>
        <p:txBody>
          <a:bodyPr/>
          <a:lstStyle/>
          <a:p>
            <a:pPr algn="r"/>
            <a:r>
              <a:rPr lang="en-US" sz="2800" b="1" err="1">
                <a:latin typeface="+mj-lt"/>
              </a:rPr>
              <a:t>int</a:t>
            </a:r>
            <a:r>
              <a:rPr lang="en-US" sz="2800" err="1">
                <a:latin typeface="+mj-lt"/>
              </a:rPr>
              <a:t>[] arrayOfInts;</a:t>
            </a:r>
            <a:br>
              <a:rPr lang="en-US" sz="2800" err="1">
                <a:latin typeface="+mj-lt"/>
              </a:rPr>
            </a:br>
            <a:r>
              <a:rPr lang="en-US" sz="2800" b="1" err="1">
                <a:latin typeface="+mj-lt"/>
              </a:rPr>
              <a:t>ArrayList</a:t>
            </a:r>
            <a:r>
              <a:rPr lang="en-US" sz="2800" b="1">
                <a:latin typeface="+mj-lt"/>
              </a:rPr>
              <a:t>&lt;KeyValuePair&gt;</a:t>
            </a:r>
            <a:r>
              <a:rPr lang="en-US" sz="2800">
                <a:latin typeface="+mj-lt"/>
              </a:rPr>
              <a:t>[] buckets;</a:t>
            </a:r>
            <a:endParaRPr lang="en-US" sz="2800"/>
          </a:p>
        </p:txBody>
      </p:sp>
    </p:spTree>
    <p:extLst>
      <p:ext uri="{BB962C8B-B14F-4D97-AF65-F5344CB8AC3E}">
        <p14:creationId xmlns:p14="http://schemas.microsoft.com/office/powerpoint/2010/main" val="374216215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A8EDA-621E-7585-814B-398E9FCBFA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E8F6E2-69B6-7FF9-3DDD-9115B0624AB8}"/>
              </a:ext>
            </a:extLst>
          </p:cNvPr>
          <p:cNvSpPr>
            <a:spLocks noGrp="1"/>
          </p:cNvSpPr>
          <p:nvPr>
            <p:ph type="title"/>
          </p:nvPr>
        </p:nvSpPr>
        <p:spPr/>
        <p:txBody>
          <a:bodyPr/>
          <a:lstStyle/>
          <a:p>
            <a:pPr algn="l"/>
            <a:r>
              <a:rPr lang="en-US" sz="3200">
                <a:solidFill>
                  <a:srgbClr val="007B00"/>
                </a:solidFill>
                <a:latin typeface="+mj-lt"/>
              </a:rPr>
              <a:t>//               Bucket[] buckets</a:t>
            </a:r>
            <a:br>
              <a:rPr lang="en-US" sz="3200">
                <a:solidFill>
                  <a:srgbClr val="007B00"/>
                </a:solidFill>
                <a:latin typeface="+mj-lt"/>
              </a:rPr>
            </a:br>
            <a:r>
              <a:rPr lang="en-US" sz="3200" err="1">
                <a:solidFill>
                  <a:srgbClr val="00007F"/>
                </a:solidFill>
                <a:latin typeface="+mj-lt"/>
              </a:rPr>
              <a:t>ArrayList</a:t>
            </a:r>
            <a:r>
              <a:rPr lang="en-US" sz="3200">
                <a:latin typeface="+mj-lt"/>
              </a:rPr>
              <a:t>&lt;</a:t>
            </a:r>
            <a:r>
              <a:rPr lang="en-US" sz="3200">
                <a:solidFill>
                  <a:srgbClr val="00007F"/>
                </a:solidFill>
                <a:latin typeface="+mj-lt"/>
              </a:rPr>
              <a:t>KeyValuePair</a:t>
            </a:r>
            <a:r>
              <a:rPr lang="en-US" sz="3200">
                <a:latin typeface="+mj-lt"/>
              </a:rPr>
              <a:t>&gt;[] buckets;</a:t>
            </a:r>
            <a:endParaRPr lang="en-US" sz="3200"/>
          </a:p>
        </p:txBody>
      </p:sp>
    </p:spTree>
    <p:extLst>
      <p:ext uri="{BB962C8B-B14F-4D97-AF65-F5344CB8AC3E}">
        <p14:creationId xmlns:p14="http://schemas.microsoft.com/office/powerpoint/2010/main" val="195790379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E9E1B-529C-802B-DE1A-7EA762F1354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C94D1BB-774C-9673-05C5-94E51B30089E}"/>
              </a:ext>
            </a:extLst>
          </p:cNvPr>
          <p:cNvSpPr>
            <a:spLocks noGrp="1"/>
          </p:cNvSpPr>
          <p:nvPr>
            <p:ph type="title"/>
          </p:nvPr>
        </p:nvSpPr>
        <p:spPr/>
        <p:txBody>
          <a:bodyPr>
            <a:noAutofit/>
          </a:bodyPr>
          <a:lstStyle/>
          <a:p>
            <a:r>
              <a:rPr lang="en-US" err="1">
                <a:solidFill>
                  <a:srgbClr val="00007F"/>
                </a:solidFill>
                <a:latin typeface="+mj-lt"/>
              </a:rPr>
              <a:t>ArrayList</a:t>
            </a:r>
            <a:r>
              <a:rPr lang="en-US">
                <a:latin typeface="+mj-lt"/>
              </a:rPr>
              <a:t>&lt;</a:t>
            </a:r>
            <a:r>
              <a:rPr lang="en-US">
                <a:solidFill>
                  <a:srgbClr val="00007F"/>
                </a:solidFill>
                <a:latin typeface="+mj-lt"/>
              </a:rPr>
              <a:t>KeyValuePair</a:t>
            </a:r>
            <a:r>
              <a:rPr lang="en-US">
                <a:latin typeface="+mj-lt"/>
              </a:rPr>
              <a:t>&gt;[] buckets;</a:t>
            </a:r>
            <a:endParaRPr lang="en-US"/>
          </a:p>
        </p:txBody>
      </p:sp>
      <p:sp>
        <p:nvSpPr>
          <p:cNvPr id="4" name="Content Placeholder 3">
            <a:extLst>
              <a:ext uri="{FF2B5EF4-FFF2-40B4-BE49-F238E27FC236}">
                <a16:creationId xmlns:a16="http://schemas.microsoft.com/office/drawing/2014/main" id="{C8DF11BF-B478-B966-137E-C81053E84DF4}"/>
              </a:ext>
            </a:extLst>
          </p:cNvPr>
          <p:cNvSpPr>
            <a:spLocks noGrp="1"/>
          </p:cNvSpPr>
          <p:nvPr>
            <p:ph sz="quarter" idx="10"/>
          </p:nvPr>
        </p:nvSpPr>
        <p:spPr/>
        <p:txBody>
          <a:bodyPr/>
          <a:lstStyle/>
          <a:p>
            <a:r>
              <a:rPr lang="en-US"/>
              <a:t>to </a:t>
            </a:r>
            <a:r>
              <a:rPr lang="en-US" b="1"/>
              <a:t>construct</a:t>
            </a:r>
            <a:r>
              <a:rPr lang="en-US"/>
              <a:t> the hash map</a:t>
            </a:r>
          </a:p>
          <a:p>
            <a:pPr lvl="1"/>
            <a:r>
              <a:rPr lang="en-US">
                <a:solidFill>
                  <a:srgbClr val="000000"/>
                </a:solidFill>
              </a:rPr>
              <a:t>create a new buckets array</a:t>
            </a:r>
          </a:p>
          <a:p>
            <a:pPr lvl="1"/>
            <a:r>
              <a:rPr lang="en-US">
                <a:solidFill>
                  <a:srgbClr val="000000"/>
                </a:solidFill>
              </a:rPr>
              <a:t>iterate through the array and create a new (empty) bucket in each slot </a:t>
            </a:r>
          </a:p>
        </p:txBody>
      </p:sp>
    </p:spTree>
    <p:extLst>
      <p:ext uri="{BB962C8B-B14F-4D97-AF65-F5344CB8AC3E}">
        <p14:creationId xmlns:p14="http://schemas.microsoft.com/office/powerpoint/2010/main" val="16470793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12D76-FB1E-C399-E3E2-FC9E8F8C157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0C951A7-056F-E7D8-EE9E-A3A986AC89F6}"/>
              </a:ext>
            </a:extLst>
          </p:cNvPr>
          <p:cNvSpPr>
            <a:spLocks noGrp="1"/>
          </p:cNvSpPr>
          <p:nvPr>
            <p:ph type="title"/>
          </p:nvPr>
        </p:nvSpPr>
        <p:spPr/>
        <p:txBody>
          <a:bodyPr>
            <a:noAutofit/>
          </a:bodyPr>
          <a:lstStyle/>
          <a:p>
            <a:r>
              <a:rPr lang="en-US" err="1">
                <a:solidFill>
                  <a:srgbClr val="00007F"/>
                </a:solidFill>
                <a:latin typeface="+mj-lt"/>
              </a:rPr>
              <a:t>ArrayList</a:t>
            </a:r>
            <a:r>
              <a:rPr lang="en-US">
                <a:latin typeface="+mj-lt"/>
              </a:rPr>
              <a:t>&lt;</a:t>
            </a:r>
            <a:r>
              <a:rPr lang="en-US">
                <a:solidFill>
                  <a:srgbClr val="00007F"/>
                </a:solidFill>
                <a:latin typeface="+mj-lt"/>
              </a:rPr>
              <a:t>KeyValuePair</a:t>
            </a:r>
            <a:r>
              <a:rPr lang="en-US">
                <a:latin typeface="+mj-lt"/>
              </a:rPr>
              <a:t>&gt;[] buckets;</a:t>
            </a:r>
            <a:endParaRPr lang="en-US" dirty="0"/>
          </a:p>
        </p:txBody>
      </p:sp>
      <p:sp>
        <p:nvSpPr>
          <p:cNvPr id="4" name="Content Placeholder 3">
            <a:extLst>
              <a:ext uri="{FF2B5EF4-FFF2-40B4-BE49-F238E27FC236}">
                <a16:creationId xmlns:a16="http://schemas.microsoft.com/office/drawing/2014/main" id="{38D76651-A866-50D8-E000-1166FBF64781}"/>
              </a:ext>
            </a:extLst>
          </p:cNvPr>
          <p:cNvSpPr>
            <a:spLocks noGrp="1"/>
          </p:cNvSpPr>
          <p:nvPr>
            <p:ph sz="quarter" idx="10"/>
          </p:nvPr>
        </p:nvSpPr>
        <p:spPr/>
        <p:txBody>
          <a:bodyPr>
            <a:normAutofit/>
          </a:bodyPr>
          <a:lstStyle/>
          <a:p>
            <a:r>
              <a:rPr lang="en-US" sz="1600"/>
              <a:t>to </a:t>
            </a:r>
            <a:r>
              <a:rPr lang="en-US" sz="1600" b="1"/>
              <a:t>put</a:t>
            </a:r>
            <a:r>
              <a:rPr lang="en-US" sz="1600"/>
              <a:t> a key-value pair into the hash map (or update an existing key's value)</a:t>
            </a:r>
          </a:p>
          <a:p>
            <a:pPr lvl="1"/>
            <a:r>
              <a:rPr lang="en-US" sz="1600">
                <a:solidFill>
                  <a:srgbClr val="007B00"/>
                </a:solidFill>
                <a:latin typeface="+mj-lt"/>
              </a:rPr>
              <a:t>// hash key to get bucket index</a:t>
            </a:r>
            <a:br>
              <a:rPr lang="en-US" sz="1600">
                <a:solidFill>
                  <a:srgbClr val="007B00"/>
                </a:solidFill>
                <a:latin typeface="+mj-lt"/>
              </a:rPr>
            </a:br>
            <a:r>
              <a:rPr lang="en-US" sz="1600">
                <a:solidFill>
                  <a:srgbClr val="007B00"/>
                </a:solidFill>
                <a:latin typeface="+mj-lt"/>
              </a:rPr>
              <a:t>// </a:t>
            </a:r>
            <a:r>
              <a:rPr lang="en-US" sz="1600" b="1">
                <a:solidFill>
                  <a:srgbClr val="007B00"/>
                </a:solidFill>
                <a:latin typeface="+mj-lt"/>
              </a:rPr>
              <a:t>NOTE: </a:t>
            </a:r>
            <a:r>
              <a:rPr lang="en-US" sz="1600" err="1">
                <a:solidFill>
                  <a:srgbClr val="007B00"/>
                </a:solidFill>
                <a:latin typeface="+mj-lt"/>
              </a:rPr>
              <a:t>hashCode</a:t>
            </a:r>
            <a:r>
              <a:rPr lang="en-US" sz="1600">
                <a:solidFill>
                  <a:srgbClr val="007B00"/>
                </a:solidFill>
                <a:latin typeface="+mj-lt"/>
              </a:rPr>
              <a:t>() can be negative, so use MODULO</a:t>
            </a:r>
            <a:br>
              <a:rPr lang="en-US" sz="1600" err="1">
                <a:solidFill>
                  <a:srgbClr val="000000"/>
                </a:solidFill>
                <a:latin typeface="+mj-lt"/>
              </a:rPr>
            </a:br>
            <a:r>
              <a:rPr lang="en-US" sz="1600" err="1">
                <a:solidFill>
                  <a:srgbClr val="000000"/>
                </a:solidFill>
                <a:latin typeface="+mj-lt"/>
              </a:rPr>
              <a:t>bucketIndex</a:t>
            </a:r>
            <a:r>
              <a:rPr lang="en-US" sz="1600">
                <a:solidFill>
                  <a:srgbClr val="000000"/>
                </a:solidFill>
                <a:latin typeface="+mj-lt"/>
              </a:rPr>
              <a:t> = </a:t>
            </a:r>
            <a:r>
              <a:rPr lang="en-US" sz="1600" err="1">
                <a:solidFill>
                  <a:srgbClr val="00007F"/>
                </a:solidFill>
                <a:latin typeface="+mj-lt"/>
              </a:rPr>
              <a:t>MODULO</a:t>
            </a:r>
            <a:r>
              <a:rPr lang="en-US" sz="1600">
                <a:solidFill>
                  <a:srgbClr val="000000"/>
                </a:solidFill>
                <a:latin typeface="+mj-lt"/>
              </a:rPr>
              <a:t>(</a:t>
            </a:r>
            <a:r>
              <a:rPr lang="en-US" sz="1600" err="1">
                <a:solidFill>
                  <a:srgbClr val="000000"/>
                </a:solidFill>
                <a:latin typeface="+mj-lt"/>
              </a:rPr>
              <a:t>key.hashCode()</a:t>
            </a:r>
            <a:r>
              <a:rPr lang="en-US" sz="1600">
                <a:solidFill>
                  <a:srgbClr val="000000"/>
                </a:solidFill>
                <a:latin typeface="+mj-lt"/>
              </a:rPr>
              <a:t>, </a:t>
            </a:r>
            <a:r>
              <a:rPr lang="en-US" sz="1600" err="1">
                <a:solidFill>
                  <a:srgbClr val="000000"/>
                </a:solidFill>
                <a:latin typeface="+mj-lt"/>
              </a:rPr>
              <a:t>buckets.length</a:t>
            </a:r>
            <a:r>
              <a:rPr lang="en-US" sz="1600">
                <a:solidFill>
                  <a:srgbClr val="000000"/>
                </a:solidFill>
                <a:latin typeface="+mj-lt"/>
              </a:rPr>
              <a:t>)</a:t>
            </a:r>
          </a:p>
          <a:p>
            <a:pPr lvl="1"/>
            <a:endParaRPr lang="en-US" sz="1600">
              <a:solidFill>
                <a:srgbClr val="007B00"/>
              </a:solidFill>
              <a:latin typeface="+mj-lt"/>
            </a:endParaRPr>
          </a:p>
          <a:p>
            <a:pPr lvl="1"/>
            <a:r>
              <a:rPr lang="en-US" sz="1600">
                <a:solidFill>
                  <a:srgbClr val="007B00"/>
                </a:solidFill>
                <a:latin typeface="+mj-lt"/>
              </a:rPr>
              <a:t>// if key in the map, update corresponding value</a:t>
            </a:r>
            <a:endParaRPr lang="en-US" sz="1600">
              <a:solidFill>
                <a:srgbClr val="000000"/>
              </a:solidFill>
              <a:latin typeface="+mj-lt"/>
            </a:endParaRPr>
          </a:p>
          <a:p>
            <a:pPr lvl="1"/>
            <a:r>
              <a:rPr lang="en-US" sz="1600">
                <a:solidFill>
                  <a:srgbClr val="000000"/>
                </a:solidFill>
              </a:rPr>
              <a:t>iterate through that bucket</a:t>
            </a:r>
          </a:p>
          <a:p>
            <a:pPr lvl="2"/>
            <a:r>
              <a:rPr lang="en-US" sz="1600" b="1">
                <a:solidFill>
                  <a:srgbClr val="000000"/>
                </a:solidFill>
              </a:rPr>
              <a:t>if</a:t>
            </a:r>
            <a:r>
              <a:rPr lang="en-US" sz="1600">
                <a:solidFill>
                  <a:srgbClr val="000000"/>
                </a:solidFill>
              </a:rPr>
              <a:t> you find a key-value pair with matching key...</a:t>
            </a:r>
          </a:p>
          <a:p>
            <a:pPr lvl="3"/>
            <a:r>
              <a:rPr lang="en-US" sz="1600">
                <a:solidFill>
                  <a:srgbClr val="000000"/>
                </a:solidFill>
              </a:rPr>
              <a:t>update its value </a:t>
            </a:r>
          </a:p>
          <a:p>
            <a:pPr lvl="3"/>
            <a:r>
              <a:rPr lang="en-US" sz="1600">
                <a:solidFill>
                  <a:srgbClr val="0000FF"/>
                </a:solidFill>
                <a:latin typeface="+mj-lt"/>
              </a:rPr>
              <a:t>return</a:t>
            </a:r>
            <a:r>
              <a:rPr lang="en-US" sz="1600">
                <a:latin typeface="+mj-lt"/>
              </a:rPr>
              <a:t>;</a:t>
            </a:r>
          </a:p>
          <a:p>
            <a:pPr lvl="1"/>
            <a:endParaRPr lang="en-US" sz="1600">
              <a:solidFill>
                <a:srgbClr val="007B00"/>
              </a:solidFill>
              <a:latin typeface="+mj-lt"/>
            </a:endParaRPr>
          </a:p>
          <a:p>
            <a:pPr lvl="1"/>
            <a:r>
              <a:rPr lang="en-US" sz="1600">
                <a:solidFill>
                  <a:srgbClr val="007B00"/>
                </a:solidFill>
                <a:latin typeface="+mj-lt"/>
              </a:rPr>
              <a:t>// otherwise, add key-value pair to map</a:t>
            </a:r>
            <a:endParaRPr lang="en-US" sz="1600" b="1">
              <a:solidFill>
                <a:srgbClr val="000000"/>
              </a:solidFill>
            </a:endParaRPr>
          </a:p>
          <a:p>
            <a:pPr lvl="1"/>
            <a:r>
              <a:rPr lang="en-US" sz="1600" b="1">
                <a:solidFill>
                  <a:srgbClr val="000000"/>
                </a:solidFill>
              </a:rPr>
              <a:t>if</a:t>
            </a:r>
            <a:r>
              <a:rPr lang="en-US" sz="1600">
                <a:solidFill>
                  <a:srgbClr val="000000"/>
                </a:solidFill>
              </a:rPr>
              <a:t> you did NOT find any key-value pair with matching key</a:t>
            </a:r>
          </a:p>
          <a:p>
            <a:pPr lvl="2"/>
            <a:r>
              <a:rPr lang="en-US" sz="1600">
                <a:solidFill>
                  <a:srgbClr val="000000"/>
                </a:solidFill>
              </a:rPr>
              <a:t>add the key-value pair to the bucket</a:t>
            </a:r>
          </a:p>
        </p:txBody>
      </p:sp>
    </p:spTree>
    <p:extLst>
      <p:ext uri="{BB962C8B-B14F-4D97-AF65-F5344CB8AC3E}">
        <p14:creationId xmlns:p14="http://schemas.microsoft.com/office/powerpoint/2010/main" val="274909068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69219-D9E1-822E-6BF1-C7D83216473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C80206F-A774-E841-4122-D2EE7F2234A0}"/>
              </a:ext>
            </a:extLst>
          </p:cNvPr>
          <p:cNvSpPr>
            <a:spLocks noGrp="1"/>
          </p:cNvSpPr>
          <p:nvPr>
            <p:ph type="title"/>
          </p:nvPr>
        </p:nvSpPr>
        <p:spPr/>
        <p:txBody>
          <a:bodyPr>
            <a:noAutofit/>
          </a:bodyPr>
          <a:lstStyle/>
          <a:p>
            <a:r>
              <a:rPr lang="en-US" err="1">
                <a:solidFill>
                  <a:srgbClr val="00007F"/>
                </a:solidFill>
                <a:latin typeface="+mj-lt"/>
              </a:rPr>
              <a:t>ArrayList</a:t>
            </a:r>
            <a:r>
              <a:rPr lang="en-US">
                <a:latin typeface="+mj-lt"/>
              </a:rPr>
              <a:t>&lt;</a:t>
            </a:r>
            <a:r>
              <a:rPr lang="en-US">
                <a:solidFill>
                  <a:srgbClr val="00007F"/>
                </a:solidFill>
                <a:latin typeface="+mj-lt"/>
              </a:rPr>
              <a:t>KeyValuePair</a:t>
            </a:r>
            <a:r>
              <a:rPr lang="en-US">
                <a:latin typeface="+mj-lt"/>
              </a:rPr>
              <a:t>&gt;[] buckets;</a:t>
            </a:r>
            <a:endParaRPr lang="en-US"/>
          </a:p>
        </p:txBody>
      </p:sp>
      <p:sp>
        <p:nvSpPr>
          <p:cNvPr id="4" name="Content Placeholder 3">
            <a:extLst>
              <a:ext uri="{FF2B5EF4-FFF2-40B4-BE49-F238E27FC236}">
                <a16:creationId xmlns:a16="http://schemas.microsoft.com/office/drawing/2014/main" id="{06E89C57-B262-7685-F738-6CDF548F3DA7}"/>
              </a:ext>
            </a:extLst>
          </p:cNvPr>
          <p:cNvSpPr>
            <a:spLocks noGrp="1"/>
          </p:cNvSpPr>
          <p:nvPr>
            <p:ph sz="quarter" idx="10"/>
          </p:nvPr>
        </p:nvSpPr>
        <p:spPr/>
        <p:txBody>
          <a:bodyPr/>
          <a:lstStyle/>
          <a:p>
            <a:r>
              <a:rPr lang="en-US"/>
              <a:t>to </a:t>
            </a:r>
            <a:r>
              <a:rPr lang="en-US" b="1"/>
              <a:t>get</a:t>
            </a:r>
            <a:r>
              <a:rPr lang="en-US"/>
              <a:t> a key's value from the hash map</a:t>
            </a:r>
            <a:endParaRPr lang="en-US" err="1">
              <a:solidFill>
                <a:srgbClr val="000000"/>
              </a:solidFill>
              <a:latin typeface="Consolas"/>
            </a:endParaRPr>
          </a:p>
          <a:p>
            <a:pPr lvl="1">
              <a:buClr>
                <a:srgbClr val="FFFFFF">
                  <a:lumMod val="65000"/>
                </a:srgbClr>
              </a:buClr>
            </a:pPr>
            <a:r>
              <a:rPr lang="en-US" sz="1800">
                <a:solidFill>
                  <a:srgbClr val="007B00"/>
                </a:solidFill>
                <a:latin typeface="+mj-lt"/>
              </a:rPr>
              <a:t>// hash key to get bucket index</a:t>
            </a:r>
            <a:br>
              <a:rPr lang="en-US" err="1">
                <a:solidFill>
                  <a:srgbClr val="000000"/>
                </a:solidFill>
                <a:latin typeface="Consolas"/>
              </a:rPr>
            </a:br>
            <a:r>
              <a:rPr lang="en-US" err="1">
                <a:solidFill>
                  <a:srgbClr val="000000"/>
                </a:solidFill>
                <a:latin typeface="Consolas"/>
              </a:rPr>
              <a:t>bucketIndex</a:t>
            </a:r>
            <a:r>
              <a:rPr lang="en-US">
                <a:solidFill>
                  <a:srgbClr val="000000"/>
                </a:solidFill>
                <a:latin typeface="Consolas"/>
              </a:rPr>
              <a:t> = </a:t>
            </a:r>
            <a:r>
              <a:rPr lang="en-US" err="1">
                <a:solidFill>
                  <a:srgbClr val="00007F"/>
                </a:solidFill>
                <a:latin typeface="Consolas"/>
              </a:rPr>
              <a:t>MODULO</a:t>
            </a:r>
            <a:r>
              <a:rPr lang="en-US">
                <a:solidFill>
                  <a:srgbClr val="000000"/>
                </a:solidFill>
                <a:latin typeface="Consolas"/>
              </a:rPr>
              <a:t>(</a:t>
            </a:r>
            <a:r>
              <a:rPr lang="en-US" err="1">
                <a:solidFill>
                  <a:srgbClr val="000000"/>
                </a:solidFill>
                <a:latin typeface="Consolas"/>
              </a:rPr>
              <a:t>key.hashCode()</a:t>
            </a:r>
            <a:r>
              <a:rPr lang="en-US">
                <a:solidFill>
                  <a:srgbClr val="000000"/>
                </a:solidFill>
                <a:latin typeface="Consolas"/>
              </a:rPr>
              <a:t>, </a:t>
            </a:r>
            <a:r>
              <a:rPr lang="en-US" err="1">
                <a:solidFill>
                  <a:srgbClr val="000000"/>
                </a:solidFill>
                <a:latin typeface="Consolas"/>
              </a:rPr>
              <a:t>buckets.length</a:t>
            </a:r>
            <a:r>
              <a:rPr lang="en-US">
                <a:solidFill>
                  <a:srgbClr val="000000"/>
                </a:solidFill>
                <a:latin typeface="Consolas"/>
              </a:rPr>
              <a:t>)</a:t>
            </a:r>
          </a:p>
          <a:p>
            <a:pPr lvl="1"/>
            <a:endParaRPr lang="en-US">
              <a:solidFill>
                <a:srgbClr val="000000"/>
              </a:solidFill>
            </a:endParaRPr>
          </a:p>
          <a:p>
            <a:pPr lvl="1"/>
            <a:r>
              <a:rPr lang="en-US">
                <a:solidFill>
                  <a:srgbClr val="007B00"/>
                </a:solidFill>
                <a:latin typeface="Consolas"/>
              </a:rPr>
              <a:t>// if key in the map, return corresponding value</a:t>
            </a:r>
            <a:endParaRPr lang="en-US">
              <a:solidFill>
                <a:srgbClr val="000000"/>
              </a:solidFill>
            </a:endParaRPr>
          </a:p>
          <a:p>
            <a:pPr lvl="1"/>
            <a:r>
              <a:rPr lang="en-US">
                <a:solidFill>
                  <a:srgbClr val="000000"/>
                </a:solidFill>
              </a:rPr>
              <a:t>iterate through that bucket</a:t>
            </a:r>
          </a:p>
          <a:p>
            <a:pPr lvl="2"/>
            <a:r>
              <a:rPr lang="en-US" b="1">
                <a:solidFill>
                  <a:srgbClr val="000000"/>
                </a:solidFill>
              </a:rPr>
              <a:t>if</a:t>
            </a:r>
            <a:r>
              <a:rPr lang="en-US">
                <a:solidFill>
                  <a:srgbClr val="000000"/>
                </a:solidFill>
              </a:rPr>
              <a:t> you find a key-value pair with matching key...</a:t>
            </a:r>
          </a:p>
          <a:p>
            <a:pPr lvl="3"/>
            <a:r>
              <a:rPr lang="en-US">
                <a:solidFill>
                  <a:srgbClr val="0000FF"/>
                </a:solidFill>
                <a:latin typeface="+mj-lt"/>
              </a:rPr>
              <a:t>return</a:t>
            </a:r>
            <a:r>
              <a:rPr lang="en-US">
                <a:solidFill>
                  <a:srgbClr val="000000"/>
                </a:solidFill>
              </a:rPr>
              <a:t> its value</a:t>
            </a:r>
          </a:p>
          <a:p>
            <a:pPr lvl="1"/>
            <a:endParaRPr lang="en-US" b="1">
              <a:solidFill>
                <a:srgbClr val="000000"/>
              </a:solidFill>
            </a:endParaRPr>
          </a:p>
          <a:p>
            <a:pPr lvl="1"/>
            <a:r>
              <a:rPr lang="en-US">
                <a:solidFill>
                  <a:srgbClr val="007B00"/>
                </a:solidFill>
                <a:latin typeface="Consolas"/>
              </a:rPr>
              <a:t>// otherwise, return null</a:t>
            </a:r>
            <a:endParaRPr lang="en-US" b="1">
              <a:solidFill>
                <a:srgbClr val="000000"/>
              </a:solidFill>
            </a:endParaRPr>
          </a:p>
          <a:p>
            <a:pPr lvl="1"/>
            <a:r>
              <a:rPr lang="en-US" b="1">
                <a:solidFill>
                  <a:srgbClr val="000000"/>
                </a:solidFill>
              </a:rPr>
              <a:t>if</a:t>
            </a:r>
            <a:r>
              <a:rPr lang="en-US">
                <a:solidFill>
                  <a:srgbClr val="000000"/>
                </a:solidFill>
              </a:rPr>
              <a:t> you did NOT find any key-value pair with matching key</a:t>
            </a:r>
          </a:p>
          <a:p>
            <a:pPr lvl="2"/>
            <a:r>
              <a:rPr lang="en-US">
                <a:solidFill>
                  <a:srgbClr val="0000FF"/>
                </a:solidFill>
                <a:latin typeface="+mj-lt"/>
              </a:rPr>
              <a:t>return null</a:t>
            </a:r>
            <a:r>
              <a:rPr lang="en-US">
                <a:solidFill>
                  <a:srgbClr val="000000"/>
                </a:solidFill>
                <a:latin typeface="+mj-lt"/>
              </a:rPr>
              <a:t>;</a:t>
            </a:r>
          </a:p>
        </p:txBody>
      </p:sp>
    </p:spTree>
    <p:extLst>
      <p:ext uri="{BB962C8B-B14F-4D97-AF65-F5344CB8AC3E}">
        <p14:creationId xmlns:p14="http://schemas.microsoft.com/office/powerpoint/2010/main" val="283210622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999BD-7FEB-D434-71CA-DD42A4812D85}"/>
              </a:ext>
            </a:extLst>
          </p:cNvPr>
          <p:cNvSpPr>
            <a:spLocks noGrp="1"/>
          </p:cNvSpPr>
          <p:nvPr>
            <p:ph type="title"/>
          </p:nvPr>
        </p:nvSpPr>
        <p:spPr/>
        <p:txBody>
          <a:bodyPr/>
          <a:lstStyle/>
          <a:p>
            <a:r>
              <a:rPr lang="en-US"/>
              <a:t>hash map questions</a:t>
            </a:r>
          </a:p>
        </p:txBody>
      </p:sp>
    </p:spTree>
    <p:extLst>
      <p:ext uri="{BB962C8B-B14F-4D97-AF65-F5344CB8AC3E}">
        <p14:creationId xmlns:p14="http://schemas.microsoft.com/office/powerpoint/2010/main" val="113475375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7C4CEF-BAA6-CA50-0C6B-12E28B8095BF}"/>
              </a:ext>
            </a:extLst>
          </p:cNvPr>
          <p:cNvSpPr>
            <a:spLocks noGrp="1"/>
          </p:cNvSpPr>
          <p:nvPr>
            <p:ph type="title"/>
          </p:nvPr>
        </p:nvSpPr>
        <p:spPr/>
        <p:txBody>
          <a:bodyPr/>
          <a:lstStyle/>
          <a:p>
            <a:r>
              <a:rPr lang="en-US" sz="4000"/>
              <a:t>how big should we make the array?</a:t>
            </a:r>
          </a:p>
        </p:txBody>
      </p:sp>
    </p:spTree>
    <p:extLst>
      <p:ext uri="{BB962C8B-B14F-4D97-AF65-F5344CB8AC3E}">
        <p14:creationId xmlns:p14="http://schemas.microsoft.com/office/powerpoint/2010/main" val="210373412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8855B-36C5-4D7B-3441-46BB2606870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50FE223-CA40-5125-0FE5-59C63F52807E}"/>
              </a:ext>
            </a:extLst>
          </p:cNvPr>
          <p:cNvSpPr>
            <a:spLocks noGrp="1"/>
          </p:cNvSpPr>
          <p:nvPr>
            <p:ph type="title"/>
          </p:nvPr>
        </p:nvSpPr>
        <p:spPr/>
        <p:txBody>
          <a:bodyPr/>
          <a:lstStyle/>
          <a:p>
            <a:r>
              <a:rPr lang="en-US" sz="2800"/>
              <a:t>why would need to resize (grow) a hash map?</a:t>
            </a:r>
            <a:br>
              <a:rPr lang="en-US" sz="3200"/>
            </a:br>
            <a:r>
              <a:rPr lang="en-US" sz="3200"/>
              <a:t>how do we resize a hash map?</a:t>
            </a:r>
            <a:br>
              <a:rPr lang="en-US" sz="3200"/>
            </a:br>
            <a:r>
              <a:rPr lang="en-US" sz="3200"/>
              <a:t>why might this be slow?</a:t>
            </a:r>
          </a:p>
        </p:txBody>
      </p:sp>
    </p:spTree>
    <p:extLst>
      <p:ext uri="{BB962C8B-B14F-4D97-AF65-F5344CB8AC3E}">
        <p14:creationId xmlns:p14="http://schemas.microsoft.com/office/powerpoint/2010/main" val="285796583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41AC2-CDC8-56FC-F92D-D2625E9C34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4F39EE7-6CE4-5261-C010-11797FE76A67}"/>
              </a:ext>
            </a:extLst>
          </p:cNvPr>
          <p:cNvSpPr>
            <a:spLocks noGrp="1"/>
          </p:cNvSpPr>
          <p:nvPr>
            <p:ph type="title"/>
          </p:nvPr>
        </p:nvSpPr>
        <p:spPr>
          <a:xfrm>
            <a:off x="457200" y="254916"/>
            <a:ext cx="8229600" cy="1893924"/>
          </a:xfrm>
        </p:spPr>
        <p:txBody>
          <a:bodyPr/>
          <a:lstStyle/>
          <a:p>
            <a:r>
              <a:rPr lang="en-US" sz="8800"/>
              <a:t>Week07c</a:t>
            </a:r>
          </a:p>
        </p:txBody>
      </p:sp>
      <p:sp>
        <p:nvSpPr>
          <p:cNvPr id="6" name="Content Placeholder 5">
            <a:extLst>
              <a:ext uri="{FF2B5EF4-FFF2-40B4-BE49-F238E27FC236}">
                <a16:creationId xmlns:a16="http://schemas.microsoft.com/office/drawing/2014/main" id="{ED7EBE94-F46E-2253-1973-FBB773B81CF4}"/>
              </a:ext>
            </a:extLst>
          </p:cNvPr>
          <p:cNvSpPr>
            <a:spLocks noGrp="1"/>
          </p:cNvSpPr>
          <p:nvPr>
            <p:ph sz="quarter" idx="10"/>
          </p:nvPr>
        </p:nvSpPr>
        <p:spPr>
          <a:xfrm>
            <a:off x="457200" y="1819230"/>
            <a:ext cx="8229600" cy="2894013"/>
          </a:xfrm>
        </p:spPr>
        <p:txBody>
          <a:bodyPr>
            <a:noAutofit/>
          </a:bodyPr>
          <a:lstStyle/>
          <a:p>
            <a:r>
              <a:rPr lang="en-US" sz="2400"/>
              <a:t>hash map runtime review</a:t>
            </a:r>
          </a:p>
          <a:p>
            <a:r>
              <a:rPr lang="en-US" sz="2400"/>
              <a:t>hash map with separate chaining </a:t>
            </a:r>
            <a:r>
              <a:rPr lang="en-US" sz="2400" b="1"/>
              <a:t>tutorial</a:t>
            </a:r>
          </a:p>
        </p:txBody>
      </p:sp>
      <p:sp>
        <p:nvSpPr>
          <p:cNvPr id="13" name="TextBox 12">
            <a:extLst>
              <a:ext uri="{FF2B5EF4-FFF2-40B4-BE49-F238E27FC236}">
                <a16:creationId xmlns:a16="http://schemas.microsoft.com/office/drawing/2014/main" id="{AAC1FE06-B6E2-E0BD-EE4D-524A520F61CC}"/>
              </a:ext>
            </a:extLst>
          </p:cNvPr>
          <p:cNvSpPr txBox="1"/>
          <p:nvPr/>
        </p:nvSpPr>
        <p:spPr>
          <a:xfrm>
            <a:off x="497411" y="158199"/>
            <a:ext cx="4368304" cy="461665"/>
          </a:xfrm>
          <a:prstGeom prst="rect">
            <a:avLst/>
          </a:prstGeom>
          <a:noFill/>
        </p:spPr>
        <p:txBody>
          <a:bodyPr wrap="square" rtlCol="0">
            <a:spAutoFit/>
          </a:bodyPr>
          <a:lstStyle/>
          <a:p>
            <a:pPr algn="ctr"/>
            <a:r>
              <a:rPr lang="en-US" sz="2400">
                <a:solidFill>
                  <a:srgbClr val="000000"/>
                </a:solidFill>
                <a:ea typeface="Segoe UI Emoji" panose="020B0502040204020203" pitchFamily="34" charset="0"/>
              </a:rPr>
              <a:t>✨</a:t>
            </a:r>
            <a:r>
              <a:rPr lang="en-US" sz="2400" b="1">
                <a:solidFill>
                  <a:srgbClr val="F80B8D"/>
                </a:solidFill>
                <a:ea typeface="Segoe UI Emoji" panose="020B0502040204020203" pitchFamily="34" charset="0"/>
              </a:rPr>
              <a:t>Less-fun Friday</a:t>
            </a:r>
            <a:r>
              <a:rPr lang="en-US" sz="2400" b="1">
                <a:solidFill>
                  <a:srgbClr val="F80B8D"/>
                </a:solidFill>
              </a:rPr>
              <a:t>!</a:t>
            </a:r>
            <a:r>
              <a:rPr lang="en-US" sz="2400">
                <a:solidFill>
                  <a:srgbClr val="000000"/>
                </a:solidFill>
                <a:ea typeface="Segoe UI Emoji" panose="020B0502040204020203" pitchFamily="34" charset="0"/>
              </a:rPr>
              <a:t> ✨</a:t>
            </a:r>
          </a:p>
        </p:txBody>
      </p:sp>
      <p:sp>
        <p:nvSpPr>
          <p:cNvPr id="10" name="TextBox 9">
            <a:extLst>
              <a:ext uri="{FF2B5EF4-FFF2-40B4-BE49-F238E27FC236}">
                <a16:creationId xmlns:a16="http://schemas.microsoft.com/office/drawing/2014/main" id="{72ECC09F-244F-4022-F191-D6E6EB672EE6}"/>
              </a:ext>
            </a:extLst>
          </p:cNvPr>
          <p:cNvSpPr txBox="1"/>
          <p:nvPr/>
        </p:nvSpPr>
        <p:spPr>
          <a:xfrm>
            <a:off x="457200" y="2847229"/>
            <a:ext cx="5976059" cy="1477328"/>
          </a:xfrm>
          <a:prstGeom prst="rect">
            <a:avLst/>
          </a:prstGeom>
          <a:solidFill>
            <a:schemeClr val="accent3">
              <a:lumMod val="40000"/>
              <a:lumOff val="60000"/>
            </a:schemeClr>
          </a:solidFill>
          <a:ln>
            <a:solidFill>
              <a:schemeClr val="tx1"/>
            </a:solidFill>
          </a:ln>
        </p:spPr>
        <p:txBody>
          <a:bodyPr wrap="square" rtlCol="0">
            <a:spAutoFit/>
          </a:bodyPr>
          <a:lstStyle/>
          <a:p>
            <a:pPr algn="ctr"/>
            <a:r>
              <a:rPr lang="en-US" b="1">
                <a:cs typeface="Consolas" panose="020B0609020204030204" pitchFamily="49" charset="0"/>
              </a:rPr>
              <a:t>WARMUP: </a:t>
            </a:r>
            <a:r>
              <a:rPr lang="en-US">
                <a:sym typeface="Wingdings" pitchFamily="2" charset="2"/>
              </a:rPr>
              <a:t>a leetcode easy</a:t>
            </a:r>
          </a:p>
          <a:p>
            <a:pPr algn="ctr"/>
            <a:endParaRPr lang="en-US" b="1">
              <a:cs typeface="Consolas" panose="020B0609020204030204" pitchFamily="49" charset="0"/>
            </a:endParaRPr>
          </a:p>
          <a:p>
            <a:r>
              <a:rPr lang="en-US">
                <a:effectLst/>
                <a:latin typeface="Consolas" panose="020B0609020204030204" pitchFamily="49" charset="0"/>
                <a:cs typeface="Consolas" panose="020B0609020204030204" pitchFamily="49" charset="0"/>
                <a:hlinkClick r:id="rId2"/>
              </a:rPr>
              <a:t>https://leetcode.com/problems/two-sum/description/?envType=problem-list-v2&amp;envId=hash-table</a:t>
            </a:r>
            <a:endParaRPr lang="en-US">
              <a:effectLst/>
              <a:latin typeface="Consolas" panose="020B0609020204030204" pitchFamily="49" charset="0"/>
              <a:cs typeface="Consolas" panose="020B0609020204030204" pitchFamily="49" charset="0"/>
            </a:endParaRPr>
          </a:p>
        </p:txBody>
      </p:sp>
      <p:grpSp>
        <p:nvGrpSpPr>
          <p:cNvPr id="17" name="Group 16">
            <a:extLst>
              <a:ext uri="{FF2B5EF4-FFF2-40B4-BE49-F238E27FC236}">
                <a16:creationId xmlns:a16="http://schemas.microsoft.com/office/drawing/2014/main" id="{E5F145FF-D2DA-8516-1056-02AF4C2BCC58}"/>
              </a:ext>
            </a:extLst>
          </p:cNvPr>
          <p:cNvGrpSpPr/>
          <p:nvPr/>
        </p:nvGrpSpPr>
        <p:grpSpPr>
          <a:xfrm rot="10800000">
            <a:off x="6699197" y="615766"/>
            <a:ext cx="1644604" cy="3764538"/>
            <a:chOff x="8052482" y="242908"/>
            <a:chExt cx="1020050" cy="2334918"/>
          </a:xfrm>
        </p:grpSpPr>
        <p:sp>
          <p:nvSpPr>
            <p:cNvPr id="9" name="TextBox 8">
              <a:extLst>
                <a:ext uri="{FF2B5EF4-FFF2-40B4-BE49-F238E27FC236}">
                  <a16:creationId xmlns:a16="http://schemas.microsoft.com/office/drawing/2014/main" id="{21D4217E-F59A-CFB9-D452-F5A883650577}"/>
                </a:ext>
              </a:extLst>
            </p:cNvPr>
            <p:cNvSpPr txBox="1"/>
            <p:nvPr/>
          </p:nvSpPr>
          <p:spPr>
            <a:xfrm>
              <a:off x="8052482" y="242908"/>
              <a:ext cx="454075" cy="629954"/>
            </a:xfrm>
            <a:prstGeom prst="rect">
              <a:avLst/>
            </a:prstGeom>
            <a:noFill/>
          </p:spPr>
          <p:txBody>
            <a:bodyPr wrap="square">
              <a:spAutoFit/>
            </a:bodyPr>
            <a:lstStyle/>
            <a:p>
              <a:pPr algn="ctr"/>
              <a:r>
                <a:rPr kumimoji="0" lang="en-US" sz="6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6000"/>
            </a:p>
          </p:txBody>
        </p:sp>
        <p:sp>
          <p:nvSpPr>
            <p:cNvPr id="5" name="TextBox 4">
              <a:extLst>
                <a:ext uri="{FF2B5EF4-FFF2-40B4-BE49-F238E27FC236}">
                  <a16:creationId xmlns:a16="http://schemas.microsoft.com/office/drawing/2014/main" id="{B442F061-E3D6-7009-11FB-9D699667F4D0}"/>
                </a:ext>
              </a:extLst>
            </p:cNvPr>
            <p:cNvSpPr txBox="1"/>
            <p:nvPr/>
          </p:nvSpPr>
          <p:spPr>
            <a:xfrm rot="2674879">
              <a:off x="8220077" y="337020"/>
              <a:ext cx="454075" cy="687223"/>
            </a:xfrm>
            <a:prstGeom prst="rect">
              <a:avLst/>
            </a:prstGeom>
            <a:noFill/>
          </p:spPr>
          <p:txBody>
            <a:bodyPr wrap="square">
              <a:spAutoFit/>
            </a:bodyPr>
            <a:lstStyle/>
            <a:p>
              <a:pPr algn="ctr"/>
              <a:r>
                <a:rPr kumimoji="0" lang="en-US" sz="66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6600"/>
            </a:p>
          </p:txBody>
        </p:sp>
        <p:sp>
          <p:nvSpPr>
            <p:cNvPr id="7" name="TextBox 6">
              <a:extLst>
                <a:ext uri="{FF2B5EF4-FFF2-40B4-BE49-F238E27FC236}">
                  <a16:creationId xmlns:a16="http://schemas.microsoft.com/office/drawing/2014/main" id="{A420E1A6-378C-2B63-1519-27D481552371}"/>
                </a:ext>
              </a:extLst>
            </p:cNvPr>
            <p:cNvSpPr txBox="1"/>
            <p:nvPr/>
          </p:nvSpPr>
          <p:spPr>
            <a:xfrm rot="4734159">
              <a:off x="8354806" y="547508"/>
              <a:ext cx="454075" cy="744492"/>
            </a:xfrm>
            <a:prstGeom prst="rect">
              <a:avLst/>
            </a:prstGeom>
            <a:noFill/>
          </p:spPr>
          <p:txBody>
            <a:bodyPr wrap="square">
              <a:spAutoFit/>
            </a:bodyPr>
            <a:lstStyle/>
            <a:p>
              <a:pPr algn="ctr"/>
              <a:r>
                <a:rPr kumimoji="0" lang="en-US" sz="72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7200"/>
            </a:p>
          </p:txBody>
        </p:sp>
        <p:sp>
          <p:nvSpPr>
            <p:cNvPr id="11" name="TextBox 10">
              <a:extLst>
                <a:ext uri="{FF2B5EF4-FFF2-40B4-BE49-F238E27FC236}">
                  <a16:creationId xmlns:a16="http://schemas.microsoft.com/office/drawing/2014/main" id="{EC76FC44-BC55-6790-ADB9-4309DAA7BB80}"/>
                </a:ext>
              </a:extLst>
            </p:cNvPr>
            <p:cNvSpPr txBox="1"/>
            <p:nvPr/>
          </p:nvSpPr>
          <p:spPr>
            <a:xfrm rot="5792460">
              <a:off x="8427583" y="787743"/>
              <a:ext cx="454075" cy="820850"/>
            </a:xfrm>
            <a:prstGeom prst="rect">
              <a:avLst/>
            </a:prstGeom>
            <a:noFill/>
          </p:spPr>
          <p:txBody>
            <a:bodyPr wrap="square">
              <a:spAutoFit/>
            </a:bodyPr>
            <a:lstStyle/>
            <a:p>
              <a:pPr algn="ctr"/>
              <a:r>
                <a:rPr kumimoji="0" lang="en-US" sz="8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8000"/>
            </a:p>
          </p:txBody>
        </p:sp>
        <p:sp>
          <p:nvSpPr>
            <p:cNvPr id="14" name="TextBox 13">
              <a:extLst>
                <a:ext uri="{FF2B5EF4-FFF2-40B4-BE49-F238E27FC236}">
                  <a16:creationId xmlns:a16="http://schemas.microsoft.com/office/drawing/2014/main" id="{DA5EFD68-CA78-1D69-B972-AF6752A17A82}"/>
                </a:ext>
              </a:extLst>
            </p:cNvPr>
            <p:cNvSpPr txBox="1"/>
            <p:nvPr/>
          </p:nvSpPr>
          <p:spPr>
            <a:xfrm rot="7627788">
              <a:off x="8396890" y="1022167"/>
              <a:ext cx="454075" cy="897208"/>
            </a:xfrm>
            <a:prstGeom prst="rect">
              <a:avLst/>
            </a:prstGeom>
            <a:noFill/>
          </p:spPr>
          <p:txBody>
            <a:bodyPr wrap="square">
              <a:spAutoFit/>
            </a:bodyPr>
            <a:lstStyle/>
            <a:p>
              <a:pPr algn="ctr"/>
              <a:r>
                <a:rPr kumimoji="0" lang="en-US" sz="8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8800"/>
            </a:p>
          </p:txBody>
        </p:sp>
        <p:sp>
          <p:nvSpPr>
            <p:cNvPr id="15" name="TextBox 14">
              <a:extLst>
                <a:ext uri="{FF2B5EF4-FFF2-40B4-BE49-F238E27FC236}">
                  <a16:creationId xmlns:a16="http://schemas.microsoft.com/office/drawing/2014/main" id="{5B9887AD-41C5-81A6-D440-766B3D616936}"/>
                </a:ext>
              </a:extLst>
            </p:cNvPr>
            <p:cNvSpPr txBox="1"/>
            <p:nvPr/>
          </p:nvSpPr>
          <p:spPr>
            <a:xfrm rot="8936788">
              <a:off x="8278351" y="1260649"/>
              <a:ext cx="454075" cy="973565"/>
            </a:xfrm>
            <a:prstGeom prst="rect">
              <a:avLst/>
            </a:prstGeom>
            <a:noFill/>
          </p:spPr>
          <p:txBody>
            <a:bodyPr wrap="square">
              <a:spAutoFit/>
            </a:bodyPr>
            <a:lstStyle/>
            <a:p>
              <a:pPr algn="ctr"/>
              <a:r>
                <a:rPr kumimoji="0" lang="en-US" sz="96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9600"/>
            </a:p>
          </p:txBody>
        </p:sp>
        <p:sp>
          <p:nvSpPr>
            <p:cNvPr id="16" name="TextBox 15">
              <a:extLst>
                <a:ext uri="{FF2B5EF4-FFF2-40B4-BE49-F238E27FC236}">
                  <a16:creationId xmlns:a16="http://schemas.microsoft.com/office/drawing/2014/main" id="{18FC6C5E-2CDF-8B27-1E30-190C518CB29D}"/>
                </a:ext>
              </a:extLst>
            </p:cNvPr>
            <p:cNvSpPr txBox="1"/>
            <p:nvPr/>
          </p:nvSpPr>
          <p:spPr>
            <a:xfrm rot="10343958">
              <a:off x="8063867" y="1422910"/>
              <a:ext cx="454075" cy="1154916"/>
            </a:xfrm>
            <a:prstGeom prst="rect">
              <a:avLst/>
            </a:prstGeom>
            <a:noFill/>
          </p:spPr>
          <p:txBody>
            <a:bodyPr wrap="square">
              <a:spAutoFit/>
            </a:bodyPr>
            <a:lstStyle/>
            <a:p>
              <a:pPr algn="ctr"/>
              <a:r>
                <a:rPr kumimoji="0" lang="en-US" sz="115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500"/>
            </a:p>
          </p:txBody>
        </p:sp>
      </p:grpSp>
      <p:sp>
        <p:nvSpPr>
          <p:cNvPr id="19" name="Title 3">
            <a:extLst>
              <a:ext uri="{FF2B5EF4-FFF2-40B4-BE49-F238E27FC236}">
                <a16:creationId xmlns:a16="http://schemas.microsoft.com/office/drawing/2014/main" id="{D67CE763-1A2C-E718-424D-00F7C17D1831}"/>
              </a:ext>
            </a:extLst>
          </p:cNvPr>
          <p:cNvSpPr txBox="1">
            <a:spLocks/>
          </p:cNvSpPr>
          <p:nvPr/>
        </p:nvSpPr>
        <p:spPr>
          <a:xfrm>
            <a:off x="5766486" y="4755451"/>
            <a:ext cx="3377514" cy="388049"/>
          </a:xfrm>
          <a:prstGeom prst="rect">
            <a:avLst/>
          </a:prstGeom>
        </p:spPr>
        <p:txBody>
          <a:bodyPr vert="horz" lIns="91440" tIns="45720" rIns="91440" bIns="45720" rtlCol="0" anchor="ctr">
            <a:noAutofit/>
          </a:bodyPr>
          <a:lstStyle>
            <a:lvl1pPr algn="l" defTabSz="342886" rtl="0" eaLnBrk="1" latinLnBrk="0" hangingPunct="1">
              <a:spcBef>
                <a:spcPct val="0"/>
              </a:spcBef>
              <a:buNone/>
              <a:defRPr sz="11500" kern="1200">
                <a:solidFill>
                  <a:schemeClr val="tx1"/>
                </a:solidFill>
                <a:latin typeface="+mn-lt"/>
                <a:ea typeface="Segoe UI Emoji" panose="020B0502040204020203" pitchFamily="34" charset="0"/>
                <a:cs typeface="+mj-cs"/>
              </a:defRPr>
            </a:lvl1pPr>
          </a:lstStyle>
          <a:p>
            <a:pPr algn="r"/>
            <a:r>
              <a:rPr lang="en-US" sz="1800">
                <a:solidFill>
                  <a:srgbClr val="F80B8D"/>
                </a:solidFill>
              </a:rPr>
              <a:t>[record lecture]</a:t>
            </a:r>
          </a:p>
        </p:txBody>
      </p:sp>
    </p:spTree>
    <p:extLst>
      <p:ext uri="{BB962C8B-B14F-4D97-AF65-F5344CB8AC3E}">
        <p14:creationId xmlns:p14="http://schemas.microsoft.com/office/powerpoint/2010/main" val="3219979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0129AA-48B5-8FB1-F3F7-76BBF805AD94}"/>
              </a:ext>
            </a:extLst>
          </p:cNvPr>
          <p:cNvSpPr>
            <a:spLocks noGrp="1"/>
          </p:cNvSpPr>
          <p:nvPr>
            <p:ph type="title"/>
          </p:nvPr>
        </p:nvSpPr>
        <p:spPr/>
        <p:txBody>
          <a:bodyPr/>
          <a:lstStyle/>
          <a:p>
            <a:pPr algn="l"/>
            <a:br>
              <a:rPr lang="en-US" sz="2000" b="0" i="0" u="none" strike="noStrike">
                <a:effectLst/>
                <a:latin typeface="-apple-system"/>
              </a:rPr>
            </a:br>
            <a:r>
              <a:rPr lang="en-US" sz="2000" b="0" i="0" u="none" strike="noStrike">
                <a:effectLst/>
                <a:latin typeface="-apple-system"/>
              </a:rPr>
              <a:t>Given an array of integers nums and an integer target, return </a:t>
            </a:r>
            <a:r>
              <a:rPr lang="en-US" sz="2000" b="0" i="1" u="none" strike="noStrike">
                <a:effectLst/>
                <a:latin typeface="-apple-system"/>
              </a:rPr>
              <a:t>indices of the two numbers such that they add up to target</a:t>
            </a:r>
            <a:r>
              <a:rPr lang="en-US" sz="2000" b="0" i="0" u="none" strike="noStrike">
                <a:effectLst/>
                <a:latin typeface="-apple-system"/>
              </a:rPr>
              <a:t>.</a:t>
            </a:r>
            <a:br>
              <a:rPr lang="en-US" sz="2000" b="0" i="0" u="none" strike="noStrike">
                <a:effectLst/>
                <a:latin typeface="-apple-system"/>
              </a:rPr>
            </a:br>
            <a:r>
              <a:rPr lang="en-US" sz="2000" b="0" i="0" u="none" strike="noStrike">
                <a:effectLst/>
                <a:latin typeface="-apple-system"/>
              </a:rPr>
              <a:t>You may assume that each input would have </a:t>
            </a:r>
            <a:r>
              <a:rPr lang="en-US" sz="2000" b="1" i="1" u="none" strike="noStrike">
                <a:effectLst/>
                <a:latin typeface="-apple-system"/>
              </a:rPr>
              <a:t>exactly</a:t>
            </a:r>
            <a:r>
              <a:rPr lang="en-US" sz="2000" b="1" i="0" u="none" strike="noStrike">
                <a:effectLst/>
                <a:latin typeface="-apple-system"/>
              </a:rPr>
              <a:t> one solution</a:t>
            </a:r>
            <a:r>
              <a:rPr lang="en-US" sz="2000" b="0" i="0" u="none" strike="noStrike">
                <a:effectLst/>
                <a:latin typeface="-apple-system"/>
              </a:rPr>
              <a:t>, and you may not use the </a:t>
            </a:r>
            <a:r>
              <a:rPr lang="en-US" sz="2000" b="0" i="1" u="none" strike="noStrike">
                <a:effectLst/>
                <a:latin typeface="-apple-system"/>
              </a:rPr>
              <a:t>same</a:t>
            </a:r>
            <a:r>
              <a:rPr lang="en-US" sz="2000" b="0" i="0" u="none" strike="noStrike">
                <a:effectLst/>
                <a:latin typeface="-apple-system"/>
              </a:rPr>
              <a:t> element twice.</a:t>
            </a:r>
            <a:br>
              <a:rPr lang="en-US" sz="2000" b="0" i="0" u="none" strike="noStrike">
                <a:effectLst/>
                <a:latin typeface="-apple-system"/>
              </a:rPr>
            </a:br>
            <a:r>
              <a:rPr lang="en-US" sz="2000" b="0" i="0" u="none" strike="noStrike">
                <a:effectLst/>
                <a:latin typeface="-apple-system"/>
              </a:rPr>
              <a:t>You can return the answer in any order.</a:t>
            </a:r>
            <a:br>
              <a:rPr lang="en-US" sz="2000" b="0" i="0" u="none" strike="noStrike">
                <a:effectLst/>
                <a:latin typeface="-apple-system"/>
              </a:rPr>
            </a:br>
            <a:r>
              <a:rPr lang="en-US" sz="2000" b="0" i="0" u="none" strike="noStrike">
                <a:effectLst/>
                <a:latin typeface="-apple-system"/>
              </a:rPr>
              <a:t> </a:t>
            </a:r>
            <a:br>
              <a:rPr lang="en-US" sz="2000" b="0" i="0" u="none" strike="noStrike">
                <a:effectLst/>
                <a:latin typeface="-apple-system"/>
              </a:rPr>
            </a:br>
            <a:r>
              <a:rPr lang="en-US" sz="2000" b="1" i="0" u="none" strike="noStrike">
                <a:effectLst/>
                <a:latin typeface="-apple-system"/>
              </a:rPr>
              <a:t>Example 1:</a:t>
            </a:r>
            <a:br>
              <a:rPr lang="en-US" sz="2000" b="0" i="0" u="none" strike="noStrike">
                <a:effectLst/>
                <a:latin typeface="-apple-system"/>
              </a:rPr>
            </a:br>
            <a:r>
              <a:rPr lang="en-US" sz="2000" b="1" i="0" u="none" strike="noStrike">
                <a:effectLst/>
                <a:latin typeface="-apple-system"/>
              </a:rPr>
              <a:t>Input:</a:t>
            </a:r>
            <a:r>
              <a:rPr lang="en-US" sz="2000" b="0" i="0" u="none" strike="noStrike">
                <a:effectLst/>
                <a:latin typeface="-apple-system"/>
              </a:rPr>
              <a:t> nums = [2,7,11,15], target = 9 </a:t>
            </a:r>
            <a:r>
              <a:rPr lang="en-US" sz="2000" b="1" i="0" u="none" strike="noStrike">
                <a:effectLst/>
                <a:latin typeface="-apple-system"/>
              </a:rPr>
              <a:t>Output:</a:t>
            </a:r>
            <a:r>
              <a:rPr lang="en-US" sz="2000" b="0" i="0" u="none" strike="noStrike">
                <a:effectLst/>
                <a:latin typeface="-apple-system"/>
              </a:rPr>
              <a:t> [0,1]</a:t>
            </a:r>
            <a:br>
              <a:rPr lang="en-US" sz="2000" b="0" i="0" u="none" strike="noStrike">
                <a:effectLst/>
                <a:latin typeface="-apple-system"/>
              </a:rPr>
            </a:br>
            <a:r>
              <a:rPr lang="en-US" sz="2000" b="1" i="0" u="none" strike="noStrike">
                <a:effectLst/>
                <a:latin typeface="-apple-system"/>
              </a:rPr>
              <a:t>Explanation:</a:t>
            </a:r>
            <a:r>
              <a:rPr lang="en-US" sz="2000" b="0" i="0" u="none" strike="noStrike">
                <a:effectLst/>
                <a:latin typeface="-apple-system"/>
              </a:rPr>
              <a:t> Because nums[0] + nums[1] == 9, we return [0, 1].</a:t>
            </a:r>
            <a:br>
              <a:rPr lang="en-US" sz="2000" b="0" i="0" u="none" strike="noStrike">
                <a:effectLst/>
                <a:latin typeface="-apple-system"/>
              </a:rPr>
            </a:br>
            <a:br>
              <a:rPr lang="en-US" sz="2000" b="0" i="0" u="none" strike="noStrike">
                <a:effectLst/>
                <a:latin typeface="-apple-system"/>
              </a:rPr>
            </a:br>
            <a:r>
              <a:rPr lang="en-US" sz="2000" b="1" i="0" u="none" strike="noStrike">
                <a:effectLst/>
                <a:latin typeface="-apple-system"/>
              </a:rPr>
              <a:t>Example 2:</a:t>
            </a:r>
            <a:br>
              <a:rPr lang="en-US" sz="2000" b="0" i="0" u="none" strike="noStrike">
                <a:effectLst/>
                <a:latin typeface="-apple-system"/>
              </a:rPr>
            </a:br>
            <a:r>
              <a:rPr lang="en-US" sz="2000" b="1" i="0" u="none" strike="noStrike">
                <a:effectLst/>
                <a:latin typeface="-apple-system"/>
              </a:rPr>
              <a:t>Input:</a:t>
            </a:r>
            <a:r>
              <a:rPr lang="en-US" sz="2000" b="0" i="0" u="none" strike="noStrike">
                <a:effectLst/>
                <a:latin typeface="-apple-system"/>
              </a:rPr>
              <a:t> nums = [3,2,4], target = 6 </a:t>
            </a:r>
            <a:r>
              <a:rPr lang="en-US" sz="2000" b="1" i="0" u="none" strike="noStrike">
                <a:effectLst/>
                <a:latin typeface="-apple-system"/>
              </a:rPr>
              <a:t>Output:</a:t>
            </a:r>
            <a:r>
              <a:rPr lang="en-US" sz="2000" b="0" i="0" u="none" strike="noStrike">
                <a:effectLst/>
                <a:latin typeface="-apple-system"/>
              </a:rPr>
              <a:t> [1,2]</a:t>
            </a:r>
            <a:br>
              <a:rPr lang="en-US" sz="2000" b="0" i="0" u="none" strike="noStrike">
                <a:effectLst/>
                <a:latin typeface="-apple-system"/>
              </a:rPr>
            </a:br>
            <a:br>
              <a:rPr lang="en-US" sz="2000" b="0" i="0" u="none" strike="noStrike">
                <a:effectLst/>
                <a:latin typeface="-apple-system"/>
              </a:rPr>
            </a:br>
            <a:r>
              <a:rPr lang="en-US" sz="2000" b="1" i="0" u="none" strike="noStrike">
                <a:effectLst/>
                <a:latin typeface="-apple-system"/>
              </a:rPr>
              <a:t>Example 3:</a:t>
            </a:r>
            <a:br>
              <a:rPr lang="en-US" sz="2000" b="0" i="0" u="none" strike="noStrike">
                <a:effectLst/>
                <a:latin typeface="-apple-system"/>
              </a:rPr>
            </a:br>
            <a:r>
              <a:rPr lang="en-US" sz="2000" b="1" i="0" u="none" strike="noStrike">
                <a:effectLst/>
                <a:latin typeface="-apple-system"/>
              </a:rPr>
              <a:t>Input:</a:t>
            </a:r>
            <a:r>
              <a:rPr lang="en-US" sz="2000" b="0" i="0" u="none" strike="noStrike">
                <a:effectLst/>
                <a:latin typeface="-apple-system"/>
              </a:rPr>
              <a:t> nums = [3,3], target = 6 </a:t>
            </a:r>
            <a:r>
              <a:rPr lang="en-US" sz="2000" b="1" i="0" u="none" strike="noStrike">
                <a:effectLst/>
                <a:latin typeface="-apple-system"/>
              </a:rPr>
              <a:t>Output:</a:t>
            </a:r>
            <a:r>
              <a:rPr lang="en-US" sz="2000" b="0" i="0" u="none" strike="noStrike">
                <a:effectLst/>
                <a:latin typeface="-apple-system"/>
              </a:rPr>
              <a:t> [0,1]</a:t>
            </a:r>
            <a:br>
              <a:rPr lang="en-US" sz="2000" b="0" i="0" u="none" strike="noStrike">
                <a:effectLst/>
                <a:latin typeface="-apple-system"/>
              </a:rPr>
            </a:br>
            <a:endParaRPr lang="en-US" sz="2000"/>
          </a:p>
        </p:txBody>
      </p:sp>
    </p:spTree>
    <p:extLst>
      <p:ext uri="{BB962C8B-B14F-4D97-AF65-F5344CB8AC3E}">
        <p14:creationId xmlns:p14="http://schemas.microsoft.com/office/powerpoint/2010/main" val="135919079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DFB12C8-015F-4620-DE7E-1E271A12763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A5551F9-4F35-C1EA-BDA1-EE891D47D879}"/>
              </a:ext>
            </a:extLst>
          </p:cNvPr>
          <p:cNvSpPr txBox="1"/>
          <p:nvPr/>
        </p:nvSpPr>
        <p:spPr>
          <a:xfrm>
            <a:off x="358346" y="78763"/>
            <a:ext cx="8396548" cy="4985980"/>
          </a:xfrm>
          <a:prstGeom prst="rect">
            <a:avLst/>
          </a:prstGeom>
          <a:noFill/>
        </p:spPr>
        <p:txBody>
          <a:bodyPr wrap="square" rtlCol="0" anchor="ctr">
            <a:spAutoFit/>
          </a:bodyPr>
          <a:lstStyle/>
          <a:p>
            <a:r>
              <a:rPr lang="en-US" sz="3200" b="1">
                <a:solidFill>
                  <a:schemeClr val="accent3"/>
                </a:solidFill>
              </a:rPr>
              <a:t>ANNOUNCEMENTS</a:t>
            </a:r>
          </a:p>
          <a:p>
            <a:endParaRPr lang="en-US" sz="2400">
              <a:solidFill>
                <a:schemeClr val="accent3"/>
              </a:solidFill>
            </a:endParaRPr>
          </a:p>
          <a:p>
            <a:r>
              <a:rPr lang="en-US" sz="2400">
                <a:solidFill>
                  <a:schemeClr val="accent3"/>
                </a:solidFill>
              </a:rPr>
              <a:t>today is an important </a:t>
            </a:r>
            <a:r>
              <a:rPr lang="en-US" sz="2400" b="1">
                <a:solidFill>
                  <a:schemeClr val="accent3"/>
                </a:solidFill>
              </a:rPr>
              <a:t>Colloquium</a:t>
            </a:r>
            <a:r>
              <a:rPr lang="en-US" sz="2400">
                <a:solidFill>
                  <a:schemeClr val="accent3"/>
                </a:solidFill>
              </a:rPr>
              <a:t>! 2:35 in Wege (TCL 123)</a:t>
            </a:r>
          </a:p>
          <a:p>
            <a:r>
              <a:rPr kumimoji="0" lang="en-US" sz="1400" b="0" i="0" u="none" strike="noStrike" kern="1200" cap="none" spc="0" normalizeH="0" baseline="0" noProof="0">
                <a:ln>
                  <a:noFill/>
                </a:ln>
                <a:solidFill>
                  <a:srgbClr val="FFFF32"/>
                </a:solidFill>
                <a:effectLst/>
                <a:uLnTx/>
                <a:uFillTx/>
                <a:latin typeface="Arial"/>
                <a:ea typeface="+mn-ea"/>
                <a:cs typeface="+mn-cs"/>
              </a:rPr>
              <a:t>                                                also juggling club after colloquium </a:t>
            </a:r>
            <a:r>
              <a:rPr lang="en-US" sz="1400">
                <a:solidFill>
                  <a:srgbClr val="FFFF32"/>
                </a:solidFill>
                <a:latin typeface="Arial"/>
                <a:sym typeface="Wingdings" pitchFamily="2" charset="2"/>
              </a:rPr>
              <a:t>:)</a:t>
            </a:r>
          </a:p>
          <a:p>
            <a:endParaRPr lang="en-US" sz="2400">
              <a:solidFill>
                <a:schemeClr val="accent3"/>
              </a:solidFill>
            </a:endParaRPr>
          </a:p>
          <a:p>
            <a:r>
              <a:rPr kumimoji="0" lang="en-US" sz="4000" b="0" i="0" u="none" strike="noStrike" kern="1200" cap="none" spc="0" normalizeH="0" baseline="0" noProof="0">
                <a:ln>
                  <a:noFill/>
                </a:ln>
                <a:solidFill>
                  <a:srgbClr val="FFFF32"/>
                </a:solidFill>
                <a:effectLst/>
                <a:uLnTx/>
                <a:uFillTx/>
                <a:latin typeface="Arial"/>
                <a:ea typeface="Segoe UI Emoji" panose="020B0502040204020203" pitchFamily="34" charset="0"/>
                <a:cs typeface="+mn-cs"/>
              </a:rPr>
              <a:t>🦉</a:t>
            </a:r>
            <a:r>
              <a:rPr kumimoji="0" lang="en-US" sz="1800" b="0" i="0" u="none" strike="noStrike" kern="1200" cap="none" spc="0" normalizeH="0" baseline="0" noProof="0">
                <a:ln>
                  <a:noFill/>
                </a:ln>
                <a:solidFill>
                  <a:srgbClr val="FFFF32"/>
                </a:solidFill>
                <a:effectLst/>
                <a:uLnTx/>
                <a:uFillTx/>
                <a:latin typeface="Arial"/>
                <a:ea typeface="Segoe UI Emoji" panose="020B0502040204020203" pitchFamily="34" charset="0"/>
                <a:cs typeface="+mn-cs"/>
              </a:rPr>
              <a:t> </a:t>
            </a:r>
            <a:r>
              <a:rPr lang="en-US" sz="2400">
                <a:solidFill>
                  <a:schemeClr val="accent3"/>
                </a:solidFill>
              </a:rPr>
              <a:t>today is </a:t>
            </a:r>
            <a:r>
              <a:rPr lang="en-US" sz="2400" b="1">
                <a:solidFill>
                  <a:schemeClr val="accent3"/>
                </a:solidFill>
              </a:rPr>
              <a:t>Kahoot Friday</a:t>
            </a:r>
            <a:r>
              <a:rPr lang="en-US" sz="2400">
                <a:solidFill>
                  <a:schemeClr val="accent3"/>
                </a:solidFill>
              </a:rPr>
              <a:t>! </a:t>
            </a:r>
            <a:r>
              <a:rPr lang="en-US" sz="1400">
                <a:solidFill>
                  <a:schemeClr val="accent3"/>
                </a:solidFill>
              </a:rPr>
              <a:t>today is also No Blazer Friday </a:t>
            </a:r>
            <a:r>
              <a:rPr lang="en-US" sz="1400">
                <a:solidFill>
                  <a:schemeClr val="accent3"/>
                </a:solidFill>
                <a:sym typeface="Wingdings" pitchFamily="2" charset="2"/>
              </a:rPr>
              <a:t>:(</a:t>
            </a:r>
            <a:endParaRPr lang="en-US" sz="2400">
              <a:solidFill>
                <a:schemeClr val="accent3"/>
              </a:solidFill>
            </a:endParaRPr>
          </a:p>
          <a:p>
            <a:br>
              <a:rPr lang="en-US" sz="2400" b="1"/>
            </a:br>
            <a:r>
              <a:rPr lang="en-US" sz="3200" b="1">
                <a:solidFill>
                  <a:schemeClr val="accent2"/>
                </a:solidFill>
              </a:rPr>
              <a:t>WARMUP</a:t>
            </a:r>
            <a:br>
              <a:rPr lang="en-US" sz="2400" b="1">
                <a:solidFill>
                  <a:schemeClr val="accent2"/>
                </a:solidFill>
              </a:rPr>
            </a:br>
            <a:r>
              <a:rPr lang="en-US" sz="2400">
                <a:solidFill>
                  <a:schemeClr val="accent2"/>
                </a:solidFill>
              </a:rPr>
              <a:t>last</a:t>
            </a:r>
            <a:r>
              <a:rPr lang="en-US" sz="2400" b="1">
                <a:solidFill>
                  <a:schemeClr val="accent2"/>
                </a:solidFill>
              </a:rPr>
              <a:t> </a:t>
            </a:r>
            <a:r>
              <a:rPr lang="en-US" sz="2400">
                <a:solidFill>
                  <a:schemeClr val="accent2"/>
                </a:solidFill>
              </a:rPr>
              <a:t>class, i said that hash maps have O(1) </a:t>
            </a:r>
            <a:r>
              <a:rPr lang="en-US" sz="2400" b="1">
                <a:solidFill>
                  <a:schemeClr val="accent2"/>
                </a:solidFill>
              </a:rPr>
              <a:t>put </a:t>
            </a:r>
            <a:r>
              <a:rPr lang="en-US" sz="2400">
                <a:solidFill>
                  <a:schemeClr val="accent2"/>
                </a:solidFill>
              </a:rPr>
              <a:t>and O(1) </a:t>
            </a:r>
            <a:r>
              <a:rPr lang="en-US" sz="2400" b="1">
                <a:solidFill>
                  <a:schemeClr val="accent2"/>
                </a:solidFill>
              </a:rPr>
              <a:t>get</a:t>
            </a:r>
          </a:p>
          <a:p>
            <a:r>
              <a:rPr lang="en-US" sz="2400">
                <a:solidFill>
                  <a:schemeClr val="accent2"/>
                </a:solidFill>
              </a:rPr>
              <a:t> why is this sus? </a:t>
            </a:r>
            <a:r>
              <a:rPr kumimoji="0" lang="en-US" sz="24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r>
              <a:rPr lang="en-US" sz="2400">
                <a:solidFill>
                  <a:schemeClr val="accent2"/>
                </a:solidFill>
              </a:rPr>
              <a:t> list as many reasons as you can</a:t>
            </a:r>
          </a:p>
          <a:p>
            <a:br>
              <a:rPr lang="en-US" sz="2400"/>
            </a:br>
            <a:r>
              <a:rPr lang="en-US" sz="3200" b="1">
                <a:solidFill>
                  <a:schemeClr val="accent1"/>
                </a:solidFill>
              </a:rPr>
              <a:t>TODAY</a:t>
            </a:r>
            <a:r>
              <a:rPr lang="en-US" sz="2400" b="1">
                <a:solidFill>
                  <a:schemeClr val="accent1"/>
                </a:solidFill>
              </a:rPr>
              <a:t> </a:t>
            </a:r>
            <a:r>
              <a:rPr lang="en-US" sz="2400">
                <a:solidFill>
                  <a:schemeClr val="accent1"/>
                </a:solidFill>
              </a:rPr>
              <a:t>more</a:t>
            </a:r>
            <a:r>
              <a:rPr lang="en-US" sz="2400" b="1">
                <a:solidFill>
                  <a:schemeClr val="accent1"/>
                </a:solidFill>
              </a:rPr>
              <a:t> </a:t>
            </a:r>
            <a:r>
              <a:rPr lang="en-US" sz="2400">
                <a:solidFill>
                  <a:schemeClr val="accent1"/>
                </a:solidFill>
              </a:rPr>
              <a:t>hash</a:t>
            </a:r>
            <a:r>
              <a:rPr lang="en-US" sz="2400" b="1">
                <a:solidFill>
                  <a:schemeClr val="accent1"/>
                </a:solidFill>
              </a:rPr>
              <a:t> </a:t>
            </a:r>
            <a:r>
              <a:rPr lang="en-US" sz="2400">
                <a:solidFill>
                  <a:schemeClr val="accent1"/>
                </a:solidFill>
              </a:rPr>
              <a:t>maps</a:t>
            </a:r>
          </a:p>
        </p:txBody>
      </p:sp>
    </p:spTree>
    <p:extLst>
      <p:ext uri="{BB962C8B-B14F-4D97-AF65-F5344CB8AC3E}">
        <p14:creationId xmlns:p14="http://schemas.microsoft.com/office/powerpoint/2010/main" val="43673065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8C219-1579-4819-6477-DDC3EE37538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3EE82D4-2075-DFBD-4C93-F64658EE5F65}"/>
              </a:ext>
            </a:extLst>
          </p:cNvPr>
          <p:cNvSpPr>
            <a:spLocks noGrp="1"/>
          </p:cNvSpPr>
          <p:nvPr>
            <p:ph type="title"/>
          </p:nvPr>
        </p:nvSpPr>
        <p:spPr/>
        <p:txBody>
          <a:bodyPr/>
          <a:lstStyle/>
          <a:p>
            <a:r>
              <a:rPr lang="en-US" sz="3600" b="1"/>
              <a:t>review:</a:t>
            </a:r>
            <a:r>
              <a:rPr lang="en-US" sz="3600"/>
              <a:t> hash maps are O(1) </a:t>
            </a:r>
            <a:r>
              <a:rPr lang="en-US" sz="6000"/>
              <a:t>(ish)</a:t>
            </a:r>
          </a:p>
        </p:txBody>
      </p:sp>
    </p:spTree>
    <p:extLst>
      <p:ext uri="{BB962C8B-B14F-4D97-AF65-F5344CB8AC3E}">
        <p14:creationId xmlns:p14="http://schemas.microsoft.com/office/powerpoint/2010/main" val="24612119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42F4A-28C3-8108-A12C-64060791D7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1CAE44E-76A8-6A98-0052-D883C033CC5F}"/>
              </a:ext>
            </a:extLst>
          </p:cNvPr>
          <p:cNvSpPr>
            <a:spLocks noGrp="1"/>
          </p:cNvSpPr>
          <p:nvPr>
            <p:ph type="title"/>
          </p:nvPr>
        </p:nvSpPr>
        <p:spPr/>
        <p:txBody>
          <a:bodyPr/>
          <a:lstStyle/>
          <a:p>
            <a:r>
              <a:rPr lang="en-US" sz="4400"/>
              <a:t>what happens when we call </a:t>
            </a:r>
            <a:r>
              <a:rPr lang="en-US" sz="4400">
                <a:latin typeface="+mj-lt"/>
              </a:rPr>
              <a:t>map.get(key)</a:t>
            </a:r>
            <a:r>
              <a:rPr lang="en-US" sz="4400"/>
              <a:t>?</a:t>
            </a:r>
          </a:p>
        </p:txBody>
      </p:sp>
    </p:spTree>
    <p:extLst>
      <p:ext uri="{BB962C8B-B14F-4D97-AF65-F5344CB8AC3E}">
        <p14:creationId xmlns:p14="http://schemas.microsoft.com/office/powerpoint/2010/main" val="44055853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334342E-F0C7-4B79-F21E-C448A3A7C1F4}"/>
            </a:ext>
          </a:extLst>
        </p:cNvPr>
        <p:cNvGrpSpPr/>
        <p:nvPr/>
      </p:nvGrpSpPr>
      <p:grpSpPr>
        <a:xfrm>
          <a:off x="0" y="0"/>
          <a:ext cx="0" cy="0"/>
          <a:chOff x="0" y="0"/>
          <a:chExt cx="0" cy="0"/>
        </a:xfrm>
      </p:grpSpPr>
      <p:grpSp>
        <p:nvGrpSpPr>
          <p:cNvPr id="26" name="Group 25">
            <a:extLst>
              <a:ext uri="{FF2B5EF4-FFF2-40B4-BE49-F238E27FC236}">
                <a16:creationId xmlns:a16="http://schemas.microsoft.com/office/drawing/2014/main" id="{A32013F4-61AC-8FCA-CF59-69878E75BCCD}"/>
              </a:ext>
            </a:extLst>
          </p:cNvPr>
          <p:cNvGrpSpPr/>
          <p:nvPr/>
        </p:nvGrpSpPr>
        <p:grpSpPr>
          <a:xfrm>
            <a:off x="320789" y="671693"/>
            <a:ext cx="8400984" cy="1446550"/>
            <a:chOff x="320789" y="671693"/>
            <a:chExt cx="8400984" cy="1446550"/>
          </a:xfrm>
        </p:grpSpPr>
        <p:sp>
          <p:nvSpPr>
            <p:cNvPr id="7" name="TextBox 6">
              <a:extLst>
                <a:ext uri="{FF2B5EF4-FFF2-40B4-BE49-F238E27FC236}">
                  <a16:creationId xmlns:a16="http://schemas.microsoft.com/office/drawing/2014/main" id="{04EC70AF-7C5D-0510-D32D-04B47BA84368}"/>
                </a:ext>
              </a:extLst>
            </p:cNvPr>
            <p:cNvSpPr txBox="1"/>
            <p:nvPr/>
          </p:nvSpPr>
          <p:spPr>
            <a:xfrm>
              <a:off x="3679639" y="671693"/>
              <a:ext cx="1683284" cy="144655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8800" b="0" i="0" u="none" strike="noStrike" kern="1200" cap="none" spc="0" normalizeH="0" baseline="0" noProof="0">
                <a:ln>
                  <a:noFill/>
                </a:ln>
                <a:solidFill>
                  <a:srgbClr val="000000"/>
                </a:solidFill>
                <a:effectLst/>
                <a:uLnTx/>
                <a:uFillTx/>
                <a:latin typeface="Arial"/>
                <a:ea typeface="+mn-ea"/>
                <a:cs typeface="+mn-cs"/>
              </a:endParaRPr>
            </a:p>
          </p:txBody>
        </p:sp>
        <p:sp>
          <p:nvSpPr>
            <p:cNvPr id="8" name="TextBox 7">
              <a:extLst>
                <a:ext uri="{FF2B5EF4-FFF2-40B4-BE49-F238E27FC236}">
                  <a16:creationId xmlns:a16="http://schemas.microsoft.com/office/drawing/2014/main" id="{51FE2E8C-0E21-DF4C-1343-10795503DEE2}"/>
                </a:ext>
              </a:extLst>
            </p:cNvPr>
            <p:cNvSpPr txBox="1"/>
            <p:nvPr/>
          </p:nvSpPr>
          <p:spPr>
            <a:xfrm>
              <a:off x="320789" y="671693"/>
              <a:ext cx="1683284" cy="144655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8800" b="0" i="0" u="none" strike="noStrike" kern="1200" cap="none" spc="0" normalizeH="0" baseline="0" noProof="0">
                <a:ln>
                  <a:noFill/>
                </a:ln>
                <a:solidFill>
                  <a:srgbClr val="000000"/>
                </a:solidFill>
                <a:effectLst/>
                <a:uLnTx/>
                <a:uFillTx/>
                <a:latin typeface="Arial"/>
                <a:ea typeface="+mn-ea"/>
                <a:cs typeface="+mn-cs"/>
              </a:endParaRPr>
            </a:p>
          </p:txBody>
        </p:sp>
        <p:sp>
          <p:nvSpPr>
            <p:cNvPr id="3" name="TextBox 2">
              <a:extLst>
                <a:ext uri="{FF2B5EF4-FFF2-40B4-BE49-F238E27FC236}">
                  <a16:creationId xmlns:a16="http://schemas.microsoft.com/office/drawing/2014/main" id="{9020419E-DC00-EEC8-78B2-919CA026CFEE}"/>
                </a:ext>
              </a:extLst>
            </p:cNvPr>
            <p:cNvSpPr txBox="1"/>
            <p:nvPr/>
          </p:nvSpPr>
          <p:spPr>
            <a:xfrm>
              <a:off x="1996355" y="671693"/>
              <a:ext cx="1683284" cy="144655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8800" b="0" i="0" u="none" strike="noStrike" kern="1200" cap="none" spc="0" normalizeH="0" baseline="0" noProof="0">
                <a:ln>
                  <a:noFill/>
                </a:ln>
                <a:solidFill>
                  <a:srgbClr val="000000"/>
                </a:solidFill>
                <a:effectLst/>
                <a:uLnTx/>
                <a:uFillTx/>
                <a:latin typeface="Arial"/>
                <a:ea typeface="+mn-ea"/>
                <a:cs typeface="+mn-cs"/>
              </a:endParaRPr>
            </a:p>
          </p:txBody>
        </p:sp>
        <p:sp>
          <p:nvSpPr>
            <p:cNvPr id="12" name="TextBox 11">
              <a:extLst>
                <a:ext uri="{FF2B5EF4-FFF2-40B4-BE49-F238E27FC236}">
                  <a16:creationId xmlns:a16="http://schemas.microsoft.com/office/drawing/2014/main" id="{812B8E9A-055C-8FD8-2499-781068F6B573}"/>
                </a:ext>
              </a:extLst>
            </p:cNvPr>
            <p:cNvSpPr txBox="1"/>
            <p:nvPr/>
          </p:nvSpPr>
          <p:spPr>
            <a:xfrm>
              <a:off x="5355205" y="671693"/>
              <a:ext cx="1683284" cy="144655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8800" b="0" i="0" u="none" strike="noStrike" kern="1200" cap="none" spc="0" normalizeH="0" baseline="0" noProof="0">
                <a:ln>
                  <a:noFill/>
                </a:ln>
                <a:solidFill>
                  <a:srgbClr val="000000"/>
                </a:solidFill>
                <a:effectLst/>
                <a:uLnTx/>
                <a:uFillTx/>
                <a:latin typeface="Arial"/>
                <a:ea typeface="+mn-ea"/>
                <a:cs typeface="+mn-cs"/>
              </a:endParaRPr>
            </a:p>
          </p:txBody>
        </p:sp>
        <p:sp>
          <p:nvSpPr>
            <p:cNvPr id="19" name="TextBox 18">
              <a:extLst>
                <a:ext uri="{FF2B5EF4-FFF2-40B4-BE49-F238E27FC236}">
                  <a16:creationId xmlns:a16="http://schemas.microsoft.com/office/drawing/2014/main" id="{EEC6632C-24F2-E8A4-D3EA-F9373D118377}"/>
                </a:ext>
              </a:extLst>
            </p:cNvPr>
            <p:cNvSpPr txBox="1"/>
            <p:nvPr/>
          </p:nvSpPr>
          <p:spPr>
            <a:xfrm>
              <a:off x="7038489" y="671693"/>
              <a:ext cx="1683284" cy="144655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8800" b="0" i="0" u="none" strike="noStrike" kern="1200" cap="none" spc="0" normalizeH="0" baseline="0" noProof="0">
                <a:ln>
                  <a:noFill/>
                </a:ln>
                <a:solidFill>
                  <a:srgbClr val="000000"/>
                </a:solidFill>
                <a:effectLst/>
                <a:uLnTx/>
                <a:uFillTx/>
                <a:latin typeface="Arial"/>
                <a:ea typeface="+mn-ea"/>
                <a:cs typeface="+mn-cs"/>
              </a:endParaRPr>
            </a:p>
          </p:txBody>
        </p:sp>
        <p:sp>
          <p:nvSpPr>
            <p:cNvPr id="21" name="TextBox 20">
              <a:extLst>
                <a:ext uri="{FF2B5EF4-FFF2-40B4-BE49-F238E27FC236}">
                  <a16:creationId xmlns:a16="http://schemas.microsoft.com/office/drawing/2014/main" id="{8C256A7C-B633-0993-9704-569935A9DC55}"/>
                </a:ext>
              </a:extLst>
            </p:cNvPr>
            <p:cNvSpPr txBox="1"/>
            <p:nvPr/>
          </p:nvSpPr>
          <p:spPr>
            <a:xfrm>
              <a:off x="1163784" y="1454730"/>
              <a:ext cx="401781"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4A6EE"/>
                  </a:solidFill>
                  <a:effectLst/>
                  <a:uLnTx/>
                  <a:uFillTx/>
                  <a:latin typeface="Consolas"/>
                  <a:ea typeface="+mn-ea"/>
                  <a:cs typeface="+mn-cs"/>
                </a:rPr>
                <a:t>0</a:t>
              </a:r>
            </a:p>
          </p:txBody>
        </p:sp>
        <p:sp>
          <p:nvSpPr>
            <p:cNvPr id="22" name="TextBox 21">
              <a:extLst>
                <a:ext uri="{FF2B5EF4-FFF2-40B4-BE49-F238E27FC236}">
                  <a16:creationId xmlns:a16="http://schemas.microsoft.com/office/drawing/2014/main" id="{E4E7555C-288A-61FC-CB26-43AD8026F6D5}"/>
                </a:ext>
              </a:extLst>
            </p:cNvPr>
            <p:cNvSpPr txBox="1"/>
            <p:nvPr/>
          </p:nvSpPr>
          <p:spPr>
            <a:xfrm>
              <a:off x="2806166" y="1454730"/>
              <a:ext cx="401781"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4A6EE"/>
                  </a:solidFill>
                  <a:effectLst/>
                  <a:uLnTx/>
                  <a:uFillTx/>
                  <a:latin typeface="Consolas"/>
                  <a:ea typeface="+mn-ea"/>
                  <a:cs typeface="+mn-cs"/>
                </a:rPr>
                <a:t>1</a:t>
              </a:r>
            </a:p>
          </p:txBody>
        </p:sp>
        <p:sp>
          <p:nvSpPr>
            <p:cNvPr id="23" name="TextBox 22">
              <a:extLst>
                <a:ext uri="{FF2B5EF4-FFF2-40B4-BE49-F238E27FC236}">
                  <a16:creationId xmlns:a16="http://schemas.microsoft.com/office/drawing/2014/main" id="{F60DABB9-295B-454B-6F17-F9B31C8F0276}"/>
                </a:ext>
              </a:extLst>
            </p:cNvPr>
            <p:cNvSpPr txBox="1"/>
            <p:nvPr/>
          </p:nvSpPr>
          <p:spPr>
            <a:xfrm>
              <a:off x="4526037" y="1454730"/>
              <a:ext cx="401781"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4A6EE"/>
                  </a:solidFill>
                  <a:effectLst/>
                  <a:uLnTx/>
                  <a:uFillTx/>
                  <a:latin typeface="Consolas"/>
                  <a:ea typeface="+mn-ea"/>
                  <a:cs typeface="+mn-cs"/>
                </a:rPr>
                <a:t>2</a:t>
              </a:r>
            </a:p>
          </p:txBody>
        </p:sp>
        <p:sp>
          <p:nvSpPr>
            <p:cNvPr id="24" name="TextBox 23">
              <a:extLst>
                <a:ext uri="{FF2B5EF4-FFF2-40B4-BE49-F238E27FC236}">
                  <a16:creationId xmlns:a16="http://schemas.microsoft.com/office/drawing/2014/main" id="{DEB3FAA0-23FF-A76C-5D8C-0816E2623B6F}"/>
                </a:ext>
              </a:extLst>
            </p:cNvPr>
            <p:cNvSpPr txBox="1"/>
            <p:nvPr/>
          </p:nvSpPr>
          <p:spPr>
            <a:xfrm>
              <a:off x="6207397" y="1454730"/>
              <a:ext cx="401781"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4A6EE"/>
                  </a:solidFill>
                  <a:effectLst/>
                  <a:uLnTx/>
                  <a:uFillTx/>
                  <a:latin typeface="Consolas"/>
                  <a:ea typeface="+mn-ea"/>
                  <a:cs typeface="+mn-cs"/>
                </a:rPr>
                <a:t>3</a:t>
              </a:r>
            </a:p>
          </p:txBody>
        </p:sp>
        <p:sp>
          <p:nvSpPr>
            <p:cNvPr id="25" name="TextBox 24">
              <a:extLst>
                <a:ext uri="{FF2B5EF4-FFF2-40B4-BE49-F238E27FC236}">
                  <a16:creationId xmlns:a16="http://schemas.microsoft.com/office/drawing/2014/main" id="{1F8B606B-C1D0-C3FB-2AE9-F89F9D38E1C8}"/>
                </a:ext>
              </a:extLst>
            </p:cNvPr>
            <p:cNvSpPr txBox="1"/>
            <p:nvPr/>
          </p:nvSpPr>
          <p:spPr>
            <a:xfrm>
              <a:off x="7898742" y="1454730"/>
              <a:ext cx="401781"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4A6EE"/>
                  </a:solidFill>
                  <a:effectLst/>
                  <a:uLnTx/>
                  <a:uFillTx/>
                  <a:latin typeface="Consolas"/>
                  <a:ea typeface="+mn-ea"/>
                  <a:cs typeface="+mn-cs"/>
                </a:rPr>
                <a:t>4</a:t>
              </a:r>
            </a:p>
          </p:txBody>
        </p:sp>
      </p:grpSp>
      <p:grpSp>
        <p:nvGrpSpPr>
          <p:cNvPr id="27" name="Group 26">
            <a:extLst>
              <a:ext uri="{FF2B5EF4-FFF2-40B4-BE49-F238E27FC236}">
                <a16:creationId xmlns:a16="http://schemas.microsoft.com/office/drawing/2014/main" id="{B4F37172-BD92-3958-D802-1CF30B73380E}"/>
              </a:ext>
            </a:extLst>
          </p:cNvPr>
          <p:cNvGrpSpPr/>
          <p:nvPr/>
        </p:nvGrpSpPr>
        <p:grpSpPr>
          <a:xfrm>
            <a:off x="617269" y="636440"/>
            <a:ext cx="8040900" cy="462517"/>
            <a:chOff x="617269" y="636440"/>
            <a:chExt cx="8040900" cy="462517"/>
          </a:xfrm>
        </p:grpSpPr>
        <p:sp>
          <p:nvSpPr>
            <p:cNvPr id="4" name="TextBox 3">
              <a:extLst>
                <a:ext uri="{FF2B5EF4-FFF2-40B4-BE49-F238E27FC236}">
                  <a16:creationId xmlns:a16="http://schemas.microsoft.com/office/drawing/2014/main" id="{10B99D89-AB3D-41BC-0041-AA54B9B56BD6}"/>
                </a:ext>
              </a:extLst>
            </p:cNvPr>
            <p:cNvSpPr txBox="1"/>
            <p:nvPr/>
          </p:nvSpPr>
          <p:spPr>
            <a:xfrm>
              <a:off x="617269" y="636440"/>
              <a:ext cx="1477131"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2400" b="0" i="0" u="none" strike="noStrike" kern="1200" cap="none" spc="0" normalizeH="0" baseline="0" noProof="0">
                <a:ln>
                  <a:noFill/>
                </a:ln>
                <a:solidFill>
                  <a:srgbClr val="000000"/>
                </a:solidFill>
                <a:effectLst/>
                <a:uLnTx/>
                <a:uFillTx/>
                <a:latin typeface="Arial"/>
                <a:ea typeface="+mn-ea"/>
                <a:cs typeface="+mn-cs"/>
              </a:endParaRPr>
            </a:p>
          </p:txBody>
        </p:sp>
        <p:sp>
          <p:nvSpPr>
            <p:cNvPr id="2" name="TextBox 1">
              <a:extLst>
                <a:ext uri="{FF2B5EF4-FFF2-40B4-BE49-F238E27FC236}">
                  <a16:creationId xmlns:a16="http://schemas.microsoft.com/office/drawing/2014/main" id="{190F55EB-2608-5AB7-D06B-C8E9262350D2}"/>
                </a:ext>
              </a:extLst>
            </p:cNvPr>
            <p:cNvSpPr txBox="1"/>
            <p:nvPr/>
          </p:nvSpPr>
          <p:spPr>
            <a:xfrm>
              <a:off x="3969879" y="636443"/>
              <a:ext cx="742227" cy="46166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2400" b="0" i="0" u="none" strike="noStrike" kern="1200" cap="none" spc="0" normalizeH="0" baseline="0" noProof="0">
                <a:ln>
                  <a:noFill/>
                </a:ln>
                <a:solidFill>
                  <a:srgbClr val="000000"/>
                </a:solidFill>
                <a:effectLst/>
                <a:uLnTx/>
                <a:uFillTx/>
                <a:latin typeface="Arial"/>
                <a:ea typeface="+mn-ea"/>
                <a:cs typeface="+mn-cs"/>
              </a:endParaRPr>
            </a:p>
          </p:txBody>
        </p:sp>
        <p:sp>
          <p:nvSpPr>
            <p:cNvPr id="14" name="TextBox 13">
              <a:extLst>
                <a:ext uri="{FF2B5EF4-FFF2-40B4-BE49-F238E27FC236}">
                  <a16:creationId xmlns:a16="http://schemas.microsoft.com/office/drawing/2014/main" id="{491F1463-E1D9-260D-3BE2-7CF451A12BCE}"/>
                </a:ext>
              </a:extLst>
            </p:cNvPr>
            <p:cNvSpPr txBox="1"/>
            <p:nvPr/>
          </p:nvSpPr>
          <p:spPr>
            <a:xfrm>
              <a:off x="5514103" y="637292"/>
              <a:ext cx="1565867"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0" name="TextBox 19">
              <a:extLst>
                <a:ext uri="{FF2B5EF4-FFF2-40B4-BE49-F238E27FC236}">
                  <a16:creationId xmlns:a16="http://schemas.microsoft.com/office/drawing/2014/main" id="{0C9964B9-5335-8A76-6980-FEFAFB31CF6D}"/>
                </a:ext>
              </a:extLst>
            </p:cNvPr>
            <p:cNvSpPr txBox="1"/>
            <p:nvPr/>
          </p:nvSpPr>
          <p:spPr>
            <a:xfrm>
              <a:off x="7290012" y="636442"/>
              <a:ext cx="1368157"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2400" b="0" i="0" u="none" strike="noStrike" kern="1200" cap="none" spc="0" normalizeH="0" baseline="0" noProof="0">
                <a:ln>
                  <a:noFill/>
                </a:ln>
                <a:solidFill>
                  <a:srgbClr val="000000"/>
                </a:solidFill>
                <a:effectLst/>
                <a:uLnTx/>
                <a:uFillTx/>
                <a:latin typeface="Arial"/>
                <a:ea typeface="+mn-ea"/>
                <a:cs typeface="+mn-cs"/>
              </a:endParaRPr>
            </a:p>
          </p:txBody>
        </p:sp>
      </p:grpSp>
      <p:sp>
        <p:nvSpPr>
          <p:cNvPr id="28" name="TextBox 27">
            <a:extLst>
              <a:ext uri="{FF2B5EF4-FFF2-40B4-BE49-F238E27FC236}">
                <a16:creationId xmlns:a16="http://schemas.microsoft.com/office/drawing/2014/main" id="{F5D5151F-A6F9-3325-9CD8-29E2FAAE23A8}"/>
              </a:ext>
            </a:extLst>
          </p:cNvPr>
          <p:cNvSpPr txBox="1"/>
          <p:nvPr/>
        </p:nvSpPr>
        <p:spPr>
          <a:xfrm>
            <a:off x="668070" y="973813"/>
            <a:ext cx="7683253"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66D9ED">
                    <a:lumMod val="20000"/>
                    <a:lumOff val="80000"/>
                  </a:srgbClr>
                </a:solidFill>
                <a:effectLst/>
                <a:uLnTx/>
                <a:uFillTx/>
                <a:latin typeface="Comic Sans MS" panose="030F0902030302020204" pitchFamily="66" charset="0"/>
                <a:ea typeface="+mn-ea"/>
                <a:cs typeface="+mn-cs"/>
              </a:rPr>
              <a:t> Joe   Kahoot                                                                Cheep  Hans                      Doug   Io  Gary                   Max</a:t>
            </a:r>
          </a:p>
        </p:txBody>
      </p:sp>
      <p:sp>
        <p:nvSpPr>
          <p:cNvPr id="11" name="TextBox 10">
            <a:extLst>
              <a:ext uri="{FF2B5EF4-FFF2-40B4-BE49-F238E27FC236}">
                <a16:creationId xmlns:a16="http://schemas.microsoft.com/office/drawing/2014/main" id="{34BCED8B-03F1-256D-68D2-F0761C10DBFE}"/>
              </a:ext>
            </a:extLst>
          </p:cNvPr>
          <p:cNvSpPr txBox="1"/>
          <p:nvPr/>
        </p:nvSpPr>
        <p:spPr>
          <a:xfrm>
            <a:off x="4133864" y="3029961"/>
            <a:ext cx="3467164"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srgbClr val="FD971F"/>
                </a:solidFill>
                <a:effectLst/>
                <a:uLnTx/>
                <a:uFillTx/>
                <a:latin typeface="Consolas"/>
                <a:ea typeface="+mn-ea"/>
                <a:cs typeface="+mn-cs"/>
              </a:rPr>
              <a:t>map.get</a:t>
            </a:r>
            <a:r>
              <a:rPr kumimoji="0" lang="en-US" sz="2400" b="0" i="0" u="none" strike="noStrike" kern="1200" cap="none" spc="0" normalizeH="0" baseline="0" noProof="0">
                <a:ln>
                  <a:noFill/>
                </a:ln>
                <a:solidFill>
                  <a:srgbClr val="FD971F"/>
                </a:solidFill>
                <a:effectLst/>
                <a:uLnTx/>
                <a:uFillTx/>
                <a:latin typeface="Consolas"/>
                <a:ea typeface="+mn-ea"/>
                <a:cs typeface="+mn-cs"/>
              </a:rPr>
              <a:t>("Hans"</a:t>
            </a:r>
            <a:r>
              <a:rPr kumimoji="0" lang="en-US" sz="2400" b="0" i="0" u="none" strike="noStrike" kern="1200" cap="none" spc="0" normalizeH="0" baseline="0" noProof="0">
                <a:ln>
                  <a:noFill/>
                </a:ln>
                <a:solidFill>
                  <a:srgbClr val="FD971F"/>
                </a:solidFill>
                <a:effectLst/>
                <a:uLnTx/>
                <a:uFillTx/>
                <a:latin typeface="Consolas"/>
                <a:ea typeface="Segoe UI Emoji" panose="020B0502040204020203" pitchFamily="34" charset="0"/>
                <a:cs typeface="+mn-cs"/>
              </a:rPr>
              <a:t>)</a:t>
            </a:r>
            <a:endParaRPr kumimoji="0" lang="en-US" sz="2400" b="0" i="0" u="none" strike="noStrike" kern="1200" cap="none" spc="0" normalizeH="0" baseline="0" noProof="0">
              <a:ln>
                <a:noFill/>
              </a:ln>
              <a:solidFill>
                <a:srgbClr val="FD971F"/>
              </a:solidFill>
              <a:effectLst/>
              <a:uLnTx/>
              <a:uFillTx/>
              <a:latin typeface="Consolas"/>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80B8D"/>
              </a:solidFill>
              <a:effectLst/>
              <a:uLnTx/>
              <a:uFillTx/>
              <a:latin typeface="Consolas"/>
              <a:ea typeface="+mn-ea"/>
              <a:cs typeface="+mn-cs"/>
            </a:endParaRPr>
          </a:p>
        </p:txBody>
      </p:sp>
      <p:sp>
        <p:nvSpPr>
          <p:cNvPr id="13" name="Rectangle 12">
            <a:extLst>
              <a:ext uri="{FF2B5EF4-FFF2-40B4-BE49-F238E27FC236}">
                <a16:creationId xmlns:a16="http://schemas.microsoft.com/office/drawing/2014/main" id="{69EA0113-F9DD-9401-089C-46F70EBCEC25}"/>
              </a:ext>
            </a:extLst>
          </p:cNvPr>
          <p:cNvSpPr/>
          <p:nvPr/>
        </p:nvSpPr>
        <p:spPr>
          <a:xfrm>
            <a:off x="457200" y="467360"/>
            <a:ext cx="3222439" cy="1828800"/>
          </a:xfrm>
          <a:prstGeom prst="rect">
            <a:avLst/>
          </a:prstGeom>
          <a:solidFill>
            <a:schemeClr val="tx1">
              <a:alpha val="74902"/>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5" name="Rectangle 14">
            <a:extLst>
              <a:ext uri="{FF2B5EF4-FFF2-40B4-BE49-F238E27FC236}">
                <a16:creationId xmlns:a16="http://schemas.microsoft.com/office/drawing/2014/main" id="{2CE02451-8B4E-E055-588E-66AB697727CC}"/>
              </a:ext>
            </a:extLst>
          </p:cNvPr>
          <p:cNvSpPr/>
          <p:nvPr/>
        </p:nvSpPr>
        <p:spPr>
          <a:xfrm>
            <a:off x="5570917" y="326833"/>
            <a:ext cx="3222439" cy="1828800"/>
          </a:xfrm>
          <a:prstGeom prst="rect">
            <a:avLst/>
          </a:prstGeom>
          <a:solidFill>
            <a:schemeClr val="tx1">
              <a:alpha val="74902"/>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cxnSp>
        <p:nvCxnSpPr>
          <p:cNvPr id="18" name="Straight Arrow Connector 17">
            <a:extLst>
              <a:ext uri="{FF2B5EF4-FFF2-40B4-BE49-F238E27FC236}">
                <a16:creationId xmlns:a16="http://schemas.microsoft.com/office/drawing/2014/main" id="{E9A9BEE4-783D-95CF-839C-0721AC75FC32}"/>
              </a:ext>
            </a:extLst>
          </p:cNvPr>
          <p:cNvCxnSpPr>
            <a:cxnSpLocks/>
          </p:cNvCxnSpPr>
          <p:nvPr/>
        </p:nvCxnSpPr>
        <p:spPr>
          <a:xfrm flipH="1" flipV="1">
            <a:off x="4741144" y="2010074"/>
            <a:ext cx="273968" cy="1028594"/>
          </a:xfrm>
          <a:prstGeom prst="straightConnector1">
            <a:avLst/>
          </a:prstGeom>
          <a:ln w="5715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CC8D3C6B-BE72-51B5-4E14-698B021CDB3E}"/>
              </a:ext>
            </a:extLst>
          </p:cNvPr>
          <p:cNvSpPr txBox="1"/>
          <p:nvPr/>
        </p:nvSpPr>
        <p:spPr>
          <a:xfrm>
            <a:off x="2387421" y="2065133"/>
            <a:ext cx="2079821" cy="1862048"/>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5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8800" b="0" i="0" u="none" strike="noStrike" kern="1200" cap="none" spc="0" normalizeH="0" baseline="0" noProof="0">
              <a:ln>
                <a:noFill/>
              </a:ln>
              <a:solidFill>
                <a:srgbClr val="000000"/>
              </a:solidFill>
              <a:effectLst/>
              <a:uLnTx/>
              <a:uFillTx/>
              <a:latin typeface="Arial"/>
              <a:ea typeface="+mn-ea"/>
              <a:cs typeface="+mn-cs"/>
            </a:endParaRPr>
          </a:p>
        </p:txBody>
      </p:sp>
      <p:sp>
        <p:nvSpPr>
          <p:cNvPr id="41" name="Rectangle 40">
            <a:extLst>
              <a:ext uri="{FF2B5EF4-FFF2-40B4-BE49-F238E27FC236}">
                <a16:creationId xmlns:a16="http://schemas.microsoft.com/office/drawing/2014/main" id="{4E8BA9C9-D591-EB17-0D85-EDDFD339E9BC}"/>
              </a:ext>
            </a:extLst>
          </p:cNvPr>
          <p:cNvSpPr/>
          <p:nvPr/>
        </p:nvSpPr>
        <p:spPr>
          <a:xfrm>
            <a:off x="910960" y="3734677"/>
            <a:ext cx="5224130" cy="1311349"/>
          </a:xfrm>
          <a:prstGeom prst="rect">
            <a:avLst/>
          </a:prstGeom>
          <a:solidFill>
            <a:schemeClr val="accent2">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nvGrpSpPr>
          <p:cNvPr id="43" name="Group 42">
            <a:extLst>
              <a:ext uri="{FF2B5EF4-FFF2-40B4-BE49-F238E27FC236}">
                <a16:creationId xmlns:a16="http://schemas.microsoft.com/office/drawing/2014/main" id="{C8D0EBAD-180B-91E7-DC73-873312729211}"/>
              </a:ext>
            </a:extLst>
          </p:cNvPr>
          <p:cNvGrpSpPr/>
          <p:nvPr/>
        </p:nvGrpSpPr>
        <p:grpSpPr>
          <a:xfrm>
            <a:off x="-341375" y="144876"/>
            <a:ext cx="4589820" cy="477054"/>
            <a:chOff x="-341375" y="144876"/>
            <a:chExt cx="4589820" cy="477054"/>
          </a:xfrm>
        </p:grpSpPr>
        <p:cxnSp>
          <p:nvCxnSpPr>
            <p:cNvPr id="32" name="Straight Arrow Connector 31">
              <a:extLst>
                <a:ext uri="{FF2B5EF4-FFF2-40B4-BE49-F238E27FC236}">
                  <a16:creationId xmlns:a16="http://schemas.microsoft.com/office/drawing/2014/main" id="{8D9280C3-6E0E-A727-CF62-CAAA597BEBF4}"/>
                </a:ext>
              </a:extLst>
            </p:cNvPr>
            <p:cNvCxnSpPr>
              <a:cxnSpLocks/>
            </p:cNvCxnSpPr>
            <p:nvPr/>
          </p:nvCxnSpPr>
          <p:spPr>
            <a:xfrm>
              <a:off x="4248445" y="148903"/>
              <a:ext cx="0" cy="468232"/>
            </a:xfrm>
            <a:prstGeom prst="straightConnector1">
              <a:avLst/>
            </a:prstGeom>
            <a:ln w="38100">
              <a:solidFill>
                <a:srgbClr val="BFBFBF"/>
              </a:solidFill>
              <a:tailEnd type="triangle"/>
            </a:ln>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8BB7B8B7-5336-8760-0ABB-3B76C6C0B8B1}"/>
                </a:ext>
              </a:extLst>
            </p:cNvPr>
            <p:cNvSpPr txBox="1"/>
            <p:nvPr/>
          </p:nvSpPr>
          <p:spPr>
            <a:xfrm>
              <a:off x="-341375" y="144876"/>
              <a:ext cx="4510101" cy="47705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lumMod val="85000"/>
                    </a:srgbClr>
                  </a:solidFill>
                  <a:effectLst/>
                  <a:uLnTx/>
                  <a:uFillTx/>
                  <a:latin typeface="Arial"/>
                  <a:ea typeface="+mn-ea"/>
                  <a:cs typeface="+mn-cs"/>
                </a:rPr>
                <a:t>is this </a:t>
              </a:r>
              <a:r>
                <a:rPr kumimoji="0" lang="en-US" sz="1400" b="0" i="0" u="none" strike="noStrike" kern="1200" cap="none" spc="0" normalizeH="0" baseline="0" noProof="0">
                  <a:ln>
                    <a:noFill/>
                  </a:ln>
                  <a:solidFill>
                    <a:srgbClr val="FFFFFF">
                      <a:lumMod val="85000"/>
                    </a:srgbClr>
                  </a:solidFill>
                  <a:effectLst/>
                  <a:uLnTx/>
                  <a:uFillTx/>
                  <a:latin typeface="Comic Sans MS" panose="030F0902030302020204" pitchFamily="66" charset="0"/>
                  <a:ea typeface="+mn-ea"/>
                  <a:cs typeface="+mn-cs"/>
                </a:rPr>
                <a:t>Hans</a:t>
              </a:r>
              <a:r>
                <a:rPr kumimoji="0" lang="en-US" sz="1400" b="0" i="0" u="none" strike="noStrike" kern="1200" cap="none" spc="0" normalizeH="0" baseline="0" noProof="0">
                  <a:ln>
                    <a:noFill/>
                  </a:ln>
                  <a:solidFill>
                    <a:srgbClr val="FFFFFF">
                      <a:lumMod val="85000"/>
                    </a:srgbClr>
                  </a:solidFill>
                  <a:effectLst/>
                  <a:uLnTx/>
                  <a:uFillTx/>
                  <a:latin typeface="Arial"/>
                  <a:ea typeface="+mn-ea"/>
                  <a:cs typeface="+mn-cs"/>
                </a:rPr>
                <a:t>?</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lumMod val="75000"/>
                    </a:srgbClr>
                  </a:solidFill>
                  <a:effectLst/>
                  <a:uLnTx/>
                  <a:uFillTx/>
                  <a:latin typeface="Consolas"/>
                  <a:ea typeface="+mn-ea"/>
                  <a:cs typeface="+mn-cs"/>
                </a:rPr>
                <a:t>buckets[bucketIndex].get(i).</a:t>
              </a:r>
              <a:r>
                <a:rPr kumimoji="0" lang="en-US" sz="1100" b="0" i="0" u="none" strike="noStrike" kern="1200" cap="none" spc="0" normalizeH="0" baseline="0" noProof="0" err="1">
                  <a:ln>
                    <a:noFill/>
                  </a:ln>
                  <a:solidFill>
                    <a:srgbClr val="FFFFFF">
                      <a:lumMod val="75000"/>
                    </a:srgbClr>
                  </a:solidFill>
                  <a:effectLst/>
                  <a:uLnTx/>
                  <a:uFillTx/>
                  <a:latin typeface="Consolas"/>
                  <a:ea typeface="+mn-ea"/>
                  <a:cs typeface="+mn-cs"/>
                </a:rPr>
                <a:t>key.equals</a:t>
              </a:r>
              <a:r>
                <a:rPr kumimoji="0" lang="en-US" sz="1100" b="0" i="0" u="none" strike="noStrike" kern="1200" cap="none" spc="0" normalizeH="0" baseline="0" noProof="0">
                  <a:ln>
                    <a:noFill/>
                  </a:ln>
                  <a:solidFill>
                    <a:srgbClr val="FFFFFF">
                      <a:lumMod val="75000"/>
                    </a:srgbClr>
                  </a:solidFill>
                  <a:effectLst/>
                  <a:uLnTx/>
                  <a:uFillTx/>
                  <a:latin typeface="Consolas"/>
                  <a:ea typeface="+mn-ea"/>
                  <a:cs typeface="+mn-cs"/>
                </a:rPr>
                <a:t>("Hans")?</a:t>
              </a:r>
            </a:p>
          </p:txBody>
        </p:sp>
      </p:grpSp>
      <p:cxnSp>
        <p:nvCxnSpPr>
          <p:cNvPr id="45" name="Straight Arrow Connector 44">
            <a:extLst>
              <a:ext uri="{FF2B5EF4-FFF2-40B4-BE49-F238E27FC236}">
                <a16:creationId xmlns:a16="http://schemas.microsoft.com/office/drawing/2014/main" id="{711D752F-F1C5-5088-3C64-BD51E74AAA5E}"/>
              </a:ext>
            </a:extLst>
          </p:cNvPr>
          <p:cNvCxnSpPr>
            <a:cxnSpLocks/>
          </p:cNvCxnSpPr>
          <p:nvPr/>
        </p:nvCxnSpPr>
        <p:spPr>
          <a:xfrm>
            <a:off x="4677035" y="148903"/>
            <a:ext cx="0" cy="468232"/>
          </a:xfrm>
          <a:prstGeom prst="straightConnector1">
            <a:avLst/>
          </a:prstGeom>
          <a:ln w="38100">
            <a:solidFill>
              <a:srgbClr val="BFBFBF"/>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D1C4F134-2E7F-E16E-5DF3-4A862C3CB57D}"/>
              </a:ext>
            </a:extLst>
          </p:cNvPr>
          <p:cNvCxnSpPr>
            <a:cxnSpLocks/>
          </p:cNvCxnSpPr>
          <p:nvPr/>
        </p:nvCxnSpPr>
        <p:spPr>
          <a:xfrm>
            <a:off x="4676375" y="147888"/>
            <a:ext cx="0" cy="468232"/>
          </a:xfrm>
          <a:prstGeom prst="straightConnector1">
            <a:avLst/>
          </a:prstGeom>
          <a:ln w="76200">
            <a:solidFill>
              <a:schemeClr val="accent4"/>
            </a:solidFill>
            <a:tailEnd type="triangle"/>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A37B0EF9-8706-9768-AE16-92E848D6DA7B}"/>
              </a:ext>
            </a:extLst>
          </p:cNvPr>
          <p:cNvSpPr txBox="1"/>
          <p:nvPr/>
        </p:nvSpPr>
        <p:spPr>
          <a:xfrm>
            <a:off x="4526848" y="1453227"/>
            <a:ext cx="401781"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FFF32"/>
                </a:solidFill>
                <a:effectLst/>
                <a:uLnTx/>
                <a:uFillTx/>
                <a:latin typeface="Consolas"/>
                <a:ea typeface="+mn-ea"/>
                <a:cs typeface="+mn-cs"/>
              </a:rPr>
              <a:t>2</a:t>
            </a:r>
          </a:p>
        </p:txBody>
      </p:sp>
      <p:grpSp>
        <p:nvGrpSpPr>
          <p:cNvPr id="50" name="Group 49">
            <a:extLst>
              <a:ext uri="{FF2B5EF4-FFF2-40B4-BE49-F238E27FC236}">
                <a16:creationId xmlns:a16="http://schemas.microsoft.com/office/drawing/2014/main" id="{5C6FF12F-22F5-F018-5DCC-713AEC54CB8F}"/>
              </a:ext>
            </a:extLst>
          </p:cNvPr>
          <p:cNvGrpSpPr/>
          <p:nvPr/>
        </p:nvGrpSpPr>
        <p:grpSpPr>
          <a:xfrm>
            <a:off x="3843844" y="655217"/>
            <a:ext cx="1205220" cy="1354621"/>
            <a:chOff x="3887634" y="632749"/>
            <a:chExt cx="1205220" cy="1354621"/>
          </a:xfrm>
        </p:grpSpPr>
        <p:sp>
          <p:nvSpPr>
            <p:cNvPr id="48" name="Rectangle 47">
              <a:extLst>
                <a:ext uri="{FF2B5EF4-FFF2-40B4-BE49-F238E27FC236}">
                  <a16:creationId xmlns:a16="http://schemas.microsoft.com/office/drawing/2014/main" id="{0492FF59-C38B-2BBC-6329-42D1D0A6FBED}"/>
                </a:ext>
              </a:extLst>
            </p:cNvPr>
            <p:cNvSpPr/>
            <p:nvPr/>
          </p:nvSpPr>
          <p:spPr>
            <a:xfrm>
              <a:off x="3887634" y="986439"/>
              <a:ext cx="1205220" cy="1000931"/>
            </a:xfrm>
            <a:prstGeom prst="rect">
              <a:avLst/>
            </a:prstGeom>
            <a:solidFill>
              <a:schemeClr val="tx1">
                <a:alpha val="74902"/>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9" name="Rectangle 48">
              <a:extLst>
                <a:ext uri="{FF2B5EF4-FFF2-40B4-BE49-F238E27FC236}">
                  <a16:creationId xmlns:a16="http://schemas.microsoft.com/office/drawing/2014/main" id="{92722C15-C3EF-5E06-492C-BF2C60836571}"/>
                </a:ext>
              </a:extLst>
            </p:cNvPr>
            <p:cNvSpPr/>
            <p:nvPr/>
          </p:nvSpPr>
          <p:spPr>
            <a:xfrm>
              <a:off x="4063522" y="632749"/>
              <a:ext cx="512032" cy="354374"/>
            </a:xfrm>
            <a:prstGeom prst="rect">
              <a:avLst/>
            </a:prstGeom>
            <a:solidFill>
              <a:schemeClr val="tx1">
                <a:alpha val="74902"/>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sp>
        <p:nvSpPr>
          <p:cNvPr id="52" name="TextBox 51">
            <a:extLst>
              <a:ext uri="{FF2B5EF4-FFF2-40B4-BE49-F238E27FC236}">
                <a16:creationId xmlns:a16="http://schemas.microsoft.com/office/drawing/2014/main" id="{799BDD5A-FB8E-A9E4-12F1-E4517A0F1110}"/>
              </a:ext>
            </a:extLst>
          </p:cNvPr>
          <p:cNvSpPr txBox="1"/>
          <p:nvPr/>
        </p:nvSpPr>
        <p:spPr>
          <a:xfrm>
            <a:off x="5040023" y="2144154"/>
            <a:ext cx="3996931" cy="5078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32"/>
                </a:solidFill>
                <a:effectLst/>
                <a:uLnTx/>
                <a:uFillTx/>
                <a:latin typeface="Arial"/>
                <a:ea typeface="+mn-ea"/>
                <a:cs typeface="+mn-cs"/>
              </a:rPr>
              <a:t>which bucket is </a:t>
            </a:r>
            <a:r>
              <a:rPr kumimoji="0" lang="en-US" sz="1600" b="0" i="0" u="none" strike="noStrike" kern="1200" cap="none" spc="0" normalizeH="0" baseline="0" noProof="0">
                <a:ln>
                  <a:noFill/>
                </a:ln>
                <a:solidFill>
                  <a:srgbClr val="FFFF32"/>
                </a:solidFill>
                <a:effectLst/>
                <a:uLnTx/>
                <a:uFillTx/>
                <a:latin typeface="Comic Sans MS" panose="030F0902030302020204" pitchFamily="66" charset="0"/>
                <a:ea typeface="+mn-ea"/>
                <a:cs typeface="+mn-cs"/>
              </a:rPr>
              <a:t>Hans</a:t>
            </a:r>
            <a:r>
              <a:rPr kumimoji="0" lang="en-US" sz="1600" b="0" i="0" u="none" strike="noStrike" kern="1200" cap="none" spc="0" normalizeH="0" baseline="0" noProof="0">
                <a:ln>
                  <a:noFill/>
                </a:ln>
                <a:solidFill>
                  <a:srgbClr val="FFFF32"/>
                </a:solidFill>
                <a:effectLst/>
                <a:uLnTx/>
                <a:uFillTx/>
                <a:latin typeface="Arial"/>
                <a:ea typeface="+mn-ea"/>
                <a:cs typeface="+mn-cs"/>
              </a:rPr>
              <a:t> in?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err="1">
                <a:ln>
                  <a:noFill/>
                </a:ln>
                <a:solidFill>
                  <a:srgbClr val="FFFF32">
                    <a:lumMod val="75000"/>
                  </a:srgbClr>
                </a:solidFill>
                <a:effectLst/>
                <a:uLnTx/>
                <a:uFillTx/>
                <a:latin typeface="Consolas"/>
                <a:ea typeface="+mn-ea"/>
                <a:cs typeface="+mn-cs"/>
              </a:rPr>
              <a:t>MODULO</a:t>
            </a:r>
            <a:r>
              <a:rPr kumimoji="0" lang="en-US" sz="1100" b="0" i="0" u="none" strike="noStrike" kern="1200" cap="none" spc="0" normalizeH="0" baseline="0" noProof="0">
                <a:ln>
                  <a:noFill/>
                </a:ln>
                <a:solidFill>
                  <a:srgbClr val="FFFF32">
                    <a:lumMod val="75000"/>
                  </a:srgbClr>
                </a:solidFill>
                <a:effectLst/>
                <a:uLnTx/>
                <a:uFillTx/>
                <a:latin typeface="Consolas"/>
                <a:ea typeface="+mn-ea"/>
                <a:cs typeface="+mn-cs"/>
              </a:rPr>
              <a:t>("Hans"</a:t>
            </a:r>
            <a:r>
              <a:rPr kumimoji="0" lang="en-US" sz="1100" b="0" i="0" u="none" strike="noStrike" kern="1200" cap="none" spc="0" normalizeH="0" baseline="0" noProof="0">
                <a:ln>
                  <a:noFill/>
                </a:ln>
                <a:solidFill>
                  <a:srgbClr val="FFFF32">
                    <a:lumMod val="75000"/>
                  </a:srgbClr>
                </a:solidFill>
                <a:effectLst/>
                <a:uLnTx/>
                <a:uFillTx/>
                <a:latin typeface="Consolas"/>
                <a:ea typeface="Segoe UI Emoji" panose="020B0502040204020203" pitchFamily="34" charset="0"/>
                <a:cs typeface="+mn-cs"/>
              </a:rPr>
              <a:t>.</a:t>
            </a:r>
            <a:r>
              <a:rPr kumimoji="0" lang="en-US" sz="1100" b="0" i="0" u="none" strike="noStrike" kern="1200" cap="none" spc="0" normalizeH="0" baseline="0" noProof="0" err="1">
                <a:ln>
                  <a:noFill/>
                </a:ln>
                <a:solidFill>
                  <a:srgbClr val="FFFF32">
                    <a:lumMod val="75000"/>
                  </a:srgbClr>
                </a:solidFill>
                <a:effectLst/>
                <a:uLnTx/>
                <a:uFillTx/>
                <a:latin typeface="Consolas"/>
                <a:ea typeface="Segoe UI Emoji" panose="020B0502040204020203" pitchFamily="34" charset="0"/>
                <a:cs typeface="+mn-cs"/>
              </a:rPr>
              <a:t>hashCode</a:t>
            </a:r>
            <a:r>
              <a:rPr kumimoji="0" lang="en-US" sz="1100" b="0" i="0" u="none" strike="noStrike" kern="1200" cap="none" spc="0" normalizeH="0" baseline="0" noProof="0">
                <a:ln>
                  <a:noFill/>
                </a:ln>
                <a:solidFill>
                  <a:srgbClr val="FFFF32">
                    <a:lumMod val="75000"/>
                  </a:srgbClr>
                </a:solidFill>
                <a:effectLst/>
                <a:uLnTx/>
                <a:uFillTx/>
                <a:latin typeface="Consolas"/>
                <a:ea typeface="Segoe UI Emoji" panose="020B0502040204020203" pitchFamily="34" charset="0"/>
                <a:cs typeface="+mn-cs"/>
              </a:rPr>
              <a:t>(), </a:t>
            </a:r>
            <a:r>
              <a:rPr kumimoji="0" lang="en-US" sz="1100" b="0" i="0" u="none" strike="noStrike" kern="1200" cap="none" spc="0" normalizeH="0" baseline="0" noProof="0" err="1">
                <a:ln>
                  <a:noFill/>
                </a:ln>
                <a:solidFill>
                  <a:srgbClr val="FFFF32">
                    <a:lumMod val="75000"/>
                  </a:srgbClr>
                </a:solidFill>
                <a:effectLst/>
                <a:uLnTx/>
                <a:uFillTx/>
                <a:latin typeface="Consolas"/>
                <a:ea typeface="Segoe UI Emoji" panose="020B0502040204020203" pitchFamily="34" charset="0"/>
                <a:cs typeface="+mn-cs"/>
              </a:rPr>
              <a:t>buckets.length</a:t>
            </a:r>
            <a:r>
              <a:rPr kumimoji="0" lang="en-US" sz="1100" b="0" i="0" u="none" strike="noStrike" kern="1200" cap="none" spc="0" normalizeH="0" baseline="0" noProof="0">
                <a:ln>
                  <a:noFill/>
                </a:ln>
                <a:solidFill>
                  <a:srgbClr val="FFFF32">
                    <a:lumMod val="75000"/>
                  </a:srgbClr>
                </a:solidFill>
                <a:effectLst/>
                <a:uLnTx/>
                <a:uFillTx/>
                <a:latin typeface="Consolas"/>
                <a:ea typeface="Segoe UI Emoji" panose="020B0502040204020203" pitchFamily="34" charset="0"/>
                <a:cs typeface="+mn-cs"/>
              </a:rPr>
              <a:t>)</a:t>
            </a:r>
            <a:endParaRPr kumimoji="0" lang="en-US" sz="1100" b="0" i="0" u="none" strike="noStrike" kern="1200" cap="none" spc="0" normalizeH="0" baseline="0" noProof="0">
              <a:ln>
                <a:noFill/>
              </a:ln>
              <a:solidFill>
                <a:srgbClr val="FFFF32">
                  <a:lumMod val="75000"/>
                </a:srgbClr>
              </a:solidFill>
              <a:effectLst/>
              <a:uLnTx/>
              <a:uFillTx/>
              <a:latin typeface="Consolas"/>
              <a:ea typeface="+mn-ea"/>
              <a:cs typeface="+mn-cs"/>
            </a:endParaRPr>
          </a:p>
        </p:txBody>
      </p:sp>
      <p:sp>
        <p:nvSpPr>
          <p:cNvPr id="5" name="TextBox 4">
            <a:extLst>
              <a:ext uri="{FF2B5EF4-FFF2-40B4-BE49-F238E27FC236}">
                <a16:creationId xmlns:a16="http://schemas.microsoft.com/office/drawing/2014/main" id="{C73ADE1F-0982-808A-BA5C-5D2CD19017C1}"/>
              </a:ext>
            </a:extLst>
          </p:cNvPr>
          <p:cNvSpPr txBox="1"/>
          <p:nvPr/>
        </p:nvSpPr>
        <p:spPr>
          <a:xfrm>
            <a:off x="4340479" y="636441"/>
            <a:ext cx="1139983"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 🦜</a:t>
            </a: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504119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43"/>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51" grpId="0"/>
      <p:bldP spid="52"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E6CEF-55A5-ADA1-C78C-E3DE71AC2E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79C63E-705C-4D2D-E8AD-FCEA45F0F498}"/>
              </a:ext>
            </a:extLst>
          </p:cNvPr>
          <p:cNvSpPr>
            <a:spLocks noGrp="1"/>
          </p:cNvSpPr>
          <p:nvPr>
            <p:ph type="title"/>
          </p:nvPr>
        </p:nvSpPr>
        <p:spPr/>
        <p:txBody>
          <a:bodyPr>
            <a:normAutofit fontScale="90000"/>
          </a:bodyPr>
          <a:lstStyle/>
          <a:p>
            <a:r>
              <a:rPr lang="en-US" b="1"/>
              <a:t>step 1:</a:t>
            </a:r>
            <a:r>
              <a:rPr lang="en-US"/>
              <a:t> hashing the key</a:t>
            </a:r>
            <a:br>
              <a:rPr lang="en-US"/>
            </a:br>
            <a:r>
              <a:rPr kumimoji="0" lang="en-US" sz="1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(in our specific case, where key is a </a:t>
            </a:r>
            <a:r>
              <a:rPr kumimoji="0" lang="en-US" sz="1800" b="0" i="0" u="none" strike="noStrike" kern="1200" cap="none" spc="0" normalizeH="0" baseline="0" noProof="0">
                <a:ln>
                  <a:noFill/>
                </a:ln>
                <a:solidFill>
                  <a:srgbClr val="00007F"/>
                </a:solidFill>
                <a:effectLst/>
                <a:uLnTx/>
                <a:uFillTx/>
                <a:latin typeface="Consolas"/>
                <a:ea typeface="Segoe UI Emoji" panose="020B0502040204020203" pitchFamily="34" charset="0"/>
                <a:cs typeface="+mj-cs"/>
              </a:rPr>
              <a:t>String</a:t>
            </a:r>
            <a:r>
              <a:rPr kumimoji="0" lang="en-US" sz="1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 and we use </a:t>
            </a:r>
            <a:r>
              <a:rPr kumimoji="0" lang="en-US" sz="1800" b="0" i="0" u="none" strike="noStrike" kern="1200" cap="none" spc="0" normalizeH="0" baseline="0" noProof="0">
                <a:ln>
                  <a:noFill/>
                </a:ln>
                <a:solidFill>
                  <a:srgbClr val="000000"/>
                </a:solidFill>
                <a:effectLst/>
                <a:uLnTx/>
                <a:uFillTx/>
                <a:latin typeface="Consolas"/>
                <a:ea typeface="Segoe UI Emoji" panose="020B0502040204020203" pitchFamily="34" charset="0"/>
                <a:cs typeface="+mj-cs"/>
              </a:rPr>
              <a:t>key.hashCode()</a:t>
            </a:r>
            <a:r>
              <a:rPr kumimoji="0" lang="en-US" sz="1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a:p>
        </p:txBody>
      </p:sp>
      <p:pic>
        <p:nvPicPr>
          <p:cNvPr id="6" name="Content Placeholder 5">
            <a:extLst>
              <a:ext uri="{FF2B5EF4-FFF2-40B4-BE49-F238E27FC236}">
                <a16:creationId xmlns:a16="http://schemas.microsoft.com/office/drawing/2014/main" id="{BEBE4E8D-385E-85BC-D921-BF096DB393AF}"/>
              </a:ext>
            </a:extLst>
          </p:cNvPr>
          <p:cNvPicPr>
            <a:picLocks noGrp="1" noChangeAspect="1"/>
          </p:cNvPicPr>
          <p:nvPr>
            <p:ph sz="quarter" idx="10"/>
          </p:nvPr>
        </p:nvPicPr>
        <p:blipFill rotWithShape="1">
          <a:blip r:embed="rId2"/>
          <a:srcRect t="2790"/>
          <a:stretch/>
        </p:blipFill>
        <p:spPr>
          <a:xfrm>
            <a:off x="762000" y="1139354"/>
            <a:ext cx="7620000" cy="3728392"/>
          </a:xfrm>
          <a:prstGeom prst="rect">
            <a:avLst/>
          </a:prstGeom>
        </p:spPr>
      </p:pic>
    </p:spTree>
    <p:extLst>
      <p:ext uri="{BB962C8B-B14F-4D97-AF65-F5344CB8AC3E}">
        <p14:creationId xmlns:p14="http://schemas.microsoft.com/office/powerpoint/2010/main" val="322972299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55725-68FD-570D-AC7D-ADAAC8996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C04A76-C17E-6FFB-6930-4394CA321B52}"/>
              </a:ext>
            </a:extLst>
          </p:cNvPr>
          <p:cNvSpPr>
            <a:spLocks noGrp="1"/>
          </p:cNvSpPr>
          <p:nvPr>
            <p:ph type="title"/>
          </p:nvPr>
        </p:nvSpPr>
        <p:spPr/>
        <p:txBody>
          <a:bodyPr>
            <a:normAutofit fontScale="90000"/>
          </a:bodyPr>
          <a:lstStyle/>
          <a:p>
            <a:r>
              <a:rPr lang="en-US" b="1"/>
              <a:t>step 1:</a:t>
            </a:r>
            <a:r>
              <a:rPr lang="en-US"/>
              <a:t> hashing the key</a:t>
            </a:r>
            <a:br>
              <a:rPr lang="en-US"/>
            </a:br>
            <a:r>
              <a:rPr lang="en-US" sz="1800"/>
              <a:t>(our specific case, where </a:t>
            </a:r>
            <a:r>
              <a:rPr lang="en-US" sz="1800">
                <a:latin typeface="+mj-lt"/>
              </a:rPr>
              <a:t>key</a:t>
            </a:r>
            <a:r>
              <a:rPr lang="en-US" sz="1800"/>
              <a:t> is a </a:t>
            </a:r>
            <a:r>
              <a:rPr lang="en-US" sz="1800">
                <a:solidFill>
                  <a:srgbClr val="00007F"/>
                </a:solidFill>
                <a:latin typeface="+mj-lt"/>
              </a:rPr>
              <a:t>String</a:t>
            </a:r>
            <a:r>
              <a:rPr lang="en-US" sz="1800"/>
              <a:t> and we use </a:t>
            </a:r>
            <a:r>
              <a:rPr lang="en-US" sz="1800">
                <a:latin typeface="+mj-lt"/>
              </a:rPr>
              <a:t>key.hashCode()</a:t>
            </a:r>
            <a:r>
              <a:rPr lang="en-US" sz="1800"/>
              <a:t>) </a:t>
            </a:r>
            <a:endParaRPr lang="en-US"/>
          </a:p>
        </p:txBody>
      </p:sp>
      <p:sp>
        <p:nvSpPr>
          <p:cNvPr id="3" name="Content Placeholder 2">
            <a:extLst>
              <a:ext uri="{FF2B5EF4-FFF2-40B4-BE49-F238E27FC236}">
                <a16:creationId xmlns:a16="http://schemas.microsoft.com/office/drawing/2014/main" id="{120E6CC3-C67D-FFF3-981B-60D59799DCF1}"/>
              </a:ext>
            </a:extLst>
          </p:cNvPr>
          <p:cNvSpPr>
            <a:spLocks noGrp="1"/>
          </p:cNvSpPr>
          <p:nvPr>
            <p:ph sz="quarter" idx="10"/>
          </p:nvPr>
        </p:nvSpPr>
        <p:spPr/>
        <p:txBody>
          <a:bodyPr/>
          <a:lstStyle/>
          <a:p>
            <a:pPr marL="0" indent="0">
              <a:buNone/>
            </a:pPr>
            <a:endParaRPr lang="en-US"/>
          </a:p>
          <a:p>
            <a:pPr lvl="1"/>
            <a:r>
              <a:rPr lang="en-US">
                <a:solidFill>
                  <a:srgbClr val="007B00"/>
                </a:solidFill>
                <a:latin typeface="+mj-lt"/>
              </a:rPr>
              <a:t>// hash the key (not including the MODULO)</a:t>
            </a:r>
            <a:br>
              <a:rPr lang="en-US">
                <a:latin typeface="+mj-lt"/>
              </a:rPr>
            </a:br>
            <a:r>
              <a:rPr lang="en-US">
                <a:latin typeface="+mj-lt"/>
              </a:rPr>
              <a:t>hash = </a:t>
            </a:r>
            <a:r>
              <a:rPr lang="en-US">
                <a:solidFill>
                  <a:srgbClr val="09B5B6"/>
                </a:solidFill>
                <a:latin typeface="+mj-lt"/>
              </a:rPr>
              <a:t>0</a:t>
            </a:r>
            <a:br>
              <a:rPr lang="en-US">
                <a:latin typeface="+mj-lt"/>
              </a:rPr>
            </a:br>
            <a:r>
              <a:rPr lang="en-US">
                <a:solidFill>
                  <a:srgbClr val="0000FF"/>
                </a:solidFill>
                <a:latin typeface="+mj-lt"/>
              </a:rPr>
              <a:t>foreach</a:t>
            </a:r>
            <a:r>
              <a:rPr lang="en-US">
                <a:latin typeface="+mj-lt"/>
              </a:rPr>
              <a:t> character </a:t>
            </a:r>
            <a:r>
              <a:rPr lang="en-US">
                <a:solidFill>
                  <a:srgbClr val="0000FF"/>
                </a:solidFill>
                <a:latin typeface="+mj-lt"/>
              </a:rPr>
              <a:t>in</a:t>
            </a:r>
            <a:r>
              <a:rPr lang="en-US">
                <a:latin typeface="+mj-lt"/>
              </a:rPr>
              <a:t> string</a:t>
            </a:r>
            <a:br>
              <a:rPr lang="en-US">
                <a:latin typeface="+mj-lt"/>
              </a:rPr>
            </a:br>
            <a:r>
              <a:rPr lang="en-US">
                <a:latin typeface="+mj-lt"/>
              </a:rPr>
              <a:t>    hash *= </a:t>
            </a:r>
            <a:r>
              <a:rPr lang="en-US">
                <a:solidFill>
                  <a:srgbClr val="09B5B6"/>
                </a:solidFill>
                <a:latin typeface="+mj-lt"/>
              </a:rPr>
              <a:t>31</a:t>
            </a:r>
            <a:br>
              <a:rPr lang="en-US">
                <a:latin typeface="+mj-lt"/>
              </a:rPr>
            </a:br>
            <a:r>
              <a:rPr lang="en-US">
                <a:latin typeface="+mj-lt"/>
              </a:rPr>
              <a:t>    hash += character</a:t>
            </a:r>
            <a:br>
              <a:rPr lang="en-US">
                <a:latin typeface="+mj-lt"/>
              </a:rPr>
            </a:br>
            <a:r>
              <a:rPr lang="en-US">
                <a:solidFill>
                  <a:srgbClr val="0000FF"/>
                </a:solidFill>
                <a:latin typeface="+mj-lt"/>
              </a:rPr>
              <a:t>return</a:t>
            </a:r>
            <a:r>
              <a:rPr lang="en-US">
                <a:latin typeface="+mj-lt"/>
              </a:rPr>
              <a:t> hash</a:t>
            </a:r>
          </a:p>
          <a:p>
            <a:pPr lvl="3"/>
            <a:endParaRPr lang="en-US">
              <a:latin typeface="+mj-lt"/>
            </a:endParaRPr>
          </a:p>
          <a:p>
            <a:pPr lvl="2"/>
            <a:r>
              <a:rPr lang="en-US" b="1">
                <a:solidFill>
                  <a:srgbClr val="000000"/>
                </a:solidFill>
              </a:rPr>
              <a:t>🤨 </a:t>
            </a:r>
            <a:r>
              <a:rPr lang="en-US" b="1"/>
              <a:t>this is O(numberOfCharactersInString)</a:t>
            </a:r>
          </a:p>
          <a:p>
            <a:pPr lvl="3"/>
            <a:r>
              <a:rPr lang="en-US"/>
              <a:t>but, if we assume all strings are less than, say, 64 characters...</a:t>
            </a:r>
            <a:br>
              <a:rPr lang="en-US"/>
            </a:br>
            <a:r>
              <a:rPr lang="en-US"/>
              <a:t>(assume a constant time hash function)</a:t>
            </a:r>
          </a:p>
          <a:p>
            <a:pPr lvl="4"/>
            <a:r>
              <a:rPr lang="en-US"/>
              <a:t>O(1) 😀</a:t>
            </a:r>
          </a:p>
        </p:txBody>
      </p:sp>
    </p:spTree>
    <p:extLst>
      <p:ext uri="{BB962C8B-B14F-4D97-AF65-F5344CB8AC3E}">
        <p14:creationId xmlns:p14="http://schemas.microsoft.com/office/powerpoint/2010/main" val="219427882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763C8-FAAA-EED5-082C-D1F7A196A5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83E1CD-9EFD-0765-A268-64E2712DF374}"/>
              </a:ext>
            </a:extLst>
          </p:cNvPr>
          <p:cNvSpPr>
            <a:spLocks noGrp="1"/>
          </p:cNvSpPr>
          <p:nvPr>
            <p:ph type="title"/>
          </p:nvPr>
        </p:nvSpPr>
        <p:spPr/>
        <p:txBody>
          <a:bodyPr>
            <a:normAutofit fontScale="90000"/>
          </a:bodyPr>
          <a:lstStyle/>
          <a:p>
            <a:r>
              <a:rPr lang="en-US"/>
              <a:t>getting (a reference to) the correct bucket</a:t>
            </a:r>
            <a:br>
              <a:rPr lang="en-US"/>
            </a:br>
            <a:r>
              <a:rPr kumimoji="0" lang="en-US" sz="1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(our specific case, where </a:t>
            </a:r>
            <a:r>
              <a:rPr kumimoji="0" lang="en-US" sz="1800" b="0" i="0" u="none" strike="noStrike" kern="1200" cap="none" spc="0" normalizeH="0" baseline="0" noProof="0">
                <a:ln>
                  <a:noFill/>
                </a:ln>
                <a:solidFill>
                  <a:srgbClr val="000000"/>
                </a:solidFill>
                <a:effectLst/>
                <a:uLnTx/>
                <a:uFillTx/>
                <a:latin typeface="+mj-lt"/>
                <a:ea typeface="Segoe UI Emoji" panose="020B0502040204020203" pitchFamily="34" charset="0"/>
                <a:cs typeface="+mj-cs"/>
              </a:rPr>
              <a:t>bucket</a:t>
            </a:r>
            <a:r>
              <a:rPr kumimoji="0" lang="en-US" sz="1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 is an unsorted </a:t>
            </a:r>
            <a:r>
              <a:rPr kumimoji="0" lang="en-US" sz="1800" b="0" i="0" u="none" strike="noStrike" kern="1200" cap="none" spc="0" normalizeH="0" baseline="0" noProof="0">
                <a:ln>
                  <a:noFill/>
                </a:ln>
                <a:solidFill>
                  <a:srgbClr val="00007F"/>
                </a:solidFill>
                <a:effectLst/>
                <a:uLnTx/>
                <a:uFillTx/>
                <a:latin typeface="+mj-lt"/>
                <a:ea typeface="Segoe UI Emoji" panose="020B0502040204020203" pitchFamily="34" charset="0"/>
                <a:cs typeface="+mj-cs"/>
              </a:rPr>
              <a:t>ArrayList</a:t>
            </a:r>
            <a:r>
              <a:rPr kumimoji="0" lang="en-US" sz="1800" b="0" i="0" u="none" strike="noStrike" kern="1200" cap="none" spc="0" normalizeH="0" baseline="0" noProof="0">
                <a:ln>
                  <a:noFill/>
                </a:ln>
                <a:solidFill>
                  <a:srgbClr val="000000"/>
                </a:solidFill>
                <a:effectLst/>
                <a:uLnTx/>
                <a:uFillTx/>
                <a:latin typeface="+mj-lt"/>
                <a:ea typeface="Segoe UI Emoji" panose="020B0502040204020203" pitchFamily="34" charset="0"/>
                <a:cs typeface="+mj-cs"/>
              </a:rPr>
              <a:t>&lt;</a:t>
            </a:r>
            <a:r>
              <a:rPr kumimoji="0" lang="en-US" sz="1800" b="0" i="0" u="none" strike="noStrike" kern="1200" cap="none" spc="0" normalizeH="0" baseline="0" noProof="0">
                <a:ln>
                  <a:noFill/>
                </a:ln>
                <a:solidFill>
                  <a:srgbClr val="00007F"/>
                </a:solidFill>
                <a:effectLst/>
                <a:uLnTx/>
                <a:uFillTx/>
                <a:latin typeface="+mj-lt"/>
                <a:ea typeface="Segoe UI Emoji" panose="020B0502040204020203" pitchFamily="34" charset="0"/>
                <a:cs typeface="+mj-cs"/>
              </a:rPr>
              <a:t>KeyValuePair</a:t>
            </a:r>
            <a:r>
              <a:rPr kumimoji="0" lang="en-US" sz="1800" b="0" i="0" u="none" strike="noStrike" kern="1200" cap="none" spc="0" normalizeH="0" baseline="0" noProof="0">
                <a:ln>
                  <a:noFill/>
                </a:ln>
                <a:solidFill>
                  <a:srgbClr val="000000"/>
                </a:solidFill>
                <a:effectLst/>
                <a:uLnTx/>
                <a:uFillTx/>
                <a:latin typeface="+mj-lt"/>
                <a:ea typeface="Segoe UI Emoji" panose="020B0502040204020203" pitchFamily="34" charset="0"/>
                <a:cs typeface="+mj-cs"/>
              </a:rPr>
              <a:t>&gt;</a:t>
            </a:r>
            <a:r>
              <a:rPr kumimoji="0" lang="en-US" sz="1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a:p>
        </p:txBody>
      </p:sp>
      <p:sp>
        <p:nvSpPr>
          <p:cNvPr id="3" name="Content Placeholder 2">
            <a:extLst>
              <a:ext uri="{FF2B5EF4-FFF2-40B4-BE49-F238E27FC236}">
                <a16:creationId xmlns:a16="http://schemas.microsoft.com/office/drawing/2014/main" id="{1539AF62-1182-78AA-B015-EA1289DF0ADC}"/>
              </a:ext>
            </a:extLst>
          </p:cNvPr>
          <p:cNvSpPr>
            <a:spLocks noGrp="1"/>
          </p:cNvSpPr>
          <p:nvPr>
            <p:ph sz="quarter" idx="10"/>
          </p:nvPr>
        </p:nvSpPr>
        <p:spPr/>
        <p:txBody>
          <a:bodyPr/>
          <a:lstStyle/>
          <a:p>
            <a:pPr marL="0" indent="0">
              <a:buNone/>
            </a:pPr>
            <a:endParaRPr lang="en-US"/>
          </a:p>
          <a:p>
            <a:pPr lvl="1"/>
            <a:r>
              <a:rPr lang="en-US">
                <a:solidFill>
                  <a:srgbClr val="007B00"/>
                </a:solidFill>
                <a:latin typeface="+mj-lt"/>
              </a:rPr>
              <a:t>// get the bucket</a:t>
            </a:r>
            <a:br>
              <a:rPr lang="en-US">
                <a:latin typeface="+mj-lt"/>
              </a:rPr>
            </a:br>
            <a:r>
              <a:rPr lang="en-US">
                <a:latin typeface="+mj-lt"/>
              </a:rPr>
              <a:t>int bucketIndex = MODULO(hash, buckets.length);</a:t>
            </a:r>
            <a:br>
              <a:rPr lang="en-US">
                <a:latin typeface="+mj-lt"/>
              </a:rPr>
            </a:br>
            <a:r>
              <a:rPr kumimoji="0" lang="en-US" sz="1800" b="0" i="0" u="none" strike="noStrike" kern="1200" cap="none" spc="0" normalizeH="0" baseline="0" noProof="0">
                <a:ln>
                  <a:noFill/>
                </a:ln>
                <a:solidFill>
                  <a:srgbClr val="00007F"/>
                </a:solidFill>
                <a:effectLst/>
                <a:uLnTx/>
                <a:uFillTx/>
                <a:latin typeface="+mj-lt"/>
                <a:ea typeface="Segoe UI Emoji" panose="020B0502040204020203" pitchFamily="34" charset="0"/>
                <a:cs typeface="+mj-cs"/>
              </a:rPr>
              <a:t>ArrayList</a:t>
            </a:r>
            <a:r>
              <a:rPr kumimoji="0" lang="en-US" sz="1800" b="0" i="0" u="none" strike="noStrike" kern="1200" cap="none" spc="0" normalizeH="0" baseline="0" noProof="0">
                <a:ln>
                  <a:noFill/>
                </a:ln>
                <a:solidFill>
                  <a:srgbClr val="000000"/>
                </a:solidFill>
                <a:effectLst/>
                <a:uLnTx/>
                <a:uFillTx/>
                <a:latin typeface="+mj-lt"/>
                <a:ea typeface="Segoe UI Emoji" panose="020B0502040204020203" pitchFamily="34" charset="0"/>
                <a:cs typeface="+mj-cs"/>
              </a:rPr>
              <a:t>&lt;</a:t>
            </a:r>
            <a:r>
              <a:rPr kumimoji="0" lang="en-US" sz="1800" b="0" i="0" u="none" strike="noStrike" kern="1200" cap="none" spc="0" normalizeH="0" baseline="0" noProof="0">
                <a:ln>
                  <a:noFill/>
                </a:ln>
                <a:solidFill>
                  <a:srgbClr val="00007F"/>
                </a:solidFill>
                <a:effectLst/>
                <a:uLnTx/>
                <a:uFillTx/>
                <a:latin typeface="+mj-lt"/>
                <a:ea typeface="Segoe UI Emoji" panose="020B0502040204020203" pitchFamily="34" charset="0"/>
                <a:cs typeface="+mj-cs"/>
              </a:rPr>
              <a:t>KeyValuePair</a:t>
            </a:r>
            <a:r>
              <a:rPr kumimoji="0" lang="en-US" sz="1800" b="0" i="0" u="none" strike="noStrike" kern="1200" cap="none" spc="0" normalizeH="0" baseline="0" noProof="0">
                <a:ln>
                  <a:noFill/>
                </a:ln>
                <a:solidFill>
                  <a:srgbClr val="000000"/>
                </a:solidFill>
                <a:effectLst/>
                <a:uLnTx/>
                <a:uFillTx/>
                <a:latin typeface="+mj-lt"/>
                <a:ea typeface="Segoe UI Emoji" panose="020B0502040204020203" pitchFamily="34" charset="0"/>
                <a:cs typeface="+mj-cs"/>
              </a:rPr>
              <a:t>&gt;</a:t>
            </a:r>
            <a:r>
              <a:rPr lang="en-US">
                <a:solidFill>
                  <a:srgbClr val="000000"/>
                </a:solidFill>
                <a:latin typeface="Arial"/>
                <a:cs typeface="+mj-cs"/>
              </a:rPr>
              <a:t> bucket</a:t>
            </a:r>
            <a:r>
              <a:rPr lang="en-US">
                <a:latin typeface="+mj-lt"/>
              </a:rPr>
              <a:t> = buckets[bucketIndex];</a:t>
            </a:r>
          </a:p>
          <a:p>
            <a:pPr lvl="3"/>
            <a:endParaRPr lang="en-US">
              <a:latin typeface="+mj-lt"/>
            </a:endParaRPr>
          </a:p>
          <a:p>
            <a:pPr lvl="2"/>
            <a:r>
              <a:rPr lang="en-US"/>
              <a:t>O(1) 😀</a:t>
            </a:r>
          </a:p>
        </p:txBody>
      </p:sp>
    </p:spTree>
    <p:extLst>
      <p:ext uri="{BB962C8B-B14F-4D97-AF65-F5344CB8AC3E}">
        <p14:creationId xmlns:p14="http://schemas.microsoft.com/office/powerpoint/2010/main" val="350841838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53F86-0BFA-BCE0-7874-B7F8F640B5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A72167-87F8-14E1-A6CA-96E94895E41F}"/>
              </a:ext>
            </a:extLst>
          </p:cNvPr>
          <p:cNvSpPr>
            <a:spLocks noGrp="1"/>
          </p:cNvSpPr>
          <p:nvPr>
            <p:ph type="title"/>
          </p:nvPr>
        </p:nvSpPr>
        <p:spPr/>
        <p:txBody>
          <a:bodyPr>
            <a:normAutofit fontScale="90000"/>
          </a:bodyPr>
          <a:lstStyle/>
          <a:p>
            <a:r>
              <a:rPr lang="en-US"/>
              <a:t>searching the bucket for the key</a:t>
            </a:r>
            <a:br>
              <a:rPr lang="en-US"/>
            </a:br>
            <a:r>
              <a:rPr kumimoji="0" lang="en-US" sz="1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(our specific case, where </a:t>
            </a:r>
            <a:r>
              <a:rPr kumimoji="0" lang="en-US" sz="1800" b="0" i="0" u="none" strike="noStrike" kern="1200" cap="none" spc="0" normalizeH="0" baseline="0" noProof="0">
                <a:ln>
                  <a:noFill/>
                </a:ln>
                <a:solidFill>
                  <a:srgbClr val="000000"/>
                </a:solidFill>
                <a:effectLst/>
                <a:uLnTx/>
                <a:uFillTx/>
                <a:latin typeface="+mj-lt"/>
                <a:ea typeface="Segoe UI Emoji" panose="020B0502040204020203" pitchFamily="34" charset="0"/>
                <a:cs typeface="+mj-cs"/>
              </a:rPr>
              <a:t>bucket</a:t>
            </a:r>
            <a:r>
              <a:rPr kumimoji="0" lang="en-US" sz="1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 is an unsorted </a:t>
            </a:r>
            <a:r>
              <a:rPr kumimoji="0" lang="en-US" sz="1800" b="0" i="0" u="none" strike="noStrike" kern="1200" cap="none" spc="0" normalizeH="0" baseline="0" noProof="0">
                <a:ln>
                  <a:noFill/>
                </a:ln>
                <a:solidFill>
                  <a:srgbClr val="00007F"/>
                </a:solidFill>
                <a:effectLst/>
                <a:uLnTx/>
                <a:uFillTx/>
                <a:latin typeface="+mj-lt"/>
                <a:ea typeface="Segoe UI Emoji" panose="020B0502040204020203" pitchFamily="34" charset="0"/>
                <a:cs typeface="+mj-cs"/>
              </a:rPr>
              <a:t>ArrayList</a:t>
            </a:r>
            <a:r>
              <a:rPr kumimoji="0" lang="en-US" sz="1800" b="0" i="0" u="none" strike="noStrike" kern="1200" cap="none" spc="0" normalizeH="0" baseline="0" noProof="0">
                <a:ln>
                  <a:noFill/>
                </a:ln>
                <a:solidFill>
                  <a:srgbClr val="000000"/>
                </a:solidFill>
                <a:effectLst/>
                <a:uLnTx/>
                <a:uFillTx/>
                <a:latin typeface="+mj-lt"/>
                <a:ea typeface="Segoe UI Emoji" panose="020B0502040204020203" pitchFamily="34" charset="0"/>
                <a:cs typeface="+mj-cs"/>
              </a:rPr>
              <a:t>&lt;</a:t>
            </a:r>
            <a:r>
              <a:rPr kumimoji="0" lang="en-US" sz="1800" b="0" i="0" u="none" strike="noStrike" kern="1200" cap="none" spc="0" normalizeH="0" baseline="0" noProof="0">
                <a:ln>
                  <a:noFill/>
                </a:ln>
                <a:solidFill>
                  <a:srgbClr val="00007F"/>
                </a:solidFill>
                <a:effectLst/>
                <a:uLnTx/>
                <a:uFillTx/>
                <a:latin typeface="+mj-lt"/>
                <a:ea typeface="Segoe UI Emoji" panose="020B0502040204020203" pitchFamily="34" charset="0"/>
                <a:cs typeface="+mj-cs"/>
              </a:rPr>
              <a:t>KeyValuePair</a:t>
            </a:r>
            <a:r>
              <a:rPr kumimoji="0" lang="en-US" sz="1800" b="0" i="0" u="none" strike="noStrike" kern="1200" cap="none" spc="0" normalizeH="0" baseline="0" noProof="0">
                <a:ln>
                  <a:noFill/>
                </a:ln>
                <a:solidFill>
                  <a:srgbClr val="000000"/>
                </a:solidFill>
                <a:effectLst/>
                <a:uLnTx/>
                <a:uFillTx/>
                <a:latin typeface="+mj-lt"/>
                <a:ea typeface="Segoe UI Emoji" panose="020B0502040204020203" pitchFamily="34" charset="0"/>
                <a:cs typeface="+mj-cs"/>
              </a:rPr>
              <a:t>&gt;</a:t>
            </a:r>
            <a:r>
              <a:rPr kumimoji="0" lang="en-US" sz="1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a:p>
        </p:txBody>
      </p:sp>
      <p:sp>
        <p:nvSpPr>
          <p:cNvPr id="3" name="Content Placeholder 2">
            <a:extLst>
              <a:ext uri="{FF2B5EF4-FFF2-40B4-BE49-F238E27FC236}">
                <a16:creationId xmlns:a16="http://schemas.microsoft.com/office/drawing/2014/main" id="{8BB2DA15-A3A6-44B0-658E-1D042D3AFF97}"/>
              </a:ext>
            </a:extLst>
          </p:cNvPr>
          <p:cNvSpPr>
            <a:spLocks noGrp="1"/>
          </p:cNvSpPr>
          <p:nvPr>
            <p:ph sz="quarter" idx="10"/>
          </p:nvPr>
        </p:nvSpPr>
        <p:spPr/>
        <p:txBody>
          <a:bodyPr>
            <a:normAutofit lnSpcReduction="10000"/>
          </a:bodyPr>
          <a:lstStyle/>
          <a:p>
            <a:endParaRPr lang="en-US"/>
          </a:p>
          <a:p>
            <a:r>
              <a:rPr lang="en-US">
                <a:solidFill>
                  <a:srgbClr val="007B00"/>
                </a:solidFill>
                <a:latin typeface="+mj-lt"/>
              </a:rPr>
              <a:t>// find a key-value pair in the bucket with matching key</a:t>
            </a:r>
            <a:br>
              <a:rPr lang="en-US">
                <a:solidFill>
                  <a:srgbClr val="007B00"/>
                </a:solidFill>
                <a:latin typeface="+mj-lt"/>
              </a:rPr>
            </a:br>
            <a:r>
              <a:rPr lang="en-US">
                <a:solidFill>
                  <a:srgbClr val="007B00"/>
                </a:solidFill>
                <a:latin typeface="+mj-lt"/>
              </a:rPr>
              <a:t>// (or conclude no such pair exists)</a:t>
            </a:r>
          </a:p>
          <a:p>
            <a:pPr marL="0" indent="0">
              <a:buNone/>
            </a:pPr>
            <a:r>
              <a:rPr lang="en-US">
                <a:solidFill>
                  <a:srgbClr val="0000FF"/>
                </a:solidFill>
                <a:latin typeface="+mj-lt"/>
              </a:rPr>
              <a:t>  foreach</a:t>
            </a:r>
            <a:r>
              <a:rPr lang="en-US">
                <a:latin typeface="+mj-lt"/>
              </a:rPr>
              <a:t> pair </a:t>
            </a:r>
            <a:r>
              <a:rPr lang="en-US">
                <a:solidFill>
                  <a:srgbClr val="0000FF"/>
                </a:solidFill>
                <a:latin typeface="+mj-lt"/>
              </a:rPr>
              <a:t>in</a:t>
            </a:r>
            <a:r>
              <a:rPr lang="en-US">
                <a:latin typeface="+mj-lt"/>
              </a:rPr>
              <a:t> bucket</a:t>
            </a:r>
            <a:br>
              <a:rPr lang="en-US">
                <a:latin typeface="+mj-lt"/>
              </a:rPr>
            </a:br>
            <a:r>
              <a:rPr lang="en-US">
                <a:latin typeface="+mj-lt"/>
              </a:rPr>
              <a:t>      </a:t>
            </a:r>
            <a:r>
              <a:rPr lang="en-US">
                <a:solidFill>
                  <a:srgbClr val="0000FF"/>
                </a:solidFill>
                <a:latin typeface="+mj-lt"/>
              </a:rPr>
              <a:t>if</a:t>
            </a:r>
            <a:r>
              <a:rPr lang="en-US">
                <a:latin typeface="+mj-lt"/>
              </a:rPr>
              <a:t> (key </a:t>
            </a:r>
            <a:r>
              <a:rPr lang="en-US">
                <a:solidFill>
                  <a:srgbClr val="0000FF"/>
                </a:solidFill>
                <a:latin typeface="+mj-lt"/>
              </a:rPr>
              <a:t>matches</a:t>
            </a:r>
            <a:r>
              <a:rPr lang="en-US">
                <a:latin typeface="+mj-lt"/>
              </a:rPr>
              <a:t> pair.key):</a:t>
            </a:r>
            <a:br>
              <a:rPr lang="en-US">
                <a:latin typeface="+mj-lt"/>
              </a:rPr>
            </a:br>
            <a:r>
              <a:rPr lang="en-US">
                <a:latin typeface="+mj-lt"/>
              </a:rPr>
              <a:t>          </a:t>
            </a:r>
            <a:r>
              <a:rPr lang="en-US">
                <a:solidFill>
                  <a:srgbClr val="0000FF"/>
                </a:solidFill>
                <a:latin typeface="+mj-lt"/>
              </a:rPr>
              <a:t>return </a:t>
            </a:r>
            <a:r>
              <a:rPr lang="en-US">
                <a:latin typeface="+mj-lt"/>
              </a:rPr>
              <a:t>pair.value</a:t>
            </a:r>
            <a:br>
              <a:rPr lang="en-US">
                <a:latin typeface="+mj-lt"/>
              </a:rPr>
            </a:br>
            <a:r>
              <a:rPr lang="en-US">
                <a:latin typeface="+mj-lt"/>
              </a:rPr>
              <a:t>  </a:t>
            </a:r>
            <a:r>
              <a:rPr lang="en-US">
                <a:solidFill>
                  <a:srgbClr val="0000FF"/>
                </a:solidFill>
                <a:latin typeface="+mj-lt"/>
              </a:rPr>
              <a:t>return</a:t>
            </a:r>
            <a:r>
              <a:rPr lang="en-US">
                <a:latin typeface="+mj-lt"/>
              </a:rPr>
              <a:t> </a:t>
            </a:r>
            <a:r>
              <a:rPr lang="en-US">
                <a:solidFill>
                  <a:srgbClr val="0000FF"/>
                </a:solidFill>
                <a:latin typeface="+mj-lt"/>
              </a:rPr>
              <a:t>null</a:t>
            </a:r>
          </a:p>
          <a:p>
            <a:pPr lvl="1"/>
            <a:endParaRPr lang="en-US">
              <a:latin typeface="+mj-lt"/>
            </a:endParaRPr>
          </a:p>
          <a:p>
            <a:pPr lvl="1"/>
            <a:r>
              <a:rPr kumimoji="0" lang="en-US" b="1"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 </a:t>
            </a:r>
            <a:r>
              <a:rPr lang="en-US" b="1"/>
              <a:t>this is actually O(numberOfPairsInBucket)</a:t>
            </a:r>
          </a:p>
          <a:p>
            <a:pPr lvl="2"/>
            <a:r>
              <a:rPr lang="en-US"/>
              <a:t>assume a lot of buckets...</a:t>
            </a:r>
          </a:p>
          <a:p>
            <a:pPr lvl="2"/>
            <a:r>
              <a:rPr lang="en-US"/>
              <a:t>assume a good hash function...</a:t>
            </a:r>
          </a:p>
          <a:p>
            <a:pPr lvl="2"/>
            <a:r>
              <a:rPr lang="en-US"/>
              <a:t>do a lot of math...</a:t>
            </a:r>
          </a:p>
          <a:p>
            <a:pPr lvl="3"/>
            <a:r>
              <a:rPr lang="en-US"/>
              <a:t>O(1) 😀</a:t>
            </a:r>
          </a:p>
        </p:txBody>
      </p:sp>
    </p:spTree>
    <p:extLst>
      <p:ext uri="{BB962C8B-B14F-4D97-AF65-F5344CB8AC3E}">
        <p14:creationId xmlns:p14="http://schemas.microsoft.com/office/powerpoint/2010/main" val="18696378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D1043-61CF-BCE6-F7E0-869E7D4652B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4E220C4-C38B-2559-BF2A-D46838622377}"/>
              </a:ext>
            </a:extLst>
          </p:cNvPr>
          <p:cNvSpPr>
            <a:spLocks noGrp="1"/>
          </p:cNvSpPr>
          <p:nvPr>
            <p:ph type="title"/>
          </p:nvPr>
        </p:nvSpPr>
        <p:spPr/>
        <p:txBody>
          <a:bodyPr/>
          <a:lstStyle/>
          <a:p>
            <a:r>
              <a:rPr lang="en-US" sz="4400"/>
              <a:t>growing</a:t>
            </a:r>
          </a:p>
        </p:txBody>
      </p:sp>
    </p:spTree>
    <p:extLst>
      <p:ext uri="{BB962C8B-B14F-4D97-AF65-F5344CB8AC3E}">
        <p14:creationId xmlns:p14="http://schemas.microsoft.com/office/powerpoint/2010/main" val="131959905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F4FEB-953E-E383-ACAA-63024932FCF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90C3DD8-B296-73D9-88CA-22A9B5DD7B7F}"/>
              </a:ext>
            </a:extLst>
          </p:cNvPr>
          <p:cNvSpPr>
            <a:spLocks noGrp="1"/>
          </p:cNvSpPr>
          <p:nvPr>
            <p:ph type="title"/>
          </p:nvPr>
        </p:nvSpPr>
        <p:spPr/>
        <p:txBody>
          <a:bodyPr/>
          <a:lstStyle/>
          <a:p>
            <a:r>
              <a:rPr kumimoji="0" lang="en-US" sz="4000" b="1"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 also what about </a:t>
            </a:r>
            <a:r>
              <a:rPr lang="en-US" sz="4000" b="1" i="1">
                <a:solidFill>
                  <a:srgbClr val="000000"/>
                </a:solidFill>
                <a:latin typeface="Arial"/>
              </a:rPr>
              <a:t>growing</a:t>
            </a:r>
            <a:r>
              <a:rPr kumimoji="0" lang="en-US" sz="4000" b="1"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 the hash map </a:t>
            </a:r>
            <a:r>
              <a:rPr kumimoji="0" lang="en-US" sz="2000" b="1"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(when it gets too full)</a:t>
            </a:r>
            <a:r>
              <a:rPr kumimoji="0" lang="en-US" sz="4000" b="1"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br>
              <a:rPr kumimoji="0" lang="en-US" sz="4000" b="1"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br>
            <a:br>
              <a:rPr kumimoji="0" lang="en-US" sz="4000" b="1"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br>
            <a:r>
              <a:rPr kumimoji="0" lang="en-US" sz="4000" b="1"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that has to make </a:t>
            </a:r>
            <a:r>
              <a:rPr kumimoji="0" lang="en-US" sz="4000" b="1" i="0" u="none" strike="noStrike" kern="1200" cap="none" spc="0" normalizeH="0" baseline="0" noProof="0">
                <a:ln>
                  <a:noFill/>
                </a:ln>
                <a:solidFill>
                  <a:srgbClr val="000000"/>
                </a:solidFill>
                <a:effectLst/>
                <a:uLnTx/>
                <a:uFillTx/>
                <a:latin typeface="+mj-lt"/>
                <a:ea typeface="Segoe UI Emoji" panose="020B0502040204020203" pitchFamily="34" charset="0"/>
                <a:cs typeface="+mj-cs"/>
              </a:rPr>
              <a:t>map.put</a:t>
            </a:r>
            <a:r>
              <a:rPr kumimoji="0" lang="en-US" sz="4000" b="1"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 O(n) !</a:t>
            </a:r>
            <a:endParaRPr lang="en-US" sz="4000"/>
          </a:p>
        </p:txBody>
      </p:sp>
    </p:spTree>
    <p:extLst>
      <p:ext uri="{BB962C8B-B14F-4D97-AF65-F5344CB8AC3E}">
        <p14:creationId xmlns:p14="http://schemas.microsoft.com/office/powerpoint/2010/main" val="226147550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D2889-3AFD-1A31-1C20-6E512F9D78D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B77D08E-751C-7FE6-72AD-20CB6EBE583D}"/>
              </a:ext>
            </a:extLst>
          </p:cNvPr>
          <p:cNvSpPr>
            <a:spLocks noGrp="1"/>
          </p:cNvSpPr>
          <p:nvPr>
            <p:ph type="title"/>
          </p:nvPr>
        </p:nvSpPr>
        <p:spPr/>
        <p:txBody>
          <a:bodyPr/>
          <a:lstStyle/>
          <a:p>
            <a:r>
              <a:rPr kumimoji="0" lang="en-US" sz="4000" b="1" i="0" u="none" strike="noStrike" kern="1200" cap="none" spc="0" normalizeH="0" baseline="0" noProof="0">
                <a:ln>
                  <a:noFill/>
                </a:ln>
                <a:solidFill>
                  <a:srgbClr val="000000"/>
                </a:solidFill>
                <a:effectLst/>
                <a:uLnTx/>
                <a:uFillTx/>
                <a:latin typeface="+mj-lt"/>
                <a:ea typeface="Segoe UI Emoji" panose="020B0502040204020203" pitchFamily="34" charset="0"/>
                <a:cs typeface="+mj-cs"/>
              </a:rPr>
              <a:t>put</a:t>
            </a:r>
            <a:r>
              <a:rPr lang="en-US" sz="4000"/>
              <a:t> is O(1) </a:t>
            </a:r>
            <a:r>
              <a:rPr lang="en-US" sz="4000" i="1"/>
              <a:t>amortized</a:t>
            </a:r>
            <a:r>
              <a:rPr lang="en-US" sz="4000"/>
              <a:t> runtime 🙂</a:t>
            </a:r>
            <a:r>
              <a:rPr kumimoji="0" lang="en-US" sz="4000" b="1"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4000"/>
          </a:p>
        </p:txBody>
      </p:sp>
    </p:spTree>
    <p:extLst>
      <p:ext uri="{BB962C8B-B14F-4D97-AF65-F5344CB8AC3E}">
        <p14:creationId xmlns:p14="http://schemas.microsoft.com/office/powerpoint/2010/main" val="41084365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1A8B9-F1DE-D5C4-8EA0-933B64CB75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A91F67-C635-BE8F-23AB-DF4566A95A0B}"/>
              </a:ext>
            </a:extLst>
          </p:cNvPr>
          <p:cNvSpPr>
            <a:spLocks noGrp="1"/>
          </p:cNvSpPr>
          <p:nvPr>
            <p:ph type="title"/>
          </p:nvPr>
        </p:nvSpPr>
        <p:spPr/>
        <p:txBody>
          <a:bodyPr/>
          <a:lstStyle/>
          <a:p>
            <a:r>
              <a:rPr lang="en-US" b="1">
                <a:solidFill>
                  <a:schemeClr val="bg2"/>
                </a:solidFill>
              </a:rPr>
              <a:t>REVIEW: amortized</a:t>
            </a:r>
            <a:endParaRPr lang="en-US">
              <a:solidFill>
                <a:schemeClr val="bg2"/>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02CABA0-E470-DF93-A57F-C707F8B0147C}"/>
                  </a:ext>
                </a:extLst>
              </p:cNvPr>
              <p:cNvSpPr>
                <a:spLocks noGrp="1"/>
              </p:cNvSpPr>
              <p:nvPr>
                <p:ph sz="quarter" idx="10"/>
              </p:nvPr>
            </p:nvSpPr>
            <p:spPr/>
            <p:txBody>
              <a:bodyPr/>
              <a:lstStyle/>
              <a:p>
                <a:r>
                  <a:rPr lang="en-US">
                    <a:solidFill>
                      <a:schemeClr val="bg2"/>
                    </a:solidFill>
                  </a:rPr>
                  <a:t>the </a:t>
                </a:r>
                <a:r>
                  <a:rPr lang="en-US" b="1">
                    <a:solidFill>
                      <a:schemeClr val="bg2"/>
                    </a:solidFill>
                  </a:rPr>
                  <a:t>amortized runtime </a:t>
                </a:r>
                <a:r>
                  <a:rPr lang="en-US">
                    <a:solidFill>
                      <a:schemeClr val="bg2"/>
                    </a:solidFill>
                  </a:rPr>
                  <a:t>is how long a function takes (on average)</a:t>
                </a:r>
                <a:br>
                  <a:rPr lang="en-US">
                    <a:solidFill>
                      <a:schemeClr val="bg2"/>
                    </a:solidFill>
                  </a:rPr>
                </a:br>
                <a:r>
                  <a:rPr lang="en-US">
                    <a:solidFill>
                      <a:schemeClr val="bg2"/>
                    </a:solidFill>
                  </a:rPr>
                  <a:t>"in the long run" </a:t>
                </a:r>
              </a:p>
              <a:p>
                <a:pPr lvl="1"/>
                <a:r>
                  <a:rPr lang="en-US">
                    <a:solidFill>
                      <a:schemeClr val="bg2"/>
                    </a:solidFill>
                  </a:rPr>
                  <a:t>for adding an element to the back of an array list...</a:t>
                </a:r>
                <a:endParaRPr lang="en-US" i="1">
                  <a:solidFill>
                    <a:schemeClr val="bg2"/>
                  </a:solidFill>
                  <a:latin typeface="Cambria Math" panose="02040503050406030204" pitchFamily="18" charset="0"/>
                  <a:ea typeface="Cambria Math" panose="02040503050406030204" pitchFamily="18" charset="0"/>
                </a:endParaRPr>
              </a:p>
              <a:p>
                <a:pPr lvl="2"/>
                <a14:m>
                  <m:oMath xmlns:m="http://schemas.openxmlformats.org/officeDocument/2006/math">
                    <m:f>
                      <m:fPr>
                        <m:ctrlPr>
                          <a:rPr lang="en-US" i="1">
                            <a:solidFill>
                              <a:schemeClr val="bg2"/>
                            </a:solidFill>
                            <a:latin typeface="Cambria Math" panose="02040503050406030204" pitchFamily="18" charset="0"/>
                            <a:ea typeface="Cambria Math" panose="02040503050406030204" pitchFamily="18" charset="0"/>
                          </a:rPr>
                        </m:ctrlPr>
                      </m:fPr>
                      <m:num>
                        <m:r>
                          <a:rPr lang="en-US" i="1">
                            <a:solidFill>
                              <a:schemeClr val="bg2"/>
                            </a:solidFill>
                            <a:latin typeface="Cambria Math" panose="02040503050406030204" pitchFamily="18" charset="0"/>
                            <a:ea typeface="Cambria Math" panose="02040503050406030204" pitchFamily="18" charset="0"/>
                          </a:rPr>
                          <m:t>1+2+4+1+8+1+1+1+16+</m:t>
                        </m:r>
                        <m:r>
                          <a:rPr lang="en-US" b="0" i="1" smtClean="0">
                            <a:solidFill>
                              <a:schemeClr val="bg2"/>
                            </a:solidFill>
                            <a:latin typeface="Cambria Math" panose="02040503050406030204" pitchFamily="18" charset="0"/>
                            <a:ea typeface="Cambria Math" panose="02040503050406030204" pitchFamily="18" charset="0"/>
                          </a:rPr>
                          <m:t>1+1+1+1+1+1+1+32+1+1+1+1+1+1+1+1+1+1+1+1+1+1+1+…</m:t>
                        </m:r>
                      </m:num>
                      <m:den>
                        <m:r>
                          <a:rPr lang="en-US" b="0" i="1" smtClean="0">
                            <a:solidFill>
                              <a:schemeClr val="bg2"/>
                            </a:solidFill>
                            <a:latin typeface="Cambria Math" panose="02040503050406030204" pitchFamily="18" charset="0"/>
                            <a:ea typeface="Cambria Math" panose="02040503050406030204" pitchFamily="18" charset="0"/>
                          </a:rPr>
                          <m:t>𝑛</m:t>
                        </m:r>
                      </m:den>
                    </m:f>
                  </m:oMath>
                </a14:m>
                <a:endParaRPr lang="en-US" b="0">
                  <a:solidFill>
                    <a:schemeClr val="bg2"/>
                  </a:solidFill>
                  <a:ea typeface="Cambria Math" panose="02040503050406030204" pitchFamily="18" charset="0"/>
                </a:endParaRPr>
              </a:p>
              <a:p>
                <a:pPr lvl="2"/>
                <a14:m>
                  <m:oMath xmlns:m="http://schemas.openxmlformats.org/officeDocument/2006/math">
                    <m:f>
                      <m:fPr>
                        <m:ctrlPr>
                          <a:rPr lang="en-US" i="1">
                            <a:solidFill>
                              <a:schemeClr val="bg2"/>
                            </a:solidFill>
                            <a:latin typeface="Cambria Math" panose="02040503050406030204" pitchFamily="18" charset="0"/>
                            <a:ea typeface="Cambria Math" panose="02040503050406030204" pitchFamily="18" charset="0"/>
                          </a:rPr>
                        </m:ctrlPr>
                      </m:fPr>
                      <m:num>
                        <m:r>
                          <a:rPr lang="en-US" i="1">
                            <a:solidFill>
                              <a:schemeClr val="bg2"/>
                            </a:solidFill>
                            <a:latin typeface="Cambria Math" panose="02040503050406030204" pitchFamily="18" charset="0"/>
                            <a:ea typeface="Cambria Math" panose="02040503050406030204" pitchFamily="18" charset="0"/>
                          </a:rPr>
                          <m:t>𝒪</m:t>
                        </m:r>
                        <m:d>
                          <m:dPr>
                            <m:ctrlPr>
                              <a:rPr lang="en-US" b="0" i="1" smtClean="0">
                                <a:solidFill>
                                  <a:schemeClr val="bg2"/>
                                </a:solidFill>
                                <a:latin typeface="Cambria Math" panose="02040503050406030204" pitchFamily="18" charset="0"/>
                                <a:ea typeface="Cambria Math" panose="02040503050406030204" pitchFamily="18" charset="0"/>
                              </a:rPr>
                            </m:ctrlPr>
                          </m:dPr>
                          <m:e>
                            <m:r>
                              <a:rPr lang="en-US" b="0" i="1" smtClean="0">
                                <a:solidFill>
                                  <a:schemeClr val="bg2"/>
                                </a:solidFill>
                                <a:latin typeface="Cambria Math" panose="02040503050406030204" pitchFamily="18" charset="0"/>
                                <a:ea typeface="Cambria Math" panose="02040503050406030204" pitchFamily="18" charset="0"/>
                              </a:rPr>
                              <m:t>1+…+1</m:t>
                            </m:r>
                          </m:e>
                        </m:d>
                      </m:num>
                      <m:den>
                        <m:r>
                          <a:rPr lang="en-US" b="0" i="1" smtClean="0">
                            <a:solidFill>
                              <a:schemeClr val="bg2"/>
                            </a:solidFill>
                            <a:latin typeface="Cambria Math" panose="02040503050406030204" pitchFamily="18" charset="0"/>
                            <a:ea typeface="Cambria Math" panose="02040503050406030204" pitchFamily="18" charset="0"/>
                          </a:rPr>
                          <m:t>𝑛</m:t>
                        </m:r>
                      </m:den>
                    </m:f>
                    <m:r>
                      <a:rPr lang="en-US" b="0" i="1" smtClean="0">
                        <a:solidFill>
                          <a:schemeClr val="bg2"/>
                        </a:solidFill>
                        <a:latin typeface="Cambria Math" panose="02040503050406030204" pitchFamily="18" charset="0"/>
                        <a:ea typeface="Cambria Math" panose="02040503050406030204" pitchFamily="18" charset="0"/>
                      </a:rPr>
                      <m:t>+</m:t>
                    </m:r>
                    <m:f>
                      <m:fPr>
                        <m:ctrlPr>
                          <a:rPr lang="en-US" i="1">
                            <a:solidFill>
                              <a:schemeClr val="bg2"/>
                            </a:solidFill>
                            <a:latin typeface="Cambria Math" panose="02040503050406030204" pitchFamily="18" charset="0"/>
                            <a:ea typeface="Cambria Math" panose="02040503050406030204" pitchFamily="18" charset="0"/>
                          </a:rPr>
                        </m:ctrlPr>
                      </m:fPr>
                      <m:num>
                        <m:r>
                          <a:rPr lang="en-US" i="1">
                            <a:solidFill>
                              <a:schemeClr val="bg2"/>
                            </a:solidFill>
                            <a:latin typeface="Cambria Math" panose="02040503050406030204" pitchFamily="18" charset="0"/>
                            <a:ea typeface="Cambria Math" panose="02040503050406030204" pitchFamily="18" charset="0"/>
                          </a:rPr>
                          <m:t>𝒪</m:t>
                        </m:r>
                        <m:d>
                          <m:dPr>
                            <m:ctrlPr>
                              <a:rPr lang="en-US" i="1">
                                <a:solidFill>
                                  <a:schemeClr val="bg2"/>
                                </a:solidFill>
                                <a:latin typeface="Cambria Math" panose="02040503050406030204" pitchFamily="18" charset="0"/>
                                <a:ea typeface="Cambria Math" panose="02040503050406030204" pitchFamily="18" charset="0"/>
                              </a:rPr>
                            </m:ctrlPr>
                          </m:dPr>
                          <m:e>
                            <m:r>
                              <a:rPr lang="en-US" i="1">
                                <a:solidFill>
                                  <a:schemeClr val="bg2"/>
                                </a:solidFill>
                                <a:latin typeface="Cambria Math" panose="02040503050406030204" pitchFamily="18" charset="0"/>
                                <a:ea typeface="Cambria Math" panose="02040503050406030204" pitchFamily="18" charset="0"/>
                              </a:rPr>
                              <m:t>1+2+4+8+16+…</m:t>
                            </m:r>
                            <m:r>
                              <a:rPr lang="en-US" b="0" i="1" smtClean="0">
                                <a:solidFill>
                                  <a:schemeClr val="bg2"/>
                                </a:solidFill>
                                <a:latin typeface="Cambria Math" panose="02040503050406030204" pitchFamily="18" charset="0"/>
                                <a:ea typeface="Cambria Math" panose="02040503050406030204" pitchFamily="18" charset="0"/>
                              </a:rPr>
                              <m:t>𝑛</m:t>
                            </m:r>
                          </m:e>
                        </m:d>
                      </m:num>
                      <m:den>
                        <m:r>
                          <a:rPr lang="en-US" b="0" i="1" smtClean="0">
                            <a:solidFill>
                              <a:schemeClr val="bg2"/>
                            </a:solidFill>
                            <a:latin typeface="Cambria Math" panose="02040503050406030204" pitchFamily="18" charset="0"/>
                            <a:ea typeface="Cambria Math" panose="02040503050406030204" pitchFamily="18" charset="0"/>
                          </a:rPr>
                          <m:t>𝑛</m:t>
                        </m:r>
                      </m:den>
                    </m:f>
                  </m:oMath>
                </a14:m>
                <a:endParaRPr lang="en-US">
                  <a:solidFill>
                    <a:schemeClr val="bg2"/>
                  </a:solidFill>
                  <a:ea typeface="Cambria Math" panose="02040503050406030204" pitchFamily="18" charset="0"/>
                </a:endParaRPr>
              </a:p>
              <a:p>
                <a:pPr lvl="2"/>
                <a:endParaRPr lang="en-US">
                  <a:solidFill>
                    <a:schemeClr val="bg2"/>
                  </a:solidFill>
                  <a:ea typeface="Cambria Math" panose="02040503050406030204" pitchFamily="18" charset="0"/>
                </a:endParaRPr>
              </a:p>
              <a:p>
                <a:pPr lvl="2"/>
                <a14:m>
                  <m:oMath xmlns:m="http://schemas.openxmlformats.org/officeDocument/2006/math">
                    <m:r>
                      <a:rPr lang="en-US" b="0" i="1" smtClean="0">
                        <a:solidFill>
                          <a:schemeClr val="bg2"/>
                        </a:solidFill>
                        <a:latin typeface="Cambria Math" panose="02040503050406030204" pitchFamily="18" charset="0"/>
                        <a:ea typeface="Cambria Math" panose="02040503050406030204" pitchFamily="18" charset="0"/>
                      </a:rPr>
                      <m:t>…</m:t>
                    </m:r>
                  </m:oMath>
                </a14:m>
                <a:endParaRPr lang="en-US" b="0" i="1">
                  <a:solidFill>
                    <a:schemeClr val="bg2"/>
                  </a:solidFill>
                  <a:latin typeface="Cambria Math" panose="02040503050406030204" pitchFamily="18" charset="0"/>
                  <a:ea typeface="Cambria Math" panose="02040503050406030204" pitchFamily="18" charset="0"/>
                </a:endParaRPr>
              </a:p>
              <a:p>
                <a:pPr lvl="2"/>
                <a:endParaRPr lang="en-US" b="0" i="1">
                  <a:solidFill>
                    <a:schemeClr val="bg2"/>
                  </a:solidFill>
                  <a:latin typeface="Cambria Math" panose="02040503050406030204" pitchFamily="18" charset="0"/>
                  <a:ea typeface="Cambria Math" panose="02040503050406030204" pitchFamily="18" charset="0"/>
                </a:endParaRPr>
              </a:p>
              <a:p>
                <a:pPr lvl="2"/>
                <a14:m>
                  <m:oMath xmlns:m="http://schemas.openxmlformats.org/officeDocument/2006/math">
                    <m:f>
                      <m:fPr>
                        <m:ctrlPr>
                          <a:rPr lang="en-US" i="1">
                            <a:solidFill>
                              <a:schemeClr val="bg2"/>
                            </a:solidFill>
                            <a:latin typeface="Cambria Math" panose="02040503050406030204" pitchFamily="18" charset="0"/>
                            <a:ea typeface="Cambria Math" panose="02040503050406030204" pitchFamily="18" charset="0"/>
                          </a:rPr>
                        </m:ctrlPr>
                      </m:fPr>
                      <m:num>
                        <m:r>
                          <a:rPr lang="en-US" i="1">
                            <a:solidFill>
                              <a:schemeClr val="bg2"/>
                            </a:solidFill>
                            <a:latin typeface="Cambria Math" panose="02040503050406030204" pitchFamily="18" charset="0"/>
                            <a:ea typeface="Cambria Math" panose="02040503050406030204" pitchFamily="18" charset="0"/>
                          </a:rPr>
                          <m:t>𝒪</m:t>
                        </m:r>
                        <m:d>
                          <m:dPr>
                            <m:ctrlPr>
                              <a:rPr lang="en-US" i="1">
                                <a:solidFill>
                                  <a:schemeClr val="bg2"/>
                                </a:solidFill>
                                <a:latin typeface="Cambria Math" panose="02040503050406030204" pitchFamily="18" charset="0"/>
                                <a:ea typeface="Cambria Math" panose="02040503050406030204" pitchFamily="18" charset="0"/>
                              </a:rPr>
                            </m:ctrlPr>
                          </m:dPr>
                          <m:e>
                            <m:r>
                              <a:rPr lang="en-US" i="1">
                                <a:solidFill>
                                  <a:schemeClr val="bg2"/>
                                </a:solidFill>
                                <a:latin typeface="Cambria Math" panose="02040503050406030204" pitchFamily="18" charset="0"/>
                                <a:ea typeface="Cambria Math" panose="02040503050406030204" pitchFamily="18" charset="0"/>
                              </a:rPr>
                              <m:t>𝑛</m:t>
                            </m:r>
                          </m:e>
                        </m:d>
                      </m:num>
                      <m:den>
                        <m:r>
                          <a:rPr lang="en-US" i="1">
                            <a:solidFill>
                              <a:schemeClr val="bg2"/>
                            </a:solidFill>
                            <a:latin typeface="Cambria Math" panose="02040503050406030204" pitchFamily="18" charset="0"/>
                            <a:ea typeface="Cambria Math" panose="02040503050406030204" pitchFamily="18" charset="0"/>
                          </a:rPr>
                          <m:t>𝑛</m:t>
                        </m:r>
                      </m:den>
                    </m:f>
                    <m:r>
                      <a:rPr lang="en-US" i="1">
                        <a:solidFill>
                          <a:schemeClr val="bg2"/>
                        </a:solidFill>
                        <a:latin typeface="Cambria Math" panose="02040503050406030204" pitchFamily="18" charset="0"/>
                        <a:ea typeface="Cambria Math" panose="02040503050406030204" pitchFamily="18" charset="0"/>
                      </a:rPr>
                      <m:t>+</m:t>
                    </m:r>
                    <m:f>
                      <m:fPr>
                        <m:ctrlPr>
                          <a:rPr lang="en-US" i="1">
                            <a:solidFill>
                              <a:schemeClr val="bg2"/>
                            </a:solidFill>
                            <a:latin typeface="Cambria Math" panose="02040503050406030204" pitchFamily="18" charset="0"/>
                            <a:ea typeface="Cambria Math" panose="02040503050406030204" pitchFamily="18" charset="0"/>
                          </a:rPr>
                        </m:ctrlPr>
                      </m:fPr>
                      <m:num>
                        <m:r>
                          <a:rPr lang="en-US" i="1">
                            <a:solidFill>
                              <a:schemeClr val="bg2"/>
                            </a:solidFill>
                            <a:latin typeface="Cambria Math" panose="02040503050406030204" pitchFamily="18" charset="0"/>
                            <a:ea typeface="Cambria Math" panose="02040503050406030204" pitchFamily="18" charset="0"/>
                          </a:rPr>
                          <m:t>𝒪</m:t>
                        </m:r>
                        <m:d>
                          <m:dPr>
                            <m:ctrlPr>
                              <a:rPr lang="en-US" i="1">
                                <a:solidFill>
                                  <a:schemeClr val="bg2"/>
                                </a:solidFill>
                                <a:latin typeface="Cambria Math" panose="02040503050406030204" pitchFamily="18" charset="0"/>
                                <a:ea typeface="Cambria Math" panose="02040503050406030204" pitchFamily="18" charset="0"/>
                              </a:rPr>
                            </m:ctrlPr>
                          </m:dPr>
                          <m:e>
                            <m:r>
                              <a:rPr lang="en-US" i="1">
                                <a:solidFill>
                                  <a:schemeClr val="bg2"/>
                                </a:solidFill>
                                <a:latin typeface="Cambria Math" panose="02040503050406030204" pitchFamily="18" charset="0"/>
                                <a:ea typeface="Cambria Math" panose="02040503050406030204" pitchFamily="18" charset="0"/>
                              </a:rPr>
                              <m:t>𝑛</m:t>
                            </m:r>
                          </m:e>
                        </m:d>
                      </m:num>
                      <m:den>
                        <m:r>
                          <a:rPr lang="en-US" i="1">
                            <a:solidFill>
                              <a:schemeClr val="bg2"/>
                            </a:solidFill>
                            <a:latin typeface="Cambria Math" panose="02040503050406030204" pitchFamily="18" charset="0"/>
                            <a:ea typeface="Cambria Math" panose="02040503050406030204" pitchFamily="18" charset="0"/>
                          </a:rPr>
                          <m:t>𝑛</m:t>
                        </m:r>
                      </m:den>
                    </m:f>
                  </m:oMath>
                </a14:m>
                <a:endParaRPr lang="en-US">
                  <a:solidFill>
                    <a:schemeClr val="bg2"/>
                  </a:solidFill>
                </a:endParaRPr>
              </a:p>
              <a:p>
                <a:pPr lvl="2"/>
                <a14:m>
                  <m:oMath xmlns:m="http://schemas.openxmlformats.org/officeDocument/2006/math">
                    <m:r>
                      <a:rPr lang="en-US" i="1" smtClean="0">
                        <a:solidFill>
                          <a:schemeClr val="bg2"/>
                        </a:solidFill>
                        <a:latin typeface="Cambria Math" panose="02040503050406030204" pitchFamily="18" charset="0"/>
                        <a:ea typeface="Cambria Math" panose="02040503050406030204" pitchFamily="18" charset="0"/>
                      </a:rPr>
                      <m:t>𝒪</m:t>
                    </m:r>
                    <m:d>
                      <m:dPr>
                        <m:ctrlPr>
                          <a:rPr lang="en-US" b="0" i="1" smtClean="0">
                            <a:solidFill>
                              <a:schemeClr val="bg2"/>
                            </a:solidFill>
                            <a:latin typeface="Cambria Math" panose="02040503050406030204" pitchFamily="18" charset="0"/>
                            <a:ea typeface="Cambria Math" panose="02040503050406030204" pitchFamily="18" charset="0"/>
                          </a:rPr>
                        </m:ctrlPr>
                      </m:dPr>
                      <m:e>
                        <m:r>
                          <a:rPr lang="en-US" b="0" i="1" smtClean="0">
                            <a:solidFill>
                              <a:schemeClr val="bg2"/>
                            </a:solidFill>
                            <a:latin typeface="Cambria Math" panose="02040503050406030204" pitchFamily="18" charset="0"/>
                            <a:ea typeface="Cambria Math" panose="02040503050406030204" pitchFamily="18" charset="0"/>
                          </a:rPr>
                          <m:t>1</m:t>
                        </m:r>
                      </m:e>
                    </m:d>
                  </m:oMath>
                </a14:m>
                <a:r>
                  <a:rPr lang="en-US">
                    <a:solidFill>
                      <a:schemeClr val="bg2"/>
                    </a:solidFill>
                  </a:rPr>
                  <a:t> 🙂</a:t>
                </a:r>
              </a:p>
              <a:p>
                <a:r>
                  <a:rPr lang="en-US" b="1"/>
                  <a:t>we can make a similar argument for a hash map</a:t>
                </a:r>
              </a:p>
              <a:p>
                <a:pPr lvl="2"/>
                <a:endParaRPr lang="en-US">
                  <a:solidFill>
                    <a:schemeClr val="bg2"/>
                  </a:solidFill>
                </a:endParaRPr>
              </a:p>
            </p:txBody>
          </p:sp>
        </mc:Choice>
        <mc:Fallback xmlns="">
          <p:sp>
            <p:nvSpPr>
              <p:cNvPr id="3" name="Content Placeholder 2">
                <a:extLst>
                  <a:ext uri="{FF2B5EF4-FFF2-40B4-BE49-F238E27FC236}">
                    <a16:creationId xmlns:a16="http://schemas.microsoft.com/office/drawing/2014/main" id="{168EAD01-0B53-E704-4151-6E8DCC42C205}"/>
                  </a:ext>
                </a:extLst>
              </p:cNvPr>
              <p:cNvSpPr>
                <a:spLocks noGrp="1" noRot="1" noChangeAspect="1" noMove="1" noResize="1" noEditPoints="1" noAdjustHandles="1" noChangeArrowheads="1" noChangeShapeType="1" noTextEdit="1"/>
              </p:cNvSpPr>
              <p:nvPr>
                <p:ph sz="quarter" idx="10"/>
              </p:nvPr>
            </p:nvSpPr>
            <p:spPr>
              <a:blipFill>
                <a:blip r:embed="rId3"/>
                <a:stretch>
                  <a:fillRect l="-617" t="-621" r="-2006" b="-2484"/>
                </a:stretch>
              </a:blipFill>
            </p:spPr>
            <p:txBody>
              <a:bodyPr/>
              <a:lstStyle/>
              <a:p>
                <a:r>
                  <a:rPr lang="en-US">
                    <a:noFill/>
                  </a:rPr>
                  <a:t> </a:t>
                </a:r>
              </a:p>
            </p:txBody>
          </p:sp>
        </mc:Fallback>
      </mc:AlternateContent>
    </p:spTree>
    <p:extLst>
      <p:ext uri="{BB962C8B-B14F-4D97-AF65-F5344CB8AC3E}">
        <p14:creationId xmlns:p14="http://schemas.microsoft.com/office/powerpoint/2010/main" val="260234258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5FAE3-872A-9FB0-8BD2-F8401CE2B1C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4160CA-7F06-1A5C-4BC5-A92F47854824}"/>
              </a:ext>
            </a:extLst>
          </p:cNvPr>
          <p:cNvSpPr>
            <a:spLocks noGrp="1"/>
          </p:cNvSpPr>
          <p:nvPr>
            <p:ph type="title"/>
          </p:nvPr>
        </p:nvSpPr>
        <p:spPr/>
        <p:txBody>
          <a:bodyPr/>
          <a:lstStyle/>
          <a:p>
            <a:r>
              <a:rPr lang="en-US" sz="4400"/>
              <a:t>summary</a:t>
            </a:r>
          </a:p>
        </p:txBody>
      </p:sp>
    </p:spTree>
    <p:extLst>
      <p:ext uri="{BB962C8B-B14F-4D97-AF65-F5344CB8AC3E}">
        <p14:creationId xmlns:p14="http://schemas.microsoft.com/office/powerpoint/2010/main" val="340465884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BD0D4-273F-E7E0-3220-F58F671B805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7AC846C-49D5-F4BA-E9D3-BE8EA32307AE}"/>
              </a:ext>
            </a:extLst>
          </p:cNvPr>
          <p:cNvSpPr>
            <a:spLocks noGrp="1"/>
          </p:cNvSpPr>
          <p:nvPr>
            <p:ph type="title"/>
          </p:nvPr>
        </p:nvSpPr>
        <p:spPr/>
        <p:txBody>
          <a:bodyPr/>
          <a:lstStyle/>
          <a:p>
            <a:r>
              <a:rPr lang="en-US" b="1"/>
              <a:t>lesson: </a:t>
            </a:r>
            <a:r>
              <a:rPr lang="en-US"/>
              <a:t>there is a lot of subltety hiding in the seemingly simple statement "hash maps are O(1)"</a:t>
            </a:r>
            <a:br>
              <a:rPr lang="en-US"/>
            </a:br>
            <a:br>
              <a:rPr lang="en-US"/>
            </a:br>
            <a:r>
              <a:rPr lang="en-US"/>
              <a:t>buuut, in an interview, still probably just say O(1) 🙂👍</a:t>
            </a:r>
          </a:p>
        </p:txBody>
      </p:sp>
    </p:spTree>
    <p:extLst>
      <p:ext uri="{BB962C8B-B14F-4D97-AF65-F5344CB8AC3E}">
        <p14:creationId xmlns:p14="http://schemas.microsoft.com/office/powerpoint/2010/main" val="367262685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8557-1E13-129E-61AB-A844F5C702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FEA3CE-1AB3-D761-408E-69C94E4D5465}"/>
              </a:ext>
            </a:extLst>
          </p:cNvPr>
          <p:cNvSpPr>
            <a:spLocks noGrp="1"/>
          </p:cNvSpPr>
          <p:nvPr>
            <p:ph type="title"/>
          </p:nvPr>
        </p:nvSpPr>
        <p:spPr/>
        <p:txBody>
          <a:bodyPr/>
          <a:lstStyle/>
          <a:p>
            <a:r>
              <a:rPr lang="en-US" sz="8000"/>
              <a:t>Tutorial:</a:t>
            </a:r>
            <a:br>
              <a:rPr lang="en-US" sz="8000"/>
            </a:br>
            <a:r>
              <a:rPr lang="en-US" sz="8000"/>
              <a:t>hash map with</a:t>
            </a:r>
            <a:br>
              <a:rPr lang="en-US" sz="8000"/>
            </a:br>
            <a:r>
              <a:rPr lang="en-US" sz="8000"/>
              <a:t>separate chaining</a:t>
            </a:r>
            <a:br>
              <a:rPr lang="en-US" sz="8000"/>
            </a:br>
            <a:r>
              <a:rPr lang="en-US" sz="2800"/>
              <a:t>(using array list buckets)</a:t>
            </a:r>
            <a:endParaRPr lang="en-US" sz="8000"/>
          </a:p>
        </p:txBody>
      </p:sp>
    </p:spTree>
    <p:extLst>
      <p:ext uri="{BB962C8B-B14F-4D97-AF65-F5344CB8AC3E}">
        <p14:creationId xmlns:p14="http://schemas.microsoft.com/office/powerpoint/2010/main" val="391385761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F5F9F-B2D5-C6B9-F9E8-0C2BA2ED57D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0532804-B82C-0786-CD5C-649DCDED82A4}"/>
              </a:ext>
            </a:extLst>
          </p:cNvPr>
          <p:cNvPicPr>
            <a:picLocks noChangeAspect="1"/>
          </p:cNvPicPr>
          <p:nvPr/>
        </p:nvPicPr>
        <p:blipFill>
          <a:blip r:embed="rId2"/>
          <a:stretch>
            <a:fillRect/>
          </a:stretch>
        </p:blipFill>
        <p:spPr>
          <a:xfrm>
            <a:off x="1441761" y="0"/>
            <a:ext cx="6260477" cy="5143500"/>
          </a:xfrm>
          <a:prstGeom prst="rect">
            <a:avLst/>
          </a:prstGeom>
        </p:spPr>
      </p:pic>
    </p:spTree>
    <p:extLst>
      <p:ext uri="{BB962C8B-B14F-4D97-AF65-F5344CB8AC3E}">
        <p14:creationId xmlns:p14="http://schemas.microsoft.com/office/powerpoint/2010/main" val="238760755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054DF-1A45-AE31-C952-F949A7ECCB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4D362A-760D-A7B3-8083-D843AA89DE14}"/>
              </a:ext>
            </a:extLst>
          </p:cNvPr>
          <p:cNvSpPr>
            <a:spLocks noGrp="1"/>
          </p:cNvSpPr>
          <p:nvPr>
            <p:ph type="title"/>
          </p:nvPr>
        </p:nvSpPr>
        <p:spPr/>
        <p:txBody>
          <a:bodyPr/>
          <a:lstStyle/>
          <a:p>
            <a:r>
              <a:rPr lang="en-US" sz="8000"/>
              <a:t>open addressing</a:t>
            </a:r>
          </a:p>
        </p:txBody>
      </p:sp>
    </p:spTree>
    <p:extLst>
      <p:ext uri="{BB962C8B-B14F-4D97-AF65-F5344CB8AC3E}">
        <p14:creationId xmlns:p14="http://schemas.microsoft.com/office/powerpoint/2010/main" val="1006513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88C3F-C83C-2DD3-FA7A-9F50414AD67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F5E175E-C883-595F-FB0E-8910E1858287}"/>
              </a:ext>
            </a:extLst>
          </p:cNvPr>
          <p:cNvSpPr>
            <a:spLocks noGrp="1"/>
          </p:cNvSpPr>
          <p:nvPr>
            <p:ph type="title"/>
          </p:nvPr>
        </p:nvSpPr>
        <p:spPr/>
        <p:txBody>
          <a:bodyPr/>
          <a:lstStyle/>
          <a:p>
            <a:pPr algn="l"/>
            <a:r>
              <a:rPr lang="en-US" sz="4000"/>
              <a:t>a hash map with</a:t>
            </a:r>
            <a:br>
              <a:rPr lang="en-US" sz="4000"/>
            </a:br>
            <a:r>
              <a:rPr lang="en-US" sz="4000" b="1"/>
              <a:t>separate chaining</a:t>
            </a:r>
            <a:r>
              <a:rPr lang="en-US" sz="4000"/>
              <a:t> used an</a:t>
            </a:r>
            <a:br>
              <a:rPr lang="en-US" sz="4000"/>
            </a:br>
            <a:r>
              <a:rPr lang="en-US" sz="4000"/>
              <a:t>array of buckets of key-value pairs</a:t>
            </a:r>
            <a:br>
              <a:rPr lang="en-US" sz="4000"/>
            </a:br>
            <a:br>
              <a:rPr lang="en-US" sz="4000"/>
            </a:br>
            <a:r>
              <a:rPr lang="en-US" sz="3200" b="1">
                <a:latin typeface="+mj-lt"/>
              </a:rPr>
              <a:t>put(key,value)</a:t>
            </a:r>
            <a:br>
              <a:rPr lang="en-US" sz="4000"/>
            </a:br>
            <a:r>
              <a:rPr lang="en-US" sz="2800"/>
              <a:t>hash </a:t>
            </a:r>
            <a:r>
              <a:rPr lang="en-US" sz="2800">
                <a:latin typeface="+mj-lt"/>
              </a:rPr>
              <a:t>key</a:t>
            </a:r>
            <a:r>
              <a:rPr lang="en-US" sz="2800"/>
              <a:t> to find </a:t>
            </a:r>
            <a:r>
              <a:rPr lang="en-US" sz="2800">
                <a:latin typeface="+mj-lt"/>
              </a:rPr>
              <a:t>bucketIndex</a:t>
            </a:r>
            <a:br>
              <a:rPr lang="en-US" sz="2800"/>
            </a:br>
            <a:r>
              <a:rPr lang="en-US" sz="2800"/>
              <a:t>add </a:t>
            </a:r>
            <a:r>
              <a:rPr lang="en-US" sz="2800">
                <a:latin typeface="+mj-lt"/>
              </a:rPr>
              <a:t>(key, value)</a:t>
            </a:r>
            <a:r>
              <a:rPr lang="en-US" sz="2800"/>
              <a:t> to </a:t>
            </a:r>
            <a:r>
              <a:rPr lang="en-US" sz="2800">
                <a:latin typeface="+mj-lt"/>
              </a:rPr>
              <a:t>buckets[bucketIndex]</a:t>
            </a:r>
            <a:endParaRPr lang="en-US" sz="4000">
              <a:latin typeface="+mj-lt"/>
            </a:endParaRPr>
          </a:p>
        </p:txBody>
      </p:sp>
    </p:spTree>
    <p:extLst>
      <p:ext uri="{BB962C8B-B14F-4D97-AF65-F5344CB8AC3E}">
        <p14:creationId xmlns:p14="http://schemas.microsoft.com/office/powerpoint/2010/main" val="304177688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E5DBE-B531-1943-5657-10AF3B46C75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4B1DA43-D529-6DA4-09E0-768519CC78E6}"/>
              </a:ext>
            </a:extLst>
          </p:cNvPr>
          <p:cNvSpPr>
            <a:spLocks noGrp="1"/>
          </p:cNvSpPr>
          <p:nvPr>
            <p:ph type="title"/>
          </p:nvPr>
        </p:nvSpPr>
        <p:spPr/>
        <p:txBody>
          <a:bodyPr/>
          <a:lstStyle/>
          <a:p>
            <a:pPr algn="l"/>
            <a:r>
              <a:rPr lang="en-US" sz="4000"/>
              <a:t>a hash map with</a:t>
            </a:r>
            <a:br>
              <a:rPr lang="en-US" sz="4000"/>
            </a:br>
            <a:r>
              <a:rPr lang="en-US" sz="4000" b="1"/>
              <a:t>open addressing</a:t>
            </a:r>
            <a:r>
              <a:rPr lang="en-US" sz="4000"/>
              <a:t> just uses an</a:t>
            </a:r>
            <a:br>
              <a:rPr lang="en-US" sz="4000"/>
            </a:br>
            <a:r>
              <a:rPr lang="en-US" sz="4000"/>
              <a:t>array of key-value pairs </a:t>
            </a:r>
            <a:r>
              <a:rPr lang="en-US" sz="4000">
                <a:solidFill>
                  <a:schemeClr val="bg2"/>
                </a:solidFill>
              </a:rPr>
              <a:t>(slots)</a:t>
            </a:r>
            <a:br>
              <a:rPr lang="en-US" sz="4000">
                <a:solidFill>
                  <a:schemeClr val="bg2"/>
                </a:solidFill>
              </a:rPr>
            </a:br>
            <a:br>
              <a:rPr lang="en-US" sz="4000">
                <a:solidFill>
                  <a:schemeClr val="bg2"/>
                </a:solidFill>
              </a:rPr>
            </a:br>
            <a:r>
              <a:rPr lang="en-US" sz="3200" b="1">
                <a:latin typeface="+mj-lt"/>
              </a:rPr>
              <a:t>put(key, value)</a:t>
            </a:r>
            <a:br>
              <a:rPr lang="en-US" sz="4000">
                <a:solidFill>
                  <a:schemeClr val="bg2"/>
                </a:solidFill>
              </a:rPr>
            </a:br>
            <a:r>
              <a:rPr lang="en-US" sz="2400"/>
              <a:t>hash </a:t>
            </a:r>
            <a:r>
              <a:rPr lang="en-US" sz="2400">
                <a:latin typeface="+mj-lt"/>
              </a:rPr>
              <a:t>key</a:t>
            </a:r>
            <a:r>
              <a:rPr lang="en-US" sz="2400"/>
              <a:t> to find </a:t>
            </a:r>
            <a:r>
              <a:rPr lang="en-US" sz="2400">
                <a:latin typeface="+mj-lt"/>
              </a:rPr>
              <a:t>slotIndex</a:t>
            </a:r>
            <a:br>
              <a:rPr lang="en-US" sz="2400"/>
            </a:br>
            <a:r>
              <a:rPr lang="en-US" sz="2400"/>
              <a:t>if </a:t>
            </a:r>
            <a:r>
              <a:rPr lang="en-US" sz="2400">
                <a:latin typeface="+mj-lt"/>
              </a:rPr>
              <a:t>slots[slotIndex]</a:t>
            </a:r>
            <a:r>
              <a:rPr lang="en-US" sz="2400"/>
              <a:t> is full, try slots[</a:t>
            </a:r>
            <a:r>
              <a:rPr lang="en-US" sz="2400">
                <a:latin typeface="+mj-lt"/>
              </a:rPr>
              <a:t>slotIndex + </a:t>
            </a:r>
            <a:r>
              <a:rPr lang="en-US" sz="2400">
                <a:solidFill>
                  <a:srgbClr val="09B5B6"/>
                </a:solidFill>
                <a:latin typeface="+mj-lt"/>
              </a:rPr>
              <a:t>1</a:t>
            </a:r>
            <a:r>
              <a:rPr lang="en-US" sz="2400">
                <a:latin typeface="+mj-lt"/>
              </a:rPr>
              <a:t>]</a:t>
            </a:r>
            <a:br>
              <a:rPr lang="en-US" sz="2400"/>
            </a:br>
            <a:r>
              <a:rPr lang="en-US" sz="2400"/>
              <a:t>if </a:t>
            </a:r>
            <a:r>
              <a:rPr lang="en-US" sz="2400">
                <a:latin typeface="+mj-lt"/>
              </a:rPr>
              <a:t>slots[slotIndex + </a:t>
            </a:r>
            <a:r>
              <a:rPr lang="en-US" sz="2400">
                <a:solidFill>
                  <a:srgbClr val="09B5B6"/>
                </a:solidFill>
                <a:latin typeface="+mj-lt"/>
              </a:rPr>
              <a:t>1</a:t>
            </a:r>
            <a:r>
              <a:rPr lang="en-US" sz="2400">
                <a:latin typeface="+mj-lt"/>
              </a:rPr>
              <a:t>]</a:t>
            </a:r>
            <a:r>
              <a:rPr lang="en-US" sz="2400"/>
              <a:t> is full, try slots[</a:t>
            </a:r>
            <a:r>
              <a:rPr lang="en-US" sz="2400">
                <a:latin typeface="+mj-lt"/>
              </a:rPr>
              <a:t>slotIndex + </a:t>
            </a:r>
            <a:r>
              <a:rPr lang="en-US" sz="2400">
                <a:solidFill>
                  <a:srgbClr val="09B5B6"/>
                </a:solidFill>
                <a:latin typeface="+mj-lt"/>
              </a:rPr>
              <a:t>2</a:t>
            </a:r>
            <a:r>
              <a:rPr lang="en-US" sz="2400">
                <a:latin typeface="+mj-lt"/>
              </a:rPr>
              <a:t>]</a:t>
            </a:r>
            <a:br>
              <a:rPr lang="en-US" sz="2400">
                <a:latin typeface="+mj-lt"/>
              </a:rPr>
            </a:br>
            <a:r>
              <a:rPr lang="en-US" sz="2400"/>
              <a:t>if </a:t>
            </a:r>
            <a:r>
              <a:rPr lang="en-US" sz="2400">
                <a:latin typeface="+mj-lt"/>
              </a:rPr>
              <a:t>slots[slotIndex + </a:t>
            </a:r>
            <a:r>
              <a:rPr lang="en-US" sz="2400">
                <a:solidFill>
                  <a:srgbClr val="09B5B6"/>
                </a:solidFill>
                <a:latin typeface="+mj-lt"/>
              </a:rPr>
              <a:t>2</a:t>
            </a:r>
            <a:r>
              <a:rPr lang="en-US" sz="2400">
                <a:latin typeface="+mj-lt"/>
              </a:rPr>
              <a:t>]</a:t>
            </a:r>
            <a:r>
              <a:rPr lang="en-US" sz="2400"/>
              <a:t> is full, try slots[</a:t>
            </a:r>
            <a:r>
              <a:rPr lang="en-US" sz="2400">
                <a:latin typeface="+mj-lt"/>
              </a:rPr>
              <a:t>slotIndex + </a:t>
            </a:r>
            <a:r>
              <a:rPr lang="en-US" sz="2400">
                <a:solidFill>
                  <a:srgbClr val="09B5B6"/>
                </a:solidFill>
                <a:latin typeface="+mj-lt"/>
              </a:rPr>
              <a:t>3</a:t>
            </a:r>
            <a:r>
              <a:rPr lang="en-US" sz="2400">
                <a:latin typeface="+mj-lt"/>
              </a:rPr>
              <a:t>]</a:t>
            </a:r>
            <a:br>
              <a:rPr lang="en-US" sz="2400"/>
            </a:br>
            <a:r>
              <a:rPr lang="en-US" sz="2400"/>
              <a:t>...</a:t>
            </a:r>
            <a:br>
              <a:rPr lang="en-US" sz="2400"/>
            </a:br>
            <a:r>
              <a:rPr lang="en-US" sz="2400"/>
              <a:t>put </a:t>
            </a:r>
            <a:r>
              <a:rPr lang="en-US" sz="2400">
                <a:latin typeface="+mj-lt"/>
              </a:rPr>
              <a:t>(key,value)</a:t>
            </a:r>
            <a:r>
              <a:rPr lang="en-US" sz="2400"/>
              <a:t> in first empty slot</a:t>
            </a:r>
            <a:endParaRPr lang="en-US" sz="4000">
              <a:solidFill>
                <a:schemeClr val="bg2"/>
              </a:solidFill>
            </a:endParaRPr>
          </a:p>
        </p:txBody>
      </p:sp>
    </p:spTree>
    <p:extLst>
      <p:ext uri="{BB962C8B-B14F-4D97-AF65-F5344CB8AC3E}">
        <p14:creationId xmlns:p14="http://schemas.microsoft.com/office/powerpoint/2010/main" val="351456189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38402-9E18-F087-E188-FB1992E84B6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D13E583-AE97-61E5-10C0-496492AA664F}"/>
              </a:ext>
            </a:extLst>
          </p:cNvPr>
          <p:cNvSpPr>
            <a:spLocks noGrp="1"/>
          </p:cNvSpPr>
          <p:nvPr>
            <p:ph type="title"/>
          </p:nvPr>
        </p:nvSpPr>
        <p:spPr>
          <a:xfrm>
            <a:off x="457200" y="-190500"/>
            <a:ext cx="8229600" cy="5524500"/>
          </a:xfrm>
        </p:spPr>
        <p:txBody>
          <a:bodyPr/>
          <a:lstStyle/>
          <a:p>
            <a:pPr algn="l"/>
            <a:r>
              <a:rPr lang="en-US" sz="3600" b="1">
                <a:latin typeface="+mj-lt"/>
              </a:rPr>
              <a:t>get(key)</a:t>
            </a:r>
            <a:r>
              <a:rPr lang="en-US" sz="3600"/>
              <a:t> is interesting</a:t>
            </a:r>
            <a:br>
              <a:rPr lang="en-US" sz="2800"/>
            </a:br>
            <a:r>
              <a:rPr lang="en-US" sz="2400"/>
              <a:t>hash </a:t>
            </a:r>
            <a:r>
              <a:rPr lang="en-US" sz="2400">
                <a:latin typeface="+mj-lt"/>
              </a:rPr>
              <a:t>key</a:t>
            </a:r>
            <a:r>
              <a:rPr lang="en-US" sz="2400"/>
              <a:t> to find </a:t>
            </a:r>
            <a:r>
              <a:rPr lang="en-US" sz="2400">
                <a:latin typeface="+mj-lt"/>
              </a:rPr>
              <a:t>slotIndex</a:t>
            </a:r>
            <a:br>
              <a:rPr lang="en-US" sz="2400">
                <a:latin typeface="+mj-lt"/>
              </a:rPr>
            </a:br>
            <a:br>
              <a:rPr lang="en-US" sz="2400"/>
            </a:br>
            <a:r>
              <a:rPr lang="en-US" sz="2400"/>
              <a:t>is </a:t>
            </a:r>
            <a:r>
              <a:rPr lang="en-US" sz="2400">
                <a:latin typeface="+mj-lt"/>
              </a:rPr>
              <a:t>key</a:t>
            </a:r>
            <a:r>
              <a:rPr lang="en-US" sz="2400"/>
              <a:t> in </a:t>
            </a:r>
            <a:r>
              <a:rPr lang="en-US" sz="2400">
                <a:latin typeface="+mj-lt"/>
              </a:rPr>
              <a:t>slots[slotIndex]</a:t>
            </a:r>
            <a:r>
              <a:rPr lang="en-US" sz="2400"/>
              <a:t>?</a:t>
            </a:r>
            <a:br>
              <a:rPr lang="en-US" sz="2400"/>
            </a:br>
            <a:r>
              <a:rPr lang="en-US" sz="2400"/>
              <a:t>	</a:t>
            </a:r>
            <a:r>
              <a:rPr lang="en-US" sz="1800"/>
              <a:t>if yes, </a:t>
            </a:r>
            <a:r>
              <a:rPr lang="en-US" sz="1800">
                <a:solidFill>
                  <a:srgbClr val="0000FF"/>
                </a:solidFill>
                <a:latin typeface="+mj-lt"/>
              </a:rPr>
              <a:t>return </a:t>
            </a:r>
            <a:r>
              <a:rPr lang="en-US" sz="1800">
                <a:latin typeface="+mj-lt"/>
              </a:rPr>
              <a:t>slot.value;</a:t>
            </a:r>
            <a:br>
              <a:rPr lang="en-US" sz="2400"/>
            </a:br>
            <a:r>
              <a:rPr lang="en-US" sz="2400"/>
              <a:t>is </a:t>
            </a:r>
            <a:r>
              <a:rPr lang="en-US" sz="2400">
                <a:latin typeface="+mj-lt"/>
              </a:rPr>
              <a:t>key</a:t>
            </a:r>
            <a:r>
              <a:rPr lang="en-US" sz="2400"/>
              <a:t> in </a:t>
            </a:r>
            <a:r>
              <a:rPr lang="en-US" sz="2400">
                <a:latin typeface="+mj-lt"/>
              </a:rPr>
              <a:t>slots[slotIndex + </a:t>
            </a:r>
            <a:r>
              <a:rPr lang="en-US" sz="2400">
                <a:solidFill>
                  <a:srgbClr val="09B5B6"/>
                </a:solidFill>
                <a:latin typeface="+mj-lt"/>
              </a:rPr>
              <a:t>1</a:t>
            </a:r>
            <a:r>
              <a:rPr lang="en-US" sz="2400">
                <a:latin typeface="+mj-lt"/>
              </a:rPr>
              <a:t>]</a:t>
            </a:r>
            <a:r>
              <a:rPr lang="en-US" sz="2400"/>
              <a:t>? </a:t>
            </a:r>
            <a:br>
              <a:rPr lang="en-US" sz="2400"/>
            </a:br>
            <a:r>
              <a:rPr kumimoji="0" lang="en-US" sz="24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	</a:t>
            </a:r>
            <a:r>
              <a:rPr kumimoji="0" lang="en-US" sz="1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if yes, </a:t>
            </a:r>
            <a:r>
              <a:rPr kumimoji="0" lang="en-US" sz="1800" b="0" i="0" u="none" strike="noStrike" kern="1200" cap="none" spc="0" normalizeH="0" baseline="0" noProof="0">
                <a:ln>
                  <a:noFill/>
                </a:ln>
                <a:solidFill>
                  <a:srgbClr val="0000FF"/>
                </a:solidFill>
                <a:effectLst/>
                <a:uLnTx/>
                <a:uFillTx/>
                <a:latin typeface="Consolas"/>
                <a:ea typeface="Segoe UI Emoji" panose="020B0502040204020203" pitchFamily="34" charset="0"/>
                <a:cs typeface="+mj-cs"/>
              </a:rPr>
              <a:t>return </a:t>
            </a:r>
            <a:r>
              <a:rPr kumimoji="0" lang="en-US" sz="1800" b="0" i="0" u="none" strike="noStrike" kern="1200" cap="none" spc="0" normalizeH="0" baseline="0" noProof="0">
                <a:ln>
                  <a:noFill/>
                </a:ln>
                <a:solidFill>
                  <a:srgbClr val="000000"/>
                </a:solidFill>
                <a:effectLst/>
                <a:uLnTx/>
                <a:uFillTx/>
                <a:latin typeface="Consolas"/>
                <a:ea typeface="Segoe UI Emoji" panose="020B0502040204020203" pitchFamily="34" charset="0"/>
                <a:cs typeface="+mj-cs"/>
              </a:rPr>
              <a:t>slot.value;</a:t>
            </a:r>
            <a:br>
              <a:rPr lang="en-US" sz="2400"/>
            </a:br>
            <a:r>
              <a:rPr lang="en-US" sz="2400"/>
              <a:t>is </a:t>
            </a:r>
            <a:r>
              <a:rPr lang="en-US" sz="2400">
                <a:latin typeface="+mj-lt"/>
              </a:rPr>
              <a:t>key</a:t>
            </a:r>
            <a:r>
              <a:rPr lang="en-US" sz="2400"/>
              <a:t> in </a:t>
            </a:r>
            <a:r>
              <a:rPr lang="en-US" sz="2400">
                <a:latin typeface="+mj-lt"/>
              </a:rPr>
              <a:t>slots[slotIndex + </a:t>
            </a:r>
            <a:r>
              <a:rPr lang="en-US" sz="2400">
                <a:solidFill>
                  <a:srgbClr val="09B5B6"/>
                </a:solidFill>
                <a:latin typeface="+mj-lt"/>
              </a:rPr>
              <a:t>2</a:t>
            </a:r>
            <a:r>
              <a:rPr lang="en-US" sz="2400">
                <a:latin typeface="+mj-lt"/>
              </a:rPr>
              <a:t>]</a:t>
            </a:r>
            <a:r>
              <a:rPr lang="en-US" sz="2400"/>
              <a:t>?</a:t>
            </a:r>
            <a:br>
              <a:rPr lang="en-US" sz="2400"/>
            </a:br>
            <a:r>
              <a:rPr lang="en-US" sz="2400"/>
              <a:t>	...</a:t>
            </a:r>
            <a:br>
              <a:rPr lang="en-US" sz="2400"/>
            </a:br>
            <a:br>
              <a:rPr lang="en-US" sz="2400"/>
            </a:br>
            <a:r>
              <a:rPr lang="en-US" sz="2400"/>
              <a:t>give up if you hit an empty slot</a:t>
            </a:r>
            <a:br>
              <a:rPr lang="en-US" sz="2400"/>
            </a:br>
            <a:r>
              <a:rPr lang="en-US" sz="2400"/>
              <a:t>map does NOT contain </a:t>
            </a:r>
            <a:r>
              <a:rPr lang="en-US" sz="2400">
                <a:latin typeface="+mj-lt"/>
              </a:rPr>
              <a:t>key </a:t>
            </a:r>
            <a:r>
              <a:rPr lang="en-US" sz="2400">
                <a:latin typeface="+mj-lt"/>
                <a:sym typeface="Wingdings" pitchFamily="2" charset="2"/>
              </a:rPr>
              <a:t></a:t>
            </a:r>
            <a:r>
              <a:rPr lang="en-US" sz="2400">
                <a:latin typeface="+mj-lt"/>
              </a:rPr>
              <a:t> </a:t>
            </a:r>
            <a:r>
              <a:rPr lang="en-US" sz="2400">
                <a:solidFill>
                  <a:srgbClr val="0000FF"/>
                </a:solidFill>
                <a:latin typeface="+mj-lt"/>
              </a:rPr>
              <a:t>return null</a:t>
            </a:r>
            <a:r>
              <a:rPr lang="en-US" sz="2400">
                <a:latin typeface="+mj-lt"/>
              </a:rPr>
              <a:t>;</a:t>
            </a:r>
            <a:endParaRPr lang="en-US" sz="2800" b="1">
              <a:latin typeface="+mj-lt"/>
            </a:endParaRPr>
          </a:p>
        </p:txBody>
      </p:sp>
    </p:spTree>
    <p:extLst>
      <p:ext uri="{BB962C8B-B14F-4D97-AF65-F5344CB8AC3E}">
        <p14:creationId xmlns:p14="http://schemas.microsoft.com/office/powerpoint/2010/main" val="245200776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5CC25-152A-AA1C-A018-9AB8FF4EDF74}"/>
              </a:ext>
            </a:extLst>
          </p:cNvPr>
          <p:cNvSpPr>
            <a:spLocks noGrp="1"/>
          </p:cNvSpPr>
          <p:nvPr>
            <p:ph type="title"/>
          </p:nvPr>
        </p:nvSpPr>
        <p:spPr/>
        <p:txBody>
          <a:bodyPr/>
          <a:lstStyle/>
          <a:p>
            <a:r>
              <a:rPr lang="en-US" sz="2800" b="1"/>
              <a:t>note:</a:t>
            </a:r>
            <a:r>
              <a:rPr lang="en-US" sz="2800"/>
              <a:t> must be very careful when</a:t>
            </a:r>
            <a:br>
              <a:rPr lang="en-US" sz="2800"/>
            </a:br>
            <a:r>
              <a:rPr lang="en-US" sz="2800"/>
              <a:t>removing (deleting) key-value  pairs from a hash map implemented using open addressing</a:t>
            </a:r>
            <a:endParaRPr lang="en-US" sz="2800" b="1"/>
          </a:p>
        </p:txBody>
      </p:sp>
    </p:spTree>
    <p:extLst>
      <p:ext uri="{BB962C8B-B14F-4D97-AF65-F5344CB8AC3E}">
        <p14:creationId xmlns:p14="http://schemas.microsoft.com/office/powerpoint/2010/main" val="342898683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6C181-B493-C48D-C5D0-82A2EE6E60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F4752E-6BAC-3882-6514-27455A5A01F7}"/>
              </a:ext>
            </a:extLst>
          </p:cNvPr>
          <p:cNvSpPr>
            <a:spLocks noGrp="1"/>
          </p:cNvSpPr>
          <p:nvPr>
            <p:ph type="title"/>
          </p:nvPr>
        </p:nvSpPr>
        <p:spPr/>
        <p:txBody>
          <a:bodyPr/>
          <a:lstStyle/>
          <a:p>
            <a:r>
              <a:rPr lang="en-US" b="1"/>
              <a:t>note: </a:t>
            </a:r>
            <a:r>
              <a:rPr lang="en-US"/>
              <a:t>these slides described a specific</a:t>
            </a:r>
            <a:r>
              <a:rPr lang="en-US" i="1"/>
              <a:t> </a:t>
            </a:r>
            <a:r>
              <a:rPr lang="en-US"/>
              <a:t>kind of open addressing called </a:t>
            </a:r>
            <a:r>
              <a:rPr lang="en-US" b="1"/>
              <a:t>linear probing</a:t>
            </a:r>
            <a:br>
              <a:rPr lang="en-US" b="1"/>
            </a:br>
            <a:br>
              <a:rPr lang="en-US" sz="4000" b="1"/>
            </a:br>
            <a:r>
              <a:rPr lang="en-US" sz="2400" b="1"/>
              <a:t>open addressing</a:t>
            </a:r>
            <a:r>
              <a:rPr lang="en-US" sz="2400"/>
              <a:t> is a strategy for </a:t>
            </a:r>
            <a:r>
              <a:rPr lang="en-US" sz="2400" b="1"/>
              <a:t>resolving collisions</a:t>
            </a:r>
            <a:br>
              <a:rPr lang="en-US" sz="2400" b="1"/>
            </a:br>
            <a:r>
              <a:rPr lang="en-US" sz="2400" b="1"/>
              <a:t>linear probing</a:t>
            </a:r>
            <a:r>
              <a:rPr lang="en-US" sz="2400"/>
              <a:t> is just one way of doing open addressing</a:t>
            </a:r>
            <a:endParaRPr lang="en-US" b="1"/>
          </a:p>
        </p:txBody>
      </p:sp>
    </p:spTree>
    <p:extLst>
      <p:ext uri="{BB962C8B-B14F-4D97-AF65-F5344CB8AC3E}">
        <p14:creationId xmlns:p14="http://schemas.microsoft.com/office/powerpoint/2010/main" val="235126934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E33CD-CC7C-5124-B200-3B9A39E402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21E1A4-B563-5AC3-DDE9-5412B4705100}"/>
              </a:ext>
            </a:extLst>
          </p:cNvPr>
          <p:cNvSpPr>
            <a:spLocks noGrp="1"/>
          </p:cNvSpPr>
          <p:nvPr>
            <p:ph type="title"/>
          </p:nvPr>
        </p:nvSpPr>
        <p:spPr/>
        <p:txBody>
          <a:bodyPr/>
          <a:lstStyle/>
          <a:p>
            <a:pPr algn="l"/>
            <a:r>
              <a:rPr lang="en-US" sz="6000"/>
              <a:t>fun friday menu</a:t>
            </a:r>
            <a:br>
              <a:rPr lang="en-US" sz="6000"/>
            </a:br>
            <a:r>
              <a:rPr lang="en-US" sz="2400"/>
              <a:t>- jim rants about comments and syntax highlighting</a:t>
            </a:r>
            <a:br>
              <a:rPr lang="en-US" sz="2400"/>
            </a:br>
            <a:r>
              <a:rPr lang="en-US" sz="2400"/>
              <a:t>- jim codes </a:t>
            </a:r>
            <a:r>
              <a:rPr lang="en-US" sz="1200"/>
              <a:t>(some of)</a:t>
            </a:r>
            <a:r>
              <a:rPr lang="en-US" sz="2400"/>
              <a:t> microsoft paint from scratch</a:t>
            </a:r>
            <a:br>
              <a:rPr lang="en-US" sz="2400"/>
            </a:br>
            <a:r>
              <a:rPr lang="en-US" sz="2400"/>
              <a:t>- jim updates you on his CAD software</a:t>
            </a:r>
            <a:br>
              <a:rPr lang="en-US" sz="2400"/>
            </a:br>
            <a:r>
              <a:rPr lang="en-US" sz="2400"/>
              <a:t>- jim talks about his favorite element</a:t>
            </a:r>
            <a:br>
              <a:rPr lang="en-US" sz="2400"/>
            </a:br>
            <a:r>
              <a:rPr lang="en-US" sz="2400"/>
              <a:t>- jim reads aloud from </a:t>
            </a:r>
            <a:r>
              <a:rPr lang="en-US" sz="2400" b="1"/>
              <a:t>grugbrain.dev</a:t>
            </a:r>
            <a:br>
              <a:rPr lang="en-US" sz="2400"/>
            </a:br>
            <a:r>
              <a:rPr kumimoji="0" lang="en-US" sz="2400" b="0" i="0" u="none" strike="noStrike" kern="1200" cap="none" spc="0" normalizeH="0" baseline="0" noProof="0">
                <a:ln>
                  <a:noFill/>
                </a:ln>
                <a:solidFill>
                  <a:srgbClr val="FFFFFF"/>
                </a:solidFill>
                <a:effectLst/>
                <a:uLnTx/>
                <a:uFillTx/>
                <a:latin typeface="Arial"/>
                <a:ea typeface="Segoe UI Emoji" panose="020B0502040204020203" pitchFamily="34" charset="0"/>
                <a:cs typeface="+mj-cs"/>
              </a:rPr>
              <a:t>- jim reads aloud from </a:t>
            </a:r>
            <a:r>
              <a:rPr kumimoji="0" lang="en-US" sz="2400" b="1" i="0" u="none" strike="noStrike" kern="1200" cap="none" spc="0" normalizeH="0" baseline="0" noProof="0">
                <a:ln>
                  <a:noFill/>
                </a:ln>
                <a:solidFill>
                  <a:srgbClr val="FFFFFF"/>
                </a:solidFill>
                <a:effectLst/>
                <a:uLnTx/>
                <a:uFillTx/>
                <a:latin typeface="Arial"/>
                <a:ea typeface="Segoe UI Emoji" panose="020B0502040204020203" pitchFamily="34" charset="0"/>
                <a:cs typeface="+mj-cs"/>
              </a:rPr>
              <a:t>vim creep</a:t>
            </a:r>
            <a:br>
              <a:rPr kumimoji="0" lang="en-US" sz="2400" b="0" i="0" u="none" strike="noStrike" kern="1200" cap="none" spc="0" normalizeH="0" baseline="0" noProof="0">
                <a:ln>
                  <a:noFill/>
                </a:ln>
                <a:solidFill>
                  <a:srgbClr val="FFFFFF"/>
                </a:solidFill>
                <a:effectLst/>
                <a:uLnTx/>
                <a:uFillTx/>
                <a:latin typeface="Arial"/>
                <a:ea typeface="Segoe UI Emoji" panose="020B0502040204020203" pitchFamily="34" charset="0"/>
                <a:cs typeface="+mj-cs"/>
              </a:rPr>
            </a:br>
            <a:r>
              <a:rPr kumimoji="0" lang="en-US" sz="2400" b="0" i="0" u="none" strike="noStrike" kern="1200" cap="none" spc="0" normalizeH="0" baseline="0" noProof="0">
                <a:ln>
                  <a:noFill/>
                </a:ln>
                <a:solidFill>
                  <a:srgbClr val="FFFFFF"/>
                </a:solidFill>
                <a:effectLst/>
                <a:uLnTx/>
                <a:uFillTx/>
                <a:latin typeface="Arial"/>
                <a:ea typeface="Segoe UI Emoji" panose="020B0502040204020203" pitchFamily="34" charset="0"/>
                <a:cs typeface="+mj-cs"/>
              </a:rPr>
              <a:t>- jim reads aloud from </a:t>
            </a:r>
            <a:r>
              <a:rPr kumimoji="0" lang="en-US" sz="2400" b="1" i="0" u="none" strike="noStrike" kern="1200" cap="none" spc="0" normalizeH="0" baseline="0" noProof="0">
                <a:ln>
                  <a:noFill/>
                </a:ln>
                <a:solidFill>
                  <a:srgbClr val="FFFFFF"/>
                </a:solidFill>
                <a:effectLst/>
                <a:uLnTx/>
                <a:uFillTx/>
                <a:latin typeface="Arial"/>
                <a:ea typeface="Segoe UI Emoji" panose="020B0502040204020203" pitchFamily="34" charset="0"/>
                <a:cs typeface="+mj-cs"/>
              </a:rPr>
              <a:t>hexing the technical interview</a:t>
            </a:r>
            <a:br>
              <a:rPr kumimoji="0" lang="en-US" sz="2400" b="1" i="0" u="none" strike="noStrike" kern="1200" cap="none" spc="0" normalizeH="0" baseline="0" noProof="0">
                <a:ln>
                  <a:noFill/>
                </a:ln>
                <a:solidFill>
                  <a:srgbClr val="FFFFFF"/>
                </a:solidFill>
                <a:effectLst/>
                <a:uLnTx/>
                <a:uFillTx/>
                <a:latin typeface="Arial"/>
                <a:ea typeface="Segoe UI Emoji" panose="020B0502040204020203" pitchFamily="34" charset="0"/>
                <a:cs typeface="+mj-cs"/>
              </a:rPr>
            </a:br>
            <a:r>
              <a:rPr kumimoji="0" lang="en-US" sz="2400" b="0" i="0" u="none" strike="noStrike" kern="1200" cap="none" spc="0" normalizeH="0" baseline="0" noProof="0">
                <a:ln>
                  <a:noFill/>
                </a:ln>
                <a:solidFill>
                  <a:srgbClr val="FFFFFF"/>
                </a:solidFill>
                <a:effectLst/>
                <a:uLnTx/>
                <a:uFillTx/>
                <a:latin typeface="Arial"/>
                <a:ea typeface="Segoe UI Emoji" panose="020B0502040204020203" pitchFamily="34" charset="0"/>
                <a:cs typeface="+mj-cs"/>
              </a:rPr>
              <a:t>- jim reads aloud from </a:t>
            </a:r>
            <a:r>
              <a:rPr kumimoji="0" lang="en-US" sz="2400" b="1" i="0" u="none" strike="noStrike" kern="1200" cap="none" spc="0" normalizeH="0" baseline="0" noProof="0">
                <a:ln>
                  <a:noFill/>
                </a:ln>
                <a:solidFill>
                  <a:srgbClr val="FFFFFF"/>
                </a:solidFill>
                <a:effectLst/>
                <a:uLnTx/>
                <a:uFillTx/>
                <a:latin typeface="Arial"/>
                <a:ea typeface="Segoe UI Emoji" panose="020B0502040204020203" pitchFamily="34" charset="0"/>
                <a:cs typeface="+mj-cs"/>
              </a:rPr>
              <a:t>the truth about lisp</a:t>
            </a:r>
            <a:br>
              <a:rPr kumimoji="0" lang="en-US" sz="2400" b="1" i="0" u="none" strike="noStrike" kern="1200" cap="none" spc="0" normalizeH="0" baseline="0" noProof="0">
                <a:ln>
                  <a:noFill/>
                </a:ln>
                <a:solidFill>
                  <a:srgbClr val="FFFFFF"/>
                </a:solidFill>
                <a:effectLst/>
                <a:uLnTx/>
                <a:uFillTx/>
                <a:latin typeface="Arial"/>
                <a:ea typeface="Segoe UI Emoji" panose="020B0502040204020203" pitchFamily="34" charset="0"/>
                <a:cs typeface="+mj-cs"/>
              </a:rPr>
            </a:br>
            <a:r>
              <a:rPr kumimoji="0" lang="en-US" sz="2400" i="0" u="none" strike="noStrike" kern="1200" cap="none" spc="0" normalizeH="0" baseline="0" noProof="0">
                <a:ln>
                  <a:noFill/>
                </a:ln>
                <a:solidFill>
                  <a:srgbClr val="FFFFFF"/>
                </a:solidFill>
                <a:effectLst/>
                <a:uLnTx/>
                <a:uFillTx/>
                <a:latin typeface="Arial"/>
                <a:ea typeface="Segoe UI Emoji" panose="020B0502040204020203" pitchFamily="34" charset="0"/>
                <a:cs typeface="+mj-cs"/>
              </a:rPr>
              <a:t>- jim reads aloud from </a:t>
            </a:r>
            <a:r>
              <a:rPr kumimoji="0" lang="en-US" sz="2400" b="1" i="0" u="none" strike="noStrike" kern="1200" cap="none" spc="0" normalizeH="0" baseline="0" noProof="0">
                <a:ln>
                  <a:noFill/>
                </a:ln>
                <a:solidFill>
                  <a:srgbClr val="FFFFFF"/>
                </a:solidFill>
                <a:effectLst/>
                <a:uLnTx/>
                <a:uFillTx/>
                <a:latin typeface="Arial"/>
                <a:ea typeface="Segoe UI Emoji" panose="020B0502040204020203" pitchFamily="34" charset="0"/>
                <a:cs typeface="+mj-cs"/>
              </a:rPr>
              <a:t>the worst API ever made</a:t>
            </a:r>
            <a:endParaRPr lang="en-US" sz="6000" b="1"/>
          </a:p>
        </p:txBody>
      </p:sp>
    </p:spTree>
    <p:extLst>
      <p:ext uri="{BB962C8B-B14F-4D97-AF65-F5344CB8AC3E}">
        <p14:creationId xmlns:p14="http://schemas.microsoft.com/office/powerpoint/2010/main" val="308840568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9D0E2-8243-17B2-3800-020FCB306B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5F05C8-E4B8-01F5-D47C-ABE7F60BFF3F}"/>
              </a:ext>
            </a:extLst>
          </p:cNvPr>
          <p:cNvSpPr>
            <a:spLocks noGrp="1"/>
          </p:cNvSpPr>
          <p:nvPr>
            <p:ph type="title"/>
          </p:nvPr>
        </p:nvSpPr>
        <p:spPr/>
        <p:txBody>
          <a:bodyPr/>
          <a:lstStyle/>
          <a:p>
            <a:r>
              <a:rPr lang="en-US"/>
              <a:t>🦉</a:t>
            </a:r>
            <a:br>
              <a:rPr lang="en-US"/>
            </a:br>
            <a:r>
              <a:rPr lang="en-US" sz="7200"/>
              <a:t>would you fancy a Kahoot?</a:t>
            </a:r>
            <a:endParaRPr lang="en-US"/>
          </a:p>
        </p:txBody>
      </p:sp>
    </p:spTree>
    <p:extLst>
      <p:ext uri="{BB962C8B-B14F-4D97-AF65-F5344CB8AC3E}">
        <p14:creationId xmlns:p14="http://schemas.microsoft.com/office/powerpoint/2010/main" val="356883883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ECE51-DC41-F30C-4393-545FB056BAB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9FD85A6-0DD2-639E-FE8F-F2DAD77116D4}"/>
              </a:ext>
            </a:extLst>
          </p:cNvPr>
          <p:cNvSpPr>
            <a:spLocks noGrp="1"/>
          </p:cNvSpPr>
          <p:nvPr>
            <p:ph type="title"/>
          </p:nvPr>
        </p:nvSpPr>
        <p:spPr>
          <a:xfrm>
            <a:off x="457200" y="254916"/>
            <a:ext cx="8229600" cy="1893924"/>
          </a:xfrm>
        </p:spPr>
        <p:txBody>
          <a:bodyPr/>
          <a:lstStyle/>
          <a:p>
            <a:r>
              <a:rPr lang="en-US" sz="8800"/>
              <a:t>Week06</a:t>
            </a:r>
          </a:p>
        </p:txBody>
      </p:sp>
      <p:sp>
        <p:nvSpPr>
          <p:cNvPr id="6" name="Content Placeholder 5">
            <a:extLst>
              <a:ext uri="{FF2B5EF4-FFF2-40B4-BE49-F238E27FC236}">
                <a16:creationId xmlns:a16="http://schemas.microsoft.com/office/drawing/2014/main" id="{67209DFD-3834-4B05-3BF0-C7C4BBB8CC4F}"/>
              </a:ext>
            </a:extLst>
          </p:cNvPr>
          <p:cNvSpPr>
            <a:spLocks noGrp="1"/>
          </p:cNvSpPr>
          <p:nvPr>
            <p:ph sz="quarter" idx="10"/>
          </p:nvPr>
        </p:nvSpPr>
        <p:spPr>
          <a:xfrm>
            <a:off x="274320" y="1776868"/>
            <a:ext cx="2835156" cy="2894013"/>
          </a:xfrm>
        </p:spPr>
        <p:txBody>
          <a:bodyPr>
            <a:noAutofit/>
          </a:bodyPr>
          <a:lstStyle/>
          <a:p>
            <a:r>
              <a:rPr lang="en-US" sz="2400"/>
              <a:t>wrap-up</a:t>
            </a:r>
          </a:p>
          <a:p>
            <a:pPr lvl="1"/>
            <a:r>
              <a:rPr lang="en-US" sz="2400"/>
              <a:t>array list runtime</a:t>
            </a:r>
          </a:p>
          <a:p>
            <a:pPr lvl="1"/>
            <a:r>
              <a:rPr lang="en-US" sz="2400"/>
              <a:t>double-ended queue (deque)</a:t>
            </a:r>
          </a:p>
          <a:p>
            <a:r>
              <a:rPr lang="en-US" sz="2400"/>
              <a:t>midterm notes</a:t>
            </a:r>
          </a:p>
          <a:p>
            <a:r>
              <a:rPr lang="en-US" sz="2400"/>
              <a:t>PostScript notes</a:t>
            </a:r>
          </a:p>
        </p:txBody>
      </p:sp>
      <p:sp>
        <p:nvSpPr>
          <p:cNvPr id="3" name="TextBox 2">
            <a:extLst>
              <a:ext uri="{FF2B5EF4-FFF2-40B4-BE49-F238E27FC236}">
                <a16:creationId xmlns:a16="http://schemas.microsoft.com/office/drawing/2014/main" id="{303B74F2-1955-687C-0A38-474EC6D7A55D}"/>
              </a:ext>
            </a:extLst>
          </p:cNvPr>
          <p:cNvSpPr txBox="1"/>
          <p:nvPr/>
        </p:nvSpPr>
        <p:spPr>
          <a:xfrm>
            <a:off x="-68668" y="149256"/>
            <a:ext cx="4555307" cy="769441"/>
          </a:xfrm>
          <a:prstGeom prst="rect">
            <a:avLst/>
          </a:prstGeom>
          <a:noFill/>
        </p:spPr>
        <p:txBody>
          <a:bodyPr wrap="square">
            <a:spAutoFit/>
          </a:bodyPr>
          <a:lstStyle/>
          <a:p>
            <a:pPr algn="ctr"/>
            <a:r>
              <a:rPr kumimoji="0" lang="en-US" sz="44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 🦜     🦜🦜</a:t>
            </a:r>
            <a:endParaRPr lang="en-US" sz="4400"/>
          </a:p>
        </p:txBody>
      </p:sp>
      <p:sp>
        <p:nvSpPr>
          <p:cNvPr id="9" name="TextBox 8">
            <a:extLst>
              <a:ext uri="{FF2B5EF4-FFF2-40B4-BE49-F238E27FC236}">
                <a16:creationId xmlns:a16="http://schemas.microsoft.com/office/drawing/2014/main" id="{AFCFB69F-E09C-F35F-EDEC-8EF2D0596F5C}"/>
              </a:ext>
            </a:extLst>
          </p:cNvPr>
          <p:cNvSpPr txBox="1"/>
          <p:nvPr/>
        </p:nvSpPr>
        <p:spPr>
          <a:xfrm>
            <a:off x="2289125" y="722425"/>
            <a:ext cx="454075" cy="369332"/>
          </a:xfrm>
          <a:prstGeom prst="rect">
            <a:avLst/>
          </a:prstGeom>
          <a:noFill/>
        </p:spPr>
        <p:txBody>
          <a:bodyPr wrap="square">
            <a:spAutoFit/>
          </a:bodyPr>
          <a:lstStyle/>
          <a:p>
            <a:r>
              <a:rPr kumimoji="0" lang="en-US" sz="1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a:p>
        </p:txBody>
      </p:sp>
      <p:sp>
        <p:nvSpPr>
          <p:cNvPr id="12" name="TextBox 11">
            <a:extLst>
              <a:ext uri="{FF2B5EF4-FFF2-40B4-BE49-F238E27FC236}">
                <a16:creationId xmlns:a16="http://schemas.microsoft.com/office/drawing/2014/main" id="{39795648-AA66-095A-DE15-695A68CD3494}"/>
              </a:ext>
            </a:extLst>
          </p:cNvPr>
          <p:cNvSpPr txBox="1"/>
          <p:nvPr/>
        </p:nvSpPr>
        <p:spPr>
          <a:xfrm rot="10800000">
            <a:off x="2267902" y="-74301"/>
            <a:ext cx="454075" cy="369332"/>
          </a:xfrm>
          <a:prstGeom prst="rect">
            <a:avLst/>
          </a:prstGeom>
          <a:noFill/>
        </p:spPr>
        <p:txBody>
          <a:bodyPr wrap="square">
            <a:spAutoFit/>
          </a:bodyPr>
          <a:lstStyle/>
          <a:p>
            <a:r>
              <a:rPr kumimoji="0" lang="en-US" sz="1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a:p>
        </p:txBody>
      </p:sp>
      <p:sp>
        <p:nvSpPr>
          <p:cNvPr id="5" name="TextBox 4">
            <a:extLst>
              <a:ext uri="{FF2B5EF4-FFF2-40B4-BE49-F238E27FC236}">
                <a16:creationId xmlns:a16="http://schemas.microsoft.com/office/drawing/2014/main" id="{364817DB-36AB-198C-75CF-DFE650CB9A5E}"/>
              </a:ext>
            </a:extLst>
          </p:cNvPr>
          <p:cNvSpPr txBox="1"/>
          <p:nvPr/>
        </p:nvSpPr>
        <p:spPr>
          <a:xfrm>
            <a:off x="3229598" y="1993225"/>
            <a:ext cx="5640082" cy="2677656"/>
          </a:xfrm>
          <a:prstGeom prst="rect">
            <a:avLst/>
          </a:prstGeom>
          <a:solidFill>
            <a:schemeClr val="accent3">
              <a:lumMod val="40000"/>
              <a:lumOff val="60000"/>
            </a:schemeClr>
          </a:solidFill>
          <a:ln>
            <a:solidFill>
              <a:schemeClr val="tx1"/>
            </a:solidFill>
          </a:ln>
        </p:spPr>
        <p:txBody>
          <a:bodyPr wrap="square" rtlCol="0">
            <a:spAutoFit/>
          </a:bodyPr>
          <a:lstStyle/>
          <a:p>
            <a:r>
              <a:rPr lang="en-US" sz="2800" b="1">
                <a:latin typeface="Arial" panose="020B0604020202020204" pitchFamily="34" charset="0"/>
                <a:cs typeface="Arial" panose="020B0604020202020204" pitchFamily="34" charset="0"/>
              </a:rPr>
              <a:t>WARMUP (until ~10:10am)</a:t>
            </a:r>
            <a:br>
              <a:rPr lang="en-US" sz="2000" b="1">
                <a:latin typeface="Arial" panose="020B0604020202020204" pitchFamily="34" charset="0"/>
                <a:cs typeface="Arial" panose="020B0604020202020204" pitchFamily="34" charset="0"/>
              </a:rPr>
            </a:br>
            <a:r>
              <a:rPr lang="en-US" sz="2000" b="1">
                <a:latin typeface="Arial" panose="020B0604020202020204" pitchFamily="34" charset="0"/>
                <a:cs typeface="Arial" panose="020B0604020202020204" pitchFamily="34" charset="0"/>
              </a:rPr>
              <a:t>two silly questions:</a:t>
            </a:r>
          </a:p>
          <a:p>
            <a:r>
              <a:rPr lang="en-US" sz="2000">
                <a:latin typeface="Arial" panose="020B0604020202020204" pitchFamily="34" charset="0"/>
                <a:cs typeface="Arial" panose="020B0604020202020204" pitchFamily="34" charset="0"/>
                <a:sym typeface="Wingdings" pitchFamily="2" charset="2"/>
              </a:rPr>
              <a:t>- implement a stack using 1 queue</a:t>
            </a:r>
          </a:p>
          <a:p>
            <a:r>
              <a:rPr lang="en-US" sz="2000">
                <a:latin typeface="Arial" panose="020B0604020202020204" pitchFamily="34" charset="0"/>
                <a:cs typeface="Arial" panose="020B0604020202020204" pitchFamily="34" charset="0"/>
                <a:sym typeface="Wingdings" pitchFamily="2" charset="2"/>
              </a:rPr>
              <a:t>  - pseudocode is fine</a:t>
            </a:r>
          </a:p>
          <a:p>
            <a:r>
              <a:rPr lang="en-US" sz="2000">
                <a:latin typeface="Arial" panose="020B0604020202020204" pitchFamily="34" charset="0"/>
                <a:cs typeface="Arial" panose="020B0604020202020204" pitchFamily="34" charset="0"/>
                <a:sym typeface="Wingdings" pitchFamily="2" charset="2"/>
              </a:rPr>
              <a:t>  - (push and pop (and peek?))</a:t>
            </a:r>
          </a:p>
          <a:p>
            <a:r>
              <a:rPr lang="en-US" sz="2000">
                <a:latin typeface="Arial" panose="020B0604020202020204" pitchFamily="34" charset="0"/>
                <a:cs typeface="Arial" panose="020B0604020202020204" pitchFamily="34" charset="0"/>
                <a:sym typeface="Wingdings" pitchFamily="2" charset="2"/>
              </a:rPr>
              <a:t>  - what is the runtime (big O)?—slow is OK </a:t>
            </a:r>
            <a:r>
              <a:rPr lang="en-US" sz="2000">
                <a:latin typeface="Arial" panose="020B0604020202020204" pitchFamily="34" charset="0"/>
                <a:ea typeface="Segoe UI Emoji" panose="020B0502040204020203" pitchFamily="34" charset="0"/>
                <a:cs typeface="Arial" panose="020B0604020202020204" pitchFamily="34" charset="0"/>
                <a:sym typeface="Wingdings" pitchFamily="2" charset="2"/>
              </a:rPr>
              <a:t>😴</a:t>
            </a:r>
          </a:p>
          <a:p>
            <a:r>
              <a:rPr lang="en-US" sz="2000">
                <a:latin typeface="Arial" panose="020B0604020202020204" pitchFamily="34" charset="0"/>
                <a:cs typeface="Arial" panose="020B0604020202020204" pitchFamily="34" charset="0"/>
                <a:sym typeface="Wingdings" pitchFamily="2" charset="2"/>
              </a:rPr>
              <a:t>- implement a queue using 2 stacks</a:t>
            </a:r>
          </a:p>
          <a:p>
            <a:r>
              <a:rPr lang="en-US" sz="2000">
                <a:latin typeface="Arial" panose="020B0604020202020204" pitchFamily="34" charset="0"/>
                <a:cs typeface="Arial" panose="020B0604020202020204" pitchFamily="34" charset="0"/>
                <a:sym typeface="Wingdings" pitchFamily="2" charset="2"/>
              </a:rPr>
              <a:t>  - ...</a:t>
            </a: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100003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B931E-B434-DC58-9BD5-41B4C40A7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E11061-E7A4-7AE5-486C-DFFD0145C9D4}"/>
              </a:ext>
            </a:extLst>
          </p:cNvPr>
          <p:cNvSpPr>
            <a:spLocks noGrp="1"/>
          </p:cNvSpPr>
          <p:nvPr>
            <p:ph type="title"/>
          </p:nvPr>
        </p:nvSpPr>
        <p:spPr/>
        <p:txBody>
          <a:bodyPr/>
          <a:lstStyle/>
          <a:p>
            <a:r>
              <a:rPr lang="en-US" b="1"/>
              <a:t>wrap-up:</a:t>
            </a:r>
            <a:br>
              <a:rPr lang="en-US" b="1"/>
            </a:br>
            <a:r>
              <a:rPr lang="en-US"/>
              <a:t>array list</a:t>
            </a:r>
          </a:p>
        </p:txBody>
      </p:sp>
    </p:spTree>
    <p:extLst>
      <p:ext uri="{BB962C8B-B14F-4D97-AF65-F5344CB8AC3E}">
        <p14:creationId xmlns:p14="http://schemas.microsoft.com/office/powerpoint/2010/main" val="244536664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CFE21-A764-B93E-52A7-68C8FD0CC99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4A28F39-2B03-544B-089E-0D713600F8D2}"/>
              </a:ext>
            </a:extLst>
          </p:cNvPr>
          <p:cNvSpPr>
            <a:spLocks noGrp="1"/>
          </p:cNvSpPr>
          <p:nvPr>
            <p:ph type="title"/>
          </p:nvPr>
        </p:nvSpPr>
        <p:spPr/>
        <p:txBody>
          <a:bodyPr/>
          <a:lstStyle/>
          <a:p>
            <a:r>
              <a:rPr lang="en-US" sz="8800"/>
              <a:t>big-O runtime of</a:t>
            </a:r>
            <a:r>
              <a:rPr lang="en-US"/>
              <a:t> </a:t>
            </a:r>
            <a:r>
              <a:rPr lang="en-US" sz="3600">
                <a:latin typeface="+mj-lt"/>
              </a:rPr>
              <a:t>void add(ElementType e);</a:t>
            </a:r>
            <a:endParaRPr lang="en-US">
              <a:latin typeface="+mj-lt"/>
            </a:endParaRPr>
          </a:p>
        </p:txBody>
      </p:sp>
    </p:spTree>
    <p:extLst>
      <p:ext uri="{BB962C8B-B14F-4D97-AF65-F5344CB8AC3E}">
        <p14:creationId xmlns:p14="http://schemas.microsoft.com/office/powerpoint/2010/main" val="162511875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AAD1F-918A-D569-76CF-B3FD85DBE68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E7E68D8-389D-A474-68D8-5FFD3D50D967}"/>
              </a:ext>
            </a:extLst>
          </p:cNvPr>
          <p:cNvSpPr>
            <a:spLocks noGrp="1"/>
          </p:cNvSpPr>
          <p:nvPr>
            <p:ph type="title"/>
          </p:nvPr>
        </p:nvSpPr>
        <p:spPr/>
        <p:txBody>
          <a:bodyPr/>
          <a:lstStyle/>
          <a:p>
            <a:r>
              <a:rPr lang="en-US" b="1"/>
              <a:t>review: </a:t>
            </a:r>
            <a:r>
              <a:rPr lang="en-US"/>
              <a:t>big-O runtime</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9055214B-4969-E456-933A-4930704E1FA9}"/>
                  </a:ext>
                </a:extLst>
              </p:cNvPr>
              <p:cNvSpPr>
                <a:spLocks noGrp="1"/>
              </p:cNvSpPr>
              <p:nvPr>
                <p:ph sz="quarter" idx="10"/>
              </p:nvPr>
            </p:nvSpPr>
            <p:spPr/>
            <p:txBody>
              <a:bodyPr>
                <a:normAutofit/>
              </a:bodyPr>
              <a:lstStyle/>
              <a:p>
                <a:r>
                  <a:rPr lang="en-US" sz="2000" b="1"/>
                  <a:t>big-O runtime</a:t>
                </a:r>
                <a:r>
                  <a:rPr lang="en-US" sz="2000"/>
                  <a:t> (</a:t>
                </a:r>
                <a:r>
                  <a:rPr lang="en-US" sz="2000" b="1"/>
                  <a:t>running time</a:t>
                </a:r>
                <a:r>
                  <a:rPr lang="en-US" sz="2000"/>
                  <a:t>, </a:t>
                </a:r>
                <a:r>
                  <a:rPr lang="en-US" sz="2000" b="1"/>
                  <a:t>time complexity</a:t>
                </a:r>
                <a:r>
                  <a:rPr lang="en-US" sz="2000"/>
                  <a:t>) gives us a big-picture idea of how long a function will take to run (execute, finish)</a:t>
                </a:r>
              </a:p>
              <a:p>
                <a:pPr lvl="1"/>
                <a:r>
                  <a:rPr lang="en-US" sz="2000"/>
                  <a:t>a function that operates on </a:t>
                </a:r>
                <a14:m>
                  <m:oMath xmlns:m="http://schemas.openxmlformats.org/officeDocument/2006/math">
                    <m:r>
                      <a:rPr lang="en-US" sz="2000" b="0" i="1" smtClean="0">
                        <a:latin typeface="Cambria Math" panose="02040503050406030204" pitchFamily="18" charset="0"/>
                      </a:rPr>
                      <m:t>𝑛</m:t>
                    </m:r>
                  </m:oMath>
                </a14:m>
                <a:r>
                  <a:rPr lang="en-US" sz="2000"/>
                  <a:t> </a:t>
                </a:r>
                <a:r>
                  <a:rPr lang="en-US" sz="2000" i="1"/>
                  <a:t>things</a:t>
                </a:r>
                <a:br>
                  <a:rPr lang="en-US" sz="2000" i="1"/>
                </a:br>
                <a:r>
                  <a:rPr lang="en-US" sz="2000">
                    <a:solidFill>
                      <a:schemeClr val="accent2">
                        <a:lumMod val="50000"/>
                      </a:schemeClr>
                    </a:solidFill>
                  </a:rPr>
                  <a:t>(</a:t>
                </a:r>
                <a:r>
                  <a:rPr lang="en-US" sz="2000" b="1">
                    <a:solidFill>
                      <a:schemeClr val="accent2">
                        <a:lumMod val="50000"/>
                      </a:schemeClr>
                    </a:solidFill>
                  </a:rPr>
                  <a:t>NOTE: </a:t>
                </a:r>
                <a:r>
                  <a:rPr lang="en-US" sz="2000">
                    <a:solidFill>
                      <a:schemeClr val="accent2">
                        <a:lumMod val="50000"/>
                      </a:schemeClr>
                    </a:solidFill>
                  </a:rPr>
                  <a:t>we assume </a:t>
                </a:r>
                <a14:m>
                  <m:oMath xmlns:m="http://schemas.openxmlformats.org/officeDocument/2006/math">
                    <m:r>
                      <a:rPr lang="en-US" sz="2000" i="1">
                        <a:solidFill>
                          <a:schemeClr val="accent2">
                            <a:lumMod val="50000"/>
                          </a:schemeClr>
                        </a:solidFill>
                        <a:latin typeface="Cambria Math" panose="02040503050406030204" pitchFamily="18" charset="0"/>
                      </a:rPr>
                      <m:t>𝑛</m:t>
                    </m:r>
                    <m:r>
                      <a:rPr lang="en-US" sz="2000" i="1">
                        <a:solidFill>
                          <a:schemeClr val="accent2">
                            <a:lumMod val="50000"/>
                          </a:schemeClr>
                        </a:solidFill>
                        <a:latin typeface="Cambria Math" panose="02040503050406030204" pitchFamily="18" charset="0"/>
                      </a:rPr>
                      <m:t> </m:t>
                    </m:r>
                  </m:oMath>
                </a14:m>
                <a:r>
                  <a:rPr lang="en-US" sz="2000">
                    <a:solidFill>
                      <a:schemeClr val="accent2">
                        <a:lumMod val="50000"/>
                      </a:schemeClr>
                    </a:solidFill>
                  </a:rPr>
                  <a:t>is LARGE)</a:t>
                </a:r>
                <a:br>
                  <a:rPr lang="en-US" sz="2000" i="1"/>
                </a:br>
                <a:r>
                  <a:rPr lang="en-US" sz="2000"/>
                  <a:t>could be...</a:t>
                </a:r>
              </a:p>
              <a:p>
                <a:pPr lvl="2"/>
                <a14:m>
                  <m:oMath xmlns:m="http://schemas.openxmlformats.org/officeDocument/2006/math">
                    <m:r>
                      <a:rPr lang="en-US" sz="2000" b="0" i="1" smtClean="0">
                        <a:latin typeface="Cambria Math" panose="02040503050406030204" pitchFamily="18" charset="0"/>
                        <a:ea typeface="Cambria Math" panose="02040503050406030204" pitchFamily="18" charset="0"/>
                      </a:rPr>
                      <m:t>𝒪</m:t>
                    </m:r>
                    <m:r>
                      <a:rPr lang="en-US" sz="2000" b="0" i="1" smtClean="0">
                        <a:latin typeface="Cambria Math" panose="02040503050406030204" pitchFamily="18" charset="0"/>
                      </a:rPr>
                      <m:t>(1)</m:t>
                    </m:r>
                  </m:oMath>
                </a14:m>
                <a:r>
                  <a:rPr lang="en-US" sz="2000"/>
                  <a:t> (</a:t>
                </a:r>
                <a:r>
                  <a:rPr lang="en-US" sz="2000" b="1"/>
                  <a:t>constant time</a:t>
                </a:r>
                <a:r>
                  <a:rPr lang="en-US" sz="2000"/>
                  <a:t>)							😀 </a:t>
                </a:r>
                <a:r>
                  <a:rPr lang="en-US" sz="2000">
                    <a:solidFill>
                      <a:schemeClr val="accent2"/>
                    </a:solidFill>
                  </a:rPr>
                  <a:t>FAST</a:t>
                </a:r>
              </a:p>
              <a:p>
                <a:pPr lvl="2"/>
                <a14:m>
                  <m:oMath xmlns:m="http://schemas.openxmlformats.org/officeDocument/2006/math">
                    <m:r>
                      <a:rPr lang="en-US" sz="1400" b="0" i="1" smtClean="0">
                        <a:latin typeface="Cambria Math" panose="02040503050406030204" pitchFamily="18" charset="0"/>
                        <a:ea typeface="Cambria Math" panose="02040503050406030204" pitchFamily="18" charset="0"/>
                      </a:rPr>
                      <m:t>𝒪</m:t>
                    </m:r>
                    <m:r>
                      <a:rPr lang="en-US" sz="1400" b="0" i="1" smtClean="0">
                        <a:latin typeface="Cambria Math" panose="02040503050406030204" pitchFamily="18" charset="0"/>
                      </a:rPr>
                      <m:t>(</m:t>
                    </m:r>
                    <m:func>
                      <m:funcPr>
                        <m:ctrlPr>
                          <a:rPr lang="en-US" sz="1400" i="1">
                            <a:latin typeface="Cambria Math" panose="02040503050406030204" pitchFamily="18" charset="0"/>
                          </a:rPr>
                        </m:ctrlPr>
                      </m:funcPr>
                      <m:fName>
                        <m:sSub>
                          <m:sSubPr>
                            <m:ctrlPr>
                              <a:rPr lang="en-US" sz="1400">
                                <a:latin typeface="Cambria Math" panose="02040503050406030204" pitchFamily="18" charset="0"/>
                              </a:rPr>
                            </m:ctrlPr>
                          </m:sSubPr>
                          <m:e>
                            <m:r>
                              <m:rPr>
                                <m:sty m:val="p"/>
                              </m:rPr>
                              <a:rPr lang="en-US" sz="1400">
                                <a:latin typeface="Cambria Math" panose="02040503050406030204" pitchFamily="18" charset="0"/>
                              </a:rPr>
                              <m:t>log</m:t>
                            </m:r>
                          </m:e>
                          <m:sub>
                            <m:r>
                              <a:rPr lang="en-US" sz="1400" b="0" i="1" smtClean="0">
                                <a:latin typeface="Cambria Math" panose="02040503050406030204" pitchFamily="18" charset="0"/>
                              </a:rPr>
                              <m:t>2</m:t>
                            </m:r>
                          </m:sub>
                        </m:sSub>
                      </m:fName>
                      <m:e>
                        <m:r>
                          <a:rPr lang="en-US" sz="1400" b="0" i="1" smtClean="0">
                            <a:latin typeface="Cambria Math" panose="02040503050406030204" pitchFamily="18" charset="0"/>
                          </a:rPr>
                          <m:t>𝑛</m:t>
                        </m:r>
                      </m:e>
                    </m:func>
                    <m:r>
                      <a:rPr lang="en-US" sz="1400" b="0" i="1" smtClean="0">
                        <a:latin typeface="Cambria Math" panose="02040503050406030204" pitchFamily="18" charset="0"/>
                      </a:rPr>
                      <m:t>)</m:t>
                    </m:r>
                  </m:oMath>
                </a14:m>
                <a:r>
                  <a:rPr lang="en-US" sz="1400"/>
                  <a:t> (</a:t>
                </a:r>
                <a:r>
                  <a:rPr lang="en-US" sz="1400" b="1"/>
                  <a:t>logarithmic time</a:t>
                </a:r>
                <a:r>
                  <a:rPr lang="en-US" sz="1400"/>
                  <a:t>, </a:t>
                </a:r>
                <a:r>
                  <a:rPr lang="en-US" sz="1400" b="1"/>
                  <a:t>log time</a:t>
                </a:r>
                <a:r>
                  <a:rPr lang="en-US" sz="1400"/>
                  <a:t>)	🙂</a:t>
                </a:r>
                <a:r>
                  <a:rPr lang="en-US" sz="1400">
                    <a:solidFill>
                      <a:schemeClr val="accent2"/>
                    </a:solidFill>
                  </a:rPr>
                  <a:t> fast</a:t>
                </a:r>
              </a:p>
              <a:p>
                <a:pPr lvl="2"/>
                <a14:m>
                  <m:oMath xmlns:m="http://schemas.openxmlformats.org/officeDocument/2006/math">
                    <m:r>
                      <a:rPr lang="en-US" sz="2000" b="0" i="1" smtClean="0">
                        <a:latin typeface="Cambria Math" panose="02040503050406030204" pitchFamily="18" charset="0"/>
                        <a:ea typeface="Cambria Math" panose="02040503050406030204" pitchFamily="18" charset="0"/>
                      </a:rPr>
                      <m:t>𝒪</m:t>
                    </m:r>
                    <m:r>
                      <a:rPr lang="en-US" sz="2000" b="0" i="1" smtClean="0">
                        <a:latin typeface="Cambria Math" panose="02040503050406030204" pitchFamily="18" charset="0"/>
                      </a:rPr>
                      <m:t>(</m:t>
                    </m:r>
                    <m:r>
                      <a:rPr lang="en-US" sz="2000" b="0" i="1" smtClean="0">
                        <a:latin typeface="Cambria Math" panose="02040503050406030204" pitchFamily="18" charset="0"/>
                      </a:rPr>
                      <m:t>𝑛</m:t>
                    </m:r>
                    <m:r>
                      <a:rPr lang="en-US" sz="2000" b="0" i="1" smtClean="0">
                        <a:latin typeface="Cambria Math" panose="02040503050406030204" pitchFamily="18" charset="0"/>
                      </a:rPr>
                      <m:t>)</m:t>
                    </m:r>
                  </m:oMath>
                </a14:m>
                <a:r>
                  <a:rPr lang="en-US" sz="2000"/>
                  <a:t> (</a:t>
                </a:r>
                <a:r>
                  <a:rPr lang="en-US" sz="2000" b="1"/>
                  <a:t>linear time</a:t>
                </a:r>
                <a:r>
                  <a:rPr lang="en-US" sz="2000"/>
                  <a:t>)								😐 </a:t>
                </a:r>
                <a:r>
                  <a:rPr lang="en-US" sz="2000">
                    <a:solidFill>
                      <a:schemeClr val="accent2"/>
                    </a:solidFill>
                  </a:rPr>
                  <a:t>meh</a:t>
                </a:r>
              </a:p>
              <a:p>
                <a:pPr lvl="2"/>
                <a14:m>
                  <m:oMath xmlns:m="http://schemas.openxmlformats.org/officeDocument/2006/math">
                    <m:r>
                      <a:rPr lang="en-US" sz="2000" b="0" i="1" smtClean="0">
                        <a:latin typeface="Cambria Math" panose="02040503050406030204" pitchFamily="18" charset="0"/>
                        <a:ea typeface="Cambria Math" panose="02040503050406030204" pitchFamily="18" charset="0"/>
                      </a:rPr>
                      <m:t>𝒪</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𝑛</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oMath>
                </a14:m>
                <a:r>
                  <a:rPr lang="en-US" sz="2000"/>
                  <a:t> (</a:t>
                </a:r>
                <a:r>
                  <a:rPr lang="en-US" sz="2000" b="1"/>
                  <a:t>quadratic time</a:t>
                </a:r>
                <a:r>
                  <a:rPr lang="en-US" sz="2000"/>
                  <a:t>)						☹️ </a:t>
                </a:r>
                <a:r>
                  <a:rPr lang="en-US" sz="2000">
                    <a:solidFill>
                      <a:schemeClr val="accent2"/>
                    </a:solidFill>
                  </a:rPr>
                  <a:t>slow</a:t>
                </a:r>
              </a:p>
              <a:p>
                <a:pPr lvl="2"/>
                <a14:m>
                  <m:oMath xmlns:m="http://schemas.openxmlformats.org/officeDocument/2006/math">
                    <m:r>
                      <a:rPr lang="en-US" sz="2000" b="0" i="1" smtClean="0">
                        <a:latin typeface="Cambria Math" panose="02040503050406030204" pitchFamily="18" charset="0"/>
                        <a:ea typeface="Cambria Math" panose="02040503050406030204" pitchFamily="18" charset="0"/>
                      </a:rPr>
                      <m:t>𝒪</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2</m:t>
                        </m:r>
                      </m:e>
                      <m:sup>
                        <m:r>
                          <a:rPr lang="en-US" sz="2000" b="0" i="1" smtClean="0">
                            <a:latin typeface="Cambria Math" panose="02040503050406030204" pitchFamily="18" charset="0"/>
                          </a:rPr>
                          <m:t>𝑛</m:t>
                        </m:r>
                      </m:sup>
                    </m:sSup>
                    <m:r>
                      <a:rPr lang="en-US" sz="2000" b="0" i="1" smtClean="0">
                        <a:latin typeface="Cambria Math" panose="02040503050406030204" pitchFamily="18" charset="0"/>
                      </a:rPr>
                      <m:t>)</m:t>
                    </m:r>
                  </m:oMath>
                </a14:m>
                <a:r>
                  <a:rPr lang="en-US" sz="2000"/>
                  <a:t> (</a:t>
                </a:r>
                <a:r>
                  <a:rPr lang="en-US" sz="2000" b="1"/>
                  <a:t>exponential time</a:t>
                </a:r>
                <a:r>
                  <a:rPr lang="en-US" sz="2000"/>
                  <a:t>)					😦</a:t>
                </a:r>
                <a:r>
                  <a:rPr lang="en-US" sz="2000">
                    <a:solidFill>
                      <a:schemeClr val="accent2"/>
                    </a:solidFill>
                  </a:rPr>
                  <a:t> SLOW</a:t>
                </a:r>
                <a:endParaRPr lang="en-US" sz="2000"/>
              </a:p>
              <a:p>
                <a:pPr lvl="2"/>
                <a:endParaRPr lang="en-US" sz="2000"/>
              </a:p>
            </p:txBody>
          </p:sp>
        </mc:Choice>
        <mc:Fallback xmlns="">
          <p:sp>
            <p:nvSpPr>
              <p:cNvPr id="4" name="Content Placeholder 3">
                <a:extLst>
                  <a:ext uri="{FF2B5EF4-FFF2-40B4-BE49-F238E27FC236}">
                    <a16:creationId xmlns:a16="http://schemas.microsoft.com/office/drawing/2014/main" id="{9055214B-4969-E456-933A-4930704E1FA9}"/>
                  </a:ext>
                </a:extLst>
              </p:cNvPr>
              <p:cNvSpPr>
                <a:spLocks noGrp="1" noRot="1" noChangeAspect="1" noMove="1" noResize="1" noEditPoints="1" noAdjustHandles="1" noChangeArrowheads="1" noChangeShapeType="1" noTextEdit="1"/>
              </p:cNvSpPr>
              <p:nvPr>
                <p:ph sz="quarter" idx="10"/>
              </p:nvPr>
            </p:nvSpPr>
            <p:spPr>
              <a:blipFill>
                <a:blip r:embed="rId2"/>
                <a:stretch>
                  <a:fillRect l="-772" t="-621"/>
                </a:stretch>
              </a:blipFill>
            </p:spPr>
            <p:txBody>
              <a:bodyPr/>
              <a:lstStyle/>
              <a:p>
                <a:r>
                  <a:rPr lang="en-US">
                    <a:noFill/>
                  </a:rPr>
                  <a:t> </a:t>
                </a:r>
              </a:p>
            </p:txBody>
          </p:sp>
        </mc:Fallback>
      </mc:AlternateContent>
    </p:spTree>
    <p:extLst>
      <p:ext uri="{BB962C8B-B14F-4D97-AF65-F5344CB8AC3E}">
        <p14:creationId xmlns:p14="http://schemas.microsoft.com/office/powerpoint/2010/main" val="297061486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A195E-6D63-556C-5388-6EFBD6DBACA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4A48D5-4C6D-3E7C-0544-AE43BC9FBD5A}"/>
              </a:ext>
            </a:extLst>
          </p:cNvPr>
          <p:cNvSpPr>
            <a:spLocks noGrp="1"/>
          </p:cNvSpPr>
          <p:nvPr>
            <p:ph type="title"/>
          </p:nvPr>
        </p:nvSpPr>
        <p:spPr/>
        <p:txBody>
          <a:bodyPr/>
          <a:lstStyle/>
          <a:p>
            <a:r>
              <a:rPr lang="en-US"/>
              <a:t>big-O runtime</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E6A670B4-C72B-CB1D-8865-1A5DCA216A94}"/>
                  </a:ext>
                </a:extLst>
              </p:cNvPr>
              <p:cNvSpPr>
                <a:spLocks noGrp="1"/>
              </p:cNvSpPr>
              <p:nvPr>
                <p:ph sz="quarter" idx="10"/>
              </p:nvPr>
            </p:nvSpPr>
            <p:spPr>
              <a:xfrm>
                <a:off x="457200" y="963337"/>
                <a:ext cx="5628290" cy="4080271"/>
              </a:xfrm>
            </p:spPr>
            <p:txBody>
              <a:bodyPr/>
              <a:lstStyle/>
              <a:p>
                <a:r>
                  <a:rPr lang="en-US" b="1"/>
                  <a:t>big-O runtime</a:t>
                </a:r>
                <a:r>
                  <a:rPr lang="en-US"/>
                  <a:t> can get complicated</a:t>
                </a:r>
              </a:p>
              <a:p>
                <a:pPr lvl="1"/>
                <a:r>
                  <a:rPr lang="en-US">
                    <a:solidFill>
                      <a:srgbClr val="BFBFBF"/>
                    </a:solidFill>
                  </a:rPr>
                  <a:t>sometimes there aren't just </a:t>
                </a:r>
                <a14:m>
                  <m:oMath xmlns:m="http://schemas.openxmlformats.org/officeDocument/2006/math">
                    <m:r>
                      <a:rPr lang="en-US" b="0" i="1" smtClean="0">
                        <a:solidFill>
                          <a:srgbClr val="BFBFBF"/>
                        </a:solidFill>
                        <a:latin typeface="Cambria Math" panose="02040503050406030204" pitchFamily="18" charset="0"/>
                      </a:rPr>
                      <m:t>𝑛</m:t>
                    </m:r>
                  </m:oMath>
                </a14:m>
                <a:r>
                  <a:rPr lang="en-US">
                    <a:solidFill>
                      <a:srgbClr val="BFBFBF"/>
                    </a:solidFill>
                  </a:rPr>
                  <a:t> </a:t>
                </a:r>
                <a:r>
                  <a:rPr lang="en-US" i="1">
                    <a:solidFill>
                      <a:srgbClr val="BFBFBF"/>
                    </a:solidFill>
                  </a:rPr>
                  <a:t>things</a:t>
                </a:r>
                <a:r>
                  <a:rPr lang="en-US">
                    <a:solidFill>
                      <a:srgbClr val="BFBFBF"/>
                    </a:solidFill>
                  </a:rPr>
                  <a:t>...</a:t>
                </a:r>
              </a:p>
              <a:p>
                <a:pPr lvl="2"/>
                <a:r>
                  <a:rPr lang="en-US">
                    <a:solidFill>
                      <a:srgbClr val="BFBFBF"/>
                    </a:solidFill>
                  </a:rPr>
                  <a:t>there are </a:t>
                </a:r>
                <a14:m>
                  <m:oMath xmlns:m="http://schemas.openxmlformats.org/officeDocument/2006/math">
                    <m:r>
                      <a:rPr lang="en-US" b="0" i="1" smtClean="0">
                        <a:solidFill>
                          <a:srgbClr val="BFBFBF"/>
                        </a:solidFill>
                        <a:latin typeface="Cambria Math" panose="02040503050406030204" pitchFamily="18" charset="0"/>
                      </a:rPr>
                      <m:t>𝑚</m:t>
                    </m:r>
                  </m:oMath>
                </a14:m>
                <a:r>
                  <a:rPr lang="en-US">
                    <a:solidFill>
                      <a:srgbClr val="BFBFBF"/>
                    </a:solidFill>
                  </a:rPr>
                  <a:t> thing A's, </a:t>
                </a:r>
                <a14:m>
                  <m:oMath xmlns:m="http://schemas.openxmlformats.org/officeDocument/2006/math">
                    <m:r>
                      <a:rPr lang="en-US" b="0" i="1" smtClean="0">
                        <a:solidFill>
                          <a:srgbClr val="BFBFBF"/>
                        </a:solidFill>
                        <a:latin typeface="Cambria Math" panose="02040503050406030204" pitchFamily="18" charset="0"/>
                      </a:rPr>
                      <m:t>𝑛</m:t>
                    </m:r>
                  </m:oMath>
                </a14:m>
                <a:r>
                  <a:rPr lang="en-US">
                    <a:solidFill>
                      <a:srgbClr val="BFBFBF"/>
                    </a:solidFill>
                  </a:rPr>
                  <a:t> thing B's, etc.</a:t>
                </a:r>
              </a:p>
              <a:p>
                <a:pPr lvl="3"/>
                <a:r>
                  <a:rPr lang="en-US">
                    <a:solidFill>
                      <a:srgbClr val="BFBFBF"/>
                    </a:solidFill>
                  </a:rPr>
                  <a:t>🔮</a:t>
                </a:r>
                <a:r>
                  <a:rPr lang="en-US" b="1">
                    <a:solidFill>
                      <a:srgbClr val="BFBFBF"/>
                    </a:solidFill>
                  </a:rPr>
                  <a:t> stay tuned for CSCI 256!</a:t>
                </a:r>
              </a:p>
              <a:p>
                <a:pPr lvl="1"/>
                <a:r>
                  <a:rPr lang="en-US"/>
                  <a:t>sometimes we get more specific about *when* a function takes a certain length of time to run </a:t>
                </a:r>
              </a:p>
              <a:p>
                <a:pPr lvl="2"/>
                <a:r>
                  <a:rPr lang="en-US"/>
                  <a:t>in the </a:t>
                </a:r>
                <a:r>
                  <a:rPr lang="en-US" b="1"/>
                  <a:t>worst case</a:t>
                </a:r>
                <a:r>
                  <a:rPr lang="en-US"/>
                  <a:t>?</a:t>
                </a:r>
              </a:p>
              <a:p>
                <a:pPr lvl="3"/>
                <a:r>
                  <a:rPr lang="en-US"/>
                  <a:t>(if they don't say otherwise,</a:t>
                </a:r>
                <a:br>
                  <a:rPr lang="en-US"/>
                </a:br>
                <a:r>
                  <a:rPr lang="en-US"/>
                  <a:t>this is what people mean)</a:t>
                </a:r>
              </a:p>
              <a:p>
                <a:pPr lvl="2"/>
                <a:r>
                  <a:rPr lang="en-US"/>
                  <a:t>in the </a:t>
                </a:r>
                <a:r>
                  <a:rPr lang="en-US" b="1"/>
                  <a:t>best case</a:t>
                </a:r>
                <a:r>
                  <a:rPr lang="en-US"/>
                  <a:t>?</a:t>
                </a:r>
              </a:p>
              <a:p>
                <a:pPr lvl="2"/>
                <a:r>
                  <a:rPr lang="en-US" strike="sngStrike">
                    <a:solidFill>
                      <a:srgbClr val="BFBFBF"/>
                    </a:solidFill>
                  </a:rPr>
                  <a:t>in the </a:t>
                </a:r>
                <a:r>
                  <a:rPr lang="en-US" b="1" strike="sngStrike">
                    <a:solidFill>
                      <a:srgbClr val="BFBFBF"/>
                    </a:solidFill>
                  </a:rPr>
                  <a:t>average case</a:t>
                </a:r>
                <a:r>
                  <a:rPr lang="en-US" strike="sngStrike">
                    <a:solidFill>
                      <a:srgbClr val="BFBFBF"/>
                    </a:solidFill>
                  </a:rPr>
                  <a:t>?</a:t>
                </a:r>
              </a:p>
              <a:p>
                <a:pPr lvl="2"/>
                <a:r>
                  <a:rPr lang="en-US"/>
                  <a:t>in the "long run"? (</a:t>
                </a:r>
                <a:r>
                  <a:rPr lang="en-US" b="1"/>
                  <a:t>amortized</a:t>
                </a:r>
                <a:r>
                  <a:rPr lang="en-US"/>
                  <a:t>)</a:t>
                </a:r>
              </a:p>
              <a:p>
                <a:endParaRPr lang="en-US"/>
              </a:p>
              <a:p>
                <a:pPr lvl="2"/>
                <a:endParaRPr lang="en-US"/>
              </a:p>
              <a:p>
                <a:pPr lvl="2"/>
                <a:endParaRPr lang="en-US"/>
              </a:p>
            </p:txBody>
          </p:sp>
        </mc:Choice>
        <mc:Fallback>
          <p:sp>
            <p:nvSpPr>
              <p:cNvPr id="4" name="Content Placeholder 3">
                <a:extLst>
                  <a:ext uri="{FF2B5EF4-FFF2-40B4-BE49-F238E27FC236}">
                    <a16:creationId xmlns:a16="http://schemas.microsoft.com/office/drawing/2014/main" id="{E6A670B4-C72B-CB1D-8865-1A5DCA216A94}"/>
                  </a:ext>
                </a:extLst>
              </p:cNvPr>
              <p:cNvSpPr>
                <a:spLocks noGrp="1" noRot="1" noChangeAspect="1" noMove="1" noResize="1" noEditPoints="1" noAdjustHandles="1" noChangeArrowheads="1" noChangeShapeType="1" noTextEdit="1"/>
              </p:cNvSpPr>
              <p:nvPr>
                <p:ph sz="quarter" idx="10"/>
              </p:nvPr>
            </p:nvSpPr>
            <p:spPr>
              <a:xfrm>
                <a:off x="457200" y="963337"/>
                <a:ext cx="5628290" cy="4080271"/>
              </a:xfrm>
              <a:blipFill>
                <a:blip r:embed="rId2"/>
                <a:stretch>
                  <a:fillRect l="-901" t="-621"/>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A8312516-1D4C-E038-C2C9-1AD143A0FD20}"/>
              </a:ext>
            </a:extLst>
          </p:cNvPr>
          <p:cNvPicPr>
            <a:picLocks noChangeAspect="1"/>
          </p:cNvPicPr>
          <p:nvPr/>
        </p:nvPicPr>
        <p:blipFill>
          <a:blip r:embed="rId3"/>
          <a:stretch>
            <a:fillRect/>
          </a:stretch>
        </p:blipFill>
        <p:spPr>
          <a:xfrm>
            <a:off x="6159084" y="0"/>
            <a:ext cx="2984916" cy="5143500"/>
          </a:xfrm>
          <a:prstGeom prst="rect">
            <a:avLst/>
          </a:prstGeom>
        </p:spPr>
      </p:pic>
    </p:spTree>
    <p:extLst>
      <p:ext uri="{BB962C8B-B14F-4D97-AF65-F5344CB8AC3E}">
        <p14:creationId xmlns:p14="http://schemas.microsoft.com/office/powerpoint/2010/main" val="235477798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9C249-C79C-EE78-21A3-072987CBDC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D7B67E2-275B-F189-A5F3-2E2FE95ADFA0}"/>
              </a:ext>
            </a:extLst>
          </p:cNvPr>
          <p:cNvSpPr>
            <a:spLocks noGrp="1"/>
          </p:cNvSpPr>
          <p:nvPr>
            <p:ph type="title"/>
          </p:nvPr>
        </p:nvSpPr>
        <p:spPr/>
        <p:txBody>
          <a:bodyPr/>
          <a:lstStyle/>
          <a:p>
            <a:r>
              <a:rPr lang="en-US"/>
              <a:t>best case and worst case runtime of adding to the back of an array list</a:t>
            </a:r>
          </a:p>
        </p:txBody>
      </p:sp>
    </p:spTree>
    <p:extLst>
      <p:ext uri="{BB962C8B-B14F-4D97-AF65-F5344CB8AC3E}">
        <p14:creationId xmlns:p14="http://schemas.microsoft.com/office/powerpoint/2010/main" val="141600554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ADF8A-7F34-51FF-540A-36EB1B290A0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44DD505-F8DC-0CCB-5581-4220CDAC982B}"/>
              </a:ext>
            </a:extLst>
          </p:cNvPr>
          <p:cNvSpPr>
            <a:spLocks noGrp="1"/>
          </p:cNvSpPr>
          <p:nvPr>
            <p:ph type="title"/>
          </p:nvPr>
        </p:nvSpPr>
        <p:spPr/>
        <p:txBody>
          <a:bodyPr/>
          <a:lstStyle/>
          <a:p>
            <a:r>
              <a:rPr lang="en-US" b="1"/>
              <a:t>best case</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AE055DEE-D6A7-85CF-0B56-AAAD61DB608D}"/>
                  </a:ext>
                </a:extLst>
              </p:cNvPr>
              <p:cNvSpPr>
                <a:spLocks noGrp="1"/>
              </p:cNvSpPr>
              <p:nvPr>
                <p:ph sz="quarter" idx="10"/>
              </p:nvPr>
            </p:nvSpPr>
            <p:spPr/>
            <p:txBody>
              <a:bodyPr/>
              <a:lstStyle/>
              <a:p>
                <a:r>
                  <a:rPr lang="en-US"/>
                  <a:t>the </a:t>
                </a:r>
                <a:r>
                  <a:rPr lang="en-US" b="1"/>
                  <a:t>best case </a:t>
                </a:r>
                <a:r>
                  <a:rPr lang="en-US"/>
                  <a:t>is the shortest time a function can possibly take to run</a:t>
                </a:r>
              </a:p>
              <a:p>
                <a:pPr lvl="1"/>
                <a:r>
                  <a:rPr lang="en-US"/>
                  <a:t>for adding an element to the back of an array list, this i</a:t>
                </a:r>
                <a:r>
                  <a:rPr lang="en-US" sz="1800"/>
                  <a:t>s when the array list's internal/private array still has at least one "empty slot"</a:t>
                </a:r>
              </a:p>
              <a:p>
                <a:pPr lvl="2"/>
                <a:r>
                  <a:rPr lang="en-US"/>
                  <a:t>in this case, we have to...</a:t>
                </a:r>
              </a:p>
              <a:p>
                <a:pPr lvl="3"/>
                <a:r>
                  <a:rPr lang="en-US"/>
                  <a:t>write an element to an array	</a:t>
                </a:r>
                <a14:m>
                  <m:oMath xmlns:m="http://schemas.openxmlformats.org/officeDocument/2006/math">
                    <m:r>
                      <a:rPr lang="en-US" sz="1800" b="0" i="1" smtClean="0">
                        <a:latin typeface="Cambria Math" panose="02040503050406030204" pitchFamily="18" charset="0"/>
                        <a:ea typeface="Cambria Math" panose="02040503050406030204" pitchFamily="18" charset="0"/>
                      </a:rPr>
                      <m:t>𝒪</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1</m:t>
                        </m:r>
                      </m:e>
                    </m:d>
                  </m:oMath>
                </a14:m>
                <a:endParaRPr lang="en-US" sz="1800" b="0"/>
              </a:p>
              <a:p>
                <a:pPr lvl="3"/>
                <a:r>
                  <a:rPr lang="en-US"/>
                  <a:t>increment a counter			+	</a:t>
                </a:r>
                <a14:m>
                  <m:oMath xmlns:m="http://schemas.openxmlformats.org/officeDocument/2006/math">
                    <m:r>
                      <a:rPr lang="en-US" sz="1800" b="0" i="1" smtClean="0">
                        <a:latin typeface="Cambria Math" panose="02040503050406030204" pitchFamily="18" charset="0"/>
                        <a:ea typeface="Cambria Math" panose="02040503050406030204" pitchFamily="18" charset="0"/>
                      </a:rPr>
                      <m:t>𝒪</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1</m:t>
                        </m:r>
                      </m:e>
                    </m:d>
                  </m:oMath>
                </a14:m>
                <a:endParaRPr lang="en-US"/>
              </a:p>
              <a:p>
                <a:pPr lvl="3"/>
                <a:r>
                  <a:rPr lang="en-US"/>
                  <a:t>---------------------------------------------</a:t>
                </a:r>
              </a:p>
              <a:p>
                <a:pPr lvl="3"/>
                <a:r>
                  <a:rPr lang="en-US">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𝒪</m:t>
                    </m:r>
                    <m:d>
                      <m:dPr>
                        <m:ctrlPr>
                          <a:rPr lang="en-US" i="1">
                            <a:latin typeface="Cambria Math" panose="02040503050406030204" pitchFamily="18" charset="0"/>
                          </a:rPr>
                        </m:ctrlPr>
                      </m:dPr>
                      <m:e>
                        <m:r>
                          <a:rPr lang="en-US" i="1">
                            <a:latin typeface="Cambria Math" panose="02040503050406030204" pitchFamily="18" charset="0"/>
                          </a:rPr>
                          <m:t>1</m:t>
                        </m:r>
                      </m:e>
                    </m:d>
                  </m:oMath>
                </a14:m>
                <a:r>
                  <a:rPr lang="en-US"/>
                  <a:t> 😀</a:t>
                </a:r>
              </a:p>
              <a:p>
                <a:pPr lvl="2"/>
                <a:endParaRPr lang="en-US"/>
              </a:p>
            </p:txBody>
          </p:sp>
        </mc:Choice>
        <mc:Fallback xmlns="">
          <p:sp>
            <p:nvSpPr>
              <p:cNvPr id="4" name="Content Placeholder 3">
                <a:extLst>
                  <a:ext uri="{FF2B5EF4-FFF2-40B4-BE49-F238E27FC236}">
                    <a16:creationId xmlns:a16="http://schemas.microsoft.com/office/drawing/2014/main" id="{AE055DEE-D6A7-85CF-0B56-AAAD61DB608D}"/>
                  </a:ext>
                </a:extLst>
              </p:cNvPr>
              <p:cNvSpPr>
                <a:spLocks noGrp="1" noRot="1" noChangeAspect="1" noMove="1" noResize="1" noEditPoints="1" noAdjustHandles="1" noChangeArrowheads="1" noChangeShapeType="1" noTextEdit="1"/>
              </p:cNvSpPr>
              <p:nvPr>
                <p:ph sz="quarter" idx="10"/>
              </p:nvPr>
            </p:nvSpPr>
            <p:spPr>
              <a:blipFill>
                <a:blip r:embed="rId2"/>
                <a:stretch>
                  <a:fillRect l="-617" t="-621"/>
                </a:stretch>
              </a:blipFill>
            </p:spPr>
            <p:txBody>
              <a:bodyPr/>
              <a:lstStyle/>
              <a:p>
                <a:r>
                  <a:rPr lang="en-US">
                    <a:noFill/>
                  </a:rPr>
                  <a:t> </a:t>
                </a:r>
              </a:p>
            </p:txBody>
          </p:sp>
        </mc:Fallback>
      </mc:AlternateContent>
    </p:spTree>
    <p:extLst>
      <p:ext uri="{BB962C8B-B14F-4D97-AF65-F5344CB8AC3E}">
        <p14:creationId xmlns:p14="http://schemas.microsoft.com/office/powerpoint/2010/main" val="246919995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C22F5-3373-6C29-268A-5595D04F7D6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04FF4A3-2946-95D8-8B1A-DECB82F4823D}"/>
              </a:ext>
            </a:extLst>
          </p:cNvPr>
          <p:cNvSpPr>
            <a:spLocks noGrp="1"/>
          </p:cNvSpPr>
          <p:nvPr>
            <p:ph type="title"/>
          </p:nvPr>
        </p:nvSpPr>
        <p:spPr/>
        <p:txBody>
          <a:bodyPr/>
          <a:lstStyle/>
          <a:p>
            <a:r>
              <a:rPr lang="en-US" b="1"/>
              <a:t>worst case</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6AC13AF-AC17-D418-B7B5-A7C9E7BCB2AF}"/>
                  </a:ext>
                </a:extLst>
              </p:cNvPr>
              <p:cNvSpPr>
                <a:spLocks noGrp="1"/>
              </p:cNvSpPr>
              <p:nvPr>
                <p:ph sz="quarter" idx="10"/>
              </p:nvPr>
            </p:nvSpPr>
            <p:spPr/>
            <p:txBody>
              <a:bodyPr/>
              <a:lstStyle/>
              <a:p>
                <a:r>
                  <a:rPr lang="en-US"/>
                  <a:t>the </a:t>
                </a:r>
                <a:r>
                  <a:rPr lang="en-US" b="1"/>
                  <a:t>worst case </a:t>
                </a:r>
                <a:r>
                  <a:rPr lang="en-US"/>
                  <a:t>is the longest time a function can possibly take to run</a:t>
                </a:r>
              </a:p>
              <a:p>
                <a:pPr lvl="1"/>
                <a:r>
                  <a:rPr lang="en-US"/>
                  <a:t>for adding an element to the back of an array list, this i</a:t>
                </a:r>
                <a:r>
                  <a:rPr lang="en-US" sz="1800"/>
                  <a:t>s when the array list's internal/private array is full (with </a:t>
                </a:r>
                <a14:m>
                  <m:oMath xmlns:m="http://schemas.openxmlformats.org/officeDocument/2006/math">
                    <m:r>
                      <a:rPr lang="en-US" sz="1800" b="0" i="1" smtClean="0">
                        <a:latin typeface="Cambria Math" panose="02040503050406030204" pitchFamily="18" charset="0"/>
                      </a:rPr>
                      <m:t>𝑛</m:t>
                    </m:r>
                  </m:oMath>
                </a14:m>
                <a:r>
                  <a:rPr lang="en-US" sz="1800"/>
                  <a:t> elements)</a:t>
                </a:r>
              </a:p>
              <a:p>
                <a:pPr lvl="2"/>
                <a:r>
                  <a:rPr lang="en-US"/>
                  <a:t>in this case, we have to...</a:t>
                </a:r>
              </a:p>
              <a:p>
                <a:pPr lvl="3"/>
                <a:r>
                  <a:rPr lang="en-US"/>
                  <a:t>allocate an array of </a:t>
                </a:r>
                <a14:m>
                  <m:oMath xmlns:m="http://schemas.openxmlformats.org/officeDocument/2006/math">
                    <m:r>
                      <a:rPr lang="en-US" b="0" i="1" smtClean="0">
                        <a:latin typeface="Cambria Math" panose="02040503050406030204" pitchFamily="18" charset="0"/>
                      </a:rPr>
                      <m:t>2</m:t>
                    </m:r>
                    <m:r>
                      <a:rPr lang="en-US" i="1" smtClean="0">
                        <a:latin typeface="Cambria Math" panose="02040503050406030204" pitchFamily="18" charset="0"/>
                      </a:rPr>
                      <m:t>𝑛</m:t>
                    </m:r>
                    <m:r>
                      <a:rPr lang="en-US" i="1">
                        <a:latin typeface="Cambria Math" panose="02040503050406030204" pitchFamily="18" charset="0"/>
                      </a:rPr>
                      <m:t> </m:t>
                    </m:r>
                  </m:oMath>
                </a14:m>
                <a:r>
                  <a:rPr lang="en-US"/>
                  <a:t>elements			</a:t>
                </a:r>
                <a14:m>
                  <m:oMath xmlns:m="http://schemas.openxmlformats.org/officeDocument/2006/math">
                    <m:r>
                      <a:rPr lang="en-US" sz="1800" b="0" i="1" smtClean="0">
                        <a:latin typeface="Cambria Math" panose="02040503050406030204" pitchFamily="18" charset="0"/>
                        <a:ea typeface="Cambria Math" panose="02040503050406030204" pitchFamily="18" charset="0"/>
                      </a:rPr>
                      <m:t>𝒪</m:t>
                    </m:r>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𝑛</m:t>
                        </m:r>
                      </m:e>
                    </m:d>
                  </m:oMath>
                </a14:m>
                <a:endParaRPr lang="en-US" sz="1800" b="0"/>
              </a:p>
              <a:p>
                <a:pPr lvl="3"/>
                <a:r>
                  <a:rPr lang="en-US"/>
                  <a:t>copy of over </a:t>
                </a:r>
                <a14:m>
                  <m:oMath xmlns:m="http://schemas.openxmlformats.org/officeDocument/2006/math">
                    <m:r>
                      <a:rPr lang="en-US" i="1" smtClean="0">
                        <a:latin typeface="Cambria Math" panose="02040503050406030204" pitchFamily="18" charset="0"/>
                      </a:rPr>
                      <m:t>𝑛</m:t>
                    </m:r>
                    <m:r>
                      <a:rPr lang="en-US" i="1">
                        <a:latin typeface="Cambria Math" panose="02040503050406030204" pitchFamily="18" charset="0"/>
                      </a:rPr>
                      <m:t> </m:t>
                    </m:r>
                  </m:oMath>
                </a14:m>
                <a:r>
                  <a:rPr lang="en-US"/>
                  <a:t>elements					+	</a:t>
                </a:r>
                <a14:m>
                  <m:oMath xmlns:m="http://schemas.openxmlformats.org/officeDocument/2006/math">
                    <m:r>
                      <a:rPr lang="en-US" sz="1800" b="0" i="1" smtClean="0">
                        <a:latin typeface="Cambria Math" panose="02040503050406030204" pitchFamily="18" charset="0"/>
                        <a:ea typeface="Cambria Math" panose="02040503050406030204" pitchFamily="18" charset="0"/>
                      </a:rPr>
                      <m:t>𝒪</m:t>
                    </m:r>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𝑛</m:t>
                        </m:r>
                      </m:e>
                    </m:d>
                  </m:oMath>
                </a14:m>
                <a:endParaRPr lang="en-US" sz="1800" b="0"/>
              </a:p>
              <a:p>
                <a:pPr lvl="3"/>
                <a:r>
                  <a:rPr lang="en-US"/>
                  <a:t>write an element to an array			+	</a:t>
                </a:r>
                <a14:m>
                  <m:oMath xmlns:m="http://schemas.openxmlformats.org/officeDocument/2006/math">
                    <m:r>
                      <a:rPr lang="en-US" i="1">
                        <a:latin typeface="Cambria Math" panose="02040503050406030204" pitchFamily="18" charset="0"/>
                        <a:ea typeface="Cambria Math" panose="02040503050406030204" pitchFamily="18" charset="0"/>
                      </a:rPr>
                      <m:t>𝒪</m:t>
                    </m:r>
                    <m:d>
                      <m:dPr>
                        <m:ctrlPr>
                          <a:rPr lang="en-US" i="1">
                            <a:latin typeface="Cambria Math" panose="02040503050406030204" pitchFamily="18" charset="0"/>
                          </a:rPr>
                        </m:ctrlPr>
                      </m:dPr>
                      <m:e>
                        <m:r>
                          <a:rPr lang="en-US" i="1">
                            <a:latin typeface="Cambria Math" panose="02040503050406030204" pitchFamily="18" charset="0"/>
                          </a:rPr>
                          <m:t>1</m:t>
                        </m:r>
                      </m:e>
                    </m:d>
                  </m:oMath>
                </a14:m>
                <a:endParaRPr lang="en-US"/>
              </a:p>
              <a:p>
                <a:pPr lvl="3"/>
                <a:r>
                  <a:rPr lang="en-US"/>
                  <a:t>increment a counter						+	</a:t>
                </a:r>
                <a14:m>
                  <m:oMath xmlns:m="http://schemas.openxmlformats.org/officeDocument/2006/math">
                    <m:r>
                      <a:rPr lang="en-US" i="1">
                        <a:latin typeface="Cambria Math" panose="02040503050406030204" pitchFamily="18" charset="0"/>
                        <a:ea typeface="Cambria Math" panose="02040503050406030204" pitchFamily="18" charset="0"/>
                      </a:rPr>
                      <m:t>𝒪</m:t>
                    </m:r>
                    <m:d>
                      <m:dPr>
                        <m:ctrlPr>
                          <a:rPr lang="en-US" i="1">
                            <a:latin typeface="Cambria Math" panose="02040503050406030204" pitchFamily="18" charset="0"/>
                          </a:rPr>
                        </m:ctrlPr>
                      </m:dPr>
                      <m:e>
                        <m:r>
                          <a:rPr lang="en-US" i="1">
                            <a:latin typeface="Cambria Math" panose="02040503050406030204" pitchFamily="18" charset="0"/>
                          </a:rPr>
                          <m:t>1</m:t>
                        </m:r>
                      </m:e>
                    </m:d>
                  </m:oMath>
                </a14:m>
                <a:endParaRPr lang="en-US"/>
              </a:p>
              <a:p>
                <a:pPr lvl="3"/>
                <a:r>
                  <a:rPr lang="en-US"/>
                  <a:t>updating  reference to internal array	+ 	</a:t>
                </a:r>
                <a14:m>
                  <m:oMath xmlns:m="http://schemas.openxmlformats.org/officeDocument/2006/math">
                    <m:r>
                      <a:rPr lang="en-US" i="1">
                        <a:latin typeface="Cambria Math" panose="02040503050406030204" pitchFamily="18" charset="0"/>
                        <a:ea typeface="Cambria Math" panose="02040503050406030204" pitchFamily="18" charset="0"/>
                      </a:rPr>
                      <m:t>𝒪</m:t>
                    </m:r>
                    <m:d>
                      <m:dPr>
                        <m:ctrlPr>
                          <a:rPr lang="en-US" i="1">
                            <a:latin typeface="Cambria Math" panose="02040503050406030204" pitchFamily="18" charset="0"/>
                          </a:rPr>
                        </m:ctrlPr>
                      </m:dPr>
                      <m:e>
                        <m:r>
                          <a:rPr lang="en-US" i="1">
                            <a:latin typeface="Cambria Math" panose="02040503050406030204" pitchFamily="18" charset="0"/>
                          </a:rPr>
                          <m:t>1</m:t>
                        </m:r>
                      </m:e>
                    </m:d>
                  </m:oMath>
                </a14:m>
                <a:endParaRPr lang="en-US"/>
              </a:p>
              <a:p>
                <a:pPr lvl="3"/>
                <a:r>
                  <a:rPr lang="en-US"/>
                  <a:t>---------------------------------------------------------------</a:t>
                </a:r>
              </a:p>
              <a:p>
                <a:pPr lvl="3"/>
                <a:r>
                  <a:rPr lang="en-US">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𝒪</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𝑛</m:t>
                        </m:r>
                      </m:e>
                    </m:d>
                  </m:oMath>
                </a14:m>
                <a:r>
                  <a:rPr lang="en-US"/>
                  <a:t> 😐</a:t>
                </a:r>
              </a:p>
              <a:p>
                <a:pPr lvl="2"/>
                <a:endParaRPr lang="en-US"/>
              </a:p>
            </p:txBody>
          </p:sp>
        </mc:Choice>
        <mc:Fallback xmlns="">
          <p:sp>
            <p:nvSpPr>
              <p:cNvPr id="4" name="Content Placeholder 3">
                <a:extLst>
                  <a:ext uri="{FF2B5EF4-FFF2-40B4-BE49-F238E27FC236}">
                    <a16:creationId xmlns:a16="http://schemas.microsoft.com/office/drawing/2014/main" id="{C6AC13AF-AC17-D418-B7B5-A7C9E7BCB2AF}"/>
                  </a:ext>
                </a:extLst>
              </p:cNvPr>
              <p:cNvSpPr>
                <a:spLocks noGrp="1" noRot="1" noChangeAspect="1" noMove="1" noResize="1" noEditPoints="1" noAdjustHandles="1" noChangeArrowheads="1" noChangeShapeType="1" noTextEdit="1"/>
              </p:cNvSpPr>
              <p:nvPr>
                <p:ph sz="quarter" idx="10"/>
              </p:nvPr>
            </p:nvSpPr>
            <p:spPr>
              <a:blipFill>
                <a:blip r:embed="rId2"/>
                <a:stretch>
                  <a:fillRect l="-617" t="-621"/>
                </a:stretch>
              </a:blipFill>
            </p:spPr>
            <p:txBody>
              <a:bodyPr/>
              <a:lstStyle/>
              <a:p>
                <a:r>
                  <a:rPr lang="en-US">
                    <a:noFill/>
                  </a:rPr>
                  <a:t> </a:t>
                </a:r>
              </a:p>
            </p:txBody>
          </p:sp>
        </mc:Fallback>
      </mc:AlternateContent>
    </p:spTree>
    <p:extLst>
      <p:ext uri="{BB962C8B-B14F-4D97-AF65-F5344CB8AC3E}">
        <p14:creationId xmlns:p14="http://schemas.microsoft.com/office/powerpoint/2010/main" val="349593808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EBD3C-E086-9AF2-0492-BA2FB994082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2C0347C-7B04-D99C-79DF-D6BE10D49EB4}"/>
              </a:ext>
            </a:extLst>
          </p:cNvPr>
          <p:cNvSpPr>
            <a:spLocks noGrp="1"/>
          </p:cNvSpPr>
          <p:nvPr>
            <p:ph type="title"/>
          </p:nvPr>
        </p:nvSpPr>
        <p:spPr/>
        <p:txBody>
          <a:bodyPr/>
          <a:lstStyle/>
          <a:p>
            <a:r>
              <a:rPr lang="en-US"/>
              <a:t>sometimes the best case and worst case are very different</a:t>
            </a:r>
          </a:p>
        </p:txBody>
      </p:sp>
    </p:spTree>
    <p:extLst>
      <p:ext uri="{BB962C8B-B14F-4D97-AF65-F5344CB8AC3E}">
        <p14:creationId xmlns:p14="http://schemas.microsoft.com/office/powerpoint/2010/main" val="304506641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499E6-1032-8AE2-AF5B-7B49F44D02B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2383E0B-73D9-3FB2-9A55-B21DCA17D15C}"/>
              </a:ext>
            </a:extLst>
          </p:cNvPr>
          <p:cNvSpPr>
            <a:spLocks noGrp="1"/>
          </p:cNvSpPr>
          <p:nvPr>
            <p:ph type="title"/>
          </p:nvPr>
        </p:nvSpPr>
        <p:spPr/>
        <p:txBody>
          <a:bodyPr/>
          <a:lstStyle/>
          <a:p>
            <a:r>
              <a:rPr lang="en-US"/>
              <a:t>amortized runtime of adding to the back of an array list</a:t>
            </a:r>
          </a:p>
        </p:txBody>
      </p:sp>
    </p:spTree>
    <p:extLst>
      <p:ext uri="{BB962C8B-B14F-4D97-AF65-F5344CB8AC3E}">
        <p14:creationId xmlns:p14="http://schemas.microsoft.com/office/powerpoint/2010/main" val="200019714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CB89A-61E1-FAF4-C5A0-98C20A61145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AC89053-6B3D-094C-A58B-4BEA9CDF2749}"/>
              </a:ext>
            </a:extLst>
          </p:cNvPr>
          <p:cNvSpPr>
            <a:spLocks noGrp="1"/>
          </p:cNvSpPr>
          <p:nvPr>
            <p:ph type="title"/>
          </p:nvPr>
        </p:nvSpPr>
        <p:spPr/>
        <p:txBody>
          <a:bodyPr/>
          <a:lstStyle/>
          <a:p>
            <a:r>
              <a:rPr lang="en-US" b="1"/>
              <a:t>amortized</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529C5FB-A964-D98E-99A2-99CD1BB7818E}"/>
                  </a:ext>
                </a:extLst>
              </p:cNvPr>
              <p:cNvSpPr>
                <a:spLocks noGrp="1"/>
              </p:cNvSpPr>
              <p:nvPr>
                <p:ph sz="quarter" idx="10"/>
              </p:nvPr>
            </p:nvSpPr>
            <p:spPr/>
            <p:txBody>
              <a:bodyPr/>
              <a:lstStyle/>
              <a:p>
                <a:r>
                  <a:rPr lang="en-US"/>
                  <a:t>the </a:t>
                </a:r>
                <a:r>
                  <a:rPr lang="en-US" b="1"/>
                  <a:t>amortized runtime </a:t>
                </a:r>
                <a:r>
                  <a:rPr lang="en-US"/>
                  <a:t>is how long a function takes (on average)</a:t>
                </a:r>
                <a:br>
                  <a:rPr lang="en-US"/>
                </a:br>
                <a:r>
                  <a:rPr lang="en-US"/>
                  <a:t>"in the long run" </a:t>
                </a:r>
              </a:p>
              <a:p>
                <a:pPr lvl="1"/>
                <a:r>
                  <a:rPr lang="en-US"/>
                  <a:t>for adding an element to the back of an array list...</a:t>
                </a:r>
              </a:p>
              <a:p>
                <a:pPr lvl="2"/>
                <a:r>
                  <a:rPr lang="en-US" sz="1400"/>
                  <a:t> 						⬜️</a:t>
                </a:r>
              </a:p>
              <a:p>
                <a:pPr lvl="2"/>
                <a:r>
                  <a:rPr lang="en-US" sz="1400">
                    <a:solidFill>
                      <a:schemeClr val="bg1">
                        <a:lumMod val="75000"/>
                      </a:schemeClr>
                    </a:solidFill>
                  </a:rPr>
                  <a:t>wasn't full	</a:t>
                </a:r>
                <a14:m>
                  <m:oMath xmlns:m="http://schemas.openxmlformats.org/officeDocument/2006/math">
                    <m:r>
                      <a:rPr lang="en-US" sz="1400" b="0" i="1" smtClean="0">
                        <a:solidFill>
                          <a:schemeClr val="bg1">
                            <a:lumMod val="75000"/>
                          </a:schemeClr>
                        </a:solidFill>
                        <a:latin typeface="Cambria Math" panose="02040503050406030204" pitchFamily="18" charset="0"/>
                        <a:ea typeface="Cambria Math" panose="02040503050406030204" pitchFamily="18" charset="0"/>
                      </a:rPr>
                      <m:t>1</m:t>
                    </m:r>
                  </m:oMath>
                </a14:m>
                <a:r>
                  <a:rPr lang="en-US" sz="1400"/>
                  <a:t>		🟦</a:t>
                </a:r>
              </a:p>
              <a:p>
                <a:pPr lvl="2"/>
                <a:r>
                  <a:rPr lang="en-US" sz="1400" b="1">
                    <a:solidFill>
                      <a:schemeClr val="accent4">
                        <a:lumMod val="50000"/>
                      </a:schemeClr>
                    </a:solidFill>
                  </a:rPr>
                  <a:t>was full		</a:t>
                </a:r>
                <a14:m>
                  <m:oMath xmlns:m="http://schemas.openxmlformats.org/officeDocument/2006/math">
                    <m:r>
                      <a:rPr lang="en-US" sz="1400" b="1" i="1" smtClean="0">
                        <a:solidFill>
                          <a:schemeClr val="accent4">
                            <a:lumMod val="50000"/>
                          </a:schemeClr>
                        </a:solidFill>
                        <a:latin typeface="Cambria Math" panose="02040503050406030204" pitchFamily="18" charset="0"/>
                        <a:ea typeface="Cambria Math" panose="02040503050406030204" pitchFamily="18" charset="0"/>
                      </a:rPr>
                      <m:t>𝟐</m:t>
                    </m:r>
                  </m:oMath>
                </a14:m>
                <a:r>
                  <a:rPr lang="en-US" sz="1400" b="1">
                    <a:solidFill>
                      <a:schemeClr val="accent4">
                        <a:lumMod val="50000"/>
                      </a:schemeClr>
                    </a:solidFill>
                  </a:rPr>
                  <a:t>  	</a:t>
                </a:r>
                <a:r>
                  <a:rPr lang="en-US" sz="1400"/>
                  <a:t>	🟦🟦🐢</a:t>
                </a:r>
              </a:p>
              <a:p>
                <a:pPr lvl="2"/>
                <a:r>
                  <a:rPr lang="en-US" sz="1400" b="1">
                    <a:solidFill>
                      <a:schemeClr val="accent4">
                        <a:lumMod val="50000"/>
                      </a:schemeClr>
                    </a:solidFill>
                  </a:rPr>
                  <a:t>was full	</a:t>
                </a:r>
                <a:r>
                  <a:rPr lang="en-US" sz="1400" b="1">
                    <a:solidFill>
                      <a:schemeClr val="accent4">
                        <a:lumMod val="50000"/>
                      </a:schemeClr>
                    </a:solidFill>
                    <a:ea typeface="Cambria Math" panose="02040503050406030204" pitchFamily="18" charset="0"/>
                  </a:rPr>
                  <a:t> 	</a:t>
                </a:r>
                <a14:m>
                  <m:oMath xmlns:m="http://schemas.openxmlformats.org/officeDocument/2006/math">
                    <m:r>
                      <a:rPr lang="en-US" sz="1400" b="1" i="1" smtClean="0">
                        <a:solidFill>
                          <a:schemeClr val="accent4">
                            <a:lumMod val="50000"/>
                          </a:schemeClr>
                        </a:solidFill>
                        <a:latin typeface="Cambria Math" panose="02040503050406030204" pitchFamily="18" charset="0"/>
                        <a:ea typeface="Cambria Math" panose="02040503050406030204" pitchFamily="18" charset="0"/>
                      </a:rPr>
                      <m:t>𝟒</m:t>
                    </m:r>
                  </m:oMath>
                </a14:m>
                <a:r>
                  <a:rPr lang="en-US" sz="1400" b="1">
                    <a:solidFill>
                      <a:schemeClr val="accent4">
                        <a:lumMod val="50000"/>
                      </a:schemeClr>
                    </a:solidFill>
                  </a:rPr>
                  <a:t>	</a:t>
                </a:r>
                <a:r>
                  <a:rPr lang="en-US" sz="1400"/>
                  <a:t>	🟦🟦🟦⬜️🐢</a:t>
                </a:r>
              </a:p>
              <a:p>
                <a:pPr lvl="2"/>
                <a:r>
                  <a:rPr lang="en-US" sz="1400">
                    <a:solidFill>
                      <a:schemeClr val="bg1">
                        <a:lumMod val="75000"/>
                      </a:schemeClr>
                    </a:solidFill>
                  </a:rPr>
                  <a:t>wasn't full	</a:t>
                </a:r>
                <a14:m>
                  <m:oMath xmlns:m="http://schemas.openxmlformats.org/officeDocument/2006/math">
                    <m:r>
                      <a:rPr lang="en-US" sz="1400" b="0" i="1" smtClean="0">
                        <a:solidFill>
                          <a:schemeClr val="bg1">
                            <a:lumMod val="75000"/>
                          </a:schemeClr>
                        </a:solidFill>
                        <a:latin typeface="Cambria Math" panose="02040503050406030204" pitchFamily="18" charset="0"/>
                        <a:ea typeface="Cambria Math" panose="02040503050406030204" pitchFamily="18" charset="0"/>
                      </a:rPr>
                      <m:t>1</m:t>
                    </m:r>
                  </m:oMath>
                </a14:m>
                <a:r>
                  <a:rPr lang="en-US" sz="1400">
                    <a:solidFill>
                      <a:schemeClr val="bg1">
                        <a:lumMod val="75000"/>
                      </a:schemeClr>
                    </a:solidFill>
                  </a:rPr>
                  <a:t>	</a:t>
                </a:r>
                <a:r>
                  <a:rPr lang="en-US" sz="1400"/>
                  <a:t>	🟦🟦🟦🟦</a:t>
                </a:r>
              </a:p>
              <a:p>
                <a:pPr lvl="2"/>
                <a:r>
                  <a:rPr lang="en-US" sz="1400" b="1">
                    <a:solidFill>
                      <a:schemeClr val="accent4">
                        <a:lumMod val="50000"/>
                      </a:schemeClr>
                    </a:solidFill>
                  </a:rPr>
                  <a:t>was full	</a:t>
                </a:r>
                <a:r>
                  <a:rPr lang="en-US" sz="1400" b="1">
                    <a:solidFill>
                      <a:schemeClr val="accent4">
                        <a:lumMod val="50000"/>
                      </a:schemeClr>
                    </a:solidFill>
                    <a:ea typeface="Cambria Math" panose="02040503050406030204" pitchFamily="18" charset="0"/>
                  </a:rPr>
                  <a:t> 	</a:t>
                </a:r>
                <a14:m>
                  <m:oMath xmlns:m="http://schemas.openxmlformats.org/officeDocument/2006/math">
                    <m:r>
                      <a:rPr lang="en-US" sz="1400" b="1" i="1" smtClean="0">
                        <a:solidFill>
                          <a:schemeClr val="accent4">
                            <a:lumMod val="50000"/>
                          </a:schemeClr>
                        </a:solidFill>
                        <a:latin typeface="Cambria Math" panose="02040503050406030204" pitchFamily="18" charset="0"/>
                        <a:ea typeface="Cambria Math" panose="02040503050406030204" pitchFamily="18" charset="0"/>
                      </a:rPr>
                      <m:t>𝟖</m:t>
                    </m:r>
                  </m:oMath>
                </a14:m>
                <a:r>
                  <a:rPr lang="en-US" sz="1400" b="1">
                    <a:solidFill>
                      <a:schemeClr val="accent4">
                        <a:lumMod val="50000"/>
                      </a:schemeClr>
                    </a:solidFill>
                  </a:rPr>
                  <a:t>	</a:t>
                </a:r>
                <a:r>
                  <a:rPr lang="en-US" sz="1400"/>
                  <a:t>	🟦🟦🟦🟦🟦⬜️⬜️⬜️🐢</a:t>
                </a:r>
              </a:p>
              <a:p>
                <a:pPr lvl="2"/>
                <a:r>
                  <a:rPr lang="en-US" sz="1400">
                    <a:solidFill>
                      <a:schemeClr val="bg1">
                        <a:lumMod val="75000"/>
                      </a:schemeClr>
                    </a:solidFill>
                  </a:rPr>
                  <a:t>wasn't full	</a:t>
                </a:r>
                <a14:m>
                  <m:oMath xmlns:m="http://schemas.openxmlformats.org/officeDocument/2006/math">
                    <m:r>
                      <a:rPr lang="en-US" sz="1400" b="0" i="1" smtClean="0">
                        <a:solidFill>
                          <a:schemeClr val="bg1">
                            <a:lumMod val="75000"/>
                          </a:schemeClr>
                        </a:solidFill>
                        <a:latin typeface="Cambria Math" panose="02040503050406030204" pitchFamily="18" charset="0"/>
                      </a:rPr>
                      <m:t>1</m:t>
                    </m:r>
                  </m:oMath>
                </a14:m>
                <a:r>
                  <a:rPr lang="en-US" sz="1400">
                    <a:solidFill>
                      <a:schemeClr val="bg1">
                        <a:lumMod val="75000"/>
                      </a:schemeClr>
                    </a:solidFill>
                  </a:rPr>
                  <a:t>		🟦🟦🟦🟦🟦🟦⬜️⬜️</a:t>
                </a:r>
              </a:p>
              <a:p>
                <a:pPr lvl="2"/>
                <a:r>
                  <a:rPr lang="en-US" sz="1400">
                    <a:solidFill>
                      <a:schemeClr val="bg1">
                        <a:lumMod val="75000"/>
                      </a:schemeClr>
                    </a:solidFill>
                  </a:rPr>
                  <a:t>wasn't full	</a:t>
                </a:r>
                <a14:m>
                  <m:oMath xmlns:m="http://schemas.openxmlformats.org/officeDocument/2006/math">
                    <m:r>
                      <a:rPr lang="en-US" sz="1400" b="0" i="1" smtClean="0">
                        <a:solidFill>
                          <a:schemeClr val="bg1">
                            <a:lumMod val="75000"/>
                          </a:schemeClr>
                        </a:solidFill>
                        <a:latin typeface="Cambria Math" panose="02040503050406030204" pitchFamily="18" charset="0"/>
                      </a:rPr>
                      <m:t>1</m:t>
                    </m:r>
                  </m:oMath>
                </a14:m>
                <a:r>
                  <a:rPr lang="en-US" sz="1400">
                    <a:solidFill>
                      <a:schemeClr val="bg1">
                        <a:lumMod val="75000"/>
                      </a:schemeClr>
                    </a:solidFill>
                  </a:rPr>
                  <a:t>		🟦🟦🟦🟦🟦🟦🟦⬜️</a:t>
                </a:r>
              </a:p>
              <a:p>
                <a:pPr lvl="2"/>
                <a:r>
                  <a:rPr lang="en-US" sz="1400">
                    <a:solidFill>
                      <a:schemeClr val="bg1">
                        <a:lumMod val="75000"/>
                      </a:schemeClr>
                    </a:solidFill>
                  </a:rPr>
                  <a:t>wasn't full	</a:t>
                </a:r>
                <a14:m>
                  <m:oMath xmlns:m="http://schemas.openxmlformats.org/officeDocument/2006/math">
                    <m:r>
                      <a:rPr lang="en-US" sz="1400" b="0" i="1" smtClean="0">
                        <a:solidFill>
                          <a:schemeClr val="bg1">
                            <a:lumMod val="75000"/>
                          </a:schemeClr>
                        </a:solidFill>
                        <a:latin typeface="Cambria Math" panose="02040503050406030204" pitchFamily="18" charset="0"/>
                      </a:rPr>
                      <m:t>1</m:t>
                    </m:r>
                  </m:oMath>
                </a14:m>
                <a:r>
                  <a:rPr lang="en-US" sz="1400"/>
                  <a:t>		🟦🟦🟦🟦🟦🟦🟦🟦</a:t>
                </a:r>
              </a:p>
              <a:p>
                <a:pPr lvl="2"/>
                <a:r>
                  <a:rPr lang="en-US" sz="1400" b="1">
                    <a:solidFill>
                      <a:schemeClr val="accent4">
                        <a:lumMod val="50000"/>
                      </a:schemeClr>
                    </a:solidFill>
                  </a:rPr>
                  <a:t>was full	</a:t>
                </a:r>
                <a:r>
                  <a:rPr lang="en-US" sz="1400" b="1">
                    <a:solidFill>
                      <a:schemeClr val="accent4">
                        <a:lumMod val="50000"/>
                      </a:schemeClr>
                    </a:solidFill>
                    <a:ea typeface="Cambria Math" panose="02040503050406030204" pitchFamily="18" charset="0"/>
                  </a:rPr>
                  <a:t> 	</a:t>
                </a:r>
                <a14:m>
                  <m:oMath xmlns:m="http://schemas.openxmlformats.org/officeDocument/2006/math">
                    <m:r>
                      <a:rPr lang="en-US" sz="1400" b="1" i="1" smtClean="0">
                        <a:solidFill>
                          <a:schemeClr val="accent4">
                            <a:lumMod val="50000"/>
                          </a:schemeClr>
                        </a:solidFill>
                        <a:latin typeface="Cambria Math" panose="02040503050406030204" pitchFamily="18" charset="0"/>
                        <a:ea typeface="Cambria Math" panose="02040503050406030204" pitchFamily="18" charset="0"/>
                      </a:rPr>
                      <m:t>𝟏𝟔</m:t>
                    </m:r>
                  </m:oMath>
                </a14:m>
                <a:r>
                  <a:rPr lang="en-US" sz="1400" b="1">
                    <a:solidFill>
                      <a:schemeClr val="accent4">
                        <a:lumMod val="50000"/>
                      </a:schemeClr>
                    </a:solidFill>
                  </a:rPr>
                  <a:t>	</a:t>
                </a:r>
                <a:r>
                  <a:rPr lang="en-US" sz="1400"/>
                  <a:t>	🟦🟦🟦🟦🟦🟦🟦🟦🟦⬜️⬜️⬜️⬜️⬜️⬜️⬜️🐢</a:t>
                </a:r>
              </a:p>
              <a:p>
                <a:pPr lvl="2"/>
                <a:r>
                  <a:rPr lang="en-US" sz="1400"/>
                  <a:t> 		</a:t>
                </a:r>
                <a:r>
                  <a:rPr lang="en-US" sz="1400">
                    <a:solidFill>
                      <a:schemeClr val="bg1">
                        <a:lumMod val="75000"/>
                      </a:schemeClr>
                    </a:solidFill>
                  </a:rPr>
                  <a:t>		</a:t>
                </a:r>
                <a14:m>
                  <m:oMath xmlns:m="http://schemas.openxmlformats.org/officeDocument/2006/math">
                    <m:r>
                      <a:rPr lang="en-US" sz="1400" b="0" i="0" smtClean="0">
                        <a:solidFill>
                          <a:schemeClr val="bg1">
                            <a:lumMod val="75000"/>
                          </a:schemeClr>
                        </a:solidFill>
                        <a:latin typeface="Cambria Math" panose="02040503050406030204" pitchFamily="18" charset="0"/>
                        <a:ea typeface="Cambria Math" panose="02040503050406030204" pitchFamily="18" charset="0"/>
                      </a:rPr>
                      <m:t>…</m:t>
                    </m:r>
                  </m:oMath>
                </a14:m>
                <a:endParaRPr lang="en-US" sz="1400">
                  <a:solidFill>
                    <a:schemeClr val="bg1">
                      <a:lumMod val="75000"/>
                    </a:schemeClr>
                  </a:solidFill>
                </a:endParaRPr>
              </a:p>
              <a:p>
                <a:pPr lvl="2"/>
                <a:r>
                  <a:rPr lang="en-US" sz="1400">
                    <a:solidFill>
                      <a:schemeClr val="bg1">
                        <a:lumMod val="75000"/>
                      </a:schemeClr>
                    </a:solidFill>
                  </a:rPr>
                  <a:t> 				</a:t>
                </a:r>
                <a14:m>
                  <m:oMath xmlns:m="http://schemas.openxmlformats.org/officeDocument/2006/math">
                    <m:r>
                      <a:rPr lang="en-US" sz="1400" b="0" i="1" smtClean="0">
                        <a:solidFill>
                          <a:schemeClr val="bg1">
                            <a:lumMod val="75000"/>
                          </a:schemeClr>
                        </a:solidFill>
                        <a:latin typeface="Cambria Math" panose="02040503050406030204" pitchFamily="18" charset="0"/>
                      </a:rPr>
                      <m:t>1</m:t>
                    </m:r>
                  </m:oMath>
                </a14:m>
                <a:r>
                  <a:rPr lang="en-US" sz="1400" i="1">
                    <a:solidFill>
                      <a:schemeClr val="bg1">
                        <a:lumMod val="75000"/>
                      </a:schemeClr>
                    </a:solidFill>
                  </a:rPr>
                  <a:t>	</a:t>
                </a:r>
                <a:r>
                  <a:rPr lang="en-US" sz="1400" i="1"/>
                  <a:t>	</a:t>
                </a:r>
                <a:r>
                  <a:rPr lang="en-US" sz="1400"/>
                  <a:t>🟦🟦🟦🟦🟦🟦🟦🟦🟦🟦🟦🟦🟦🟦🟦🟦... 🟦🟦🟦🟦</a:t>
                </a:r>
                <a:endParaRPr lang="en-US" sz="1400" i="1"/>
              </a:p>
            </p:txBody>
          </p:sp>
        </mc:Choice>
        <mc:Fallback xmlns="">
          <p:sp>
            <p:nvSpPr>
              <p:cNvPr id="4" name="Content Placeholder 3">
                <a:extLst>
                  <a:ext uri="{FF2B5EF4-FFF2-40B4-BE49-F238E27FC236}">
                    <a16:creationId xmlns:a16="http://schemas.microsoft.com/office/drawing/2014/main" id="{F529C5FB-A964-D98E-99A2-99CD1BB7818E}"/>
                  </a:ext>
                </a:extLst>
              </p:cNvPr>
              <p:cNvSpPr>
                <a:spLocks noGrp="1" noRot="1" noChangeAspect="1" noMove="1" noResize="1" noEditPoints="1" noAdjustHandles="1" noChangeArrowheads="1" noChangeShapeType="1" noTextEdit="1"/>
              </p:cNvSpPr>
              <p:nvPr>
                <p:ph sz="quarter" idx="10"/>
              </p:nvPr>
            </p:nvSpPr>
            <p:spPr>
              <a:blipFill>
                <a:blip r:embed="rId2"/>
                <a:stretch>
                  <a:fillRect l="-617" t="-621" b="-1242"/>
                </a:stretch>
              </a:blipFill>
            </p:spPr>
            <p:txBody>
              <a:bodyPr/>
              <a:lstStyle/>
              <a:p>
                <a:r>
                  <a:rPr lang="en-US">
                    <a:noFill/>
                  </a:rPr>
                  <a:t> </a:t>
                </a:r>
              </a:p>
            </p:txBody>
          </p:sp>
        </mc:Fallback>
      </mc:AlternateContent>
    </p:spTree>
    <p:extLst>
      <p:ext uri="{BB962C8B-B14F-4D97-AF65-F5344CB8AC3E}">
        <p14:creationId xmlns:p14="http://schemas.microsoft.com/office/powerpoint/2010/main" val="12194702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17602-E2F7-502B-4CAA-56C48CDA2C0E}"/>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6B36733-9154-4ADA-3960-7436192D4E94}"/>
              </a:ext>
            </a:extLst>
          </p:cNvPr>
          <p:cNvSpPr>
            <a:spLocks noGrp="1"/>
          </p:cNvSpPr>
          <p:nvPr>
            <p:ph sz="quarter" idx="4294967295"/>
          </p:nvPr>
        </p:nvSpPr>
        <p:spPr>
          <a:xfrm>
            <a:off x="-415820" y="31900"/>
            <a:ext cx="8835656" cy="5139182"/>
          </a:xfrm>
        </p:spPr>
        <p:txBody>
          <a:bodyPr>
            <a:noAutofit/>
          </a:bodyPr>
          <a:lstStyle/>
          <a:p>
            <a:pPr marL="0" indent="0">
              <a:buNone/>
            </a:pPr>
            <a:r>
              <a:rPr lang="en-US" sz="1200"/>
              <a:t>		⬜️</a:t>
            </a:r>
          </a:p>
          <a:p>
            <a:pPr marL="685772" lvl="2" indent="0">
              <a:buNone/>
            </a:pPr>
            <a:r>
              <a:rPr lang="en-US" sz="1200"/>
              <a:t>🟦</a:t>
            </a:r>
          </a:p>
          <a:p>
            <a:pPr marL="685772" lvl="2" indent="0">
              <a:buNone/>
            </a:pPr>
            <a:r>
              <a:rPr lang="en-US" sz="1200"/>
              <a:t>🟦🟦🐢</a:t>
            </a:r>
          </a:p>
          <a:p>
            <a:pPr marL="685772" lvl="2" indent="0">
              <a:buNone/>
            </a:pPr>
            <a:r>
              <a:rPr lang="en-US" sz="1200"/>
              <a:t>🟦🟦🟦⬜️🐢</a:t>
            </a:r>
          </a:p>
          <a:p>
            <a:pPr marL="685772" lvl="2" indent="0">
              <a:buNone/>
            </a:pPr>
            <a:r>
              <a:rPr lang="en-US" sz="1200"/>
              <a:t>🟦🟦🟦🟦</a:t>
            </a:r>
          </a:p>
          <a:p>
            <a:pPr marL="685772" lvl="2" indent="0">
              <a:buNone/>
            </a:pPr>
            <a:r>
              <a:rPr lang="en-US" sz="1200"/>
              <a:t>🟦🟦🟦🟦🟦⬜️⬜️⬜️🐢</a:t>
            </a:r>
          </a:p>
          <a:p>
            <a:pPr marL="685772" lvl="2" indent="0">
              <a:buNone/>
            </a:pPr>
            <a:r>
              <a:rPr lang="en-US" sz="1200"/>
              <a:t>🟦🟦🟦🟦🟦🟦⬜️⬜️</a:t>
            </a:r>
          </a:p>
          <a:p>
            <a:pPr marL="685772" lvl="2" indent="0">
              <a:buNone/>
            </a:pPr>
            <a:r>
              <a:rPr lang="en-US" sz="1200"/>
              <a:t>🟦🟦🟦🟦🟦🟦🟦⬜️</a:t>
            </a:r>
          </a:p>
          <a:p>
            <a:pPr marL="685772" lvl="2" indent="0">
              <a:buNone/>
            </a:pPr>
            <a:r>
              <a:rPr lang="en-US" sz="1200"/>
              <a:t>🟦🟦🟦🟦🟦🟦🟦🟦</a:t>
            </a:r>
          </a:p>
          <a:p>
            <a:pPr marL="685772" lvl="2" indent="0">
              <a:buNone/>
            </a:pPr>
            <a:r>
              <a:rPr lang="en-US" sz="1200"/>
              <a:t>🟦🟦🟦🟦🟦🟦🟦🟦🟦⬜️⬜️⬜️⬜️⬜️⬜️⬜️🐢</a:t>
            </a:r>
          </a:p>
          <a:p>
            <a:pPr marL="685772" lvl="2" indent="0">
              <a:buNone/>
            </a:pPr>
            <a:r>
              <a:rPr lang="en-US" sz="1200"/>
              <a:t>🟦🟦🟦🟦🟦🟦🟦🟦🟦🟦⬜️⬜️⬜️⬜️⬜️⬜️</a:t>
            </a:r>
          </a:p>
          <a:p>
            <a:pPr marL="685772" lvl="2" indent="0">
              <a:buNone/>
            </a:pPr>
            <a:r>
              <a:rPr lang="en-US" sz="1200"/>
              <a:t>🟦🟦🟦🟦🟦🟦🟦🟦🟦🟦🟦⬜️⬜️⬜️⬜️⬜️</a:t>
            </a:r>
          </a:p>
          <a:p>
            <a:pPr marL="685772" lvl="2" indent="0">
              <a:buNone/>
            </a:pPr>
            <a:r>
              <a:rPr lang="en-US" sz="1200"/>
              <a:t>🟦🟦🟦🟦🟦🟦🟦🟦🟦🟦🟦🟦⬜️⬜️⬜️⬜️</a:t>
            </a:r>
          </a:p>
          <a:p>
            <a:pPr marL="685772" lvl="2" indent="0">
              <a:buNone/>
            </a:pPr>
            <a:r>
              <a:rPr lang="en-US" sz="1200"/>
              <a:t>🟦🟦🟦🟦🟦🟦🟦🟦🟦🟦🟦🟦🟦⬜️⬜️⬜️</a:t>
            </a:r>
          </a:p>
          <a:p>
            <a:pPr marL="685772" lvl="2" indent="0">
              <a:buNone/>
            </a:pPr>
            <a:r>
              <a:rPr lang="en-US" sz="1200"/>
              <a:t>🟦🟦🟦🟦🟦🟦🟦🟦🟦🟦🟦🟦🟦🟦⬜️⬜️</a:t>
            </a:r>
          </a:p>
          <a:p>
            <a:pPr marL="685772" lvl="2" indent="0">
              <a:buNone/>
            </a:pPr>
            <a:r>
              <a:rPr lang="en-US" sz="1200"/>
              <a:t>🟦🟦🟦🟦🟦🟦🟦🟦🟦🟦🟦🟦🟦🟦🟦⬜️</a:t>
            </a:r>
          </a:p>
          <a:p>
            <a:pPr marL="685772" lvl="2" indent="0">
              <a:buNone/>
            </a:pPr>
            <a:r>
              <a:rPr lang="en-US" sz="1200"/>
              <a:t>🟦🟦🟦🟦🟦🟦🟦🟦🟦🟦🟦🟦🟦🟦🟦🟦</a:t>
            </a:r>
          </a:p>
          <a:p>
            <a:pPr marL="685772" lvl="2" indent="0">
              <a:buNone/>
            </a:pPr>
            <a:r>
              <a:rPr lang="en-US" sz="1200"/>
              <a:t>🟦🟦🟦🟦🟦🟦🟦🟦🟦🟦🟦🟦🟦🟦🟦🟦🟦⬜️⬜️⬜️⬜️⬜️⬜️⬜️⬜️⬜️⬜️⬜️⬜️⬜️⬜️⬜️ 🐢</a:t>
            </a:r>
          </a:p>
          <a:p>
            <a:pPr marL="685772" lvl="2" indent="0">
              <a:buNone/>
            </a:pPr>
            <a:r>
              <a:rPr lang="en-US" sz="1200"/>
              <a:t>🟦🟦🟦🟦🟦🟦🟦🟦🟦🟦🟦🟦🟦🟦🟦🟦🟦🟦⬜️⬜️⬜️⬜️⬜️⬜️⬜️⬜️⬜️⬜️⬜️⬜️⬜️⬜️ </a:t>
            </a:r>
          </a:p>
          <a:p>
            <a:pPr marL="685772" lvl="2" indent="0">
              <a:buNone/>
            </a:pPr>
            <a:r>
              <a:rPr lang="en-US" sz="1200"/>
              <a:t>🟦🟦🟦🟦🟦🟦🟦🟦🟦🟦🟦🟦🟦🟦🟦🟦🟦🟦🟦⬜️⬜️⬜️⬜️⬜️⬜️⬜️⬜️⬜️⬜️⬜️⬜️⬜️ </a:t>
            </a:r>
          </a:p>
          <a:p>
            <a:pPr marL="685772" lvl="2" indent="0">
              <a:buNone/>
            </a:pPr>
            <a:r>
              <a:rPr lang="en-US" sz="1200"/>
              <a:t>🟦🟦🟦🟦🟦🟦🟦🟦🟦🟦🟦🟦🟦🟦🟦🟦🟦🟦🟦🟦⬜️⬜️⬜️⬜️⬜️⬜️⬜️⬜️⬜️⬜️⬜️⬜️ </a:t>
            </a:r>
          </a:p>
          <a:p>
            <a:pPr marL="685772" lvl="2" indent="0">
              <a:buNone/>
            </a:pPr>
            <a:r>
              <a:rPr lang="en-US" sz="1200"/>
              <a:t>🟦🟦🟦🟦🟦🟦🟦🟦🟦🟦🟦🟦🟦🟦🟦🟦🟦🟦🟦🟦🟦⬜️⬜️⬜️⬜️⬜️⬜️⬜️⬜️⬜️⬜️⬜️ </a:t>
            </a:r>
          </a:p>
          <a:p>
            <a:pPr marL="685772" lvl="2" indent="0">
              <a:buNone/>
            </a:pPr>
            <a:r>
              <a:rPr lang="en-US" sz="1200"/>
              <a:t>🟦🟦🟦🟦🟦🟦🟦🟦🟦🟦🟦🟦🟦🟦🟦🟦🟦🟦🟦🟦🟦🟦⬜️⬜️⬜️⬜️⬜️⬜️⬜️⬜️⬜️⬜️ </a:t>
            </a:r>
          </a:p>
          <a:p>
            <a:pPr marL="685772" lvl="2" indent="0">
              <a:buNone/>
            </a:pPr>
            <a:endParaRPr lang="en-US" sz="1200"/>
          </a:p>
          <a:p>
            <a:pPr marL="685772" lvl="2" indent="0">
              <a:buNone/>
            </a:pPr>
            <a:endParaRPr lang="en-US" sz="1200"/>
          </a:p>
        </p:txBody>
      </p:sp>
      <p:sp>
        <p:nvSpPr>
          <p:cNvPr id="3" name="TextBox 2">
            <a:extLst>
              <a:ext uri="{FF2B5EF4-FFF2-40B4-BE49-F238E27FC236}">
                <a16:creationId xmlns:a16="http://schemas.microsoft.com/office/drawing/2014/main" id="{F9D6D41F-23E1-4FA1-9B75-372D47B4A37A}"/>
              </a:ext>
            </a:extLst>
          </p:cNvPr>
          <p:cNvSpPr txBox="1"/>
          <p:nvPr/>
        </p:nvSpPr>
        <p:spPr>
          <a:xfrm>
            <a:off x="-8238" y="15427"/>
            <a:ext cx="423180" cy="5224507"/>
          </a:xfrm>
          <a:prstGeom prst="rect">
            <a:avLst/>
          </a:prstGeom>
          <a:noFill/>
        </p:spPr>
        <p:txBody>
          <a:bodyPr wrap="square">
            <a:spAutoFit/>
          </a:bodyPr>
          <a:lstStyle/>
          <a:p>
            <a:pPr algn="ctr">
              <a:spcAft>
                <a:spcPts val="40"/>
              </a:spcAft>
            </a:pPr>
            <a:r>
              <a:rPr lang="en-US" sz="1440">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1440">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1440" b="1">
                <a:solidFill>
                  <a:schemeClr val="accent4">
                    <a:lumMod val="50000"/>
                  </a:schemeClr>
                </a:solidFill>
                <a:latin typeface="Consolas" panose="020B0609020204030204" pitchFamily="49" charset="0"/>
                <a:cs typeface="Consolas" panose="020B0609020204030204" pitchFamily="49" charset="0"/>
              </a:rPr>
              <a:t>2</a:t>
            </a:r>
          </a:p>
          <a:p>
            <a:pPr algn="ctr">
              <a:spcAft>
                <a:spcPts val="40"/>
              </a:spcAft>
            </a:pPr>
            <a:r>
              <a:rPr lang="en-US" sz="1440" b="1">
                <a:solidFill>
                  <a:schemeClr val="accent4">
                    <a:lumMod val="50000"/>
                  </a:schemeClr>
                </a:solidFill>
                <a:latin typeface="Consolas" panose="020B0609020204030204" pitchFamily="49" charset="0"/>
                <a:cs typeface="Consolas" panose="020B0609020204030204" pitchFamily="49" charset="0"/>
              </a:rPr>
              <a:t>4</a:t>
            </a:r>
          </a:p>
          <a:p>
            <a:pPr algn="ctr">
              <a:spcAft>
                <a:spcPts val="40"/>
              </a:spcAft>
            </a:pPr>
            <a:r>
              <a:rPr lang="en-US" sz="1440">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1440" b="1">
                <a:solidFill>
                  <a:schemeClr val="accent4">
                    <a:lumMod val="50000"/>
                  </a:schemeClr>
                </a:solidFill>
                <a:latin typeface="Consolas" panose="020B0609020204030204" pitchFamily="49" charset="0"/>
                <a:cs typeface="Consolas" panose="020B0609020204030204" pitchFamily="49" charset="0"/>
              </a:rPr>
              <a:t>8</a:t>
            </a:r>
          </a:p>
          <a:p>
            <a:pPr algn="ctr">
              <a:spcAft>
                <a:spcPts val="40"/>
              </a:spcAft>
            </a:pPr>
            <a:r>
              <a:rPr lang="en-US" sz="1440">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1440">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1440">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1440" b="1">
                <a:solidFill>
                  <a:schemeClr val="accent4">
                    <a:lumMod val="50000"/>
                  </a:schemeClr>
                </a:solidFill>
                <a:latin typeface="Consolas" panose="020B0609020204030204" pitchFamily="49" charset="0"/>
                <a:cs typeface="Consolas" panose="020B0609020204030204" pitchFamily="49" charset="0"/>
              </a:rPr>
              <a:t>16</a:t>
            </a:r>
          </a:p>
          <a:p>
            <a:pPr algn="ctr">
              <a:spcAft>
                <a:spcPts val="40"/>
              </a:spcAft>
            </a:pPr>
            <a:r>
              <a:rPr lang="en-US" sz="1440">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1440">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1440">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1440">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1440">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1440">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1440">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1440" b="1">
                <a:solidFill>
                  <a:schemeClr val="accent4">
                    <a:lumMod val="50000"/>
                  </a:schemeClr>
                </a:solidFill>
                <a:latin typeface="Consolas" panose="020B0609020204030204" pitchFamily="49" charset="0"/>
                <a:cs typeface="Consolas" panose="020B0609020204030204" pitchFamily="49" charset="0"/>
              </a:rPr>
              <a:t>32</a:t>
            </a:r>
          </a:p>
          <a:p>
            <a:pPr algn="ctr">
              <a:spcAft>
                <a:spcPts val="40"/>
              </a:spcAft>
            </a:pPr>
            <a:r>
              <a:rPr lang="en-US" sz="1440">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1440">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1440">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1440">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1440">
                <a:solidFill>
                  <a:schemeClr val="bg1">
                    <a:lumMod val="75000"/>
                  </a:schemeClr>
                </a:solidFill>
                <a:latin typeface="Consolas" panose="020B0609020204030204" pitchFamily="49" charset="0"/>
                <a:cs typeface="Consolas" panose="020B0609020204030204" pitchFamily="49" charset="0"/>
              </a:rPr>
              <a:t>1</a:t>
            </a:r>
          </a:p>
        </p:txBody>
      </p:sp>
      <p:sp>
        <p:nvSpPr>
          <p:cNvPr id="5" name="TextBox 4">
            <a:extLst>
              <a:ext uri="{FF2B5EF4-FFF2-40B4-BE49-F238E27FC236}">
                <a16:creationId xmlns:a16="http://schemas.microsoft.com/office/drawing/2014/main" id="{FD5CBE03-4395-E70F-2A21-11921880C2C7}"/>
              </a:ext>
            </a:extLst>
          </p:cNvPr>
          <p:cNvSpPr txBox="1"/>
          <p:nvPr/>
        </p:nvSpPr>
        <p:spPr>
          <a:xfrm>
            <a:off x="6839817" y="3686658"/>
            <a:ext cx="423180" cy="369332"/>
          </a:xfrm>
          <a:prstGeom prst="rect">
            <a:avLst/>
          </a:prstGeom>
          <a:solidFill>
            <a:schemeClr val="bg1"/>
          </a:solidFill>
        </p:spPr>
        <p:txBody>
          <a:bodyPr wrap="square">
            <a:spAutoFit/>
          </a:bodyPr>
          <a:lstStyle/>
          <a:p>
            <a:r>
              <a:rPr kumimoji="0" lang="en-US"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sz="2800"/>
          </a:p>
        </p:txBody>
      </p:sp>
    </p:spTree>
    <p:extLst>
      <p:ext uri="{BB962C8B-B14F-4D97-AF65-F5344CB8AC3E}">
        <p14:creationId xmlns:p14="http://schemas.microsoft.com/office/powerpoint/2010/main" val="106889052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BB7D6D-9187-A651-4BD3-0CC4FBEAD194}"/>
              </a:ext>
            </a:extLst>
          </p:cNvPr>
          <p:cNvPicPr>
            <a:picLocks noChangeAspect="1"/>
          </p:cNvPicPr>
          <p:nvPr/>
        </p:nvPicPr>
        <p:blipFill rotWithShape="1">
          <a:blip r:embed="rId2"/>
          <a:srcRect l="7463" t="-145" r="41492" b="37573"/>
          <a:stretch/>
        </p:blipFill>
        <p:spPr>
          <a:xfrm>
            <a:off x="0" y="0"/>
            <a:ext cx="5970775" cy="5378928"/>
          </a:xfrm>
          <a:prstGeom prst="rect">
            <a:avLst/>
          </a:prstGeom>
        </p:spPr>
      </p:pic>
      <p:sp>
        <p:nvSpPr>
          <p:cNvPr id="5" name="TextBox 4">
            <a:extLst>
              <a:ext uri="{FF2B5EF4-FFF2-40B4-BE49-F238E27FC236}">
                <a16:creationId xmlns:a16="http://schemas.microsoft.com/office/drawing/2014/main" id="{37BECA6E-BE79-B012-F3AB-16D229C753AD}"/>
              </a:ext>
            </a:extLst>
          </p:cNvPr>
          <p:cNvSpPr txBox="1"/>
          <p:nvPr/>
        </p:nvSpPr>
        <p:spPr>
          <a:xfrm>
            <a:off x="-91440" y="3345"/>
            <a:ext cx="313038" cy="5355312"/>
          </a:xfrm>
          <a:prstGeom prst="rect">
            <a:avLst/>
          </a:prstGeom>
          <a:noFill/>
        </p:spPr>
        <p:txBody>
          <a:bodyPr wrap="square">
            <a:spAutoFit/>
          </a:bodyPr>
          <a:lstStyle/>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b="1">
                <a:solidFill>
                  <a:schemeClr val="accent4">
                    <a:lumMod val="50000"/>
                  </a:schemeClr>
                </a:solidFill>
                <a:latin typeface="Consolas" panose="020B0609020204030204" pitchFamily="49" charset="0"/>
                <a:cs typeface="Consolas" panose="020B0609020204030204" pitchFamily="49" charset="0"/>
              </a:rPr>
              <a:t>2</a:t>
            </a:r>
          </a:p>
          <a:p>
            <a:pPr algn="ctr">
              <a:spcAft>
                <a:spcPts val="40"/>
              </a:spcAft>
            </a:pPr>
            <a:r>
              <a:rPr lang="en-US" sz="595" b="1">
                <a:solidFill>
                  <a:schemeClr val="accent4">
                    <a:lumMod val="50000"/>
                  </a:schemeClr>
                </a:solidFill>
                <a:latin typeface="Consolas" panose="020B0609020204030204" pitchFamily="49" charset="0"/>
                <a:cs typeface="Consolas" panose="020B0609020204030204" pitchFamily="49" charset="0"/>
              </a:rPr>
              <a:t>4</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b="1">
                <a:solidFill>
                  <a:schemeClr val="accent4">
                    <a:lumMod val="50000"/>
                  </a:schemeClr>
                </a:solidFill>
                <a:latin typeface="Consolas" panose="020B0609020204030204" pitchFamily="49" charset="0"/>
                <a:cs typeface="Consolas" panose="020B0609020204030204" pitchFamily="49" charset="0"/>
              </a:rPr>
              <a:t>8</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b="1">
                <a:solidFill>
                  <a:schemeClr val="accent4">
                    <a:lumMod val="50000"/>
                  </a:schemeClr>
                </a:solidFill>
                <a:latin typeface="Consolas" panose="020B0609020204030204" pitchFamily="49" charset="0"/>
                <a:cs typeface="Consolas" panose="020B0609020204030204" pitchFamily="49" charset="0"/>
              </a:rPr>
              <a:t>16</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b="1">
                <a:solidFill>
                  <a:schemeClr val="accent4">
                    <a:lumMod val="50000"/>
                  </a:schemeClr>
                </a:solidFill>
                <a:latin typeface="Consolas" panose="020B0609020204030204" pitchFamily="49" charset="0"/>
                <a:cs typeface="Consolas" panose="020B0609020204030204" pitchFamily="49" charset="0"/>
              </a:rPr>
              <a:t>32</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b="1">
                <a:solidFill>
                  <a:schemeClr val="accent4">
                    <a:lumMod val="50000"/>
                  </a:schemeClr>
                </a:solidFill>
                <a:latin typeface="Consolas" panose="020B0609020204030204" pitchFamily="49" charset="0"/>
                <a:cs typeface="Consolas" panose="020B0609020204030204" pitchFamily="49" charset="0"/>
              </a:rPr>
              <a:t>64</a:t>
            </a:r>
            <a:endParaRPr lang="en-US" sz="595">
              <a:solidFill>
                <a:schemeClr val="bg1">
                  <a:lumMod val="75000"/>
                </a:schemeClr>
              </a:solidFill>
              <a:latin typeface="Consolas" panose="020B0609020204030204" pitchFamily="49" charset="0"/>
              <a:cs typeface="Consolas" panose="020B0609020204030204" pitchFamily="49" charset="0"/>
            </a:endParaRP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a:p>
            <a:pPr algn="ctr">
              <a:spcAft>
                <a:spcPts val="40"/>
              </a:spcAft>
            </a:pPr>
            <a:r>
              <a:rPr lang="en-US" sz="595">
                <a:solidFill>
                  <a:schemeClr val="bg1">
                    <a:lumMod val="75000"/>
                  </a:schemeClr>
                </a:solidFill>
                <a:latin typeface="Consolas" panose="020B0609020204030204" pitchFamily="49" charset="0"/>
                <a:cs typeface="Consolas" panose="020B0609020204030204" pitchFamily="49" charset="0"/>
              </a:rPr>
              <a:t>1</a:t>
            </a:r>
          </a:p>
        </p:txBody>
      </p:sp>
    </p:spTree>
    <p:extLst>
      <p:ext uri="{BB962C8B-B14F-4D97-AF65-F5344CB8AC3E}">
        <p14:creationId xmlns:p14="http://schemas.microsoft.com/office/powerpoint/2010/main" val="230473848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03E63-97CA-2DEB-A603-D229A806DB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B9E051-5F7D-1CEE-8783-AC76A244E6BD}"/>
              </a:ext>
            </a:extLst>
          </p:cNvPr>
          <p:cNvSpPr>
            <a:spLocks noGrp="1"/>
          </p:cNvSpPr>
          <p:nvPr>
            <p:ph type="title"/>
          </p:nvPr>
        </p:nvSpPr>
        <p:spPr/>
        <p:txBody>
          <a:bodyPr/>
          <a:lstStyle/>
          <a:p>
            <a:r>
              <a:rPr lang="en-US" b="1"/>
              <a:t>amortized runtime</a:t>
            </a:r>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D7683A9-63DA-7631-C351-F967BC8445EA}"/>
                  </a:ext>
                </a:extLst>
              </p:cNvPr>
              <p:cNvSpPr>
                <a:spLocks noGrp="1"/>
              </p:cNvSpPr>
              <p:nvPr>
                <p:ph sz="quarter" idx="10"/>
              </p:nvPr>
            </p:nvSpPr>
            <p:spPr/>
            <p:txBody>
              <a:bodyPr/>
              <a:lstStyle/>
              <a:p>
                <a:r>
                  <a:rPr lang="en-US"/>
                  <a:t>the </a:t>
                </a:r>
                <a:r>
                  <a:rPr lang="en-US" b="1"/>
                  <a:t>amortized runtime </a:t>
                </a:r>
                <a:r>
                  <a:rPr lang="en-US"/>
                  <a:t>is how long a function takes (on average)</a:t>
                </a:r>
                <a:br>
                  <a:rPr lang="en-US"/>
                </a:br>
                <a:r>
                  <a:rPr lang="en-US"/>
                  <a:t>"in the long run" </a:t>
                </a:r>
              </a:p>
              <a:p>
                <a:pPr lvl="1"/>
                <a:r>
                  <a:rPr lang="en-US"/>
                  <a:t>for adding an element to the back of an array list...</a:t>
                </a:r>
                <a:endParaRPr lang="en-US" i="1">
                  <a:latin typeface="Cambria Math" panose="02040503050406030204" pitchFamily="18" charset="0"/>
                  <a:ea typeface="Cambria Math" panose="02040503050406030204" pitchFamily="18" charset="0"/>
                </a:endParaRPr>
              </a:p>
              <a:p>
                <a:pPr lvl="2"/>
                <a14:m>
                  <m:oMath xmlns:m="http://schemas.openxmlformats.org/officeDocument/2006/math">
                    <m:f>
                      <m:fPr>
                        <m:ctrlPr>
                          <a:rPr lang="en-US" sz="2400" i="1">
                            <a:solidFill>
                              <a:schemeClr val="bg2"/>
                            </a:solidFill>
                            <a:latin typeface="Cambria Math" panose="02040503050406030204" pitchFamily="18" charset="0"/>
                            <a:ea typeface="Cambria Math" panose="02040503050406030204" pitchFamily="18" charset="0"/>
                          </a:rPr>
                        </m:ctrlPr>
                      </m:fPr>
                      <m:num>
                        <m:r>
                          <a:rPr lang="en-US" sz="2400" i="1">
                            <a:solidFill>
                              <a:schemeClr val="bg2"/>
                            </a:solidFill>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r>
                          <a:rPr lang="en-US" sz="2400" i="1">
                            <a:solidFill>
                              <a:srgbClr val="007B00"/>
                            </a:solidFill>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m:t>
                        </m:r>
                        <m:r>
                          <a:rPr lang="en-US" sz="2400" i="1">
                            <a:solidFill>
                              <a:srgbClr val="007B00"/>
                            </a:solidFill>
                            <a:latin typeface="Cambria Math" panose="02040503050406030204" pitchFamily="18" charset="0"/>
                            <a:ea typeface="Cambria Math" panose="02040503050406030204" pitchFamily="18" charset="0"/>
                          </a:rPr>
                          <m:t>4</m:t>
                        </m:r>
                        <m:r>
                          <a:rPr lang="en-US" sz="2400" i="1">
                            <a:latin typeface="Cambria Math" panose="02040503050406030204" pitchFamily="18" charset="0"/>
                            <a:ea typeface="Cambria Math" panose="02040503050406030204" pitchFamily="18" charset="0"/>
                          </a:rPr>
                          <m:t>+</m:t>
                        </m:r>
                        <m:r>
                          <a:rPr lang="en-US" sz="2400" i="1">
                            <a:solidFill>
                              <a:schemeClr val="bg2"/>
                            </a:solidFill>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r>
                          <a:rPr lang="en-US" sz="2400" i="1">
                            <a:solidFill>
                              <a:srgbClr val="007B00"/>
                            </a:solidFill>
                            <a:latin typeface="Cambria Math" panose="02040503050406030204" pitchFamily="18" charset="0"/>
                            <a:ea typeface="Cambria Math" panose="02040503050406030204" pitchFamily="18" charset="0"/>
                          </a:rPr>
                          <m:t>8</m:t>
                        </m:r>
                        <m:r>
                          <a:rPr lang="en-US" sz="2400" i="1">
                            <a:latin typeface="Cambria Math" panose="02040503050406030204" pitchFamily="18" charset="0"/>
                            <a:ea typeface="Cambria Math" panose="02040503050406030204" pitchFamily="18" charset="0"/>
                          </a:rPr>
                          <m:t>+</m:t>
                        </m:r>
                        <m:r>
                          <a:rPr lang="en-US" sz="2400" i="1">
                            <a:solidFill>
                              <a:schemeClr val="bg2"/>
                            </a:solidFill>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r>
                          <a:rPr lang="en-US" sz="2400" i="1">
                            <a:solidFill>
                              <a:schemeClr val="bg2"/>
                            </a:solidFill>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r>
                          <a:rPr lang="en-US" sz="2400" i="1">
                            <a:solidFill>
                              <a:schemeClr val="bg2"/>
                            </a:solidFill>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r>
                          <a:rPr lang="en-US" sz="2400" i="1">
                            <a:solidFill>
                              <a:srgbClr val="007B00"/>
                            </a:solidFill>
                            <a:latin typeface="Cambria Math" panose="02040503050406030204" pitchFamily="18" charset="0"/>
                            <a:ea typeface="Cambria Math" panose="02040503050406030204" pitchFamily="18" charset="0"/>
                          </a:rPr>
                          <m:t>16</m:t>
                        </m:r>
                        <m:r>
                          <a:rPr lang="en-US" sz="2400" i="1">
                            <a:latin typeface="Cambria Math" panose="02040503050406030204" pitchFamily="18" charset="0"/>
                            <a:ea typeface="Cambria Math" panose="02040503050406030204" pitchFamily="18" charset="0"/>
                          </a:rPr>
                          <m:t>+</m:t>
                        </m:r>
                        <m:r>
                          <a:rPr lang="en-US" sz="2400" b="0" i="1" smtClean="0">
                            <a:solidFill>
                              <a:schemeClr val="bg2"/>
                            </a:solidFill>
                            <a:latin typeface="Cambria Math" panose="02040503050406030204" pitchFamily="18" charset="0"/>
                            <a:ea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m:t>
                        </m:r>
                        <m:r>
                          <a:rPr lang="en-US" sz="2400" b="0" i="1" smtClean="0">
                            <a:solidFill>
                              <a:schemeClr val="bg2"/>
                            </a:solidFill>
                            <a:latin typeface="Cambria Math" panose="02040503050406030204" pitchFamily="18" charset="0"/>
                            <a:ea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m:t>
                        </m:r>
                        <m:r>
                          <a:rPr lang="en-US" sz="2400" b="0" i="1" smtClean="0">
                            <a:solidFill>
                              <a:schemeClr val="bg2"/>
                            </a:solidFill>
                            <a:latin typeface="Cambria Math" panose="02040503050406030204" pitchFamily="18" charset="0"/>
                            <a:ea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m:t>
                        </m:r>
                        <m:r>
                          <a:rPr lang="en-US" sz="2400" i="1">
                            <a:solidFill>
                              <a:schemeClr val="bg2"/>
                            </a:solidFill>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r>
                          <a:rPr lang="en-US" sz="2400" i="1">
                            <a:solidFill>
                              <a:schemeClr val="bg2"/>
                            </a:solidFill>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r>
                          <a:rPr lang="en-US" sz="2400" i="1">
                            <a:solidFill>
                              <a:schemeClr val="bg2"/>
                            </a:solidFill>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r>
                          <a:rPr lang="en-US" sz="2400" i="1">
                            <a:solidFill>
                              <a:schemeClr val="bg2"/>
                            </a:solidFill>
                            <a:latin typeface="Cambria Math" panose="02040503050406030204" pitchFamily="18" charset="0"/>
                            <a:ea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m:t>
                        </m:r>
                        <m:r>
                          <a:rPr lang="en-US" sz="2400" b="0" i="1" smtClean="0">
                            <a:solidFill>
                              <a:srgbClr val="007B00"/>
                            </a:solidFill>
                            <a:latin typeface="Cambria Math" panose="02040503050406030204" pitchFamily="18" charset="0"/>
                            <a:ea typeface="Cambria Math" panose="02040503050406030204" pitchFamily="18" charset="0"/>
                          </a:rPr>
                          <m:t>32</m:t>
                        </m:r>
                        <m:r>
                          <a:rPr lang="en-US" sz="2400" b="0" i="1" smtClean="0">
                            <a:latin typeface="Cambria Math" panose="02040503050406030204" pitchFamily="18" charset="0"/>
                            <a:ea typeface="Cambria Math" panose="02040503050406030204" pitchFamily="18" charset="0"/>
                          </a:rPr>
                          <m:t>+</m:t>
                        </m:r>
                        <m:r>
                          <a:rPr lang="en-US" sz="2400" i="1">
                            <a:solidFill>
                              <a:schemeClr val="bg2"/>
                            </a:solidFill>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r>
                          <a:rPr lang="en-US" sz="2400" i="1">
                            <a:solidFill>
                              <a:schemeClr val="bg2"/>
                            </a:solidFill>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r>
                          <a:rPr lang="en-US" sz="2400" i="1">
                            <a:solidFill>
                              <a:schemeClr val="bg2"/>
                            </a:solidFill>
                            <a:latin typeface="Cambria Math" panose="02040503050406030204" pitchFamily="18" charset="0"/>
                            <a:ea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m:t>
                        </m:r>
                        <m:r>
                          <a:rPr lang="en-US" sz="2400" i="1">
                            <a:solidFill>
                              <a:schemeClr val="bg2"/>
                            </a:solidFill>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r>
                          <a:rPr lang="en-US" sz="2400" i="1">
                            <a:solidFill>
                              <a:schemeClr val="bg2"/>
                            </a:solidFill>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r>
                          <a:rPr lang="en-US" sz="2400" i="1">
                            <a:solidFill>
                              <a:schemeClr val="bg2"/>
                            </a:solidFill>
                            <a:latin typeface="Cambria Math" panose="02040503050406030204" pitchFamily="18" charset="0"/>
                            <a:ea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m:t>
                        </m:r>
                        <m:r>
                          <a:rPr lang="en-US" sz="2400" i="1">
                            <a:solidFill>
                              <a:schemeClr val="bg2"/>
                            </a:solidFill>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r>
                          <a:rPr lang="en-US" sz="2400" i="1">
                            <a:solidFill>
                              <a:schemeClr val="bg2"/>
                            </a:solidFill>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r>
                          <a:rPr lang="en-US" sz="2400" i="1">
                            <a:solidFill>
                              <a:schemeClr val="bg2"/>
                            </a:solidFill>
                            <a:latin typeface="Cambria Math" panose="02040503050406030204" pitchFamily="18" charset="0"/>
                            <a:ea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+1+1+1+1+1+1+…</m:t>
                        </m:r>
                      </m:num>
                      <m:den>
                        <m:r>
                          <a:rPr lang="en-US" sz="2400" b="0" i="1" smtClean="0">
                            <a:latin typeface="Cambria Math" panose="02040503050406030204" pitchFamily="18" charset="0"/>
                            <a:ea typeface="Cambria Math" panose="02040503050406030204" pitchFamily="18" charset="0"/>
                          </a:rPr>
                          <m:t>𝑛</m:t>
                        </m:r>
                      </m:den>
                    </m:f>
                  </m:oMath>
                </a14:m>
                <a:endParaRPr lang="en-US" sz="2400" b="0">
                  <a:ea typeface="Cambria Math" panose="02040503050406030204" pitchFamily="18" charset="0"/>
                </a:endParaRPr>
              </a:p>
              <a:p>
                <a:pPr lvl="2"/>
                <a14:m>
                  <m:oMath xmlns:m="http://schemas.openxmlformats.org/officeDocument/2006/math">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𝒪</m:t>
                        </m:r>
                        <m:d>
                          <m:dPr>
                            <m:ctrlPr>
                              <a:rPr lang="en-US" sz="2400" i="1">
                                <a:solidFill>
                                  <a:schemeClr val="bg2"/>
                                </a:solidFill>
                                <a:latin typeface="Cambria Math" panose="02040503050406030204" pitchFamily="18" charset="0"/>
                                <a:ea typeface="Cambria Math" panose="02040503050406030204" pitchFamily="18" charset="0"/>
                              </a:rPr>
                            </m:ctrlPr>
                          </m:dPr>
                          <m:e>
                            <m:r>
                              <a:rPr lang="en-US" sz="2400" i="1">
                                <a:solidFill>
                                  <a:schemeClr val="bg2"/>
                                </a:solidFill>
                                <a:latin typeface="Cambria Math" panose="02040503050406030204" pitchFamily="18" charset="0"/>
                                <a:ea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m:t>
                            </m:r>
                            <m:r>
                              <a:rPr lang="en-US" sz="2400" i="1">
                                <a:solidFill>
                                  <a:schemeClr val="bg2"/>
                                </a:solidFill>
                                <a:latin typeface="Cambria Math" panose="02040503050406030204" pitchFamily="18" charset="0"/>
                                <a:ea typeface="Cambria Math" panose="02040503050406030204" pitchFamily="18" charset="0"/>
                              </a:rPr>
                              <m:t>1</m:t>
                            </m:r>
                          </m:e>
                        </m:d>
                      </m:num>
                      <m:den>
                        <m:r>
                          <a:rPr lang="en-US" sz="2400" b="0" i="1" smtClean="0">
                            <a:latin typeface="Cambria Math" panose="02040503050406030204" pitchFamily="18" charset="0"/>
                            <a:ea typeface="Cambria Math" panose="02040503050406030204" pitchFamily="18" charset="0"/>
                          </a:rPr>
                          <m:t>𝑛</m:t>
                        </m:r>
                      </m:den>
                    </m:f>
                    <m:r>
                      <a:rPr lang="en-US" sz="2400" b="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𝒪</m:t>
                        </m:r>
                        <m:d>
                          <m:dPr>
                            <m:ctrlPr>
                              <a:rPr lang="en-US" sz="2400" i="1">
                                <a:solidFill>
                                  <a:srgbClr val="007B00"/>
                                </a:solidFill>
                                <a:latin typeface="Cambria Math" panose="02040503050406030204" pitchFamily="18" charset="0"/>
                                <a:ea typeface="Cambria Math" panose="02040503050406030204" pitchFamily="18" charset="0"/>
                              </a:rPr>
                            </m:ctrlPr>
                          </m:dPr>
                          <m:e>
                            <m:r>
                              <a:rPr lang="en-US" sz="2400" i="1">
                                <a:solidFill>
                                  <a:srgbClr val="007B00"/>
                                </a:solidFill>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r>
                              <a:rPr lang="en-US" sz="2400" i="1">
                                <a:solidFill>
                                  <a:srgbClr val="007B00"/>
                                </a:solidFill>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m:t>
                            </m:r>
                            <m:r>
                              <a:rPr lang="en-US" sz="2400" i="1">
                                <a:solidFill>
                                  <a:srgbClr val="007B00"/>
                                </a:solidFill>
                                <a:latin typeface="Cambria Math" panose="02040503050406030204" pitchFamily="18" charset="0"/>
                                <a:ea typeface="Cambria Math" panose="02040503050406030204" pitchFamily="18" charset="0"/>
                              </a:rPr>
                              <m:t>4</m:t>
                            </m:r>
                            <m:r>
                              <a:rPr lang="en-US" sz="2400" i="1">
                                <a:latin typeface="Cambria Math" panose="02040503050406030204" pitchFamily="18" charset="0"/>
                                <a:ea typeface="Cambria Math" panose="02040503050406030204" pitchFamily="18" charset="0"/>
                              </a:rPr>
                              <m:t>+</m:t>
                            </m:r>
                            <m:r>
                              <a:rPr lang="en-US" sz="2400" i="1">
                                <a:solidFill>
                                  <a:srgbClr val="007B00"/>
                                </a:solidFill>
                                <a:latin typeface="Cambria Math" panose="02040503050406030204" pitchFamily="18" charset="0"/>
                                <a:ea typeface="Cambria Math" panose="02040503050406030204" pitchFamily="18" charset="0"/>
                              </a:rPr>
                              <m:t>8</m:t>
                            </m:r>
                            <m:r>
                              <a:rPr lang="en-US" sz="2400" i="1">
                                <a:latin typeface="Cambria Math" panose="02040503050406030204" pitchFamily="18" charset="0"/>
                                <a:ea typeface="Cambria Math" panose="02040503050406030204" pitchFamily="18" charset="0"/>
                              </a:rPr>
                              <m:t>+</m:t>
                            </m:r>
                            <m:r>
                              <a:rPr lang="en-US" sz="2400" i="1">
                                <a:solidFill>
                                  <a:srgbClr val="007B00"/>
                                </a:solidFill>
                                <a:latin typeface="Cambria Math" panose="02040503050406030204" pitchFamily="18" charset="0"/>
                                <a:ea typeface="Cambria Math" panose="02040503050406030204" pitchFamily="18" charset="0"/>
                              </a:rPr>
                              <m:t>16</m:t>
                            </m:r>
                            <m:r>
                              <a:rPr lang="en-US" sz="2400" i="1">
                                <a:latin typeface="Cambria Math" panose="02040503050406030204" pitchFamily="18" charset="0"/>
                                <a:ea typeface="Cambria Math" panose="02040503050406030204" pitchFamily="18" charset="0"/>
                              </a:rPr>
                              <m:t>+…</m:t>
                            </m:r>
                            <m:r>
                              <a:rPr lang="en-US" sz="2400" b="0" i="1" smtClean="0">
                                <a:solidFill>
                                  <a:srgbClr val="007B00"/>
                                </a:solidFill>
                                <a:latin typeface="Cambria Math" panose="02040503050406030204" pitchFamily="18" charset="0"/>
                                <a:ea typeface="Cambria Math" panose="02040503050406030204" pitchFamily="18" charset="0"/>
                              </a:rPr>
                              <m:t>𝑛</m:t>
                            </m:r>
                          </m:e>
                        </m:d>
                      </m:num>
                      <m:den>
                        <m:r>
                          <a:rPr lang="en-US" sz="2400" b="0" i="1" smtClean="0">
                            <a:latin typeface="Cambria Math" panose="02040503050406030204" pitchFamily="18" charset="0"/>
                            <a:ea typeface="Cambria Math" panose="02040503050406030204" pitchFamily="18" charset="0"/>
                          </a:rPr>
                          <m:t>𝑛</m:t>
                        </m:r>
                      </m:den>
                    </m:f>
                  </m:oMath>
                </a14:m>
                <a:endParaRPr lang="en-US" sz="2400">
                  <a:ea typeface="Cambria Math" panose="02040503050406030204" pitchFamily="18" charset="0"/>
                </a:endParaRPr>
              </a:p>
              <a:p>
                <a:pPr lvl="2"/>
                <a14:m>
                  <m:oMath xmlns:m="http://schemas.openxmlformats.org/officeDocument/2006/math">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𝒪</m:t>
                        </m:r>
                        <m:d>
                          <m:dPr>
                            <m:ctrlPr>
                              <a:rPr lang="en-US" sz="2400" b="0" i="1">
                                <a:solidFill>
                                  <a:schemeClr val="bg2"/>
                                </a:solidFill>
                                <a:latin typeface="Cambria Math" panose="02040503050406030204" pitchFamily="18" charset="0"/>
                                <a:ea typeface="Cambria Math" panose="02040503050406030204" pitchFamily="18" charset="0"/>
                              </a:rPr>
                            </m:ctrlPr>
                          </m:dPr>
                          <m:e>
                            <m:r>
                              <a:rPr lang="en-US" sz="2400" b="0" i="1">
                                <a:solidFill>
                                  <a:schemeClr val="bg2"/>
                                </a:solidFill>
                                <a:latin typeface="Cambria Math" panose="02040503050406030204" pitchFamily="18" charset="0"/>
                                <a:ea typeface="Cambria Math" panose="02040503050406030204" pitchFamily="18" charset="0"/>
                              </a:rPr>
                              <m:t>𝑛</m:t>
                            </m:r>
                          </m:e>
                        </m:d>
                      </m:num>
                      <m:den>
                        <m:r>
                          <a:rPr lang="en-US" sz="2400" i="1">
                            <a:latin typeface="Cambria Math" panose="02040503050406030204" pitchFamily="18" charset="0"/>
                            <a:ea typeface="Cambria Math" panose="02040503050406030204" pitchFamily="18" charset="0"/>
                          </a:rPr>
                          <m:t>𝑛</m:t>
                        </m:r>
                      </m:den>
                    </m:f>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𝒪</m:t>
                        </m:r>
                        <m:d>
                          <m:dPr>
                            <m:ctrlPr>
                              <a:rPr lang="en-US" sz="2400" b="0" i="1">
                                <a:solidFill>
                                  <a:srgbClr val="007B00"/>
                                </a:solidFill>
                                <a:latin typeface="Cambria Math" panose="02040503050406030204" pitchFamily="18" charset="0"/>
                                <a:ea typeface="Cambria Math" panose="02040503050406030204" pitchFamily="18" charset="0"/>
                              </a:rPr>
                            </m:ctrlPr>
                          </m:dPr>
                          <m:e>
                            <m:r>
                              <a:rPr lang="en-US" sz="2400" b="0" i="1">
                                <a:solidFill>
                                  <a:srgbClr val="007B00"/>
                                </a:solidFill>
                                <a:latin typeface="Cambria Math" panose="02040503050406030204" pitchFamily="18" charset="0"/>
                                <a:ea typeface="Cambria Math" panose="02040503050406030204" pitchFamily="18" charset="0"/>
                              </a:rPr>
                              <m:t>2</m:t>
                            </m:r>
                            <m:r>
                              <a:rPr lang="en-US" sz="2400" b="0" i="1">
                                <a:solidFill>
                                  <a:srgbClr val="007B00"/>
                                </a:solidFill>
                                <a:latin typeface="Cambria Math" panose="02040503050406030204" pitchFamily="18" charset="0"/>
                                <a:ea typeface="Cambria Math" panose="02040503050406030204" pitchFamily="18" charset="0"/>
                              </a:rPr>
                              <m:t>𝑛</m:t>
                            </m:r>
                            <m:r>
                              <a:rPr lang="en-US" sz="2400" b="0" i="1">
                                <a:solidFill>
                                  <a:srgbClr val="007B00"/>
                                </a:solidFill>
                                <a:latin typeface="Cambria Math" panose="02040503050406030204" pitchFamily="18" charset="0"/>
                                <a:ea typeface="Cambria Math" panose="02040503050406030204" pitchFamily="18" charset="0"/>
                              </a:rPr>
                              <m:t>−1</m:t>
                            </m:r>
                          </m:e>
                        </m:d>
                      </m:num>
                      <m:den>
                        <m:r>
                          <a:rPr lang="en-US" sz="2400" i="1">
                            <a:latin typeface="Cambria Math" panose="02040503050406030204" pitchFamily="18" charset="0"/>
                            <a:ea typeface="Cambria Math" panose="02040503050406030204" pitchFamily="18" charset="0"/>
                          </a:rPr>
                          <m:t>𝑛</m:t>
                        </m:r>
                      </m:den>
                    </m:f>
                  </m:oMath>
                </a14:m>
                <a:endParaRPr lang="en-US" sz="2400" b="0" i="1">
                  <a:latin typeface="Cambria Math" panose="02040503050406030204" pitchFamily="18" charset="0"/>
                  <a:ea typeface="Cambria Math" panose="02040503050406030204" pitchFamily="18" charset="0"/>
                </a:endParaRPr>
              </a:p>
              <a:p>
                <a:pPr lvl="2"/>
                <a14:m>
                  <m:oMath xmlns:m="http://schemas.openxmlformats.org/officeDocument/2006/math">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𝒪</m:t>
                        </m:r>
                        <m:d>
                          <m:dPr>
                            <m:ctrlPr>
                              <a:rPr lang="en-US" sz="2400" i="1">
                                <a:solidFill>
                                  <a:schemeClr val="bg2"/>
                                </a:solidFill>
                                <a:latin typeface="Cambria Math" panose="02040503050406030204" pitchFamily="18" charset="0"/>
                                <a:ea typeface="Cambria Math" panose="02040503050406030204" pitchFamily="18" charset="0"/>
                              </a:rPr>
                            </m:ctrlPr>
                          </m:dPr>
                          <m:e>
                            <m:r>
                              <a:rPr lang="en-US" sz="2400" i="1">
                                <a:solidFill>
                                  <a:schemeClr val="bg2"/>
                                </a:solidFill>
                                <a:latin typeface="Cambria Math" panose="02040503050406030204" pitchFamily="18" charset="0"/>
                                <a:ea typeface="Cambria Math" panose="02040503050406030204" pitchFamily="18" charset="0"/>
                              </a:rPr>
                              <m:t>𝑛</m:t>
                            </m:r>
                          </m:e>
                        </m:d>
                      </m:num>
                      <m:den>
                        <m:r>
                          <a:rPr lang="en-US" sz="2400" i="1">
                            <a:latin typeface="Cambria Math" panose="02040503050406030204" pitchFamily="18" charset="0"/>
                            <a:ea typeface="Cambria Math" panose="02040503050406030204" pitchFamily="18" charset="0"/>
                          </a:rPr>
                          <m:t>𝑛</m:t>
                        </m:r>
                      </m:den>
                    </m:f>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𝒪</m:t>
                        </m:r>
                        <m:d>
                          <m:dPr>
                            <m:ctrlPr>
                              <a:rPr lang="en-US" sz="2400" i="1">
                                <a:solidFill>
                                  <a:srgbClr val="007B00"/>
                                </a:solidFill>
                                <a:latin typeface="Cambria Math" panose="02040503050406030204" pitchFamily="18" charset="0"/>
                                <a:ea typeface="Cambria Math" panose="02040503050406030204" pitchFamily="18" charset="0"/>
                              </a:rPr>
                            </m:ctrlPr>
                          </m:dPr>
                          <m:e>
                            <m:r>
                              <a:rPr lang="en-US" sz="2400" i="1">
                                <a:solidFill>
                                  <a:srgbClr val="007B00"/>
                                </a:solidFill>
                                <a:latin typeface="Cambria Math" panose="02040503050406030204" pitchFamily="18" charset="0"/>
                                <a:ea typeface="Cambria Math" panose="02040503050406030204" pitchFamily="18" charset="0"/>
                              </a:rPr>
                              <m:t>𝑛</m:t>
                            </m:r>
                          </m:e>
                        </m:d>
                      </m:num>
                      <m:den>
                        <m:r>
                          <a:rPr lang="en-US" sz="2400" i="1">
                            <a:latin typeface="Cambria Math" panose="02040503050406030204" pitchFamily="18" charset="0"/>
                            <a:ea typeface="Cambria Math" panose="02040503050406030204" pitchFamily="18" charset="0"/>
                          </a:rPr>
                          <m:t>𝑛</m:t>
                        </m:r>
                      </m:den>
                    </m:f>
                  </m:oMath>
                </a14:m>
                <a:endParaRPr lang="en-US" sz="2400"/>
              </a:p>
              <a:p>
                <a:pPr lvl="2"/>
                <a14:m>
                  <m:oMath xmlns:m="http://schemas.openxmlformats.org/officeDocument/2006/math">
                    <m:r>
                      <a:rPr lang="en-US" sz="2400" i="1" smtClean="0">
                        <a:latin typeface="Cambria Math" panose="02040503050406030204" pitchFamily="18" charset="0"/>
                        <a:ea typeface="Cambria Math" panose="02040503050406030204" pitchFamily="18" charset="0"/>
                      </a:rPr>
                      <m:t>𝒪</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1</m:t>
                        </m:r>
                      </m:e>
                    </m:d>
                  </m:oMath>
                </a14:m>
                <a:r>
                  <a:rPr lang="en-US" sz="2400"/>
                  <a:t> 🙂</a:t>
                </a:r>
              </a:p>
              <a:p>
                <a:pPr lvl="2"/>
                <a:endParaRPr lang="en-US"/>
              </a:p>
            </p:txBody>
          </p:sp>
        </mc:Choice>
        <mc:Fallback>
          <p:sp>
            <p:nvSpPr>
              <p:cNvPr id="3" name="Content Placeholder 2">
                <a:extLst>
                  <a:ext uri="{FF2B5EF4-FFF2-40B4-BE49-F238E27FC236}">
                    <a16:creationId xmlns:a16="http://schemas.microsoft.com/office/drawing/2014/main" id="{5D7683A9-63DA-7631-C351-F967BC8445EA}"/>
                  </a:ext>
                </a:extLst>
              </p:cNvPr>
              <p:cNvSpPr>
                <a:spLocks noGrp="1" noRot="1" noChangeAspect="1" noMove="1" noResize="1" noEditPoints="1" noAdjustHandles="1" noChangeArrowheads="1" noChangeShapeType="1" noTextEdit="1"/>
              </p:cNvSpPr>
              <p:nvPr>
                <p:ph sz="quarter" idx="10"/>
              </p:nvPr>
            </p:nvSpPr>
            <p:spPr>
              <a:blipFill>
                <a:blip r:embed="rId3"/>
                <a:stretch>
                  <a:fillRect l="-617" t="-621" r="-31944" b="-186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ADDF3C7C-D22D-6CD9-AA35-8C5E5A508F6D}"/>
              </a:ext>
            </a:extLst>
          </p:cNvPr>
          <p:cNvSpPr txBox="1"/>
          <p:nvPr/>
        </p:nvSpPr>
        <p:spPr>
          <a:xfrm>
            <a:off x="3217333" y="2992183"/>
            <a:ext cx="970844" cy="830997"/>
          </a:xfrm>
          <a:prstGeom prst="rect">
            <a:avLst/>
          </a:prstGeom>
          <a:noFill/>
        </p:spPr>
        <p:txBody>
          <a:bodyPr wrap="square" rtlCol="0">
            <a:spAutoFit/>
          </a:bodyPr>
          <a:lstStyle/>
          <a:p>
            <a:r>
              <a:rPr lang="en-US" sz="4800">
                <a:solidFill>
                  <a:schemeClr val="accent6">
                    <a:lumMod val="50000"/>
                  </a:schemeClr>
                </a:solidFill>
              </a:rPr>
              <a:t>*</a:t>
            </a:r>
          </a:p>
        </p:txBody>
      </p:sp>
    </p:spTree>
    <p:extLst>
      <p:ext uri="{BB962C8B-B14F-4D97-AF65-F5344CB8AC3E}">
        <p14:creationId xmlns:p14="http://schemas.microsoft.com/office/powerpoint/2010/main" val="808999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4A97D244-0B87-B092-F1DB-C1F02C6AF2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90FCA-7190-7DCC-8FEF-85D022EF06D1}"/>
              </a:ext>
            </a:extLst>
          </p:cNvPr>
          <p:cNvSpPr>
            <a:spLocks noGrp="1"/>
          </p:cNvSpPr>
          <p:nvPr>
            <p:ph type="title"/>
          </p:nvPr>
        </p:nvSpPr>
        <p:spPr/>
        <p:txBody>
          <a:bodyPr/>
          <a:lstStyle/>
          <a:p>
            <a:r>
              <a:rPr lang="en-US" b="1">
                <a:solidFill>
                  <a:schemeClr val="accent6">
                    <a:lumMod val="50000"/>
                  </a:schemeClr>
                </a:solidFill>
              </a:rPr>
              <a:t>*intuition</a:t>
            </a:r>
          </a:p>
        </p:txBody>
      </p:sp>
      <p:pic>
        <p:nvPicPr>
          <p:cNvPr id="7" name="Content Placeholder 6" descr="File:Sum of powers of two.svg">
            <a:extLst>
              <a:ext uri="{FF2B5EF4-FFF2-40B4-BE49-F238E27FC236}">
                <a16:creationId xmlns:a16="http://schemas.microsoft.com/office/drawing/2014/main" id="{10166D5E-FA21-6F4D-A02A-CD8C3CBC1D36}"/>
              </a:ext>
            </a:extLst>
          </p:cNvPr>
          <p:cNvPicPr>
            <a:picLocks noGrp="1" noChangeAspect="1"/>
          </p:cNvPicPr>
          <p:nvPr>
            <p:ph sz="quarter" idx="10"/>
          </p:nvPr>
        </p:nvPicPr>
        <p:blipFill>
          <a:blip r:embed="rId2"/>
          <a:stretch>
            <a:fillRect/>
          </a:stretch>
        </p:blipFill>
        <p:spPr>
          <a:xfrm>
            <a:off x="2532062" y="929746"/>
            <a:ext cx="4079875" cy="4079875"/>
          </a:xfrm>
          <a:prstGeom prst="rect">
            <a:avLst/>
          </a:prstGeom>
          <a:ln>
            <a:solidFill>
              <a:schemeClr val="tx1"/>
            </a:solidFill>
          </a:ln>
        </p:spPr>
      </p:pic>
    </p:spTree>
    <p:extLst>
      <p:ext uri="{BB962C8B-B14F-4D97-AF65-F5344CB8AC3E}">
        <p14:creationId xmlns:p14="http://schemas.microsoft.com/office/powerpoint/2010/main" val="1135804978"/>
      </p:ext>
    </p:extLst>
  </p:cSld>
  <p:clrMapOvr>
    <a:masterClrMapping/>
  </p:clrMapOvr>
  <p:transition spd="slow">
    <p:push dir="u"/>
  </p:transition>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7DB4-8883-B435-27E2-55537DB5F91F}"/>
              </a:ext>
            </a:extLst>
          </p:cNvPr>
          <p:cNvSpPr>
            <a:spLocks noGrp="1"/>
          </p:cNvSpPr>
          <p:nvPr>
            <p:ph type="title"/>
          </p:nvPr>
        </p:nvSpPr>
        <p:spPr>
          <a:xfrm>
            <a:off x="457200" y="254916"/>
            <a:ext cx="8229600" cy="667168"/>
          </a:xfrm>
        </p:spPr>
        <p:txBody>
          <a:bodyPr/>
          <a:lstStyle/>
          <a:p>
            <a:r>
              <a:rPr lang="en-US" b="1">
                <a:solidFill>
                  <a:schemeClr val="accent6">
                    <a:lumMod val="50000"/>
                  </a:schemeClr>
                </a:solidFill>
              </a:rPr>
              <a:t>*proof</a:t>
            </a:r>
          </a:p>
        </p:txBody>
      </p:sp>
      <p:pic>
        <p:nvPicPr>
          <p:cNvPr id="5" name="Content Placeholder 4">
            <a:extLst>
              <a:ext uri="{FF2B5EF4-FFF2-40B4-BE49-F238E27FC236}">
                <a16:creationId xmlns:a16="http://schemas.microsoft.com/office/drawing/2014/main" id="{75E98319-45D9-8A80-AF31-3421AFB49562}"/>
              </a:ext>
            </a:extLst>
          </p:cNvPr>
          <p:cNvPicPr>
            <a:picLocks noGrp="1" noChangeAspect="1"/>
          </p:cNvPicPr>
          <p:nvPr>
            <p:ph sz="quarter" idx="10"/>
          </p:nvPr>
        </p:nvPicPr>
        <p:blipFill>
          <a:blip r:embed="rId2"/>
          <a:stretch>
            <a:fillRect/>
          </a:stretch>
        </p:blipFill>
        <p:spPr>
          <a:xfrm>
            <a:off x="457200" y="948088"/>
            <a:ext cx="8229600" cy="4043190"/>
          </a:xfrm>
          <a:prstGeom prst="rect">
            <a:avLst/>
          </a:prstGeom>
          <a:ln>
            <a:solidFill>
              <a:schemeClr val="tx1"/>
            </a:solidFill>
          </a:ln>
        </p:spPr>
      </p:pic>
    </p:spTree>
    <p:extLst>
      <p:ext uri="{BB962C8B-B14F-4D97-AF65-F5344CB8AC3E}">
        <p14:creationId xmlns:p14="http://schemas.microsoft.com/office/powerpoint/2010/main" val="209850111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72C3B-691F-A53F-BA07-9F889F4116F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9D9775C-5359-49F6-CF71-490AF75CE3F6}"/>
              </a:ext>
            </a:extLst>
          </p:cNvPr>
          <p:cNvSpPr>
            <a:spLocks noGrp="1"/>
          </p:cNvSpPr>
          <p:nvPr>
            <p:ph type="title"/>
          </p:nvPr>
        </p:nvSpPr>
        <p:spPr/>
        <p:txBody>
          <a:bodyPr/>
          <a:lstStyle/>
          <a:p>
            <a:r>
              <a:rPr lang="en-US"/>
              <a:t>the amortized run time is less </a:t>
            </a:r>
            <a:r>
              <a:rPr lang="en-US" i="1"/>
              <a:t>pessimistic</a:t>
            </a:r>
            <a:r>
              <a:rPr lang="en-US"/>
              <a:t> than worst case</a:t>
            </a:r>
          </a:p>
        </p:txBody>
      </p:sp>
    </p:spTree>
    <p:extLst>
      <p:ext uri="{BB962C8B-B14F-4D97-AF65-F5344CB8AC3E}">
        <p14:creationId xmlns:p14="http://schemas.microsoft.com/office/powerpoint/2010/main" val="2875297396"/>
      </p:ext>
    </p:extLst>
  </p:cSld>
  <p:clrMapOvr>
    <a:masterClrMapping/>
  </p:clrMapOvr>
  <p:transition spd="slow">
    <p:push dir="d"/>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B6729-41B4-E99D-938F-2C733DFD895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87BF26E-3F48-CBC0-E0E5-857BB51A3FC1}"/>
              </a:ext>
            </a:extLst>
          </p:cNvPr>
          <p:cNvSpPr>
            <a:spLocks noGrp="1"/>
          </p:cNvSpPr>
          <p:nvPr>
            <p:ph type="title"/>
          </p:nvPr>
        </p:nvSpPr>
        <p:spPr/>
        <p:txBody>
          <a:bodyPr/>
          <a:lstStyle/>
          <a:p>
            <a:r>
              <a:rPr lang="en-US"/>
              <a:t>the most relevant runtime depends on </a:t>
            </a:r>
            <a:r>
              <a:rPr lang="en-US" b="1"/>
              <a:t>context</a:t>
            </a:r>
            <a:br>
              <a:rPr lang="en-US"/>
            </a:br>
            <a:r>
              <a:rPr lang="en-US" sz="2800"/>
              <a:t>🧠 when might worst case be more relevant?</a:t>
            </a:r>
            <a:br>
              <a:rPr lang="en-US" sz="2800"/>
            </a:br>
            <a:r>
              <a:rPr lang="en-US" sz="2800"/>
              <a:t>🧠</a:t>
            </a: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 when might </a:t>
            </a:r>
            <a:r>
              <a:rPr lang="en-US" sz="2800">
                <a:solidFill>
                  <a:srgbClr val="000000"/>
                </a:solidFill>
                <a:latin typeface="Arial"/>
              </a:rPr>
              <a:t>amortized </a:t>
            </a: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be more </a:t>
            </a:r>
            <a:r>
              <a:rPr lang="en-US" sz="2800"/>
              <a:t>relevant</a:t>
            </a: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a:p>
        </p:txBody>
      </p:sp>
    </p:spTree>
    <p:extLst>
      <p:ext uri="{BB962C8B-B14F-4D97-AF65-F5344CB8AC3E}">
        <p14:creationId xmlns:p14="http://schemas.microsoft.com/office/powerpoint/2010/main" val="356505612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97F2D-C49D-5771-55C5-AEAEBE46242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34B6456-B311-2C62-9E00-B0B98EF52281}"/>
              </a:ext>
            </a:extLst>
          </p:cNvPr>
          <p:cNvSpPr>
            <a:spLocks noGrp="1"/>
          </p:cNvSpPr>
          <p:nvPr>
            <p:ph type="title"/>
          </p:nvPr>
        </p:nvSpPr>
        <p:spPr/>
        <p:txBody>
          <a:bodyPr/>
          <a:lstStyle/>
          <a:p>
            <a:r>
              <a:rPr lang="en-US"/>
              <a:t>best case and worst case runtime of inserting into the </a:t>
            </a:r>
            <a:r>
              <a:rPr lang="en-US" i="1"/>
              <a:t>front </a:t>
            </a:r>
            <a:r>
              <a:rPr lang="en-US"/>
              <a:t>of an array list</a:t>
            </a:r>
          </a:p>
        </p:txBody>
      </p:sp>
    </p:spTree>
    <p:extLst>
      <p:ext uri="{BB962C8B-B14F-4D97-AF65-F5344CB8AC3E}">
        <p14:creationId xmlns:p14="http://schemas.microsoft.com/office/powerpoint/2010/main" val="139682673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DA59B-2E36-5A04-8E47-7DB03807129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F9FCDE9-8AA5-5E8B-15A6-C0F72BF7090E}"/>
              </a:ext>
            </a:extLst>
          </p:cNvPr>
          <p:cNvSpPr>
            <a:spLocks noGrp="1"/>
          </p:cNvSpPr>
          <p:nvPr>
            <p:ph type="title"/>
          </p:nvPr>
        </p:nvSpPr>
        <p:spPr/>
        <p:txBody>
          <a:bodyPr/>
          <a:lstStyle/>
          <a:p>
            <a:r>
              <a:rPr lang="en-US" b="1"/>
              <a:t>best case and worst cast</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B575C7A-1A38-D791-838B-9565E5718AAA}"/>
                  </a:ext>
                </a:extLst>
              </p:cNvPr>
              <p:cNvSpPr>
                <a:spLocks noGrp="1"/>
              </p:cNvSpPr>
              <p:nvPr>
                <p:ph sz="quarter" idx="10"/>
              </p:nvPr>
            </p:nvSpPr>
            <p:spPr/>
            <p:txBody>
              <a:bodyPr>
                <a:normAutofit lnSpcReduction="10000"/>
              </a:bodyPr>
              <a:lstStyle/>
              <a:p>
                <a:r>
                  <a:rPr lang="en-US"/>
                  <a:t>the </a:t>
                </a:r>
                <a:r>
                  <a:rPr lang="en-US" b="1"/>
                  <a:t>best case </a:t>
                </a:r>
                <a:r>
                  <a:rPr lang="en-US"/>
                  <a:t>of inserting an element into the front of an array list i</a:t>
                </a:r>
                <a:r>
                  <a:rPr lang="en-US" sz="1800"/>
                  <a:t>s when the array list's internal array still has at least one "empty slot"</a:t>
                </a:r>
              </a:p>
              <a:p>
                <a:pPr lvl="2"/>
                <a:r>
                  <a:rPr lang="en-US"/>
                  <a:t>in this case, we have to...</a:t>
                </a:r>
              </a:p>
              <a:p>
                <a:pPr lvl="3"/>
                <a:r>
                  <a:rPr lang="en-US"/>
                  <a:t>"move over" n elements				</a:t>
                </a:r>
                <a14:m>
                  <m:oMath xmlns:m="http://schemas.openxmlformats.org/officeDocument/2006/math">
                    <m:r>
                      <a:rPr lang="en-US" sz="1800" b="0" i="1" smtClean="0">
                        <a:latin typeface="Cambria Math" panose="02040503050406030204" pitchFamily="18" charset="0"/>
                        <a:ea typeface="Cambria Math" panose="02040503050406030204" pitchFamily="18" charset="0"/>
                      </a:rPr>
                      <m:t>𝒪</m:t>
                    </m:r>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𝑛</m:t>
                        </m:r>
                      </m:e>
                    </m:d>
                  </m:oMath>
                </a14:m>
                <a:endParaRPr lang="en-US"/>
              </a:p>
              <a:p>
                <a:pPr lvl="3"/>
                <a:r>
                  <a:rPr lang="en-US"/>
                  <a:t>write an element to an array	+	</a:t>
                </a:r>
                <a14:m>
                  <m:oMath xmlns:m="http://schemas.openxmlformats.org/officeDocument/2006/math">
                    <m:r>
                      <a:rPr lang="en-US" sz="1800" b="0" i="1" smtClean="0">
                        <a:latin typeface="Cambria Math" panose="02040503050406030204" pitchFamily="18" charset="0"/>
                        <a:ea typeface="Cambria Math" panose="02040503050406030204" pitchFamily="18" charset="0"/>
                      </a:rPr>
                      <m:t>𝒪</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1</m:t>
                        </m:r>
                      </m:e>
                    </m:d>
                  </m:oMath>
                </a14:m>
                <a:endParaRPr lang="en-US" sz="1800" b="0"/>
              </a:p>
              <a:p>
                <a:pPr lvl="3"/>
                <a:r>
                  <a:rPr lang="en-US"/>
                  <a:t>increment a counter				+	</a:t>
                </a:r>
                <a14:m>
                  <m:oMath xmlns:m="http://schemas.openxmlformats.org/officeDocument/2006/math">
                    <m:r>
                      <a:rPr lang="en-US" sz="1800" b="0" i="1" smtClean="0">
                        <a:latin typeface="Cambria Math" panose="02040503050406030204" pitchFamily="18" charset="0"/>
                        <a:ea typeface="Cambria Math" panose="02040503050406030204" pitchFamily="18" charset="0"/>
                      </a:rPr>
                      <m:t>𝒪</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1</m:t>
                        </m:r>
                      </m:e>
                    </m:d>
                  </m:oMath>
                </a14:m>
                <a:endParaRPr lang="en-US"/>
              </a:p>
              <a:p>
                <a:r>
                  <a:rPr lang="en-US"/>
                  <a:t>the </a:t>
                </a:r>
                <a:r>
                  <a:rPr lang="en-US" b="1"/>
                  <a:t>worst case </a:t>
                </a:r>
                <a:r>
                  <a:rPr lang="en-US"/>
                  <a:t>of inserting an element into the front of an array list i</a:t>
                </a:r>
                <a:r>
                  <a:rPr lang="en-US" sz="1800"/>
                  <a:t>s when the array list's internal array is full</a:t>
                </a:r>
              </a:p>
              <a:p>
                <a:pPr lvl="2"/>
                <a:r>
                  <a:rPr lang="en-US"/>
                  <a:t>in this case, we have to...</a:t>
                </a:r>
              </a:p>
              <a:p>
                <a:pPr lvl="3"/>
                <a:r>
                  <a:rPr lang="en-US"/>
                  <a:t>allocate an array of </a:t>
                </a:r>
                <a14:m>
                  <m:oMath xmlns:m="http://schemas.openxmlformats.org/officeDocument/2006/math">
                    <m:r>
                      <a:rPr lang="en-US" i="1">
                        <a:latin typeface="Cambria Math" panose="02040503050406030204" pitchFamily="18" charset="0"/>
                      </a:rPr>
                      <m:t>2</m:t>
                    </m:r>
                    <m:r>
                      <a:rPr lang="en-US" i="1">
                        <a:latin typeface="Cambria Math" panose="02040503050406030204" pitchFamily="18" charset="0"/>
                      </a:rPr>
                      <m:t>𝑛</m:t>
                    </m:r>
                    <m:r>
                      <a:rPr lang="en-US" i="1">
                        <a:latin typeface="Cambria Math" panose="02040503050406030204" pitchFamily="18" charset="0"/>
                      </a:rPr>
                      <m:t> </m:t>
                    </m:r>
                  </m:oMath>
                </a14:m>
                <a:r>
                  <a:rPr lang="en-US"/>
                  <a:t>elements		</a:t>
                </a:r>
                <a14:m>
                  <m:oMath xmlns:m="http://schemas.openxmlformats.org/officeDocument/2006/math">
                    <m:r>
                      <a:rPr lang="en-US" i="1">
                        <a:latin typeface="Cambria Math" panose="02040503050406030204" pitchFamily="18" charset="0"/>
                        <a:ea typeface="Cambria Math" panose="02040503050406030204" pitchFamily="18" charset="0"/>
                      </a:rPr>
                      <m:t>𝒪</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𝑛</m:t>
                        </m:r>
                      </m:e>
                    </m:d>
                  </m:oMath>
                </a14:m>
                <a:endParaRPr lang="en-US"/>
              </a:p>
              <a:p>
                <a:pPr lvl="3"/>
                <a:r>
                  <a:rPr lang="en-US"/>
                  <a:t>copy of over </a:t>
                </a:r>
                <a14:m>
                  <m:oMath xmlns:m="http://schemas.openxmlformats.org/officeDocument/2006/math">
                    <m:r>
                      <a:rPr lang="en-US" i="1">
                        <a:latin typeface="Cambria Math" panose="02040503050406030204" pitchFamily="18" charset="0"/>
                      </a:rPr>
                      <m:t>𝑛</m:t>
                    </m:r>
                    <m:r>
                      <a:rPr lang="en-US" i="1">
                        <a:latin typeface="Cambria Math" panose="02040503050406030204" pitchFamily="18" charset="0"/>
                      </a:rPr>
                      <m:t> </m:t>
                    </m:r>
                  </m:oMath>
                </a14:m>
                <a:r>
                  <a:rPr lang="en-US"/>
                  <a:t>elements				+	</a:t>
                </a:r>
                <a14:m>
                  <m:oMath xmlns:m="http://schemas.openxmlformats.org/officeDocument/2006/math">
                    <m:r>
                      <a:rPr lang="en-US" i="1">
                        <a:latin typeface="Cambria Math" panose="02040503050406030204" pitchFamily="18" charset="0"/>
                        <a:ea typeface="Cambria Math" panose="02040503050406030204" pitchFamily="18" charset="0"/>
                      </a:rPr>
                      <m:t>𝒪</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𝑛</m:t>
                        </m:r>
                      </m:e>
                    </m:d>
                  </m:oMath>
                </a14:m>
                <a:endParaRPr lang="en-US"/>
              </a:p>
              <a:p>
                <a:pPr lvl="3"/>
                <a:r>
                  <a:rPr lang="en-US"/>
                  <a:t>write an element to an array		+	</a:t>
                </a:r>
                <a14:m>
                  <m:oMath xmlns:m="http://schemas.openxmlformats.org/officeDocument/2006/math">
                    <m:r>
                      <a:rPr lang="en-US" i="1">
                        <a:latin typeface="Cambria Math" panose="02040503050406030204" pitchFamily="18" charset="0"/>
                        <a:ea typeface="Cambria Math" panose="02040503050406030204" pitchFamily="18" charset="0"/>
                      </a:rPr>
                      <m:t>𝒪</m:t>
                    </m:r>
                    <m:d>
                      <m:dPr>
                        <m:ctrlPr>
                          <a:rPr lang="en-US" i="1">
                            <a:latin typeface="Cambria Math" panose="02040503050406030204" pitchFamily="18" charset="0"/>
                          </a:rPr>
                        </m:ctrlPr>
                      </m:dPr>
                      <m:e>
                        <m:r>
                          <a:rPr lang="en-US" i="1">
                            <a:latin typeface="Cambria Math" panose="02040503050406030204" pitchFamily="18" charset="0"/>
                          </a:rPr>
                          <m:t>1</m:t>
                        </m:r>
                      </m:e>
                    </m:d>
                  </m:oMath>
                </a14:m>
                <a:endParaRPr lang="en-US"/>
              </a:p>
              <a:p>
                <a:pPr lvl="3"/>
                <a:r>
                  <a:rPr lang="en-US"/>
                  <a:t>increment a counter					+	</a:t>
                </a:r>
                <a14:m>
                  <m:oMath xmlns:m="http://schemas.openxmlformats.org/officeDocument/2006/math">
                    <m:r>
                      <a:rPr lang="en-US" i="1">
                        <a:latin typeface="Cambria Math" panose="02040503050406030204" pitchFamily="18" charset="0"/>
                        <a:ea typeface="Cambria Math" panose="02040503050406030204" pitchFamily="18" charset="0"/>
                      </a:rPr>
                      <m:t>𝒪</m:t>
                    </m:r>
                    <m:d>
                      <m:dPr>
                        <m:ctrlPr>
                          <a:rPr lang="en-US" i="1">
                            <a:latin typeface="Cambria Math" panose="02040503050406030204" pitchFamily="18" charset="0"/>
                          </a:rPr>
                        </m:ctrlPr>
                      </m:dPr>
                      <m:e>
                        <m:r>
                          <a:rPr lang="en-US" i="1">
                            <a:latin typeface="Cambria Math" panose="02040503050406030204" pitchFamily="18" charset="0"/>
                          </a:rPr>
                          <m:t>1</m:t>
                        </m:r>
                      </m:e>
                    </m:d>
                  </m:oMath>
                </a14:m>
                <a:endParaRPr lang="en-US"/>
              </a:p>
              <a:p>
                <a:pPr lvl="3"/>
                <a:endParaRPr lang="en-US"/>
              </a:p>
            </p:txBody>
          </p:sp>
        </mc:Choice>
        <mc:Fallback xmlns="">
          <p:sp>
            <p:nvSpPr>
              <p:cNvPr id="4" name="Content Placeholder 3">
                <a:extLst>
                  <a:ext uri="{FF2B5EF4-FFF2-40B4-BE49-F238E27FC236}">
                    <a16:creationId xmlns:a16="http://schemas.microsoft.com/office/drawing/2014/main" id="{60790C37-8FE8-3671-D93E-6E41C79FA3B6}"/>
                  </a:ext>
                </a:extLst>
              </p:cNvPr>
              <p:cNvSpPr>
                <a:spLocks noGrp="1" noRot="1" noChangeAspect="1" noMove="1" noResize="1" noEditPoints="1" noAdjustHandles="1" noChangeArrowheads="1" noChangeShapeType="1" noTextEdit="1"/>
              </p:cNvSpPr>
              <p:nvPr>
                <p:ph sz="quarter" idx="10"/>
              </p:nvPr>
            </p:nvSpPr>
            <p:spPr>
              <a:blipFill>
                <a:blip r:embed="rId2"/>
                <a:stretch>
                  <a:fillRect l="-593" t="-1345"/>
                </a:stretch>
              </a:blipFill>
            </p:spPr>
            <p:txBody>
              <a:bodyPr/>
              <a:lstStyle/>
              <a:p>
                <a:r>
                  <a:rPr lang="en-US">
                    <a:noFill/>
                  </a:rPr>
                  <a:t> </a:t>
                </a:r>
              </a:p>
            </p:txBody>
          </p:sp>
        </mc:Fallback>
      </mc:AlternateContent>
    </p:spTree>
    <p:extLst>
      <p:ext uri="{BB962C8B-B14F-4D97-AF65-F5344CB8AC3E}">
        <p14:creationId xmlns:p14="http://schemas.microsoft.com/office/powerpoint/2010/main" val="288090160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B8B70-E571-7E79-7BD4-10026EDCD47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8A2D7EE-E7DE-2683-F227-D13BA192F1CA}"/>
              </a:ext>
            </a:extLst>
          </p:cNvPr>
          <p:cNvSpPr>
            <a:spLocks noGrp="1"/>
          </p:cNvSpPr>
          <p:nvPr>
            <p:ph type="title"/>
          </p:nvPr>
        </p:nvSpPr>
        <p:spPr/>
        <p:txBody>
          <a:bodyPr/>
          <a:lstStyle/>
          <a:p>
            <a:r>
              <a:rPr lang="en-US" b="1"/>
              <a:t>lesson?: </a:t>
            </a:r>
            <a:r>
              <a:rPr lang="en-US"/>
              <a:t>sometimes best case and worst case are the same</a:t>
            </a:r>
          </a:p>
        </p:txBody>
      </p:sp>
    </p:spTree>
    <p:extLst>
      <p:ext uri="{BB962C8B-B14F-4D97-AF65-F5344CB8AC3E}">
        <p14:creationId xmlns:p14="http://schemas.microsoft.com/office/powerpoint/2010/main" val="134383125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04FCC-A721-2972-08E7-F1FD70747F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687326-5B2B-5CA5-8FDC-830613E16BC7}"/>
              </a:ext>
            </a:extLst>
          </p:cNvPr>
          <p:cNvSpPr>
            <a:spLocks noGrp="1"/>
          </p:cNvSpPr>
          <p:nvPr>
            <p:ph type="title"/>
          </p:nvPr>
        </p:nvSpPr>
        <p:spPr/>
        <p:txBody>
          <a:bodyPr/>
          <a:lstStyle/>
          <a:p>
            <a:r>
              <a:rPr lang="en-US" b="1"/>
              <a:t>review:</a:t>
            </a:r>
            <a:r>
              <a:rPr lang="en-US"/>
              <a:t> queue</a:t>
            </a:r>
          </a:p>
        </p:txBody>
      </p:sp>
    </p:spTree>
    <p:extLst>
      <p:ext uri="{BB962C8B-B14F-4D97-AF65-F5344CB8AC3E}">
        <p14:creationId xmlns:p14="http://schemas.microsoft.com/office/powerpoint/2010/main" val="423133133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3C348-3753-A17E-FEF4-6DB189C48F24}"/>
            </a:ext>
          </a:extLst>
        </p:cNvPr>
        <p:cNvGrpSpPr/>
        <p:nvPr/>
      </p:nvGrpSpPr>
      <p:grpSpPr>
        <a:xfrm>
          <a:off x="0" y="0"/>
          <a:ext cx="0" cy="0"/>
          <a:chOff x="0" y="0"/>
          <a:chExt cx="0" cy="0"/>
        </a:xfrm>
      </p:grpSpPr>
      <p:pic>
        <p:nvPicPr>
          <p:cNvPr id="5122" name="Picture 2" descr="Queue in Data Structure - Scaler Topics">
            <a:extLst>
              <a:ext uri="{FF2B5EF4-FFF2-40B4-BE49-F238E27FC236}">
                <a16:creationId xmlns:a16="http://schemas.microsoft.com/office/drawing/2014/main" id="{B81DB6C3-CD0D-37FC-67F5-F12270EF76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85788"/>
            <a:ext cx="9144000" cy="397033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E915633-6E45-D90A-32BE-28D850CA5277}"/>
              </a:ext>
            </a:extLst>
          </p:cNvPr>
          <p:cNvSpPr txBox="1"/>
          <p:nvPr/>
        </p:nvSpPr>
        <p:spPr>
          <a:xfrm>
            <a:off x="1046648" y="1660554"/>
            <a:ext cx="1031534" cy="646331"/>
          </a:xfrm>
          <a:prstGeom prst="rect">
            <a:avLst/>
          </a:prstGeom>
          <a:solidFill>
            <a:srgbClr val="FFFFFF">
              <a:alpha val="74902"/>
            </a:srgbClr>
          </a:solidFill>
        </p:spPr>
        <p:txBody>
          <a:bodyPr wrap="square">
            <a:spAutoFit/>
          </a:bodyPr>
          <a:lstStyle/>
          <a:p>
            <a:pPr algn="r"/>
            <a:r>
              <a:rPr lang="en-US" sz="1800">
                <a:solidFill>
                  <a:srgbClr val="0000FF"/>
                </a:solidFill>
                <a:latin typeface="Comic Sans MS" panose="030F0902030302020204" pitchFamily="66" charset="0"/>
              </a:rPr>
              <a:t>         </a:t>
            </a:r>
          </a:p>
          <a:p>
            <a:pPr algn="r"/>
            <a:endParaRPr lang="en-US" sz="1800">
              <a:solidFill>
                <a:srgbClr val="0000FF"/>
              </a:solidFill>
              <a:latin typeface="Comic Sans MS" panose="030F0902030302020204" pitchFamily="66" charset="0"/>
            </a:endParaRPr>
          </a:p>
        </p:txBody>
      </p:sp>
      <p:sp>
        <p:nvSpPr>
          <p:cNvPr id="4" name="TextBox 3">
            <a:extLst>
              <a:ext uri="{FF2B5EF4-FFF2-40B4-BE49-F238E27FC236}">
                <a16:creationId xmlns:a16="http://schemas.microsoft.com/office/drawing/2014/main" id="{7929FE24-ACA7-24AA-3FAE-3E6A7473119F}"/>
              </a:ext>
            </a:extLst>
          </p:cNvPr>
          <p:cNvSpPr txBox="1"/>
          <p:nvPr/>
        </p:nvSpPr>
        <p:spPr>
          <a:xfrm>
            <a:off x="7065818" y="1648692"/>
            <a:ext cx="1031534" cy="646331"/>
          </a:xfrm>
          <a:prstGeom prst="rect">
            <a:avLst/>
          </a:prstGeom>
          <a:solidFill>
            <a:srgbClr val="FFFFFF">
              <a:alpha val="74902"/>
            </a:srgbClr>
          </a:solidFill>
        </p:spPr>
        <p:txBody>
          <a:bodyPr wrap="square">
            <a:spAutoFit/>
          </a:bodyPr>
          <a:lstStyle/>
          <a:p>
            <a:pPr algn="r"/>
            <a:r>
              <a:rPr lang="en-US" sz="1800">
                <a:solidFill>
                  <a:srgbClr val="0000FF"/>
                </a:solidFill>
                <a:latin typeface="Comic Sans MS" panose="030F0902030302020204" pitchFamily="66" charset="0"/>
              </a:rPr>
              <a:t>         </a:t>
            </a:r>
          </a:p>
          <a:p>
            <a:pPr algn="r"/>
            <a:endParaRPr lang="en-US" sz="1800">
              <a:solidFill>
                <a:srgbClr val="0000FF"/>
              </a:solidFill>
              <a:latin typeface="Comic Sans MS" panose="030F0902030302020204" pitchFamily="66" charset="0"/>
            </a:endParaRPr>
          </a:p>
        </p:txBody>
      </p:sp>
      <p:sp>
        <p:nvSpPr>
          <p:cNvPr id="5" name="TextBox 4">
            <a:extLst>
              <a:ext uri="{FF2B5EF4-FFF2-40B4-BE49-F238E27FC236}">
                <a16:creationId xmlns:a16="http://schemas.microsoft.com/office/drawing/2014/main" id="{CAC28B6E-D914-E32F-00C8-C510F3785A69}"/>
              </a:ext>
            </a:extLst>
          </p:cNvPr>
          <p:cNvSpPr txBox="1"/>
          <p:nvPr/>
        </p:nvSpPr>
        <p:spPr>
          <a:xfrm>
            <a:off x="1787236" y="1285953"/>
            <a:ext cx="770817" cy="307777"/>
          </a:xfrm>
          <a:prstGeom prst="rect">
            <a:avLst/>
          </a:prstGeom>
          <a:solidFill>
            <a:srgbClr val="FFFFFF"/>
          </a:solidFill>
        </p:spPr>
        <p:txBody>
          <a:bodyPr wrap="square" rtlCol="0">
            <a:spAutoFit/>
          </a:bodyPr>
          <a:lstStyle/>
          <a:p>
            <a:pPr algn="r"/>
            <a:r>
              <a:rPr lang="en-US" sz="1400">
                <a:latin typeface="Arial" panose="020B0604020202020204" pitchFamily="34" charset="0"/>
                <a:cs typeface="Arial" panose="020B0604020202020204" pitchFamily="34" charset="0"/>
              </a:rPr>
              <a:t>Back</a:t>
            </a:r>
          </a:p>
        </p:txBody>
      </p:sp>
      <p:sp>
        <p:nvSpPr>
          <p:cNvPr id="6" name="TextBox 5">
            <a:extLst>
              <a:ext uri="{FF2B5EF4-FFF2-40B4-BE49-F238E27FC236}">
                <a16:creationId xmlns:a16="http://schemas.microsoft.com/office/drawing/2014/main" id="{2619E0A3-D96B-56B2-F11A-E59D863D4883}"/>
              </a:ext>
            </a:extLst>
          </p:cNvPr>
          <p:cNvSpPr txBox="1"/>
          <p:nvPr/>
        </p:nvSpPr>
        <p:spPr>
          <a:xfrm>
            <a:off x="3964919" y="3354587"/>
            <a:ext cx="1031534" cy="923330"/>
          </a:xfrm>
          <a:prstGeom prst="rect">
            <a:avLst/>
          </a:prstGeom>
          <a:solidFill>
            <a:srgbClr val="FFFFFF">
              <a:alpha val="74902"/>
            </a:srgbClr>
          </a:solidFill>
        </p:spPr>
        <p:txBody>
          <a:bodyPr wrap="square">
            <a:spAutoFit/>
          </a:bodyPr>
          <a:lstStyle/>
          <a:p>
            <a:pPr algn="r"/>
            <a:endParaRPr lang="en-US" sz="1800">
              <a:solidFill>
                <a:srgbClr val="0000FF"/>
              </a:solidFill>
              <a:latin typeface="Comic Sans MS" panose="030F0902030302020204" pitchFamily="66" charset="0"/>
            </a:endParaRPr>
          </a:p>
          <a:p>
            <a:pPr algn="r"/>
            <a:r>
              <a:rPr lang="en-US" sz="1800">
                <a:solidFill>
                  <a:srgbClr val="0000FF"/>
                </a:solidFill>
                <a:latin typeface="Comic Sans MS" panose="030F0902030302020204" pitchFamily="66" charset="0"/>
              </a:rPr>
              <a:t>         </a:t>
            </a:r>
          </a:p>
          <a:p>
            <a:pPr algn="r"/>
            <a:endParaRPr lang="en-US" sz="1800">
              <a:solidFill>
                <a:srgbClr val="0000FF"/>
              </a:solidFill>
              <a:latin typeface="Comic Sans MS" panose="030F0902030302020204" pitchFamily="66" charset="0"/>
            </a:endParaRPr>
          </a:p>
        </p:txBody>
      </p:sp>
    </p:spTree>
    <p:extLst>
      <p:ext uri="{BB962C8B-B14F-4D97-AF65-F5344CB8AC3E}">
        <p14:creationId xmlns:p14="http://schemas.microsoft.com/office/powerpoint/2010/main" val="227292268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9B6E0-DE02-2757-01A0-19C9030C396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7C9D5AE-B16D-7012-56F1-664F3053CCF2}"/>
              </a:ext>
            </a:extLst>
          </p:cNvPr>
          <p:cNvSpPr>
            <a:spLocks noGrp="1"/>
          </p:cNvSpPr>
          <p:nvPr>
            <p:ph type="title"/>
          </p:nvPr>
        </p:nvSpPr>
        <p:spPr/>
        <p:txBody>
          <a:bodyPr/>
          <a:lstStyle/>
          <a:p>
            <a:r>
              <a:rPr lang="en-US" b="1"/>
              <a:t>queue</a:t>
            </a:r>
            <a:r>
              <a:rPr lang="en-US"/>
              <a:t> interface</a:t>
            </a:r>
          </a:p>
        </p:txBody>
      </p:sp>
      <p:sp>
        <p:nvSpPr>
          <p:cNvPr id="4" name="Content Placeholder 3">
            <a:extLst>
              <a:ext uri="{FF2B5EF4-FFF2-40B4-BE49-F238E27FC236}">
                <a16:creationId xmlns:a16="http://schemas.microsoft.com/office/drawing/2014/main" id="{B186EC65-83EB-7C15-D681-5B80E33A85D7}"/>
              </a:ext>
            </a:extLst>
          </p:cNvPr>
          <p:cNvSpPr>
            <a:spLocks noGrp="1"/>
          </p:cNvSpPr>
          <p:nvPr>
            <p:ph sz="quarter" idx="10"/>
          </p:nvPr>
        </p:nvSpPr>
        <p:spPr/>
        <p:txBody>
          <a:bodyPr/>
          <a:lstStyle/>
          <a:p>
            <a:r>
              <a:rPr lang="en-US">
                <a:solidFill>
                  <a:srgbClr val="007B00"/>
                </a:solidFill>
                <a:latin typeface="Consolas" panose="020B0609020204030204" pitchFamily="49" charset="0"/>
                <a:cs typeface="Consolas" panose="020B0609020204030204" pitchFamily="49" charset="0"/>
              </a:rPr>
              <a:t>// </a:t>
            </a:r>
            <a:r>
              <a:rPr lang="en-US" b="1">
                <a:solidFill>
                  <a:srgbClr val="007B00"/>
                </a:solidFill>
                <a:latin typeface="Consolas" panose="020B0609020204030204" pitchFamily="49" charset="0"/>
                <a:cs typeface="Consolas" panose="020B0609020204030204" pitchFamily="49" charset="0"/>
              </a:rPr>
              <a:t>Add</a:t>
            </a:r>
            <a:r>
              <a:rPr lang="en-US">
                <a:solidFill>
                  <a:srgbClr val="007B00"/>
                </a:solidFill>
                <a:latin typeface="Consolas" panose="020B0609020204030204" pitchFamily="49" charset="0"/>
                <a:cs typeface="Consolas" panose="020B0609020204030204" pitchFamily="49" charset="0"/>
              </a:rPr>
              <a:t> (</a:t>
            </a:r>
            <a:r>
              <a:rPr lang="en-US" b="1">
                <a:solidFill>
                  <a:srgbClr val="007B00"/>
                </a:solidFill>
                <a:latin typeface="Consolas" panose="020B0609020204030204" pitchFamily="49" charset="0"/>
                <a:cs typeface="Consolas" panose="020B0609020204030204" pitchFamily="49" charset="0"/>
              </a:rPr>
              <a:t>enqueue</a:t>
            </a:r>
            <a:r>
              <a:rPr lang="en-US">
                <a:solidFill>
                  <a:srgbClr val="007B00"/>
                </a:solidFill>
                <a:latin typeface="Consolas" panose="020B0609020204030204" pitchFamily="49" charset="0"/>
                <a:cs typeface="Consolas" panose="020B0609020204030204" pitchFamily="49" charset="0"/>
              </a:rPr>
              <a:t>) a new element to the back of the queue.</a:t>
            </a:r>
            <a:br>
              <a:rPr lang="en-US">
                <a:solidFill>
                  <a:srgbClr val="007B00"/>
                </a:solidFill>
                <a:latin typeface="Consolas" panose="020B0609020204030204" pitchFamily="49" charset="0"/>
                <a:cs typeface="Consolas" panose="020B0609020204030204" pitchFamily="49" charset="0"/>
              </a:rPr>
            </a:br>
            <a:r>
              <a:rPr lang="en-US">
                <a:solidFill>
                  <a:srgbClr val="000080"/>
                </a:solidFill>
                <a:latin typeface="Consolas" panose="020B0609020204030204" pitchFamily="49" charset="0"/>
                <a:cs typeface="Consolas" panose="020B0609020204030204" pitchFamily="49" charset="0"/>
              </a:rPr>
              <a:t>void</a:t>
            </a:r>
            <a:r>
              <a:rPr lang="en-US">
                <a:latin typeface="Consolas" panose="020B0609020204030204" pitchFamily="49" charset="0"/>
                <a:cs typeface="Consolas" panose="020B0609020204030204" pitchFamily="49" charset="0"/>
              </a:rPr>
              <a:t> add(</a:t>
            </a:r>
            <a:r>
              <a:rPr lang="en-US" err="1">
                <a:solidFill>
                  <a:srgbClr val="000080"/>
                </a:solidFill>
                <a:latin typeface="Consolas" panose="020B0609020204030204" pitchFamily="49" charset="0"/>
                <a:cs typeface="Consolas" panose="020B0609020204030204" pitchFamily="49" charset="0"/>
              </a:rPr>
              <a:t>ElementType</a:t>
            </a:r>
            <a:r>
              <a:rPr lang="en-US">
                <a:latin typeface="Consolas" panose="020B0609020204030204" pitchFamily="49" charset="0"/>
                <a:cs typeface="Consolas" panose="020B0609020204030204" pitchFamily="49" charset="0"/>
              </a:rPr>
              <a:t> element);</a:t>
            </a:r>
          </a:p>
          <a:p>
            <a:endParaRPr lang="en-US">
              <a:latin typeface="Consolas" panose="020B0609020204030204" pitchFamily="49" charset="0"/>
              <a:cs typeface="Consolas" panose="020B0609020204030204" pitchFamily="49" charset="0"/>
            </a:endParaRPr>
          </a:p>
          <a:p>
            <a:r>
              <a:rPr lang="en-US">
                <a:solidFill>
                  <a:srgbClr val="007B00"/>
                </a:solidFill>
                <a:latin typeface="Consolas" panose="020B0609020204030204" pitchFamily="49" charset="0"/>
                <a:cs typeface="Consolas" panose="020B0609020204030204" pitchFamily="49" charset="0"/>
              </a:rPr>
              <a:t>// </a:t>
            </a:r>
            <a:r>
              <a:rPr lang="en-US" b="1">
                <a:solidFill>
                  <a:srgbClr val="007B00"/>
                </a:solidFill>
                <a:latin typeface="Consolas" panose="020B0609020204030204" pitchFamily="49" charset="0"/>
                <a:cs typeface="Consolas" panose="020B0609020204030204" pitchFamily="49" charset="0"/>
              </a:rPr>
              <a:t>Remove</a:t>
            </a:r>
            <a:r>
              <a:rPr lang="en-US">
                <a:solidFill>
                  <a:srgbClr val="007B00"/>
                </a:solidFill>
                <a:latin typeface="Consolas" panose="020B0609020204030204" pitchFamily="49" charset="0"/>
                <a:cs typeface="Consolas" panose="020B0609020204030204" pitchFamily="49" charset="0"/>
              </a:rPr>
              <a:t> (</a:t>
            </a:r>
            <a:r>
              <a:rPr lang="en-US" b="1">
                <a:solidFill>
                  <a:srgbClr val="007B00"/>
                </a:solidFill>
                <a:latin typeface="Consolas" panose="020B0609020204030204" pitchFamily="49" charset="0"/>
                <a:cs typeface="Consolas" panose="020B0609020204030204" pitchFamily="49" charset="0"/>
              </a:rPr>
              <a:t>dequeue</a:t>
            </a:r>
            <a:r>
              <a:rPr lang="en-US">
                <a:solidFill>
                  <a:srgbClr val="007B00"/>
                </a:solidFill>
                <a:latin typeface="Consolas" panose="020B0609020204030204" pitchFamily="49" charset="0"/>
                <a:cs typeface="Consolas" panose="020B0609020204030204" pitchFamily="49" charset="0"/>
              </a:rPr>
              <a:t>) the front</a:t>
            </a:r>
            <a:br>
              <a:rPr lang="en-US">
                <a:solidFill>
                  <a:srgbClr val="007B00"/>
                </a:solidFill>
                <a:latin typeface="Consolas" panose="020B0609020204030204" pitchFamily="49" charset="0"/>
                <a:cs typeface="Consolas" panose="020B0609020204030204" pitchFamily="49" charset="0"/>
              </a:rPr>
            </a:br>
            <a:r>
              <a:rPr lang="en-US">
                <a:solidFill>
                  <a:srgbClr val="007B00"/>
                </a:solidFill>
                <a:latin typeface="Consolas" panose="020B0609020204030204" pitchFamily="49" charset="0"/>
                <a:cs typeface="Consolas" panose="020B0609020204030204" pitchFamily="49" charset="0"/>
              </a:rPr>
              <a:t>// element and return it.</a:t>
            </a:r>
            <a:br>
              <a:rPr lang="en-US">
                <a:latin typeface="Consolas" panose="020B0609020204030204" pitchFamily="49" charset="0"/>
                <a:cs typeface="Consolas" panose="020B0609020204030204" pitchFamily="49" charset="0"/>
              </a:rPr>
            </a:br>
            <a:r>
              <a:rPr lang="en-US" err="1">
                <a:solidFill>
                  <a:srgbClr val="000080"/>
                </a:solidFill>
                <a:latin typeface="Consolas" panose="020B0609020204030204" pitchFamily="49" charset="0"/>
                <a:cs typeface="Consolas" panose="020B0609020204030204" pitchFamily="49" charset="0"/>
              </a:rPr>
              <a:t>ElementType</a:t>
            </a:r>
            <a:r>
              <a:rPr lang="en-US">
                <a:latin typeface="Consolas" panose="020B0609020204030204" pitchFamily="49" charset="0"/>
                <a:cs typeface="Consolas" panose="020B0609020204030204" pitchFamily="49" charset="0"/>
              </a:rPr>
              <a:t> remove();</a:t>
            </a:r>
          </a:p>
          <a:p>
            <a:endParaRPr lang="en-US">
              <a:latin typeface="Consolas" panose="020B0609020204030204" pitchFamily="49" charset="0"/>
              <a:cs typeface="Consolas" panose="020B0609020204030204" pitchFamily="49" charset="0"/>
            </a:endParaRPr>
          </a:p>
          <a:p>
            <a:r>
              <a:rPr lang="en-US">
                <a:solidFill>
                  <a:srgbClr val="007B00"/>
                </a:solidFill>
                <a:latin typeface="Consolas" panose="020B0609020204030204" pitchFamily="49" charset="0"/>
                <a:cs typeface="Consolas" panose="020B0609020204030204" pitchFamily="49" charset="0"/>
              </a:rPr>
              <a:t>// </a:t>
            </a:r>
            <a:r>
              <a:rPr lang="en-US" b="1">
                <a:solidFill>
                  <a:srgbClr val="007B00"/>
                </a:solidFill>
                <a:latin typeface="Consolas" panose="020B0609020204030204" pitchFamily="49" charset="0"/>
                <a:cs typeface="Consolas" panose="020B0609020204030204" pitchFamily="49" charset="0"/>
              </a:rPr>
              <a:t>Peek</a:t>
            </a:r>
            <a:r>
              <a:rPr lang="en-US">
                <a:solidFill>
                  <a:srgbClr val="007B00"/>
                </a:solidFill>
                <a:latin typeface="Consolas" panose="020B0609020204030204" pitchFamily="49" charset="0"/>
                <a:cs typeface="Consolas" panose="020B0609020204030204" pitchFamily="49" charset="0"/>
              </a:rPr>
              <a:t> (look) at the front element (without removing it)</a:t>
            </a:r>
            <a:br>
              <a:rPr lang="en-US">
                <a:solidFill>
                  <a:srgbClr val="007B00"/>
                </a:solidFill>
                <a:latin typeface="Consolas" panose="020B0609020204030204" pitchFamily="49" charset="0"/>
                <a:cs typeface="Consolas" panose="020B0609020204030204" pitchFamily="49" charset="0"/>
              </a:rPr>
            </a:br>
            <a:r>
              <a:rPr lang="en-US">
                <a:solidFill>
                  <a:srgbClr val="007B00"/>
                </a:solidFill>
                <a:latin typeface="Consolas" panose="020B0609020204030204" pitchFamily="49" charset="0"/>
                <a:cs typeface="Consolas" panose="020B0609020204030204" pitchFamily="49" charset="0"/>
              </a:rPr>
              <a:t>// and return it.</a:t>
            </a:r>
            <a:br>
              <a:rPr lang="en-US">
                <a:latin typeface="Consolas" panose="020B0609020204030204" pitchFamily="49" charset="0"/>
                <a:cs typeface="Consolas" panose="020B0609020204030204" pitchFamily="49" charset="0"/>
              </a:rPr>
            </a:br>
            <a:r>
              <a:rPr lang="en-US" err="1">
                <a:solidFill>
                  <a:srgbClr val="000080"/>
                </a:solidFill>
                <a:latin typeface="Consolas" panose="020B0609020204030204" pitchFamily="49" charset="0"/>
                <a:cs typeface="Consolas" panose="020B0609020204030204" pitchFamily="49" charset="0"/>
              </a:rPr>
              <a:t>ElementType</a:t>
            </a:r>
            <a:r>
              <a:rPr lang="en-US">
                <a:latin typeface="Consolas" panose="020B0609020204030204" pitchFamily="49" charset="0"/>
                <a:cs typeface="Consolas" panose="020B0609020204030204" pitchFamily="49" charset="0"/>
              </a:rPr>
              <a:t> peek();</a:t>
            </a:r>
          </a:p>
          <a:p>
            <a:endParaRPr lang="en-US">
              <a:latin typeface="Consolas" panose="020B0609020204030204" pitchFamily="49" charset="0"/>
              <a:cs typeface="Consolas" panose="020B0609020204030204" pitchFamily="49" charset="0"/>
            </a:endParaRPr>
          </a:p>
          <a:p>
            <a:r>
              <a:rPr lang="en-US">
                <a:solidFill>
                  <a:srgbClr val="007B00"/>
                </a:solidFill>
                <a:latin typeface="Consolas" panose="020B0609020204030204" pitchFamily="49" charset="0"/>
                <a:cs typeface="Consolas" panose="020B0609020204030204" pitchFamily="49" charset="0"/>
              </a:rPr>
              <a:t>// Returns the number of elements currently in the queue.</a:t>
            </a:r>
            <a:br>
              <a:rPr lang="en-US">
                <a:latin typeface="Consolas" panose="020B0609020204030204" pitchFamily="49" charset="0"/>
                <a:cs typeface="Consolas" panose="020B0609020204030204" pitchFamily="49" charset="0"/>
              </a:rPr>
            </a:br>
            <a:r>
              <a:rPr lang="en-US">
                <a:solidFill>
                  <a:srgbClr val="000080"/>
                </a:solidFill>
                <a:latin typeface="Consolas" panose="020B0609020204030204" pitchFamily="49" charset="0"/>
                <a:cs typeface="Consolas" panose="020B0609020204030204" pitchFamily="49" charset="0"/>
              </a:rPr>
              <a:t>int</a:t>
            </a:r>
            <a:r>
              <a:rPr lang="en-US">
                <a:latin typeface="Consolas" panose="020B0609020204030204" pitchFamily="49" charset="0"/>
                <a:cs typeface="Consolas" panose="020B0609020204030204" pitchFamily="49" charset="0"/>
              </a:rPr>
              <a:t> size();</a:t>
            </a:r>
          </a:p>
        </p:txBody>
      </p:sp>
      <p:pic>
        <p:nvPicPr>
          <p:cNvPr id="2" name="Picture 1">
            <a:extLst>
              <a:ext uri="{FF2B5EF4-FFF2-40B4-BE49-F238E27FC236}">
                <a16:creationId xmlns:a16="http://schemas.microsoft.com/office/drawing/2014/main" id="{9477674B-5EB8-7CBE-3932-5B1ACF05054A}"/>
              </a:ext>
            </a:extLst>
          </p:cNvPr>
          <p:cNvPicPr>
            <a:picLocks noChangeAspect="1"/>
          </p:cNvPicPr>
          <p:nvPr/>
        </p:nvPicPr>
        <p:blipFill rotWithShape="1">
          <a:blip r:embed="rId2"/>
          <a:srcRect l="13065" t="14243" r="10328" b="32486"/>
          <a:stretch/>
        </p:blipFill>
        <p:spPr>
          <a:xfrm>
            <a:off x="4890977" y="1556837"/>
            <a:ext cx="3785190" cy="1297779"/>
          </a:xfrm>
          <a:prstGeom prst="rect">
            <a:avLst/>
          </a:prstGeom>
          <a:ln>
            <a:solidFill>
              <a:schemeClr val="tx1"/>
            </a:solidFill>
          </a:ln>
        </p:spPr>
      </p:pic>
    </p:spTree>
    <p:extLst>
      <p:ext uri="{BB962C8B-B14F-4D97-AF65-F5344CB8AC3E}">
        <p14:creationId xmlns:p14="http://schemas.microsoft.com/office/powerpoint/2010/main" val="290911736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5DB73B-796B-C3EE-A7EA-BB73077A7A36}"/>
              </a:ext>
            </a:extLst>
          </p:cNvPr>
          <p:cNvPicPr>
            <a:picLocks noChangeAspect="1"/>
          </p:cNvPicPr>
          <p:nvPr/>
        </p:nvPicPr>
        <p:blipFill rotWithShape="1">
          <a:blip r:embed="rId2"/>
          <a:srcRect l="13065" t="14243" r="10328" b="32486"/>
          <a:stretch/>
        </p:blipFill>
        <p:spPr>
          <a:xfrm>
            <a:off x="500508" y="295277"/>
            <a:ext cx="8142983" cy="2791879"/>
          </a:xfrm>
          <a:prstGeom prst="rect">
            <a:avLst/>
          </a:prstGeom>
          <a:ln>
            <a:solidFill>
              <a:schemeClr val="tx1"/>
            </a:solidFill>
          </a:ln>
        </p:spPr>
      </p:pic>
      <p:sp>
        <p:nvSpPr>
          <p:cNvPr id="4" name="TextBox 3">
            <a:extLst>
              <a:ext uri="{FF2B5EF4-FFF2-40B4-BE49-F238E27FC236}">
                <a16:creationId xmlns:a16="http://schemas.microsoft.com/office/drawing/2014/main" id="{F58E05D6-1E63-747D-FD13-0E40FAE62FDF}"/>
              </a:ext>
            </a:extLst>
          </p:cNvPr>
          <p:cNvSpPr txBox="1"/>
          <p:nvPr/>
        </p:nvSpPr>
        <p:spPr>
          <a:xfrm>
            <a:off x="5635254" y="1235348"/>
            <a:ext cx="520997" cy="707886"/>
          </a:xfrm>
          <a:prstGeom prst="rect">
            <a:avLst/>
          </a:prstGeom>
          <a:noFill/>
        </p:spPr>
        <p:txBody>
          <a:bodyPr wrap="square" rtlCol="0">
            <a:spAutoFit/>
          </a:bodyPr>
          <a:lstStyle/>
          <a:p>
            <a:pPr algn="ctr"/>
            <a:r>
              <a:rPr lang="en-US" sz="4000"/>
              <a:t>A</a:t>
            </a:r>
          </a:p>
        </p:txBody>
      </p:sp>
      <p:sp>
        <p:nvSpPr>
          <p:cNvPr id="5" name="TextBox 4">
            <a:extLst>
              <a:ext uri="{FF2B5EF4-FFF2-40B4-BE49-F238E27FC236}">
                <a16:creationId xmlns:a16="http://schemas.microsoft.com/office/drawing/2014/main" id="{8971B66E-0474-31EA-6470-B7C8FB51ED07}"/>
              </a:ext>
            </a:extLst>
          </p:cNvPr>
          <p:cNvSpPr txBox="1"/>
          <p:nvPr/>
        </p:nvSpPr>
        <p:spPr>
          <a:xfrm>
            <a:off x="5039831" y="1235348"/>
            <a:ext cx="520997" cy="707886"/>
          </a:xfrm>
          <a:prstGeom prst="rect">
            <a:avLst/>
          </a:prstGeom>
          <a:noFill/>
        </p:spPr>
        <p:txBody>
          <a:bodyPr wrap="square" rtlCol="0">
            <a:spAutoFit/>
          </a:bodyPr>
          <a:lstStyle/>
          <a:p>
            <a:pPr algn="ctr"/>
            <a:r>
              <a:rPr lang="en-US" sz="4000"/>
              <a:t>B</a:t>
            </a:r>
          </a:p>
        </p:txBody>
      </p:sp>
      <p:sp>
        <p:nvSpPr>
          <p:cNvPr id="6" name="TextBox 5">
            <a:extLst>
              <a:ext uri="{FF2B5EF4-FFF2-40B4-BE49-F238E27FC236}">
                <a16:creationId xmlns:a16="http://schemas.microsoft.com/office/drawing/2014/main" id="{0A02478F-A406-15CD-2B3C-A3027B0FFFE4}"/>
              </a:ext>
            </a:extLst>
          </p:cNvPr>
          <p:cNvSpPr txBox="1"/>
          <p:nvPr/>
        </p:nvSpPr>
        <p:spPr>
          <a:xfrm>
            <a:off x="4444407" y="1235348"/>
            <a:ext cx="520997" cy="707886"/>
          </a:xfrm>
          <a:prstGeom prst="rect">
            <a:avLst/>
          </a:prstGeom>
          <a:noFill/>
        </p:spPr>
        <p:txBody>
          <a:bodyPr wrap="square" rtlCol="0">
            <a:spAutoFit/>
          </a:bodyPr>
          <a:lstStyle/>
          <a:p>
            <a:pPr algn="ctr"/>
            <a:r>
              <a:rPr lang="en-US" sz="4000"/>
              <a:t>C</a:t>
            </a:r>
          </a:p>
        </p:txBody>
      </p:sp>
      <p:sp>
        <p:nvSpPr>
          <p:cNvPr id="7" name="TextBox 6">
            <a:extLst>
              <a:ext uri="{FF2B5EF4-FFF2-40B4-BE49-F238E27FC236}">
                <a16:creationId xmlns:a16="http://schemas.microsoft.com/office/drawing/2014/main" id="{40100AB7-EA1A-245B-40C8-F70A00C86382}"/>
              </a:ext>
            </a:extLst>
          </p:cNvPr>
          <p:cNvSpPr txBox="1"/>
          <p:nvPr/>
        </p:nvSpPr>
        <p:spPr>
          <a:xfrm>
            <a:off x="3848984" y="1235348"/>
            <a:ext cx="520997" cy="707886"/>
          </a:xfrm>
          <a:prstGeom prst="rect">
            <a:avLst/>
          </a:prstGeom>
          <a:noFill/>
        </p:spPr>
        <p:txBody>
          <a:bodyPr wrap="square" rtlCol="0">
            <a:spAutoFit/>
          </a:bodyPr>
          <a:lstStyle/>
          <a:p>
            <a:pPr algn="ctr"/>
            <a:r>
              <a:rPr lang="en-US" sz="4000"/>
              <a:t>D</a:t>
            </a:r>
          </a:p>
        </p:txBody>
      </p:sp>
      <p:sp>
        <p:nvSpPr>
          <p:cNvPr id="8" name="TextBox 7">
            <a:extLst>
              <a:ext uri="{FF2B5EF4-FFF2-40B4-BE49-F238E27FC236}">
                <a16:creationId xmlns:a16="http://schemas.microsoft.com/office/drawing/2014/main" id="{CAA2AB4A-BDA5-65DB-95AE-9E29EC7C4918}"/>
              </a:ext>
            </a:extLst>
          </p:cNvPr>
          <p:cNvSpPr txBox="1"/>
          <p:nvPr/>
        </p:nvSpPr>
        <p:spPr>
          <a:xfrm>
            <a:off x="3253561" y="1235348"/>
            <a:ext cx="520997" cy="707886"/>
          </a:xfrm>
          <a:prstGeom prst="rect">
            <a:avLst/>
          </a:prstGeom>
          <a:noFill/>
        </p:spPr>
        <p:txBody>
          <a:bodyPr wrap="square" rtlCol="0">
            <a:spAutoFit/>
          </a:bodyPr>
          <a:lstStyle/>
          <a:p>
            <a:pPr algn="ctr"/>
            <a:r>
              <a:rPr lang="en-US" sz="4000"/>
              <a:t>E</a:t>
            </a:r>
          </a:p>
        </p:txBody>
      </p:sp>
      <p:sp>
        <p:nvSpPr>
          <p:cNvPr id="9" name="TextBox 8">
            <a:extLst>
              <a:ext uri="{FF2B5EF4-FFF2-40B4-BE49-F238E27FC236}">
                <a16:creationId xmlns:a16="http://schemas.microsoft.com/office/drawing/2014/main" id="{CE399D29-4ACE-D554-9779-9FAE29C30F3D}"/>
              </a:ext>
            </a:extLst>
          </p:cNvPr>
          <p:cNvSpPr txBox="1"/>
          <p:nvPr/>
        </p:nvSpPr>
        <p:spPr>
          <a:xfrm>
            <a:off x="2668770" y="1235348"/>
            <a:ext cx="520997" cy="707886"/>
          </a:xfrm>
          <a:prstGeom prst="rect">
            <a:avLst/>
          </a:prstGeom>
          <a:noFill/>
        </p:spPr>
        <p:txBody>
          <a:bodyPr wrap="square" rtlCol="0">
            <a:spAutoFit/>
          </a:bodyPr>
          <a:lstStyle/>
          <a:p>
            <a:pPr algn="ctr"/>
            <a:r>
              <a:rPr lang="en-US" sz="4000"/>
              <a:t>F</a:t>
            </a:r>
          </a:p>
        </p:txBody>
      </p:sp>
      <p:sp>
        <p:nvSpPr>
          <p:cNvPr id="10" name="TextBox 9">
            <a:extLst>
              <a:ext uri="{FF2B5EF4-FFF2-40B4-BE49-F238E27FC236}">
                <a16:creationId xmlns:a16="http://schemas.microsoft.com/office/drawing/2014/main" id="{04880FE8-71C8-C085-36C6-A5FC6555F892}"/>
              </a:ext>
            </a:extLst>
          </p:cNvPr>
          <p:cNvSpPr txBox="1"/>
          <p:nvPr/>
        </p:nvSpPr>
        <p:spPr>
          <a:xfrm>
            <a:off x="844105" y="3427062"/>
            <a:ext cx="3860800" cy="1200329"/>
          </a:xfrm>
          <a:prstGeom prst="rect">
            <a:avLst/>
          </a:prstGeom>
          <a:solidFill>
            <a:schemeClr val="accent5">
              <a:lumMod val="20000"/>
              <a:lumOff val="80000"/>
            </a:schemeClr>
          </a:solidFill>
          <a:ln>
            <a:solidFill>
              <a:schemeClr val="tx1"/>
            </a:solidFill>
          </a:ln>
        </p:spPr>
        <p:txBody>
          <a:bodyPr wrap="square" rtlCol="0">
            <a:spAutoFit/>
          </a:bodyPr>
          <a:lstStyle/>
          <a:p>
            <a:r>
              <a:rPr lang="en-US">
                <a:solidFill>
                  <a:schemeClr val="accent5">
                    <a:lumMod val="50000"/>
                  </a:schemeClr>
                </a:solidFill>
                <a:latin typeface="Consolas" panose="020B0609020204030204" pitchFamily="49" charset="0"/>
                <a:cs typeface="Consolas" panose="020B0609020204030204" pitchFamily="49" charset="0"/>
              </a:rPr>
              <a:t>queue.add(A)</a:t>
            </a:r>
          </a:p>
          <a:p>
            <a:r>
              <a:rPr lang="en-US">
                <a:solidFill>
                  <a:schemeClr val="accent5">
                    <a:lumMod val="50000"/>
                  </a:schemeClr>
                </a:solidFill>
                <a:latin typeface="Consolas" panose="020B0609020204030204" pitchFamily="49" charset="0"/>
                <a:cs typeface="Consolas" panose="020B0609020204030204" pitchFamily="49" charset="0"/>
              </a:rPr>
              <a:t>queue.add(B)</a:t>
            </a:r>
          </a:p>
          <a:p>
            <a:r>
              <a:rPr lang="en-US">
                <a:solidFill>
                  <a:schemeClr val="accent5">
                    <a:lumMod val="50000"/>
                  </a:schemeClr>
                </a:solidFill>
                <a:latin typeface="Consolas" panose="020B0609020204030204" pitchFamily="49" charset="0"/>
                <a:cs typeface="Consolas" panose="020B0609020204030204" pitchFamily="49" charset="0"/>
              </a:rPr>
              <a:t>queue.add(C)</a:t>
            </a:r>
          </a:p>
          <a:p>
            <a:r>
              <a:rPr lang="en-US">
                <a:solidFill>
                  <a:schemeClr val="accent5">
                    <a:lumMod val="50000"/>
                  </a:schemeClr>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143767932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8E08B-CEFF-A212-5D1C-6BFFCAC35FCC}"/>
              </a:ext>
            </a:extLst>
          </p:cNvPr>
          <p:cNvSpPr>
            <a:spLocks noGrp="1"/>
          </p:cNvSpPr>
          <p:nvPr>
            <p:ph type="title"/>
          </p:nvPr>
        </p:nvSpPr>
        <p:spPr/>
        <p:txBody>
          <a:bodyPr/>
          <a:lstStyle/>
          <a:p>
            <a:r>
              <a:rPr lang="en-US" b="1"/>
              <a:t>wrap-up:</a:t>
            </a:r>
            <a:br>
              <a:rPr lang="en-US"/>
            </a:br>
            <a:r>
              <a:rPr lang="en-US"/>
              <a:t>deque</a:t>
            </a:r>
            <a:br>
              <a:rPr lang="en-US"/>
            </a:br>
            <a:r>
              <a:rPr lang="en-US" sz="4800"/>
              <a:t>(double-ended queue)</a:t>
            </a:r>
            <a:endParaRPr lang="en-US"/>
          </a:p>
        </p:txBody>
      </p:sp>
    </p:spTree>
    <p:extLst>
      <p:ext uri="{BB962C8B-B14F-4D97-AF65-F5344CB8AC3E}">
        <p14:creationId xmlns:p14="http://schemas.microsoft.com/office/powerpoint/2010/main" val="289524534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FAD31-5D8E-829C-0D2E-D0F72AC467EB}"/>
              </a:ext>
            </a:extLst>
          </p:cNvPr>
          <p:cNvSpPr>
            <a:spLocks noGrp="1"/>
          </p:cNvSpPr>
          <p:nvPr>
            <p:ph type="title"/>
          </p:nvPr>
        </p:nvSpPr>
        <p:spPr/>
        <p:txBody>
          <a:bodyPr/>
          <a:lstStyle/>
          <a:p>
            <a:r>
              <a:rPr lang="en-US"/>
              <a:t>naive deque implemenation</a:t>
            </a:r>
          </a:p>
        </p:txBody>
      </p:sp>
    </p:spTree>
    <p:extLst>
      <p:ext uri="{BB962C8B-B14F-4D97-AF65-F5344CB8AC3E}">
        <p14:creationId xmlns:p14="http://schemas.microsoft.com/office/powerpoint/2010/main" val="105614954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12526-33F2-C815-A1E4-7ECA06E2092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C3007B7-7CD0-D583-348E-E1ADC34B2B3E}"/>
              </a:ext>
            </a:extLst>
          </p:cNvPr>
          <p:cNvSpPr>
            <a:spLocks noGrp="1"/>
          </p:cNvSpPr>
          <p:nvPr>
            <p:ph type="title"/>
          </p:nvPr>
        </p:nvSpPr>
        <p:spPr>
          <a:xfrm>
            <a:off x="223120" y="258543"/>
            <a:ext cx="8229600" cy="667168"/>
          </a:xfrm>
        </p:spPr>
        <p:txBody>
          <a:bodyPr>
            <a:normAutofit fontScale="90000"/>
          </a:bodyPr>
          <a:lstStyle/>
          <a:p>
            <a:pPr algn="l"/>
            <a:r>
              <a:rPr lang="en-US" sz="2800"/>
              <a:t>implementing a deque using a left-aligned, left-facing internal array</a:t>
            </a:r>
            <a:endParaRPr lang="en-US" sz="2800">
              <a:solidFill>
                <a:srgbClr val="FF6DC6"/>
              </a:solidFill>
              <a:latin typeface="+mj-lt"/>
            </a:endParaRPr>
          </a:p>
        </p:txBody>
      </p:sp>
      <p:sp>
        <p:nvSpPr>
          <p:cNvPr id="5" name="Content Placeholder 4">
            <a:extLst>
              <a:ext uri="{FF2B5EF4-FFF2-40B4-BE49-F238E27FC236}">
                <a16:creationId xmlns:a16="http://schemas.microsoft.com/office/drawing/2014/main" id="{9EA03513-37B7-69FA-7A6C-2419B3A6FD67}"/>
              </a:ext>
            </a:extLst>
          </p:cNvPr>
          <p:cNvSpPr>
            <a:spLocks noGrp="1"/>
          </p:cNvSpPr>
          <p:nvPr>
            <p:ph sz="quarter" idx="10"/>
          </p:nvPr>
        </p:nvSpPr>
        <p:spPr>
          <a:xfrm>
            <a:off x="223120" y="1063229"/>
            <a:ext cx="8387480" cy="4080271"/>
          </a:xfrm>
        </p:spPr>
        <p:txBody>
          <a:bodyPr/>
          <a:lstStyle/>
          <a:p>
            <a:r>
              <a:rPr lang="en-US" sz="1800">
                <a:latin typeface="+mj-lt"/>
              </a:rPr>
              <a:t>addFront(...)</a:t>
            </a:r>
          </a:p>
          <a:p>
            <a:r>
              <a:rPr lang="en-US" sz="1800">
                <a:latin typeface="+mj-lt"/>
              </a:rPr>
              <a:t>removeFront()</a:t>
            </a:r>
          </a:p>
          <a:p>
            <a:r>
              <a:rPr lang="en-US" sz="1800">
                <a:latin typeface="+mj-lt"/>
              </a:rPr>
              <a:t>addBack(...)</a:t>
            </a:r>
          </a:p>
          <a:p>
            <a:r>
              <a:rPr lang="en-US" sz="1800">
                <a:latin typeface="+mj-lt"/>
              </a:rPr>
              <a:t>removeBack()</a:t>
            </a:r>
          </a:p>
          <a:p>
            <a:endParaRPr lang="en-US">
              <a:latin typeface="+mj-lt"/>
            </a:endParaRPr>
          </a:p>
          <a:p>
            <a:r>
              <a:rPr lang="en-US" sz="1800"/>
              <a:t>🧠 </a:t>
            </a:r>
            <a:r>
              <a:rPr lang="en-US">
                <a:solidFill>
                  <a:srgbClr val="FF6DC6"/>
                </a:solidFill>
              </a:rPr>
              <a:t>what is the </a:t>
            </a:r>
            <a:r>
              <a:rPr lang="en-US" b="1">
                <a:solidFill>
                  <a:srgbClr val="FF6DC6"/>
                </a:solidFill>
              </a:rPr>
              <a:t>amortized runtime</a:t>
            </a:r>
            <a:r>
              <a:rPr lang="en-US">
                <a:solidFill>
                  <a:srgbClr val="FF6DC6"/>
                </a:solidFill>
              </a:rPr>
              <a:t> of these functions if we were to implement</a:t>
            </a:r>
            <a:br>
              <a:rPr lang="en-US">
                <a:solidFill>
                  <a:srgbClr val="FF6DC6"/>
                </a:solidFill>
              </a:rPr>
            </a:br>
            <a:r>
              <a:rPr lang="en-US">
                <a:solidFill>
                  <a:srgbClr val="FF6DC6"/>
                </a:solidFill>
              </a:rPr>
              <a:t>the deque interface using an array list?</a:t>
            </a:r>
          </a:p>
          <a:p>
            <a:pPr lvl="1"/>
            <a:r>
              <a:rPr lang="en-US"/>
              <a:t>😐	</a:t>
            </a:r>
            <a:r>
              <a:rPr lang="en-US">
                <a:solidFill>
                  <a:srgbClr val="FF6DC6"/>
                </a:solidFill>
                <a:latin typeface="+mj-lt"/>
              </a:rPr>
              <a:t>O(n) addFront(...) and removeFront() </a:t>
            </a:r>
          </a:p>
          <a:p>
            <a:pPr lvl="1"/>
            <a:r>
              <a:rPr lang="en-US"/>
              <a:t>😀	</a:t>
            </a:r>
            <a:r>
              <a:rPr lang="en-US">
                <a:solidFill>
                  <a:srgbClr val="FF6DC6"/>
                </a:solidFill>
                <a:latin typeface="+mj-lt"/>
              </a:rPr>
              <a:t>O(1) addBack(...) and removeBack() </a:t>
            </a:r>
            <a:endParaRPr lang="en-US"/>
          </a:p>
          <a:p>
            <a:pPr lvl="1"/>
            <a:endParaRPr lang="en-US">
              <a:solidFill>
                <a:srgbClr val="FF6DC6"/>
              </a:solidFill>
            </a:endParaRPr>
          </a:p>
          <a:p>
            <a:r>
              <a:rPr lang="en-US" sz="1800"/>
              <a:t>🧠 </a:t>
            </a:r>
            <a:r>
              <a:rPr lang="en-US">
                <a:solidFill>
                  <a:srgbClr val="FF6DC6"/>
                </a:solidFill>
              </a:rPr>
              <a:t>can we do better?</a:t>
            </a:r>
          </a:p>
          <a:p>
            <a:endParaRPr lang="en-US">
              <a:solidFill>
                <a:srgbClr val="FF6DC6"/>
              </a:solidFill>
            </a:endParaRPr>
          </a:p>
        </p:txBody>
      </p:sp>
      <p:grpSp>
        <p:nvGrpSpPr>
          <p:cNvPr id="13" name="Group 12">
            <a:extLst>
              <a:ext uri="{FF2B5EF4-FFF2-40B4-BE49-F238E27FC236}">
                <a16:creationId xmlns:a16="http://schemas.microsoft.com/office/drawing/2014/main" id="{F078C4DB-2F0B-E646-155E-CA83BB06B5F5}"/>
              </a:ext>
            </a:extLst>
          </p:cNvPr>
          <p:cNvGrpSpPr/>
          <p:nvPr/>
        </p:nvGrpSpPr>
        <p:grpSpPr>
          <a:xfrm>
            <a:off x="2505876" y="1246002"/>
            <a:ext cx="5768486" cy="1141598"/>
            <a:chOff x="2708301" y="897208"/>
            <a:chExt cx="5768486" cy="1141598"/>
          </a:xfrm>
        </p:grpSpPr>
        <p:sp>
          <p:nvSpPr>
            <p:cNvPr id="12" name="Rectangle 11">
              <a:extLst>
                <a:ext uri="{FF2B5EF4-FFF2-40B4-BE49-F238E27FC236}">
                  <a16:creationId xmlns:a16="http://schemas.microsoft.com/office/drawing/2014/main" id="{077373E0-A356-8C4E-107B-7F343D084ED8}"/>
                </a:ext>
              </a:extLst>
            </p:cNvPr>
            <p:cNvSpPr/>
            <p:nvPr/>
          </p:nvSpPr>
          <p:spPr>
            <a:xfrm>
              <a:off x="2708302" y="897208"/>
              <a:ext cx="5657416" cy="1141598"/>
            </a:xfrm>
            <a:prstGeom prst="rect">
              <a:avLst/>
            </a:prstGeom>
            <a:solidFill>
              <a:schemeClr val="accent6">
                <a:lumMod val="20000"/>
                <a:lumOff val="8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73E03C8-753C-460D-5110-1CDCD7F370F5}"/>
                </a:ext>
              </a:extLst>
            </p:cNvPr>
            <p:cNvSpPr txBox="1"/>
            <p:nvPr/>
          </p:nvSpPr>
          <p:spPr>
            <a:xfrm>
              <a:off x="3580625" y="1338990"/>
              <a:ext cx="3992648" cy="369332"/>
            </a:xfrm>
            <a:prstGeom prst="rect">
              <a:avLst/>
            </a:prstGeom>
            <a:solidFill>
              <a:schemeClr val="accent4">
                <a:lumMod val="40000"/>
                <a:lumOff val="60000"/>
              </a:schemeClr>
            </a:solidFill>
            <a:ln>
              <a:solidFill>
                <a:schemeClr val="tx1"/>
              </a:solidFill>
            </a:ln>
          </p:spPr>
          <p:txBody>
            <a:bodyPr wrap="square" rtlCol="0">
              <a:spAutoFit/>
            </a:bodyPr>
            <a:lstStyle/>
            <a:p>
              <a:pPr algn="ctr"/>
              <a:r>
                <a:rPr lang="en-US">
                  <a:latin typeface="Consolas" panose="020B0609020204030204" pitchFamily="49" charset="0"/>
                  <a:cs typeface="Consolas" panose="020B0609020204030204" pitchFamily="49" charset="0"/>
                </a:rPr>
                <a:t>AAAA BBBB CCCC DDDD </a:t>
              </a:r>
              <a:r>
                <a:rPr lang="en-US">
                  <a:solidFill>
                    <a:srgbClr val="0432FF"/>
                  </a:solidFill>
                  <a:latin typeface="Consolas" panose="020B0609020204030204" pitchFamily="49" charset="0"/>
                  <a:cs typeface="Consolas" panose="020B0609020204030204" pitchFamily="49" charset="0"/>
                </a:rPr>
                <a:t>null</a:t>
              </a:r>
              <a:r>
                <a:rPr lang="en-US">
                  <a:latin typeface="Consolas" panose="020B0609020204030204" pitchFamily="49" charset="0"/>
                  <a:cs typeface="Consolas" panose="020B0609020204030204" pitchFamily="49" charset="0"/>
                </a:rPr>
                <a:t> </a:t>
              </a:r>
              <a:r>
                <a:rPr lang="en-US">
                  <a:solidFill>
                    <a:srgbClr val="0432FF"/>
                  </a:solidFill>
                  <a:latin typeface="Consolas" panose="020B0609020204030204" pitchFamily="49" charset="0"/>
                  <a:cs typeface="Consolas" panose="020B0609020204030204" pitchFamily="49" charset="0"/>
                </a:rPr>
                <a:t>null</a:t>
              </a:r>
              <a:r>
                <a:rPr lang="en-US">
                  <a:latin typeface="Consolas" panose="020B0609020204030204" pitchFamily="49" charset="0"/>
                  <a:cs typeface="Consolas" panose="020B0609020204030204" pitchFamily="49" charset="0"/>
                </a:rPr>
                <a:t> </a:t>
              </a:r>
              <a:endParaRPr lang="en-US">
                <a:solidFill>
                  <a:schemeClr val="accent4">
                    <a:lumMod val="75000"/>
                  </a:schemeClr>
                </a:solidFill>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E4736793-438F-E7B3-5544-0DFC65095E6E}"/>
                </a:ext>
              </a:extLst>
            </p:cNvPr>
            <p:cNvSpPr txBox="1"/>
            <p:nvPr/>
          </p:nvSpPr>
          <p:spPr>
            <a:xfrm>
              <a:off x="2708301" y="934758"/>
              <a:ext cx="5549222" cy="369332"/>
            </a:xfrm>
            <a:prstGeom prst="rect">
              <a:avLst/>
            </a:prstGeom>
            <a:noFill/>
          </p:spPr>
          <p:txBody>
            <a:bodyPr wrap="square" rtlCol="0">
              <a:spAutoFit/>
            </a:bodyPr>
            <a:lstStyle/>
            <a:p>
              <a:pPr algn="ctr"/>
              <a:r>
                <a:rPr lang="en-US"/>
                <a:t>internal array</a:t>
              </a:r>
            </a:p>
          </p:txBody>
        </p:sp>
        <p:sp>
          <p:nvSpPr>
            <p:cNvPr id="9" name="TextBox 8">
              <a:extLst>
                <a:ext uri="{FF2B5EF4-FFF2-40B4-BE49-F238E27FC236}">
                  <a16:creationId xmlns:a16="http://schemas.microsoft.com/office/drawing/2014/main" id="{8E896ECF-F67A-9280-9065-D9B2CF992EF6}"/>
                </a:ext>
              </a:extLst>
            </p:cNvPr>
            <p:cNvSpPr txBox="1"/>
            <p:nvPr/>
          </p:nvSpPr>
          <p:spPr>
            <a:xfrm>
              <a:off x="2751653" y="1338990"/>
              <a:ext cx="845906" cy="369332"/>
            </a:xfrm>
            <a:prstGeom prst="rect">
              <a:avLst/>
            </a:prstGeom>
            <a:noFill/>
          </p:spPr>
          <p:txBody>
            <a:bodyPr wrap="square">
              <a:spAutoFit/>
            </a:bodyPr>
            <a:lstStyle/>
            <a:p>
              <a:r>
                <a:rPr lang="en-US" sz="1800">
                  <a:solidFill>
                    <a:schemeClr val="accent4">
                      <a:lumMod val="75000"/>
                    </a:schemeClr>
                  </a:solidFill>
                  <a:latin typeface="Consolas" panose="020B0609020204030204" pitchFamily="49" charset="0"/>
                  <a:cs typeface="Consolas" panose="020B0609020204030204" pitchFamily="49" charset="0"/>
                </a:rPr>
                <a:t>FRONT</a:t>
              </a:r>
              <a:r>
                <a:rPr lang="en-US" sz="1800">
                  <a:latin typeface="Consolas" panose="020B0609020204030204" pitchFamily="49" charset="0"/>
                  <a:cs typeface="Consolas" panose="020B0609020204030204" pitchFamily="49" charset="0"/>
                </a:rPr>
                <a:t>  </a:t>
              </a:r>
              <a:endParaRPr lang="en-US"/>
            </a:p>
          </p:txBody>
        </p:sp>
        <p:sp>
          <p:nvSpPr>
            <p:cNvPr id="11" name="TextBox 10">
              <a:extLst>
                <a:ext uri="{FF2B5EF4-FFF2-40B4-BE49-F238E27FC236}">
                  <a16:creationId xmlns:a16="http://schemas.microsoft.com/office/drawing/2014/main" id="{82838D74-BE63-E71B-B7ED-9723AF785157}"/>
                </a:ext>
              </a:extLst>
            </p:cNvPr>
            <p:cNvSpPr txBox="1"/>
            <p:nvPr/>
          </p:nvSpPr>
          <p:spPr>
            <a:xfrm>
              <a:off x="7496073" y="1340874"/>
              <a:ext cx="980714" cy="369332"/>
            </a:xfrm>
            <a:prstGeom prst="rect">
              <a:avLst/>
            </a:prstGeom>
            <a:noFill/>
          </p:spPr>
          <p:txBody>
            <a:bodyPr wrap="square">
              <a:spAutoFit/>
            </a:bodyPr>
            <a:lstStyle/>
            <a:p>
              <a:r>
                <a:rPr lang="en-US" sz="1800">
                  <a:latin typeface="Consolas" panose="020B0609020204030204" pitchFamily="49" charset="0"/>
                  <a:cs typeface="Consolas" panose="020B0609020204030204" pitchFamily="49" charset="0"/>
                </a:rPr>
                <a:t> </a:t>
              </a:r>
              <a:r>
                <a:rPr lang="en-US" sz="1800">
                  <a:solidFill>
                    <a:schemeClr val="accent4">
                      <a:lumMod val="75000"/>
                    </a:schemeClr>
                  </a:solidFill>
                  <a:latin typeface="Consolas" panose="020B0609020204030204" pitchFamily="49" charset="0"/>
                  <a:cs typeface="Consolas" panose="020B0609020204030204" pitchFamily="49" charset="0"/>
                </a:rPr>
                <a:t>BACK</a:t>
              </a:r>
              <a:endParaRPr lang="en-US"/>
            </a:p>
          </p:txBody>
        </p:sp>
      </p:grpSp>
      <p:cxnSp>
        <p:nvCxnSpPr>
          <p:cNvPr id="15" name="Straight Arrow Connector 14">
            <a:extLst>
              <a:ext uri="{FF2B5EF4-FFF2-40B4-BE49-F238E27FC236}">
                <a16:creationId xmlns:a16="http://schemas.microsoft.com/office/drawing/2014/main" id="{5F09DF82-4325-E05E-7206-FE9FC76CDD05}"/>
              </a:ext>
            </a:extLst>
          </p:cNvPr>
          <p:cNvCxnSpPr/>
          <p:nvPr/>
        </p:nvCxnSpPr>
        <p:spPr>
          <a:xfrm flipH="1">
            <a:off x="3564468" y="2212497"/>
            <a:ext cx="3556000" cy="0"/>
          </a:xfrm>
          <a:prstGeom prst="straightConnector1">
            <a:avLst/>
          </a:prstGeom>
          <a:ln>
            <a:solidFill>
              <a:schemeClr val="accent6">
                <a:lumMod val="75000"/>
              </a:schemeClr>
            </a:solidFill>
            <a:tailEnd type="triangle" w="lg" len="lg"/>
          </a:ln>
          <a:effectLst/>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63441182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763EA-B2A4-5CC3-4A6E-AFC36FE2BE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980DA-637D-157B-00EC-68046FED8E13}"/>
              </a:ext>
            </a:extLst>
          </p:cNvPr>
          <p:cNvSpPr>
            <a:spLocks noGrp="1"/>
          </p:cNvSpPr>
          <p:nvPr>
            <p:ph type="title"/>
          </p:nvPr>
        </p:nvSpPr>
        <p:spPr/>
        <p:txBody>
          <a:bodyPr/>
          <a:lstStyle/>
          <a:p>
            <a:r>
              <a:rPr lang="en-US"/>
              <a:t>wonderful deque implemenation</a:t>
            </a:r>
          </a:p>
        </p:txBody>
      </p:sp>
    </p:spTree>
    <p:extLst>
      <p:ext uri="{BB962C8B-B14F-4D97-AF65-F5344CB8AC3E}">
        <p14:creationId xmlns:p14="http://schemas.microsoft.com/office/powerpoint/2010/main" val="43173724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3E20BBA-849D-12D0-873C-E8979BBE36D0}"/>
              </a:ext>
            </a:extLst>
          </p:cNvPr>
          <p:cNvSpPr>
            <a:spLocks noGrp="1"/>
          </p:cNvSpPr>
          <p:nvPr>
            <p:ph type="title"/>
          </p:nvPr>
        </p:nvSpPr>
        <p:spPr/>
        <p:txBody>
          <a:bodyPr>
            <a:normAutofit fontScale="90000"/>
          </a:bodyPr>
          <a:lstStyle/>
          <a:p>
            <a:r>
              <a:rPr lang="en-US" b="1"/>
              <a:t>neat idea:</a:t>
            </a:r>
            <a:r>
              <a:rPr lang="en-US"/>
              <a:t> store the queue in the </a:t>
            </a:r>
            <a:r>
              <a:rPr lang="en-US" i="1"/>
              <a:t>middle</a:t>
            </a:r>
            <a:endParaRPr lang="en-US"/>
          </a:p>
        </p:txBody>
      </p:sp>
      <p:sp>
        <p:nvSpPr>
          <p:cNvPr id="4" name="Content Placeholder 3">
            <a:extLst>
              <a:ext uri="{FF2B5EF4-FFF2-40B4-BE49-F238E27FC236}">
                <a16:creationId xmlns:a16="http://schemas.microsoft.com/office/drawing/2014/main" id="{2B9874CB-CECE-5B9C-C040-6FEEE9BE4C28}"/>
              </a:ext>
            </a:extLst>
          </p:cNvPr>
          <p:cNvSpPr>
            <a:spLocks noGrp="1"/>
          </p:cNvSpPr>
          <p:nvPr>
            <p:ph sz="quarter" idx="10"/>
          </p:nvPr>
        </p:nvSpPr>
        <p:spPr/>
        <p:txBody>
          <a:bodyPr>
            <a:noAutofit/>
          </a:bodyPr>
          <a:lstStyle/>
          <a:p>
            <a:pPr marL="0" indent="0">
              <a:buNone/>
            </a:pPr>
            <a:r>
              <a:rPr lang="en-US" sz="1400">
                <a:solidFill>
                  <a:schemeClr val="bg1">
                    <a:lumMod val="75000"/>
                  </a:schemeClr>
                </a:solidFill>
                <a:latin typeface="Consolas" panose="020B0609020204030204" pitchFamily="49" charset="0"/>
                <a:cs typeface="Consolas" panose="020B0609020204030204" pitchFamily="49" charset="0"/>
              </a:rPr>
              <a:t>BACK [</a:t>
            </a:r>
            <a:r>
              <a:rPr lang="en-US" sz="1400">
                <a:latin typeface="Consolas" panose="020B0609020204030204" pitchFamily="49" charset="0"/>
                <a:cs typeface="Consolas" panose="020B0609020204030204" pitchFamily="49" charset="0"/>
              </a:rPr>
              <a:t> </a:t>
            </a:r>
            <a:r>
              <a:rPr lang="en-US" sz="1400">
                <a:solidFill>
                  <a:schemeClr val="bg1">
                    <a:lumMod val="75000"/>
                  </a:schemeClr>
                </a:solidFill>
                <a:latin typeface="Consolas" panose="020B0609020204030204" pitchFamily="49" charset="0"/>
                <a:cs typeface="Consolas" panose="020B0609020204030204" pitchFamily="49" charset="0"/>
              </a:rPr>
              <a:t>null null null null</a:t>
            </a:r>
            <a:r>
              <a:rPr lang="en-US" sz="1400">
                <a:latin typeface="Consolas" panose="020B0609020204030204" pitchFamily="49" charset="0"/>
                <a:cs typeface="Consolas" panose="020B0609020204030204" pitchFamily="49" charset="0"/>
              </a:rPr>
              <a:t> </a:t>
            </a:r>
            <a:r>
              <a:rPr lang="en-US" sz="1400">
                <a:solidFill>
                  <a:schemeClr val="bg1">
                    <a:lumMod val="75000"/>
                  </a:schemeClr>
                </a:solidFill>
                <a:latin typeface="Consolas" panose="020B0609020204030204" pitchFamily="49" charset="0"/>
                <a:cs typeface="Consolas" panose="020B0609020204030204" pitchFamily="49" charset="0"/>
              </a:rPr>
              <a:t>null null null ] FRONT</a:t>
            </a:r>
          </a:p>
          <a:p>
            <a:pPr marL="0" indent="0">
              <a:buNone/>
            </a:pPr>
            <a:r>
              <a:rPr lang="en-US" sz="1400">
                <a:solidFill>
                  <a:schemeClr val="accent5">
                    <a:lumMod val="75000"/>
                  </a:schemeClr>
                </a:solidFill>
                <a:latin typeface="Consolas" panose="020B0609020204030204" pitchFamily="49" charset="0"/>
                <a:cs typeface="Consolas" panose="020B0609020204030204" pitchFamily="49" charset="0"/>
              </a:rPr>
              <a:t>                                                         // addBack(1111)</a:t>
            </a:r>
          </a:p>
          <a:p>
            <a:pPr marL="0" indent="0">
              <a:buNone/>
            </a:pPr>
            <a:r>
              <a:rPr lang="en-US" sz="1400">
                <a:solidFill>
                  <a:schemeClr val="bg1">
                    <a:lumMod val="75000"/>
                  </a:schemeClr>
                </a:solidFill>
                <a:latin typeface="Consolas" panose="020B0609020204030204" pitchFamily="49" charset="0"/>
                <a:cs typeface="Consolas" panose="020B0609020204030204" pitchFamily="49" charset="0"/>
              </a:rPr>
              <a:t>BACK [</a:t>
            </a:r>
            <a:r>
              <a:rPr lang="en-US" sz="1400">
                <a:latin typeface="Consolas" panose="020B0609020204030204" pitchFamily="49" charset="0"/>
                <a:cs typeface="Consolas" panose="020B0609020204030204" pitchFamily="49" charset="0"/>
              </a:rPr>
              <a:t> </a:t>
            </a:r>
            <a:r>
              <a:rPr lang="en-US" sz="1400">
                <a:solidFill>
                  <a:schemeClr val="bg1">
                    <a:lumMod val="75000"/>
                  </a:schemeClr>
                </a:solidFill>
                <a:latin typeface="Consolas" panose="020B0609020204030204" pitchFamily="49" charset="0"/>
                <a:cs typeface="Consolas" panose="020B0609020204030204" pitchFamily="49" charset="0"/>
              </a:rPr>
              <a:t>null null null </a:t>
            </a:r>
            <a:r>
              <a:rPr lang="en-US" sz="1400">
                <a:latin typeface="Consolas" panose="020B0609020204030204" pitchFamily="49" charset="0"/>
                <a:cs typeface="Consolas" panose="020B0609020204030204" pitchFamily="49" charset="0"/>
              </a:rPr>
              <a:t>1111</a:t>
            </a:r>
            <a:r>
              <a:rPr lang="en-US" sz="1400">
                <a:solidFill>
                  <a:schemeClr val="bg1">
                    <a:lumMod val="75000"/>
                  </a:schemeClr>
                </a:solidFill>
                <a:latin typeface="Consolas" panose="020B0609020204030204" pitchFamily="49" charset="0"/>
                <a:cs typeface="Consolas" panose="020B0609020204030204" pitchFamily="49" charset="0"/>
              </a:rPr>
              <a:t> </a:t>
            </a:r>
            <a:r>
              <a:rPr lang="en-US" sz="1400">
                <a:solidFill>
                  <a:srgbClr val="FFFFFF">
                    <a:lumMod val="75000"/>
                  </a:srgbClr>
                </a:solidFill>
                <a:latin typeface="Consolas" panose="020B0609020204030204" pitchFamily="49" charset="0"/>
                <a:cs typeface="Consolas" panose="020B0609020204030204" pitchFamily="49" charset="0"/>
              </a:rPr>
              <a:t>null </a:t>
            </a:r>
            <a:r>
              <a:rPr lang="en-US" sz="1400">
                <a:solidFill>
                  <a:schemeClr val="bg1">
                    <a:lumMod val="75000"/>
                  </a:schemeClr>
                </a:solidFill>
                <a:latin typeface="Consolas" panose="020B0609020204030204" pitchFamily="49" charset="0"/>
                <a:cs typeface="Consolas" panose="020B0609020204030204" pitchFamily="49" charset="0"/>
              </a:rPr>
              <a:t>null null ] FRONT</a:t>
            </a:r>
            <a:endParaRPr lang="en-US" sz="1400">
              <a:latin typeface="Consolas" panose="020B0609020204030204" pitchFamily="49" charset="0"/>
              <a:cs typeface="Consolas" panose="020B0609020204030204" pitchFamily="49" charset="0"/>
            </a:endParaRPr>
          </a:p>
          <a:p>
            <a:pPr marL="0" indent="0">
              <a:buNone/>
            </a:pPr>
            <a:r>
              <a:rPr lang="en-US" sz="1400">
                <a:solidFill>
                  <a:schemeClr val="accent5">
                    <a:lumMod val="75000"/>
                  </a:schemeClr>
                </a:solidFill>
                <a:latin typeface="Consolas" panose="020B0609020204030204" pitchFamily="49" charset="0"/>
                <a:cs typeface="Consolas" panose="020B0609020204030204" pitchFamily="49" charset="0"/>
              </a:rPr>
              <a:t>                                                         // addBack(2222)</a:t>
            </a:r>
          </a:p>
          <a:p>
            <a:pPr marL="0" indent="0">
              <a:buNone/>
            </a:pPr>
            <a:r>
              <a:rPr lang="en-US" sz="1400">
                <a:solidFill>
                  <a:schemeClr val="bg1">
                    <a:lumMod val="75000"/>
                  </a:schemeClr>
                </a:solidFill>
                <a:latin typeface="Consolas" panose="020B0609020204030204" pitchFamily="49" charset="0"/>
                <a:cs typeface="Consolas" panose="020B0609020204030204" pitchFamily="49" charset="0"/>
              </a:rPr>
              <a:t>BACK [</a:t>
            </a:r>
            <a:r>
              <a:rPr lang="en-US" sz="1400">
                <a:latin typeface="Consolas" panose="020B0609020204030204" pitchFamily="49" charset="0"/>
                <a:cs typeface="Consolas" panose="020B0609020204030204" pitchFamily="49" charset="0"/>
              </a:rPr>
              <a:t> </a:t>
            </a:r>
            <a:r>
              <a:rPr lang="en-US" sz="1400">
                <a:solidFill>
                  <a:schemeClr val="bg1">
                    <a:lumMod val="75000"/>
                  </a:schemeClr>
                </a:solidFill>
                <a:latin typeface="Consolas" panose="020B0609020204030204" pitchFamily="49" charset="0"/>
                <a:cs typeface="Consolas" panose="020B0609020204030204" pitchFamily="49" charset="0"/>
              </a:rPr>
              <a:t>null null </a:t>
            </a:r>
            <a:r>
              <a:rPr lang="en-US" sz="1400">
                <a:latin typeface="Consolas" panose="020B0609020204030204" pitchFamily="49" charset="0"/>
                <a:cs typeface="Consolas" panose="020B0609020204030204" pitchFamily="49" charset="0"/>
              </a:rPr>
              <a:t>2222 1111 </a:t>
            </a:r>
            <a:r>
              <a:rPr lang="en-US" sz="1400">
                <a:solidFill>
                  <a:schemeClr val="bg1">
                    <a:lumMod val="75000"/>
                  </a:schemeClr>
                </a:solidFill>
                <a:latin typeface="Consolas" panose="020B0609020204030204" pitchFamily="49" charset="0"/>
                <a:cs typeface="Consolas" panose="020B0609020204030204" pitchFamily="49" charset="0"/>
              </a:rPr>
              <a:t>null null null ] FRONT</a:t>
            </a:r>
            <a:endParaRPr lang="en-US" sz="1400">
              <a:latin typeface="Consolas" panose="020B0609020204030204" pitchFamily="49" charset="0"/>
              <a:cs typeface="Consolas" panose="020B0609020204030204" pitchFamily="49" charset="0"/>
            </a:endParaRPr>
          </a:p>
          <a:p>
            <a:pPr marL="0" indent="0">
              <a:buNone/>
            </a:pPr>
            <a:r>
              <a:rPr lang="en-US" sz="1400">
                <a:solidFill>
                  <a:schemeClr val="accent5">
                    <a:lumMod val="75000"/>
                  </a:schemeClr>
                </a:solidFill>
                <a:latin typeface="Consolas" panose="020B0609020204030204" pitchFamily="49" charset="0"/>
                <a:cs typeface="Consolas" panose="020B0609020204030204" pitchFamily="49" charset="0"/>
              </a:rPr>
              <a:t>                                                         // addBack(3333)</a:t>
            </a:r>
          </a:p>
          <a:p>
            <a:pPr marL="0" indent="0">
              <a:buNone/>
            </a:pPr>
            <a:r>
              <a:rPr lang="en-US" sz="1400">
                <a:solidFill>
                  <a:schemeClr val="bg1">
                    <a:lumMod val="75000"/>
                  </a:schemeClr>
                </a:solidFill>
                <a:latin typeface="Consolas" panose="020B0609020204030204" pitchFamily="49" charset="0"/>
                <a:cs typeface="Consolas" panose="020B0609020204030204" pitchFamily="49" charset="0"/>
              </a:rPr>
              <a:t>BACK [</a:t>
            </a:r>
            <a:r>
              <a:rPr lang="en-US" sz="1400">
                <a:latin typeface="Consolas" panose="020B0609020204030204" pitchFamily="49" charset="0"/>
                <a:cs typeface="Consolas" panose="020B0609020204030204" pitchFamily="49" charset="0"/>
              </a:rPr>
              <a:t> </a:t>
            </a:r>
            <a:r>
              <a:rPr lang="en-US" sz="1400">
                <a:solidFill>
                  <a:schemeClr val="bg1">
                    <a:lumMod val="75000"/>
                  </a:schemeClr>
                </a:solidFill>
                <a:latin typeface="Consolas" panose="020B0609020204030204" pitchFamily="49" charset="0"/>
                <a:cs typeface="Consolas" panose="020B0609020204030204" pitchFamily="49" charset="0"/>
              </a:rPr>
              <a:t>null </a:t>
            </a:r>
            <a:r>
              <a:rPr lang="en-US" sz="1400">
                <a:latin typeface="Consolas" panose="020B0609020204030204" pitchFamily="49" charset="0"/>
                <a:cs typeface="Consolas" panose="020B0609020204030204" pitchFamily="49" charset="0"/>
              </a:rPr>
              <a:t>3333 2222 1111</a:t>
            </a:r>
            <a:r>
              <a:rPr lang="en-US" sz="1400">
                <a:solidFill>
                  <a:srgbClr val="09B5B6"/>
                </a:solidFill>
                <a:latin typeface="Consolas" panose="020B0609020204030204" pitchFamily="49" charset="0"/>
                <a:cs typeface="Consolas" panose="020B0609020204030204" pitchFamily="49" charset="0"/>
              </a:rPr>
              <a:t> </a:t>
            </a:r>
            <a:r>
              <a:rPr lang="en-US" sz="1400">
                <a:solidFill>
                  <a:schemeClr val="bg1">
                    <a:lumMod val="75000"/>
                  </a:schemeClr>
                </a:solidFill>
                <a:latin typeface="Consolas" panose="020B0609020204030204" pitchFamily="49" charset="0"/>
                <a:cs typeface="Consolas" panose="020B0609020204030204" pitchFamily="49" charset="0"/>
              </a:rPr>
              <a:t>null null null ] FRONT</a:t>
            </a:r>
            <a:r>
              <a:rPr lang="en-US" sz="1400">
                <a:latin typeface="Consolas" panose="020B0609020204030204" pitchFamily="49" charset="0"/>
                <a:cs typeface="Consolas" panose="020B0609020204030204" pitchFamily="49" charset="0"/>
              </a:rPr>
              <a:t> </a:t>
            </a:r>
          </a:p>
          <a:p>
            <a:pPr marL="0" indent="0">
              <a:buNone/>
            </a:pPr>
            <a:r>
              <a:rPr lang="en-US" sz="1400">
                <a:solidFill>
                  <a:schemeClr val="tx2">
                    <a:lumMod val="60000"/>
                    <a:lumOff val="40000"/>
                  </a:schemeClr>
                </a:solidFill>
                <a:latin typeface="Consolas" panose="020B0609020204030204" pitchFamily="49" charset="0"/>
                <a:cs typeface="Consolas" panose="020B0609020204030204" pitchFamily="49" charset="0"/>
              </a:rPr>
              <a:t>                                                         // removeFront()</a:t>
            </a:r>
          </a:p>
          <a:p>
            <a:pPr marL="0" indent="0">
              <a:buNone/>
            </a:pPr>
            <a:r>
              <a:rPr lang="en-US" sz="1400">
                <a:solidFill>
                  <a:schemeClr val="bg1">
                    <a:lumMod val="75000"/>
                  </a:schemeClr>
                </a:solidFill>
                <a:latin typeface="Consolas" panose="020B0609020204030204" pitchFamily="49" charset="0"/>
                <a:cs typeface="Consolas" panose="020B0609020204030204" pitchFamily="49" charset="0"/>
              </a:rPr>
              <a:t>BACK [</a:t>
            </a:r>
            <a:r>
              <a:rPr lang="en-US" sz="1400">
                <a:latin typeface="Consolas" panose="020B0609020204030204" pitchFamily="49" charset="0"/>
                <a:cs typeface="Consolas" panose="020B0609020204030204" pitchFamily="49" charset="0"/>
              </a:rPr>
              <a:t> </a:t>
            </a:r>
            <a:r>
              <a:rPr lang="en-US" sz="1400">
                <a:solidFill>
                  <a:schemeClr val="bg1">
                    <a:lumMod val="75000"/>
                  </a:schemeClr>
                </a:solidFill>
                <a:latin typeface="Consolas" panose="020B0609020204030204" pitchFamily="49" charset="0"/>
                <a:cs typeface="Consolas" panose="020B0609020204030204" pitchFamily="49" charset="0"/>
              </a:rPr>
              <a:t>null </a:t>
            </a:r>
            <a:r>
              <a:rPr lang="en-US" sz="1400">
                <a:latin typeface="Consolas" panose="020B0609020204030204" pitchFamily="49" charset="0"/>
                <a:cs typeface="Consolas" panose="020B0609020204030204" pitchFamily="49" charset="0"/>
              </a:rPr>
              <a:t>3333 2222</a:t>
            </a:r>
            <a:r>
              <a:rPr lang="en-US" sz="1400">
                <a:solidFill>
                  <a:srgbClr val="09B5B6"/>
                </a:solidFill>
                <a:latin typeface="Consolas" panose="020B0609020204030204" pitchFamily="49" charset="0"/>
                <a:cs typeface="Consolas" panose="020B0609020204030204" pitchFamily="49" charset="0"/>
              </a:rPr>
              <a:t> </a:t>
            </a:r>
            <a:r>
              <a:rPr lang="en-US" sz="1400">
                <a:solidFill>
                  <a:schemeClr val="bg1">
                    <a:lumMod val="75000"/>
                  </a:schemeClr>
                </a:solidFill>
                <a:latin typeface="Consolas" panose="020B0609020204030204" pitchFamily="49" charset="0"/>
                <a:cs typeface="Consolas" panose="020B0609020204030204" pitchFamily="49" charset="0"/>
              </a:rPr>
              <a:t>null null null null ] FRONT</a:t>
            </a:r>
            <a:r>
              <a:rPr lang="en-US" sz="1400">
                <a:latin typeface="Consolas" panose="020B0609020204030204" pitchFamily="49" charset="0"/>
                <a:cs typeface="Consolas" panose="020B0609020204030204" pitchFamily="49" charset="0"/>
              </a:rPr>
              <a:t> </a:t>
            </a:r>
          </a:p>
          <a:p>
            <a:pPr marL="0" indent="0">
              <a:buNone/>
            </a:pPr>
            <a:r>
              <a:rPr lang="en-US" sz="1400">
                <a:solidFill>
                  <a:schemeClr val="tx2">
                    <a:lumMod val="60000"/>
                    <a:lumOff val="40000"/>
                  </a:schemeClr>
                </a:solidFill>
                <a:latin typeface="Consolas" panose="020B0609020204030204" pitchFamily="49" charset="0"/>
                <a:cs typeface="Consolas" panose="020B0609020204030204" pitchFamily="49" charset="0"/>
              </a:rPr>
              <a:t>                                                         // addFront(4444)</a:t>
            </a:r>
          </a:p>
          <a:p>
            <a:pPr marL="0" indent="0">
              <a:buNone/>
            </a:pPr>
            <a:r>
              <a:rPr lang="en-US" sz="1400">
                <a:solidFill>
                  <a:schemeClr val="bg1">
                    <a:lumMod val="75000"/>
                  </a:schemeClr>
                </a:solidFill>
                <a:latin typeface="Consolas" panose="020B0609020204030204" pitchFamily="49" charset="0"/>
                <a:cs typeface="Consolas" panose="020B0609020204030204" pitchFamily="49" charset="0"/>
              </a:rPr>
              <a:t>BACK [</a:t>
            </a:r>
            <a:r>
              <a:rPr lang="en-US" sz="1400">
                <a:latin typeface="Consolas" panose="020B0609020204030204" pitchFamily="49" charset="0"/>
                <a:cs typeface="Consolas" panose="020B0609020204030204" pitchFamily="49" charset="0"/>
              </a:rPr>
              <a:t> </a:t>
            </a:r>
            <a:r>
              <a:rPr lang="en-US" sz="1400">
                <a:solidFill>
                  <a:schemeClr val="bg1">
                    <a:lumMod val="75000"/>
                  </a:schemeClr>
                </a:solidFill>
                <a:latin typeface="Consolas" panose="020B0609020204030204" pitchFamily="49" charset="0"/>
                <a:cs typeface="Consolas" panose="020B0609020204030204" pitchFamily="49" charset="0"/>
              </a:rPr>
              <a:t>null </a:t>
            </a:r>
            <a:r>
              <a:rPr lang="en-US" sz="1400">
                <a:latin typeface="Consolas" panose="020B0609020204030204" pitchFamily="49" charset="0"/>
                <a:cs typeface="Consolas" panose="020B0609020204030204" pitchFamily="49" charset="0"/>
              </a:rPr>
              <a:t>3333 2222 4444 </a:t>
            </a:r>
            <a:r>
              <a:rPr lang="en-US" sz="1400">
                <a:solidFill>
                  <a:schemeClr val="bg1">
                    <a:lumMod val="75000"/>
                  </a:schemeClr>
                </a:solidFill>
                <a:latin typeface="Consolas" panose="020B0609020204030204" pitchFamily="49" charset="0"/>
                <a:cs typeface="Consolas" panose="020B0609020204030204" pitchFamily="49" charset="0"/>
              </a:rPr>
              <a:t>null null</a:t>
            </a:r>
            <a:r>
              <a:rPr lang="en-US" sz="1400">
                <a:latin typeface="Consolas" panose="020B0609020204030204" pitchFamily="49" charset="0"/>
                <a:cs typeface="Consolas" panose="020B0609020204030204" pitchFamily="49" charset="0"/>
              </a:rPr>
              <a:t> </a:t>
            </a:r>
            <a:r>
              <a:rPr lang="en-US" sz="1400">
                <a:solidFill>
                  <a:schemeClr val="bg1">
                    <a:lumMod val="75000"/>
                  </a:schemeClr>
                </a:solidFill>
                <a:latin typeface="Consolas" panose="020B0609020204030204" pitchFamily="49" charset="0"/>
                <a:cs typeface="Consolas" panose="020B0609020204030204" pitchFamily="49" charset="0"/>
              </a:rPr>
              <a:t>null ] FRONT</a:t>
            </a:r>
            <a:endParaRPr lang="en-US" sz="1400">
              <a:solidFill>
                <a:srgbClr val="000000"/>
              </a:solidFill>
              <a:latin typeface="Consolas" panose="020B0609020204030204" pitchFamily="49" charset="0"/>
              <a:cs typeface="Consolas" panose="020B0609020204030204" pitchFamily="49" charset="0"/>
            </a:endParaRPr>
          </a:p>
          <a:p>
            <a:pPr marL="0" lvl="0" indent="0">
              <a:buClr>
                <a:srgbClr val="FFFFFF">
                  <a:lumMod val="65000"/>
                </a:srgbClr>
              </a:buClr>
              <a:buNone/>
            </a:pPr>
            <a:r>
              <a:rPr lang="en-US" sz="1400">
                <a:solidFill>
                  <a:schemeClr val="tx2">
                    <a:lumMod val="60000"/>
                    <a:lumOff val="40000"/>
                  </a:schemeClr>
                </a:solidFill>
                <a:latin typeface="Consolas" panose="020B0609020204030204" pitchFamily="49" charset="0"/>
                <a:cs typeface="Consolas" panose="020B0609020204030204" pitchFamily="49" charset="0"/>
              </a:rPr>
              <a:t>                                                         // addFront(5555)</a:t>
            </a:r>
          </a:p>
          <a:p>
            <a:pPr marL="0" indent="0">
              <a:buNone/>
            </a:pPr>
            <a:r>
              <a:rPr lang="en-US" sz="1400">
                <a:solidFill>
                  <a:schemeClr val="bg1">
                    <a:lumMod val="75000"/>
                  </a:schemeClr>
                </a:solidFill>
                <a:latin typeface="Consolas" panose="020B0609020204030204" pitchFamily="49" charset="0"/>
                <a:cs typeface="Consolas" panose="020B0609020204030204" pitchFamily="49" charset="0"/>
              </a:rPr>
              <a:t>BACK [</a:t>
            </a:r>
            <a:r>
              <a:rPr lang="en-US" sz="1400">
                <a:latin typeface="Consolas" panose="020B0609020204030204" pitchFamily="49" charset="0"/>
                <a:cs typeface="Consolas" panose="020B0609020204030204" pitchFamily="49" charset="0"/>
              </a:rPr>
              <a:t> </a:t>
            </a:r>
            <a:r>
              <a:rPr lang="en-US" sz="1400">
                <a:solidFill>
                  <a:schemeClr val="bg1">
                    <a:lumMod val="75000"/>
                  </a:schemeClr>
                </a:solidFill>
                <a:latin typeface="Consolas" panose="020B0609020204030204" pitchFamily="49" charset="0"/>
                <a:cs typeface="Consolas" panose="020B0609020204030204" pitchFamily="49" charset="0"/>
              </a:rPr>
              <a:t>null </a:t>
            </a:r>
            <a:r>
              <a:rPr lang="en-US" sz="1400">
                <a:latin typeface="Consolas" panose="020B0609020204030204" pitchFamily="49" charset="0"/>
                <a:cs typeface="Consolas" panose="020B0609020204030204" pitchFamily="49" charset="0"/>
              </a:rPr>
              <a:t>3333 2222 4444 5555</a:t>
            </a:r>
            <a:r>
              <a:rPr lang="en-US" sz="1400">
                <a:solidFill>
                  <a:schemeClr val="bg1">
                    <a:lumMod val="75000"/>
                  </a:schemeClr>
                </a:solidFill>
                <a:latin typeface="Consolas" panose="020B0609020204030204" pitchFamily="49" charset="0"/>
                <a:cs typeface="Consolas" panose="020B0609020204030204" pitchFamily="49" charset="0"/>
              </a:rPr>
              <a:t> null</a:t>
            </a:r>
            <a:r>
              <a:rPr lang="en-US" sz="1400">
                <a:latin typeface="Consolas" panose="020B0609020204030204" pitchFamily="49" charset="0"/>
                <a:cs typeface="Consolas" panose="020B0609020204030204" pitchFamily="49" charset="0"/>
              </a:rPr>
              <a:t> </a:t>
            </a:r>
            <a:r>
              <a:rPr lang="en-US" sz="1400">
                <a:solidFill>
                  <a:schemeClr val="bg1">
                    <a:lumMod val="75000"/>
                  </a:schemeClr>
                </a:solidFill>
                <a:latin typeface="Consolas" panose="020B0609020204030204" pitchFamily="49" charset="0"/>
                <a:cs typeface="Consolas" panose="020B0609020204030204" pitchFamily="49" charset="0"/>
              </a:rPr>
              <a:t>null ] FRONT</a:t>
            </a:r>
            <a:endParaRPr lang="en-US" sz="1400">
              <a:solidFill>
                <a:srgbClr val="000000"/>
              </a:solidFill>
              <a:latin typeface="Consolas" panose="020B0609020204030204" pitchFamily="49" charset="0"/>
              <a:cs typeface="Consolas" panose="020B0609020204030204" pitchFamily="49" charset="0"/>
            </a:endParaRPr>
          </a:p>
          <a:p>
            <a:pPr marL="0" lvl="0" indent="0">
              <a:buClr>
                <a:srgbClr val="FFFFFF">
                  <a:lumMod val="65000"/>
                </a:srgbClr>
              </a:buClr>
              <a:buNone/>
            </a:pPr>
            <a:r>
              <a:rPr lang="en-US" sz="1400">
                <a:solidFill>
                  <a:schemeClr val="accent5">
                    <a:lumMod val="75000"/>
                  </a:schemeClr>
                </a:solidFill>
                <a:latin typeface="Consolas" panose="020B0609020204030204" pitchFamily="49" charset="0"/>
                <a:cs typeface="Consolas" panose="020B0609020204030204" pitchFamily="49" charset="0"/>
              </a:rPr>
              <a:t>                                                         // removeBack()</a:t>
            </a:r>
          </a:p>
          <a:p>
            <a:pPr marL="0" indent="0">
              <a:buNone/>
            </a:pPr>
            <a:r>
              <a:rPr lang="en-US" sz="1400">
                <a:solidFill>
                  <a:schemeClr val="bg1">
                    <a:lumMod val="75000"/>
                  </a:schemeClr>
                </a:solidFill>
                <a:latin typeface="Consolas" panose="020B0609020204030204" pitchFamily="49" charset="0"/>
                <a:cs typeface="Consolas" panose="020B0609020204030204" pitchFamily="49" charset="0"/>
              </a:rPr>
              <a:t>BACK [</a:t>
            </a:r>
            <a:r>
              <a:rPr lang="en-US" sz="1400">
                <a:latin typeface="Consolas" panose="020B0609020204030204" pitchFamily="49" charset="0"/>
                <a:cs typeface="Consolas" panose="020B0609020204030204" pitchFamily="49" charset="0"/>
              </a:rPr>
              <a:t> </a:t>
            </a:r>
            <a:r>
              <a:rPr lang="en-US" sz="1400">
                <a:solidFill>
                  <a:schemeClr val="bg1">
                    <a:lumMod val="75000"/>
                  </a:schemeClr>
                </a:solidFill>
                <a:latin typeface="Consolas" panose="020B0609020204030204" pitchFamily="49" charset="0"/>
                <a:cs typeface="Consolas" panose="020B0609020204030204" pitchFamily="49" charset="0"/>
              </a:rPr>
              <a:t>null null</a:t>
            </a:r>
            <a:r>
              <a:rPr lang="en-US" sz="1400">
                <a:solidFill>
                  <a:srgbClr val="09B5B6"/>
                </a:solidFill>
                <a:latin typeface="Consolas" panose="020B0609020204030204" pitchFamily="49" charset="0"/>
                <a:cs typeface="Consolas" panose="020B0609020204030204" pitchFamily="49" charset="0"/>
              </a:rPr>
              <a:t> </a:t>
            </a:r>
            <a:r>
              <a:rPr lang="en-US" sz="1400">
                <a:latin typeface="Consolas" panose="020B0609020204030204" pitchFamily="49" charset="0"/>
                <a:cs typeface="Consolas" panose="020B0609020204030204" pitchFamily="49" charset="0"/>
              </a:rPr>
              <a:t>2222 4444 5555</a:t>
            </a:r>
            <a:r>
              <a:rPr lang="en-US" sz="1400">
                <a:solidFill>
                  <a:schemeClr val="bg1">
                    <a:lumMod val="75000"/>
                  </a:schemeClr>
                </a:solidFill>
                <a:latin typeface="Consolas" panose="020B0609020204030204" pitchFamily="49" charset="0"/>
                <a:cs typeface="Consolas" panose="020B0609020204030204" pitchFamily="49" charset="0"/>
              </a:rPr>
              <a:t> null</a:t>
            </a:r>
            <a:r>
              <a:rPr lang="en-US" sz="1400">
                <a:latin typeface="Consolas" panose="020B0609020204030204" pitchFamily="49" charset="0"/>
                <a:cs typeface="Consolas" panose="020B0609020204030204" pitchFamily="49" charset="0"/>
              </a:rPr>
              <a:t> </a:t>
            </a:r>
            <a:r>
              <a:rPr lang="en-US" sz="1400">
                <a:solidFill>
                  <a:schemeClr val="bg1">
                    <a:lumMod val="75000"/>
                  </a:schemeClr>
                </a:solidFill>
                <a:latin typeface="Consolas" panose="020B0609020204030204" pitchFamily="49" charset="0"/>
                <a:cs typeface="Consolas" panose="020B0609020204030204" pitchFamily="49" charset="0"/>
              </a:rPr>
              <a:t>null ] FRONT</a:t>
            </a:r>
            <a:endParaRPr lang="en-US" sz="1400">
              <a:solidFill>
                <a:srgbClr val="000000"/>
              </a:solidFill>
              <a:latin typeface="Consolas" panose="020B0609020204030204" pitchFamily="49" charset="0"/>
              <a:cs typeface="Consolas" panose="020B0609020204030204" pitchFamily="49" charset="0"/>
            </a:endParaRPr>
          </a:p>
        </p:txBody>
      </p:sp>
      <p:cxnSp>
        <p:nvCxnSpPr>
          <p:cNvPr id="36" name="Straight Connector 35">
            <a:extLst>
              <a:ext uri="{FF2B5EF4-FFF2-40B4-BE49-F238E27FC236}">
                <a16:creationId xmlns:a16="http://schemas.microsoft.com/office/drawing/2014/main" id="{3B4A1F2D-F13F-2F24-EB0C-F987EB9A851C}"/>
              </a:ext>
            </a:extLst>
          </p:cNvPr>
          <p:cNvCxnSpPr>
            <a:cxnSpLocks/>
          </p:cNvCxnSpPr>
          <p:nvPr/>
        </p:nvCxnSpPr>
        <p:spPr>
          <a:xfrm>
            <a:off x="2713037" y="2271926"/>
            <a:ext cx="39428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032244A-AC03-16B4-4738-18927BC7687D}"/>
              </a:ext>
            </a:extLst>
          </p:cNvPr>
          <p:cNvCxnSpPr>
            <a:cxnSpLocks/>
          </p:cNvCxnSpPr>
          <p:nvPr/>
        </p:nvCxnSpPr>
        <p:spPr>
          <a:xfrm>
            <a:off x="2216647" y="2274111"/>
            <a:ext cx="394283"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E466150-D023-5647-EA84-63B576D35EEF}"/>
              </a:ext>
            </a:extLst>
          </p:cNvPr>
          <p:cNvCxnSpPr>
            <a:cxnSpLocks/>
          </p:cNvCxnSpPr>
          <p:nvPr/>
        </p:nvCxnSpPr>
        <p:spPr>
          <a:xfrm>
            <a:off x="2704799" y="3779451"/>
            <a:ext cx="39428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EB3F33B-E6C8-8611-F59E-C44145ED26E0}"/>
              </a:ext>
            </a:extLst>
          </p:cNvPr>
          <p:cNvCxnSpPr>
            <a:cxnSpLocks/>
          </p:cNvCxnSpPr>
          <p:nvPr/>
        </p:nvCxnSpPr>
        <p:spPr>
          <a:xfrm>
            <a:off x="1722376" y="3781636"/>
            <a:ext cx="394283"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8289C60-2B12-F87F-3A4C-251017A3DE25}"/>
              </a:ext>
            </a:extLst>
          </p:cNvPr>
          <p:cNvCxnSpPr>
            <a:cxnSpLocks/>
          </p:cNvCxnSpPr>
          <p:nvPr/>
        </p:nvCxnSpPr>
        <p:spPr>
          <a:xfrm>
            <a:off x="2227001" y="3276943"/>
            <a:ext cx="39428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D65797F-8872-7DDC-20DC-869D2C7A6E00}"/>
              </a:ext>
            </a:extLst>
          </p:cNvPr>
          <p:cNvCxnSpPr>
            <a:cxnSpLocks/>
          </p:cNvCxnSpPr>
          <p:nvPr/>
        </p:nvCxnSpPr>
        <p:spPr>
          <a:xfrm>
            <a:off x="1722376" y="3279128"/>
            <a:ext cx="394283"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BAD3032-8C4E-3238-9263-5FDCBF3B67BE}"/>
              </a:ext>
            </a:extLst>
          </p:cNvPr>
          <p:cNvCxnSpPr>
            <a:cxnSpLocks/>
          </p:cNvCxnSpPr>
          <p:nvPr/>
        </p:nvCxnSpPr>
        <p:spPr>
          <a:xfrm>
            <a:off x="3199073" y="4298435"/>
            <a:ext cx="39428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69F9F41-90AC-3C05-B117-76026CFBE697}"/>
              </a:ext>
            </a:extLst>
          </p:cNvPr>
          <p:cNvCxnSpPr>
            <a:cxnSpLocks/>
          </p:cNvCxnSpPr>
          <p:nvPr/>
        </p:nvCxnSpPr>
        <p:spPr>
          <a:xfrm>
            <a:off x="1722376" y="4300620"/>
            <a:ext cx="394283"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1F776C7-4980-2BAE-7871-E5A2C829B70D}"/>
              </a:ext>
            </a:extLst>
          </p:cNvPr>
          <p:cNvCxnSpPr>
            <a:cxnSpLocks/>
          </p:cNvCxnSpPr>
          <p:nvPr/>
        </p:nvCxnSpPr>
        <p:spPr>
          <a:xfrm>
            <a:off x="3215545" y="4817419"/>
            <a:ext cx="39428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E2048A55-8C64-6968-EE6A-00DFD0E06E01}"/>
              </a:ext>
            </a:extLst>
          </p:cNvPr>
          <p:cNvCxnSpPr>
            <a:cxnSpLocks/>
          </p:cNvCxnSpPr>
          <p:nvPr/>
        </p:nvCxnSpPr>
        <p:spPr>
          <a:xfrm>
            <a:off x="2224884" y="4819604"/>
            <a:ext cx="394283"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9A874330-BEE1-D771-3F62-DAA9672B47F3}"/>
              </a:ext>
            </a:extLst>
          </p:cNvPr>
          <p:cNvCxnSpPr>
            <a:cxnSpLocks/>
          </p:cNvCxnSpPr>
          <p:nvPr/>
        </p:nvCxnSpPr>
        <p:spPr>
          <a:xfrm>
            <a:off x="2704799" y="2766197"/>
            <a:ext cx="39428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31D1B2C-238E-36CB-C1CA-1494F9966AB6}"/>
              </a:ext>
            </a:extLst>
          </p:cNvPr>
          <p:cNvCxnSpPr>
            <a:cxnSpLocks/>
          </p:cNvCxnSpPr>
          <p:nvPr/>
        </p:nvCxnSpPr>
        <p:spPr>
          <a:xfrm>
            <a:off x="1722376" y="2768382"/>
            <a:ext cx="394283"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1055E28-4DD4-C811-2CE7-62218B92F185}"/>
              </a:ext>
            </a:extLst>
          </p:cNvPr>
          <p:cNvCxnSpPr>
            <a:cxnSpLocks/>
          </p:cNvCxnSpPr>
          <p:nvPr/>
        </p:nvCxnSpPr>
        <p:spPr>
          <a:xfrm>
            <a:off x="2703639" y="1750323"/>
            <a:ext cx="39428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D173A68-9F10-5E7E-7E9C-446F83C57792}"/>
              </a:ext>
            </a:extLst>
          </p:cNvPr>
          <p:cNvCxnSpPr>
            <a:cxnSpLocks/>
          </p:cNvCxnSpPr>
          <p:nvPr/>
        </p:nvCxnSpPr>
        <p:spPr>
          <a:xfrm>
            <a:off x="2703639" y="1780011"/>
            <a:ext cx="394283"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0149487"/>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4ABCF-7566-8DAD-208A-82929558C29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8F75EFE-44F7-1F27-84BA-517A28785611}"/>
              </a:ext>
            </a:extLst>
          </p:cNvPr>
          <p:cNvSpPr>
            <a:spLocks noGrp="1"/>
          </p:cNvSpPr>
          <p:nvPr>
            <p:ph type="title"/>
          </p:nvPr>
        </p:nvSpPr>
        <p:spPr/>
        <p:txBody>
          <a:bodyPr>
            <a:normAutofit fontScale="90000"/>
          </a:bodyPr>
          <a:lstStyle/>
          <a:p>
            <a:r>
              <a:rPr lang="en-US" b="1"/>
              <a:t>neat idea:</a:t>
            </a:r>
            <a:r>
              <a:rPr lang="en-US"/>
              <a:t> store the queue in the </a:t>
            </a:r>
            <a:r>
              <a:rPr lang="en-US" i="1"/>
              <a:t>middle</a:t>
            </a:r>
            <a:endParaRPr lang="en-US"/>
          </a:p>
        </p:txBody>
      </p:sp>
      <p:sp>
        <p:nvSpPr>
          <p:cNvPr id="8" name="Content Placeholder 3">
            <a:extLst>
              <a:ext uri="{FF2B5EF4-FFF2-40B4-BE49-F238E27FC236}">
                <a16:creationId xmlns:a16="http://schemas.microsoft.com/office/drawing/2014/main" id="{FB3E5993-7967-0584-1888-03D94F84B460}"/>
              </a:ext>
            </a:extLst>
          </p:cNvPr>
          <p:cNvSpPr>
            <a:spLocks noGrp="1"/>
          </p:cNvSpPr>
          <p:nvPr>
            <p:ph sz="quarter" idx="10"/>
          </p:nvPr>
        </p:nvSpPr>
        <p:spPr/>
        <p:txBody>
          <a:bodyPr>
            <a:noAutofit/>
          </a:bodyPr>
          <a:lstStyle/>
          <a:p>
            <a:pPr marL="0" indent="0">
              <a:buNone/>
            </a:pPr>
            <a:endParaRPr lang="en-US" sz="1400">
              <a:latin typeface="Consolas" panose="020B0609020204030204" pitchFamily="49" charset="0"/>
              <a:cs typeface="Consolas" panose="020B0609020204030204" pitchFamily="49" charset="0"/>
            </a:endParaRPr>
          </a:p>
          <a:p>
            <a:pPr marL="0" indent="0">
              <a:buNone/>
            </a:pPr>
            <a:endParaRPr lang="en-US" sz="1400">
              <a:solidFill>
                <a:srgbClr val="000000"/>
              </a:solidFill>
              <a:latin typeface="Consolas" panose="020B0609020204030204" pitchFamily="49" charset="0"/>
              <a:cs typeface="Consolas" panose="020B0609020204030204" pitchFamily="49" charset="0"/>
            </a:endParaRPr>
          </a:p>
          <a:p>
            <a:pPr marL="0" indent="0">
              <a:buNone/>
            </a:pPr>
            <a:endParaRPr lang="en-US" sz="1400">
              <a:solidFill>
                <a:srgbClr val="000000"/>
              </a:solidFill>
              <a:latin typeface="Consolas" panose="020B0609020204030204" pitchFamily="49" charset="0"/>
              <a:cs typeface="Consolas" panose="020B0609020204030204" pitchFamily="49" charset="0"/>
            </a:endParaRPr>
          </a:p>
          <a:p>
            <a:pPr marL="0" indent="0">
              <a:buNone/>
            </a:pPr>
            <a:endParaRPr lang="en-US" sz="1400">
              <a:solidFill>
                <a:srgbClr val="000000"/>
              </a:solidFill>
              <a:latin typeface="Consolas" panose="020B0609020204030204" pitchFamily="49" charset="0"/>
              <a:cs typeface="Consolas" panose="020B0609020204030204" pitchFamily="49" charset="0"/>
            </a:endParaRPr>
          </a:p>
          <a:p>
            <a:pPr marL="0" indent="0">
              <a:buNone/>
            </a:pPr>
            <a:endParaRPr lang="en-US" sz="1400">
              <a:solidFill>
                <a:srgbClr val="000000"/>
              </a:solidFill>
              <a:latin typeface="Consolas" panose="020B0609020204030204" pitchFamily="49" charset="0"/>
              <a:cs typeface="Consolas" panose="020B0609020204030204" pitchFamily="49" charset="0"/>
            </a:endParaRPr>
          </a:p>
          <a:p>
            <a:pPr marL="0" indent="0">
              <a:buNone/>
            </a:pPr>
            <a:endParaRPr lang="en-US" sz="1400">
              <a:solidFill>
                <a:srgbClr val="000000"/>
              </a:solidFill>
              <a:latin typeface="Consolas" panose="020B0609020204030204" pitchFamily="49" charset="0"/>
              <a:cs typeface="Consolas" panose="020B0609020204030204" pitchFamily="49" charset="0"/>
            </a:endParaRPr>
          </a:p>
          <a:p>
            <a:pPr marL="0" indent="0">
              <a:buNone/>
            </a:pPr>
            <a:r>
              <a:rPr lang="en-US" sz="1400">
                <a:solidFill>
                  <a:schemeClr val="bg1">
                    <a:lumMod val="75000"/>
                  </a:schemeClr>
                </a:solidFill>
                <a:latin typeface="Consolas" panose="020B0609020204030204" pitchFamily="49" charset="0"/>
                <a:cs typeface="Consolas" panose="020B0609020204030204" pitchFamily="49" charset="0"/>
              </a:rPr>
              <a:t>BACK [</a:t>
            </a:r>
            <a:r>
              <a:rPr lang="en-US" sz="1400">
                <a:latin typeface="Consolas" panose="020B0609020204030204" pitchFamily="49" charset="0"/>
                <a:cs typeface="Consolas" panose="020B0609020204030204" pitchFamily="49" charset="0"/>
              </a:rPr>
              <a:t> </a:t>
            </a:r>
            <a:r>
              <a:rPr lang="en-US" sz="1400">
                <a:solidFill>
                  <a:schemeClr val="bg1">
                    <a:lumMod val="75000"/>
                  </a:schemeClr>
                </a:solidFill>
                <a:latin typeface="Consolas" panose="020B0609020204030204" pitchFamily="49" charset="0"/>
                <a:cs typeface="Consolas" panose="020B0609020204030204" pitchFamily="49" charset="0"/>
              </a:rPr>
              <a:t>null </a:t>
            </a:r>
            <a:r>
              <a:rPr lang="en-US" sz="1400">
                <a:latin typeface="Consolas" panose="020B0609020204030204" pitchFamily="49" charset="0"/>
                <a:cs typeface="Consolas" panose="020B0609020204030204" pitchFamily="49" charset="0"/>
              </a:rPr>
              <a:t>3333 2222 1111</a:t>
            </a:r>
            <a:r>
              <a:rPr lang="en-US" sz="1400">
                <a:solidFill>
                  <a:srgbClr val="09B5B6"/>
                </a:solidFill>
                <a:latin typeface="Consolas" panose="020B0609020204030204" pitchFamily="49" charset="0"/>
                <a:cs typeface="Consolas" panose="020B0609020204030204" pitchFamily="49" charset="0"/>
              </a:rPr>
              <a:t> </a:t>
            </a:r>
            <a:r>
              <a:rPr lang="en-US" sz="1400">
                <a:solidFill>
                  <a:schemeClr val="bg1">
                    <a:lumMod val="75000"/>
                  </a:schemeClr>
                </a:solidFill>
                <a:latin typeface="Consolas" panose="020B0609020204030204" pitchFamily="49" charset="0"/>
                <a:cs typeface="Consolas" panose="020B0609020204030204" pitchFamily="49" charset="0"/>
              </a:rPr>
              <a:t>null null null ] FRONT</a:t>
            </a:r>
            <a:r>
              <a:rPr lang="en-US" sz="1400">
                <a:solidFill>
                  <a:srgbClr val="007B00"/>
                </a:solidFill>
                <a:latin typeface="Consolas" panose="020B0609020204030204" pitchFamily="49" charset="0"/>
                <a:cs typeface="Consolas" panose="020B0609020204030204" pitchFamily="49" charset="0"/>
              </a:rPr>
              <a:t>                                                        </a:t>
            </a:r>
          </a:p>
        </p:txBody>
      </p:sp>
      <p:sp>
        <p:nvSpPr>
          <p:cNvPr id="12" name="TextBox 11">
            <a:extLst>
              <a:ext uri="{FF2B5EF4-FFF2-40B4-BE49-F238E27FC236}">
                <a16:creationId xmlns:a16="http://schemas.microsoft.com/office/drawing/2014/main" id="{63D90214-4A9F-AD77-D373-D4C1DD3F7B77}"/>
              </a:ext>
            </a:extLst>
          </p:cNvPr>
          <p:cNvSpPr txBox="1"/>
          <p:nvPr/>
        </p:nvSpPr>
        <p:spPr>
          <a:xfrm>
            <a:off x="763157" y="3215760"/>
            <a:ext cx="1489694" cy="338554"/>
          </a:xfrm>
          <a:prstGeom prst="rect">
            <a:avLst/>
          </a:prstGeom>
          <a:noFill/>
        </p:spPr>
        <p:txBody>
          <a:bodyPr wrap="square" rtlCol="0">
            <a:spAutoFit/>
          </a:bodyPr>
          <a:lstStyle/>
          <a:p>
            <a:pPr algn="ctr"/>
            <a:r>
              <a:rPr lang="en-US" sz="1600" b="1">
                <a:solidFill>
                  <a:schemeClr val="accent5">
                    <a:lumMod val="50000"/>
                  </a:schemeClr>
                </a:solidFill>
                <a:latin typeface="Consolas" panose="020B0609020204030204" pitchFamily="49" charset="0"/>
                <a:cs typeface="Consolas" panose="020B0609020204030204" pitchFamily="49" charset="0"/>
              </a:rPr>
              <a:t>int</a:t>
            </a:r>
            <a:r>
              <a:rPr lang="en-US" sz="1600">
                <a:solidFill>
                  <a:schemeClr val="accent5">
                    <a:lumMod val="50000"/>
                  </a:schemeClr>
                </a:solidFill>
                <a:latin typeface="Consolas" panose="020B0609020204030204" pitchFamily="49" charset="0"/>
                <a:cs typeface="Consolas" panose="020B0609020204030204" pitchFamily="49" charset="0"/>
              </a:rPr>
              <a:t> back;</a:t>
            </a:r>
          </a:p>
        </p:txBody>
      </p:sp>
      <p:sp>
        <p:nvSpPr>
          <p:cNvPr id="13" name="TextBox 12">
            <a:extLst>
              <a:ext uri="{FF2B5EF4-FFF2-40B4-BE49-F238E27FC236}">
                <a16:creationId xmlns:a16="http://schemas.microsoft.com/office/drawing/2014/main" id="{24CA84A8-BB77-F6E6-E023-296FA748DAB1}"/>
              </a:ext>
            </a:extLst>
          </p:cNvPr>
          <p:cNvSpPr txBox="1"/>
          <p:nvPr/>
        </p:nvSpPr>
        <p:spPr>
          <a:xfrm>
            <a:off x="2133892" y="3074587"/>
            <a:ext cx="1489687" cy="338554"/>
          </a:xfrm>
          <a:prstGeom prst="rect">
            <a:avLst/>
          </a:prstGeom>
          <a:noFill/>
        </p:spPr>
        <p:txBody>
          <a:bodyPr wrap="square" rtlCol="0">
            <a:spAutoFit/>
          </a:bodyPr>
          <a:lstStyle/>
          <a:p>
            <a:pPr algn="ctr"/>
            <a:r>
              <a:rPr lang="en-US" sz="1600" b="1">
                <a:solidFill>
                  <a:schemeClr val="tx2">
                    <a:lumMod val="75000"/>
                  </a:schemeClr>
                </a:solidFill>
                <a:latin typeface="Consolas" panose="020B0609020204030204" pitchFamily="49" charset="0"/>
                <a:cs typeface="Consolas" panose="020B0609020204030204" pitchFamily="49" charset="0"/>
              </a:rPr>
              <a:t>int</a:t>
            </a:r>
            <a:r>
              <a:rPr lang="en-US" sz="1600">
                <a:solidFill>
                  <a:schemeClr val="tx2">
                    <a:lumMod val="75000"/>
                  </a:schemeClr>
                </a:solidFill>
                <a:latin typeface="Consolas" panose="020B0609020204030204" pitchFamily="49" charset="0"/>
                <a:cs typeface="Consolas" panose="020B0609020204030204" pitchFamily="49" charset="0"/>
              </a:rPr>
              <a:t> front;</a:t>
            </a:r>
          </a:p>
        </p:txBody>
      </p:sp>
      <p:cxnSp>
        <p:nvCxnSpPr>
          <p:cNvPr id="14" name="Straight Connector 13">
            <a:extLst>
              <a:ext uri="{FF2B5EF4-FFF2-40B4-BE49-F238E27FC236}">
                <a16:creationId xmlns:a16="http://schemas.microsoft.com/office/drawing/2014/main" id="{A9E5A9A8-3D23-5CD2-85A1-D0F843EB0D7F}"/>
              </a:ext>
            </a:extLst>
          </p:cNvPr>
          <p:cNvCxnSpPr>
            <a:cxnSpLocks/>
          </p:cNvCxnSpPr>
          <p:nvPr/>
        </p:nvCxnSpPr>
        <p:spPr>
          <a:xfrm>
            <a:off x="2704799" y="2766197"/>
            <a:ext cx="39428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1DABDA1-E4BB-8458-0F05-8F49EDFBA340}"/>
              </a:ext>
            </a:extLst>
          </p:cNvPr>
          <p:cNvCxnSpPr>
            <a:cxnSpLocks/>
          </p:cNvCxnSpPr>
          <p:nvPr/>
        </p:nvCxnSpPr>
        <p:spPr>
          <a:xfrm>
            <a:off x="1722376" y="2768382"/>
            <a:ext cx="394283"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2482C66-1973-5038-004A-58A567973867}"/>
              </a:ext>
            </a:extLst>
          </p:cNvPr>
          <p:cNvCxnSpPr>
            <a:cxnSpLocks/>
          </p:cNvCxnSpPr>
          <p:nvPr/>
        </p:nvCxnSpPr>
        <p:spPr>
          <a:xfrm flipV="1">
            <a:off x="1722376" y="2850292"/>
            <a:ext cx="197141" cy="365468"/>
          </a:xfrm>
          <a:prstGeom prst="line">
            <a:avLst/>
          </a:prstGeom>
          <a:ln w="19050"/>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AAD13F3F-2839-88F6-C429-15C11F018C57}"/>
              </a:ext>
            </a:extLst>
          </p:cNvPr>
          <p:cNvCxnSpPr>
            <a:cxnSpLocks/>
          </p:cNvCxnSpPr>
          <p:nvPr/>
        </p:nvCxnSpPr>
        <p:spPr>
          <a:xfrm>
            <a:off x="2896309" y="2850292"/>
            <a:ext cx="52837" cy="255373"/>
          </a:xfrm>
          <a:prstGeom prst="line">
            <a:avLst/>
          </a:prstGeom>
          <a:ln w="19050"/>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27C4E9D6-E454-C5D9-D171-BC023ECD2E55}"/>
              </a:ext>
            </a:extLst>
          </p:cNvPr>
          <p:cNvSpPr txBox="1"/>
          <p:nvPr/>
        </p:nvSpPr>
        <p:spPr>
          <a:xfrm>
            <a:off x="3711563" y="2977978"/>
            <a:ext cx="3860157" cy="830997"/>
          </a:xfrm>
          <a:prstGeom prst="rect">
            <a:avLst/>
          </a:prstGeom>
          <a:noFill/>
          <a:ln>
            <a:solidFill>
              <a:schemeClr val="tx1"/>
            </a:solidFill>
          </a:ln>
        </p:spPr>
        <p:txBody>
          <a:bodyPr wrap="square" rtlCol="0">
            <a:spAutoFit/>
          </a:bodyPr>
          <a:lstStyle/>
          <a:p>
            <a:r>
              <a:rPr lang="en-US" sz="1600" b="1"/>
              <a:t>note: </a:t>
            </a:r>
            <a:r>
              <a:rPr lang="en-US" sz="1600"/>
              <a:t>many possible implementations;</a:t>
            </a:r>
          </a:p>
          <a:p>
            <a:r>
              <a:rPr lang="en-US" sz="1600" b="1"/>
              <a:t>key point:</a:t>
            </a:r>
            <a:r>
              <a:rPr lang="en-US" sz="1600"/>
              <a:t> you have to keep track of back and front somehow</a:t>
            </a:r>
          </a:p>
        </p:txBody>
      </p:sp>
      <p:sp>
        <p:nvSpPr>
          <p:cNvPr id="40" name="TextBox 39">
            <a:extLst>
              <a:ext uri="{FF2B5EF4-FFF2-40B4-BE49-F238E27FC236}">
                <a16:creationId xmlns:a16="http://schemas.microsoft.com/office/drawing/2014/main" id="{377C9CE1-C80B-A7C2-1597-8CBB2B4BF37F}"/>
              </a:ext>
            </a:extLst>
          </p:cNvPr>
          <p:cNvSpPr txBox="1"/>
          <p:nvPr/>
        </p:nvSpPr>
        <p:spPr>
          <a:xfrm>
            <a:off x="3851514" y="1186793"/>
            <a:ext cx="4922096" cy="1255728"/>
          </a:xfrm>
          <a:prstGeom prst="rect">
            <a:avLst/>
          </a:prstGeom>
          <a:noFill/>
          <a:ln>
            <a:solidFill>
              <a:schemeClr val="tx1"/>
            </a:solidFill>
          </a:ln>
        </p:spPr>
        <p:txBody>
          <a:bodyPr wrap="square">
            <a:spAutoFit/>
          </a:bodyPr>
          <a:lstStyle/>
          <a:p>
            <a:pPr marR="0" lvl="0" algn="l" defTabSz="342886" rtl="0" eaLnBrk="1" fontAlgn="auto" latinLnBrk="0" hangingPunct="1">
              <a:lnSpc>
                <a:spcPct val="100000"/>
              </a:lnSpc>
              <a:spcBef>
                <a:spcPct val="20000"/>
              </a:spcBef>
              <a:spcAft>
                <a:spcPts val="0"/>
              </a:spcAft>
              <a:buClr>
                <a:srgbClr val="FFFFFF">
                  <a:lumMod val="65000"/>
                </a:srgbClr>
              </a:buClr>
              <a:buSzTx/>
              <a:tabLst/>
              <a:defRPr/>
            </a:pPr>
            <a:r>
              <a:rPr kumimoji="0" lang="en-US" sz="1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 </a:t>
            </a:r>
            <a:r>
              <a:rPr lang="en-US">
                <a:solidFill>
                  <a:srgbClr val="FF6DC6"/>
                </a:solidFill>
                <a:latin typeface="Arial"/>
                <a:ea typeface="Segoe UI Emoji" panose="020B0502040204020203" pitchFamily="34" charset="0"/>
              </a:rPr>
              <a:t>does this waste space? </a:t>
            </a:r>
            <a:br>
              <a:rPr lang="en-US">
                <a:solidFill>
                  <a:srgbClr val="FF6DC6"/>
                </a:solidFill>
                <a:latin typeface="Arial"/>
                <a:ea typeface="Segoe UI Emoji" panose="020B0502040204020203" pitchFamily="34" charset="0"/>
              </a:rPr>
            </a:br>
            <a:r>
              <a:rPr lang="en-US">
                <a:solidFill>
                  <a:srgbClr val="FF6DC6"/>
                </a:solidFill>
                <a:latin typeface="Arial"/>
                <a:ea typeface="Segoe UI Emoji" panose="020B0502040204020203" pitchFamily="34" charset="0"/>
              </a:rPr>
              <a:t>      (in the worst case)  </a:t>
            </a:r>
            <a:br>
              <a:rPr lang="en-US">
                <a:solidFill>
                  <a:srgbClr val="FF6DC6"/>
                </a:solidFill>
                <a:latin typeface="Arial"/>
                <a:ea typeface="Segoe UI Emoji" panose="020B0502040204020203" pitchFamily="34" charset="0"/>
              </a:rPr>
            </a:br>
            <a:r>
              <a:rPr lang="en-US">
                <a:solidFill>
                  <a:srgbClr val="FF6DC6"/>
                </a:solidFill>
                <a:latin typeface="Arial"/>
                <a:ea typeface="Segoe UI Emoji" panose="020B0502040204020203" pitchFamily="34" charset="0"/>
              </a:rPr>
              <a:t>      (relative to an array list)</a:t>
            </a:r>
          </a:p>
          <a:p>
            <a:pPr defTabSz="342886">
              <a:spcBef>
                <a:spcPct val="20000"/>
              </a:spcBef>
              <a:buClr>
                <a:srgbClr val="FFFFFF">
                  <a:lumMod val="65000"/>
                </a:srgbClr>
              </a:buClr>
              <a:defRPr/>
            </a:pPr>
            <a:r>
              <a:rPr kumimoji="0" lang="en-US" sz="1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 </a:t>
            </a:r>
            <a:r>
              <a:rPr kumimoji="0" lang="en-US" sz="1800" b="0" i="0" u="none" strike="noStrike" kern="1200" cap="none" spc="0" normalizeH="0" baseline="0" noProof="0">
                <a:ln>
                  <a:noFill/>
                </a:ln>
                <a:solidFill>
                  <a:srgbClr val="FF6DC6"/>
                </a:solidFill>
                <a:effectLst/>
                <a:uLnTx/>
                <a:uFillTx/>
                <a:latin typeface="Arial"/>
                <a:ea typeface="Segoe UI Emoji" panose="020B0502040204020203" pitchFamily="34" charset="0"/>
                <a:cs typeface="+mn-cs"/>
              </a:rPr>
              <a:t>can we fix this?</a:t>
            </a:r>
          </a:p>
        </p:txBody>
      </p:sp>
    </p:spTree>
    <p:extLst>
      <p:ext uri="{BB962C8B-B14F-4D97-AF65-F5344CB8AC3E}">
        <p14:creationId xmlns:p14="http://schemas.microsoft.com/office/powerpoint/2010/main" val="181914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0" grpId="0" animBg="1"/>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4BA98-39AC-A79D-DE8F-9773E805EBA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B4B2A2F-D4A0-CE94-D4B7-3AC7BEE88D32}"/>
              </a:ext>
            </a:extLst>
          </p:cNvPr>
          <p:cNvSpPr>
            <a:spLocks noGrp="1"/>
          </p:cNvSpPr>
          <p:nvPr>
            <p:ph type="title"/>
          </p:nvPr>
        </p:nvSpPr>
        <p:spPr/>
        <p:txBody>
          <a:bodyPr>
            <a:normAutofit fontScale="90000"/>
          </a:bodyPr>
          <a:lstStyle/>
          <a:p>
            <a:r>
              <a:rPr lang="en-US" b="1"/>
              <a:t>extension:</a:t>
            </a:r>
            <a:r>
              <a:rPr lang="en-US"/>
              <a:t> treat the array as circular</a:t>
            </a:r>
          </a:p>
        </p:txBody>
      </p:sp>
      <p:sp>
        <p:nvSpPr>
          <p:cNvPr id="6" name="TextBox 5">
            <a:extLst>
              <a:ext uri="{FF2B5EF4-FFF2-40B4-BE49-F238E27FC236}">
                <a16:creationId xmlns:a16="http://schemas.microsoft.com/office/drawing/2014/main" id="{2710495A-F1DA-3743-0384-E4215F94D459}"/>
              </a:ext>
            </a:extLst>
          </p:cNvPr>
          <p:cNvSpPr txBox="1"/>
          <p:nvPr/>
        </p:nvSpPr>
        <p:spPr>
          <a:xfrm rot="10800000">
            <a:off x="2994148" y="1247691"/>
            <a:ext cx="3227216" cy="3201015"/>
          </a:xfrm>
          <a:prstGeom prst="rect">
            <a:avLst/>
          </a:prstGeom>
          <a:noFill/>
        </p:spPr>
        <p:txBody>
          <a:bodyPr wrap="square">
            <a:prstTxWarp prst="textCircle">
              <a:avLst>
                <a:gd name="adj" fmla="val 4875"/>
              </a:avLst>
            </a:prstTxWarp>
            <a:spAutoFit/>
          </a:bodyPr>
          <a:lstStyle/>
          <a:p>
            <a:pPr marL="0" indent="0">
              <a:buNone/>
            </a:pPr>
            <a:r>
              <a:rPr lang="en-US" sz="7200">
                <a:solidFill>
                  <a:schemeClr val="bg1">
                    <a:lumMod val="75000"/>
                  </a:schemeClr>
                </a:solidFill>
                <a:latin typeface="Consolas" panose="020B0609020204030204" pitchFamily="49" charset="0"/>
                <a:cs typeface="Consolas" panose="020B0609020204030204" pitchFamily="49" charset="0"/>
              </a:rPr>
              <a:t>null      </a:t>
            </a:r>
            <a:r>
              <a:rPr lang="en-US" sz="7200">
                <a:latin typeface="Consolas" panose="020B0609020204030204" pitchFamily="49" charset="0"/>
                <a:cs typeface="Consolas" panose="020B0609020204030204" pitchFamily="49" charset="0"/>
              </a:rPr>
              <a:t>3333      2222      1111     </a:t>
            </a:r>
            <a:r>
              <a:rPr lang="en-US" sz="7200">
                <a:solidFill>
                  <a:srgbClr val="09B5B6"/>
                </a:solidFill>
                <a:latin typeface="Consolas" panose="020B0609020204030204" pitchFamily="49" charset="0"/>
                <a:cs typeface="Consolas" panose="020B0609020204030204" pitchFamily="49" charset="0"/>
              </a:rPr>
              <a:t> </a:t>
            </a:r>
            <a:r>
              <a:rPr lang="en-US" sz="7200">
                <a:solidFill>
                  <a:schemeClr val="bg1">
                    <a:lumMod val="75000"/>
                  </a:schemeClr>
                </a:solidFill>
                <a:latin typeface="Consolas" panose="020B0609020204030204" pitchFamily="49" charset="0"/>
                <a:cs typeface="Consolas" panose="020B0609020204030204" pitchFamily="49" charset="0"/>
              </a:rPr>
              <a:t>null      null      null      </a:t>
            </a:r>
            <a:endParaRPr lang="en-US" sz="7200">
              <a:solidFill>
                <a:srgbClr val="007B00"/>
              </a:solidFill>
              <a:latin typeface="Consolas" panose="020B0609020204030204" pitchFamily="49" charset="0"/>
              <a:cs typeface="Consolas" panose="020B0609020204030204" pitchFamily="49" charset="0"/>
            </a:endParaRPr>
          </a:p>
        </p:txBody>
      </p:sp>
      <p:cxnSp>
        <p:nvCxnSpPr>
          <p:cNvPr id="9" name="Straight Connector 8">
            <a:extLst>
              <a:ext uri="{FF2B5EF4-FFF2-40B4-BE49-F238E27FC236}">
                <a16:creationId xmlns:a16="http://schemas.microsoft.com/office/drawing/2014/main" id="{6FE8F07A-0675-8B5E-2823-731FF9EA7E53}"/>
              </a:ext>
            </a:extLst>
          </p:cNvPr>
          <p:cNvCxnSpPr>
            <a:cxnSpLocks/>
          </p:cNvCxnSpPr>
          <p:nvPr/>
        </p:nvCxnSpPr>
        <p:spPr>
          <a:xfrm flipV="1">
            <a:off x="3691566" y="1450838"/>
            <a:ext cx="420129" cy="271849"/>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5671B76-AF35-0600-C44C-4FA79626FAB9}"/>
              </a:ext>
            </a:extLst>
          </p:cNvPr>
          <p:cNvCxnSpPr>
            <a:cxnSpLocks/>
          </p:cNvCxnSpPr>
          <p:nvPr/>
        </p:nvCxnSpPr>
        <p:spPr>
          <a:xfrm flipH="1" flipV="1">
            <a:off x="5914378" y="2145033"/>
            <a:ext cx="123568" cy="446388"/>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587569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66D2F-AD13-871F-D85F-3E295C29C0D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F076E78-15CA-A2E8-FA9A-58FC2F1591BC}"/>
              </a:ext>
            </a:extLst>
          </p:cNvPr>
          <p:cNvSpPr>
            <a:spLocks noGrp="1"/>
          </p:cNvSpPr>
          <p:nvPr>
            <p:ph type="title"/>
          </p:nvPr>
        </p:nvSpPr>
        <p:spPr/>
        <p:txBody>
          <a:bodyPr>
            <a:normAutofit fontScale="90000"/>
          </a:bodyPr>
          <a:lstStyle/>
          <a:p>
            <a:r>
              <a:rPr lang="en-US" b="1"/>
              <a:t>extension:</a:t>
            </a:r>
            <a:r>
              <a:rPr lang="en-US"/>
              <a:t> treat the array as circular</a:t>
            </a:r>
          </a:p>
        </p:txBody>
      </p:sp>
      <p:sp>
        <p:nvSpPr>
          <p:cNvPr id="6" name="TextBox 5">
            <a:extLst>
              <a:ext uri="{FF2B5EF4-FFF2-40B4-BE49-F238E27FC236}">
                <a16:creationId xmlns:a16="http://schemas.microsoft.com/office/drawing/2014/main" id="{57FDA16B-3ACE-BB3D-4894-E7AF0AC3EBF1}"/>
              </a:ext>
            </a:extLst>
          </p:cNvPr>
          <p:cNvSpPr txBox="1"/>
          <p:nvPr/>
        </p:nvSpPr>
        <p:spPr>
          <a:xfrm rot="10800000">
            <a:off x="2994148" y="1247691"/>
            <a:ext cx="3227216" cy="3201015"/>
          </a:xfrm>
          <a:prstGeom prst="rect">
            <a:avLst/>
          </a:prstGeom>
          <a:noFill/>
        </p:spPr>
        <p:txBody>
          <a:bodyPr wrap="square">
            <a:prstTxWarp prst="textCircle">
              <a:avLst>
                <a:gd name="adj" fmla="val 4875"/>
              </a:avLst>
            </a:prstTxWarp>
            <a:spAutoFit/>
          </a:bodyPr>
          <a:lstStyle/>
          <a:p>
            <a:pPr marL="0" indent="0">
              <a:buNone/>
            </a:pPr>
            <a:r>
              <a:rPr lang="en-US" sz="7200">
                <a:latin typeface="Consolas" panose="020B0609020204030204" pitchFamily="49" charset="0"/>
                <a:cs typeface="Consolas" panose="020B0609020204030204" pitchFamily="49" charset="0"/>
              </a:rPr>
              <a:t>6666</a:t>
            </a:r>
            <a:r>
              <a:rPr lang="en-US" sz="7200">
                <a:solidFill>
                  <a:schemeClr val="bg1">
                    <a:lumMod val="75000"/>
                  </a:schemeClr>
                </a:solidFill>
                <a:latin typeface="Consolas" panose="020B0609020204030204" pitchFamily="49" charset="0"/>
                <a:cs typeface="Consolas" panose="020B0609020204030204" pitchFamily="49" charset="0"/>
              </a:rPr>
              <a:t>      </a:t>
            </a:r>
            <a:r>
              <a:rPr lang="en-US" sz="7200">
                <a:latin typeface="Consolas" panose="020B0609020204030204" pitchFamily="49" charset="0"/>
                <a:cs typeface="Consolas" panose="020B0609020204030204" pitchFamily="49" charset="0"/>
              </a:rPr>
              <a:t>3333      2222      1111     </a:t>
            </a:r>
            <a:r>
              <a:rPr lang="en-US" sz="7200">
                <a:solidFill>
                  <a:srgbClr val="09B5B6"/>
                </a:solidFill>
                <a:latin typeface="Consolas" panose="020B0609020204030204" pitchFamily="49" charset="0"/>
                <a:cs typeface="Consolas" panose="020B0609020204030204" pitchFamily="49" charset="0"/>
              </a:rPr>
              <a:t> </a:t>
            </a:r>
            <a:r>
              <a:rPr lang="en-US" sz="7200">
                <a:latin typeface="Consolas" panose="020B0609020204030204" pitchFamily="49" charset="0"/>
                <a:cs typeface="Consolas" panose="020B0609020204030204" pitchFamily="49" charset="0"/>
              </a:rPr>
              <a:t>5555     </a:t>
            </a:r>
            <a:r>
              <a:rPr lang="en-US" sz="7200">
                <a:solidFill>
                  <a:schemeClr val="bg1">
                    <a:lumMod val="75000"/>
                  </a:schemeClr>
                </a:solidFill>
                <a:latin typeface="Consolas" panose="020B0609020204030204" pitchFamily="49" charset="0"/>
                <a:cs typeface="Consolas" panose="020B0609020204030204" pitchFamily="49" charset="0"/>
              </a:rPr>
              <a:t> </a:t>
            </a:r>
            <a:r>
              <a:rPr lang="en-US" sz="7200">
                <a:latin typeface="Consolas" panose="020B0609020204030204" pitchFamily="49" charset="0"/>
                <a:cs typeface="Consolas" panose="020B0609020204030204" pitchFamily="49" charset="0"/>
              </a:rPr>
              <a:t>8888</a:t>
            </a:r>
            <a:r>
              <a:rPr lang="en-US" sz="7200">
                <a:solidFill>
                  <a:schemeClr val="bg1">
                    <a:lumMod val="75000"/>
                  </a:schemeClr>
                </a:solidFill>
                <a:latin typeface="Consolas" panose="020B0609020204030204" pitchFamily="49" charset="0"/>
                <a:cs typeface="Consolas" panose="020B0609020204030204" pitchFamily="49" charset="0"/>
              </a:rPr>
              <a:t>      </a:t>
            </a:r>
            <a:r>
              <a:rPr lang="en-US" sz="7200">
                <a:latin typeface="Consolas" panose="020B0609020204030204" pitchFamily="49" charset="0"/>
                <a:cs typeface="Consolas" panose="020B0609020204030204" pitchFamily="49" charset="0"/>
              </a:rPr>
              <a:t>7777</a:t>
            </a:r>
            <a:r>
              <a:rPr lang="en-US" sz="7200">
                <a:solidFill>
                  <a:schemeClr val="bg1">
                    <a:lumMod val="75000"/>
                  </a:schemeClr>
                </a:solidFill>
                <a:latin typeface="Consolas" panose="020B0609020204030204" pitchFamily="49" charset="0"/>
                <a:cs typeface="Consolas" panose="020B0609020204030204" pitchFamily="49" charset="0"/>
              </a:rPr>
              <a:t>      </a:t>
            </a:r>
            <a:endParaRPr lang="en-US" sz="7200">
              <a:solidFill>
                <a:srgbClr val="007B00"/>
              </a:solidFill>
              <a:latin typeface="Consolas" panose="020B0609020204030204" pitchFamily="49" charset="0"/>
              <a:cs typeface="Consolas" panose="020B0609020204030204" pitchFamily="49" charset="0"/>
            </a:endParaRPr>
          </a:p>
        </p:txBody>
      </p:sp>
      <p:cxnSp>
        <p:nvCxnSpPr>
          <p:cNvPr id="9" name="Straight Connector 8">
            <a:extLst>
              <a:ext uri="{FF2B5EF4-FFF2-40B4-BE49-F238E27FC236}">
                <a16:creationId xmlns:a16="http://schemas.microsoft.com/office/drawing/2014/main" id="{4E753032-3EB8-D23A-3067-9AB10DD6B4F6}"/>
              </a:ext>
            </a:extLst>
          </p:cNvPr>
          <p:cNvCxnSpPr>
            <a:cxnSpLocks/>
          </p:cNvCxnSpPr>
          <p:nvPr/>
        </p:nvCxnSpPr>
        <p:spPr>
          <a:xfrm flipV="1">
            <a:off x="3185723" y="2407534"/>
            <a:ext cx="32039" cy="475389"/>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837D862-63F1-3498-8060-6E5BE94FB7D8}"/>
              </a:ext>
            </a:extLst>
          </p:cNvPr>
          <p:cNvCxnSpPr>
            <a:cxnSpLocks/>
          </p:cNvCxnSpPr>
          <p:nvPr/>
        </p:nvCxnSpPr>
        <p:spPr>
          <a:xfrm flipH="1" flipV="1">
            <a:off x="3472405" y="3669175"/>
            <a:ext cx="405790" cy="382791"/>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16193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F18AD-FAD4-A21A-CDB8-87EC7FC21993}"/>
              </a:ext>
            </a:extLst>
          </p:cNvPr>
          <p:cNvSpPr>
            <a:spLocks noGrp="1"/>
          </p:cNvSpPr>
          <p:nvPr>
            <p:ph type="title"/>
          </p:nvPr>
        </p:nvSpPr>
        <p:spPr/>
        <p:txBody>
          <a:bodyPr/>
          <a:lstStyle/>
          <a:p>
            <a:r>
              <a:rPr lang="en-US"/>
              <a:t>big picture lesson </a:t>
            </a:r>
          </a:p>
        </p:txBody>
      </p:sp>
    </p:spTree>
    <p:extLst>
      <p:ext uri="{BB962C8B-B14F-4D97-AF65-F5344CB8AC3E}">
        <p14:creationId xmlns:p14="http://schemas.microsoft.com/office/powerpoint/2010/main" val="288314917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F69B12-E83D-78C3-6487-B2367BF47760}"/>
              </a:ext>
            </a:extLst>
          </p:cNvPr>
          <p:cNvSpPr>
            <a:spLocks noGrp="1"/>
          </p:cNvSpPr>
          <p:nvPr>
            <p:ph type="title"/>
          </p:nvPr>
        </p:nvSpPr>
        <p:spPr/>
        <p:txBody>
          <a:bodyPr/>
          <a:lstStyle/>
          <a:p>
            <a:r>
              <a:rPr lang="en-US" sz="4000"/>
              <a:t>once you get past CS136,</a:t>
            </a:r>
            <a:br>
              <a:rPr lang="en-US" sz="4000"/>
            </a:br>
            <a:r>
              <a:rPr lang="en-US" sz="4000"/>
              <a:t>data structures are actually kind of rich and complicated and messy</a:t>
            </a:r>
          </a:p>
        </p:txBody>
      </p:sp>
    </p:spTree>
    <p:extLst>
      <p:ext uri="{BB962C8B-B14F-4D97-AF65-F5344CB8AC3E}">
        <p14:creationId xmlns:p14="http://schemas.microsoft.com/office/powerpoint/2010/main" val="389928078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5900D13D-D0CF-2851-56B3-4F32879318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1220" y="1296471"/>
            <a:ext cx="4861560" cy="25505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951335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99EF9-25AA-F0F9-AD38-F668AB5A94D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49A4E6B-4CB8-B0D4-96A2-86CB419FA2A1}"/>
              </a:ext>
            </a:extLst>
          </p:cNvPr>
          <p:cNvSpPr>
            <a:spLocks noGrp="1"/>
          </p:cNvSpPr>
          <p:nvPr>
            <p:ph type="title"/>
          </p:nvPr>
        </p:nvSpPr>
        <p:spPr/>
        <p:txBody>
          <a:bodyPr/>
          <a:lstStyle/>
          <a:p>
            <a:r>
              <a:rPr lang="en-US"/>
              <a:t>midterm notes</a:t>
            </a:r>
          </a:p>
        </p:txBody>
      </p:sp>
    </p:spTree>
    <p:extLst>
      <p:ext uri="{BB962C8B-B14F-4D97-AF65-F5344CB8AC3E}">
        <p14:creationId xmlns:p14="http://schemas.microsoft.com/office/powerpoint/2010/main" val="25871604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F5B11-7EE8-2715-B3E6-6FCD3037755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E1885BF-D541-3D84-5F51-BAEA81F71067}"/>
              </a:ext>
            </a:extLst>
          </p:cNvPr>
          <p:cNvSpPr>
            <a:spLocks noGrp="1"/>
          </p:cNvSpPr>
          <p:nvPr>
            <p:ph type="title"/>
          </p:nvPr>
        </p:nvSpPr>
        <p:spPr/>
        <p:txBody>
          <a:bodyPr/>
          <a:lstStyle/>
          <a:p>
            <a:r>
              <a:rPr lang="en-US"/>
              <a:t>about english</a:t>
            </a:r>
          </a:p>
        </p:txBody>
      </p:sp>
      <p:sp>
        <p:nvSpPr>
          <p:cNvPr id="4" name="Content Placeholder 3">
            <a:extLst>
              <a:ext uri="{FF2B5EF4-FFF2-40B4-BE49-F238E27FC236}">
                <a16:creationId xmlns:a16="http://schemas.microsoft.com/office/drawing/2014/main" id="{86EFF35E-9878-F102-3F60-247F7764F516}"/>
              </a:ext>
            </a:extLst>
          </p:cNvPr>
          <p:cNvSpPr>
            <a:spLocks noGrp="1"/>
          </p:cNvSpPr>
          <p:nvPr>
            <p:ph sz="quarter" idx="10"/>
          </p:nvPr>
        </p:nvSpPr>
        <p:spPr/>
        <p:txBody>
          <a:bodyPr/>
          <a:lstStyle/>
          <a:p>
            <a:r>
              <a:rPr lang="en-US"/>
              <a:t>if you don't understand what a question is asking,</a:t>
            </a:r>
            <a:br>
              <a:rPr lang="en-US"/>
            </a:br>
            <a:r>
              <a:rPr lang="en-US" b="1" u="sng"/>
              <a:t>please ask me during the test!</a:t>
            </a:r>
            <a:endParaRPr lang="en-US" b="1"/>
          </a:p>
          <a:p>
            <a:endParaRPr lang="en-US"/>
          </a:p>
        </p:txBody>
      </p:sp>
    </p:spTree>
    <p:extLst>
      <p:ext uri="{BB962C8B-B14F-4D97-AF65-F5344CB8AC3E}">
        <p14:creationId xmlns:p14="http://schemas.microsoft.com/office/powerpoint/2010/main" val="319349019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73CD75-4A92-EDC8-A3C6-5D8D107488AB}"/>
              </a:ext>
            </a:extLst>
          </p:cNvPr>
          <p:cNvSpPr>
            <a:spLocks noGrp="1"/>
          </p:cNvSpPr>
          <p:nvPr>
            <p:ph type="title"/>
          </p:nvPr>
        </p:nvSpPr>
        <p:spPr/>
        <p:txBody>
          <a:bodyPr/>
          <a:lstStyle/>
          <a:p>
            <a:r>
              <a:rPr lang="en-US"/>
              <a:t>things to know</a:t>
            </a:r>
          </a:p>
        </p:txBody>
      </p:sp>
      <p:sp>
        <p:nvSpPr>
          <p:cNvPr id="4" name="Content Placeholder 3">
            <a:extLst>
              <a:ext uri="{FF2B5EF4-FFF2-40B4-BE49-F238E27FC236}">
                <a16:creationId xmlns:a16="http://schemas.microsoft.com/office/drawing/2014/main" id="{7FE51929-B665-02CA-D08D-3A6A3188DA01}"/>
              </a:ext>
            </a:extLst>
          </p:cNvPr>
          <p:cNvSpPr>
            <a:spLocks noGrp="1"/>
          </p:cNvSpPr>
          <p:nvPr>
            <p:ph sz="quarter" idx="10"/>
          </p:nvPr>
        </p:nvSpPr>
        <p:spPr/>
        <p:txBody>
          <a:bodyPr/>
          <a:lstStyle/>
          <a:p>
            <a:r>
              <a:rPr lang="en-US"/>
              <a:t>if, if, if vs. if, else if, else if</a:t>
            </a:r>
          </a:p>
          <a:p>
            <a:r>
              <a:rPr lang="en-US"/>
              <a:t>Cow canvas coordinates</a:t>
            </a:r>
          </a:p>
          <a:p>
            <a:pPr lvl="1"/>
            <a:r>
              <a:rPr lang="en-US"/>
              <a:t>drawCircle</a:t>
            </a:r>
          </a:p>
          <a:p>
            <a:pPr lvl="1"/>
            <a:r>
              <a:rPr lang="en-US"/>
              <a:t>drawLine</a:t>
            </a:r>
          </a:p>
          <a:p>
            <a:pPr lvl="1"/>
            <a:r>
              <a:rPr lang="en-US"/>
              <a:t>drawing pictures with a pencil</a:t>
            </a:r>
          </a:p>
          <a:p>
            <a:r>
              <a:rPr lang="en-US"/>
              <a:t>accessing arrays</a:t>
            </a:r>
          </a:p>
          <a:p>
            <a:endParaRPr lang="en-US"/>
          </a:p>
        </p:txBody>
      </p:sp>
    </p:spTree>
    <p:extLst>
      <p:ext uri="{BB962C8B-B14F-4D97-AF65-F5344CB8AC3E}">
        <p14:creationId xmlns:p14="http://schemas.microsoft.com/office/powerpoint/2010/main" val="422861724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A5E76A-FD37-EA57-7ADB-65EE77EEF698}"/>
              </a:ext>
            </a:extLst>
          </p:cNvPr>
          <p:cNvSpPr>
            <a:spLocks noGrp="1"/>
          </p:cNvSpPr>
          <p:nvPr>
            <p:ph type="title"/>
          </p:nvPr>
        </p:nvSpPr>
        <p:spPr/>
        <p:txBody>
          <a:bodyPr/>
          <a:lstStyle/>
          <a:p>
            <a:r>
              <a:rPr lang="en-US"/>
              <a:t>midterm questions?</a:t>
            </a:r>
          </a:p>
        </p:txBody>
      </p:sp>
    </p:spTree>
    <p:extLst>
      <p:ext uri="{BB962C8B-B14F-4D97-AF65-F5344CB8AC3E}">
        <p14:creationId xmlns:p14="http://schemas.microsoft.com/office/powerpoint/2010/main" val="646834041"/>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8CBDE-3394-193F-1821-A926232D92F5}"/>
              </a:ext>
            </a:extLst>
          </p:cNvPr>
          <p:cNvSpPr>
            <a:spLocks noGrp="1"/>
          </p:cNvSpPr>
          <p:nvPr>
            <p:ph type="title"/>
          </p:nvPr>
        </p:nvSpPr>
        <p:spPr/>
        <p:txBody>
          <a:bodyPr/>
          <a:lstStyle/>
          <a:p>
            <a:r>
              <a:rPr lang="en-US" sz="4800"/>
              <a:t>where did the</a:t>
            </a:r>
            <a:br>
              <a:rPr lang="en-US" sz="4800"/>
            </a:br>
            <a:r>
              <a:rPr lang="en-US" sz="4800"/>
              <a:t>PostScript Starter Code come from?</a:t>
            </a:r>
          </a:p>
        </p:txBody>
      </p:sp>
    </p:spTree>
    <p:extLst>
      <p:ext uri="{BB962C8B-B14F-4D97-AF65-F5344CB8AC3E}">
        <p14:creationId xmlns:p14="http://schemas.microsoft.com/office/powerpoint/2010/main" val="93899937"/>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E9BDA19-FF3A-D624-F106-18C114047C73}"/>
              </a:ext>
            </a:extLst>
          </p:cNvPr>
          <p:cNvSpPr>
            <a:spLocks noGrp="1"/>
          </p:cNvSpPr>
          <p:nvPr>
            <p:ph type="title"/>
          </p:nvPr>
        </p:nvSpPr>
        <p:spPr/>
        <p:txBody>
          <a:bodyPr/>
          <a:lstStyle/>
          <a:p>
            <a:r>
              <a:rPr lang="en-US" sz="4000"/>
              <a:t>the big decision in the Starter Code is that we're going to chop the program into a list of "tokens"</a:t>
            </a:r>
            <a:br>
              <a:rPr lang="en-US" sz="4000"/>
            </a:br>
            <a:br>
              <a:rPr lang="en-US" sz="4000"/>
            </a:br>
            <a:r>
              <a:rPr lang="en-US" sz="4000"/>
              <a:t>and each token could be a </a:t>
            </a:r>
            <a:r>
              <a:rPr lang="en-US" sz="4000" err="1"/>
              <a:t>boolean</a:t>
            </a:r>
            <a:r>
              <a:rPr lang="en-US" sz="4000"/>
              <a:t>, double, String, or list</a:t>
            </a:r>
          </a:p>
        </p:txBody>
      </p:sp>
    </p:spTree>
    <p:extLst>
      <p:ext uri="{BB962C8B-B14F-4D97-AF65-F5344CB8AC3E}">
        <p14:creationId xmlns:p14="http://schemas.microsoft.com/office/powerpoint/2010/main" val="70386194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75CB751-F043-4A62-CEE8-70DA6CA6E023}"/>
              </a:ext>
            </a:extLst>
          </p:cNvPr>
          <p:cNvSpPr>
            <a:spLocks noGrp="1"/>
          </p:cNvSpPr>
          <p:nvPr>
            <p:ph type="title"/>
          </p:nvPr>
        </p:nvSpPr>
        <p:spPr/>
        <p:txBody>
          <a:bodyPr/>
          <a:lstStyle/>
          <a:p>
            <a:r>
              <a:rPr lang="en-US"/>
              <a:t>in Python, a variable's type is </a:t>
            </a:r>
            <a:r>
              <a:rPr lang="en-US" b="1"/>
              <a:t>dynamic</a:t>
            </a:r>
            <a:endParaRPr lang="en-US"/>
          </a:p>
        </p:txBody>
      </p:sp>
      <p:sp>
        <p:nvSpPr>
          <p:cNvPr id="5" name="TextBox 4">
            <a:extLst>
              <a:ext uri="{FF2B5EF4-FFF2-40B4-BE49-F238E27FC236}">
                <a16:creationId xmlns:a16="http://schemas.microsoft.com/office/drawing/2014/main" id="{C88A5B60-4B0E-16A3-695C-B95EBAF5934C}"/>
              </a:ext>
            </a:extLst>
          </p:cNvPr>
          <p:cNvSpPr txBox="1"/>
          <p:nvPr/>
        </p:nvSpPr>
        <p:spPr>
          <a:xfrm>
            <a:off x="457200" y="1223688"/>
            <a:ext cx="8229600" cy="3693319"/>
          </a:xfrm>
          <a:prstGeom prst="rect">
            <a:avLst/>
          </a:prstGeom>
          <a:solidFill>
            <a:schemeClr val="accent3">
              <a:lumMod val="20000"/>
              <a:lumOff val="80000"/>
            </a:schemeClr>
          </a:solidFill>
          <a:ln>
            <a:solidFill>
              <a:schemeClr val="tx1"/>
            </a:solidFill>
          </a:ln>
        </p:spPr>
        <p:txBody>
          <a:bodyPr wrap="square" rtlCol="0">
            <a:spAutoFit/>
          </a:bodyPr>
          <a:lstStyle/>
          <a:p>
            <a:pPr lvl="0" defTabSz="342886">
              <a:spcBef>
                <a:spcPct val="20000"/>
              </a:spcBef>
              <a:buClr>
                <a:srgbClr val="FFFFFF">
                  <a:lumMod val="65000"/>
                </a:srgbClr>
              </a:buClr>
            </a:pPr>
            <a:r>
              <a:rPr lang="en-US">
                <a:latin typeface="Consolas"/>
                <a:ea typeface="Segoe UI Emoji" panose="020B0502040204020203" pitchFamily="34" charset="0"/>
                <a:cs typeface="Consolas" panose="020B0609020204030204" pitchFamily="49" charset="0"/>
              </a:rPr>
              <a:t>token = </a:t>
            </a:r>
            <a:r>
              <a:rPr lang="en-US">
                <a:solidFill>
                  <a:srgbClr val="0000FF"/>
                </a:solidFill>
                <a:latin typeface="Consolas"/>
                <a:ea typeface="Segoe UI Emoji" panose="020B0502040204020203" pitchFamily="34" charset="0"/>
                <a:cs typeface="Consolas" panose="020B0609020204030204" pitchFamily="49" charset="0"/>
              </a:rPr>
              <a:t>True</a:t>
            </a:r>
          </a:p>
          <a:p>
            <a:pPr defTabSz="342886">
              <a:spcBef>
                <a:spcPct val="20000"/>
              </a:spcBef>
              <a:buClr>
                <a:srgbClr val="FFFFFF">
                  <a:lumMod val="65000"/>
                </a:srgbClr>
              </a:buClr>
            </a:pPr>
            <a:r>
              <a:rPr lang="en-US">
                <a:solidFill>
                  <a:schemeClr val="accent2">
                    <a:lumMod val="75000"/>
                  </a:schemeClr>
                </a:solidFill>
                <a:latin typeface="Consolas"/>
                <a:ea typeface="Segoe UI Emoji" panose="020B0502040204020203" pitchFamily="34" charset="0"/>
                <a:cs typeface="Consolas" panose="020B0609020204030204" pitchFamily="49" charset="0"/>
              </a:rPr>
              <a:t>print</a:t>
            </a:r>
            <a:r>
              <a:rPr lang="en-US">
                <a:latin typeface="Consolas"/>
                <a:ea typeface="Segoe UI Emoji" panose="020B0502040204020203" pitchFamily="34" charset="0"/>
                <a:cs typeface="Consolas" panose="020B0609020204030204" pitchFamily="49" charset="0"/>
              </a:rPr>
              <a:t>(</a:t>
            </a:r>
            <a:r>
              <a:rPr lang="en-US">
                <a:solidFill>
                  <a:schemeClr val="accent2">
                    <a:lumMod val="75000"/>
                  </a:schemeClr>
                </a:solidFill>
                <a:latin typeface="Consolas"/>
                <a:ea typeface="Segoe UI Emoji" panose="020B0502040204020203" pitchFamily="34" charset="0"/>
                <a:cs typeface="Consolas" panose="020B0609020204030204" pitchFamily="49" charset="0"/>
              </a:rPr>
              <a:t>type</a:t>
            </a:r>
            <a:r>
              <a:rPr lang="en-US">
                <a:latin typeface="Consolas"/>
                <a:ea typeface="Segoe UI Emoji" panose="020B0502040204020203" pitchFamily="34" charset="0"/>
                <a:cs typeface="Consolas" panose="020B0609020204030204" pitchFamily="49" charset="0"/>
              </a:rPr>
              <a:t>(token)) </a:t>
            </a:r>
            <a:r>
              <a:rPr lang="en-US">
                <a:solidFill>
                  <a:srgbClr val="007B00"/>
                </a:solidFill>
                <a:latin typeface="Consolas"/>
                <a:ea typeface="Segoe UI Emoji" panose="020B0502040204020203" pitchFamily="34" charset="0"/>
                <a:cs typeface="Consolas" panose="020B0609020204030204" pitchFamily="49" charset="0"/>
              </a:rPr>
              <a:t># &lt;class 'bool'&gt;</a:t>
            </a:r>
          </a:p>
          <a:p>
            <a:pPr defTabSz="342886">
              <a:spcBef>
                <a:spcPct val="20000"/>
              </a:spcBef>
              <a:buClr>
                <a:srgbClr val="FFFFFF">
                  <a:lumMod val="65000"/>
                </a:srgbClr>
              </a:buClr>
            </a:pPr>
            <a:endParaRPr lang="en-US">
              <a:latin typeface="Consolas"/>
              <a:ea typeface="Segoe UI Emoji" panose="020B0502040204020203" pitchFamily="34" charset="0"/>
              <a:cs typeface="Consolas" panose="020B0609020204030204" pitchFamily="49" charset="0"/>
            </a:endParaRPr>
          </a:p>
          <a:p>
            <a:pPr lvl="0" defTabSz="342886">
              <a:spcBef>
                <a:spcPct val="20000"/>
              </a:spcBef>
              <a:buClr>
                <a:srgbClr val="FFFFFF">
                  <a:lumMod val="65000"/>
                </a:srgbClr>
              </a:buClr>
            </a:pPr>
            <a:r>
              <a:rPr lang="en-US">
                <a:latin typeface="Consolas"/>
                <a:ea typeface="Segoe UI Emoji" panose="020B0502040204020203" pitchFamily="34" charset="0"/>
                <a:cs typeface="Consolas" panose="020B0609020204030204" pitchFamily="49" charset="0"/>
              </a:rPr>
              <a:t>token = </a:t>
            </a:r>
            <a:r>
              <a:rPr lang="en-US">
                <a:solidFill>
                  <a:srgbClr val="0CB5B5"/>
                </a:solidFill>
                <a:latin typeface="Consolas"/>
                <a:ea typeface="Segoe UI Emoji" panose="020B0502040204020203" pitchFamily="34" charset="0"/>
                <a:cs typeface="Consolas" panose="020B0609020204030204" pitchFamily="49" charset="0"/>
              </a:rPr>
              <a:t>5</a:t>
            </a:r>
            <a:r>
              <a:rPr lang="en-US">
                <a:latin typeface="Consolas"/>
                <a:ea typeface="Segoe UI Emoji" panose="020B0502040204020203" pitchFamily="34" charset="0"/>
                <a:cs typeface="Consolas" panose="020B0609020204030204" pitchFamily="49" charset="0"/>
              </a:rPr>
              <a:t>.</a:t>
            </a:r>
            <a:r>
              <a:rPr lang="en-US">
                <a:solidFill>
                  <a:srgbClr val="0CB5B5"/>
                </a:solidFill>
                <a:latin typeface="Consolas"/>
                <a:ea typeface="Segoe UI Emoji" panose="020B0502040204020203" pitchFamily="34" charset="0"/>
                <a:cs typeface="Consolas" panose="020B0609020204030204" pitchFamily="49" charset="0"/>
              </a:rPr>
              <a:t>0</a:t>
            </a:r>
          </a:p>
          <a:p>
            <a:pPr defTabSz="342886">
              <a:spcBef>
                <a:spcPct val="20000"/>
              </a:spcBef>
              <a:buClr>
                <a:srgbClr val="FFFFFF">
                  <a:lumMod val="65000"/>
                </a:srgbClr>
              </a:buClr>
            </a:pPr>
            <a:r>
              <a:rPr lang="en-US">
                <a:solidFill>
                  <a:schemeClr val="accent2">
                    <a:lumMod val="75000"/>
                  </a:schemeClr>
                </a:solidFill>
                <a:latin typeface="Consolas"/>
                <a:ea typeface="Segoe UI Emoji" panose="020B0502040204020203" pitchFamily="34" charset="0"/>
                <a:cs typeface="Consolas" panose="020B0609020204030204" pitchFamily="49" charset="0"/>
              </a:rPr>
              <a:t>print</a:t>
            </a:r>
            <a:r>
              <a:rPr lang="en-US">
                <a:latin typeface="Consolas"/>
                <a:ea typeface="Segoe UI Emoji" panose="020B0502040204020203" pitchFamily="34" charset="0"/>
                <a:cs typeface="Consolas" panose="020B0609020204030204" pitchFamily="49" charset="0"/>
              </a:rPr>
              <a:t>(</a:t>
            </a:r>
            <a:r>
              <a:rPr lang="en-US">
                <a:solidFill>
                  <a:schemeClr val="accent2">
                    <a:lumMod val="75000"/>
                  </a:schemeClr>
                </a:solidFill>
                <a:latin typeface="Consolas"/>
                <a:ea typeface="Segoe UI Emoji" panose="020B0502040204020203" pitchFamily="34" charset="0"/>
                <a:cs typeface="Consolas" panose="020B0609020204030204" pitchFamily="49" charset="0"/>
              </a:rPr>
              <a:t>type</a:t>
            </a:r>
            <a:r>
              <a:rPr lang="en-US">
                <a:latin typeface="Consolas"/>
                <a:ea typeface="Segoe UI Emoji" panose="020B0502040204020203" pitchFamily="34" charset="0"/>
                <a:cs typeface="Consolas" panose="020B0609020204030204" pitchFamily="49" charset="0"/>
              </a:rPr>
              <a:t>(token)) </a:t>
            </a:r>
            <a:r>
              <a:rPr lang="en-US">
                <a:solidFill>
                  <a:srgbClr val="007B00"/>
                </a:solidFill>
                <a:latin typeface="Consolas"/>
                <a:ea typeface="Segoe UI Emoji" panose="020B0502040204020203" pitchFamily="34" charset="0"/>
                <a:cs typeface="Consolas" panose="020B0609020204030204" pitchFamily="49" charset="0"/>
              </a:rPr>
              <a:t># &lt;class 'float'&gt;</a:t>
            </a:r>
          </a:p>
          <a:p>
            <a:pPr defTabSz="342886">
              <a:spcBef>
                <a:spcPct val="20000"/>
              </a:spcBef>
              <a:buClr>
                <a:srgbClr val="FFFFFF">
                  <a:lumMod val="65000"/>
                </a:srgbClr>
              </a:buClr>
            </a:pPr>
            <a:endParaRPr lang="en-US">
              <a:solidFill>
                <a:srgbClr val="007B00"/>
              </a:solidFill>
              <a:latin typeface="Consolas"/>
              <a:ea typeface="Segoe UI Emoji" panose="020B0502040204020203" pitchFamily="34" charset="0"/>
              <a:cs typeface="Consolas" panose="020B0609020204030204" pitchFamily="49" charset="0"/>
            </a:endParaRPr>
          </a:p>
          <a:p>
            <a:pPr defTabSz="342886">
              <a:spcBef>
                <a:spcPct val="20000"/>
              </a:spcBef>
              <a:buClr>
                <a:srgbClr val="FFFFFF">
                  <a:lumMod val="65000"/>
                </a:srgbClr>
              </a:buClr>
            </a:pPr>
            <a:r>
              <a:rPr lang="en-US">
                <a:latin typeface="Consolas"/>
                <a:ea typeface="Segoe UI Emoji" panose="020B0502040204020203" pitchFamily="34" charset="0"/>
                <a:cs typeface="Consolas" panose="020B0609020204030204" pitchFamily="49" charset="0"/>
              </a:rPr>
              <a:t>token = </a:t>
            </a:r>
            <a:r>
              <a:rPr lang="en-US">
                <a:solidFill>
                  <a:srgbClr val="B60E0E"/>
                </a:solidFill>
                <a:latin typeface="Consolas"/>
                <a:ea typeface="Segoe UI Emoji" panose="020B0502040204020203" pitchFamily="34" charset="0"/>
                <a:cs typeface="Consolas" panose="020B0609020204030204" pitchFamily="49" charset="0"/>
              </a:rPr>
              <a:t>"</a:t>
            </a:r>
            <a:r>
              <a:rPr lang="en-US" err="1">
                <a:solidFill>
                  <a:srgbClr val="B60E0E"/>
                </a:solidFill>
                <a:latin typeface="Consolas"/>
                <a:ea typeface="Segoe UI Emoji" panose="020B0502040204020203" pitchFamily="34" charset="0"/>
                <a:cs typeface="Consolas" panose="020B0609020204030204" pitchFamily="49" charset="0"/>
              </a:rPr>
              <a:t>exch</a:t>
            </a:r>
            <a:r>
              <a:rPr lang="en-US">
                <a:solidFill>
                  <a:srgbClr val="B60E0E"/>
                </a:solidFill>
                <a:latin typeface="Consolas"/>
                <a:ea typeface="Segoe UI Emoji" panose="020B0502040204020203" pitchFamily="34" charset="0"/>
                <a:cs typeface="Consolas" panose="020B0609020204030204" pitchFamily="49" charset="0"/>
              </a:rPr>
              <a:t>"</a:t>
            </a:r>
          </a:p>
          <a:p>
            <a:pPr defTabSz="342886">
              <a:spcBef>
                <a:spcPct val="20000"/>
              </a:spcBef>
              <a:buClr>
                <a:srgbClr val="FFFFFF">
                  <a:lumMod val="65000"/>
                </a:srgbClr>
              </a:buClr>
            </a:pPr>
            <a:r>
              <a:rPr lang="en-US">
                <a:solidFill>
                  <a:schemeClr val="accent2">
                    <a:lumMod val="75000"/>
                  </a:schemeClr>
                </a:solidFill>
                <a:latin typeface="Consolas"/>
                <a:ea typeface="Segoe UI Emoji" panose="020B0502040204020203" pitchFamily="34" charset="0"/>
                <a:cs typeface="Consolas" panose="020B0609020204030204" pitchFamily="49" charset="0"/>
              </a:rPr>
              <a:t>print</a:t>
            </a:r>
            <a:r>
              <a:rPr lang="en-US">
                <a:latin typeface="Consolas"/>
                <a:ea typeface="Segoe UI Emoji" panose="020B0502040204020203" pitchFamily="34" charset="0"/>
                <a:cs typeface="Consolas" panose="020B0609020204030204" pitchFamily="49" charset="0"/>
              </a:rPr>
              <a:t>(</a:t>
            </a:r>
            <a:r>
              <a:rPr lang="en-US">
                <a:solidFill>
                  <a:schemeClr val="accent2">
                    <a:lumMod val="75000"/>
                  </a:schemeClr>
                </a:solidFill>
                <a:latin typeface="Consolas"/>
                <a:ea typeface="Segoe UI Emoji" panose="020B0502040204020203" pitchFamily="34" charset="0"/>
                <a:cs typeface="Consolas" panose="020B0609020204030204" pitchFamily="49" charset="0"/>
              </a:rPr>
              <a:t>type</a:t>
            </a:r>
            <a:r>
              <a:rPr lang="en-US">
                <a:latin typeface="Consolas"/>
                <a:ea typeface="Segoe UI Emoji" panose="020B0502040204020203" pitchFamily="34" charset="0"/>
                <a:cs typeface="Consolas" panose="020B0609020204030204" pitchFamily="49" charset="0"/>
              </a:rPr>
              <a:t>(token)) </a:t>
            </a:r>
            <a:r>
              <a:rPr lang="en-US">
                <a:solidFill>
                  <a:srgbClr val="007B00"/>
                </a:solidFill>
                <a:latin typeface="Consolas"/>
                <a:ea typeface="Segoe UI Emoji" panose="020B0502040204020203" pitchFamily="34" charset="0"/>
                <a:cs typeface="Consolas" panose="020B0609020204030204" pitchFamily="49" charset="0"/>
              </a:rPr>
              <a:t># &lt;class 'str'&gt;</a:t>
            </a:r>
            <a:endParaRPr lang="en-US">
              <a:latin typeface="Consolas"/>
              <a:ea typeface="Segoe UI Emoji" panose="020B0502040204020203" pitchFamily="34" charset="0"/>
              <a:cs typeface="Consolas" panose="020B0609020204030204" pitchFamily="49" charset="0"/>
            </a:endParaRPr>
          </a:p>
          <a:p>
            <a:pPr lvl="0" defTabSz="342886">
              <a:spcBef>
                <a:spcPct val="20000"/>
              </a:spcBef>
              <a:buClr>
                <a:srgbClr val="FFFFFF">
                  <a:lumMod val="65000"/>
                </a:srgbClr>
              </a:buClr>
            </a:pPr>
            <a:endParaRPr lang="en-US">
              <a:solidFill>
                <a:srgbClr val="0CB5B5"/>
              </a:solidFill>
              <a:latin typeface="Consolas"/>
              <a:ea typeface="Segoe UI Emoji" panose="020B0502040204020203" pitchFamily="34" charset="0"/>
              <a:cs typeface="Consolas" panose="020B0609020204030204" pitchFamily="49" charset="0"/>
            </a:endParaRPr>
          </a:p>
          <a:p>
            <a:pPr lvl="0" defTabSz="342886">
              <a:spcBef>
                <a:spcPct val="20000"/>
              </a:spcBef>
              <a:buClr>
                <a:srgbClr val="FFFFFF">
                  <a:lumMod val="65000"/>
                </a:srgbClr>
              </a:buClr>
            </a:pPr>
            <a:r>
              <a:rPr lang="en-US">
                <a:latin typeface="Consolas"/>
                <a:ea typeface="Segoe UI Emoji" panose="020B0502040204020203" pitchFamily="34" charset="0"/>
                <a:cs typeface="Consolas" panose="020B0609020204030204" pitchFamily="49" charset="0"/>
              </a:rPr>
              <a:t>token = [</a:t>
            </a:r>
            <a:r>
              <a:rPr lang="en-US">
                <a:solidFill>
                  <a:srgbClr val="B60E0E"/>
                </a:solidFill>
                <a:latin typeface="Consolas"/>
                <a:ea typeface="Segoe UI Emoji" panose="020B0502040204020203" pitchFamily="34" charset="0"/>
                <a:cs typeface="Consolas" panose="020B0609020204030204" pitchFamily="49" charset="0"/>
              </a:rPr>
              <a:t>"</a:t>
            </a:r>
            <a:r>
              <a:rPr lang="en-US" err="1">
                <a:solidFill>
                  <a:srgbClr val="B60E0E"/>
                </a:solidFill>
                <a:latin typeface="Consolas"/>
                <a:ea typeface="Segoe UI Emoji" panose="020B0502040204020203" pitchFamily="34" charset="0"/>
                <a:cs typeface="Consolas" panose="020B0609020204030204" pitchFamily="49" charset="0"/>
              </a:rPr>
              <a:t>exch</a:t>
            </a:r>
            <a:r>
              <a:rPr lang="en-US">
                <a:solidFill>
                  <a:srgbClr val="B60E0E"/>
                </a:solidFill>
                <a:latin typeface="Consolas"/>
                <a:ea typeface="Segoe UI Emoji" panose="020B0502040204020203" pitchFamily="34" charset="0"/>
                <a:cs typeface="Consolas" panose="020B0609020204030204" pitchFamily="49" charset="0"/>
              </a:rPr>
              <a:t>"</a:t>
            </a:r>
            <a:r>
              <a:rPr lang="en-US">
                <a:latin typeface="Consolas"/>
                <a:ea typeface="Segoe UI Emoji" panose="020B0502040204020203" pitchFamily="34" charset="0"/>
                <a:cs typeface="Consolas" panose="020B0609020204030204" pitchFamily="49" charset="0"/>
              </a:rPr>
              <a:t>, </a:t>
            </a:r>
            <a:r>
              <a:rPr lang="en-US">
                <a:solidFill>
                  <a:srgbClr val="0CB5B5"/>
                </a:solidFill>
                <a:latin typeface="Consolas"/>
                <a:ea typeface="Segoe UI Emoji" panose="020B0502040204020203" pitchFamily="34" charset="0"/>
                <a:cs typeface="Consolas" panose="020B0609020204030204" pitchFamily="49" charset="0"/>
              </a:rPr>
              <a:t>0</a:t>
            </a:r>
            <a:r>
              <a:rPr lang="en-US">
                <a:latin typeface="Consolas"/>
                <a:ea typeface="Segoe UI Emoji" panose="020B0502040204020203" pitchFamily="34" charset="0"/>
                <a:cs typeface="Consolas" panose="020B0609020204030204" pitchFamily="49" charset="0"/>
              </a:rPr>
              <a:t>.</a:t>
            </a:r>
            <a:r>
              <a:rPr lang="en-US">
                <a:solidFill>
                  <a:srgbClr val="0CB5B5"/>
                </a:solidFill>
                <a:latin typeface="Consolas"/>
                <a:ea typeface="Segoe UI Emoji" panose="020B0502040204020203" pitchFamily="34" charset="0"/>
                <a:cs typeface="Consolas" panose="020B0609020204030204" pitchFamily="49" charset="0"/>
              </a:rPr>
              <a:t>0</a:t>
            </a:r>
            <a:r>
              <a:rPr lang="en-US">
                <a:latin typeface="Consolas"/>
                <a:ea typeface="Segoe UI Emoji" panose="020B0502040204020203" pitchFamily="34" charset="0"/>
                <a:cs typeface="Consolas" panose="020B0609020204030204" pitchFamily="49" charset="0"/>
              </a:rPr>
              <a:t>, </a:t>
            </a:r>
            <a:r>
              <a:rPr lang="en-US">
                <a:solidFill>
                  <a:srgbClr val="B60E0E"/>
                </a:solidFill>
                <a:latin typeface="Consolas"/>
                <a:ea typeface="Segoe UI Emoji" panose="020B0502040204020203" pitchFamily="34" charset="0"/>
                <a:cs typeface="Consolas" panose="020B0609020204030204" pitchFamily="49" charset="0"/>
              </a:rPr>
              <a:t>"add"</a:t>
            </a:r>
            <a:r>
              <a:rPr lang="en-US">
                <a:latin typeface="Consolas"/>
                <a:ea typeface="Segoe UI Emoji" panose="020B0502040204020203" pitchFamily="34" charset="0"/>
                <a:cs typeface="Consolas" panose="020B0609020204030204" pitchFamily="49" charset="0"/>
              </a:rPr>
              <a:t>]</a:t>
            </a:r>
          </a:p>
          <a:p>
            <a:pPr defTabSz="342886">
              <a:spcBef>
                <a:spcPct val="20000"/>
              </a:spcBef>
              <a:buClr>
                <a:srgbClr val="FFFFFF">
                  <a:lumMod val="65000"/>
                </a:srgbClr>
              </a:buClr>
            </a:pPr>
            <a:r>
              <a:rPr lang="en-US">
                <a:solidFill>
                  <a:schemeClr val="accent2">
                    <a:lumMod val="75000"/>
                  </a:schemeClr>
                </a:solidFill>
                <a:latin typeface="Consolas"/>
                <a:ea typeface="Segoe UI Emoji" panose="020B0502040204020203" pitchFamily="34" charset="0"/>
                <a:cs typeface="Consolas" panose="020B0609020204030204" pitchFamily="49" charset="0"/>
              </a:rPr>
              <a:t>print</a:t>
            </a:r>
            <a:r>
              <a:rPr lang="en-US">
                <a:latin typeface="Consolas"/>
                <a:ea typeface="Segoe UI Emoji" panose="020B0502040204020203" pitchFamily="34" charset="0"/>
                <a:cs typeface="Consolas" panose="020B0609020204030204" pitchFamily="49" charset="0"/>
              </a:rPr>
              <a:t>(</a:t>
            </a:r>
            <a:r>
              <a:rPr lang="en-US">
                <a:solidFill>
                  <a:schemeClr val="accent2">
                    <a:lumMod val="75000"/>
                  </a:schemeClr>
                </a:solidFill>
                <a:latin typeface="Consolas"/>
                <a:ea typeface="Segoe UI Emoji" panose="020B0502040204020203" pitchFamily="34" charset="0"/>
                <a:cs typeface="Consolas" panose="020B0609020204030204" pitchFamily="49" charset="0"/>
              </a:rPr>
              <a:t>type</a:t>
            </a:r>
            <a:r>
              <a:rPr lang="en-US">
                <a:latin typeface="Consolas"/>
                <a:ea typeface="Segoe UI Emoji" panose="020B0502040204020203" pitchFamily="34" charset="0"/>
                <a:cs typeface="Consolas" panose="020B0609020204030204" pitchFamily="49" charset="0"/>
              </a:rPr>
              <a:t>(token)) </a:t>
            </a:r>
            <a:r>
              <a:rPr lang="en-US">
                <a:solidFill>
                  <a:srgbClr val="007B00"/>
                </a:solidFill>
                <a:latin typeface="Consolas"/>
                <a:ea typeface="Segoe UI Emoji" panose="020B0502040204020203" pitchFamily="34" charset="0"/>
                <a:cs typeface="Consolas" panose="020B0609020204030204" pitchFamily="49" charset="0"/>
              </a:rPr>
              <a:t># &lt;class 'list'&gt;</a:t>
            </a:r>
          </a:p>
        </p:txBody>
      </p:sp>
    </p:spTree>
    <p:extLst>
      <p:ext uri="{BB962C8B-B14F-4D97-AF65-F5344CB8AC3E}">
        <p14:creationId xmlns:p14="http://schemas.microsoft.com/office/powerpoint/2010/main" val="318396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75CB751-F043-4A62-CEE8-70DA6CA6E023}"/>
              </a:ext>
            </a:extLst>
          </p:cNvPr>
          <p:cNvSpPr>
            <a:spLocks noGrp="1"/>
          </p:cNvSpPr>
          <p:nvPr>
            <p:ph type="title"/>
          </p:nvPr>
        </p:nvSpPr>
        <p:spPr/>
        <p:txBody>
          <a:bodyPr/>
          <a:lstStyle/>
          <a:p>
            <a:r>
              <a:rPr lang="en-US"/>
              <a:t>in Java, a variable's type is </a:t>
            </a:r>
            <a:r>
              <a:rPr lang="en-US" b="1"/>
              <a:t>static</a:t>
            </a:r>
            <a:endParaRPr lang="en-US"/>
          </a:p>
        </p:txBody>
      </p:sp>
      <p:sp>
        <p:nvSpPr>
          <p:cNvPr id="5" name="TextBox 4">
            <a:extLst>
              <a:ext uri="{FF2B5EF4-FFF2-40B4-BE49-F238E27FC236}">
                <a16:creationId xmlns:a16="http://schemas.microsoft.com/office/drawing/2014/main" id="{C88A5B60-4B0E-16A3-695C-B95EBAF5934C}"/>
              </a:ext>
            </a:extLst>
          </p:cNvPr>
          <p:cNvSpPr txBox="1"/>
          <p:nvPr/>
        </p:nvSpPr>
        <p:spPr>
          <a:xfrm>
            <a:off x="457200" y="922084"/>
            <a:ext cx="5963194" cy="4025717"/>
          </a:xfrm>
          <a:prstGeom prst="rect">
            <a:avLst/>
          </a:prstGeom>
          <a:noFill/>
          <a:ln>
            <a:noFill/>
          </a:ln>
        </p:spPr>
        <p:txBody>
          <a:bodyPr wrap="square" rtlCol="0">
            <a:spAutoFit/>
          </a:bodyPr>
          <a:lstStyle/>
          <a:p>
            <a:pPr lvl="0" defTabSz="342886">
              <a:spcBef>
                <a:spcPct val="20000"/>
              </a:spcBef>
              <a:buClr>
                <a:srgbClr val="FFFFFF">
                  <a:lumMod val="65000"/>
                </a:srgbClr>
              </a:buClr>
            </a:pPr>
            <a:endParaRPr lang="en-US">
              <a:latin typeface="Consolas"/>
              <a:ea typeface="Segoe UI Emoji" panose="020B0502040204020203" pitchFamily="34" charset="0"/>
              <a:cs typeface="Consolas" panose="020B0609020204030204" pitchFamily="49" charset="0"/>
            </a:endParaRPr>
          </a:p>
          <a:p>
            <a:pPr lvl="0" defTabSz="342886">
              <a:spcBef>
                <a:spcPct val="20000"/>
              </a:spcBef>
              <a:buClr>
                <a:srgbClr val="FFFFFF">
                  <a:lumMod val="65000"/>
                </a:srgbClr>
              </a:buClr>
            </a:pPr>
            <a:r>
              <a:rPr lang="en-US">
                <a:latin typeface="Consolas"/>
                <a:ea typeface="Segoe UI Emoji" panose="020B0502040204020203" pitchFamily="34" charset="0"/>
                <a:cs typeface="Consolas" panose="020B0609020204030204" pitchFamily="49" charset="0"/>
              </a:rPr>
              <a:t>class </a:t>
            </a:r>
            <a:r>
              <a:rPr lang="en-US">
                <a:solidFill>
                  <a:srgbClr val="000080"/>
                </a:solidFill>
                <a:latin typeface="Consolas"/>
                <a:ea typeface="Segoe UI Emoji" panose="020B0502040204020203" pitchFamily="34" charset="0"/>
                <a:cs typeface="Consolas" panose="020B0609020204030204" pitchFamily="49" charset="0"/>
              </a:rPr>
              <a:t>Token</a:t>
            </a:r>
            <a:r>
              <a:rPr lang="en-US">
                <a:latin typeface="Consolas"/>
                <a:ea typeface="Segoe UI Emoji" panose="020B0502040204020203" pitchFamily="34" charset="0"/>
                <a:cs typeface="Consolas" panose="020B0609020204030204" pitchFamily="49" charset="0"/>
              </a:rPr>
              <a:t> {</a:t>
            </a:r>
          </a:p>
          <a:p>
            <a:pPr lvl="0" defTabSz="342886">
              <a:spcBef>
                <a:spcPct val="20000"/>
              </a:spcBef>
              <a:buClr>
                <a:srgbClr val="FFFFFF">
                  <a:lumMod val="65000"/>
                </a:srgbClr>
              </a:buClr>
            </a:pPr>
            <a:r>
              <a:rPr lang="en-US">
                <a:latin typeface="Consolas"/>
                <a:ea typeface="Segoe UI Emoji" panose="020B0502040204020203" pitchFamily="34" charset="0"/>
                <a:cs typeface="Consolas" panose="020B0609020204030204" pitchFamily="49" charset="0"/>
              </a:rPr>
              <a:t>    </a:t>
            </a:r>
            <a:r>
              <a:rPr lang="en-US">
                <a:solidFill>
                  <a:srgbClr val="000080"/>
                </a:solidFill>
                <a:latin typeface="Consolas"/>
                <a:ea typeface="Segoe UI Emoji" panose="020B0502040204020203" pitchFamily="34" charset="0"/>
                <a:cs typeface="Consolas" panose="020B0609020204030204" pitchFamily="49" charset="0"/>
              </a:rPr>
              <a:t>int</a:t>
            </a:r>
            <a:r>
              <a:rPr lang="en-US">
                <a:latin typeface="Consolas"/>
                <a:ea typeface="Segoe UI Emoji" panose="020B0502040204020203" pitchFamily="34" charset="0"/>
                <a:cs typeface="Consolas" panose="020B0609020204030204" pitchFamily="49" charset="0"/>
              </a:rPr>
              <a:t> type;</a:t>
            </a:r>
          </a:p>
          <a:p>
            <a:pPr lvl="0" defTabSz="342886">
              <a:spcBef>
                <a:spcPct val="20000"/>
              </a:spcBef>
              <a:buClr>
                <a:srgbClr val="FFFFFF">
                  <a:lumMod val="65000"/>
                </a:srgbClr>
              </a:buClr>
            </a:pPr>
            <a:r>
              <a:rPr lang="en-US">
                <a:latin typeface="Consolas"/>
                <a:ea typeface="Segoe UI Emoji" panose="020B0502040204020203" pitchFamily="34" charset="0"/>
                <a:cs typeface="Consolas" panose="020B0609020204030204" pitchFamily="49" charset="0"/>
              </a:rPr>
              <a:t>    </a:t>
            </a:r>
            <a:r>
              <a:rPr lang="en-US">
                <a:solidFill>
                  <a:srgbClr val="0000FF"/>
                </a:solidFill>
                <a:latin typeface="Consolas"/>
                <a:ea typeface="Segoe UI Emoji" panose="020B0502040204020203" pitchFamily="34" charset="0"/>
                <a:cs typeface="Consolas" panose="020B0609020204030204" pitchFamily="49" charset="0"/>
              </a:rPr>
              <a:t>private</a:t>
            </a:r>
            <a:r>
              <a:rPr lang="en-US">
                <a:latin typeface="Consolas"/>
                <a:ea typeface="Segoe UI Emoji" panose="020B0502040204020203" pitchFamily="34" charset="0"/>
                <a:cs typeface="Consolas" panose="020B0609020204030204" pitchFamily="49" charset="0"/>
              </a:rPr>
              <a:t> </a:t>
            </a:r>
            <a:r>
              <a:rPr lang="en-US" err="1">
                <a:solidFill>
                  <a:srgbClr val="000080"/>
                </a:solidFill>
                <a:latin typeface="Consolas"/>
                <a:ea typeface="Segoe UI Emoji" panose="020B0502040204020203" pitchFamily="34" charset="0"/>
                <a:cs typeface="Consolas" panose="020B0609020204030204" pitchFamily="49" charset="0"/>
              </a:rPr>
              <a:t>boolean</a:t>
            </a:r>
            <a:r>
              <a:rPr lang="en-US">
                <a:latin typeface="Consolas"/>
                <a:ea typeface="Segoe UI Emoji" panose="020B0502040204020203" pitchFamily="34" charset="0"/>
                <a:cs typeface="Consolas" panose="020B0609020204030204" pitchFamily="49" charset="0"/>
              </a:rPr>
              <a:t> _</a:t>
            </a:r>
            <a:r>
              <a:rPr lang="en-US" err="1">
                <a:latin typeface="Consolas"/>
                <a:ea typeface="Segoe UI Emoji" panose="020B0502040204020203" pitchFamily="34" charset="0"/>
                <a:cs typeface="Consolas" panose="020B0609020204030204" pitchFamily="49" charset="0"/>
              </a:rPr>
              <a:t>valueIfTypeBoolean</a:t>
            </a:r>
            <a:r>
              <a:rPr lang="en-US">
                <a:latin typeface="Consolas"/>
                <a:ea typeface="Segoe UI Emoji" panose="020B0502040204020203" pitchFamily="34" charset="0"/>
                <a:cs typeface="Consolas" panose="020B0609020204030204" pitchFamily="49" charset="0"/>
              </a:rPr>
              <a:t>;</a:t>
            </a:r>
          </a:p>
          <a:p>
            <a:pPr lvl="0" defTabSz="342886">
              <a:spcBef>
                <a:spcPct val="20000"/>
              </a:spcBef>
              <a:buClr>
                <a:srgbClr val="FFFFFF">
                  <a:lumMod val="65000"/>
                </a:srgbClr>
              </a:buClr>
            </a:pPr>
            <a:r>
              <a:rPr lang="en-US">
                <a:latin typeface="Consolas"/>
                <a:ea typeface="Segoe UI Emoji" panose="020B0502040204020203" pitchFamily="34" charset="0"/>
                <a:cs typeface="Consolas" panose="020B0609020204030204" pitchFamily="49" charset="0"/>
              </a:rPr>
              <a:t>    </a:t>
            </a:r>
            <a:r>
              <a:rPr lang="en-US">
                <a:solidFill>
                  <a:srgbClr val="0000FF"/>
                </a:solidFill>
                <a:latin typeface="Consolas"/>
                <a:ea typeface="Segoe UI Emoji" panose="020B0502040204020203" pitchFamily="34" charset="0"/>
                <a:cs typeface="Consolas" panose="020B0609020204030204" pitchFamily="49" charset="0"/>
              </a:rPr>
              <a:t>private</a:t>
            </a:r>
            <a:r>
              <a:rPr lang="en-US">
                <a:latin typeface="Consolas"/>
                <a:ea typeface="Segoe UI Emoji" panose="020B0502040204020203" pitchFamily="34" charset="0"/>
                <a:cs typeface="Consolas" panose="020B0609020204030204" pitchFamily="49" charset="0"/>
              </a:rPr>
              <a:t> </a:t>
            </a:r>
            <a:r>
              <a:rPr lang="en-US">
                <a:solidFill>
                  <a:srgbClr val="000080"/>
                </a:solidFill>
                <a:latin typeface="Consolas"/>
                <a:ea typeface="Segoe UI Emoji" panose="020B0502040204020203" pitchFamily="34" charset="0"/>
                <a:cs typeface="Consolas" panose="020B0609020204030204" pitchFamily="49" charset="0"/>
              </a:rPr>
              <a:t>double</a:t>
            </a:r>
            <a:r>
              <a:rPr lang="en-US">
                <a:latin typeface="Consolas"/>
                <a:ea typeface="Segoe UI Emoji" panose="020B0502040204020203" pitchFamily="34" charset="0"/>
                <a:cs typeface="Consolas" panose="020B0609020204030204" pitchFamily="49" charset="0"/>
              </a:rPr>
              <a:t> _</a:t>
            </a:r>
            <a:r>
              <a:rPr lang="en-US" err="1">
                <a:latin typeface="Consolas"/>
                <a:ea typeface="Segoe UI Emoji" panose="020B0502040204020203" pitchFamily="34" charset="0"/>
                <a:cs typeface="Consolas" panose="020B0609020204030204" pitchFamily="49" charset="0"/>
              </a:rPr>
              <a:t>valueIfTypeDouble</a:t>
            </a:r>
            <a:r>
              <a:rPr lang="en-US">
                <a:latin typeface="Consolas"/>
                <a:ea typeface="Segoe UI Emoji" panose="020B0502040204020203" pitchFamily="34" charset="0"/>
                <a:cs typeface="Consolas" panose="020B0609020204030204" pitchFamily="49" charset="0"/>
              </a:rPr>
              <a:t>;</a:t>
            </a:r>
          </a:p>
          <a:p>
            <a:pPr lvl="0" defTabSz="342886">
              <a:spcBef>
                <a:spcPct val="20000"/>
              </a:spcBef>
              <a:buClr>
                <a:srgbClr val="FFFFFF">
                  <a:lumMod val="65000"/>
                </a:srgbClr>
              </a:buClr>
            </a:pPr>
            <a:r>
              <a:rPr lang="en-US">
                <a:latin typeface="Consolas"/>
                <a:ea typeface="Segoe UI Emoji" panose="020B0502040204020203" pitchFamily="34" charset="0"/>
                <a:cs typeface="Consolas" panose="020B0609020204030204" pitchFamily="49" charset="0"/>
              </a:rPr>
              <a:t>    </a:t>
            </a:r>
            <a:r>
              <a:rPr lang="en-US">
                <a:solidFill>
                  <a:srgbClr val="0000FF"/>
                </a:solidFill>
                <a:latin typeface="Consolas"/>
                <a:ea typeface="Segoe UI Emoji" panose="020B0502040204020203" pitchFamily="34" charset="0"/>
                <a:cs typeface="Consolas" panose="020B0609020204030204" pitchFamily="49" charset="0"/>
              </a:rPr>
              <a:t>private</a:t>
            </a:r>
            <a:r>
              <a:rPr lang="en-US">
                <a:latin typeface="Consolas"/>
                <a:ea typeface="Segoe UI Emoji" panose="020B0502040204020203" pitchFamily="34" charset="0"/>
                <a:cs typeface="Consolas" panose="020B0609020204030204" pitchFamily="49" charset="0"/>
              </a:rPr>
              <a:t> </a:t>
            </a:r>
            <a:r>
              <a:rPr lang="en-US">
                <a:solidFill>
                  <a:srgbClr val="000080"/>
                </a:solidFill>
                <a:latin typeface="Consolas"/>
                <a:ea typeface="Segoe UI Emoji" panose="020B0502040204020203" pitchFamily="34" charset="0"/>
                <a:cs typeface="Consolas" panose="020B0609020204030204" pitchFamily="49" charset="0"/>
              </a:rPr>
              <a:t>String</a:t>
            </a:r>
            <a:r>
              <a:rPr lang="en-US">
                <a:latin typeface="Consolas"/>
                <a:ea typeface="Segoe UI Emoji" panose="020B0502040204020203" pitchFamily="34" charset="0"/>
                <a:cs typeface="Consolas" panose="020B0609020204030204" pitchFamily="49" charset="0"/>
              </a:rPr>
              <a:t> _</a:t>
            </a:r>
            <a:r>
              <a:rPr lang="en-US" err="1">
                <a:latin typeface="Consolas"/>
                <a:ea typeface="Segoe UI Emoji" panose="020B0502040204020203" pitchFamily="34" charset="0"/>
                <a:cs typeface="Consolas" panose="020B0609020204030204" pitchFamily="49" charset="0"/>
              </a:rPr>
              <a:t>valueIfTypeString</a:t>
            </a:r>
            <a:r>
              <a:rPr lang="en-US">
                <a:latin typeface="Consolas"/>
                <a:ea typeface="Segoe UI Emoji" panose="020B0502040204020203" pitchFamily="34" charset="0"/>
                <a:cs typeface="Consolas" panose="020B0609020204030204" pitchFamily="49" charset="0"/>
              </a:rPr>
              <a:t>;</a:t>
            </a:r>
          </a:p>
          <a:p>
            <a:pPr lvl="0" defTabSz="342886">
              <a:spcBef>
                <a:spcPct val="20000"/>
              </a:spcBef>
              <a:buClr>
                <a:srgbClr val="FFFFFF">
                  <a:lumMod val="65000"/>
                </a:srgbClr>
              </a:buClr>
            </a:pPr>
            <a:r>
              <a:rPr lang="en-US">
                <a:latin typeface="Consolas"/>
                <a:ea typeface="Segoe UI Emoji" panose="020B0502040204020203" pitchFamily="34" charset="0"/>
                <a:cs typeface="Consolas" panose="020B0609020204030204" pitchFamily="49" charset="0"/>
              </a:rPr>
              <a:t>    </a:t>
            </a:r>
            <a:r>
              <a:rPr lang="en-US">
                <a:solidFill>
                  <a:srgbClr val="0000FF"/>
                </a:solidFill>
                <a:latin typeface="Consolas"/>
                <a:ea typeface="Segoe UI Emoji" panose="020B0502040204020203" pitchFamily="34" charset="0"/>
                <a:cs typeface="Consolas" panose="020B0609020204030204" pitchFamily="49" charset="0"/>
              </a:rPr>
              <a:t>private</a:t>
            </a:r>
            <a:r>
              <a:rPr lang="en-US">
                <a:latin typeface="Consolas"/>
                <a:ea typeface="Segoe UI Emoji" panose="020B0502040204020203" pitchFamily="34" charset="0"/>
                <a:cs typeface="Consolas" panose="020B0609020204030204" pitchFamily="49" charset="0"/>
              </a:rPr>
              <a:t> </a:t>
            </a:r>
            <a:r>
              <a:rPr lang="en-US" err="1">
                <a:solidFill>
                  <a:srgbClr val="000080"/>
                </a:solidFill>
                <a:latin typeface="Consolas"/>
                <a:ea typeface="Segoe UI Emoji" panose="020B0502040204020203" pitchFamily="34" charset="0"/>
                <a:cs typeface="Consolas" panose="020B0609020204030204" pitchFamily="49" charset="0"/>
              </a:rPr>
              <a:t>ArrayList</a:t>
            </a:r>
            <a:r>
              <a:rPr lang="en-US">
                <a:latin typeface="Consolas"/>
                <a:ea typeface="Segoe UI Emoji" panose="020B0502040204020203" pitchFamily="34" charset="0"/>
                <a:cs typeface="Consolas" panose="020B0609020204030204" pitchFamily="49" charset="0"/>
              </a:rPr>
              <a:t>&lt;</a:t>
            </a:r>
            <a:r>
              <a:rPr lang="en-US">
                <a:solidFill>
                  <a:srgbClr val="000080"/>
                </a:solidFill>
                <a:latin typeface="Consolas"/>
                <a:ea typeface="Segoe UI Emoji" panose="020B0502040204020203" pitchFamily="34" charset="0"/>
                <a:cs typeface="Consolas" panose="020B0609020204030204" pitchFamily="49" charset="0"/>
              </a:rPr>
              <a:t>Token</a:t>
            </a:r>
            <a:r>
              <a:rPr lang="en-US">
                <a:latin typeface="Consolas"/>
                <a:ea typeface="Segoe UI Emoji" panose="020B0502040204020203" pitchFamily="34" charset="0"/>
                <a:cs typeface="Consolas" panose="020B0609020204030204" pitchFamily="49" charset="0"/>
              </a:rPr>
              <a:t>&gt; _</a:t>
            </a:r>
            <a:r>
              <a:rPr lang="en-US" err="1">
                <a:latin typeface="Consolas"/>
                <a:ea typeface="Segoe UI Emoji" panose="020B0502040204020203" pitchFamily="34" charset="0"/>
                <a:cs typeface="Consolas" panose="020B0609020204030204" pitchFamily="49" charset="0"/>
              </a:rPr>
              <a:t>valueIfTypeList</a:t>
            </a:r>
            <a:r>
              <a:rPr lang="en-US">
                <a:latin typeface="Consolas"/>
                <a:ea typeface="Segoe UI Emoji" panose="020B0502040204020203" pitchFamily="34" charset="0"/>
                <a:cs typeface="Consolas" panose="020B0609020204030204" pitchFamily="49" charset="0"/>
              </a:rPr>
              <a:t>;</a:t>
            </a:r>
          </a:p>
          <a:p>
            <a:pPr defTabSz="342886">
              <a:spcBef>
                <a:spcPct val="20000"/>
              </a:spcBef>
              <a:buClr>
                <a:srgbClr val="FFFFFF">
                  <a:lumMod val="65000"/>
                </a:srgbClr>
              </a:buClr>
            </a:pPr>
            <a:r>
              <a:rPr lang="en-US">
                <a:solidFill>
                  <a:srgbClr val="BFBFBF"/>
                </a:solidFill>
                <a:latin typeface="Consolas"/>
                <a:ea typeface="Segoe UI Emoji" panose="020B0502040204020203" pitchFamily="34" charset="0"/>
                <a:cs typeface="Consolas" panose="020B0609020204030204" pitchFamily="49" charset="0"/>
              </a:rPr>
              <a:t>    static final int TYPE_BOOLEAN = 0;</a:t>
            </a:r>
          </a:p>
          <a:p>
            <a:pPr defTabSz="342886">
              <a:spcBef>
                <a:spcPct val="20000"/>
              </a:spcBef>
              <a:buClr>
                <a:srgbClr val="FFFFFF">
                  <a:lumMod val="65000"/>
                </a:srgbClr>
              </a:buClr>
            </a:pPr>
            <a:r>
              <a:rPr lang="en-US">
                <a:solidFill>
                  <a:srgbClr val="BFBFBF"/>
                </a:solidFill>
                <a:latin typeface="Consolas"/>
                <a:ea typeface="Segoe UI Emoji" panose="020B0502040204020203" pitchFamily="34" charset="0"/>
                <a:cs typeface="Consolas" panose="020B0609020204030204" pitchFamily="49" charset="0"/>
              </a:rPr>
              <a:t>    static final int TYPE_DOUBLE = 1;</a:t>
            </a:r>
          </a:p>
          <a:p>
            <a:pPr defTabSz="342886">
              <a:spcBef>
                <a:spcPct val="20000"/>
              </a:spcBef>
              <a:buClr>
                <a:srgbClr val="FFFFFF">
                  <a:lumMod val="65000"/>
                </a:srgbClr>
              </a:buClr>
            </a:pPr>
            <a:r>
              <a:rPr lang="en-US">
                <a:solidFill>
                  <a:srgbClr val="BFBFBF"/>
                </a:solidFill>
                <a:latin typeface="Consolas"/>
                <a:ea typeface="Segoe UI Emoji" panose="020B0502040204020203" pitchFamily="34" charset="0"/>
                <a:cs typeface="Consolas" panose="020B0609020204030204" pitchFamily="49" charset="0"/>
              </a:rPr>
              <a:t>    static final int TYPE_STRING = 2;</a:t>
            </a:r>
          </a:p>
          <a:p>
            <a:pPr defTabSz="342886">
              <a:spcBef>
                <a:spcPct val="20000"/>
              </a:spcBef>
              <a:buClr>
                <a:srgbClr val="FFFFFF">
                  <a:lumMod val="65000"/>
                </a:srgbClr>
              </a:buClr>
            </a:pPr>
            <a:r>
              <a:rPr lang="en-US">
                <a:solidFill>
                  <a:srgbClr val="BFBFBF"/>
                </a:solidFill>
                <a:latin typeface="Consolas"/>
                <a:ea typeface="Segoe UI Emoji" panose="020B0502040204020203" pitchFamily="34" charset="0"/>
                <a:cs typeface="Consolas" panose="020B0609020204030204" pitchFamily="49" charset="0"/>
              </a:rPr>
              <a:t>    static final int TYPE_LIST = 3;</a:t>
            </a:r>
          </a:p>
          <a:p>
            <a:pPr lvl="0" defTabSz="342886">
              <a:spcBef>
                <a:spcPct val="20000"/>
              </a:spcBef>
              <a:buClr>
                <a:srgbClr val="FFFFFF">
                  <a:lumMod val="65000"/>
                </a:srgbClr>
              </a:buClr>
            </a:pPr>
            <a:r>
              <a:rPr lang="en-US">
                <a:latin typeface="Consolas"/>
                <a:ea typeface="Segoe UI Emoji" panose="020B0502040204020203" pitchFamily="34" charset="0"/>
                <a:cs typeface="Consolas" panose="020B0609020204030204" pitchFamily="49" charset="0"/>
              </a:rPr>
              <a:t>}</a:t>
            </a:r>
          </a:p>
        </p:txBody>
      </p:sp>
      <p:graphicFrame>
        <p:nvGraphicFramePr>
          <p:cNvPr id="4" name="Table 3">
            <a:extLst>
              <a:ext uri="{FF2B5EF4-FFF2-40B4-BE49-F238E27FC236}">
                <a16:creationId xmlns:a16="http://schemas.microsoft.com/office/drawing/2014/main" id="{B17FF78C-C33A-6FB4-4A12-C3586EB498B9}"/>
              </a:ext>
            </a:extLst>
          </p:cNvPr>
          <p:cNvGraphicFramePr>
            <a:graphicFrameLocks noGrp="1"/>
          </p:cNvGraphicFramePr>
          <p:nvPr/>
        </p:nvGraphicFramePr>
        <p:xfrm>
          <a:off x="4833257" y="1129693"/>
          <a:ext cx="3853545" cy="459559"/>
        </p:xfrm>
        <a:graphic>
          <a:graphicData uri="http://schemas.openxmlformats.org/drawingml/2006/table">
            <a:tbl>
              <a:tblPr firstRow="1" bandRow="1">
                <a:tableStyleId>{5C22544A-7EE6-4342-B048-85BDC9FD1C3A}</a:tableStyleId>
              </a:tblPr>
              <a:tblGrid>
                <a:gridCol w="770709">
                  <a:extLst>
                    <a:ext uri="{9D8B030D-6E8A-4147-A177-3AD203B41FA5}">
                      <a16:colId xmlns:a16="http://schemas.microsoft.com/office/drawing/2014/main" val="2859688435"/>
                    </a:ext>
                  </a:extLst>
                </a:gridCol>
                <a:gridCol w="770709">
                  <a:extLst>
                    <a:ext uri="{9D8B030D-6E8A-4147-A177-3AD203B41FA5}">
                      <a16:colId xmlns:a16="http://schemas.microsoft.com/office/drawing/2014/main" val="1137617325"/>
                    </a:ext>
                  </a:extLst>
                </a:gridCol>
                <a:gridCol w="770709">
                  <a:extLst>
                    <a:ext uri="{9D8B030D-6E8A-4147-A177-3AD203B41FA5}">
                      <a16:colId xmlns:a16="http://schemas.microsoft.com/office/drawing/2014/main" val="3599240234"/>
                    </a:ext>
                  </a:extLst>
                </a:gridCol>
                <a:gridCol w="770709">
                  <a:extLst>
                    <a:ext uri="{9D8B030D-6E8A-4147-A177-3AD203B41FA5}">
                      <a16:colId xmlns:a16="http://schemas.microsoft.com/office/drawing/2014/main" val="1230927774"/>
                    </a:ext>
                  </a:extLst>
                </a:gridCol>
                <a:gridCol w="770709">
                  <a:extLst>
                    <a:ext uri="{9D8B030D-6E8A-4147-A177-3AD203B41FA5}">
                      <a16:colId xmlns:a16="http://schemas.microsoft.com/office/drawing/2014/main" val="650814311"/>
                    </a:ext>
                  </a:extLst>
                </a:gridCol>
              </a:tblGrid>
              <a:tr h="459559">
                <a:tc>
                  <a:txBody>
                    <a:bodyPr/>
                    <a:lstStyle/>
                    <a:p>
                      <a:pPr algn="ctr"/>
                      <a:r>
                        <a:rPr lang="en-US" sz="1600" b="0">
                          <a:solidFill>
                            <a:srgbClr val="0CB5B5"/>
                          </a:solidFill>
                          <a:latin typeface="+mj-lt"/>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US" sz="1600" b="0">
                          <a:solidFill>
                            <a:srgbClr val="0000FF"/>
                          </a:solidFill>
                          <a:latin typeface="+mj-lt"/>
                        </a:rPr>
                        <a:t>false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US" sz="1600" b="0">
                          <a:solidFill>
                            <a:srgbClr val="0CB5B5"/>
                          </a:solidFill>
                          <a:latin typeface="+mj-lt"/>
                        </a:rPr>
                        <a:t>0</a:t>
                      </a:r>
                      <a:r>
                        <a:rPr lang="en-US" sz="1600" b="0">
                          <a:solidFill>
                            <a:schemeClr val="tx1"/>
                          </a:solidFill>
                          <a:latin typeface="+mj-lt"/>
                        </a:rPr>
                        <a:t>.</a:t>
                      </a:r>
                      <a:r>
                        <a:rPr lang="en-US" sz="1600" b="0">
                          <a:solidFill>
                            <a:srgbClr val="0CB5B5"/>
                          </a:solidFill>
                          <a:latin typeface="+mj-lt"/>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US" sz="1600" b="0">
                          <a:solidFill>
                            <a:srgbClr val="0000FF"/>
                          </a:solidFill>
                          <a:latin typeface="+mj-lt"/>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US" sz="1600" b="0">
                          <a:solidFill>
                            <a:srgbClr val="0000FF"/>
                          </a:solidFill>
                          <a:latin typeface="+mj-lt"/>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884361709"/>
                  </a:ext>
                </a:extLst>
              </a:tr>
            </a:tbl>
          </a:graphicData>
        </a:graphic>
      </p:graphicFrame>
    </p:spTree>
    <p:extLst>
      <p:ext uri="{BB962C8B-B14F-4D97-AF65-F5344CB8AC3E}">
        <p14:creationId xmlns:p14="http://schemas.microsoft.com/office/powerpoint/2010/main" val="1734452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85BFBD5-64C5-BA9F-9C9B-6340EFB19B14}"/>
              </a:ext>
            </a:extLst>
          </p:cNvPr>
          <p:cNvSpPr>
            <a:spLocks noGrp="1"/>
          </p:cNvSpPr>
          <p:nvPr>
            <p:ph type="title"/>
          </p:nvPr>
        </p:nvSpPr>
        <p:spPr/>
        <p:txBody>
          <a:bodyPr/>
          <a:lstStyle/>
          <a:p>
            <a:r>
              <a:rPr lang="en-US"/>
              <a:t>examples</a:t>
            </a:r>
          </a:p>
        </p:txBody>
      </p:sp>
      <p:sp>
        <p:nvSpPr>
          <p:cNvPr id="4" name="Content Placeholder 3">
            <a:extLst>
              <a:ext uri="{FF2B5EF4-FFF2-40B4-BE49-F238E27FC236}">
                <a16:creationId xmlns:a16="http://schemas.microsoft.com/office/drawing/2014/main" id="{ED88E17F-C052-B424-B4AC-FBE744BA2950}"/>
              </a:ext>
            </a:extLst>
          </p:cNvPr>
          <p:cNvSpPr>
            <a:spLocks noGrp="1"/>
          </p:cNvSpPr>
          <p:nvPr>
            <p:ph sz="quarter" idx="10"/>
          </p:nvPr>
        </p:nvSpPr>
        <p:spPr/>
        <p:txBody>
          <a:bodyPr/>
          <a:lstStyle/>
          <a:p>
            <a:endParaRPr lang="en-US">
              <a:latin typeface="+mj-lt"/>
            </a:endParaRPr>
          </a:p>
          <a:p>
            <a:endParaRPr lang="en-US">
              <a:latin typeface="+mj-lt"/>
            </a:endParaRPr>
          </a:p>
          <a:p>
            <a:r>
              <a:rPr lang="en-US">
                <a:solidFill>
                  <a:srgbClr val="0000FF"/>
                </a:solidFill>
                <a:latin typeface="+mj-lt"/>
              </a:rPr>
              <a:t>new</a:t>
            </a:r>
            <a:r>
              <a:rPr lang="en-US">
                <a:latin typeface="+mj-lt"/>
              </a:rPr>
              <a:t> </a:t>
            </a:r>
            <a:r>
              <a:rPr lang="en-US">
                <a:solidFill>
                  <a:srgbClr val="000080"/>
                </a:solidFill>
                <a:latin typeface="+mj-lt"/>
              </a:rPr>
              <a:t>Token</a:t>
            </a:r>
            <a:r>
              <a:rPr lang="en-US">
                <a:latin typeface="+mj-lt"/>
              </a:rPr>
              <a:t>(</a:t>
            </a:r>
            <a:r>
              <a:rPr lang="en-US">
                <a:solidFill>
                  <a:srgbClr val="0000FF"/>
                </a:solidFill>
                <a:latin typeface="+mj-lt"/>
              </a:rPr>
              <a:t>true</a:t>
            </a:r>
            <a:r>
              <a:rPr lang="en-US">
                <a:latin typeface="+mj-lt"/>
              </a:rPr>
              <a:t>)  </a:t>
            </a:r>
          </a:p>
          <a:p>
            <a:endParaRPr lang="en-US">
              <a:latin typeface="+mj-lt"/>
            </a:endParaRPr>
          </a:p>
          <a:p>
            <a:endParaRPr lang="en-US">
              <a:latin typeface="+mj-lt"/>
            </a:endParaRPr>
          </a:p>
          <a:p>
            <a:r>
              <a:rPr lang="en-US">
                <a:solidFill>
                  <a:srgbClr val="0000FF"/>
                </a:solidFill>
                <a:latin typeface="+mj-lt"/>
              </a:rPr>
              <a:t>new</a:t>
            </a:r>
            <a:r>
              <a:rPr lang="en-US">
                <a:latin typeface="+mj-lt"/>
              </a:rPr>
              <a:t> </a:t>
            </a:r>
            <a:r>
              <a:rPr lang="en-US">
                <a:solidFill>
                  <a:srgbClr val="000080"/>
                </a:solidFill>
                <a:latin typeface="+mj-lt"/>
              </a:rPr>
              <a:t>Token</a:t>
            </a:r>
            <a:r>
              <a:rPr lang="en-US">
                <a:latin typeface="+mj-lt"/>
              </a:rPr>
              <a:t>(</a:t>
            </a:r>
            <a:r>
              <a:rPr lang="en-US">
                <a:solidFill>
                  <a:srgbClr val="0CB5B5"/>
                </a:solidFill>
                <a:latin typeface="+mj-lt"/>
              </a:rPr>
              <a:t>5</a:t>
            </a:r>
            <a:r>
              <a:rPr lang="en-US">
                <a:latin typeface="+mj-lt"/>
              </a:rPr>
              <a:t>.</a:t>
            </a:r>
            <a:r>
              <a:rPr lang="en-US">
                <a:solidFill>
                  <a:srgbClr val="0CB5B5"/>
                </a:solidFill>
                <a:latin typeface="+mj-lt"/>
              </a:rPr>
              <a:t>0</a:t>
            </a:r>
            <a:r>
              <a:rPr lang="en-US">
                <a:latin typeface="+mj-lt"/>
              </a:rPr>
              <a:t>)</a:t>
            </a:r>
          </a:p>
          <a:p>
            <a:endParaRPr lang="en-US">
              <a:latin typeface="+mj-lt"/>
            </a:endParaRPr>
          </a:p>
          <a:p>
            <a:endParaRPr lang="en-US">
              <a:latin typeface="+mj-lt"/>
            </a:endParaRPr>
          </a:p>
          <a:p>
            <a:r>
              <a:rPr lang="en-US">
                <a:solidFill>
                  <a:srgbClr val="0000FF"/>
                </a:solidFill>
                <a:latin typeface="+mj-lt"/>
              </a:rPr>
              <a:t>new</a:t>
            </a:r>
            <a:r>
              <a:rPr lang="en-US">
                <a:latin typeface="+mj-lt"/>
              </a:rPr>
              <a:t> </a:t>
            </a:r>
            <a:r>
              <a:rPr lang="en-US">
                <a:solidFill>
                  <a:srgbClr val="000080"/>
                </a:solidFill>
                <a:latin typeface="+mj-lt"/>
              </a:rPr>
              <a:t>Token</a:t>
            </a:r>
            <a:r>
              <a:rPr lang="en-US">
                <a:latin typeface="+mj-lt"/>
              </a:rPr>
              <a:t>(</a:t>
            </a:r>
            <a:r>
              <a:rPr lang="en-US">
                <a:solidFill>
                  <a:srgbClr val="B60E0E"/>
                </a:solidFill>
                <a:latin typeface="+mj-lt"/>
              </a:rPr>
              <a:t>"</a:t>
            </a:r>
            <a:r>
              <a:rPr lang="en-US" err="1">
                <a:solidFill>
                  <a:srgbClr val="B60E0E"/>
                </a:solidFill>
                <a:latin typeface="+mj-lt"/>
              </a:rPr>
              <a:t>exch</a:t>
            </a:r>
            <a:r>
              <a:rPr lang="en-US">
                <a:solidFill>
                  <a:srgbClr val="B60E0E"/>
                </a:solidFill>
                <a:latin typeface="+mj-lt"/>
              </a:rPr>
              <a:t>"</a:t>
            </a:r>
            <a:r>
              <a:rPr lang="en-US">
                <a:latin typeface="+mj-lt"/>
              </a:rPr>
              <a:t>)</a:t>
            </a:r>
          </a:p>
        </p:txBody>
      </p:sp>
      <p:graphicFrame>
        <p:nvGraphicFramePr>
          <p:cNvPr id="5" name="Table 4">
            <a:extLst>
              <a:ext uri="{FF2B5EF4-FFF2-40B4-BE49-F238E27FC236}">
                <a16:creationId xmlns:a16="http://schemas.microsoft.com/office/drawing/2014/main" id="{E1D8C3A0-00A4-E84C-6B63-F7FF74988D34}"/>
              </a:ext>
            </a:extLst>
          </p:cNvPr>
          <p:cNvGraphicFramePr>
            <a:graphicFrameLocks noGrp="1"/>
          </p:cNvGraphicFramePr>
          <p:nvPr/>
        </p:nvGraphicFramePr>
        <p:xfrm>
          <a:off x="3638001" y="1547704"/>
          <a:ext cx="3853545" cy="459559"/>
        </p:xfrm>
        <a:graphic>
          <a:graphicData uri="http://schemas.openxmlformats.org/drawingml/2006/table">
            <a:tbl>
              <a:tblPr firstRow="1" bandRow="1">
                <a:tableStyleId>{5C22544A-7EE6-4342-B048-85BDC9FD1C3A}</a:tableStyleId>
              </a:tblPr>
              <a:tblGrid>
                <a:gridCol w="770709">
                  <a:extLst>
                    <a:ext uri="{9D8B030D-6E8A-4147-A177-3AD203B41FA5}">
                      <a16:colId xmlns:a16="http://schemas.microsoft.com/office/drawing/2014/main" val="2859688435"/>
                    </a:ext>
                  </a:extLst>
                </a:gridCol>
                <a:gridCol w="770709">
                  <a:extLst>
                    <a:ext uri="{9D8B030D-6E8A-4147-A177-3AD203B41FA5}">
                      <a16:colId xmlns:a16="http://schemas.microsoft.com/office/drawing/2014/main" val="1137617325"/>
                    </a:ext>
                  </a:extLst>
                </a:gridCol>
                <a:gridCol w="770709">
                  <a:extLst>
                    <a:ext uri="{9D8B030D-6E8A-4147-A177-3AD203B41FA5}">
                      <a16:colId xmlns:a16="http://schemas.microsoft.com/office/drawing/2014/main" val="3599240234"/>
                    </a:ext>
                  </a:extLst>
                </a:gridCol>
                <a:gridCol w="770709">
                  <a:extLst>
                    <a:ext uri="{9D8B030D-6E8A-4147-A177-3AD203B41FA5}">
                      <a16:colId xmlns:a16="http://schemas.microsoft.com/office/drawing/2014/main" val="1230927774"/>
                    </a:ext>
                  </a:extLst>
                </a:gridCol>
                <a:gridCol w="770709">
                  <a:extLst>
                    <a:ext uri="{9D8B030D-6E8A-4147-A177-3AD203B41FA5}">
                      <a16:colId xmlns:a16="http://schemas.microsoft.com/office/drawing/2014/main" val="650814311"/>
                    </a:ext>
                  </a:extLst>
                </a:gridCol>
              </a:tblGrid>
              <a:tr h="459559">
                <a:tc>
                  <a:txBody>
                    <a:bodyPr/>
                    <a:lstStyle/>
                    <a:p>
                      <a:pPr algn="ctr"/>
                      <a:r>
                        <a:rPr lang="en-US" sz="1600" b="0">
                          <a:solidFill>
                            <a:srgbClr val="0CB5B5"/>
                          </a:solidFill>
                          <a:latin typeface="+mj-lt"/>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US" sz="1600" b="0">
                          <a:solidFill>
                            <a:srgbClr val="0000FF"/>
                          </a:solidFill>
                          <a:latin typeface="+mj-lt"/>
                        </a:rPr>
                        <a:t>true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US" sz="1600" b="0">
                          <a:solidFill>
                            <a:srgbClr val="0CB5B5"/>
                          </a:solidFill>
                          <a:latin typeface="+mj-lt"/>
                        </a:rPr>
                        <a:t>0</a:t>
                      </a:r>
                      <a:r>
                        <a:rPr lang="en-US" sz="1600" b="0">
                          <a:solidFill>
                            <a:schemeClr val="tx1"/>
                          </a:solidFill>
                          <a:latin typeface="+mj-lt"/>
                        </a:rPr>
                        <a:t>.</a:t>
                      </a:r>
                      <a:r>
                        <a:rPr lang="en-US" sz="1600" b="0">
                          <a:solidFill>
                            <a:srgbClr val="0CB5B5"/>
                          </a:solidFill>
                          <a:latin typeface="+mj-lt"/>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US" sz="1600" b="0">
                          <a:solidFill>
                            <a:srgbClr val="0000FF"/>
                          </a:solidFill>
                          <a:latin typeface="+mj-lt"/>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US" sz="1600" b="0">
                          <a:solidFill>
                            <a:srgbClr val="0000FF"/>
                          </a:solidFill>
                          <a:latin typeface="+mj-lt"/>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884361709"/>
                  </a:ext>
                </a:extLst>
              </a:tr>
            </a:tbl>
          </a:graphicData>
        </a:graphic>
      </p:graphicFrame>
      <p:graphicFrame>
        <p:nvGraphicFramePr>
          <p:cNvPr id="6" name="Table 5">
            <a:extLst>
              <a:ext uri="{FF2B5EF4-FFF2-40B4-BE49-F238E27FC236}">
                <a16:creationId xmlns:a16="http://schemas.microsoft.com/office/drawing/2014/main" id="{107CD601-8C1B-B4A5-F311-12F1229D3450}"/>
              </a:ext>
            </a:extLst>
          </p:cNvPr>
          <p:cNvGraphicFramePr>
            <a:graphicFrameLocks noGrp="1"/>
          </p:cNvGraphicFramePr>
          <p:nvPr/>
        </p:nvGraphicFramePr>
        <p:xfrm>
          <a:off x="3638001" y="2569627"/>
          <a:ext cx="3853545" cy="459559"/>
        </p:xfrm>
        <a:graphic>
          <a:graphicData uri="http://schemas.openxmlformats.org/drawingml/2006/table">
            <a:tbl>
              <a:tblPr firstRow="1" bandRow="1">
                <a:tableStyleId>{5C22544A-7EE6-4342-B048-85BDC9FD1C3A}</a:tableStyleId>
              </a:tblPr>
              <a:tblGrid>
                <a:gridCol w="770709">
                  <a:extLst>
                    <a:ext uri="{9D8B030D-6E8A-4147-A177-3AD203B41FA5}">
                      <a16:colId xmlns:a16="http://schemas.microsoft.com/office/drawing/2014/main" val="2859688435"/>
                    </a:ext>
                  </a:extLst>
                </a:gridCol>
                <a:gridCol w="770709">
                  <a:extLst>
                    <a:ext uri="{9D8B030D-6E8A-4147-A177-3AD203B41FA5}">
                      <a16:colId xmlns:a16="http://schemas.microsoft.com/office/drawing/2014/main" val="1137617325"/>
                    </a:ext>
                  </a:extLst>
                </a:gridCol>
                <a:gridCol w="770709">
                  <a:extLst>
                    <a:ext uri="{9D8B030D-6E8A-4147-A177-3AD203B41FA5}">
                      <a16:colId xmlns:a16="http://schemas.microsoft.com/office/drawing/2014/main" val="3599240234"/>
                    </a:ext>
                  </a:extLst>
                </a:gridCol>
                <a:gridCol w="770709">
                  <a:extLst>
                    <a:ext uri="{9D8B030D-6E8A-4147-A177-3AD203B41FA5}">
                      <a16:colId xmlns:a16="http://schemas.microsoft.com/office/drawing/2014/main" val="1230927774"/>
                    </a:ext>
                  </a:extLst>
                </a:gridCol>
                <a:gridCol w="770709">
                  <a:extLst>
                    <a:ext uri="{9D8B030D-6E8A-4147-A177-3AD203B41FA5}">
                      <a16:colId xmlns:a16="http://schemas.microsoft.com/office/drawing/2014/main" val="650814311"/>
                    </a:ext>
                  </a:extLst>
                </a:gridCol>
              </a:tblGrid>
              <a:tr h="459559">
                <a:tc>
                  <a:txBody>
                    <a:bodyPr/>
                    <a:lstStyle/>
                    <a:p>
                      <a:pPr algn="ctr"/>
                      <a:r>
                        <a:rPr lang="en-US" sz="1600" b="0">
                          <a:solidFill>
                            <a:srgbClr val="0CB5B5"/>
                          </a:solidFill>
                          <a:latin typeface="+mj-l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US" sz="1600" b="0">
                          <a:solidFill>
                            <a:srgbClr val="0000FF"/>
                          </a:solidFill>
                          <a:latin typeface="+mj-lt"/>
                        </a:rPr>
                        <a:t>false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US" sz="1600" b="0">
                          <a:solidFill>
                            <a:srgbClr val="0CB5B5"/>
                          </a:solidFill>
                          <a:latin typeface="+mj-lt"/>
                        </a:rPr>
                        <a:t>5</a:t>
                      </a:r>
                      <a:r>
                        <a:rPr lang="en-US" sz="1600" b="0">
                          <a:solidFill>
                            <a:schemeClr val="tx1"/>
                          </a:solidFill>
                          <a:latin typeface="+mj-lt"/>
                        </a:rPr>
                        <a:t>.</a:t>
                      </a:r>
                      <a:r>
                        <a:rPr lang="en-US" sz="1600" b="0">
                          <a:solidFill>
                            <a:srgbClr val="0CB5B5"/>
                          </a:solidFill>
                          <a:latin typeface="+mj-lt"/>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US" sz="1600" b="0">
                          <a:solidFill>
                            <a:srgbClr val="0000FF"/>
                          </a:solidFill>
                          <a:latin typeface="+mj-lt"/>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US" sz="1600" b="0">
                          <a:solidFill>
                            <a:srgbClr val="0000FF"/>
                          </a:solidFill>
                          <a:latin typeface="+mj-lt"/>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884361709"/>
                  </a:ext>
                </a:extLst>
              </a:tr>
            </a:tbl>
          </a:graphicData>
        </a:graphic>
      </p:graphicFrame>
      <p:graphicFrame>
        <p:nvGraphicFramePr>
          <p:cNvPr id="7" name="Table 6">
            <a:extLst>
              <a:ext uri="{FF2B5EF4-FFF2-40B4-BE49-F238E27FC236}">
                <a16:creationId xmlns:a16="http://schemas.microsoft.com/office/drawing/2014/main" id="{2B1C137F-DA4A-7E15-BB37-BE4A5D5D3B9F}"/>
              </a:ext>
            </a:extLst>
          </p:cNvPr>
          <p:cNvGraphicFramePr>
            <a:graphicFrameLocks noGrp="1"/>
          </p:cNvGraphicFramePr>
          <p:nvPr/>
        </p:nvGraphicFramePr>
        <p:xfrm>
          <a:off x="3638000" y="3591550"/>
          <a:ext cx="3853545" cy="459559"/>
        </p:xfrm>
        <a:graphic>
          <a:graphicData uri="http://schemas.openxmlformats.org/drawingml/2006/table">
            <a:tbl>
              <a:tblPr firstRow="1" bandRow="1">
                <a:tableStyleId>{5C22544A-7EE6-4342-B048-85BDC9FD1C3A}</a:tableStyleId>
              </a:tblPr>
              <a:tblGrid>
                <a:gridCol w="770709">
                  <a:extLst>
                    <a:ext uri="{9D8B030D-6E8A-4147-A177-3AD203B41FA5}">
                      <a16:colId xmlns:a16="http://schemas.microsoft.com/office/drawing/2014/main" val="2859688435"/>
                    </a:ext>
                  </a:extLst>
                </a:gridCol>
                <a:gridCol w="770709">
                  <a:extLst>
                    <a:ext uri="{9D8B030D-6E8A-4147-A177-3AD203B41FA5}">
                      <a16:colId xmlns:a16="http://schemas.microsoft.com/office/drawing/2014/main" val="1137617325"/>
                    </a:ext>
                  </a:extLst>
                </a:gridCol>
                <a:gridCol w="770709">
                  <a:extLst>
                    <a:ext uri="{9D8B030D-6E8A-4147-A177-3AD203B41FA5}">
                      <a16:colId xmlns:a16="http://schemas.microsoft.com/office/drawing/2014/main" val="3599240234"/>
                    </a:ext>
                  </a:extLst>
                </a:gridCol>
                <a:gridCol w="770709">
                  <a:extLst>
                    <a:ext uri="{9D8B030D-6E8A-4147-A177-3AD203B41FA5}">
                      <a16:colId xmlns:a16="http://schemas.microsoft.com/office/drawing/2014/main" val="1230927774"/>
                    </a:ext>
                  </a:extLst>
                </a:gridCol>
                <a:gridCol w="770709">
                  <a:extLst>
                    <a:ext uri="{9D8B030D-6E8A-4147-A177-3AD203B41FA5}">
                      <a16:colId xmlns:a16="http://schemas.microsoft.com/office/drawing/2014/main" val="650814311"/>
                    </a:ext>
                  </a:extLst>
                </a:gridCol>
              </a:tblGrid>
              <a:tr h="459559">
                <a:tc>
                  <a:txBody>
                    <a:bodyPr/>
                    <a:lstStyle/>
                    <a:p>
                      <a:pPr algn="ctr"/>
                      <a:r>
                        <a:rPr lang="en-US" sz="1600" b="0">
                          <a:solidFill>
                            <a:srgbClr val="0CB5B5"/>
                          </a:solidFill>
                          <a:latin typeface="+mj-l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US" sz="1600" b="0">
                          <a:solidFill>
                            <a:srgbClr val="0000FF"/>
                          </a:solidFill>
                          <a:latin typeface="+mj-lt"/>
                        </a:rPr>
                        <a:t>false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US" sz="1600" b="0">
                          <a:solidFill>
                            <a:srgbClr val="0CB5B5"/>
                          </a:solidFill>
                          <a:latin typeface="+mj-lt"/>
                        </a:rPr>
                        <a:t>0</a:t>
                      </a:r>
                      <a:r>
                        <a:rPr lang="en-US" sz="1600" b="0">
                          <a:solidFill>
                            <a:schemeClr val="tx1"/>
                          </a:solidFill>
                          <a:latin typeface="+mj-lt"/>
                        </a:rPr>
                        <a:t>.</a:t>
                      </a:r>
                      <a:r>
                        <a:rPr lang="en-US" sz="1600" b="0">
                          <a:solidFill>
                            <a:srgbClr val="0CB5B5"/>
                          </a:solidFill>
                          <a:latin typeface="+mj-lt"/>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US" sz="1100" b="0">
                          <a:solidFill>
                            <a:srgbClr val="0CB5B5"/>
                          </a:solidFill>
                          <a:latin typeface="+mj-lt"/>
                        </a:rPr>
                        <a:t>0x02343af34...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US" sz="1600" b="0">
                          <a:solidFill>
                            <a:srgbClr val="0000FF"/>
                          </a:solidFill>
                          <a:latin typeface="+mj-lt"/>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884361709"/>
                  </a:ext>
                </a:extLst>
              </a:tr>
            </a:tbl>
          </a:graphicData>
        </a:graphic>
      </p:graphicFrame>
      <p:cxnSp>
        <p:nvCxnSpPr>
          <p:cNvPr id="9" name="Straight Arrow Connector 8">
            <a:extLst>
              <a:ext uri="{FF2B5EF4-FFF2-40B4-BE49-F238E27FC236}">
                <a16:creationId xmlns:a16="http://schemas.microsoft.com/office/drawing/2014/main" id="{3F88A35D-B159-1187-624F-9CBCC48285D0}"/>
              </a:ext>
            </a:extLst>
          </p:cNvPr>
          <p:cNvCxnSpPr>
            <a:cxnSpLocks/>
          </p:cNvCxnSpPr>
          <p:nvPr/>
        </p:nvCxnSpPr>
        <p:spPr>
          <a:xfrm>
            <a:off x="6289766" y="3812500"/>
            <a:ext cx="1391194" cy="8009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32F303F6-1B2A-C18A-0272-2353E79F29FB}"/>
              </a:ext>
            </a:extLst>
          </p:cNvPr>
          <p:cNvSpPr txBox="1"/>
          <p:nvPr/>
        </p:nvSpPr>
        <p:spPr>
          <a:xfrm>
            <a:off x="7680960" y="4428807"/>
            <a:ext cx="4572000" cy="369332"/>
          </a:xfrm>
          <a:prstGeom prst="rect">
            <a:avLst/>
          </a:prstGeom>
          <a:noFill/>
        </p:spPr>
        <p:txBody>
          <a:bodyPr wrap="square">
            <a:spAutoFit/>
          </a:bodyPr>
          <a:lstStyle/>
          <a:p>
            <a:r>
              <a:rPr lang="en-US">
                <a:solidFill>
                  <a:srgbClr val="B60E0E"/>
                </a:solidFill>
                <a:latin typeface="+mj-lt"/>
              </a:rPr>
              <a:t>"</a:t>
            </a:r>
            <a:r>
              <a:rPr lang="en-US" err="1">
                <a:solidFill>
                  <a:srgbClr val="B60E0E"/>
                </a:solidFill>
                <a:latin typeface="+mj-lt"/>
              </a:rPr>
              <a:t>exch</a:t>
            </a:r>
            <a:r>
              <a:rPr lang="en-US">
                <a:solidFill>
                  <a:srgbClr val="B60E0E"/>
                </a:solidFill>
                <a:latin typeface="+mj-lt"/>
              </a:rPr>
              <a:t>"</a:t>
            </a:r>
            <a:endParaRPr lang="en-US"/>
          </a:p>
        </p:txBody>
      </p:sp>
    </p:spTree>
    <p:extLst>
      <p:ext uri="{BB962C8B-B14F-4D97-AF65-F5344CB8AC3E}">
        <p14:creationId xmlns:p14="http://schemas.microsoft.com/office/powerpoint/2010/main" val="62690859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75CB751-F043-4A62-CEE8-70DA6CA6E023}"/>
              </a:ext>
            </a:extLst>
          </p:cNvPr>
          <p:cNvSpPr>
            <a:spLocks noGrp="1"/>
          </p:cNvSpPr>
          <p:nvPr>
            <p:ph type="title"/>
          </p:nvPr>
        </p:nvSpPr>
        <p:spPr/>
        <p:txBody>
          <a:bodyPr/>
          <a:lstStyle/>
          <a:p>
            <a:r>
              <a:rPr lang="en-US"/>
              <a:t>in Java, a variable's type is </a:t>
            </a:r>
            <a:r>
              <a:rPr lang="en-US" b="1"/>
              <a:t>static</a:t>
            </a:r>
            <a:endParaRPr lang="en-US"/>
          </a:p>
        </p:txBody>
      </p:sp>
      <p:sp>
        <p:nvSpPr>
          <p:cNvPr id="2" name="TextBox 1">
            <a:extLst>
              <a:ext uri="{FF2B5EF4-FFF2-40B4-BE49-F238E27FC236}">
                <a16:creationId xmlns:a16="http://schemas.microsoft.com/office/drawing/2014/main" id="{FE58C12C-799C-8412-17BC-BEABCBDF1037}"/>
              </a:ext>
            </a:extLst>
          </p:cNvPr>
          <p:cNvSpPr txBox="1"/>
          <p:nvPr/>
        </p:nvSpPr>
        <p:spPr>
          <a:xfrm>
            <a:off x="457200" y="1125961"/>
            <a:ext cx="8229600" cy="1366528"/>
          </a:xfrm>
          <a:prstGeom prst="rect">
            <a:avLst/>
          </a:prstGeom>
          <a:no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7B00"/>
                </a:solidFill>
                <a:latin typeface="Consolas"/>
                <a:ea typeface="Segoe UI Emoji" panose="020B0502040204020203" pitchFamily="34" charset="0"/>
                <a:cs typeface="Consolas" panose="020B0609020204030204" pitchFamily="49" charset="0"/>
              </a:rPr>
              <a:t>// Create a String-type Token.</a:t>
            </a:r>
          </a:p>
          <a:p>
            <a:pPr lvl="0" defTabSz="342886">
              <a:spcBef>
                <a:spcPct val="20000"/>
              </a:spcBef>
              <a:buClr>
                <a:srgbClr val="FFFFFF">
                  <a:lumMod val="65000"/>
                </a:srgbClr>
              </a:buClr>
            </a:pPr>
            <a:r>
              <a:rPr lang="en-US">
                <a:solidFill>
                  <a:srgbClr val="000080"/>
                </a:solidFill>
                <a:latin typeface="Consolas"/>
                <a:ea typeface="Segoe UI Emoji" panose="020B0502040204020203" pitchFamily="34" charset="0"/>
                <a:cs typeface="Consolas" panose="020B0609020204030204" pitchFamily="49" charset="0"/>
              </a:rPr>
              <a:t>Token</a:t>
            </a:r>
            <a:r>
              <a:rPr lang="en-US">
                <a:latin typeface="Consolas"/>
                <a:ea typeface="Segoe UI Emoji" panose="020B0502040204020203" pitchFamily="34" charset="0"/>
                <a:cs typeface="Consolas" panose="020B0609020204030204" pitchFamily="49" charset="0"/>
              </a:rPr>
              <a:t> token = </a:t>
            </a:r>
            <a:r>
              <a:rPr lang="en-US">
                <a:solidFill>
                  <a:srgbClr val="0000FF"/>
                </a:solidFill>
                <a:latin typeface="Consolas"/>
                <a:ea typeface="Segoe UI Emoji" panose="020B0502040204020203" pitchFamily="34" charset="0"/>
                <a:cs typeface="Consolas" panose="020B0609020204030204" pitchFamily="49" charset="0"/>
              </a:rPr>
              <a:t>new</a:t>
            </a:r>
            <a:r>
              <a:rPr lang="en-US">
                <a:latin typeface="Consolas"/>
                <a:ea typeface="Segoe UI Emoji" panose="020B0502040204020203" pitchFamily="34" charset="0"/>
                <a:cs typeface="Consolas" panose="020B0609020204030204" pitchFamily="49" charset="0"/>
              </a:rPr>
              <a:t> </a:t>
            </a:r>
            <a:r>
              <a:rPr lang="en-US">
                <a:solidFill>
                  <a:srgbClr val="000080"/>
                </a:solidFill>
                <a:latin typeface="Consolas"/>
                <a:ea typeface="Segoe UI Emoji" panose="020B0502040204020203" pitchFamily="34" charset="0"/>
                <a:cs typeface="Consolas" panose="020B0609020204030204" pitchFamily="49" charset="0"/>
              </a:rPr>
              <a:t>Token</a:t>
            </a:r>
            <a:r>
              <a:rPr lang="en-US">
                <a:latin typeface="Consolas"/>
                <a:ea typeface="Segoe UI Emoji" panose="020B0502040204020203" pitchFamily="34" charset="0"/>
                <a:cs typeface="Consolas" panose="020B0609020204030204" pitchFamily="49" charset="0"/>
              </a:rPr>
              <a:t>();</a:t>
            </a:r>
          </a:p>
          <a:p>
            <a:pPr lvl="0" defTabSz="342886">
              <a:spcBef>
                <a:spcPct val="20000"/>
              </a:spcBef>
              <a:buClr>
                <a:srgbClr val="FFFFFF">
                  <a:lumMod val="65000"/>
                </a:srgbClr>
              </a:buClr>
            </a:pPr>
            <a:r>
              <a:rPr lang="en-US" err="1">
                <a:latin typeface="Consolas"/>
                <a:ea typeface="Segoe UI Emoji" panose="020B0502040204020203" pitchFamily="34" charset="0"/>
                <a:cs typeface="Consolas" panose="020B0609020204030204" pitchFamily="49" charset="0"/>
              </a:rPr>
              <a:t>token.type</a:t>
            </a:r>
            <a:r>
              <a:rPr lang="en-US">
                <a:latin typeface="Consolas"/>
                <a:ea typeface="Segoe UI Emoji" panose="020B0502040204020203" pitchFamily="34" charset="0"/>
                <a:cs typeface="Consolas" panose="020B0609020204030204" pitchFamily="49" charset="0"/>
              </a:rPr>
              <a:t> = </a:t>
            </a:r>
            <a:r>
              <a:rPr lang="en-US" err="1">
                <a:solidFill>
                  <a:srgbClr val="000080"/>
                </a:solidFill>
                <a:latin typeface="Consolas"/>
                <a:ea typeface="Segoe UI Emoji" panose="020B0502040204020203" pitchFamily="34" charset="0"/>
                <a:cs typeface="Consolas" panose="020B0609020204030204" pitchFamily="49" charset="0"/>
              </a:rPr>
              <a:t>Token</a:t>
            </a:r>
            <a:r>
              <a:rPr lang="en-US" err="1">
                <a:latin typeface="Consolas"/>
                <a:ea typeface="Segoe UI Emoji" panose="020B0502040204020203" pitchFamily="34" charset="0"/>
                <a:cs typeface="Consolas" panose="020B0609020204030204" pitchFamily="49" charset="0"/>
              </a:rPr>
              <a:t>.</a:t>
            </a:r>
            <a:r>
              <a:rPr lang="en-US" err="1">
                <a:solidFill>
                  <a:srgbClr val="000080"/>
                </a:solidFill>
                <a:latin typeface="Consolas"/>
                <a:ea typeface="Segoe UI Emoji" panose="020B0502040204020203" pitchFamily="34" charset="0"/>
                <a:cs typeface="Consolas" panose="020B0609020204030204" pitchFamily="49" charset="0"/>
              </a:rPr>
              <a:t>TYPE_STRING</a:t>
            </a:r>
            <a:r>
              <a:rPr lang="en-US">
                <a:latin typeface="Consolas"/>
                <a:ea typeface="Segoe UI Emoji" panose="020B0502040204020203" pitchFamily="34" charset="0"/>
                <a:cs typeface="Consolas" panose="020B0609020204030204" pitchFamily="49" charset="0"/>
              </a:rPr>
              <a:t>;</a:t>
            </a:r>
          </a:p>
          <a:p>
            <a:pPr lvl="0" defTabSz="342886">
              <a:spcBef>
                <a:spcPct val="20000"/>
              </a:spcBef>
              <a:buClr>
                <a:srgbClr val="FFFFFF">
                  <a:lumMod val="65000"/>
                </a:srgbClr>
              </a:buClr>
            </a:pPr>
            <a:r>
              <a:rPr lang="en-US">
                <a:latin typeface="Consolas"/>
                <a:ea typeface="Segoe UI Emoji" panose="020B0502040204020203" pitchFamily="34" charset="0"/>
                <a:cs typeface="Consolas" panose="020B0609020204030204" pitchFamily="49" charset="0"/>
              </a:rPr>
              <a:t>token._</a:t>
            </a:r>
            <a:r>
              <a:rPr lang="en-US" err="1">
                <a:latin typeface="Consolas"/>
                <a:ea typeface="Segoe UI Emoji" panose="020B0502040204020203" pitchFamily="34" charset="0"/>
                <a:cs typeface="Consolas" panose="020B0609020204030204" pitchFamily="49" charset="0"/>
              </a:rPr>
              <a:t>valueIfTypeString</a:t>
            </a:r>
            <a:r>
              <a:rPr lang="en-US">
                <a:latin typeface="Consolas"/>
                <a:ea typeface="Segoe UI Emoji" panose="020B0502040204020203" pitchFamily="34" charset="0"/>
                <a:cs typeface="Consolas" panose="020B0609020204030204" pitchFamily="49" charset="0"/>
              </a:rPr>
              <a:t> = </a:t>
            </a:r>
            <a:r>
              <a:rPr lang="en-US">
                <a:solidFill>
                  <a:srgbClr val="B60E0E"/>
                </a:solidFill>
                <a:latin typeface="Consolas"/>
                <a:ea typeface="Segoe UI Emoji" panose="020B0502040204020203" pitchFamily="34" charset="0"/>
                <a:cs typeface="Consolas" panose="020B0609020204030204" pitchFamily="49" charset="0"/>
              </a:rPr>
              <a:t>"</a:t>
            </a:r>
            <a:r>
              <a:rPr lang="en-US" err="1">
                <a:solidFill>
                  <a:srgbClr val="B60E0E"/>
                </a:solidFill>
                <a:latin typeface="Consolas"/>
                <a:ea typeface="Segoe UI Emoji" panose="020B0502040204020203" pitchFamily="34" charset="0"/>
                <a:cs typeface="Consolas" panose="020B0609020204030204" pitchFamily="49" charset="0"/>
              </a:rPr>
              <a:t>exch</a:t>
            </a:r>
            <a:r>
              <a:rPr lang="en-US">
                <a:solidFill>
                  <a:srgbClr val="B60E0E"/>
                </a:solidFill>
                <a:latin typeface="Consolas"/>
                <a:ea typeface="Segoe UI Emoji" panose="020B0502040204020203" pitchFamily="34" charset="0"/>
                <a:cs typeface="Consolas" panose="020B0609020204030204" pitchFamily="49" charset="0"/>
              </a:rPr>
              <a:t>"</a:t>
            </a:r>
            <a:r>
              <a:rPr lang="en-US">
                <a:latin typeface="Consolas"/>
                <a:ea typeface="Segoe UI Emoji" panose="020B0502040204020203" pitchFamily="34" charset="0"/>
                <a:cs typeface="Consolas" panose="020B0609020204030204" pitchFamily="49" charset="0"/>
              </a:rPr>
              <a:t>;</a:t>
            </a:r>
          </a:p>
        </p:txBody>
      </p:sp>
      <p:sp>
        <p:nvSpPr>
          <p:cNvPr id="4" name="TextBox 3">
            <a:extLst>
              <a:ext uri="{FF2B5EF4-FFF2-40B4-BE49-F238E27FC236}">
                <a16:creationId xmlns:a16="http://schemas.microsoft.com/office/drawing/2014/main" id="{34DAE1DA-31D7-25F6-32F0-0749DB00FC50}"/>
              </a:ext>
            </a:extLst>
          </p:cNvPr>
          <p:cNvSpPr txBox="1"/>
          <p:nvPr/>
        </p:nvSpPr>
        <p:spPr>
          <a:xfrm>
            <a:off x="457200" y="2696367"/>
            <a:ext cx="8229600" cy="1034129"/>
          </a:xfrm>
          <a:prstGeom prst="rect">
            <a:avLst/>
          </a:prstGeom>
          <a:no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7B00"/>
                </a:solidFill>
                <a:latin typeface="Consolas"/>
                <a:ea typeface="Segoe UI Emoji" panose="020B0502040204020203" pitchFamily="34" charset="0"/>
                <a:cs typeface="Consolas" panose="020B0609020204030204" pitchFamily="49" charset="0"/>
              </a:rPr>
              <a:t>// Get the value of a String-type token.</a:t>
            </a:r>
          </a:p>
          <a:p>
            <a:pPr lvl="0" defTabSz="342886">
              <a:spcBef>
                <a:spcPct val="20000"/>
              </a:spcBef>
              <a:buClr>
                <a:srgbClr val="FFFFFF">
                  <a:lumMod val="65000"/>
                </a:srgbClr>
              </a:buClr>
            </a:pPr>
            <a:r>
              <a:rPr lang="en-US">
                <a:solidFill>
                  <a:srgbClr val="0000FF"/>
                </a:solidFill>
                <a:latin typeface="Consolas"/>
                <a:ea typeface="Segoe UI Emoji" panose="020B0502040204020203" pitchFamily="34" charset="0"/>
                <a:cs typeface="Consolas" panose="020B0609020204030204" pitchFamily="49" charset="0"/>
              </a:rPr>
              <a:t>ASSERT</a:t>
            </a:r>
            <a:r>
              <a:rPr lang="en-US">
                <a:latin typeface="Consolas"/>
                <a:ea typeface="Segoe UI Emoji" panose="020B0502040204020203" pitchFamily="34" charset="0"/>
                <a:cs typeface="Consolas" panose="020B0609020204030204" pitchFamily="49" charset="0"/>
              </a:rPr>
              <a:t>(</a:t>
            </a:r>
            <a:r>
              <a:rPr lang="en-US" err="1">
                <a:latin typeface="Consolas"/>
                <a:ea typeface="Segoe UI Emoji" panose="020B0502040204020203" pitchFamily="34" charset="0"/>
                <a:cs typeface="Consolas" panose="020B0609020204030204" pitchFamily="49" charset="0"/>
              </a:rPr>
              <a:t>token.type</a:t>
            </a:r>
            <a:r>
              <a:rPr lang="en-US">
                <a:latin typeface="Consolas"/>
                <a:ea typeface="Segoe UI Emoji" panose="020B0502040204020203" pitchFamily="34" charset="0"/>
                <a:cs typeface="Consolas" panose="020B0609020204030204" pitchFamily="49" charset="0"/>
              </a:rPr>
              <a:t> == </a:t>
            </a:r>
            <a:r>
              <a:rPr lang="en-US" err="1">
                <a:latin typeface="Consolas"/>
                <a:ea typeface="Segoe UI Emoji" panose="020B0502040204020203" pitchFamily="34" charset="0"/>
                <a:cs typeface="Consolas" panose="020B0609020204030204" pitchFamily="49" charset="0"/>
              </a:rPr>
              <a:t>Token.TYPE_STRING</a:t>
            </a:r>
            <a:r>
              <a:rPr lang="en-US">
                <a:latin typeface="Consolas"/>
                <a:ea typeface="Segoe UI Emoji" panose="020B0502040204020203" pitchFamily="34" charset="0"/>
                <a:cs typeface="Consolas" panose="020B0609020204030204" pitchFamily="49" charset="0"/>
              </a:rPr>
              <a:t>); </a:t>
            </a:r>
            <a:r>
              <a:rPr lang="en-US">
                <a:solidFill>
                  <a:srgbClr val="007B00"/>
                </a:solidFill>
                <a:latin typeface="Consolas"/>
                <a:ea typeface="Segoe UI Emoji" panose="020B0502040204020203" pitchFamily="34" charset="0"/>
                <a:cs typeface="Consolas" panose="020B0609020204030204" pitchFamily="49" charset="0"/>
              </a:rPr>
              <a:t>// check type!</a:t>
            </a:r>
          </a:p>
          <a:p>
            <a:pPr lvl="0" defTabSz="342886">
              <a:spcBef>
                <a:spcPct val="20000"/>
              </a:spcBef>
              <a:buClr>
                <a:srgbClr val="FFFFFF">
                  <a:lumMod val="65000"/>
                </a:srgbClr>
              </a:buClr>
            </a:pPr>
            <a:r>
              <a:rPr lang="en-US">
                <a:solidFill>
                  <a:srgbClr val="000080"/>
                </a:solidFill>
                <a:latin typeface="Consolas"/>
                <a:ea typeface="Segoe UI Emoji" panose="020B0502040204020203" pitchFamily="34" charset="0"/>
                <a:cs typeface="Consolas" panose="020B0609020204030204" pitchFamily="49" charset="0"/>
              </a:rPr>
              <a:t>String</a:t>
            </a:r>
            <a:r>
              <a:rPr lang="en-US">
                <a:latin typeface="Consolas"/>
                <a:ea typeface="Segoe UI Emoji" panose="020B0502040204020203" pitchFamily="34" charset="0"/>
                <a:cs typeface="Consolas" panose="020B0609020204030204" pitchFamily="49" charset="0"/>
              </a:rPr>
              <a:t> string = token._</a:t>
            </a:r>
            <a:r>
              <a:rPr lang="en-US" err="1">
                <a:latin typeface="Consolas"/>
                <a:ea typeface="Segoe UI Emoji" panose="020B0502040204020203" pitchFamily="34" charset="0"/>
                <a:cs typeface="Consolas" panose="020B0609020204030204" pitchFamily="49" charset="0"/>
              </a:rPr>
              <a:t>valueIfTypeString</a:t>
            </a:r>
            <a:r>
              <a:rPr lang="en-US">
                <a:latin typeface="Consolas"/>
                <a:ea typeface="Segoe UI Emoji" panose="020B0502040204020203" pitchFamily="34" charset="0"/>
                <a:cs typeface="Consolas" panose="020B0609020204030204" pitchFamily="49" charset="0"/>
              </a:rPr>
              <a:t>;</a:t>
            </a:r>
          </a:p>
        </p:txBody>
      </p:sp>
      <p:sp>
        <p:nvSpPr>
          <p:cNvPr id="6" name="TextBox 5">
            <a:extLst>
              <a:ext uri="{FF2B5EF4-FFF2-40B4-BE49-F238E27FC236}">
                <a16:creationId xmlns:a16="http://schemas.microsoft.com/office/drawing/2014/main" id="{48BBBD9B-F8B6-AE40-9B7C-8FCC25C60B47}"/>
              </a:ext>
            </a:extLst>
          </p:cNvPr>
          <p:cNvSpPr txBox="1"/>
          <p:nvPr/>
        </p:nvSpPr>
        <p:spPr>
          <a:xfrm>
            <a:off x="457200" y="3934374"/>
            <a:ext cx="6450594" cy="954107"/>
          </a:xfrm>
          <a:prstGeom prst="rect">
            <a:avLst/>
          </a:prstGeom>
          <a:noFill/>
        </p:spPr>
        <p:txBody>
          <a:bodyPr wrap="square" rtlCol="0">
            <a:spAutoFit/>
          </a:bodyPr>
          <a:lstStyle/>
          <a:p>
            <a:r>
              <a:rPr lang="en-US" sz="2800">
                <a:solidFill>
                  <a:schemeClr val="accent2"/>
                </a:solidFill>
                <a:latin typeface="Comic Sans MS" panose="030F0902030302020204" pitchFamily="66" charset="0"/>
              </a:rPr>
              <a:t>this usage code makes me sad</a:t>
            </a:r>
            <a:r>
              <a:rPr lang="en-US" sz="2800">
                <a:latin typeface="Consolas"/>
                <a:ea typeface="Segoe UI Emoji" panose="020B0502040204020203" pitchFamily="34" charset="0"/>
                <a:cs typeface="Consolas" panose="020B0609020204030204" pitchFamily="49" charset="0"/>
              </a:rPr>
              <a:t> ☹️</a:t>
            </a:r>
            <a:endParaRPr lang="en-US" sz="2800">
              <a:solidFill>
                <a:schemeClr val="accent2"/>
              </a:solidFill>
              <a:latin typeface="Comic Sans MS" panose="030F0902030302020204" pitchFamily="66" charset="0"/>
            </a:endParaRPr>
          </a:p>
          <a:p>
            <a:r>
              <a:rPr lang="en-US" sz="2800">
                <a:solidFill>
                  <a:schemeClr val="accent2"/>
                </a:solidFill>
                <a:latin typeface="Comic Sans MS" panose="030F0902030302020204" pitchFamily="66" charset="0"/>
              </a:rPr>
              <a:t>let's write some </a:t>
            </a:r>
            <a:r>
              <a:rPr lang="en-US" sz="2800">
                <a:solidFill>
                  <a:schemeClr val="accent2"/>
                </a:solidFill>
                <a:latin typeface="Consolas"/>
                <a:ea typeface="Segoe UI Emoji" panose="020B0502040204020203" pitchFamily="34" charset="0"/>
                <a:cs typeface="Consolas" panose="020B0609020204030204" pitchFamily="49" charset="0"/>
              </a:rPr>
              <a:t>✨</a:t>
            </a:r>
            <a:r>
              <a:rPr lang="en-US" sz="2800" b="1">
                <a:solidFill>
                  <a:schemeClr val="accent2"/>
                </a:solidFill>
                <a:latin typeface="Comic Sans MS" panose="030F0902030302020204" pitchFamily="66" charset="0"/>
              </a:rPr>
              <a:t>functions</a:t>
            </a:r>
            <a:r>
              <a:rPr lang="en-US" sz="2800">
                <a:solidFill>
                  <a:schemeClr val="accent2"/>
                </a:solidFill>
                <a:latin typeface="Consolas"/>
                <a:ea typeface="Segoe UI Emoji" panose="020B0502040204020203" pitchFamily="34" charset="0"/>
                <a:cs typeface="Consolas" panose="020B0609020204030204" pitchFamily="49" charset="0"/>
              </a:rPr>
              <a:t>✨</a:t>
            </a:r>
            <a:r>
              <a:rPr lang="en-US" sz="2800">
                <a:solidFill>
                  <a:schemeClr val="accent2"/>
                </a:solidFill>
                <a:latin typeface="Comic Sans MS" panose="030F0902030302020204" pitchFamily="66" charset="0"/>
              </a:rPr>
              <a:t>!</a:t>
            </a:r>
          </a:p>
        </p:txBody>
      </p:sp>
    </p:spTree>
    <p:extLst>
      <p:ext uri="{BB962C8B-B14F-4D97-AF65-F5344CB8AC3E}">
        <p14:creationId xmlns:p14="http://schemas.microsoft.com/office/powerpoint/2010/main" val="1520664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75CB751-F043-4A62-CEE8-70DA6CA6E023}"/>
              </a:ext>
            </a:extLst>
          </p:cNvPr>
          <p:cNvSpPr>
            <a:spLocks noGrp="1"/>
          </p:cNvSpPr>
          <p:nvPr>
            <p:ph type="title"/>
          </p:nvPr>
        </p:nvSpPr>
        <p:spPr/>
        <p:txBody>
          <a:bodyPr/>
          <a:lstStyle/>
          <a:p>
            <a:r>
              <a:rPr lang="en-US"/>
              <a:t>in Java, a variable's type is </a:t>
            </a:r>
            <a:r>
              <a:rPr lang="en-US" b="1"/>
              <a:t>static</a:t>
            </a:r>
            <a:endParaRPr lang="en-US"/>
          </a:p>
        </p:txBody>
      </p:sp>
      <p:sp>
        <p:nvSpPr>
          <p:cNvPr id="2" name="TextBox 1">
            <a:extLst>
              <a:ext uri="{FF2B5EF4-FFF2-40B4-BE49-F238E27FC236}">
                <a16:creationId xmlns:a16="http://schemas.microsoft.com/office/drawing/2014/main" id="{FE58C12C-799C-8412-17BC-BEABCBDF1037}"/>
              </a:ext>
            </a:extLst>
          </p:cNvPr>
          <p:cNvSpPr txBox="1"/>
          <p:nvPr/>
        </p:nvSpPr>
        <p:spPr>
          <a:xfrm>
            <a:off x="457200" y="1125961"/>
            <a:ext cx="8229600" cy="1366528"/>
          </a:xfrm>
          <a:prstGeom prst="rect">
            <a:avLst/>
          </a:prstGeom>
          <a:no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7B00"/>
                </a:solidFill>
                <a:latin typeface="Consolas"/>
                <a:ea typeface="Segoe UI Emoji" panose="020B0502040204020203" pitchFamily="34" charset="0"/>
                <a:cs typeface="Consolas" panose="020B0609020204030204" pitchFamily="49" charset="0"/>
              </a:rPr>
              <a:t>// Create a String-type Token.</a:t>
            </a:r>
          </a:p>
          <a:p>
            <a:pPr lvl="0" defTabSz="342886">
              <a:spcBef>
                <a:spcPct val="20000"/>
              </a:spcBef>
              <a:buClr>
                <a:srgbClr val="FFFFFF">
                  <a:lumMod val="65000"/>
                </a:srgbClr>
              </a:buClr>
            </a:pPr>
            <a:r>
              <a:rPr lang="en-US">
                <a:solidFill>
                  <a:srgbClr val="000080"/>
                </a:solidFill>
                <a:latin typeface="Consolas"/>
                <a:ea typeface="Segoe UI Emoji" panose="020B0502040204020203" pitchFamily="34" charset="0"/>
                <a:cs typeface="Consolas" panose="020B0609020204030204" pitchFamily="49" charset="0"/>
              </a:rPr>
              <a:t>Token</a:t>
            </a:r>
            <a:r>
              <a:rPr lang="en-US">
                <a:latin typeface="Consolas"/>
                <a:ea typeface="Segoe UI Emoji" panose="020B0502040204020203" pitchFamily="34" charset="0"/>
                <a:cs typeface="Consolas" panose="020B0609020204030204" pitchFamily="49" charset="0"/>
              </a:rPr>
              <a:t> token = </a:t>
            </a:r>
            <a:r>
              <a:rPr lang="en-US">
                <a:solidFill>
                  <a:srgbClr val="0000FF"/>
                </a:solidFill>
                <a:latin typeface="Consolas"/>
                <a:ea typeface="Segoe UI Emoji" panose="020B0502040204020203" pitchFamily="34" charset="0"/>
                <a:cs typeface="Consolas" panose="020B0609020204030204" pitchFamily="49" charset="0"/>
              </a:rPr>
              <a:t>new</a:t>
            </a:r>
            <a:r>
              <a:rPr lang="en-US">
                <a:latin typeface="Consolas"/>
                <a:ea typeface="Segoe UI Emoji" panose="020B0502040204020203" pitchFamily="34" charset="0"/>
                <a:cs typeface="Consolas" panose="020B0609020204030204" pitchFamily="49" charset="0"/>
              </a:rPr>
              <a:t> </a:t>
            </a:r>
            <a:r>
              <a:rPr lang="en-US">
                <a:solidFill>
                  <a:srgbClr val="000080"/>
                </a:solidFill>
                <a:latin typeface="Consolas"/>
                <a:ea typeface="Segoe UI Emoji" panose="020B0502040204020203" pitchFamily="34" charset="0"/>
                <a:cs typeface="Consolas" panose="020B0609020204030204" pitchFamily="49" charset="0"/>
              </a:rPr>
              <a:t>Token</a:t>
            </a:r>
            <a:r>
              <a:rPr lang="en-US">
                <a:latin typeface="Consolas"/>
                <a:ea typeface="Segoe UI Emoji" panose="020B0502040204020203" pitchFamily="34" charset="0"/>
                <a:cs typeface="Consolas" panose="020B0609020204030204" pitchFamily="49" charset="0"/>
              </a:rPr>
              <a:t>(</a:t>
            </a:r>
            <a:r>
              <a:rPr lang="en-US">
                <a:solidFill>
                  <a:srgbClr val="B60E0E"/>
                </a:solidFill>
                <a:latin typeface="Consolas"/>
                <a:ea typeface="Segoe UI Emoji" panose="020B0502040204020203" pitchFamily="34" charset="0"/>
                <a:cs typeface="Consolas" panose="020B0609020204030204" pitchFamily="49" charset="0"/>
              </a:rPr>
              <a:t>"</a:t>
            </a:r>
            <a:r>
              <a:rPr lang="en-US" err="1">
                <a:solidFill>
                  <a:srgbClr val="B60E0E"/>
                </a:solidFill>
                <a:latin typeface="Consolas"/>
                <a:ea typeface="Segoe UI Emoji" panose="020B0502040204020203" pitchFamily="34" charset="0"/>
                <a:cs typeface="Consolas" panose="020B0609020204030204" pitchFamily="49" charset="0"/>
              </a:rPr>
              <a:t>exch</a:t>
            </a:r>
            <a:r>
              <a:rPr lang="en-US">
                <a:solidFill>
                  <a:srgbClr val="B60E0E"/>
                </a:solidFill>
                <a:latin typeface="Consolas"/>
                <a:ea typeface="Segoe UI Emoji" panose="020B0502040204020203" pitchFamily="34" charset="0"/>
                <a:cs typeface="Consolas" panose="020B0609020204030204" pitchFamily="49" charset="0"/>
              </a:rPr>
              <a:t>"</a:t>
            </a:r>
            <a:r>
              <a:rPr lang="en-US">
                <a:latin typeface="Consolas"/>
                <a:ea typeface="Segoe UI Emoji" panose="020B0502040204020203" pitchFamily="34" charset="0"/>
                <a:cs typeface="Consolas" panose="020B0609020204030204" pitchFamily="49" charset="0"/>
              </a:rPr>
              <a:t>);</a:t>
            </a:r>
          </a:p>
          <a:p>
            <a:pPr lvl="0" defTabSz="342886">
              <a:spcBef>
                <a:spcPct val="20000"/>
              </a:spcBef>
              <a:buClr>
                <a:srgbClr val="FFFFFF">
                  <a:lumMod val="65000"/>
                </a:srgbClr>
              </a:buClr>
            </a:pPr>
            <a:endParaRPr lang="en-US">
              <a:latin typeface="Consolas"/>
              <a:ea typeface="Segoe UI Emoji" panose="020B0502040204020203" pitchFamily="34" charset="0"/>
              <a:cs typeface="Consolas" panose="020B0609020204030204" pitchFamily="49" charset="0"/>
            </a:endParaRPr>
          </a:p>
          <a:p>
            <a:pPr lvl="0" defTabSz="342886">
              <a:spcBef>
                <a:spcPct val="20000"/>
              </a:spcBef>
              <a:buClr>
                <a:srgbClr val="FFFFFF">
                  <a:lumMod val="65000"/>
                </a:srgbClr>
              </a:buClr>
            </a:pPr>
            <a:endParaRPr lang="en-US">
              <a:latin typeface="Consolas"/>
              <a:ea typeface="Segoe UI Emoji" panose="020B0502040204020203" pitchFamily="34" charset="0"/>
              <a:cs typeface="Consolas" panose="020B0609020204030204" pitchFamily="49" charset="0"/>
            </a:endParaRPr>
          </a:p>
        </p:txBody>
      </p:sp>
      <p:sp>
        <p:nvSpPr>
          <p:cNvPr id="4" name="TextBox 3">
            <a:extLst>
              <a:ext uri="{FF2B5EF4-FFF2-40B4-BE49-F238E27FC236}">
                <a16:creationId xmlns:a16="http://schemas.microsoft.com/office/drawing/2014/main" id="{34DAE1DA-31D7-25F6-32F0-0749DB00FC50}"/>
              </a:ext>
            </a:extLst>
          </p:cNvPr>
          <p:cNvSpPr txBox="1"/>
          <p:nvPr/>
        </p:nvSpPr>
        <p:spPr>
          <a:xfrm>
            <a:off x="457200" y="2696367"/>
            <a:ext cx="8229600" cy="1034129"/>
          </a:xfrm>
          <a:prstGeom prst="rect">
            <a:avLst/>
          </a:prstGeom>
          <a:no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7B00"/>
                </a:solidFill>
                <a:latin typeface="Consolas"/>
                <a:ea typeface="Segoe UI Emoji" panose="020B0502040204020203" pitchFamily="34" charset="0"/>
                <a:cs typeface="Consolas" panose="020B0609020204030204" pitchFamily="49" charset="0"/>
              </a:rPr>
              <a:t>// Get the value of a String-type token.</a:t>
            </a:r>
          </a:p>
          <a:p>
            <a:pPr lvl="0" defTabSz="342886">
              <a:spcBef>
                <a:spcPct val="20000"/>
              </a:spcBef>
              <a:buClr>
                <a:srgbClr val="FFFFFF">
                  <a:lumMod val="65000"/>
                </a:srgbClr>
              </a:buClr>
            </a:pPr>
            <a:endParaRPr lang="en-US">
              <a:solidFill>
                <a:srgbClr val="000080"/>
              </a:solidFill>
              <a:latin typeface="Consolas"/>
              <a:ea typeface="Segoe UI Emoji" panose="020B0502040204020203" pitchFamily="34" charset="0"/>
              <a:cs typeface="Consolas" panose="020B0609020204030204" pitchFamily="49" charset="0"/>
            </a:endParaRPr>
          </a:p>
          <a:p>
            <a:pPr lvl="0" defTabSz="342886">
              <a:spcBef>
                <a:spcPct val="20000"/>
              </a:spcBef>
              <a:buClr>
                <a:srgbClr val="FFFFFF">
                  <a:lumMod val="65000"/>
                </a:srgbClr>
              </a:buClr>
            </a:pPr>
            <a:r>
              <a:rPr lang="en-US">
                <a:solidFill>
                  <a:srgbClr val="000080"/>
                </a:solidFill>
                <a:latin typeface="Consolas"/>
                <a:ea typeface="Segoe UI Emoji" panose="020B0502040204020203" pitchFamily="34" charset="0"/>
                <a:cs typeface="Consolas" panose="020B0609020204030204" pitchFamily="49" charset="0"/>
              </a:rPr>
              <a:t>String</a:t>
            </a:r>
            <a:r>
              <a:rPr lang="en-US">
                <a:latin typeface="Consolas"/>
                <a:ea typeface="Segoe UI Emoji" panose="020B0502040204020203" pitchFamily="34" charset="0"/>
                <a:cs typeface="Consolas" panose="020B0609020204030204" pitchFamily="49" charset="0"/>
              </a:rPr>
              <a:t> string = </a:t>
            </a:r>
            <a:r>
              <a:rPr lang="en-US" err="1">
                <a:latin typeface="Consolas"/>
                <a:ea typeface="Segoe UI Emoji" panose="020B0502040204020203" pitchFamily="34" charset="0"/>
                <a:cs typeface="Consolas" panose="020B0609020204030204" pitchFamily="49" charset="0"/>
              </a:rPr>
              <a:t>token.getString</a:t>
            </a:r>
            <a:r>
              <a:rPr lang="en-US">
                <a:latin typeface="Consolas"/>
                <a:ea typeface="Segoe UI Emoji" panose="020B0502040204020203" pitchFamily="34" charset="0"/>
                <a:cs typeface="Consolas" panose="020B0609020204030204" pitchFamily="49" charset="0"/>
              </a:rPr>
              <a:t>();</a:t>
            </a:r>
          </a:p>
        </p:txBody>
      </p:sp>
      <p:sp>
        <p:nvSpPr>
          <p:cNvPr id="6" name="TextBox 5">
            <a:extLst>
              <a:ext uri="{FF2B5EF4-FFF2-40B4-BE49-F238E27FC236}">
                <a16:creationId xmlns:a16="http://schemas.microsoft.com/office/drawing/2014/main" id="{48BBBD9B-F8B6-AE40-9B7C-8FCC25C60B47}"/>
              </a:ext>
            </a:extLst>
          </p:cNvPr>
          <p:cNvSpPr txBox="1"/>
          <p:nvPr/>
        </p:nvSpPr>
        <p:spPr>
          <a:xfrm>
            <a:off x="457200" y="3934374"/>
            <a:ext cx="6450594" cy="954107"/>
          </a:xfrm>
          <a:prstGeom prst="rect">
            <a:avLst/>
          </a:prstGeom>
          <a:noFill/>
        </p:spPr>
        <p:txBody>
          <a:bodyPr wrap="square" rtlCol="0">
            <a:spAutoFit/>
          </a:bodyPr>
          <a:lstStyle/>
          <a:p>
            <a:endParaRPr lang="en-US" sz="2800">
              <a:solidFill>
                <a:schemeClr val="accent2"/>
              </a:solidFill>
              <a:latin typeface="Comic Sans MS" panose="030F0902030302020204" pitchFamily="66" charset="0"/>
            </a:endParaRPr>
          </a:p>
          <a:p>
            <a:pPr algn="r"/>
            <a:r>
              <a:rPr lang="en-US" sz="2800">
                <a:solidFill>
                  <a:schemeClr val="accent2"/>
                </a:solidFill>
                <a:latin typeface="Comic Sans MS" panose="030F0902030302020204" pitchFamily="66" charset="0"/>
              </a:rPr>
              <a:t>all better </a:t>
            </a:r>
            <a:r>
              <a:rPr lang="en-US" sz="2800">
                <a:latin typeface="Consolas"/>
                <a:ea typeface="Segoe UI Emoji" panose="020B0502040204020203" pitchFamily="34" charset="0"/>
                <a:cs typeface="Consolas" panose="020B0609020204030204" pitchFamily="49" charset="0"/>
              </a:rPr>
              <a:t>🙂</a:t>
            </a:r>
            <a:endParaRPr lang="en-US" sz="2800">
              <a:solidFill>
                <a:schemeClr val="accent2"/>
              </a:solidFill>
              <a:latin typeface="Comic Sans MS" panose="030F0902030302020204" pitchFamily="66" charset="0"/>
            </a:endParaRPr>
          </a:p>
        </p:txBody>
      </p:sp>
    </p:spTree>
    <p:extLst>
      <p:ext uri="{BB962C8B-B14F-4D97-AF65-F5344CB8AC3E}">
        <p14:creationId xmlns:p14="http://schemas.microsoft.com/office/powerpoint/2010/main" val="3682701825"/>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C0F333-2351-2141-017E-6FF87C03D72E}"/>
              </a:ext>
            </a:extLst>
          </p:cNvPr>
          <p:cNvSpPr>
            <a:spLocks noGrp="1"/>
          </p:cNvSpPr>
          <p:nvPr>
            <p:ph type="title"/>
          </p:nvPr>
        </p:nvSpPr>
        <p:spPr/>
        <p:txBody>
          <a:bodyPr/>
          <a:lstStyle/>
          <a:p>
            <a:r>
              <a:rPr lang="en-US" err="1"/>
              <a:t>tl;dr</a:t>
            </a:r>
            <a:endParaRPr lang="en-US"/>
          </a:p>
        </p:txBody>
      </p:sp>
    </p:spTree>
    <p:extLst>
      <p:ext uri="{BB962C8B-B14F-4D97-AF65-F5344CB8AC3E}">
        <p14:creationId xmlns:p14="http://schemas.microsoft.com/office/powerpoint/2010/main" val="38628221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6C511F-820A-DD97-7F92-3D0B21FB165A}"/>
              </a:ext>
            </a:extLst>
          </p:cNvPr>
          <p:cNvSpPr>
            <a:spLocks noGrp="1"/>
          </p:cNvSpPr>
          <p:nvPr>
            <p:ph type="title"/>
          </p:nvPr>
        </p:nvSpPr>
        <p:spPr/>
        <p:txBody>
          <a:bodyPr/>
          <a:lstStyle/>
          <a:p>
            <a:r>
              <a:rPr lang="en-US"/>
              <a:t>use these functions 🙂👍</a:t>
            </a:r>
          </a:p>
        </p:txBody>
      </p:sp>
      <p:pic>
        <p:nvPicPr>
          <p:cNvPr id="5" name="Picture 4">
            <a:extLst>
              <a:ext uri="{FF2B5EF4-FFF2-40B4-BE49-F238E27FC236}">
                <a16:creationId xmlns:a16="http://schemas.microsoft.com/office/drawing/2014/main" id="{5DD008E0-A6E7-E0CC-AF7F-E2242378E60D}"/>
              </a:ext>
            </a:extLst>
          </p:cNvPr>
          <p:cNvPicPr>
            <a:picLocks noChangeAspect="1"/>
          </p:cNvPicPr>
          <p:nvPr/>
        </p:nvPicPr>
        <p:blipFill>
          <a:blip r:embed="rId2"/>
          <a:stretch>
            <a:fillRect/>
          </a:stretch>
        </p:blipFill>
        <p:spPr>
          <a:xfrm>
            <a:off x="1113679" y="1086416"/>
            <a:ext cx="6916641" cy="3802168"/>
          </a:xfrm>
          <a:prstGeom prst="rect">
            <a:avLst/>
          </a:prstGeom>
        </p:spPr>
      </p:pic>
    </p:spTree>
    <p:extLst>
      <p:ext uri="{BB962C8B-B14F-4D97-AF65-F5344CB8AC3E}">
        <p14:creationId xmlns:p14="http://schemas.microsoft.com/office/powerpoint/2010/main" val="351804907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6C511F-820A-DD97-7F92-3D0B21FB165A}"/>
              </a:ext>
            </a:extLst>
          </p:cNvPr>
          <p:cNvSpPr>
            <a:spLocks noGrp="1"/>
          </p:cNvSpPr>
          <p:nvPr>
            <p:ph type="title"/>
          </p:nvPr>
        </p:nvSpPr>
        <p:spPr/>
        <p:txBody>
          <a:bodyPr/>
          <a:lstStyle/>
          <a:p>
            <a:r>
              <a:rPr lang="en-US"/>
              <a:t>and these functions!! 🙂👍</a:t>
            </a:r>
          </a:p>
        </p:txBody>
      </p:sp>
      <p:pic>
        <p:nvPicPr>
          <p:cNvPr id="2" name="Picture 1">
            <a:extLst>
              <a:ext uri="{FF2B5EF4-FFF2-40B4-BE49-F238E27FC236}">
                <a16:creationId xmlns:a16="http://schemas.microsoft.com/office/drawing/2014/main" id="{658F7570-03D6-1B15-3AD5-D6B9AB4B1A48}"/>
              </a:ext>
            </a:extLst>
          </p:cNvPr>
          <p:cNvPicPr>
            <a:picLocks noChangeAspect="1"/>
          </p:cNvPicPr>
          <p:nvPr/>
        </p:nvPicPr>
        <p:blipFill>
          <a:blip r:embed="rId2"/>
          <a:stretch>
            <a:fillRect/>
          </a:stretch>
        </p:blipFill>
        <p:spPr>
          <a:xfrm>
            <a:off x="1501743" y="922084"/>
            <a:ext cx="6140513" cy="4061306"/>
          </a:xfrm>
          <a:prstGeom prst="rect">
            <a:avLst/>
          </a:prstGeom>
        </p:spPr>
      </p:pic>
    </p:spTree>
    <p:extLst>
      <p:ext uri="{BB962C8B-B14F-4D97-AF65-F5344CB8AC3E}">
        <p14:creationId xmlns:p14="http://schemas.microsoft.com/office/powerpoint/2010/main" val="366603662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75CB751-F043-4A62-CEE8-70DA6CA6E023}"/>
              </a:ext>
            </a:extLst>
          </p:cNvPr>
          <p:cNvSpPr>
            <a:spLocks noGrp="1"/>
          </p:cNvSpPr>
          <p:nvPr>
            <p:ph type="title"/>
          </p:nvPr>
        </p:nvSpPr>
        <p:spPr/>
        <p:txBody>
          <a:bodyPr/>
          <a:lstStyle/>
          <a:p>
            <a:endParaRPr lang="en-US"/>
          </a:p>
        </p:txBody>
      </p:sp>
      <p:sp>
        <p:nvSpPr>
          <p:cNvPr id="2" name="TextBox 1">
            <a:extLst>
              <a:ext uri="{FF2B5EF4-FFF2-40B4-BE49-F238E27FC236}">
                <a16:creationId xmlns:a16="http://schemas.microsoft.com/office/drawing/2014/main" id="{FE58C12C-799C-8412-17BC-BEABCBDF1037}"/>
              </a:ext>
            </a:extLst>
          </p:cNvPr>
          <p:cNvSpPr txBox="1"/>
          <p:nvPr/>
        </p:nvSpPr>
        <p:spPr>
          <a:xfrm>
            <a:off x="457200" y="1125961"/>
            <a:ext cx="8229600" cy="1366528"/>
          </a:xfrm>
          <a:prstGeom prst="rect">
            <a:avLst/>
          </a:prstGeom>
          <a:no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7B00"/>
                </a:solidFill>
                <a:latin typeface="Consolas"/>
                <a:ea typeface="Segoe UI Emoji" panose="020B0502040204020203" pitchFamily="34" charset="0"/>
                <a:cs typeface="Consolas" panose="020B0609020204030204" pitchFamily="49" charset="0"/>
              </a:rPr>
              <a:t>// Pop a double off the stack</a:t>
            </a:r>
          </a:p>
          <a:p>
            <a:pPr lvl="0" defTabSz="342886">
              <a:spcBef>
                <a:spcPct val="20000"/>
              </a:spcBef>
              <a:buClr>
                <a:srgbClr val="FFFFFF">
                  <a:lumMod val="65000"/>
                </a:srgbClr>
              </a:buClr>
            </a:pPr>
            <a:r>
              <a:rPr lang="en-US">
                <a:solidFill>
                  <a:srgbClr val="0000FF"/>
                </a:solidFill>
                <a:latin typeface="Consolas"/>
                <a:ea typeface="Segoe UI Emoji" panose="020B0502040204020203" pitchFamily="34" charset="0"/>
                <a:cs typeface="Consolas" panose="020B0609020204030204" pitchFamily="49" charset="0"/>
              </a:rPr>
              <a:t>ASSERT</a:t>
            </a:r>
            <a:r>
              <a:rPr lang="en-US">
                <a:latin typeface="Consolas"/>
                <a:ea typeface="Segoe UI Emoji" panose="020B0502040204020203" pitchFamily="34" charset="0"/>
                <a:cs typeface="Consolas" panose="020B0609020204030204" pitchFamily="49" charset="0"/>
              </a:rPr>
              <a:t>(_</a:t>
            </a:r>
            <a:r>
              <a:rPr lang="en-US" err="1">
                <a:latin typeface="Consolas"/>
                <a:ea typeface="Segoe UI Emoji" panose="020B0502040204020203" pitchFamily="34" charset="0"/>
                <a:cs typeface="Consolas" panose="020B0609020204030204" pitchFamily="49" charset="0"/>
              </a:rPr>
              <a:t>stack.size</a:t>
            </a:r>
            <a:r>
              <a:rPr lang="en-US">
                <a:latin typeface="Consolas"/>
                <a:ea typeface="Segoe UI Emoji" panose="020B0502040204020203" pitchFamily="34" charset="0"/>
                <a:cs typeface="Consolas" panose="020B0609020204030204" pitchFamily="49" charset="0"/>
              </a:rPr>
              <a:t>() &gt; 0);</a:t>
            </a:r>
          </a:p>
          <a:p>
            <a:pPr lvl="0" defTabSz="342886">
              <a:spcBef>
                <a:spcPct val="20000"/>
              </a:spcBef>
              <a:buClr>
                <a:srgbClr val="FFFFFF">
                  <a:lumMod val="65000"/>
                </a:srgbClr>
              </a:buClr>
            </a:pPr>
            <a:r>
              <a:rPr lang="en-US">
                <a:solidFill>
                  <a:srgbClr val="000080"/>
                </a:solidFill>
                <a:latin typeface="Consolas"/>
                <a:ea typeface="Segoe UI Emoji" panose="020B0502040204020203" pitchFamily="34" charset="0"/>
                <a:cs typeface="Consolas" panose="020B0609020204030204" pitchFamily="49" charset="0"/>
              </a:rPr>
              <a:t>Token</a:t>
            </a:r>
            <a:r>
              <a:rPr lang="en-US">
                <a:latin typeface="Consolas"/>
                <a:ea typeface="Segoe UI Emoji" panose="020B0502040204020203" pitchFamily="34" charset="0"/>
                <a:cs typeface="Consolas" panose="020B0609020204030204" pitchFamily="49" charset="0"/>
              </a:rPr>
              <a:t> token = _</a:t>
            </a:r>
            <a:r>
              <a:rPr lang="en-US" err="1">
                <a:latin typeface="Consolas"/>
                <a:ea typeface="Segoe UI Emoji" panose="020B0502040204020203" pitchFamily="34" charset="0"/>
                <a:cs typeface="Consolas" panose="020B0609020204030204" pitchFamily="49" charset="0"/>
              </a:rPr>
              <a:t>stack.pop</a:t>
            </a:r>
            <a:r>
              <a:rPr lang="en-US">
                <a:latin typeface="Consolas"/>
                <a:ea typeface="Segoe UI Emoji" panose="020B0502040204020203" pitchFamily="34" charset="0"/>
                <a:cs typeface="Consolas" panose="020B0609020204030204" pitchFamily="49" charset="0"/>
              </a:rPr>
              <a:t>();</a:t>
            </a:r>
            <a:endParaRPr lang="en-US">
              <a:solidFill>
                <a:srgbClr val="000080"/>
              </a:solidFill>
              <a:latin typeface="Consolas"/>
              <a:ea typeface="Segoe UI Emoji" panose="020B0502040204020203" pitchFamily="34" charset="0"/>
              <a:cs typeface="Consolas" panose="020B0609020204030204" pitchFamily="49" charset="0"/>
            </a:endParaRPr>
          </a:p>
          <a:p>
            <a:pPr lvl="0" defTabSz="342886">
              <a:spcBef>
                <a:spcPct val="20000"/>
              </a:spcBef>
              <a:buClr>
                <a:srgbClr val="FFFFFF">
                  <a:lumMod val="65000"/>
                </a:srgbClr>
              </a:buClr>
            </a:pPr>
            <a:r>
              <a:rPr lang="en-US">
                <a:solidFill>
                  <a:srgbClr val="0000FF"/>
                </a:solidFill>
                <a:latin typeface="Consolas"/>
                <a:ea typeface="Segoe UI Emoji" panose="020B0502040204020203" pitchFamily="34" charset="0"/>
                <a:cs typeface="Consolas" panose="020B0609020204030204" pitchFamily="49" charset="0"/>
              </a:rPr>
              <a:t>double</a:t>
            </a:r>
            <a:r>
              <a:rPr lang="en-US">
                <a:latin typeface="Consolas"/>
                <a:ea typeface="Segoe UI Emoji" panose="020B0502040204020203" pitchFamily="34" charset="0"/>
                <a:cs typeface="Consolas" panose="020B0609020204030204" pitchFamily="49" charset="0"/>
              </a:rPr>
              <a:t> num = </a:t>
            </a:r>
            <a:r>
              <a:rPr lang="en-US" err="1">
                <a:latin typeface="Consolas"/>
                <a:ea typeface="Segoe UI Emoji" panose="020B0502040204020203" pitchFamily="34" charset="0"/>
                <a:cs typeface="Consolas" panose="020B0609020204030204" pitchFamily="49" charset="0"/>
              </a:rPr>
              <a:t>token.getDouble</a:t>
            </a:r>
            <a:r>
              <a:rPr lang="en-US">
                <a:latin typeface="Consolas"/>
                <a:ea typeface="Segoe UI Emoji" panose="020B0502040204020203" pitchFamily="34" charset="0"/>
                <a:cs typeface="Consolas" panose="020B0609020204030204" pitchFamily="49" charset="0"/>
              </a:rPr>
              <a:t>();</a:t>
            </a:r>
          </a:p>
        </p:txBody>
      </p:sp>
      <p:sp>
        <p:nvSpPr>
          <p:cNvPr id="5" name="TextBox 4">
            <a:extLst>
              <a:ext uri="{FF2B5EF4-FFF2-40B4-BE49-F238E27FC236}">
                <a16:creationId xmlns:a16="http://schemas.microsoft.com/office/drawing/2014/main" id="{5BB0DC6F-E52D-21BC-0701-14085CD8F0C2}"/>
              </a:ext>
            </a:extLst>
          </p:cNvPr>
          <p:cNvSpPr txBox="1"/>
          <p:nvPr/>
        </p:nvSpPr>
        <p:spPr>
          <a:xfrm>
            <a:off x="457200" y="3934374"/>
            <a:ext cx="6450594" cy="523220"/>
          </a:xfrm>
          <a:prstGeom prst="rect">
            <a:avLst/>
          </a:prstGeom>
          <a:noFill/>
        </p:spPr>
        <p:txBody>
          <a:bodyPr wrap="square" rtlCol="0">
            <a:spAutoFit/>
          </a:bodyPr>
          <a:lstStyle/>
          <a:p>
            <a:r>
              <a:rPr lang="en-US" sz="2800">
                <a:latin typeface="Consolas"/>
                <a:ea typeface="Segoe UI Emoji" panose="020B0502040204020203" pitchFamily="34" charset="0"/>
                <a:cs typeface="Consolas" panose="020B0609020204030204" pitchFamily="49" charset="0"/>
              </a:rPr>
              <a:t>☹️</a:t>
            </a:r>
            <a:endParaRPr lang="en-US" sz="2800">
              <a:solidFill>
                <a:schemeClr val="accent2"/>
              </a:solidFill>
              <a:latin typeface="Comic Sans MS" panose="030F0902030302020204" pitchFamily="66" charset="0"/>
            </a:endParaRPr>
          </a:p>
        </p:txBody>
      </p:sp>
      <p:sp>
        <p:nvSpPr>
          <p:cNvPr id="8" name="TextBox 7">
            <a:extLst>
              <a:ext uri="{FF2B5EF4-FFF2-40B4-BE49-F238E27FC236}">
                <a16:creationId xmlns:a16="http://schemas.microsoft.com/office/drawing/2014/main" id="{8B3278DC-B024-1472-90FE-DAA42FB3E994}"/>
              </a:ext>
            </a:extLst>
          </p:cNvPr>
          <p:cNvSpPr txBox="1"/>
          <p:nvPr/>
        </p:nvSpPr>
        <p:spPr>
          <a:xfrm>
            <a:off x="457200" y="2696366"/>
            <a:ext cx="8229600" cy="701731"/>
          </a:xfrm>
          <a:prstGeom prst="rect">
            <a:avLst/>
          </a:prstGeom>
          <a:no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7B00"/>
                </a:solidFill>
                <a:latin typeface="Consolas"/>
                <a:ea typeface="Segoe UI Emoji" panose="020B0502040204020203" pitchFamily="34" charset="0"/>
                <a:cs typeface="Consolas" panose="020B0609020204030204" pitchFamily="49" charset="0"/>
              </a:rPr>
              <a:t>// Push a double onto the stack.</a:t>
            </a:r>
          </a:p>
          <a:p>
            <a:pPr lvl="0" defTabSz="342886">
              <a:spcBef>
                <a:spcPct val="20000"/>
              </a:spcBef>
              <a:buClr>
                <a:srgbClr val="FFFFFF">
                  <a:lumMod val="65000"/>
                </a:srgbClr>
              </a:buClr>
            </a:pPr>
            <a:r>
              <a:rPr lang="en-US">
                <a:latin typeface="Consolas"/>
                <a:ea typeface="Segoe UI Emoji" panose="020B0502040204020203" pitchFamily="34" charset="0"/>
                <a:cs typeface="Consolas" panose="020B0609020204030204" pitchFamily="49" charset="0"/>
              </a:rPr>
              <a:t>_</a:t>
            </a:r>
            <a:r>
              <a:rPr lang="en-US" err="1">
                <a:latin typeface="Consolas"/>
                <a:ea typeface="Segoe UI Emoji" panose="020B0502040204020203" pitchFamily="34" charset="0"/>
                <a:cs typeface="Consolas" panose="020B0609020204030204" pitchFamily="49" charset="0"/>
              </a:rPr>
              <a:t>stack.push</a:t>
            </a:r>
            <a:r>
              <a:rPr lang="en-US">
                <a:latin typeface="Consolas"/>
                <a:ea typeface="Segoe UI Emoji" panose="020B0502040204020203" pitchFamily="34" charset="0"/>
                <a:cs typeface="Consolas" panose="020B0609020204030204" pitchFamily="49" charset="0"/>
              </a:rPr>
              <a:t>(</a:t>
            </a:r>
            <a:r>
              <a:rPr lang="en-US">
                <a:solidFill>
                  <a:srgbClr val="0000FF"/>
                </a:solidFill>
                <a:latin typeface="Consolas"/>
                <a:ea typeface="Segoe UI Emoji" panose="020B0502040204020203" pitchFamily="34" charset="0"/>
                <a:cs typeface="Consolas" panose="020B0609020204030204" pitchFamily="49" charset="0"/>
              </a:rPr>
              <a:t>new</a:t>
            </a:r>
            <a:r>
              <a:rPr lang="en-US">
                <a:latin typeface="Consolas"/>
                <a:ea typeface="Segoe UI Emoji" panose="020B0502040204020203" pitchFamily="34" charset="0"/>
                <a:cs typeface="Consolas" panose="020B0609020204030204" pitchFamily="49" charset="0"/>
              </a:rPr>
              <a:t> </a:t>
            </a:r>
            <a:r>
              <a:rPr lang="en-US">
                <a:solidFill>
                  <a:srgbClr val="000080"/>
                </a:solidFill>
                <a:latin typeface="Consolas"/>
                <a:ea typeface="Segoe UI Emoji" panose="020B0502040204020203" pitchFamily="34" charset="0"/>
                <a:cs typeface="Consolas" panose="020B0609020204030204" pitchFamily="49" charset="0"/>
              </a:rPr>
              <a:t>Token</a:t>
            </a:r>
            <a:r>
              <a:rPr lang="en-US">
                <a:latin typeface="Consolas"/>
                <a:ea typeface="Segoe UI Emoji" panose="020B0502040204020203" pitchFamily="34" charset="0"/>
                <a:cs typeface="Consolas" panose="020B0609020204030204" pitchFamily="49" charset="0"/>
              </a:rPr>
              <a:t>(</a:t>
            </a:r>
            <a:r>
              <a:rPr lang="en-US">
                <a:solidFill>
                  <a:srgbClr val="0CB5B5"/>
                </a:solidFill>
                <a:latin typeface="Consolas"/>
                <a:ea typeface="Segoe UI Emoji" panose="020B0502040204020203" pitchFamily="34" charset="0"/>
                <a:cs typeface="Consolas" panose="020B0609020204030204" pitchFamily="49" charset="0"/>
              </a:rPr>
              <a:t>5</a:t>
            </a:r>
            <a:r>
              <a:rPr lang="en-US">
                <a:latin typeface="Consolas"/>
                <a:ea typeface="Segoe UI Emoji" panose="020B0502040204020203" pitchFamily="34" charset="0"/>
                <a:cs typeface="Consolas" panose="020B0609020204030204" pitchFamily="49" charset="0"/>
              </a:rPr>
              <a:t>.</a:t>
            </a:r>
            <a:r>
              <a:rPr lang="en-US">
                <a:solidFill>
                  <a:srgbClr val="0CB5B5"/>
                </a:solidFill>
                <a:latin typeface="Consolas"/>
                <a:ea typeface="Segoe UI Emoji" panose="020B0502040204020203" pitchFamily="34" charset="0"/>
                <a:cs typeface="Consolas" panose="020B0609020204030204" pitchFamily="49" charset="0"/>
              </a:rPr>
              <a:t>0</a:t>
            </a:r>
            <a:r>
              <a:rPr lang="en-US">
                <a:latin typeface="Consolas"/>
                <a:ea typeface="Segoe UI Emoji" panose="020B0502040204020203" pitchFamily="34" charset="0"/>
                <a:cs typeface="Consolas" panose="020B0609020204030204" pitchFamily="49" charset="0"/>
              </a:rPr>
              <a:t>));</a:t>
            </a:r>
          </a:p>
        </p:txBody>
      </p:sp>
    </p:spTree>
    <p:extLst>
      <p:ext uri="{BB962C8B-B14F-4D97-AF65-F5344CB8AC3E}">
        <p14:creationId xmlns:p14="http://schemas.microsoft.com/office/powerpoint/2010/main" val="3105178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P spid="8" grpId="0" animBg="1"/>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75CB751-F043-4A62-CEE8-70DA6CA6E023}"/>
              </a:ext>
            </a:extLst>
          </p:cNvPr>
          <p:cNvSpPr>
            <a:spLocks noGrp="1"/>
          </p:cNvSpPr>
          <p:nvPr>
            <p:ph type="title"/>
          </p:nvPr>
        </p:nvSpPr>
        <p:spPr/>
        <p:txBody>
          <a:bodyPr/>
          <a:lstStyle/>
          <a:p>
            <a:endParaRPr lang="en-US"/>
          </a:p>
        </p:txBody>
      </p:sp>
      <p:sp>
        <p:nvSpPr>
          <p:cNvPr id="2" name="TextBox 1">
            <a:extLst>
              <a:ext uri="{FF2B5EF4-FFF2-40B4-BE49-F238E27FC236}">
                <a16:creationId xmlns:a16="http://schemas.microsoft.com/office/drawing/2014/main" id="{FE58C12C-799C-8412-17BC-BEABCBDF1037}"/>
              </a:ext>
            </a:extLst>
          </p:cNvPr>
          <p:cNvSpPr txBox="1"/>
          <p:nvPr/>
        </p:nvSpPr>
        <p:spPr>
          <a:xfrm>
            <a:off x="457200" y="1125961"/>
            <a:ext cx="8229600" cy="1366528"/>
          </a:xfrm>
          <a:prstGeom prst="rect">
            <a:avLst/>
          </a:prstGeom>
          <a:no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7B00"/>
                </a:solidFill>
                <a:latin typeface="Consolas"/>
                <a:ea typeface="Segoe UI Emoji" panose="020B0502040204020203" pitchFamily="34" charset="0"/>
                <a:cs typeface="Consolas" panose="020B0609020204030204" pitchFamily="49" charset="0"/>
              </a:rPr>
              <a:t>// Pop a double off the stack</a:t>
            </a:r>
          </a:p>
          <a:p>
            <a:pPr lvl="0" defTabSz="342886">
              <a:spcBef>
                <a:spcPct val="20000"/>
              </a:spcBef>
              <a:buClr>
                <a:srgbClr val="FFFFFF">
                  <a:lumMod val="65000"/>
                </a:srgbClr>
              </a:buClr>
            </a:pPr>
            <a:endParaRPr lang="en-US">
              <a:solidFill>
                <a:srgbClr val="0000FF"/>
              </a:solidFill>
              <a:latin typeface="Consolas"/>
              <a:ea typeface="Segoe UI Emoji" panose="020B0502040204020203" pitchFamily="34" charset="0"/>
              <a:cs typeface="Consolas" panose="020B0609020204030204" pitchFamily="49" charset="0"/>
            </a:endParaRPr>
          </a:p>
          <a:p>
            <a:pPr lvl="0" defTabSz="342886">
              <a:spcBef>
                <a:spcPct val="20000"/>
              </a:spcBef>
              <a:buClr>
                <a:srgbClr val="FFFFFF">
                  <a:lumMod val="65000"/>
                </a:srgbClr>
              </a:buClr>
            </a:pPr>
            <a:endParaRPr lang="en-US">
              <a:solidFill>
                <a:srgbClr val="0000FF"/>
              </a:solidFill>
              <a:latin typeface="Consolas"/>
              <a:ea typeface="Segoe UI Emoji" panose="020B0502040204020203" pitchFamily="34" charset="0"/>
              <a:cs typeface="Consolas" panose="020B0609020204030204" pitchFamily="49" charset="0"/>
            </a:endParaRPr>
          </a:p>
          <a:p>
            <a:pPr lvl="0" defTabSz="342886">
              <a:spcBef>
                <a:spcPct val="20000"/>
              </a:spcBef>
              <a:buClr>
                <a:srgbClr val="FFFFFF">
                  <a:lumMod val="65000"/>
                </a:srgbClr>
              </a:buClr>
            </a:pPr>
            <a:r>
              <a:rPr lang="en-US">
                <a:solidFill>
                  <a:srgbClr val="0000FF"/>
                </a:solidFill>
                <a:latin typeface="Consolas"/>
                <a:ea typeface="Segoe UI Emoji" panose="020B0502040204020203" pitchFamily="34" charset="0"/>
                <a:cs typeface="Consolas" panose="020B0609020204030204" pitchFamily="49" charset="0"/>
              </a:rPr>
              <a:t>double</a:t>
            </a:r>
            <a:r>
              <a:rPr lang="en-US">
                <a:latin typeface="Consolas"/>
                <a:ea typeface="Segoe UI Emoji" panose="020B0502040204020203" pitchFamily="34" charset="0"/>
                <a:cs typeface="Consolas" panose="020B0609020204030204" pitchFamily="49" charset="0"/>
              </a:rPr>
              <a:t> num = </a:t>
            </a:r>
            <a:r>
              <a:rPr lang="en-US" err="1">
                <a:latin typeface="Consolas"/>
                <a:ea typeface="Segoe UI Emoji" panose="020B0502040204020203" pitchFamily="34" charset="0"/>
                <a:cs typeface="Consolas" panose="020B0609020204030204" pitchFamily="49" charset="0"/>
              </a:rPr>
              <a:t>stackPopDouble</a:t>
            </a:r>
            <a:r>
              <a:rPr lang="en-US">
                <a:latin typeface="Consolas"/>
                <a:ea typeface="Segoe UI Emoji" panose="020B0502040204020203" pitchFamily="34" charset="0"/>
                <a:cs typeface="Consolas" panose="020B0609020204030204" pitchFamily="49" charset="0"/>
              </a:rPr>
              <a:t>();</a:t>
            </a:r>
          </a:p>
        </p:txBody>
      </p:sp>
      <p:sp>
        <p:nvSpPr>
          <p:cNvPr id="4" name="TextBox 3">
            <a:extLst>
              <a:ext uri="{FF2B5EF4-FFF2-40B4-BE49-F238E27FC236}">
                <a16:creationId xmlns:a16="http://schemas.microsoft.com/office/drawing/2014/main" id="{0A70CA4A-9703-7AC1-724E-1B5288312155}"/>
              </a:ext>
            </a:extLst>
          </p:cNvPr>
          <p:cNvSpPr txBox="1"/>
          <p:nvPr/>
        </p:nvSpPr>
        <p:spPr>
          <a:xfrm>
            <a:off x="457200" y="3934374"/>
            <a:ext cx="6450594" cy="523220"/>
          </a:xfrm>
          <a:prstGeom prst="rect">
            <a:avLst/>
          </a:prstGeom>
          <a:noFill/>
        </p:spPr>
        <p:txBody>
          <a:bodyPr wrap="square" rtlCol="0">
            <a:spAutoFit/>
          </a:bodyPr>
          <a:lstStyle/>
          <a:p>
            <a:r>
              <a:rPr lang="en-US" sz="2800">
                <a:latin typeface="Consolas"/>
                <a:ea typeface="Segoe UI Emoji" panose="020B0502040204020203" pitchFamily="34" charset="0"/>
                <a:cs typeface="Consolas" panose="020B0609020204030204" pitchFamily="49" charset="0"/>
              </a:rPr>
              <a:t>🙂</a:t>
            </a:r>
            <a:endParaRPr lang="en-US" sz="2800">
              <a:solidFill>
                <a:schemeClr val="accent2"/>
              </a:solidFill>
              <a:latin typeface="Comic Sans MS" panose="030F0902030302020204" pitchFamily="66" charset="0"/>
            </a:endParaRPr>
          </a:p>
        </p:txBody>
      </p:sp>
      <p:sp>
        <p:nvSpPr>
          <p:cNvPr id="5" name="TextBox 4">
            <a:extLst>
              <a:ext uri="{FF2B5EF4-FFF2-40B4-BE49-F238E27FC236}">
                <a16:creationId xmlns:a16="http://schemas.microsoft.com/office/drawing/2014/main" id="{EB7B2722-70B1-5940-2EF6-80371A01A424}"/>
              </a:ext>
            </a:extLst>
          </p:cNvPr>
          <p:cNvSpPr txBox="1"/>
          <p:nvPr/>
        </p:nvSpPr>
        <p:spPr>
          <a:xfrm>
            <a:off x="457200" y="2696366"/>
            <a:ext cx="8229600" cy="701731"/>
          </a:xfrm>
          <a:prstGeom prst="rect">
            <a:avLst/>
          </a:prstGeom>
          <a:no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7B00"/>
                </a:solidFill>
                <a:latin typeface="Consolas"/>
                <a:ea typeface="Segoe UI Emoji" panose="020B0502040204020203" pitchFamily="34" charset="0"/>
                <a:cs typeface="Consolas" panose="020B0609020204030204" pitchFamily="49" charset="0"/>
              </a:rPr>
              <a:t>// Push a double onto the stack.</a:t>
            </a:r>
          </a:p>
          <a:p>
            <a:pPr lvl="0" defTabSz="342886">
              <a:spcBef>
                <a:spcPct val="20000"/>
              </a:spcBef>
              <a:buClr>
                <a:srgbClr val="FFFFFF">
                  <a:lumMod val="65000"/>
                </a:srgbClr>
              </a:buClr>
            </a:pPr>
            <a:r>
              <a:rPr lang="en-US" err="1">
                <a:latin typeface="Consolas"/>
                <a:ea typeface="Segoe UI Emoji" panose="020B0502040204020203" pitchFamily="34" charset="0"/>
                <a:cs typeface="Consolas" panose="020B0609020204030204" pitchFamily="49" charset="0"/>
              </a:rPr>
              <a:t>stackPush</a:t>
            </a:r>
            <a:r>
              <a:rPr lang="en-US">
                <a:latin typeface="Consolas"/>
                <a:ea typeface="Segoe UI Emoji" panose="020B0502040204020203" pitchFamily="34" charset="0"/>
                <a:cs typeface="Consolas" panose="020B0609020204030204" pitchFamily="49" charset="0"/>
              </a:rPr>
              <a:t>(</a:t>
            </a:r>
            <a:r>
              <a:rPr lang="en-US">
                <a:solidFill>
                  <a:srgbClr val="0CB5B5"/>
                </a:solidFill>
                <a:latin typeface="Consolas"/>
                <a:ea typeface="Segoe UI Emoji" panose="020B0502040204020203" pitchFamily="34" charset="0"/>
                <a:cs typeface="Consolas" panose="020B0609020204030204" pitchFamily="49" charset="0"/>
              </a:rPr>
              <a:t>5</a:t>
            </a:r>
            <a:r>
              <a:rPr lang="en-US">
                <a:latin typeface="Consolas"/>
                <a:ea typeface="Segoe UI Emoji" panose="020B0502040204020203" pitchFamily="34" charset="0"/>
                <a:cs typeface="Consolas" panose="020B0609020204030204" pitchFamily="49" charset="0"/>
              </a:rPr>
              <a:t>.</a:t>
            </a:r>
            <a:r>
              <a:rPr lang="en-US">
                <a:solidFill>
                  <a:srgbClr val="0CB5B5"/>
                </a:solidFill>
                <a:latin typeface="Consolas"/>
                <a:ea typeface="Segoe UI Emoji" panose="020B0502040204020203" pitchFamily="34" charset="0"/>
                <a:cs typeface="Consolas" panose="020B0609020204030204" pitchFamily="49" charset="0"/>
              </a:rPr>
              <a:t>0</a:t>
            </a:r>
            <a:r>
              <a:rPr lang="en-US">
                <a:latin typeface="Consolas"/>
                <a:ea typeface="Segoe UI Emoji" panose="020B0502040204020203" pitchFamily="34" charset="0"/>
                <a:cs typeface="Consolas" panose="020B0609020204030204" pitchFamily="49" charset="0"/>
              </a:rPr>
              <a:t>);</a:t>
            </a:r>
          </a:p>
        </p:txBody>
      </p:sp>
    </p:spTree>
    <p:extLst>
      <p:ext uri="{BB962C8B-B14F-4D97-AF65-F5344CB8AC3E}">
        <p14:creationId xmlns:p14="http://schemas.microsoft.com/office/powerpoint/2010/main" val="953705361"/>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4DDCD-7CE2-B0CC-13D6-5A7765EA35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C099C5-7985-186C-CBE4-A5A363CDB909}"/>
              </a:ext>
            </a:extLst>
          </p:cNvPr>
          <p:cNvSpPr>
            <a:spLocks noGrp="1"/>
          </p:cNvSpPr>
          <p:nvPr>
            <p:ph type="title"/>
          </p:nvPr>
        </p:nvSpPr>
        <p:spPr/>
        <p:txBody>
          <a:bodyPr/>
          <a:lstStyle/>
          <a:p>
            <a:r>
              <a:rPr lang="en-US" sz="7200"/>
              <a:t>Java vs. C philosophy</a:t>
            </a:r>
            <a:br>
              <a:rPr lang="en-US" sz="7200"/>
            </a:br>
            <a:r>
              <a:rPr lang="en-US" sz="7200"/>
              <a:t>of data structures</a:t>
            </a:r>
          </a:p>
        </p:txBody>
      </p:sp>
    </p:spTree>
    <p:extLst>
      <p:ext uri="{BB962C8B-B14F-4D97-AF65-F5344CB8AC3E}">
        <p14:creationId xmlns:p14="http://schemas.microsoft.com/office/powerpoint/2010/main" val="40162733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FAA2E-A249-4650-DFF5-C8913FAE6E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1121EC-34F4-522C-E499-DF6FCF483FA7}"/>
              </a:ext>
            </a:extLst>
          </p:cNvPr>
          <p:cNvSpPr>
            <a:spLocks noGrp="1"/>
          </p:cNvSpPr>
          <p:nvPr>
            <p:ph type="title"/>
          </p:nvPr>
        </p:nvSpPr>
        <p:spPr/>
        <p:txBody>
          <a:bodyPr/>
          <a:lstStyle/>
          <a:p>
            <a:r>
              <a:rPr lang="en-US"/>
              <a:t>[scavenger hunt]</a:t>
            </a:r>
          </a:p>
        </p:txBody>
      </p:sp>
    </p:spTree>
    <p:extLst>
      <p:ext uri="{BB962C8B-B14F-4D97-AF65-F5344CB8AC3E}">
        <p14:creationId xmlns:p14="http://schemas.microsoft.com/office/powerpoint/2010/main" val="50179477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510BE4-3418-BDAB-4D28-85E330529A80}"/>
              </a:ext>
            </a:extLst>
          </p:cNvPr>
          <p:cNvSpPr>
            <a:spLocks noGrp="1"/>
          </p:cNvSpPr>
          <p:nvPr>
            <p:ph type="title"/>
          </p:nvPr>
        </p:nvSpPr>
        <p:spPr/>
        <p:txBody>
          <a:bodyPr/>
          <a:lstStyle/>
          <a:p>
            <a:r>
              <a:rPr lang="en-US" sz="4000"/>
              <a:t>can i call </a:t>
            </a:r>
            <a:r>
              <a:rPr lang="en-US" sz="4000">
                <a:latin typeface="+mj-lt"/>
              </a:rPr>
              <a:t>get(...)</a:t>
            </a:r>
            <a:r>
              <a:rPr lang="en-US" sz="4000"/>
              <a:t> or </a:t>
            </a:r>
            <a:r>
              <a:rPr lang="en-US" sz="4000">
                <a:latin typeface="+mj-lt"/>
              </a:rPr>
              <a:t>set(...)</a:t>
            </a:r>
            <a:r>
              <a:rPr lang="en-US" sz="4000"/>
              <a:t> on Java's </a:t>
            </a:r>
            <a:r>
              <a:rPr lang="en-US" sz="4000">
                <a:latin typeface="+mj-lt"/>
              </a:rPr>
              <a:t>ArrayDeque</a:t>
            </a:r>
            <a:r>
              <a:rPr lang="en-US" sz="4000"/>
              <a:t>?</a:t>
            </a:r>
            <a:br>
              <a:rPr lang="en-US" sz="4000"/>
            </a:br>
            <a:br>
              <a:rPr lang="en-US" sz="4000"/>
            </a:br>
            <a:r>
              <a:rPr lang="en-US" sz="4000"/>
              <a:t>why or why not?</a:t>
            </a:r>
          </a:p>
        </p:txBody>
      </p:sp>
    </p:spTree>
    <p:extLst>
      <p:ext uri="{BB962C8B-B14F-4D97-AF65-F5344CB8AC3E}">
        <p14:creationId xmlns:p14="http://schemas.microsoft.com/office/powerpoint/2010/main" val="396210528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FB6CE-5719-3AC9-D037-C29A95E973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21D6B1-7621-4469-CFF6-67D870173DD7}"/>
              </a:ext>
            </a:extLst>
          </p:cNvPr>
          <p:cNvSpPr>
            <a:spLocks noGrp="1"/>
          </p:cNvSpPr>
          <p:nvPr>
            <p:ph type="title"/>
          </p:nvPr>
        </p:nvSpPr>
        <p:spPr/>
        <p:txBody>
          <a:bodyPr/>
          <a:lstStyle/>
          <a:p>
            <a:pPr algn="l"/>
            <a:r>
              <a:rPr lang="en-US" sz="6600"/>
              <a:t>fun friday menu</a:t>
            </a:r>
            <a:br>
              <a:rPr lang="en-US" sz="6600"/>
            </a:br>
            <a:r>
              <a:rPr lang="en-US" sz="2800"/>
              <a:t>- jim rants about comments and syntax highlighting</a:t>
            </a:r>
            <a:br>
              <a:rPr lang="en-US" sz="2800"/>
            </a:br>
            <a:r>
              <a:rPr lang="en-US" sz="2800"/>
              <a:t>- jim codes </a:t>
            </a:r>
            <a:r>
              <a:rPr lang="en-US" sz="1400"/>
              <a:t>(some of)</a:t>
            </a:r>
            <a:r>
              <a:rPr lang="en-US" sz="2800"/>
              <a:t> microsoft paint from scratch</a:t>
            </a:r>
            <a:br>
              <a:rPr lang="en-US" sz="2800"/>
            </a:br>
            <a:r>
              <a:rPr lang="en-US" sz="2800"/>
              <a:t>- jim updates you on his CAD software</a:t>
            </a:r>
            <a:br>
              <a:rPr lang="en-US" sz="2800"/>
            </a:br>
            <a:r>
              <a:rPr lang="en-US" sz="2800"/>
              <a:t>- jim talks about </a:t>
            </a:r>
            <a:r>
              <a:rPr lang="en-US" sz="2800" b="1"/>
              <a:t>usage code</a:t>
            </a:r>
            <a:br>
              <a:rPr lang="en-US" sz="2800"/>
            </a:br>
            <a:r>
              <a:rPr lang="en-US" sz="2800"/>
              <a:t>- jim talks about his favorite element</a:t>
            </a:r>
            <a:br>
              <a:rPr lang="en-US" sz="2800"/>
            </a:br>
            <a:r>
              <a:rPr lang="en-US" sz="2800"/>
              <a:t>- jim reads aloud from grugbrain.dev</a:t>
            </a:r>
            <a:br>
              <a:rPr lang="en-US" sz="2800"/>
            </a:br>
            <a:r>
              <a:rPr kumimoji="0" lang="en-US" sz="2800" b="0" i="0" u="none" strike="noStrike" kern="1200" cap="none" spc="0" normalizeH="0" baseline="0" noProof="0">
                <a:ln>
                  <a:noFill/>
                </a:ln>
                <a:solidFill>
                  <a:srgbClr val="FFFFFF"/>
                </a:solidFill>
                <a:effectLst/>
                <a:uLnTx/>
                <a:uFillTx/>
                <a:latin typeface="Arial"/>
                <a:ea typeface="Segoe UI Emoji" panose="020B0502040204020203" pitchFamily="34" charset="0"/>
                <a:cs typeface="+mj-cs"/>
              </a:rPr>
              <a:t>- jim talks incoherently about Vim</a:t>
            </a:r>
            <a:endParaRPr lang="en-US" sz="6600"/>
          </a:p>
        </p:txBody>
      </p:sp>
    </p:spTree>
    <p:extLst>
      <p:ext uri="{BB962C8B-B14F-4D97-AF65-F5344CB8AC3E}">
        <p14:creationId xmlns:p14="http://schemas.microsoft.com/office/powerpoint/2010/main" val="516489087"/>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6FCD1-ABE6-3B99-B2FC-AD15CC6F8E0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C1E13A8-A1FB-E73D-97DC-970D33837AFF}"/>
              </a:ext>
            </a:extLst>
          </p:cNvPr>
          <p:cNvSpPr>
            <a:spLocks noGrp="1"/>
          </p:cNvSpPr>
          <p:nvPr>
            <p:ph type="title"/>
          </p:nvPr>
        </p:nvSpPr>
        <p:spPr/>
        <p:txBody>
          <a:bodyPr/>
          <a:lstStyle/>
          <a:p>
            <a:r>
              <a:rPr lang="en-US" sz="6600"/>
              <a:t>Tungsten </a:t>
            </a:r>
            <a:r>
              <a:rPr lang="en-US" sz="5400"/>
              <a:t>queube</a:t>
            </a:r>
            <a:r>
              <a:rPr lang="en-US" sz="8000"/>
              <a:t> </a:t>
            </a:r>
            <a:r>
              <a:rPr lang="en-US" sz="4800"/>
              <a:t>😀</a:t>
            </a:r>
            <a:br>
              <a:rPr kumimoji="0" lang="en-US" sz="2000" b="0" i="0" u="none" strike="noStrike" kern="1200" cap="none" spc="0" normalizeH="0" noProof="0">
                <a:ln>
                  <a:noFill/>
                </a:ln>
                <a:solidFill>
                  <a:srgbClr val="FFFFFF"/>
                </a:solidFill>
                <a:effectLst/>
                <a:uLnTx/>
                <a:uFillTx/>
                <a:latin typeface="Arial"/>
                <a:ea typeface="Segoe UI Emoji" panose="020B0502040204020203" pitchFamily="34" charset="0"/>
                <a:cs typeface="+mj-cs"/>
              </a:rPr>
            </a:br>
            <a:br>
              <a:rPr kumimoji="0" lang="en-US" sz="2000" b="0" i="0" u="none" strike="noStrike" kern="1200" cap="none" spc="0" normalizeH="0" noProof="0">
                <a:ln>
                  <a:noFill/>
                </a:ln>
                <a:solidFill>
                  <a:srgbClr val="FFFFFF"/>
                </a:solidFill>
                <a:effectLst/>
                <a:uLnTx/>
                <a:uFillTx/>
                <a:latin typeface="Arial"/>
                <a:ea typeface="Segoe UI Emoji" panose="020B0502040204020203" pitchFamily="34" charset="0"/>
                <a:cs typeface="+mj-cs"/>
              </a:rPr>
            </a:br>
            <a:r>
              <a:rPr kumimoji="0" lang="en-US" sz="2000" b="0" i="0" u="none" strike="noStrike" kern="1200" cap="none" spc="0" normalizeH="0" noProof="0">
                <a:ln>
                  <a:noFill/>
                </a:ln>
                <a:solidFill>
                  <a:srgbClr val="FFFFFF"/>
                </a:solidFill>
                <a:effectLst/>
                <a:uLnTx/>
                <a:uFillTx/>
                <a:latin typeface="Arial"/>
                <a:ea typeface="Segoe UI Emoji" panose="020B0502040204020203" pitchFamily="34" charset="0"/>
                <a:cs typeface="+mj-cs"/>
              </a:rPr>
              <a:t>did you know Tungsten is really </a:t>
            </a:r>
            <a:r>
              <a:rPr kumimoji="0" lang="en-US" sz="2000" b="1" i="0" u="none" strike="noStrike" kern="1200" cap="none" spc="0" normalizeH="0" noProof="0">
                <a:ln>
                  <a:noFill/>
                </a:ln>
                <a:solidFill>
                  <a:srgbClr val="FFFFFF"/>
                </a:solidFill>
                <a:effectLst/>
                <a:uLnTx/>
                <a:uFillTx/>
                <a:latin typeface="Arial"/>
                <a:ea typeface="Segoe UI Emoji" panose="020B0502040204020203" pitchFamily="34" charset="0"/>
                <a:cs typeface="+mj-cs"/>
              </a:rPr>
              <a:t>hard</a:t>
            </a:r>
            <a:r>
              <a:rPr kumimoji="0" lang="en-US" sz="2000" b="0" i="0" u="none" strike="noStrike" kern="1200" cap="none" spc="0" normalizeH="0" noProof="0">
                <a:ln>
                  <a:noFill/>
                </a:ln>
                <a:solidFill>
                  <a:srgbClr val="FFFFFF"/>
                </a:solidFill>
                <a:effectLst/>
                <a:uLnTx/>
                <a:uFillTx/>
                <a:latin typeface="Arial"/>
                <a:ea typeface="Segoe UI Emoji" panose="020B0502040204020203" pitchFamily="34" charset="0"/>
                <a:cs typeface="+mj-cs"/>
              </a:rPr>
              <a:t>?</a:t>
            </a:r>
            <a:br>
              <a:rPr kumimoji="0" lang="en-US" sz="2000" b="0" i="0" u="none" strike="noStrike" kern="1200" cap="none" spc="0" normalizeH="0" noProof="0">
                <a:ln>
                  <a:noFill/>
                </a:ln>
                <a:solidFill>
                  <a:srgbClr val="FFFFFF"/>
                </a:solidFill>
                <a:effectLst/>
                <a:uLnTx/>
                <a:uFillTx/>
                <a:latin typeface="Arial"/>
                <a:ea typeface="Segoe UI Emoji" panose="020B0502040204020203" pitchFamily="34" charset="0"/>
                <a:cs typeface="+mj-cs"/>
              </a:rPr>
            </a:br>
            <a:r>
              <a:rPr lang="en-US" sz="2000">
                <a:solidFill>
                  <a:srgbClr val="FFFFFF"/>
                </a:solidFill>
                <a:latin typeface="Arial"/>
              </a:rPr>
              <a:t>Tungsten alloys can be as hard as Sapphire! that's really hard!</a:t>
            </a:r>
            <a:br>
              <a:rPr lang="en-US" sz="2000">
                <a:solidFill>
                  <a:srgbClr val="FFFFFF"/>
                </a:solidFill>
                <a:latin typeface="Arial"/>
              </a:rPr>
            </a:br>
            <a:br>
              <a:rPr lang="en-US" sz="2000">
                <a:solidFill>
                  <a:srgbClr val="FFFFFF"/>
                </a:solidFill>
                <a:latin typeface="Arial"/>
              </a:rPr>
            </a:br>
            <a:r>
              <a:rPr lang="en-US" sz="2000"/>
              <a:t>did you know the density of Tungsten is 19.25 g/cm</a:t>
            </a:r>
            <a:r>
              <a:rPr lang="en-US" sz="2000" baseline="30000"/>
              <a:t>3</a:t>
            </a:r>
            <a:r>
              <a:rPr lang="en-US" sz="2000"/>
              <a:t>?</a:t>
            </a:r>
            <a:br>
              <a:rPr lang="en-US" sz="2000"/>
            </a:br>
            <a:r>
              <a:rPr lang="en-US" sz="2000"/>
              <a:t>that's really </a:t>
            </a:r>
            <a:r>
              <a:rPr lang="en-US" sz="2000" b="1"/>
              <a:t>dense</a:t>
            </a:r>
            <a:r>
              <a:rPr lang="en-US" sz="2000"/>
              <a:t>!—almost as dense as gold! (Gold is 19.32</a:t>
            </a:r>
            <a:r>
              <a:rPr kumimoji="0" lang="en-US" sz="2000" b="0" i="0" u="none" strike="noStrike" kern="1200" cap="none" spc="0" normalizeH="0" baseline="0" noProof="0">
                <a:ln>
                  <a:noFill/>
                </a:ln>
                <a:solidFill>
                  <a:srgbClr val="FFFFFF"/>
                </a:solidFill>
                <a:effectLst/>
                <a:uLnTx/>
                <a:uFillTx/>
                <a:latin typeface="Arial"/>
                <a:ea typeface="Segoe UI Emoji" panose="020B0502040204020203" pitchFamily="34" charset="0"/>
                <a:cs typeface="+mj-cs"/>
              </a:rPr>
              <a:t> g/cm</a:t>
            </a:r>
            <a:r>
              <a:rPr kumimoji="0" lang="en-US" sz="2000" b="0" i="0" u="none" strike="noStrike" kern="1200" cap="none" spc="0" normalizeH="0" baseline="30000" noProof="0">
                <a:ln>
                  <a:noFill/>
                </a:ln>
                <a:solidFill>
                  <a:srgbClr val="FFFFFF"/>
                </a:solidFill>
                <a:effectLst/>
                <a:uLnTx/>
                <a:uFillTx/>
                <a:latin typeface="Arial"/>
                <a:ea typeface="Segoe UI Emoji" panose="020B0502040204020203" pitchFamily="34" charset="0"/>
                <a:cs typeface="+mj-cs"/>
              </a:rPr>
              <a:t>3</a:t>
            </a:r>
            <a:r>
              <a:rPr kumimoji="0" lang="en-US" sz="2000" b="0" i="0" u="none" strike="noStrike" kern="1200" cap="none" spc="0" normalizeH="0" noProof="0">
                <a:ln>
                  <a:noFill/>
                </a:ln>
                <a:solidFill>
                  <a:srgbClr val="FFFFFF"/>
                </a:solidFill>
                <a:effectLst/>
                <a:uLnTx/>
                <a:uFillTx/>
                <a:latin typeface="Arial"/>
                <a:ea typeface="Segoe UI Emoji" panose="020B0502040204020203" pitchFamily="34" charset="0"/>
                <a:cs typeface="+mj-cs"/>
              </a:rPr>
              <a:t>)</a:t>
            </a:r>
            <a:br>
              <a:rPr lang="en-US" sz="2000">
                <a:solidFill>
                  <a:srgbClr val="FFFFFF"/>
                </a:solidFill>
                <a:latin typeface="Arial"/>
              </a:rPr>
            </a:br>
            <a:br>
              <a:rPr lang="en-US" sz="2000">
                <a:solidFill>
                  <a:srgbClr val="FFFFFF"/>
                </a:solidFill>
                <a:latin typeface="Arial"/>
              </a:rPr>
            </a:br>
            <a:r>
              <a:rPr lang="en-US" sz="2000">
                <a:solidFill>
                  <a:srgbClr val="FFFFFF"/>
                </a:solidFill>
                <a:latin typeface="Arial"/>
              </a:rPr>
              <a:t>Tungsten is not suuper cheap (cube from the Amazon.com was $60) but Tungsten is also not like...</a:t>
            </a:r>
            <a:r>
              <a:rPr lang="en-US" sz="2000" i="1">
                <a:solidFill>
                  <a:srgbClr val="FFFFFF"/>
                </a:solidFill>
                <a:latin typeface="Arial"/>
              </a:rPr>
              <a:t>expensive</a:t>
            </a:r>
            <a:br>
              <a:rPr lang="en-US" sz="2000">
                <a:solidFill>
                  <a:srgbClr val="FFFFFF"/>
                </a:solidFill>
                <a:latin typeface="Arial"/>
              </a:rPr>
            </a:br>
            <a:br>
              <a:rPr lang="en-US" sz="2000">
                <a:solidFill>
                  <a:srgbClr val="FFFFFF"/>
                </a:solidFill>
                <a:latin typeface="Arial"/>
              </a:rPr>
            </a:br>
            <a:r>
              <a:rPr lang="en-US" sz="2800">
                <a:solidFill>
                  <a:srgbClr val="FFB02E"/>
                </a:solidFill>
                <a:latin typeface="Arial"/>
              </a:rPr>
              <a:t>what could YOU do with Tungsten?</a:t>
            </a:r>
            <a:endParaRPr lang="en-US" sz="8000">
              <a:solidFill>
                <a:srgbClr val="FFB02E"/>
              </a:solidFill>
            </a:endParaRPr>
          </a:p>
        </p:txBody>
      </p:sp>
    </p:spTree>
    <p:extLst>
      <p:ext uri="{BB962C8B-B14F-4D97-AF65-F5344CB8AC3E}">
        <p14:creationId xmlns:p14="http://schemas.microsoft.com/office/powerpoint/2010/main" val="1303444737"/>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arbide End Mills - Union Tool Europe S.A.">
            <a:extLst>
              <a:ext uri="{FF2B5EF4-FFF2-40B4-BE49-F238E27FC236}">
                <a16:creationId xmlns:a16="http://schemas.microsoft.com/office/drawing/2014/main" id="{33F82B9C-506E-D53A-F0CD-0698F5F83E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963" y="0"/>
            <a:ext cx="7712075"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981659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undefined">
            <a:extLst>
              <a:ext uri="{FF2B5EF4-FFF2-40B4-BE49-F238E27FC236}">
                <a16:creationId xmlns:a16="http://schemas.microsoft.com/office/drawing/2014/main" id="{43DBCF3A-7245-7669-2598-B44BB5B3F8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850" y="0"/>
            <a:ext cx="77343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3515824"/>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tarstreak High Velocity Missile - British Military Weapons">
            <a:extLst>
              <a:ext uri="{FF2B5EF4-FFF2-40B4-BE49-F238E27FC236}">
                <a16:creationId xmlns:a16="http://schemas.microsoft.com/office/drawing/2014/main" id="{53ACE52D-4BD1-DD8A-84EC-23578C1885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612" y="2571750"/>
            <a:ext cx="3715407" cy="247693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tarstreak - Wikipedia">
            <a:extLst>
              <a:ext uri="{FF2B5EF4-FFF2-40B4-BE49-F238E27FC236}">
                <a16:creationId xmlns:a16="http://schemas.microsoft.com/office/drawing/2014/main" id="{1EF8C813-02AE-BDEE-101A-DBD4D1AB41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486" y="260351"/>
            <a:ext cx="3359533" cy="223142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undefined">
            <a:extLst>
              <a:ext uri="{FF2B5EF4-FFF2-40B4-BE49-F238E27FC236}">
                <a16:creationId xmlns:a16="http://schemas.microsoft.com/office/drawing/2014/main" id="{658E6EDA-EFCB-9C26-F51F-D29E7C13E6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3581292" y="714046"/>
            <a:ext cx="4953876" cy="3715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0251457"/>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ungsten Fake Gold exists : r/Gold">
            <a:extLst>
              <a:ext uri="{FF2B5EF4-FFF2-40B4-BE49-F238E27FC236}">
                <a16:creationId xmlns:a16="http://schemas.microsoft.com/office/drawing/2014/main" id="{634C7A5A-AE53-A5C4-DDD7-3925F0FFCF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2143" y="797803"/>
            <a:ext cx="1996238" cy="354789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6" descr="As gold prices rise, watch out for fake gold bars with tungsten cores, and  other scams. - Owning Gold">
            <a:extLst>
              <a:ext uri="{FF2B5EF4-FFF2-40B4-BE49-F238E27FC236}">
                <a16:creationId xmlns:a16="http://schemas.microsoft.com/office/drawing/2014/main" id="{514E9DC4-AFD5-C0D0-6A9D-F70383D474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619" y="535411"/>
            <a:ext cx="3335951" cy="215724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Buyer beware. : r/Gold">
            <a:extLst>
              <a:ext uri="{FF2B5EF4-FFF2-40B4-BE49-F238E27FC236}">
                <a16:creationId xmlns:a16="http://schemas.microsoft.com/office/drawing/2014/main" id="{84058EFB-89F7-4A74-1047-F624E67D4A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2542" y="220630"/>
            <a:ext cx="2962275" cy="278680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 tungsten filled counterfiet American Gold Eagle. The coin weighs the  correct amount, because gold and tungsten have a similar density. :  r/Silverbugs">
            <a:extLst>
              <a:ext uri="{FF2B5EF4-FFF2-40B4-BE49-F238E27FC236}">
                <a16:creationId xmlns:a16="http://schemas.microsoft.com/office/drawing/2014/main" id="{6C1A5D26-D6D0-0374-018D-CA193739B9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9705" y="2819316"/>
            <a:ext cx="2962275" cy="222170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1B4996C6-7B55-FE9B-A6AB-3495354BDE6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62542" y="3099650"/>
            <a:ext cx="2962274" cy="2221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85527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60000"/>
                <a:lumOff val="40000"/>
              </a:schemeClr>
            </a:gs>
            <a:gs pos="100000">
              <a:schemeClr val="accent1">
                <a:lumMod val="45000"/>
                <a:lumOff val="55000"/>
              </a:schemeClr>
            </a:gs>
          </a:gsLst>
          <a:lin ang="5400000" scaled="1"/>
        </a:gradFill>
        <a:effectLst/>
      </p:bgPr>
    </p:bg>
    <p:spTree>
      <p:nvGrpSpPr>
        <p:cNvPr id="1" name="">
          <a:extLst>
            <a:ext uri="{FF2B5EF4-FFF2-40B4-BE49-F238E27FC236}">
              <a16:creationId xmlns:a16="http://schemas.microsoft.com/office/drawing/2014/main" id="{C54CD876-FBBF-54B5-C884-F4058528104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58FFF65-3FB5-03DA-FE47-7FB4D4FE1E51}"/>
              </a:ext>
            </a:extLst>
          </p:cNvPr>
          <p:cNvSpPr>
            <a:spLocks noGrp="1"/>
          </p:cNvSpPr>
          <p:nvPr>
            <p:ph type="title"/>
          </p:nvPr>
        </p:nvSpPr>
        <p:spPr>
          <a:xfrm>
            <a:off x="457200" y="254916"/>
            <a:ext cx="8229600" cy="1893924"/>
          </a:xfrm>
        </p:spPr>
        <p:txBody>
          <a:bodyPr/>
          <a:lstStyle/>
          <a:p>
            <a:r>
              <a:rPr lang="en-US" sz="8800"/>
              <a:t>Week05</a:t>
            </a:r>
          </a:p>
        </p:txBody>
      </p:sp>
      <p:sp>
        <p:nvSpPr>
          <p:cNvPr id="6" name="Content Placeholder 5">
            <a:extLst>
              <a:ext uri="{FF2B5EF4-FFF2-40B4-BE49-F238E27FC236}">
                <a16:creationId xmlns:a16="http://schemas.microsoft.com/office/drawing/2014/main" id="{DE9A058F-EA5E-25FA-CB06-22152D616A8D}"/>
              </a:ext>
            </a:extLst>
          </p:cNvPr>
          <p:cNvSpPr>
            <a:spLocks noGrp="1"/>
          </p:cNvSpPr>
          <p:nvPr>
            <p:ph sz="quarter" idx="10"/>
          </p:nvPr>
        </p:nvSpPr>
        <p:spPr>
          <a:xfrm>
            <a:off x="457200" y="1849514"/>
            <a:ext cx="8229600" cy="2894013"/>
          </a:xfrm>
        </p:spPr>
        <p:txBody>
          <a:bodyPr>
            <a:noAutofit/>
          </a:bodyPr>
          <a:lstStyle/>
          <a:p>
            <a:r>
              <a:rPr lang="en-US" sz="4000"/>
              <a:t>stacks</a:t>
            </a:r>
          </a:p>
          <a:p>
            <a:r>
              <a:rPr lang="en-US" sz="4000"/>
              <a:t>queues</a:t>
            </a:r>
          </a:p>
        </p:txBody>
      </p:sp>
      <p:sp>
        <p:nvSpPr>
          <p:cNvPr id="3" name="TextBox 2">
            <a:extLst>
              <a:ext uri="{FF2B5EF4-FFF2-40B4-BE49-F238E27FC236}">
                <a16:creationId xmlns:a16="http://schemas.microsoft.com/office/drawing/2014/main" id="{7A775D03-B58E-ABA7-316B-28BFEE596B4E}"/>
              </a:ext>
            </a:extLst>
          </p:cNvPr>
          <p:cNvSpPr txBox="1"/>
          <p:nvPr/>
        </p:nvSpPr>
        <p:spPr>
          <a:xfrm>
            <a:off x="-68668" y="149256"/>
            <a:ext cx="4555307" cy="769441"/>
          </a:xfrm>
          <a:prstGeom prst="rect">
            <a:avLst/>
          </a:prstGeom>
          <a:noFill/>
        </p:spPr>
        <p:txBody>
          <a:bodyPr wrap="square">
            <a:spAutoFit/>
          </a:bodyPr>
          <a:lstStyle/>
          <a:p>
            <a:pPr algn="ctr"/>
            <a:r>
              <a:rPr kumimoji="0" lang="en-US" sz="44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 🦜     🦜🦜</a:t>
            </a:r>
            <a:endParaRPr lang="en-US" sz="4400"/>
          </a:p>
        </p:txBody>
      </p:sp>
      <p:sp>
        <p:nvSpPr>
          <p:cNvPr id="7" name="TextBox 6">
            <a:extLst>
              <a:ext uri="{FF2B5EF4-FFF2-40B4-BE49-F238E27FC236}">
                <a16:creationId xmlns:a16="http://schemas.microsoft.com/office/drawing/2014/main" id="{638B9757-9FEC-9418-C805-A9B0EE218ECD}"/>
              </a:ext>
            </a:extLst>
          </p:cNvPr>
          <p:cNvSpPr txBox="1"/>
          <p:nvPr/>
        </p:nvSpPr>
        <p:spPr>
          <a:xfrm>
            <a:off x="4695833" y="1143178"/>
            <a:ext cx="4336272" cy="3831818"/>
          </a:xfrm>
          <a:prstGeom prst="rect">
            <a:avLst/>
          </a:prstGeom>
          <a:solidFill>
            <a:schemeClr val="bg1"/>
          </a:solidFill>
          <a:ln>
            <a:solidFill>
              <a:schemeClr val="tx1"/>
            </a:solidFill>
          </a:ln>
        </p:spPr>
        <p:txBody>
          <a:bodyPr wrap="square" rtlCol="0">
            <a:spAutoFit/>
          </a:bodyPr>
          <a:lstStyle/>
          <a:p>
            <a:endParaRPr lang="en-US" sz="900">
              <a:latin typeface="Consolas" panose="020B0609020204030204" pitchFamily="49" charset="0"/>
              <a:cs typeface="Consolas" panose="020B0609020204030204" pitchFamily="49" charset="0"/>
            </a:endParaRPr>
          </a:p>
          <a:p>
            <a:endParaRPr lang="en-US" sz="900">
              <a:latin typeface="Consolas" panose="020B0609020204030204" pitchFamily="49" charset="0"/>
              <a:cs typeface="Consolas" panose="020B0609020204030204" pitchFamily="49" charset="0"/>
            </a:endParaRPr>
          </a:p>
          <a:p>
            <a:r>
              <a:rPr lang="en-US" sz="900">
                <a:solidFill>
                  <a:srgbClr val="011893"/>
                </a:solidFill>
                <a:latin typeface="Consolas" panose="020B0609020204030204" pitchFamily="49" charset="0"/>
                <a:cs typeface="Consolas" panose="020B0609020204030204" pitchFamily="49" charset="0"/>
              </a:rPr>
              <a:t>int</a:t>
            </a:r>
            <a:r>
              <a:rPr lang="en-US" sz="900">
                <a:latin typeface="Consolas" panose="020B0609020204030204" pitchFamily="49" charset="0"/>
                <a:cs typeface="Consolas" panose="020B0609020204030204" pitchFamily="49" charset="0"/>
              </a:rPr>
              <a:t>[] array = {</a:t>
            </a:r>
            <a:r>
              <a:rPr lang="en-US" sz="900">
                <a:solidFill>
                  <a:srgbClr val="00B6B4"/>
                </a:solidFill>
                <a:latin typeface="Consolas" panose="020B0609020204030204" pitchFamily="49" charset="0"/>
                <a:cs typeface="Consolas" panose="020B0609020204030204" pitchFamily="49" charset="0"/>
              </a:rPr>
              <a:t> 2</a:t>
            </a:r>
            <a:r>
              <a:rPr lang="en-US" sz="900">
                <a:latin typeface="Consolas" panose="020B0609020204030204" pitchFamily="49" charset="0"/>
                <a:cs typeface="Consolas" panose="020B0609020204030204" pitchFamily="49" charset="0"/>
              </a:rPr>
              <a:t>, </a:t>
            </a:r>
            <a:r>
              <a:rPr lang="en-US" sz="900">
                <a:solidFill>
                  <a:srgbClr val="00B6B4"/>
                </a:solidFill>
                <a:latin typeface="Consolas" panose="020B0609020204030204" pitchFamily="49" charset="0"/>
                <a:cs typeface="Consolas" panose="020B0609020204030204" pitchFamily="49" charset="0"/>
              </a:rPr>
              <a:t>3</a:t>
            </a:r>
            <a:r>
              <a:rPr lang="en-US" sz="900">
                <a:latin typeface="Consolas" panose="020B0609020204030204" pitchFamily="49" charset="0"/>
                <a:cs typeface="Consolas" panose="020B0609020204030204" pitchFamily="49" charset="0"/>
              </a:rPr>
              <a:t>, </a:t>
            </a:r>
            <a:r>
              <a:rPr lang="en-US" sz="900">
                <a:solidFill>
                  <a:srgbClr val="00B6B4"/>
                </a:solidFill>
                <a:latin typeface="Consolas" panose="020B0609020204030204" pitchFamily="49" charset="0"/>
                <a:cs typeface="Consolas" panose="020B0609020204030204" pitchFamily="49" charset="0"/>
              </a:rPr>
              <a:t>4</a:t>
            </a:r>
            <a:r>
              <a:rPr lang="en-US" sz="900">
                <a:latin typeface="Consolas" panose="020B0609020204030204" pitchFamily="49" charset="0"/>
                <a:cs typeface="Consolas" panose="020B0609020204030204" pitchFamily="49" charset="0"/>
              </a:rPr>
              <a:t> };</a:t>
            </a:r>
          </a:p>
          <a:p>
            <a:endParaRPr lang="en-US" sz="900">
              <a:latin typeface="Consolas" panose="020B0609020204030204" pitchFamily="49" charset="0"/>
              <a:cs typeface="Consolas" panose="020B0609020204030204" pitchFamily="49" charset="0"/>
            </a:endParaRPr>
          </a:p>
          <a:p>
            <a:r>
              <a:rPr lang="en-US" sz="900">
                <a:solidFill>
                  <a:srgbClr val="011893"/>
                </a:solidFill>
                <a:latin typeface="Consolas" panose="020B0609020204030204" pitchFamily="49" charset="0"/>
                <a:cs typeface="Consolas" panose="020B0609020204030204" pitchFamily="49" charset="0"/>
              </a:rPr>
              <a:t>ArrayList</a:t>
            </a:r>
            <a:r>
              <a:rPr lang="en-US" sz="900">
                <a:latin typeface="Consolas" panose="020B0609020204030204" pitchFamily="49" charset="0"/>
                <a:cs typeface="Consolas" panose="020B0609020204030204" pitchFamily="49" charset="0"/>
              </a:rPr>
              <a:t>&lt;</a:t>
            </a:r>
            <a:r>
              <a:rPr lang="en-US" sz="900">
                <a:solidFill>
                  <a:srgbClr val="011893"/>
                </a:solidFill>
                <a:latin typeface="Consolas" panose="020B0609020204030204" pitchFamily="49" charset="0"/>
                <a:cs typeface="Consolas" panose="020B0609020204030204" pitchFamily="49" charset="0"/>
              </a:rPr>
              <a:t>Integer</a:t>
            </a:r>
            <a:r>
              <a:rPr lang="en-US" sz="900">
                <a:latin typeface="Consolas" panose="020B0609020204030204" pitchFamily="49" charset="0"/>
                <a:cs typeface="Consolas" panose="020B0609020204030204" pitchFamily="49" charset="0"/>
              </a:rPr>
              <a:t>&gt; list = </a:t>
            </a:r>
            <a:r>
              <a:rPr lang="en-US" sz="900">
                <a:solidFill>
                  <a:srgbClr val="0432FF"/>
                </a:solidFill>
                <a:latin typeface="Consolas" panose="020B0609020204030204" pitchFamily="49" charset="0"/>
                <a:cs typeface="Consolas" panose="020B0609020204030204" pitchFamily="49" charset="0"/>
              </a:rPr>
              <a:t>new</a:t>
            </a:r>
            <a:r>
              <a:rPr lang="en-US" sz="900">
                <a:latin typeface="Consolas" panose="020B0609020204030204" pitchFamily="49" charset="0"/>
                <a:cs typeface="Consolas" panose="020B0609020204030204" pitchFamily="49" charset="0"/>
              </a:rPr>
              <a:t> </a:t>
            </a:r>
            <a:r>
              <a:rPr lang="en-US" sz="900">
                <a:solidFill>
                  <a:srgbClr val="011893"/>
                </a:solidFill>
                <a:latin typeface="Consolas" panose="020B0609020204030204" pitchFamily="49" charset="0"/>
                <a:cs typeface="Consolas" panose="020B0609020204030204" pitchFamily="49" charset="0"/>
              </a:rPr>
              <a:t>ArrayList</a:t>
            </a:r>
            <a:r>
              <a:rPr lang="en-US" sz="900">
                <a:latin typeface="Consolas" panose="020B0609020204030204" pitchFamily="49" charset="0"/>
                <a:cs typeface="Consolas" panose="020B0609020204030204" pitchFamily="49" charset="0"/>
              </a:rPr>
              <a:t>&lt;&gt;();</a:t>
            </a:r>
          </a:p>
          <a:p>
            <a:r>
              <a:rPr lang="en-US" sz="900">
                <a:solidFill>
                  <a:srgbClr val="0432FF"/>
                </a:solidFill>
                <a:latin typeface="Consolas" panose="020B0609020204030204" pitchFamily="49" charset="0"/>
                <a:cs typeface="Consolas" panose="020B0609020204030204" pitchFamily="49" charset="0"/>
              </a:rPr>
              <a:t>for</a:t>
            </a:r>
            <a:r>
              <a:rPr lang="en-US" sz="900">
                <a:latin typeface="Consolas" panose="020B0609020204030204" pitchFamily="49" charset="0"/>
                <a:cs typeface="Consolas" panose="020B0609020204030204" pitchFamily="49" charset="0"/>
              </a:rPr>
              <a:t> (</a:t>
            </a:r>
            <a:r>
              <a:rPr lang="en-US" sz="900">
                <a:solidFill>
                  <a:srgbClr val="011893"/>
                </a:solidFill>
                <a:latin typeface="Consolas" panose="020B0609020204030204" pitchFamily="49" charset="0"/>
                <a:cs typeface="Consolas" panose="020B0609020204030204" pitchFamily="49" charset="0"/>
              </a:rPr>
              <a:t>int</a:t>
            </a:r>
            <a:r>
              <a:rPr lang="en-US" sz="900">
                <a:latin typeface="Consolas" panose="020B0609020204030204" pitchFamily="49" charset="0"/>
                <a:cs typeface="Consolas" panose="020B0609020204030204" pitchFamily="49" charset="0"/>
              </a:rPr>
              <a:t> i = </a:t>
            </a:r>
            <a:r>
              <a:rPr lang="en-US" sz="900">
                <a:solidFill>
                  <a:srgbClr val="00B6B4"/>
                </a:solidFill>
                <a:latin typeface="Consolas" panose="020B0609020204030204" pitchFamily="49" charset="0"/>
                <a:cs typeface="Consolas" panose="020B0609020204030204" pitchFamily="49" charset="0"/>
              </a:rPr>
              <a:t>0</a:t>
            </a:r>
            <a:r>
              <a:rPr lang="en-US" sz="900">
                <a:latin typeface="Consolas" panose="020B0609020204030204" pitchFamily="49" charset="0"/>
                <a:cs typeface="Consolas" panose="020B0609020204030204" pitchFamily="49" charset="0"/>
              </a:rPr>
              <a:t>; i &lt; array.length; ++i) {</a:t>
            </a:r>
          </a:p>
          <a:p>
            <a:r>
              <a:rPr lang="en-US" sz="900">
                <a:latin typeface="Consolas" panose="020B0609020204030204" pitchFamily="49" charset="0"/>
                <a:cs typeface="Consolas" panose="020B0609020204030204" pitchFamily="49" charset="0"/>
              </a:rPr>
              <a:t>    </a:t>
            </a:r>
            <a:r>
              <a:rPr lang="en-US" sz="900">
                <a:solidFill>
                  <a:srgbClr val="0432FF"/>
                </a:solidFill>
                <a:latin typeface="Consolas" panose="020B0609020204030204" pitchFamily="49" charset="0"/>
                <a:cs typeface="Consolas" panose="020B0609020204030204" pitchFamily="49" charset="0"/>
              </a:rPr>
              <a:t>for</a:t>
            </a:r>
            <a:r>
              <a:rPr lang="en-US" sz="900">
                <a:latin typeface="Consolas" panose="020B0609020204030204" pitchFamily="49" charset="0"/>
                <a:cs typeface="Consolas" panose="020B0609020204030204" pitchFamily="49" charset="0"/>
              </a:rPr>
              <a:t> (</a:t>
            </a:r>
            <a:r>
              <a:rPr lang="en-US" sz="900">
                <a:solidFill>
                  <a:srgbClr val="011893"/>
                </a:solidFill>
                <a:latin typeface="Consolas" panose="020B0609020204030204" pitchFamily="49" charset="0"/>
                <a:cs typeface="Consolas" panose="020B0609020204030204" pitchFamily="49" charset="0"/>
              </a:rPr>
              <a:t>int</a:t>
            </a:r>
            <a:r>
              <a:rPr lang="en-US" sz="900">
                <a:latin typeface="Consolas" panose="020B0609020204030204" pitchFamily="49" charset="0"/>
                <a:cs typeface="Consolas" panose="020B0609020204030204" pitchFamily="49" charset="0"/>
              </a:rPr>
              <a:t> repetition = </a:t>
            </a:r>
            <a:r>
              <a:rPr lang="en-US" sz="900">
                <a:solidFill>
                  <a:srgbClr val="00B6B4"/>
                </a:solidFill>
                <a:latin typeface="Consolas" panose="020B0609020204030204" pitchFamily="49" charset="0"/>
                <a:cs typeface="Consolas" panose="020B0609020204030204" pitchFamily="49" charset="0"/>
              </a:rPr>
              <a:t>0</a:t>
            </a:r>
            <a:r>
              <a:rPr lang="en-US" sz="900">
                <a:latin typeface="Consolas" panose="020B0609020204030204" pitchFamily="49" charset="0"/>
                <a:cs typeface="Consolas" panose="020B0609020204030204" pitchFamily="49" charset="0"/>
              </a:rPr>
              <a:t>; repetition &lt; </a:t>
            </a:r>
            <a:r>
              <a:rPr lang="en-US" sz="900">
                <a:solidFill>
                  <a:srgbClr val="00B6B4"/>
                </a:solidFill>
                <a:latin typeface="Consolas" panose="020B0609020204030204" pitchFamily="49" charset="0"/>
                <a:cs typeface="Consolas" panose="020B0609020204030204" pitchFamily="49" charset="0"/>
              </a:rPr>
              <a:t>3</a:t>
            </a:r>
            <a:r>
              <a:rPr lang="en-US" sz="900">
                <a:latin typeface="Consolas" panose="020B0609020204030204" pitchFamily="49" charset="0"/>
                <a:cs typeface="Consolas" panose="020B0609020204030204" pitchFamily="49" charset="0"/>
              </a:rPr>
              <a:t>; ++repetition) {</a:t>
            </a:r>
          </a:p>
          <a:p>
            <a:r>
              <a:rPr lang="en-US" sz="900">
                <a:latin typeface="Consolas" panose="020B0609020204030204" pitchFamily="49" charset="0"/>
                <a:cs typeface="Consolas" panose="020B0609020204030204" pitchFamily="49" charset="0"/>
              </a:rPr>
              <a:t>          list.add(array[i]);</a:t>
            </a:r>
          </a:p>
          <a:p>
            <a:r>
              <a:rPr lang="en-US" sz="900">
                <a:latin typeface="Consolas" panose="020B0609020204030204" pitchFamily="49" charset="0"/>
                <a:cs typeface="Consolas" panose="020B0609020204030204" pitchFamily="49" charset="0"/>
              </a:rPr>
              <a:t>    }</a:t>
            </a:r>
          </a:p>
          <a:p>
            <a:r>
              <a:rPr lang="en-US" sz="900">
                <a:latin typeface="Consolas" panose="020B0609020204030204" pitchFamily="49" charset="0"/>
                <a:cs typeface="Consolas" panose="020B0609020204030204" pitchFamily="49" charset="0"/>
              </a:rPr>
              <a:t>}</a:t>
            </a:r>
          </a:p>
          <a:p>
            <a:endParaRPr lang="en-US" sz="900">
              <a:latin typeface="Consolas" panose="020B0609020204030204" pitchFamily="49" charset="0"/>
              <a:cs typeface="Consolas" panose="020B0609020204030204" pitchFamily="49" charset="0"/>
            </a:endParaRPr>
          </a:p>
          <a:p>
            <a:r>
              <a:rPr lang="en-US" sz="900">
                <a:latin typeface="Consolas" panose="020B0609020204030204" pitchFamily="49" charset="0"/>
                <a:cs typeface="Consolas" panose="020B0609020204030204" pitchFamily="49" charset="0"/>
              </a:rPr>
              <a:t>PRINT(list); </a:t>
            </a:r>
            <a:r>
              <a:rPr lang="en-US" sz="900" b="1">
                <a:solidFill>
                  <a:srgbClr val="007B00"/>
                </a:solidFill>
                <a:highlight>
                  <a:srgbClr val="FFFF00"/>
                </a:highlight>
                <a:latin typeface="Consolas" panose="020B0609020204030204" pitchFamily="49" charset="0"/>
                <a:cs typeface="Consolas" panose="020B0609020204030204" pitchFamily="49" charset="0"/>
              </a:rPr>
              <a:t>// What does this print?</a:t>
            </a:r>
            <a:endParaRPr lang="en-US" sz="900">
              <a:latin typeface="Consolas" panose="020B0609020204030204" pitchFamily="49" charset="0"/>
              <a:cs typeface="Consolas" panose="020B0609020204030204" pitchFamily="49" charset="0"/>
            </a:endParaRPr>
          </a:p>
          <a:p>
            <a:endParaRPr lang="en-US" sz="900">
              <a:latin typeface="Consolas" panose="020B0609020204030204" pitchFamily="49" charset="0"/>
              <a:cs typeface="Consolas" panose="020B0609020204030204" pitchFamily="49" charset="0"/>
            </a:endParaRPr>
          </a:p>
          <a:p>
            <a:r>
              <a:rPr lang="en-US" sz="900">
                <a:solidFill>
                  <a:srgbClr val="0432FF"/>
                </a:solidFill>
                <a:latin typeface="Consolas" panose="020B0609020204030204" pitchFamily="49" charset="0"/>
                <a:cs typeface="Consolas" panose="020B0609020204030204" pitchFamily="49" charset="0"/>
              </a:rPr>
              <a:t>for</a:t>
            </a:r>
            <a:r>
              <a:rPr lang="en-US" sz="900">
                <a:latin typeface="Consolas" panose="020B0609020204030204" pitchFamily="49" charset="0"/>
                <a:cs typeface="Consolas" panose="020B0609020204030204" pitchFamily="49" charset="0"/>
              </a:rPr>
              <a:t> (</a:t>
            </a:r>
            <a:r>
              <a:rPr lang="en-US" sz="900">
                <a:solidFill>
                  <a:srgbClr val="011893"/>
                </a:solidFill>
                <a:latin typeface="Consolas" panose="020B0609020204030204" pitchFamily="49" charset="0"/>
                <a:cs typeface="Consolas" panose="020B0609020204030204" pitchFamily="49" charset="0"/>
              </a:rPr>
              <a:t>int</a:t>
            </a:r>
            <a:r>
              <a:rPr lang="en-US" sz="900">
                <a:latin typeface="Consolas" panose="020B0609020204030204" pitchFamily="49" charset="0"/>
                <a:cs typeface="Consolas" panose="020B0609020204030204" pitchFamily="49" charset="0"/>
              </a:rPr>
              <a:t> i = </a:t>
            </a:r>
            <a:r>
              <a:rPr lang="en-US" sz="900">
                <a:solidFill>
                  <a:srgbClr val="00B6B4"/>
                </a:solidFill>
                <a:latin typeface="Consolas" panose="020B0609020204030204" pitchFamily="49" charset="0"/>
                <a:cs typeface="Consolas" panose="020B0609020204030204" pitchFamily="49" charset="0"/>
              </a:rPr>
              <a:t>0</a:t>
            </a:r>
            <a:r>
              <a:rPr lang="en-US" sz="900">
                <a:latin typeface="Consolas" panose="020B0609020204030204" pitchFamily="49" charset="0"/>
                <a:cs typeface="Consolas" panose="020B0609020204030204" pitchFamily="49" charset="0"/>
              </a:rPr>
              <a:t>; i &lt; list.size() /</a:t>
            </a:r>
            <a:r>
              <a:rPr lang="en-US" sz="900">
                <a:solidFill>
                  <a:srgbClr val="00B6B4"/>
                </a:solidFill>
                <a:latin typeface="Consolas" panose="020B0609020204030204" pitchFamily="49" charset="0"/>
                <a:cs typeface="Consolas" panose="020B0609020204030204" pitchFamily="49" charset="0"/>
              </a:rPr>
              <a:t> 2</a:t>
            </a:r>
            <a:r>
              <a:rPr lang="en-US" sz="900">
                <a:latin typeface="Consolas" panose="020B0609020204030204" pitchFamily="49" charset="0"/>
                <a:cs typeface="Consolas" panose="020B0609020204030204" pitchFamily="49" charset="0"/>
              </a:rPr>
              <a:t>; ++i) {</a:t>
            </a:r>
          </a:p>
          <a:p>
            <a:r>
              <a:rPr lang="en-US" sz="900">
                <a:latin typeface="Consolas" panose="020B0609020204030204" pitchFamily="49" charset="0"/>
                <a:cs typeface="Consolas" panose="020B0609020204030204" pitchFamily="49" charset="0"/>
              </a:rPr>
              <a:t>     </a:t>
            </a:r>
            <a:r>
              <a:rPr lang="en-US" sz="900">
                <a:solidFill>
                  <a:srgbClr val="011893"/>
                </a:solidFill>
                <a:latin typeface="Consolas" panose="020B0609020204030204" pitchFamily="49" charset="0"/>
                <a:cs typeface="Consolas" panose="020B0609020204030204" pitchFamily="49" charset="0"/>
              </a:rPr>
              <a:t>int</a:t>
            </a:r>
            <a:r>
              <a:rPr lang="en-US" sz="900">
                <a:latin typeface="Consolas" panose="020B0609020204030204" pitchFamily="49" charset="0"/>
                <a:cs typeface="Consolas" panose="020B0609020204030204" pitchFamily="49" charset="0"/>
              </a:rPr>
              <a:t> j = (list.size() - </a:t>
            </a:r>
            <a:r>
              <a:rPr lang="en-US" sz="900">
                <a:solidFill>
                  <a:srgbClr val="00B6B4"/>
                </a:solidFill>
                <a:latin typeface="Consolas" panose="020B0609020204030204" pitchFamily="49" charset="0"/>
                <a:cs typeface="Consolas" panose="020B0609020204030204" pitchFamily="49" charset="0"/>
              </a:rPr>
              <a:t>1</a:t>
            </a:r>
            <a:r>
              <a:rPr lang="en-US" sz="900">
                <a:latin typeface="Consolas" panose="020B0609020204030204" pitchFamily="49" charset="0"/>
                <a:cs typeface="Consolas" panose="020B0609020204030204" pitchFamily="49" charset="0"/>
              </a:rPr>
              <a:t>) - i;</a:t>
            </a:r>
          </a:p>
          <a:p>
            <a:r>
              <a:rPr lang="en-US" sz="900">
                <a:latin typeface="Consolas" panose="020B0609020204030204" pitchFamily="49" charset="0"/>
                <a:cs typeface="Consolas" panose="020B0609020204030204" pitchFamily="49" charset="0"/>
              </a:rPr>
              <a:t>     </a:t>
            </a:r>
            <a:r>
              <a:rPr lang="en-US" sz="900">
                <a:solidFill>
                  <a:srgbClr val="011893"/>
                </a:solidFill>
                <a:latin typeface="Consolas" panose="020B0609020204030204" pitchFamily="49" charset="0"/>
                <a:cs typeface="Consolas" panose="020B0609020204030204" pitchFamily="49" charset="0"/>
              </a:rPr>
              <a:t>int</a:t>
            </a:r>
            <a:r>
              <a:rPr lang="en-US" sz="900">
                <a:latin typeface="Consolas" panose="020B0609020204030204" pitchFamily="49" charset="0"/>
                <a:cs typeface="Consolas" panose="020B0609020204030204" pitchFamily="49" charset="0"/>
              </a:rPr>
              <a:t> tmp = list.get(i);</a:t>
            </a:r>
          </a:p>
          <a:p>
            <a:r>
              <a:rPr lang="en-US" sz="900">
                <a:latin typeface="Consolas" panose="020B0609020204030204" pitchFamily="49" charset="0"/>
                <a:cs typeface="Consolas" panose="020B0609020204030204" pitchFamily="49" charset="0"/>
              </a:rPr>
              <a:t>     list.set(i, list.get(j));</a:t>
            </a:r>
          </a:p>
          <a:p>
            <a:r>
              <a:rPr lang="en-US" sz="900">
                <a:latin typeface="Consolas" panose="020B0609020204030204" pitchFamily="49" charset="0"/>
                <a:cs typeface="Consolas" panose="020B0609020204030204" pitchFamily="49" charset="0"/>
              </a:rPr>
              <a:t>     list.set(j, tmp);</a:t>
            </a:r>
          </a:p>
          <a:p>
            <a:r>
              <a:rPr lang="en-US" sz="900">
                <a:latin typeface="Consolas" panose="020B0609020204030204" pitchFamily="49" charset="0"/>
                <a:cs typeface="Consolas" panose="020B0609020204030204" pitchFamily="49" charset="0"/>
              </a:rPr>
              <a:t>}</a:t>
            </a:r>
          </a:p>
          <a:p>
            <a:endParaRPr lang="en-US" sz="900">
              <a:latin typeface="Consolas" panose="020B0609020204030204" pitchFamily="49" charset="0"/>
              <a:cs typeface="Consolas" panose="020B0609020204030204" pitchFamily="49" charset="0"/>
            </a:endParaRPr>
          </a:p>
          <a:p>
            <a:r>
              <a:rPr lang="en-US" sz="900">
                <a:latin typeface="Consolas" panose="020B0609020204030204" pitchFamily="49" charset="0"/>
                <a:cs typeface="Consolas" panose="020B0609020204030204" pitchFamily="49" charset="0"/>
              </a:rPr>
              <a:t>PRINT(list); </a:t>
            </a:r>
            <a:r>
              <a:rPr lang="en-US" sz="900" b="1">
                <a:solidFill>
                  <a:srgbClr val="007B00"/>
                </a:solidFill>
                <a:highlight>
                  <a:srgbClr val="FFFF00"/>
                </a:highlight>
                <a:latin typeface="Consolas" panose="020B0609020204030204" pitchFamily="49" charset="0"/>
                <a:cs typeface="Consolas" panose="020B0609020204030204" pitchFamily="49" charset="0"/>
              </a:rPr>
              <a:t>// What does this print?</a:t>
            </a:r>
            <a:endParaRPr lang="en-US" sz="900">
              <a:latin typeface="Consolas" panose="020B0609020204030204" pitchFamily="49" charset="0"/>
              <a:cs typeface="Consolas" panose="020B0609020204030204" pitchFamily="49" charset="0"/>
            </a:endParaRPr>
          </a:p>
          <a:p>
            <a:endParaRPr lang="en-US" sz="900">
              <a:latin typeface="Consolas" panose="020B0609020204030204" pitchFamily="49" charset="0"/>
              <a:cs typeface="Consolas" panose="020B0609020204030204" pitchFamily="49" charset="0"/>
            </a:endParaRPr>
          </a:p>
          <a:p>
            <a:r>
              <a:rPr lang="en-US" sz="900">
                <a:latin typeface="Consolas" panose="020B0609020204030204" pitchFamily="49" charset="0"/>
                <a:cs typeface="Consolas" panose="020B0609020204030204" pitchFamily="49" charset="0"/>
              </a:rPr>
              <a:t>for (</a:t>
            </a:r>
            <a:r>
              <a:rPr lang="en-US" sz="900">
                <a:solidFill>
                  <a:srgbClr val="011893"/>
                </a:solidFill>
                <a:latin typeface="Consolas" panose="020B0609020204030204" pitchFamily="49" charset="0"/>
                <a:cs typeface="Consolas" panose="020B0609020204030204" pitchFamily="49" charset="0"/>
              </a:rPr>
              <a:t>int</a:t>
            </a:r>
            <a:r>
              <a:rPr lang="en-US" sz="900">
                <a:latin typeface="Consolas" panose="020B0609020204030204" pitchFamily="49" charset="0"/>
                <a:cs typeface="Consolas" panose="020B0609020204030204" pitchFamily="49" charset="0"/>
              </a:rPr>
              <a:t> i = </a:t>
            </a:r>
            <a:r>
              <a:rPr lang="en-US" sz="900">
                <a:solidFill>
                  <a:srgbClr val="00B6B4"/>
                </a:solidFill>
                <a:latin typeface="Consolas" panose="020B0609020204030204" pitchFamily="49" charset="0"/>
                <a:cs typeface="Consolas" panose="020B0609020204030204" pitchFamily="49" charset="0"/>
              </a:rPr>
              <a:t>0</a:t>
            </a:r>
            <a:r>
              <a:rPr lang="en-US" sz="900">
                <a:latin typeface="Consolas" panose="020B0609020204030204" pitchFamily="49" charset="0"/>
                <a:cs typeface="Consolas" panose="020B0609020204030204" pitchFamily="49" charset="0"/>
              </a:rPr>
              <a:t>; i &lt; list.size(); ++i) {</a:t>
            </a:r>
          </a:p>
          <a:p>
            <a:r>
              <a:rPr lang="en-US" sz="900">
                <a:latin typeface="Consolas" panose="020B0609020204030204" pitchFamily="49" charset="0"/>
                <a:cs typeface="Consolas" panose="020B0609020204030204" pitchFamily="49" charset="0"/>
              </a:rPr>
              <a:t>     list.set(i, list.get(list.get(i)));</a:t>
            </a:r>
            <a:r>
              <a:rPr lang="en-US" sz="900" b="1">
                <a:solidFill>
                  <a:srgbClr val="007B00"/>
                </a:solidFill>
                <a:latin typeface="Consolas" panose="020B0609020204030204" pitchFamily="49" charset="0"/>
                <a:cs typeface="Consolas" panose="020B0609020204030204" pitchFamily="49" charset="0"/>
              </a:rPr>
              <a:t> </a:t>
            </a:r>
            <a:r>
              <a:rPr lang="en-US" sz="900" b="1">
                <a:solidFill>
                  <a:srgbClr val="007B00"/>
                </a:solidFill>
                <a:highlight>
                  <a:srgbClr val="00FFFF"/>
                </a:highlight>
                <a:latin typeface="Consolas" panose="020B0609020204030204" pitchFamily="49" charset="0"/>
                <a:cs typeface="Consolas" panose="020B0609020204030204" pitchFamily="49" charset="0"/>
              </a:rPr>
              <a:t>// &lt;- Read carefully!</a:t>
            </a:r>
          </a:p>
          <a:p>
            <a:r>
              <a:rPr lang="en-US" sz="900">
                <a:latin typeface="Consolas" panose="020B0609020204030204" pitchFamily="49" charset="0"/>
                <a:cs typeface="Consolas" panose="020B0609020204030204" pitchFamily="49" charset="0"/>
              </a:rPr>
              <a:t>}</a:t>
            </a:r>
          </a:p>
          <a:p>
            <a:endParaRPr lang="en-US" sz="900">
              <a:latin typeface="Consolas" panose="020B0609020204030204" pitchFamily="49" charset="0"/>
              <a:cs typeface="Consolas" panose="020B0609020204030204" pitchFamily="49" charset="0"/>
            </a:endParaRPr>
          </a:p>
          <a:p>
            <a:r>
              <a:rPr lang="en-US" sz="900">
                <a:latin typeface="Consolas" panose="020B0609020204030204" pitchFamily="49" charset="0"/>
                <a:cs typeface="Consolas" panose="020B0609020204030204" pitchFamily="49" charset="0"/>
              </a:rPr>
              <a:t>PRINT(list); </a:t>
            </a:r>
            <a:r>
              <a:rPr lang="en-US" sz="900" b="1">
                <a:solidFill>
                  <a:srgbClr val="007B00"/>
                </a:solidFill>
                <a:highlight>
                  <a:srgbClr val="FFFF00"/>
                </a:highlight>
                <a:latin typeface="Consolas" panose="020B0609020204030204" pitchFamily="49" charset="0"/>
                <a:cs typeface="Consolas" panose="020B0609020204030204" pitchFamily="49" charset="0"/>
              </a:rPr>
              <a:t>// What does this print?</a:t>
            </a:r>
          </a:p>
        </p:txBody>
      </p:sp>
      <p:sp>
        <p:nvSpPr>
          <p:cNvPr id="13" name="TextBox 12">
            <a:extLst>
              <a:ext uri="{FF2B5EF4-FFF2-40B4-BE49-F238E27FC236}">
                <a16:creationId xmlns:a16="http://schemas.microsoft.com/office/drawing/2014/main" id="{18C9A22E-C27D-C286-2C08-2E38E0803300}"/>
              </a:ext>
            </a:extLst>
          </p:cNvPr>
          <p:cNvSpPr txBox="1"/>
          <p:nvPr/>
        </p:nvSpPr>
        <p:spPr>
          <a:xfrm>
            <a:off x="4356847" y="24396"/>
            <a:ext cx="4650135" cy="461665"/>
          </a:xfrm>
          <a:prstGeom prst="rect">
            <a:avLst/>
          </a:prstGeom>
          <a:noFill/>
        </p:spPr>
        <p:txBody>
          <a:bodyPr wrap="square" rtlCol="0">
            <a:spAutoFit/>
          </a:bodyPr>
          <a:lstStyle/>
          <a:p>
            <a:pPr algn="ctr"/>
            <a:r>
              <a:rPr lang="en-US" sz="2400">
                <a:solidFill>
                  <a:srgbClr val="000000"/>
                </a:solidFill>
                <a:ea typeface="Segoe UI Emoji" panose="020B0502040204020203" pitchFamily="34" charset="0"/>
              </a:rPr>
              <a:t>✨</a:t>
            </a:r>
            <a:r>
              <a:rPr lang="en-US" sz="2400" b="1">
                <a:solidFill>
                  <a:srgbClr val="F80B8D"/>
                </a:solidFill>
              </a:rPr>
              <a:t>No-Laptop Wednesday!</a:t>
            </a:r>
            <a:r>
              <a:rPr lang="en-US" sz="2400">
                <a:solidFill>
                  <a:srgbClr val="000000"/>
                </a:solidFill>
                <a:ea typeface="Segoe UI Emoji" panose="020B0502040204020203" pitchFamily="34" charset="0"/>
              </a:rPr>
              <a:t> ✨</a:t>
            </a:r>
            <a:endParaRPr lang="en-US" sz="2000">
              <a:solidFill>
                <a:srgbClr val="F80B8D"/>
              </a:solidFill>
            </a:endParaRPr>
          </a:p>
        </p:txBody>
      </p:sp>
      <p:sp>
        <p:nvSpPr>
          <p:cNvPr id="9" name="TextBox 8">
            <a:extLst>
              <a:ext uri="{FF2B5EF4-FFF2-40B4-BE49-F238E27FC236}">
                <a16:creationId xmlns:a16="http://schemas.microsoft.com/office/drawing/2014/main" id="{2B03DD8A-B329-650E-C1B7-22D0624D236E}"/>
              </a:ext>
            </a:extLst>
          </p:cNvPr>
          <p:cNvSpPr txBox="1"/>
          <p:nvPr/>
        </p:nvSpPr>
        <p:spPr>
          <a:xfrm>
            <a:off x="2289125" y="722425"/>
            <a:ext cx="454075" cy="369332"/>
          </a:xfrm>
          <a:prstGeom prst="rect">
            <a:avLst/>
          </a:prstGeom>
          <a:noFill/>
        </p:spPr>
        <p:txBody>
          <a:bodyPr wrap="square">
            <a:spAutoFit/>
          </a:bodyPr>
          <a:lstStyle/>
          <a:p>
            <a:r>
              <a:rPr kumimoji="0" lang="en-US" sz="1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a:p>
        </p:txBody>
      </p:sp>
      <p:sp>
        <p:nvSpPr>
          <p:cNvPr id="10" name="TextBox 9">
            <a:extLst>
              <a:ext uri="{FF2B5EF4-FFF2-40B4-BE49-F238E27FC236}">
                <a16:creationId xmlns:a16="http://schemas.microsoft.com/office/drawing/2014/main" id="{284856A4-6840-B2A7-B507-A1ACFCD575E5}"/>
              </a:ext>
            </a:extLst>
          </p:cNvPr>
          <p:cNvSpPr txBox="1"/>
          <p:nvPr/>
        </p:nvSpPr>
        <p:spPr>
          <a:xfrm>
            <a:off x="4421743" y="435292"/>
            <a:ext cx="4650135" cy="707886"/>
          </a:xfrm>
          <a:prstGeom prst="rect">
            <a:avLst/>
          </a:prstGeom>
          <a:noFill/>
        </p:spPr>
        <p:txBody>
          <a:bodyPr wrap="square" rtlCol="0">
            <a:spAutoFit/>
          </a:bodyPr>
          <a:lstStyle/>
          <a:p>
            <a:pPr algn="ctr"/>
            <a:r>
              <a:rPr lang="en-US" sz="2000">
                <a:solidFill>
                  <a:srgbClr val="000000"/>
                </a:solidFill>
                <a:ea typeface="Segoe UI Emoji" panose="020B0502040204020203" pitchFamily="34" charset="0"/>
              </a:rPr>
              <a:t>✨</a:t>
            </a:r>
            <a:r>
              <a:rPr lang="en-US" sz="2000" b="1">
                <a:solidFill>
                  <a:srgbClr val="F80B8D"/>
                </a:solidFill>
                <a:ea typeface="Segoe UI Emoji" panose="020B0502040204020203" pitchFamily="34" charset="0"/>
              </a:rPr>
              <a:t>Lida and Aidan</a:t>
            </a:r>
            <a:r>
              <a:rPr lang="en-US" sz="2000">
                <a:solidFill>
                  <a:srgbClr val="000000"/>
                </a:solidFill>
                <a:ea typeface="Segoe UI Emoji" panose="020B0502040204020203" pitchFamily="34" charset="0"/>
              </a:rPr>
              <a:t>✨</a:t>
            </a:r>
            <a:r>
              <a:rPr lang="en-US" sz="2000" b="1">
                <a:solidFill>
                  <a:srgbClr val="F80B8D"/>
                </a:solidFill>
                <a:ea typeface="Segoe UI Emoji" panose="020B0502040204020203" pitchFamily="34" charset="0"/>
              </a:rPr>
              <a:t> will be covering lecture on  Laptop Friday </a:t>
            </a:r>
            <a:endParaRPr lang="en-US" b="1">
              <a:solidFill>
                <a:srgbClr val="F80B8D"/>
              </a:solidFill>
            </a:endParaRPr>
          </a:p>
        </p:txBody>
      </p:sp>
      <p:sp>
        <p:nvSpPr>
          <p:cNvPr id="12" name="TextBox 11">
            <a:extLst>
              <a:ext uri="{FF2B5EF4-FFF2-40B4-BE49-F238E27FC236}">
                <a16:creationId xmlns:a16="http://schemas.microsoft.com/office/drawing/2014/main" id="{39FDF763-BFAA-0A8A-690A-A98524AA14F6}"/>
              </a:ext>
            </a:extLst>
          </p:cNvPr>
          <p:cNvSpPr txBox="1"/>
          <p:nvPr/>
        </p:nvSpPr>
        <p:spPr>
          <a:xfrm>
            <a:off x="6746810" y="1196519"/>
            <a:ext cx="2560078" cy="400110"/>
          </a:xfrm>
          <a:prstGeom prst="rect">
            <a:avLst/>
          </a:prstGeom>
          <a:noFill/>
        </p:spPr>
        <p:txBody>
          <a:bodyPr wrap="square" rtlCol="0">
            <a:spAutoFit/>
          </a:bodyPr>
          <a:lstStyle/>
          <a:p>
            <a:pPr algn="ctr"/>
            <a:r>
              <a:rPr lang="en-US" sz="2000">
                <a:solidFill>
                  <a:srgbClr val="000000"/>
                </a:solidFill>
                <a:ea typeface="Segoe UI Emoji" panose="020B0502040204020203" pitchFamily="34" charset="0"/>
              </a:rPr>
              <a:t>✨</a:t>
            </a:r>
            <a:r>
              <a:rPr lang="en-US" sz="2000" b="1">
                <a:solidFill>
                  <a:srgbClr val="F80B8D"/>
                </a:solidFill>
                <a:ea typeface="Segoe UI Emoji" panose="020B0502040204020203" pitchFamily="34" charset="0"/>
              </a:rPr>
              <a:t>WARMUP</a:t>
            </a:r>
            <a:r>
              <a:rPr lang="en-US" sz="2000">
                <a:solidFill>
                  <a:srgbClr val="000000"/>
                </a:solidFill>
                <a:ea typeface="Segoe UI Emoji" panose="020B0502040204020203" pitchFamily="34" charset="0"/>
              </a:rPr>
              <a:t>✨</a:t>
            </a:r>
            <a:endParaRPr lang="en-US" b="1">
              <a:solidFill>
                <a:srgbClr val="F80B8D"/>
              </a:solidFill>
            </a:endParaRPr>
          </a:p>
        </p:txBody>
      </p:sp>
      <p:pic>
        <p:nvPicPr>
          <p:cNvPr id="14" name="Picture 13">
            <a:extLst>
              <a:ext uri="{FF2B5EF4-FFF2-40B4-BE49-F238E27FC236}">
                <a16:creationId xmlns:a16="http://schemas.microsoft.com/office/drawing/2014/main" id="{156A5157-4A29-E5FE-621B-598910E64557}"/>
              </a:ext>
            </a:extLst>
          </p:cNvPr>
          <p:cNvPicPr>
            <a:picLocks noChangeAspect="1"/>
          </p:cNvPicPr>
          <p:nvPr/>
        </p:nvPicPr>
        <p:blipFill>
          <a:blip r:embed="rId2"/>
          <a:stretch>
            <a:fillRect/>
          </a:stretch>
        </p:blipFill>
        <p:spPr>
          <a:xfrm>
            <a:off x="457200" y="3442516"/>
            <a:ext cx="4178193" cy="869728"/>
          </a:xfrm>
          <a:prstGeom prst="rect">
            <a:avLst/>
          </a:prstGeom>
          <a:ln>
            <a:solidFill>
              <a:schemeClr val="tx1"/>
            </a:solidFill>
          </a:ln>
        </p:spPr>
      </p:pic>
      <p:cxnSp>
        <p:nvCxnSpPr>
          <p:cNvPr id="16" name="Straight Arrow Connector 15">
            <a:extLst>
              <a:ext uri="{FF2B5EF4-FFF2-40B4-BE49-F238E27FC236}">
                <a16:creationId xmlns:a16="http://schemas.microsoft.com/office/drawing/2014/main" id="{277F85CE-0319-E4BB-8A00-EEDAC7A04427}"/>
              </a:ext>
            </a:extLst>
          </p:cNvPr>
          <p:cNvCxnSpPr/>
          <p:nvPr/>
        </p:nvCxnSpPr>
        <p:spPr>
          <a:xfrm flipV="1">
            <a:off x="863600" y="4206240"/>
            <a:ext cx="0" cy="537287"/>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3C8B3C87-E351-EDFF-4E7D-B2F9A6C7A194}"/>
              </a:ext>
            </a:extLst>
          </p:cNvPr>
          <p:cNvCxnSpPr/>
          <p:nvPr/>
        </p:nvCxnSpPr>
        <p:spPr>
          <a:xfrm flipV="1">
            <a:off x="2092960" y="4200563"/>
            <a:ext cx="0" cy="537287"/>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AE250E21-8645-C12B-30F8-4B10544E4909}"/>
              </a:ext>
            </a:extLst>
          </p:cNvPr>
          <p:cNvCxnSpPr/>
          <p:nvPr/>
        </p:nvCxnSpPr>
        <p:spPr>
          <a:xfrm flipV="1">
            <a:off x="3586480" y="4068483"/>
            <a:ext cx="0" cy="537287"/>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3012123"/>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1DDB927-0DC7-13F7-F829-000AC5F6DA65}"/>
              </a:ext>
            </a:extLst>
          </p:cNvPr>
          <p:cNvSpPr txBox="1"/>
          <p:nvPr/>
        </p:nvSpPr>
        <p:spPr>
          <a:xfrm>
            <a:off x="4695833" y="636742"/>
            <a:ext cx="4336272" cy="4108817"/>
          </a:xfrm>
          <a:prstGeom prst="rect">
            <a:avLst/>
          </a:prstGeom>
          <a:solidFill>
            <a:schemeClr val="bg1"/>
          </a:solidFill>
          <a:ln>
            <a:solidFill>
              <a:schemeClr val="tx1"/>
            </a:solidFill>
          </a:ln>
        </p:spPr>
        <p:txBody>
          <a:bodyPr wrap="square" rtlCol="0">
            <a:spAutoFit/>
          </a:bodyPr>
          <a:lstStyle/>
          <a:p>
            <a:endParaRPr lang="en-US" sz="900">
              <a:latin typeface="Consolas" panose="020B0609020204030204" pitchFamily="49" charset="0"/>
              <a:cs typeface="Consolas" panose="020B0609020204030204" pitchFamily="49" charset="0"/>
            </a:endParaRPr>
          </a:p>
          <a:p>
            <a:endParaRPr lang="en-US" sz="900">
              <a:latin typeface="Consolas" panose="020B0609020204030204" pitchFamily="49" charset="0"/>
              <a:cs typeface="Consolas" panose="020B0609020204030204" pitchFamily="49" charset="0"/>
            </a:endParaRPr>
          </a:p>
          <a:p>
            <a:r>
              <a:rPr lang="en-US" sz="900">
                <a:solidFill>
                  <a:srgbClr val="011893"/>
                </a:solidFill>
                <a:latin typeface="Consolas" panose="020B0609020204030204" pitchFamily="49" charset="0"/>
                <a:cs typeface="Consolas" panose="020B0609020204030204" pitchFamily="49" charset="0"/>
              </a:rPr>
              <a:t>int</a:t>
            </a:r>
            <a:r>
              <a:rPr lang="en-US" sz="900">
                <a:latin typeface="Consolas" panose="020B0609020204030204" pitchFamily="49" charset="0"/>
                <a:cs typeface="Consolas" panose="020B0609020204030204" pitchFamily="49" charset="0"/>
              </a:rPr>
              <a:t>[] array = {</a:t>
            </a:r>
            <a:r>
              <a:rPr lang="en-US" sz="900">
                <a:solidFill>
                  <a:srgbClr val="00B6B4"/>
                </a:solidFill>
                <a:latin typeface="Consolas" panose="020B0609020204030204" pitchFamily="49" charset="0"/>
                <a:cs typeface="Consolas" panose="020B0609020204030204" pitchFamily="49" charset="0"/>
              </a:rPr>
              <a:t> 2</a:t>
            </a:r>
            <a:r>
              <a:rPr lang="en-US" sz="900">
                <a:latin typeface="Consolas" panose="020B0609020204030204" pitchFamily="49" charset="0"/>
                <a:cs typeface="Consolas" panose="020B0609020204030204" pitchFamily="49" charset="0"/>
              </a:rPr>
              <a:t>, </a:t>
            </a:r>
            <a:r>
              <a:rPr lang="en-US" sz="900">
                <a:solidFill>
                  <a:srgbClr val="00B6B4"/>
                </a:solidFill>
                <a:latin typeface="Consolas" panose="020B0609020204030204" pitchFamily="49" charset="0"/>
                <a:cs typeface="Consolas" panose="020B0609020204030204" pitchFamily="49" charset="0"/>
              </a:rPr>
              <a:t>3</a:t>
            </a:r>
            <a:r>
              <a:rPr lang="en-US" sz="900">
                <a:latin typeface="Consolas" panose="020B0609020204030204" pitchFamily="49" charset="0"/>
                <a:cs typeface="Consolas" panose="020B0609020204030204" pitchFamily="49" charset="0"/>
              </a:rPr>
              <a:t>, </a:t>
            </a:r>
            <a:r>
              <a:rPr lang="en-US" sz="900">
                <a:solidFill>
                  <a:srgbClr val="00B6B4"/>
                </a:solidFill>
                <a:latin typeface="Consolas" panose="020B0609020204030204" pitchFamily="49" charset="0"/>
                <a:cs typeface="Consolas" panose="020B0609020204030204" pitchFamily="49" charset="0"/>
              </a:rPr>
              <a:t>4</a:t>
            </a:r>
            <a:r>
              <a:rPr lang="en-US" sz="900">
                <a:latin typeface="Consolas" panose="020B0609020204030204" pitchFamily="49" charset="0"/>
                <a:cs typeface="Consolas" panose="020B0609020204030204" pitchFamily="49" charset="0"/>
              </a:rPr>
              <a:t> };</a:t>
            </a:r>
          </a:p>
          <a:p>
            <a:endParaRPr lang="en-US" sz="900">
              <a:latin typeface="Consolas" panose="020B0609020204030204" pitchFamily="49" charset="0"/>
              <a:cs typeface="Consolas" panose="020B0609020204030204" pitchFamily="49" charset="0"/>
            </a:endParaRPr>
          </a:p>
          <a:p>
            <a:r>
              <a:rPr lang="en-US" sz="900">
                <a:solidFill>
                  <a:srgbClr val="011893"/>
                </a:solidFill>
                <a:latin typeface="Consolas" panose="020B0609020204030204" pitchFamily="49" charset="0"/>
                <a:cs typeface="Consolas" panose="020B0609020204030204" pitchFamily="49" charset="0"/>
              </a:rPr>
              <a:t>ArrayList</a:t>
            </a:r>
            <a:r>
              <a:rPr lang="en-US" sz="900">
                <a:latin typeface="Consolas" panose="020B0609020204030204" pitchFamily="49" charset="0"/>
                <a:cs typeface="Consolas" panose="020B0609020204030204" pitchFamily="49" charset="0"/>
              </a:rPr>
              <a:t>&lt;</a:t>
            </a:r>
            <a:r>
              <a:rPr lang="en-US" sz="900">
                <a:solidFill>
                  <a:srgbClr val="011893"/>
                </a:solidFill>
                <a:latin typeface="Consolas" panose="020B0609020204030204" pitchFamily="49" charset="0"/>
                <a:cs typeface="Consolas" panose="020B0609020204030204" pitchFamily="49" charset="0"/>
              </a:rPr>
              <a:t>Integer</a:t>
            </a:r>
            <a:r>
              <a:rPr lang="en-US" sz="900">
                <a:latin typeface="Consolas" panose="020B0609020204030204" pitchFamily="49" charset="0"/>
                <a:cs typeface="Consolas" panose="020B0609020204030204" pitchFamily="49" charset="0"/>
              </a:rPr>
              <a:t>&gt; list = </a:t>
            </a:r>
            <a:r>
              <a:rPr lang="en-US" sz="900">
                <a:solidFill>
                  <a:srgbClr val="0432FF"/>
                </a:solidFill>
                <a:latin typeface="Consolas" panose="020B0609020204030204" pitchFamily="49" charset="0"/>
                <a:cs typeface="Consolas" panose="020B0609020204030204" pitchFamily="49" charset="0"/>
              </a:rPr>
              <a:t>new</a:t>
            </a:r>
            <a:r>
              <a:rPr lang="en-US" sz="900">
                <a:latin typeface="Consolas" panose="020B0609020204030204" pitchFamily="49" charset="0"/>
                <a:cs typeface="Consolas" panose="020B0609020204030204" pitchFamily="49" charset="0"/>
              </a:rPr>
              <a:t> </a:t>
            </a:r>
            <a:r>
              <a:rPr lang="en-US" sz="900">
                <a:solidFill>
                  <a:srgbClr val="011893"/>
                </a:solidFill>
                <a:latin typeface="Consolas" panose="020B0609020204030204" pitchFamily="49" charset="0"/>
                <a:cs typeface="Consolas" panose="020B0609020204030204" pitchFamily="49" charset="0"/>
              </a:rPr>
              <a:t>ArrayList</a:t>
            </a:r>
            <a:r>
              <a:rPr lang="en-US" sz="900">
                <a:latin typeface="Consolas" panose="020B0609020204030204" pitchFamily="49" charset="0"/>
                <a:cs typeface="Consolas" panose="020B0609020204030204" pitchFamily="49" charset="0"/>
              </a:rPr>
              <a:t>&lt;&gt;();</a:t>
            </a:r>
          </a:p>
          <a:p>
            <a:r>
              <a:rPr lang="en-US" sz="900">
                <a:solidFill>
                  <a:srgbClr val="0432FF"/>
                </a:solidFill>
                <a:latin typeface="Consolas" panose="020B0609020204030204" pitchFamily="49" charset="0"/>
                <a:cs typeface="Consolas" panose="020B0609020204030204" pitchFamily="49" charset="0"/>
              </a:rPr>
              <a:t>for</a:t>
            </a:r>
            <a:r>
              <a:rPr lang="en-US" sz="900">
                <a:latin typeface="Consolas" panose="020B0609020204030204" pitchFamily="49" charset="0"/>
                <a:cs typeface="Consolas" panose="020B0609020204030204" pitchFamily="49" charset="0"/>
              </a:rPr>
              <a:t> (</a:t>
            </a:r>
            <a:r>
              <a:rPr lang="en-US" sz="900">
                <a:solidFill>
                  <a:srgbClr val="011893"/>
                </a:solidFill>
                <a:latin typeface="Consolas" panose="020B0609020204030204" pitchFamily="49" charset="0"/>
                <a:cs typeface="Consolas" panose="020B0609020204030204" pitchFamily="49" charset="0"/>
              </a:rPr>
              <a:t>int</a:t>
            </a:r>
            <a:r>
              <a:rPr lang="en-US" sz="900">
                <a:latin typeface="Consolas" panose="020B0609020204030204" pitchFamily="49" charset="0"/>
                <a:cs typeface="Consolas" panose="020B0609020204030204" pitchFamily="49" charset="0"/>
              </a:rPr>
              <a:t> i = </a:t>
            </a:r>
            <a:r>
              <a:rPr lang="en-US" sz="900">
                <a:solidFill>
                  <a:srgbClr val="00B6B4"/>
                </a:solidFill>
                <a:latin typeface="Consolas" panose="020B0609020204030204" pitchFamily="49" charset="0"/>
                <a:cs typeface="Consolas" panose="020B0609020204030204" pitchFamily="49" charset="0"/>
              </a:rPr>
              <a:t>0</a:t>
            </a:r>
            <a:r>
              <a:rPr lang="en-US" sz="900">
                <a:latin typeface="Consolas" panose="020B0609020204030204" pitchFamily="49" charset="0"/>
                <a:cs typeface="Consolas" panose="020B0609020204030204" pitchFamily="49" charset="0"/>
              </a:rPr>
              <a:t>; i &lt; array.length; ++i) {</a:t>
            </a:r>
          </a:p>
          <a:p>
            <a:r>
              <a:rPr lang="en-US" sz="900">
                <a:latin typeface="Consolas" panose="020B0609020204030204" pitchFamily="49" charset="0"/>
                <a:cs typeface="Consolas" panose="020B0609020204030204" pitchFamily="49" charset="0"/>
              </a:rPr>
              <a:t>      list.add(array[i]);</a:t>
            </a:r>
          </a:p>
          <a:p>
            <a:r>
              <a:rPr lang="en-US" sz="900">
                <a:latin typeface="Consolas" panose="020B0609020204030204" pitchFamily="49" charset="0"/>
                <a:cs typeface="Consolas" panose="020B0609020204030204" pitchFamily="49" charset="0"/>
              </a:rPr>
              <a:t>      list.add(array[i]);</a:t>
            </a:r>
          </a:p>
          <a:p>
            <a:r>
              <a:rPr lang="en-US" sz="900">
                <a:latin typeface="Consolas" panose="020B0609020204030204" pitchFamily="49" charset="0"/>
                <a:cs typeface="Consolas" panose="020B0609020204030204" pitchFamily="49" charset="0"/>
              </a:rPr>
              <a:t>      list.add(array[i]);</a:t>
            </a:r>
          </a:p>
          <a:p>
            <a:r>
              <a:rPr lang="en-US" sz="900">
                <a:latin typeface="Consolas" panose="020B0609020204030204" pitchFamily="49" charset="0"/>
                <a:cs typeface="Consolas" panose="020B0609020204030204" pitchFamily="49" charset="0"/>
              </a:rPr>
              <a:t>}</a:t>
            </a:r>
          </a:p>
          <a:p>
            <a:endParaRPr lang="en-US" sz="900">
              <a:latin typeface="Consolas" panose="020B0609020204030204" pitchFamily="49" charset="0"/>
              <a:cs typeface="Consolas" panose="020B0609020204030204" pitchFamily="49" charset="0"/>
            </a:endParaRPr>
          </a:p>
          <a:p>
            <a:r>
              <a:rPr lang="en-US" sz="900">
                <a:latin typeface="Consolas" panose="020B0609020204030204" pitchFamily="49" charset="0"/>
                <a:cs typeface="Consolas" panose="020B0609020204030204" pitchFamily="49" charset="0"/>
              </a:rPr>
              <a:t>PRINT(list); </a:t>
            </a:r>
            <a:r>
              <a:rPr lang="en-US" sz="900" b="1">
                <a:solidFill>
                  <a:srgbClr val="007B00"/>
                </a:solidFill>
                <a:highlight>
                  <a:srgbClr val="FFFF00"/>
                </a:highlight>
                <a:latin typeface="Consolas" panose="020B0609020204030204" pitchFamily="49" charset="0"/>
                <a:cs typeface="Consolas" panose="020B0609020204030204" pitchFamily="49" charset="0"/>
              </a:rPr>
              <a:t>// What does this print?</a:t>
            </a:r>
            <a:endParaRPr lang="en-US" sz="900">
              <a:latin typeface="Consolas" panose="020B0609020204030204" pitchFamily="49" charset="0"/>
              <a:cs typeface="Consolas" panose="020B0609020204030204" pitchFamily="49" charset="0"/>
            </a:endParaRPr>
          </a:p>
          <a:p>
            <a:endParaRPr lang="en-US" sz="900">
              <a:latin typeface="Consolas" panose="020B0609020204030204" pitchFamily="49" charset="0"/>
              <a:cs typeface="Consolas" panose="020B0609020204030204" pitchFamily="49" charset="0"/>
            </a:endParaRPr>
          </a:p>
          <a:p>
            <a:r>
              <a:rPr lang="en-US" sz="900">
                <a:solidFill>
                  <a:srgbClr val="0432FF"/>
                </a:solidFill>
                <a:latin typeface="Consolas" panose="020B0609020204030204" pitchFamily="49" charset="0"/>
                <a:cs typeface="Consolas" panose="020B0609020204030204" pitchFamily="49" charset="0"/>
              </a:rPr>
              <a:t>for</a:t>
            </a:r>
            <a:r>
              <a:rPr lang="en-US" sz="900">
                <a:latin typeface="Consolas" panose="020B0609020204030204" pitchFamily="49" charset="0"/>
                <a:cs typeface="Consolas" panose="020B0609020204030204" pitchFamily="49" charset="0"/>
              </a:rPr>
              <a:t> (</a:t>
            </a:r>
            <a:r>
              <a:rPr lang="en-US" sz="900">
                <a:solidFill>
                  <a:srgbClr val="011893"/>
                </a:solidFill>
                <a:latin typeface="Consolas" panose="020B0609020204030204" pitchFamily="49" charset="0"/>
                <a:cs typeface="Consolas" panose="020B0609020204030204" pitchFamily="49" charset="0"/>
              </a:rPr>
              <a:t>int</a:t>
            </a:r>
            <a:r>
              <a:rPr lang="en-US" sz="900">
                <a:latin typeface="Consolas" panose="020B0609020204030204" pitchFamily="49" charset="0"/>
                <a:cs typeface="Consolas" panose="020B0609020204030204" pitchFamily="49" charset="0"/>
              </a:rPr>
              <a:t> i = </a:t>
            </a:r>
            <a:r>
              <a:rPr lang="en-US" sz="900">
                <a:solidFill>
                  <a:srgbClr val="00B6B4"/>
                </a:solidFill>
                <a:latin typeface="Consolas" panose="020B0609020204030204" pitchFamily="49" charset="0"/>
                <a:cs typeface="Consolas" panose="020B0609020204030204" pitchFamily="49" charset="0"/>
              </a:rPr>
              <a:t>0</a:t>
            </a:r>
            <a:r>
              <a:rPr lang="en-US" sz="900">
                <a:latin typeface="Consolas" panose="020B0609020204030204" pitchFamily="49" charset="0"/>
                <a:cs typeface="Consolas" panose="020B0609020204030204" pitchFamily="49" charset="0"/>
              </a:rPr>
              <a:t>; i &lt; list.size() /</a:t>
            </a:r>
            <a:r>
              <a:rPr lang="en-US" sz="900">
                <a:solidFill>
                  <a:srgbClr val="00B6B4"/>
                </a:solidFill>
                <a:latin typeface="Consolas" panose="020B0609020204030204" pitchFamily="49" charset="0"/>
                <a:cs typeface="Consolas" panose="020B0609020204030204" pitchFamily="49" charset="0"/>
              </a:rPr>
              <a:t> 2</a:t>
            </a:r>
            <a:r>
              <a:rPr lang="en-US" sz="900">
                <a:latin typeface="Consolas" panose="020B0609020204030204" pitchFamily="49" charset="0"/>
                <a:cs typeface="Consolas" panose="020B0609020204030204" pitchFamily="49" charset="0"/>
              </a:rPr>
              <a:t>; ++i) {</a:t>
            </a:r>
          </a:p>
          <a:p>
            <a:r>
              <a:rPr lang="en-US" sz="900">
                <a:latin typeface="Consolas" panose="020B0609020204030204" pitchFamily="49" charset="0"/>
                <a:cs typeface="Consolas" panose="020B0609020204030204" pitchFamily="49" charset="0"/>
              </a:rPr>
              <a:t>     </a:t>
            </a:r>
            <a:r>
              <a:rPr lang="en-US" sz="900">
                <a:solidFill>
                  <a:srgbClr val="011893"/>
                </a:solidFill>
                <a:latin typeface="Consolas" panose="020B0609020204030204" pitchFamily="49" charset="0"/>
                <a:cs typeface="Consolas" panose="020B0609020204030204" pitchFamily="49" charset="0"/>
              </a:rPr>
              <a:t>int</a:t>
            </a:r>
            <a:r>
              <a:rPr lang="en-US" sz="900">
                <a:latin typeface="Consolas" panose="020B0609020204030204" pitchFamily="49" charset="0"/>
                <a:cs typeface="Consolas" panose="020B0609020204030204" pitchFamily="49" charset="0"/>
              </a:rPr>
              <a:t> j = (list.size() - </a:t>
            </a:r>
            <a:r>
              <a:rPr lang="en-US" sz="900">
                <a:solidFill>
                  <a:srgbClr val="00B6B4"/>
                </a:solidFill>
                <a:latin typeface="Consolas" panose="020B0609020204030204" pitchFamily="49" charset="0"/>
                <a:cs typeface="Consolas" panose="020B0609020204030204" pitchFamily="49" charset="0"/>
              </a:rPr>
              <a:t>1</a:t>
            </a:r>
            <a:r>
              <a:rPr lang="en-US" sz="900">
                <a:latin typeface="Consolas" panose="020B0609020204030204" pitchFamily="49" charset="0"/>
                <a:cs typeface="Consolas" panose="020B0609020204030204" pitchFamily="49" charset="0"/>
              </a:rPr>
              <a:t>) - i;</a:t>
            </a:r>
          </a:p>
          <a:p>
            <a:r>
              <a:rPr lang="en-US" sz="900">
                <a:latin typeface="Consolas" panose="020B0609020204030204" pitchFamily="49" charset="0"/>
                <a:cs typeface="Consolas" panose="020B0609020204030204" pitchFamily="49" charset="0"/>
              </a:rPr>
              <a:t>     </a:t>
            </a:r>
            <a:r>
              <a:rPr lang="en-US" sz="900">
                <a:solidFill>
                  <a:srgbClr val="011893"/>
                </a:solidFill>
                <a:latin typeface="Consolas" panose="020B0609020204030204" pitchFamily="49" charset="0"/>
                <a:cs typeface="Consolas" panose="020B0609020204030204" pitchFamily="49" charset="0"/>
              </a:rPr>
              <a:t>int</a:t>
            </a:r>
            <a:r>
              <a:rPr lang="en-US" sz="900">
                <a:latin typeface="Consolas" panose="020B0609020204030204" pitchFamily="49" charset="0"/>
                <a:cs typeface="Consolas" panose="020B0609020204030204" pitchFamily="49" charset="0"/>
              </a:rPr>
              <a:t> tmp = list.get(i);</a:t>
            </a:r>
          </a:p>
          <a:p>
            <a:r>
              <a:rPr lang="en-US" sz="900">
                <a:latin typeface="Consolas" panose="020B0609020204030204" pitchFamily="49" charset="0"/>
                <a:cs typeface="Consolas" panose="020B0609020204030204" pitchFamily="49" charset="0"/>
              </a:rPr>
              <a:t>     list.set(i, list.get(j));</a:t>
            </a:r>
          </a:p>
          <a:p>
            <a:r>
              <a:rPr lang="en-US" sz="900">
                <a:latin typeface="Consolas" panose="020B0609020204030204" pitchFamily="49" charset="0"/>
                <a:cs typeface="Consolas" panose="020B0609020204030204" pitchFamily="49" charset="0"/>
              </a:rPr>
              <a:t>     list.set(j, tmp);</a:t>
            </a:r>
          </a:p>
          <a:p>
            <a:r>
              <a:rPr lang="en-US" sz="900">
                <a:latin typeface="Consolas" panose="020B0609020204030204" pitchFamily="49" charset="0"/>
                <a:cs typeface="Consolas" panose="020B0609020204030204" pitchFamily="49" charset="0"/>
              </a:rPr>
              <a:t>}</a:t>
            </a:r>
          </a:p>
          <a:p>
            <a:endParaRPr lang="en-US" sz="900">
              <a:latin typeface="Consolas" panose="020B0609020204030204" pitchFamily="49" charset="0"/>
              <a:cs typeface="Consolas" panose="020B0609020204030204" pitchFamily="49" charset="0"/>
            </a:endParaRPr>
          </a:p>
          <a:p>
            <a:r>
              <a:rPr lang="en-US" sz="900">
                <a:latin typeface="Consolas" panose="020B0609020204030204" pitchFamily="49" charset="0"/>
                <a:cs typeface="Consolas" panose="020B0609020204030204" pitchFamily="49" charset="0"/>
              </a:rPr>
              <a:t>PRINT(list); </a:t>
            </a:r>
            <a:r>
              <a:rPr lang="en-US" sz="900" b="1">
                <a:solidFill>
                  <a:srgbClr val="007B00"/>
                </a:solidFill>
                <a:highlight>
                  <a:srgbClr val="FFFF00"/>
                </a:highlight>
                <a:latin typeface="Consolas" panose="020B0609020204030204" pitchFamily="49" charset="0"/>
                <a:cs typeface="Consolas" panose="020B0609020204030204" pitchFamily="49" charset="0"/>
              </a:rPr>
              <a:t>// What does this print?</a:t>
            </a:r>
            <a:endParaRPr lang="en-US" sz="900">
              <a:latin typeface="Consolas" panose="020B0609020204030204" pitchFamily="49" charset="0"/>
              <a:cs typeface="Consolas" panose="020B0609020204030204" pitchFamily="49" charset="0"/>
            </a:endParaRPr>
          </a:p>
          <a:p>
            <a:endParaRPr lang="en-US" sz="900">
              <a:latin typeface="Consolas" panose="020B0609020204030204" pitchFamily="49" charset="0"/>
              <a:cs typeface="Consolas" panose="020B0609020204030204" pitchFamily="49" charset="0"/>
            </a:endParaRPr>
          </a:p>
          <a:p>
            <a:r>
              <a:rPr lang="en-US" sz="900">
                <a:latin typeface="Consolas" panose="020B0609020204030204" pitchFamily="49" charset="0"/>
                <a:cs typeface="Consolas" panose="020B0609020204030204" pitchFamily="49" charset="0"/>
              </a:rPr>
              <a:t>for (</a:t>
            </a:r>
            <a:r>
              <a:rPr lang="en-US" sz="900">
                <a:solidFill>
                  <a:srgbClr val="011893"/>
                </a:solidFill>
                <a:latin typeface="Consolas" panose="020B0609020204030204" pitchFamily="49" charset="0"/>
                <a:cs typeface="Consolas" panose="020B0609020204030204" pitchFamily="49" charset="0"/>
              </a:rPr>
              <a:t>int</a:t>
            </a:r>
            <a:r>
              <a:rPr lang="en-US" sz="900">
                <a:latin typeface="Consolas" panose="020B0609020204030204" pitchFamily="49" charset="0"/>
                <a:cs typeface="Consolas" panose="020B0609020204030204" pitchFamily="49" charset="0"/>
              </a:rPr>
              <a:t> i = </a:t>
            </a:r>
            <a:r>
              <a:rPr lang="en-US" sz="900">
                <a:solidFill>
                  <a:srgbClr val="00B6B4"/>
                </a:solidFill>
                <a:latin typeface="Consolas" panose="020B0609020204030204" pitchFamily="49" charset="0"/>
                <a:cs typeface="Consolas" panose="020B0609020204030204" pitchFamily="49" charset="0"/>
              </a:rPr>
              <a:t>0</a:t>
            </a:r>
            <a:r>
              <a:rPr lang="en-US" sz="900">
                <a:latin typeface="Consolas" panose="020B0609020204030204" pitchFamily="49" charset="0"/>
                <a:cs typeface="Consolas" panose="020B0609020204030204" pitchFamily="49" charset="0"/>
              </a:rPr>
              <a:t>; i &lt; list.size(); ++i) {</a:t>
            </a:r>
          </a:p>
          <a:p>
            <a:r>
              <a:rPr lang="en-US" sz="900">
                <a:latin typeface="Consolas" panose="020B0609020204030204" pitchFamily="49" charset="0"/>
                <a:cs typeface="Consolas" panose="020B0609020204030204" pitchFamily="49" charset="0"/>
              </a:rPr>
              <a:t>     int j = list.get(i);</a:t>
            </a:r>
          </a:p>
          <a:p>
            <a:r>
              <a:rPr lang="en-US" sz="900">
                <a:latin typeface="Consolas" panose="020B0609020204030204" pitchFamily="49" charset="0"/>
                <a:cs typeface="Consolas" panose="020B0609020204030204" pitchFamily="49" charset="0"/>
              </a:rPr>
              <a:t>     int k = list.get(j);</a:t>
            </a:r>
          </a:p>
          <a:p>
            <a:r>
              <a:rPr lang="en-US" sz="900">
                <a:latin typeface="Consolas" panose="020B0609020204030204" pitchFamily="49" charset="0"/>
                <a:cs typeface="Consolas" panose="020B0609020204030204" pitchFamily="49" charset="0"/>
              </a:rPr>
              <a:t>     list.set(i, k);</a:t>
            </a:r>
            <a:r>
              <a:rPr lang="en-US" sz="900" b="1">
                <a:solidFill>
                  <a:srgbClr val="007B00"/>
                </a:solidFill>
                <a:latin typeface="Consolas" panose="020B0609020204030204" pitchFamily="49" charset="0"/>
                <a:cs typeface="Consolas" panose="020B0609020204030204" pitchFamily="49" charset="0"/>
              </a:rPr>
              <a:t> </a:t>
            </a:r>
            <a:r>
              <a:rPr lang="en-US" sz="900" b="1">
                <a:solidFill>
                  <a:srgbClr val="007B00"/>
                </a:solidFill>
                <a:highlight>
                  <a:srgbClr val="00FFFF"/>
                </a:highlight>
                <a:latin typeface="Consolas" panose="020B0609020204030204" pitchFamily="49" charset="0"/>
                <a:cs typeface="Consolas" panose="020B0609020204030204" pitchFamily="49" charset="0"/>
              </a:rPr>
              <a:t>// &lt;- Read carefully!</a:t>
            </a:r>
          </a:p>
          <a:p>
            <a:r>
              <a:rPr lang="en-US" sz="900">
                <a:latin typeface="Consolas" panose="020B0609020204030204" pitchFamily="49" charset="0"/>
                <a:cs typeface="Consolas" panose="020B0609020204030204" pitchFamily="49" charset="0"/>
              </a:rPr>
              <a:t>}</a:t>
            </a:r>
          </a:p>
          <a:p>
            <a:endParaRPr lang="en-US" sz="900">
              <a:latin typeface="Consolas" panose="020B0609020204030204" pitchFamily="49" charset="0"/>
              <a:cs typeface="Consolas" panose="020B0609020204030204" pitchFamily="49" charset="0"/>
            </a:endParaRPr>
          </a:p>
          <a:p>
            <a:r>
              <a:rPr lang="en-US" sz="900">
                <a:latin typeface="Consolas" panose="020B0609020204030204" pitchFamily="49" charset="0"/>
                <a:cs typeface="Consolas" panose="020B0609020204030204" pitchFamily="49" charset="0"/>
              </a:rPr>
              <a:t>PRINT(list); </a:t>
            </a:r>
            <a:r>
              <a:rPr lang="en-US" sz="900" b="1">
                <a:solidFill>
                  <a:srgbClr val="007B00"/>
                </a:solidFill>
                <a:highlight>
                  <a:srgbClr val="FFFF00"/>
                </a:highlight>
                <a:latin typeface="Consolas" panose="020B0609020204030204" pitchFamily="49" charset="0"/>
                <a:cs typeface="Consolas" panose="020B0609020204030204" pitchFamily="49" charset="0"/>
              </a:rPr>
              <a:t>// What does this print?</a:t>
            </a:r>
          </a:p>
        </p:txBody>
      </p:sp>
    </p:spTree>
    <p:extLst>
      <p:ext uri="{BB962C8B-B14F-4D97-AF65-F5344CB8AC3E}">
        <p14:creationId xmlns:p14="http://schemas.microsoft.com/office/powerpoint/2010/main" val="180816389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 R Toppers Peach Gummi Rings, 4.5 Pound - 4 per case.">
            <a:extLst>
              <a:ext uri="{FF2B5EF4-FFF2-40B4-BE49-F238E27FC236}">
                <a16:creationId xmlns:a16="http://schemas.microsoft.com/office/drawing/2014/main" id="{4E1B76DA-A860-C757-81C7-67328E243D9A}"/>
              </a:ext>
            </a:extLst>
          </p:cNvPr>
          <p:cNvPicPr>
            <a:picLocks noChangeAspect="1"/>
          </p:cNvPicPr>
          <p:nvPr/>
        </p:nvPicPr>
        <p:blipFill>
          <a:blip r:embed="rId2"/>
          <a:stretch>
            <a:fillRect/>
          </a:stretch>
        </p:blipFill>
        <p:spPr>
          <a:xfrm>
            <a:off x="2667000" y="670560"/>
            <a:ext cx="3810000" cy="3810000"/>
          </a:xfrm>
          <a:prstGeom prst="rect">
            <a:avLst/>
          </a:prstGeom>
        </p:spPr>
      </p:pic>
    </p:spTree>
    <p:extLst>
      <p:ext uri="{BB962C8B-B14F-4D97-AF65-F5344CB8AC3E}">
        <p14:creationId xmlns:p14="http://schemas.microsoft.com/office/powerpoint/2010/main" val="1648069905"/>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DCC1C-5400-1CD7-703C-1FDD076A0B8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09513BD-1C0A-0B92-64E2-B1C495EE72FE}"/>
              </a:ext>
            </a:extLst>
          </p:cNvPr>
          <p:cNvSpPr>
            <a:spLocks noGrp="1"/>
          </p:cNvSpPr>
          <p:nvPr>
            <p:ph type="title"/>
          </p:nvPr>
        </p:nvSpPr>
        <p:spPr/>
        <p:txBody>
          <a:bodyPr/>
          <a:lstStyle/>
          <a:p>
            <a:r>
              <a:rPr lang="en-US"/>
              <a:t>FlipBook</a:t>
            </a:r>
          </a:p>
        </p:txBody>
      </p:sp>
    </p:spTree>
    <p:extLst>
      <p:ext uri="{BB962C8B-B14F-4D97-AF65-F5344CB8AC3E}">
        <p14:creationId xmlns:p14="http://schemas.microsoft.com/office/powerpoint/2010/main" val="2850254873"/>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DE0913-5FE8-1A73-C59E-ABD6C33DAD6A}"/>
              </a:ext>
            </a:extLst>
          </p:cNvPr>
          <p:cNvSpPr>
            <a:spLocks noGrp="1"/>
          </p:cNvSpPr>
          <p:nvPr>
            <p:ph type="title"/>
          </p:nvPr>
        </p:nvSpPr>
        <p:spPr/>
        <p:txBody>
          <a:bodyPr/>
          <a:lstStyle/>
          <a:p>
            <a:r>
              <a:rPr lang="en-US"/>
              <a:t>were array lists a good choice for implementing a Flip Book?</a:t>
            </a:r>
            <a:br>
              <a:rPr lang="en-US"/>
            </a:br>
            <a:br>
              <a:rPr lang="en-US"/>
            </a:br>
            <a:r>
              <a:rPr lang="en-US"/>
              <a:t>💭 (how) could you have done it with just arrays?</a:t>
            </a:r>
          </a:p>
        </p:txBody>
      </p:sp>
    </p:spTree>
    <p:extLst>
      <p:ext uri="{BB962C8B-B14F-4D97-AF65-F5344CB8AC3E}">
        <p14:creationId xmlns:p14="http://schemas.microsoft.com/office/powerpoint/2010/main" val="2948188495"/>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29A57-56B9-5D04-DD01-AC49C7EE14B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6640196-7014-DDAA-5AED-ED27A9EE68C4}"/>
              </a:ext>
            </a:extLst>
          </p:cNvPr>
          <p:cNvSpPr>
            <a:spLocks noGrp="1"/>
          </p:cNvSpPr>
          <p:nvPr>
            <p:ph type="title"/>
          </p:nvPr>
        </p:nvSpPr>
        <p:spPr/>
        <p:txBody>
          <a:bodyPr/>
          <a:lstStyle/>
          <a:p>
            <a:r>
              <a:rPr lang="en-US"/>
              <a:t>you </a:t>
            </a:r>
            <a:r>
              <a:rPr lang="en-US" i="1"/>
              <a:t>can</a:t>
            </a:r>
            <a:r>
              <a:rPr lang="en-US"/>
              <a:t> do </a:t>
            </a:r>
            <a:r>
              <a:rPr lang="en-US" i="1"/>
              <a:t>anything</a:t>
            </a:r>
            <a:endParaRPr lang="en-US"/>
          </a:p>
        </p:txBody>
      </p:sp>
    </p:spTree>
    <p:extLst>
      <p:ext uri="{BB962C8B-B14F-4D97-AF65-F5344CB8AC3E}">
        <p14:creationId xmlns:p14="http://schemas.microsoft.com/office/powerpoint/2010/main" val="3096737676"/>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81D0E-C95D-A54D-9108-E887547CE291}"/>
              </a:ext>
            </a:extLst>
          </p:cNvPr>
          <p:cNvSpPr>
            <a:spLocks noGrp="1"/>
          </p:cNvSpPr>
          <p:nvPr>
            <p:ph type="title"/>
          </p:nvPr>
        </p:nvSpPr>
        <p:spPr/>
        <p:txBody>
          <a:bodyPr/>
          <a:lstStyle/>
          <a:p>
            <a:endParaRPr lang="en-US"/>
          </a:p>
        </p:txBody>
      </p:sp>
      <p:pic>
        <p:nvPicPr>
          <p:cNvPr id="3" name="Picture 2">
            <a:extLst>
              <a:ext uri="{FF2B5EF4-FFF2-40B4-BE49-F238E27FC236}">
                <a16:creationId xmlns:a16="http://schemas.microsoft.com/office/drawing/2014/main" id="{DEA19D75-A23E-F6E2-DC48-A5B11F370838}"/>
              </a:ext>
            </a:extLst>
          </p:cNvPr>
          <p:cNvPicPr>
            <a:picLocks noChangeAspect="1"/>
          </p:cNvPicPr>
          <p:nvPr/>
        </p:nvPicPr>
        <p:blipFill>
          <a:blip r:embed="rId2"/>
          <a:stretch>
            <a:fillRect/>
          </a:stretch>
        </p:blipFill>
        <p:spPr>
          <a:xfrm>
            <a:off x="685800" y="1621971"/>
            <a:ext cx="7772400" cy="1899557"/>
          </a:xfrm>
          <a:prstGeom prst="rect">
            <a:avLst/>
          </a:prstGeom>
        </p:spPr>
      </p:pic>
    </p:spTree>
    <p:extLst>
      <p:ext uri="{BB962C8B-B14F-4D97-AF65-F5344CB8AC3E}">
        <p14:creationId xmlns:p14="http://schemas.microsoft.com/office/powerpoint/2010/main" val="4240427459"/>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82ED4E-3111-27DB-6EC4-572E6BADB229}"/>
              </a:ext>
            </a:extLst>
          </p:cNvPr>
          <p:cNvSpPr>
            <a:spLocks noGrp="1"/>
          </p:cNvSpPr>
          <p:nvPr>
            <p:ph type="title"/>
          </p:nvPr>
        </p:nvSpPr>
        <p:spPr>
          <a:xfrm>
            <a:off x="457200" y="254916"/>
            <a:ext cx="8229600" cy="667168"/>
          </a:xfrm>
        </p:spPr>
        <p:txBody>
          <a:bodyPr/>
          <a:lstStyle/>
          <a:p>
            <a:r>
              <a:rPr lang="en-US"/>
              <a:t>well, we didn't know how many...</a:t>
            </a:r>
          </a:p>
        </p:txBody>
      </p:sp>
      <p:sp>
        <p:nvSpPr>
          <p:cNvPr id="4" name="Content Placeholder 3">
            <a:extLst>
              <a:ext uri="{FF2B5EF4-FFF2-40B4-BE49-F238E27FC236}">
                <a16:creationId xmlns:a16="http://schemas.microsoft.com/office/drawing/2014/main" id="{C5861243-FBAD-932B-C1DA-E502BE86B3B7}"/>
              </a:ext>
            </a:extLst>
          </p:cNvPr>
          <p:cNvSpPr>
            <a:spLocks noGrp="1"/>
          </p:cNvSpPr>
          <p:nvPr>
            <p:ph sz="quarter" idx="10"/>
          </p:nvPr>
        </p:nvSpPr>
        <p:spPr>
          <a:xfrm>
            <a:off x="457200" y="963337"/>
            <a:ext cx="8229600" cy="4080271"/>
          </a:xfrm>
        </p:spPr>
        <p:txBody>
          <a:bodyPr/>
          <a:lstStyle/>
          <a:p>
            <a:r>
              <a:rPr lang="en-US"/>
              <a:t>pages in the flipbook?</a:t>
            </a:r>
          </a:p>
          <a:p>
            <a:r>
              <a:rPr lang="en-US"/>
              <a:t>strokes in each page?</a:t>
            </a:r>
          </a:p>
          <a:p>
            <a:r>
              <a:rPr lang="en-US"/>
              <a:t>points in each stroke?</a:t>
            </a:r>
          </a:p>
        </p:txBody>
      </p:sp>
    </p:spTree>
    <p:extLst>
      <p:ext uri="{BB962C8B-B14F-4D97-AF65-F5344CB8AC3E}">
        <p14:creationId xmlns:p14="http://schemas.microsoft.com/office/powerpoint/2010/main" val="1823490864"/>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DE0913-5FE8-1A73-C59E-ABD6C33DAD6A}"/>
              </a:ext>
            </a:extLst>
          </p:cNvPr>
          <p:cNvSpPr>
            <a:spLocks noGrp="1"/>
          </p:cNvSpPr>
          <p:nvPr>
            <p:ph type="title"/>
          </p:nvPr>
        </p:nvSpPr>
        <p:spPr>
          <a:xfrm>
            <a:off x="457200" y="135802"/>
            <a:ext cx="8229600" cy="4871896"/>
          </a:xfrm>
        </p:spPr>
        <p:txBody>
          <a:bodyPr/>
          <a:lstStyle/>
          <a:p>
            <a:r>
              <a:rPr lang="en-US" b="1"/>
              <a:t>"Alternative" 1:</a:t>
            </a:r>
            <a:r>
              <a:rPr lang="en-US"/>
              <a:t> just use arrays, but resize them yourself when needed (essentially, implement the functionality of an array list without actually having a class)</a:t>
            </a:r>
          </a:p>
        </p:txBody>
      </p:sp>
    </p:spTree>
    <p:extLst>
      <p:ext uri="{BB962C8B-B14F-4D97-AF65-F5344CB8AC3E}">
        <p14:creationId xmlns:p14="http://schemas.microsoft.com/office/powerpoint/2010/main" val="42530701"/>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DE0913-5FE8-1A73-C59E-ABD6C33DAD6A}"/>
              </a:ext>
            </a:extLst>
          </p:cNvPr>
          <p:cNvSpPr>
            <a:spLocks noGrp="1"/>
          </p:cNvSpPr>
          <p:nvPr>
            <p:ph type="title"/>
          </p:nvPr>
        </p:nvSpPr>
        <p:spPr>
          <a:xfrm>
            <a:off x="457200" y="135802"/>
            <a:ext cx="8229600" cy="4871896"/>
          </a:xfrm>
        </p:spPr>
        <p:txBody>
          <a:bodyPr/>
          <a:lstStyle/>
          <a:p>
            <a:pPr algn="l"/>
            <a:r>
              <a:rPr lang="en-US" b="1"/>
              <a:t>"Alternative" 2:</a:t>
            </a:r>
            <a:r>
              <a:rPr lang="en-US"/>
              <a:t> 🐘 use a</a:t>
            </a:r>
            <a:br>
              <a:rPr lang="en-US"/>
            </a:br>
            <a:r>
              <a:rPr lang="en-US"/>
              <a:t>BIG multi-dimensional array</a:t>
            </a:r>
            <a:br>
              <a:rPr lang="en-US"/>
            </a:br>
            <a:r>
              <a:rPr kumimoji="0" lang="en-US" sz="2000" b="0" i="0" u="none" strike="noStrike" kern="1200" cap="none" spc="0" normalizeH="0" baseline="0" noProof="0">
                <a:ln>
                  <a:noFill/>
                </a:ln>
                <a:solidFill>
                  <a:srgbClr val="007B00"/>
                </a:solidFill>
                <a:effectLst/>
                <a:uLnTx/>
                <a:uFillTx/>
                <a:latin typeface="Consolas"/>
                <a:ea typeface="Segoe UI Emoji" panose="020B0502040204020203" pitchFamily="34" charset="0"/>
                <a:cs typeface="+mj-cs"/>
              </a:rPr>
              <a:t>// ~30,000,000 elements</a:t>
            </a:r>
            <a:br>
              <a:rPr lang="en-US"/>
            </a:br>
            <a:r>
              <a:rPr lang="en-US" sz="2000">
                <a:solidFill>
                  <a:srgbClr val="000080"/>
                </a:solidFill>
                <a:latin typeface="+mj-lt"/>
              </a:rPr>
              <a:t>Point</a:t>
            </a:r>
            <a:r>
              <a:rPr lang="en-US" sz="2000">
                <a:latin typeface="+mj-lt"/>
              </a:rPr>
              <a:t>[][][] flipbook = </a:t>
            </a:r>
            <a:r>
              <a:rPr lang="en-US" sz="2000">
                <a:solidFill>
                  <a:srgbClr val="0000FF"/>
                </a:solidFill>
                <a:latin typeface="+mj-lt"/>
              </a:rPr>
              <a:t>new</a:t>
            </a:r>
            <a:r>
              <a:rPr lang="en-US" sz="2000">
                <a:latin typeface="+mj-lt"/>
              </a:rPr>
              <a:t> </a:t>
            </a:r>
            <a:r>
              <a:rPr lang="en-US" sz="2000">
                <a:solidFill>
                  <a:srgbClr val="000080"/>
                </a:solidFill>
                <a:latin typeface="+mj-lt"/>
              </a:rPr>
              <a:t>Point</a:t>
            </a:r>
            <a:r>
              <a:rPr lang="en-US" sz="2000">
                <a:latin typeface="+mj-lt"/>
              </a:rPr>
              <a:t>[</a:t>
            </a:r>
            <a:r>
              <a:rPr lang="en-US" sz="2000">
                <a:solidFill>
                  <a:srgbClr val="0CB5B5"/>
                </a:solidFill>
                <a:latin typeface="+mj-lt"/>
              </a:rPr>
              <a:t>64</a:t>
            </a:r>
            <a:r>
              <a:rPr lang="en-US" sz="2000">
                <a:latin typeface="+mj-lt"/>
              </a:rPr>
              <a:t>][</a:t>
            </a:r>
            <a:r>
              <a:rPr lang="en-US" sz="2000">
                <a:solidFill>
                  <a:srgbClr val="0CB5B5"/>
                </a:solidFill>
                <a:latin typeface="+mj-lt"/>
              </a:rPr>
              <a:t>512</a:t>
            </a:r>
            <a:r>
              <a:rPr lang="en-US" sz="2000">
                <a:latin typeface="+mj-lt"/>
              </a:rPr>
              <a:t>][</a:t>
            </a:r>
            <a:r>
              <a:rPr lang="en-US" sz="2000">
                <a:solidFill>
                  <a:srgbClr val="0CB5B5"/>
                </a:solidFill>
                <a:latin typeface="+mj-lt"/>
              </a:rPr>
              <a:t>1024</a:t>
            </a:r>
            <a:r>
              <a:rPr lang="en-US" sz="2000">
                <a:latin typeface="+mj-lt"/>
              </a:rPr>
              <a:t>];</a:t>
            </a:r>
            <a:br>
              <a:rPr lang="en-US" sz="2000">
                <a:latin typeface="+mj-lt"/>
              </a:rPr>
            </a:br>
            <a:r>
              <a:rPr kumimoji="0" lang="en-US" sz="2000" b="0" i="0" u="none" strike="noStrike" kern="1200" cap="none" spc="0" normalizeH="0" baseline="0" noProof="0">
                <a:ln>
                  <a:noFill/>
                </a:ln>
                <a:solidFill>
                  <a:srgbClr val="007B00"/>
                </a:solidFill>
                <a:effectLst/>
                <a:uLnTx/>
                <a:uFillTx/>
                <a:latin typeface="Consolas"/>
                <a:ea typeface="Segoe UI Emoji" panose="020B0502040204020203" pitchFamily="34" charset="0"/>
                <a:cs typeface="+mj-cs"/>
              </a:rPr>
              <a:t>// NOTE: we also need all these counter variables</a:t>
            </a:r>
            <a:br>
              <a:rPr kumimoji="0" lang="en-US" sz="2000" b="0" i="0" u="none" strike="noStrike" kern="1200" cap="none" spc="0" normalizeH="0" baseline="0" noProof="0">
                <a:ln>
                  <a:noFill/>
                </a:ln>
                <a:solidFill>
                  <a:srgbClr val="007B00"/>
                </a:solidFill>
                <a:effectLst/>
                <a:uLnTx/>
                <a:uFillTx/>
                <a:latin typeface="Consolas"/>
                <a:ea typeface="Segoe UI Emoji" panose="020B0502040204020203" pitchFamily="34" charset="0"/>
                <a:cs typeface="+mj-cs"/>
              </a:rPr>
            </a:br>
            <a:r>
              <a:rPr kumimoji="0" lang="en-US" sz="2000" b="0" i="0" u="none" strike="noStrike" kern="1200" cap="none" spc="0" normalizeH="0" baseline="0" noProof="0">
                <a:ln>
                  <a:noFill/>
                </a:ln>
                <a:solidFill>
                  <a:srgbClr val="007B00"/>
                </a:solidFill>
                <a:effectLst/>
                <a:uLnTx/>
                <a:uFillTx/>
                <a:latin typeface="Consolas"/>
                <a:ea typeface="Segoe UI Emoji" panose="020B0502040204020203" pitchFamily="34" charset="0"/>
                <a:cs typeface="+mj-cs"/>
              </a:rPr>
              <a:t>// can't just call .size() like before!</a:t>
            </a:r>
            <a:br>
              <a:rPr lang="en-US" sz="2000">
                <a:latin typeface="+mj-lt"/>
              </a:rPr>
            </a:br>
            <a:r>
              <a:rPr lang="en-US" sz="2000">
                <a:solidFill>
                  <a:srgbClr val="000080"/>
                </a:solidFill>
                <a:latin typeface="+mj-lt"/>
              </a:rPr>
              <a:t>int</a:t>
            </a:r>
            <a:r>
              <a:rPr lang="en-US" sz="2000">
                <a:latin typeface="+mj-lt"/>
              </a:rPr>
              <a:t> </a:t>
            </a:r>
            <a:r>
              <a:rPr lang="en-US" sz="2000" err="1">
                <a:latin typeface="+mj-lt"/>
              </a:rPr>
              <a:t>numPages</a:t>
            </a:r>
            <a:r>
              <a:rPr lang="en-US" sz="2000">
                <a:latin typeface="+mj-lt"/>
              </a:rPr>
              <a:t> = </a:t>
            </a:r>
            <a:r>
              <a:rPr lang="en-US" sz="2000">
                <a:solidFill>
                  <a:srgbClr val="0CB5B5"/>
                </a:solidFill>
                <a:latin typeface="+mj-lt"/>
              </a:rPr>
              <a:t>0</a:t>
            </a:r>
            <a:r>
              <a:rPr lang="en-US" sz="2000">
                <a:latin typeface="+mj-lt"/>
              </a:rPr>
              <a:t>;</a:t>
            </a:r>
            <a:br>
              <a:rPr lang="en-US" sz="2000">
                <a:latin typeface="+mj-lt"/>
              </a:rPr>
            </a:br>
            <a:r>
              <a:rPr lang="en-US" sz="2000">
                <a:solidFill>
                  <a:srgbClr val="000080"/>
                </a:solidFill>
                <a:latin typeface="+mj-lt"/>
              </a:rPr>
              <a:t>int</a:t>
            </a:r>
            <a:r>
              <a:rPr lang="en-US" sz="2000">
                <a:latin typeface="+mj-lt"/>
              </a:rPr>
              <a:t>[] </a:t>
            </a:r>
            <a:r>
              <a:rPr lang="en-US" sz="2000" err="1">
                <a:latin typeface="+mj-lt"/>
              </a:rPr>
              <a:t>numStrokes</a:t>
            </a:r>
            <a:r>
              <a:rPr lang="en-US" sz="2000">
                <a:latin typeface="+mj-lt"/>
              </a:rPr>
              <a:t> = </a:t>
            </a:r>
            <a:r>
              <a:rPr lang="en-US" sz="2000">
                <a:solidFill>
                  <a:srgbClr val="0432FF"/>
                </a:solidFill>
                <a:latin typeface="+mj-lt"/>
              </a:rPr>
              <a:t>new</a:t>
            </a:r>
            <a:r>
              <a:rPr lang="en-US" sz="2000">
                <a:latin typeface="+mj-lt"/>
              </a:rPr>
              <a:t> </a:t>
            </a:r>
            <a:r>
              <a:rPr lang="en-US" sz="2000">
                <a:solidFill>
                  <a:srgbClr val="000080"/>
                </a:solidFill>
                <a:latin typeface="+mj-lt"/>
              </a:rPr>
              <a:t>int</a:t>
            </a:r>
            <a:r>
              <a:rPr lang="en-US" sz="2000">
                <a:latin typeface="+mj-lt"/>
              </a:rPr>
              <a:t>[</a:t>
            </a:r>
            <a:r>
              <a:rPr lang="en-US" sz="2000">
                <a:solidFill>
                  <a:srgbClr val="0CB5B5"/>
                </a:solidFill>
                <a:latin typeface="+mj-lt"/>
              </a:rPr>
              <a:t>64</a:t>
            </a:r>
            <a:r>
              <a:rPr lang="en-US" sz="2000">
                <a:latin typeface="+mj-lt"/>
              </a:rPr>
              <a:t>];</a:t>
            </a:r>
            <a:br>
              <a:rPr lang="en-US" sz="2000">
                <a:latin typeface="+mj-lt"/>
              </a:rPr>
            </a:br>
            <a:r>
              <a:rPr lang="en-US" sz="2000">
                <a:solidFill>
                  <a:srgbClr val="000080"/>
                </a:solidFill>
                <a:latin typeface="+mj-lt"/>
              </a:rPr>
              <a:t>int</a:t>
            </a:r>
            <a:r>
              <a:rPr lang="en-US" sz="2000">
                <a:latin typeface="+mj-lt"/>
              </a:rPr>
              <a:t>[][] </a:t>
            </a:r>
            <a:r>
              <a:rPr lang="en-US" sz="2000" err="1">
                <a:latin typeface="+mj-lt"/>
              </a:rPr>
              <a:t>numPoints</a:t>
            </a:r>
            <a:r>
              <a:rPr lang="en-US" sz="2000">
                <a:latin typeface="+mj-lt"/>
              </a:rPr>
              <a:t> = </a:t>
            </a:r>
            <a:r>
              <a:rPr lang="en-US" sz="2000">
                <a:solidFill>
                  <a:srgbClr val="0432FF"/>
                </a:solidFill>
                <a:latin typeface="+mj-lt"/>
              </a:rPr>
              <a:t>new</a:t>
            </a:r>
            <a:r>
              <a:rPr lang="en-US" sz="2000">
                <a:latin typeface="+mj-lt"/>
              </a:rPr>
              <a:t> </a:t>
            </a:r>
            <a:r>
              <a:rPr lang="en-US" sz="2000">
                <a:solidFill>
                  <a:srgbClr val="000080"/>
                </a:solidFill>
                <a:latin typeface="+mj-lt"/>
              </a:rPr>
              <a:t>int</a:t>
            </a:r>
            <a:r>
              <a:rPr lang="en-US" sz="2000">
                <a:latin typeface="+mj-lt"/>
              </a:rPr>
              <a:t>[</a:t>
            </a:r>
            <a:r>
              <a:rPr lang="en-US" sz="2000">
                <a:solidFill>
                  <a:srgbClr val="0CB5B5"/>
                </a:solidFill>
                <a:latin typeface="+mj-lt"/>
              </a:rPr>
              <a:t>64</a:t>
            </a:r>
            <a:r>
              <a:rPr lang="en-US" sz="2000">
                <a:latin typeface="+mj-lt"/>
              </a:rPr>
              <a:t>][</a:t>
            </a:r>
            <a:r>
              <a:rPr lang="en-US" sz="2000">
                <a:solidFill>
                  <a:srgbClr val="0CB5B5"/>
                </a:solidFill>
                <a:latin typeface="+mj-lt"/>
              </a:rPr>
              <a:t>512</a:t>
            </a:r>
            <a:r>
              <a:rPr lang="en-US" sz="2000">
                <a:latin typeface="+mj-lt"/>
              </a:rPr>
              <a:t>];</a:t>
            </a:r>
            <a:endParaRPr lang="en-US">
              <a:latin typeface="+mj-lt"/>
            </a:endParaRPr>
          </a:p>
        </p:txBody>
      </p:sp>
    </p:spTree>
    <p:extLst>
      <p:ext uri="{BB962C8B-B14F-4D97-AF65-F5344CB8AC3E}">
        <p14:creationId xmlns:p14="http://schemas.microsoft.com/office/powerpoint/2010/main" val="191926020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2E70E-7079-8E40-B98B-B645807C6C61}"/>
              </a:ext>
            </a:extLst>
          </p:cNvPr>
          <p:cNvSpPr>
            <a:spLocks noGrp="1"/>
          </p:cNvSpPr>
          <p:nvPr>
            <p:ph type="title"/>
          </p:nvPr>
        </p:nvSpPr>
        <p:spPr/>
        <p:txBody>
          <a:bodyPr/>
          <a:lstStyle/>
          <a:p>
            <a:r>
              <a:rPr lang="en-US" sz="3200"/>
              <a:t>these alternatives are probably kind of trash;</a:t>
            </a:r>
            <a:br>
              <a:rPr lang="en-US" sz="4000"/>
            </a:br>
            <a:r>
              <a:rPr lang="en-US" sz="4000"/>
              <a:t>array lists considered </a:t>
            </a:r>
            <a:r>
              <a:rPr lang="en-US" sz="4000" u="sng"/>
              <a:t>helpful</a:t>
            </a:r>
            <a:r>
              <a:rPr lang="en-US" sz="4000"/>
              <a:t> 🙂👍</a:t>
            </a:r>
          </a:p>
        </p:txBody>
      </p:sp>
    </p:spTree>
    <p:extLst>
      <p:ext uri="{BB962C8B-B14F-4D97-AF65-F5344CB8AC3E}">
        <p14:creationId xmlns:p14="http://schemas.microsoft.com/office/powerpoint/2010/main" val="1325552841"/>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9C2820-5F19-1B0D-5E79-3A1C6431C26E}"/>
              </a:ext>
            </a:extLst>
          </p:cNvPr>
          <p:cNvSpPr>
            <a:spLocks noGrp="1"/>
          </p:cNvSpPr>
          <p:nvPr>
            <p:ph type="title"/>
          </p:nvPr>
        </p:nvSpPr>
        <p:spPr/>
        <p:txBody>
          <a:bodyPr/>
          <a:lstStyle/>
          <a:p>
            <a:r>
              <a:rPr lang="en-US"/>
              <a:t>interface</a:t>
            </a:r>
          </a:p>
        </p:txBody>
      </p:sp>
    </p:spTree>
    <p:extLst>
      <p:ext uri="{BB962C8B-B14F-4D97-AF65-F5344CB8AC3E}">
        <p14:creationId xmlns:p14="http://schemas.microsoft.com/office/powerpoint/2010/main" val="4163996028"/>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C7A92B1-B01C-18A2-E92D-BD1A8712726B}"/>
              </a:ext>
            </a:extLst>
          </p:cNvPr>
          <p:cNvSpPr/>
          <p:nvPr/>
        </p:nvSpPr>
        <p:spPr>
          <a:xfrm>
            <a:off x="3329136" y="725180"/>
            <a:ext cx="113355" cy="4163920"/>
          </a:xfrm>
          <a:prstGeom prst="rect">
            <a:avLst/>
          </a:prstGeom>
          <a:solidFill>
            <a:schemeClr val="accent6">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A8CF215-ADB3-7123-C70D-1B363029B144}"/>
              </a:ext>
            </a:extLst>
          </p:cNvPr>
          <p:cNvSpPr txBox="1"/>
          <p:nvPr/>
        </p:nvSpPr>
        <p:spPr>
          <a:xfrm>
            <a:off x="2557421" y="126749"/>
            <a:ext cx="1656784" cy="523220"/>
          </a:xfrm>
          <a:prstGeom prst="rect">
            <a:avLst/>
          </a:prstGeom>
          <a:noFill/>
        </p:spPr>
        <p:txBody>
          <a:bodyPr wrap="square" rtlCol="0">
            <a:spAutoFit/>
          </a:bodyPr>
          <a:lstStyle/>
          <a:p>
            <a:pPr algn="ctr"/>
            <a:r>
              <a:rPr lang="en-US" sz="2800">
                <a:solidFill>
                  <a:schemeClr val="accent6">
                    <a:lumMod val="50000"/>
                  </a:schemeClr>
                </a:solidFill>
              </a:rPr>
              <a:t>interface</a:t>
            </a:r>
          </a:p>
        </p:txBody>
      </p:sp>
      <p:sp>
        <p:nvSpPr>
          <p:cNvPr id="5" name="TextBox 4">
            <a:extLst>
              <a:ext uri="{FF2B5EF4-FFF2-40B4-BE49-F238E27FC236}">
                <a16:creationId xmlns:a16="http://schemas.microsoft.com/office/drawing/2014/main" id="{30625837-5A1D-E510-BCAF-30BAE26CA396}"/>
              </a:ext>
            </a:extLst>
          </p:cNvPr>
          <p:cNvSpPr txBox="1"/>
          <p:nvPr/>
        </p:nvSpPr>
        <p:spPr>
          <a:xfrm>
            <a:off x="556602" y="3180691"/>
            <a:ext cx="2381061" cy="1077218"/>
          </a:xfrm>
          <a:prstGeom prst="rect">
            <a:avLst/>
          </a:prstGeom>
          <a:noFill/>
        </p:spPr>
        <p:txBody>
          <a:bodyPr wrap="square" rtlCol="0">
            <a:spAutoFit/>
          </a:bodyPr>
          <a:lstStyle/>
          <a:p>
            <a:pPr algn="ctr"/>
            <a:r>
              <a:rPr lang="en-US" sz="3200"/>
              <a:t>your</a:t>
            </a:r>
          </a:p>
          <a:p>
            <a:pPr algn="ctr"/>
            <a:r>
              <a:rPr lang="en-US" sz="3200"/>
              <a:t>code</a:t>
            </a:r>
          </a:p>
        </p:txBody>
      </p:sp>
      <p:sp>
        <p:nvSpPr>
          <p:cNvPr id="6" name="TextBox 5">
            <a:extLst>
              <a:ext uri="{FF2B5EF4-FFF2-40B4-BE49-F238E27FC236}">
                <a16:creationId xmlns:a16="http://schemas.microsoft.com/office/drawing/2014/main" id="{A16038A0-0727-D3D9-7E96-83B662A2B011}"/>
              </a:ext>
            </a:extLst>
          </p:cNvPr>
          <p:cNvSpPr txBox="1"/>
          <p:nvPr/>
        </p:nvSpPr>
        <p:spPr>
          <a:xfrm>
            <a:off x="3911097" y="3070564"/>
            <a:ext cx="4970352" cy="954107"/>
          </a:xfrm>
          <a:prstGeom prst="rect">
            <a:avLst/>
          </a:prstGeom>
          <a:noFill/>
        </p:spPr>
        <p:txBody>
          <a:bodyPr wrap="square" rtlCol="0">
            <a:spAutoFit/>
          </a:bodyPr>
          <a:lstStyle/>
          <a:p>
            <a:pPr algn="ctr"/>
            <a:r>
              <a:rPr lang="en-US" sz="2800" err="1">
                <a:latin typeface="+mj-lt"/>
              </a:rPr>
              <a:t>ArrayList</a:t>
            </a:r>
            <a:r>
              <a:rPr lang="en-US" sz="2800">
                <a:latin typeface="+mj-lt"/>
              </a:rPr>
              <a:t>&lt;</a:t>
            </a:r>
            <a:r>
              <a:rPr lang="en-US" sz="2800" err="1">
                <a:latin typeface="+mj-lt"/>
              </a:rPr>
              <a:t>ElementType</a:t>
            </a:r>
            <a:r>
              <a:rPr lang="en-US" sz="2800">
                <a:latin typeface="+mj-lt"/>
              </a:rPr>
              <a:t>&gt;'s</a:t>
            </a:r>
          </a:p>
          <a:p>
            <a:pPr algn="ctr"/>
            <a:r>
              <a:rPr lang="en-US" sz="2800"/>
              <a:t>code</a:t>
            </a:r>
          </a:p>
        </p:txBody>
      </p:sp>
      <p:cxnSp>
        <p:nvCxnSpPr>
          <p:cNvPr id="8" name="Straight Arrow Connector 7">
            <a:extLst>
              <a:ext uri="{FF2B5EF4-FFF2-40B4-BE49-F238E27FC236}">
                <a16:creationId xmlns:a16="http://schemas.microsoft.com/office/drawing/2014/main" id="{CE0866F3-32D5-3FD7-81A7-4841454F63C1}"/>
              </a:ext>
            </a:extLst>
          </p:cNvPr>
          <p:cNvCxnSpPr/>
          <p:nvPr/>
        </p:nvCxnSpPr>
        <p:spPr>
          <a:xfrm>
            <a:off x="2657009" y="2691385"/>
            <a:ext cx="1457608" cy="0"/>
          </a:xfrm>
          <a:prstGeom prst="straightConnector1">
            <a:avLst/>
          </a:prstGeom>
          <a:ln w="76200">
            <a:solidFill>
              <a:schemeClr val="accent6"/>
            </a:solidFill>
            <a:headEnd type="triangle"/>
            <a:tailEnd type="triangle"/>
          </a:ln>
        </p:spPr>
        <p:style>
          <a:lnRef idx="1">
            <a:schemeClr val="accent5"/>
          </a:lnRef>
          <a:fillRef idx="0">
            <a:schemeClr val="accent5"/>
          </a:fillRef>
          <a:effectRef idx="0">
            <a:schemeClr val="accent5"/>
          </a:effectRef>
          <a:fontRef idx="minor">
            <a:schemeClr val="tx1"/>
          </a:fontRef>
        </p:style>
      </p:cxnSp>
      <p:sp>
        <p:nvSpPr>
          <p:cNvPr id="9" name="TextBox 8">
            <a:extLst>
              <a:ext uri="{FF2B5EF4-FFF2-40B4-BE49-F238E27FC236}">
                <a16:creationId xmlns:a16="http://schemas.microsoft.com/office/drawing/2014/main" id="{4D7B2901-D9F4-65D5-3630-71FAAA194502}"/>
              </a:ext>
            </a:extLst>
          </p:cNvPr>
          <p:cNvSpPr txBox="1"/>
          <p:nvPr/>
        </p:nvSpPr>
        <p:spPr>
          <a:xfrm>
            <a:off x="3498441" y="1184938"/>
            <a:ext cx="4227969" cy="1323439"/>
          </a:xfrm>
          <a:prstGeom prst="rect">
            <a:avLst/>
          </a:prstGeom>
          <a:noFill/>
        </p:spPr>
        <p:txBody>
          <a:bodyPr wrap="square" rtlCol="0">
            <a:spAutoFit/>
          </a:bodyPr>
          <a:lstStyle/>
          <a:p>
            <a:r>
              <a:rPr lang="en-US" sz="2000">
                <a:solidFill>
                  <a:schemeClr val="accent6"/>
                </a:solidFill>
                <a:latin typeface="+mj-lt"/>
              </a:rPr>
              <a:t>add</a:t>
            </a:r>
          </a:p>
          <a:p>
            <a:r>
              <a:rPr lang="en-US" sz="2000">
                <a:solidFill>
                  <a:schemeClr val="accent6"/>
                </a:solidFill>
                <a:latin typeface="+mj-lt"/>
              </a:rPr>
              <a:t>get</a:t>
            </a:r>
          </a:p>
          <a:p>
            <a:r>
              <a:rPr lang="en-US" sz="2000">
                <a:solidFill>
                  <a:schemeClr val="accent6"/>
                </a:solidFill>
                <a:latin typeface="+mj-lt"/>
              </a:rPr>
              <a:t>set</a:t>
            </a:r>
          </a:p>
          <a:p>
            <a:r>
              <a:rPr lang="en-US" sz="2000">
                <a:solidFill>
                  <a:schemeClr val="accent6"/>
                </a:solidFill>
                <a:latin typeface="+mj-lt"/>
              </a:rPr>
              <a:t>remove, ...</a:t>
            </a:r>
          </a:p>
        </p:txBody>
      </p:sp>
    </p:spTree>
    <p:extLst>
      <p:ext uri="{BB962C8B-B14F-4D97-AF65-F5344CB8AC3E}">
        <p14:creationId xmlns:p14="http://schemas.microsoft.com/office/powerpoint/2010/main" val="3778790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Transport Proteins: Definition, Types, Functions, &amp; Examples">
            <a:extLst>
              <a:ext uri="{FF2B5EF4-FFF2-40B4-BE49-F238E27FC236}">
                <a16:creationId xmlns:a16="http://schemas.microsoft.com/office/drawing/2014/main" id="{47510F15-4AD1-CFD6-22B3-3A4366D77A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478713" cy="51435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ttracting Students to the Liberal Arts Through Integrative Curricula –  National Humanities Alliance">
            <a:extLst>
              <a:ext uri="{FF2B5EF4-FFF2-40B4-BE49-F238E27FC236}">
                <a16:creationId xmlns:a16="http://schemas.microsoft.com/office/drawing/2014/main" id="{E83CD16D-8F16-B736-D9A9-D4F3B7658EDE}"/>
              </a:ext>
            </a:extLst>
          </p:cNvPr>
          <p:cNvPicPr>
            <a:picLocks noChangeAspect="1"/>
          </p:cNvPicPr>
          <p:nvPr/>
        </p:nvPicPr>
        <p:blipFill>
          <a:blip r:embed="rId3"/>
          <a:srcRect l="17671" t="36667" r="19000" b="40049"/>
          <a:stretch>
            <a:fillRect/>
          </a:stretch>
        </p:blipFill>
        <p:spPr>
          <a:xfrm rot="254203">
            <a:off x="6133138" y="-22930"/>
            <a:ext cx="2974529" cy="1093629"/>
          </a:xfrm>
          <a:prstGeom prst="rect">
            <a:avLst/>
          </a:prstGeom>
          <a:ln>
            <a:solidFill>
              <a:schemeClr val="tx1"/>
            </a:solidFill>
          </a:ln>
        </p:spPr>
      </p:pic>
    </p:spTree>
    <p:extLst>
      <p:ext uri="{BB962C8B-B14F-4D97-AF65-F5344CB8AC3E}">
        <p14:creationId xmlns:p14="http://schemas.microsoft.com/office/powerpoint/2010/main" val="645211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75BC7AC-D145-7B5F-459D-BE58805A2AF3}"/>
              </a:ext>
            </a:extLst>
          </p:cNvPr>
          <p:cNvSpPr>
            <a:spLocks noGrp="1"/>
          </p:cNvSpPr>
          <p:nvPr>
            <p:ph type="title"/>
          </p:nvPr>
        </p:nvSpPr>
        <p:spPr/>
        <p:txBody>
          <a:bodyPr/>
          <a:lstStyle/>
          <a:p>
            <a:r>
              <a:rPr lang="en-US"/>
              <a:t>interface</a:t>
            </a:r>
          </a:p>
        </p:txBody>
      </p:sp>
      <p:sp>
        <p:nvSpPr>
          <p:cNvPr id="4" name="Content Placeholder 3">
            <a:extLst>
              <a:ext uri="{FF2B5EF4-FFF2-40B4-BE49-F238E27FC236}">
                <a16:creationId xmlns:a16="http://schemas.microsoft.com/office/drawing/2014/main" id="{70401437-5ED6-3001-7EBD-6829E9E03D3A}"/>
              </a:ext>
            </a:extLst>
          </p:cNvPr>
          <p:cNvSpPr>
            <a:spLocks noGrp="1"/>
          </p:cNvSpPr>
          <p:nvPr>
            <p:ph sz="quarter" idx="10"/>
          </p:nvPr>
        </p:nvSpPr>
        <p:spPr/>
        <p:txBody>
          <a:bodyPr/>
          <a:lstStyle/>
          <a:p>
            <a:r>
              <a:rPr lang="en-US" b="0" i="0">
                <a:solidFill>
                  <a:srgbClr val="202122"/>
                </a:solidFill>
                <a:effectLst/>
                <a:latin typeface="Arial" panose="020B0604020202020204" pitchFamily="34" charset="0"/>
              </a:rPr>
              <a:t>a data structure's </a:t>
            </a:r>
            <a:r>
              <a:rPr lang="en-US" b="1" i="0">
                <a:solidFill>
                  <a:srgbClr val="202122"/>
                </a:solidFill>
                <a:effectLst/>
                <a:latin typeface="Arial" panose="020B0604020202020204" pitchFamily="34" charset="0"/>
              </a:rPr>
              <a:t>interfa</a:t>
            </a:r>
            <a:r>
              <a:rPr lang="en-US" b="1">
                <a:solidFill>
                  <a:srgbClr val="202122"/>
                </a:solidFill>
                <a:latin typeface="Arial" panose="020B0604020202020204" pitchFamily="34" charset="0"/>
              </a:rPr>
              <a:t>ce</a:t>
            </a:r>
            <a:r>
              <a:rPr lang="en-US">
                <a:solidFill>
                  <a:srgbClr val="202122"/>
                </a:solidFill>
                <a:latin typeface="Arial" panose="020B0604020202020204" pitchFamily="34" charset="0"/>
              </a:rPr>
              <a:t> (</a:t>
            </a:r>
            <a:r>
              <a:rPr lang="en-US" b="1">
                <a:solidFill>
                  <a:srgbClr val="202122"/>
                </a:solidFill>
                <a:latin typeface="Arial" panose="020B0604020202020204" pitchFamily="34" charset="0"/>
              </a:rPr>
              <a:t>API</a:t>
            </a:r>
            <a:r>
              <a:rPr lang="en-US">
                <a:solidFill>
                  <a:srgbClr val="202122"/>
                </a:solidFill>
                <a:latin typeface="Arial" panose="020B0604020202020204" pitchFamily="34" charset="0"/>
              </a:rPr>
              <a:t>) or </a:t>
            </a:r>
            <a:r>
              <a:rPr lang="en-US" b="1">
                <a:solidFill>
                  <a:srgbClr val="202122"/>
                </a:solidFill>
                <a:latin typeface="Arial" panose="020B0604020202020204" pitchFamily="34" charset="0"/>
              </a:rPr>
              <a:t>abstract data type</a:t>
            </a:r>
            <a:r>
              <a:rPr lang="en-US">
                <a:solidFill>
                  <a:srgbClr val="202122"/>
                </a:solidFill>
                <a:latin typeface="Arial" panose="020B0604020202020204" pitchFamily="34" charset="0"/>
              </a:rPr>
              <a:t> is a set of functions a data structure must have</a:t>
            </a:r>
          </a:p>
          <a:p>
            <a:pPr lvl="1"/>
            <a:r>
              <a:rPr lang="en-US">
                <a:solidFill>
                  <a:srgbClr val="202122"/>
                </a:solidFill>
                <a:latin typeface="Arial" panose="020B0604020202020204" pitchFamily="34" charset="0"/>
              </a:rPr>
              <a:t>a </a:t>
            </a:r>
            <a:r>
              <a:rPr lang="en-US" b="1">
                <a:solidFill>
                  <a:srgbClr val="202122"/>
                </a:solidFill>
                <a:latin typeface="Arial" panose="020B0604020202020204" pitchFamily="34" charset="0"/>
              </a:rPr>
              <a:t>list</a:t>
            </a:r>
            <a:r>
              <a:rPr lang="en-US">
                <a:solidFill>
                  <a:srgbClr val="202122"/>
                </a:solidFill>
                <a:latin typeface="Arial" panose="020B0604020202020204" pitchFamily="34" charset="0"/>
              </a:rPr>
              <a:t> has...</a:t>
            </a:r>
          </a:p>
          <a:p>
            <a:pPr lvl="2"/>
            <a:r>
              <a:rPr lang="en-US" b="1" i="0">
                <a:solidFill>
                  <a:srgbClr val="202122"/>
                </a:solidFill>
                <a:effectLst/>
                <a:latin typeface="Arial" panose="020B0604020202020204" pitchFamily="34" charset="0"/>
              </a:rPr>
              <a:t>get(int index)</a:t>
            </a:r>
            <a:endParaRPr lang="en-US" b="1">
              <a:solidFill>
                <a:srgbClr val="202122"/>
              </a:solidFill>
              <a:latin typeface="Arial" panose="020B0604020202020204" pitchFamily="34" charset="0"/>
            </a:endParaRPr>
          </a:p>
          <a:p>
            <a:pPr lvl="2"/>
            <a:r>
              <a:rPr lang="en-US" b="1">
                <a:solidFill>
                  <a:srgbClr val="202122"/>
                </a:solidFill>
                <a:latin typeface="Arial" panose="020B0604020202020204" pitchFamily="34" charset="0"/>
              </a:rPr>
              <a:t>set</a:t>
            </a:r>
          </a:p>
          <a:p>
            <a:pPr lvl="2"/>
            <a:r>
              <a:rPr lang="en-US" b="1">
                <a:solidFill>
                  <a:srgbClr val="202122"/>
                </a:solidFill>
                <a:latin typeface="Arial" panose="020B0604020202020204" pitchFamily="34" charset="0"/>
              </a:rPr>
              <a:t>add</a:t>
            </a:r>
          </a:p>
          <a:p>
            <a:pPr lvl="2"/>
            <a:r>
              <a:rPr lang="en-US" b="1">
                <a:solidFill>
                  <a:srgbClr val="202122"/>
                </a:solidFill>
                <a:latin typeface="Arial" panose="020B0604020202020204" pitchFamily="34" charset="0"/>
              </a:rPr>
              <a:t>remove</a:t>
            </a:r>
          </a:p>
          <a:p>
            <a:pPr lvl="2"/>
            <a:r>
              <a:rPr lang="en-US">
                <a:solidFill>
                  <a:srgbClr val="202122"/>
                </a:solidFill>
                <a:latin typeface="Arial" panose="020B0604020202020204" pitchFamily="34" charset="0"/>
              </a:rPr>
              <a:t>etc.</a:t>
            </a:r>
          </a:p>
          <a:p>
            <a:r>
              <a:rPr lang="en-US">
                <a:solidFill>
                  <a:srgbClr val="202122"/>
                </a:solidFill>
                <a:latin typeface="Arial" panose="020B0604020202020204" pitchFamily="34" charset="0"/>
              </a:rPr>
              <a:t>a </a:t>
            </a:r>
            <a:r>
              <a:rPr lang="en-US" b="1">
                <a:solidFill>
                  <a:srgbClr val="202122"/>
                </a:solidFill>
                <a:latin typeface="Arial" panose="020B0604020202020204" pitchFamily="34" charset="0"/>
              </a:rPr>
              <a:t>data structure</a:t>
            </a:r>
            <a:r>
              <a:rPr lang="en-US">
                <a:solidFill>
                  <a:srgbClr val="202122"/>
                </a:solidFill>
                <a:latin typeface="Arial" panose="020B0604020202020204" pitchFamily="34" charset="0"/>
              </a:rPr>
              <a:t> is a specific </a:t>
            </a:r>
            <a:r>
              <a:rPr lang="en-US" b="1">
                <a:solidFill>
                  <a:srgbClr val="202122"/>
                </a:solidFill>
                <a:latin typeface="Arial" panose="020B0604020202020204" pitchFamily="34" charset="0"/>
              </a:rPr>
              <a:t>implementation </a:t>
            </a:r>
            <a:r>
              <a:rPr lang="en-US">
                <a:solidFill>
                  <a:srgbClr val="202122"/>
                </a:solidFill>
                <a:latin typeface="Arial" panose="020B0604020202020204" pitchFamily="34" charset="0"/>
              </a:rPr>
              <a:t>(code that does the thing)</a:t>
            </a:r>
            <a:br>
              <a:rPr lang="en-US">
                <a:solidFill>
                  <a:srgbClr val="202122"/>
                </a:solidFill>
                <a:latin typeface="Arial" panose="020B0604020202020204" pitchFamily="34" charset="0"/>
              </a:rPr>
            </a:br>
            <a:r>
              <a:rPr lang="en-US">
                <a:solidFill>
                  <a:srgbClr val="202122"/>
                </a:solidFill>
                <a:latin typeface="Arial" panose="020B0604020202020204" pitchFamily="34" charset="0"/>
              </a:rPr>
              <a:t>of that interface</a:t>
            </a:r>
          </a:p>
          <a:p>
            <a:pPr lvl="1"/>
            <a:r>
              <a:rPr lang="en-US">
                <a:solidFill>
                  <a:srgbClr val="202122"/>
                </a:solidFill>
                <a:latin typeface="Arial" panose="020B0604020202020204" pitchFamily="34" charset="0"/>
              </a:rPr>
              <a:t>an </a:t>
            </a:r>
            <a:r>
              <a:rPr lang="en-US" b="1">
                <a:solidFill>
                  <a:srgbClr val="202122"/>
                </a:solidFill>
                <a:latin typeface="Arial" panose="020B0604020202020204" pitchFamily="34" charset="0"/>
              </a:rPr>
              <a:t>array list</a:t>
            </a:r>
            <a:r>
              <a:rPr lang="en-US">
                <a:solidFill>
                  <a:srgbClr val="202122"/>
                </a:solidFill>
                <a:latin typeface="Arial" panose="020B0604020202020204" pitchFamily="34" charset="0"/>
              </a:rPr>
              <a:t> implements the list interface using an array</a:t>
            </a:r>
          </a:p>
          <a:p>
            <a:pPr lvl="1"/>
            <a:r>
              <a:rPr lang="en-US" i="0">
                <a:solidFill>
                  <a:srgbClr val="202122"/>
                </a:solidFill>
                <a:effectLst/>
                <a:latin typeface="Arial" panose="020B0604020202020204" pitchFamily="34" charset="0"/>
              </a:rPr>
              <a:t>🔮 a </a:t>
            </a:r>
            <a:r>
              <a:rPr lang="en-US" b="1">
                <a:solidFill>
                  <a:srgbClr val="202122"/>
                </a:solidFill>
                <a:latin typeface="Arial" panose="020B0604020202020204" pitchFamily="34" charset="0"/>
              </a:rPr>
              <a:t>linked list</a:t>
            </a:r>
            <a:r>
              <a:rPr lang="en-US">
                <a:solidFill>
                  <a:srgbClr val="202122"/>
                </a:solidFill>
                <a:latin typeface="Arial" panose="020B0604020202020204" pitchFamily="34" charset="0"/>
              </a:rPr>
              <a:t> implements a list using nodes that refer to nodes</a:t>
            </a:r>
            <a:endParaRPr lang="en-US" i="0">
              <a:solidFill>
                <a:srgbClr val="202122"/>
              </a:solidFill>
              <a:effectLst/>
              <a:latin typeface="Arial" panose="020B0604020202020204" pitchFamily="34" charset="0"/>
            </a:endParaRPr>
          </a:p>
        </p:txBody>
      </p:sp>
    </p:spTree>
    <p:extLst>
      <p:ext uri="{BB962C8B-B14F-4D97-AF65-F5344CB8AC3E}">
        <p14:creationId xmlns:p14="http://schemas.microsoft.com/office/powerpoint/2010/main" val="1866810678"/>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F21425-5557-55E0-E358-253E8B486FF7}"/>
              </a:ext>
            </a:extLst>
          </p:cNvPr>
          <p:cNvPicPr>
            <a:picLocks noChangeAspect="1"/>
          </p:cNvPicPr>
          <p:nvPr/>
        </p:nvPicPr>
        <p:blipFill>
          <a:blip r:embed="rId2"/>
          <a:stretch>
            <a:fillRect/>
          </a:stretch>
        </p:blipFill>
        <p:spPr>
          <a:xfrm>
            <a:off x="1094568" y="0"/>
            <a:ext cx="6954864" cy="5143500"/>
          </a:xfrm>
          <a:prstGeom prst="rect">
            <a:avLst/>
          </a:prstGeom>
        </p:spPr>
      </p:pic>
    </p:spTree>
    <p:extLst>
      <p:ext uri="{BB962C8B-B14F-4D97-AF65-F5344CB8AC3E}">
        <p14:creationId xmlns:p14="http://schemas.microsoft.com/office/powerpoint/2010/main" val="435449681"/>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40C0887-2FFA-5DB0-F1C8-CAB1B7DCA301}"/>
              </a:ext>
            </a:extLst>
          </p:cNvPr>
          <p:cNvSpPr>
            <a:spLocks noGrp="1"/>
          </p:cNvSpPr>
          <p:nvPr>
            <p:ph type="title"/>
          </p:nvPr>
        </p:nvSpPr>
        <p:spPr/>
        <p:txBody>
          <a:bodyPr>
            <a:noAutofit/>
          </a:bodyPr>
          <a:lstStyle/>
          <a:p>
            <a:pPr algn="l"/>
            <a:r>
              <a:rPr lang="en-US" sz="2400"/>
              <a:t>you can get (very) formal about interfaces</a:t>
            </a:r>
            <a:br>
              <a:rPr lang="en-US" sz="2400"/>
            </a:br>
            <a:r>
              <a:rPr lang="en-US" sz="2400"/>
              <a:t>(abstract data types)</a:t>
            </a:r>
          </a:p>
        </p:txBody>
      </p:sp>
      <p:sp>
        <p:nvSpPr>
          <p:cNvPr id="5" name="Content Placeholder 4">
            <a:extLst>
              <a:ext uri="{FF2B5EF4-FFF2-40B4-BE49-F238E27FC236}">
                <a16:creationId xmlns:a16="http://schemas.microsoft.com/office/drawing/2014/main" id="{779D0D7D-97DF-B599-1084-879F1AD7A6F8}"/>
              </a:ext>
            </a:extLst>
          </p:cNvPr>
          <p:cNvSpPr>
            <a:spLocks noGrp="1"/>
          </p:cNvSpPr>
          <p:nvPr>
            <p:ph sz="quarter" idx="10"/>
          </p:nvPr>
        </p:nvSpPr>
        <p:spPr/>
        <p:txBody>
          <a:bodyPr>
            <a:noAutofit/>
          </a:bodyPr>
          <a:lstStyle/>
          <a:p>
            <a:pPr marL="0" indent="0" algn="l">
              <a:buNone/>
            </a:pPr>
            <a:r>
              <a:rPr lang="en-US" sz="1400" b="0" i="0" u="none" strike="noStrike">
                <a:solidFill>
                  <a:schemeClr val="bg2"/>
                </a:solidFill>
                <a:effectLst/>
                <a:latin typeface="Arial" panose="020B0604020202020204" pitchFamily="34" charset="0"/>
              </a:rPr>
              <a:t>The abstract list type </a:t>
            </a:r>
            <a:r>
              <a:rPr lang="en-US" sz="1400" b="0" i="1" u="none" strike="noStrike">
                <a:solidFill>
                  <a:schemeClr val="bg2"/>
                </a:solidFill>
                <a:effectLst/>
                <a:latin typeface="Arial" panose="020B0604020202020204" pitchFamily="34" charset="0"/>
              </a:rPr>
              <a:t>L</a:t>
            </a:r>
            <a:r>
              <a:rPr lang="en-US" sz="1400" b="0" i="0" u="none" strike="noStrike">
                <a:solidFill>
                  <a:schemeClr val="bg2"/>
                </a:solidFill>
                <a:effectLst/>
                <a:latin typeface="Arial" panose="020B0604020202020204" pitchFamily="34" charset="0"/>
              </a:rPr>
              <a:t> with elements of some type </a:t>
            </a:r>
            <a:r>
              <a:rPr lang="en-US" sz="1400" b="0" i="1" u="none" strike="noStrike">
                <a:solidFill>
                  <a:schemeClr val="bg2"/>
                </a:solidFill>
                <a:effectLst/>
                <a:latin typeface="Arial" panose="020B0604020202020204" pitchFamily="34" charset="0"/>
              </a:rPr>
              <a:t>E</a:t>
            </a:r>
            <a:r>
              <a:rPr lang="en-US" sz="1400" b="0" i="0" u="none" strike="noStrike">
                <a:solidFill>
                  <a:schemeClr val="bg2"/>
                </a:solidFill>
                <a:effectLst/>
                <a:latin typeface="Arial" panose="020B0604020202020204" pitchFamily="34" charset="0"/>
              </a:rPr>
              <a:t> (a </a:t>
            </a:r>
            <a:r>
              <a:rPr lang="en-US" sz="1400" b="0" i="0" u="none" strike="noStrike">
                <a:solidFill>
                  <a:schemeClr val="bg2"/>
                </a:solidFill>
                <a:effectLst/>
                <a:latin typeface="Arial" panose="020B0604020202020204" pitchFamily="34" charset="0"/>
                <a:hlinkClick r:id="rId2" tooltip="Type polymorphism">
                  <a:extLst>
                    <a:ext uri="{A12FA001-AC4F-418D-AE19-62706E023703}">
                      <ahyp:hlinkClr xmlns:ahyp="http://schemas.microsoft.com/office/drawing/2018/hyperlinkcolor" val="tx"/>
                    </a:ext>
                  </a:extLst>
                </a:hlinkClick>
              </a:rPr>
              <a:t>monomorphic</a:t>
            </a:r>
            <a:r>
              <a:rPr lang="en-US" sz="1400" b="0" i="0" u="none" strike="noStrike">
                <a:solidFill>
                  <a:schemeClr val="bg2"/>
                </a:solidFill>
                <a:effectLst/>
                <a:latin typeface="Arial" panose="020B0604020202020204" pitchFamily="34" charset="0"/>
              </a:rPr>
              <a:t> list) is defined by the following functions:</a:t>
            </a:r>
          </a:p>
          <a:p>
            <a:pPr marL="342886" lvl="1" indent="0">
              <a:buNone/>
            </a:pPr>
            <a:r>
              <a:rPr lang="en-US" sz="1400">
                <a:solidFill>
                  <a:schemeClr val="bg2"/>
                </a:solidFill>
              </a:rPr>
              <a:t>nil: () → </a:t>
            </a:r>
            <a:r>
              <a:rPr lang="en-US" sz="1400" i="1">
                <a:solidFill>
                  <a:schemeClr val="bg2"/>
                </a:solidFill>
                <a:effectLst/>
              </a:rPr>
              <a:t>L</a:t>
            </a:r>
          </a:p>
          <a:p>
            <a:pPr marL="342886" lvl="1" indent="0">
              <a:buNone/>
            </a:pPr>
            <a:r>
              <a:rPr lang="en-US" sz="1400">
                <a:solidFill>
                  <a:schemeClr val="bg2"/>
                </a:solidFill>
              </a:rPr>
              <a:t>cons: </a:t>
            </a:r>
            <a:r>
              <a:rPr lang="en-US" sz="1400" i="1">
                <a:solidFill>
                  <a:schemeClr val="bg2"/>
                </a:solidFill>
                <a:effectLst/>
              </a:rPr>
              <a:t>E</a:t>
            </a:r>
            <a:r>
              <a:rPr lang="en-US" sz="1400">
                <a:solidFill>
                  <a:schemeClr val="bg2"/>
                </a:solidFill>
              </a:rPr>
              <a:t> × </a:t>
            </a:r>
            <a:r>
              <a:rPr lang="en-US" sz="1400" i="1">
                <a:solidFill>
                  <a:schemeClr val="bg2"/>
                </a:solidFill>
                <a:effectLst/>
              </a:rPr>
              <a:t>L</a:t>
            </a:r>
            <a:r>
              <a:rPr lang="en-US" sz="1400">
                <a:solidFill>
                  <a:schemeClr val="bg2"/>
                </a:solidFill>
              </a:rPr>
              <a:t> → </a:t>
            </a:r>
            <a:r>
              <a:rPr lang="en-US" sz="1400" i="1">
                <a:solidFill>
                  <a:schemeClr val="bg2"/>
                </a:solidFill>
                <a:effectLst/>
              </a:rPr>
              <a:t>L</a:t>
            </a:r>
          </a:p>
          <a:p>
            <a:pPr marL="342886" lvl="1" indent="0">
              <a:buNone/>
            </a:pPr>
            <a:r>
              <a:rPr lang="en-US" sz="1400">
                <a:solidFill>
                  <a:schemeClr val="bg2"/>
                </a:solidFill>
              </a:rPr>
              <a:t>first: </a:t>
            </a:r>
            <a:r>
              <a:rPr lang="en-US" sz="1400" i="1">
                <a:solidFill>
                  <a:schemeClr val="bg2"/>
                </a:solidFill>
                <a:effectLst/>
              </a:rPr>
              <a:t>L</a:t>
            </a:r>
            <a:r>
              <a:rPr lang="en-US" sz="1400">
                <a:solidFill>
                  <a:schemeClr val="bg2"/>
                </a:solidFill>
              </a:rPr>
              <a:t> → </a:t>
            </a:r>
            <a:r>
              <a:rPr lang="en-US" sz="1400" i="1">
                <a:solidFill>
                  <a:schemeClr val="bg2"/>
                </a:solidFill>
                <a:effectLst/>
              </a:rPr>
              <a:t>E</a:t>
            </a:r>
          </a:p>
          <a:p>
            <a:pPr marL="342886" lvl="1" indent="0">
              <a:buNone/>
            </a:pPr>
            <a:r>
              <a:rPr lang="en-US" sz="1400">
                <a:solidFill>
                  <a:schemeClr val="bg2"/>
                </a:solidFill>
              </a:rPr>
              <a:t>rest: </a:t>
            </a:r>
            <a:r>
              <a:rPr lang="en-US" sz="1400" i="1">
                <a:solidFill>
                  <a:schemeClr val="bg2"/>
                </a:solidFill>
                <a:effectLst/>
              </a:rPr>
              <a:t>L</a:t>
            </a:r>
            <a:r>
              <a:rPr lang="en-US" sz="1400">
                <a:solidFill>
                  <a:schemeClr val="bg2"/>
                </a:solidFill>
              </a:rPr>
              <a:t> → </a:t>
            </a:r>
            <a:r>
              <a:rPr lang="en-US" sz="1400" i="1">
                <a:solidFill>
                  <a:schemeClr val="bg2"/>
                </a:solidFill>
                <a:effectLst/>
              </a:rPr>
              <a:t>L</a:t>
            </a:r>
          </a:p>
          <a:p>
            <a:pPr marL="0" indent="0" algn="l">
              <a:buNone/>
            </a:pPr>
            <a:r>
              <a:rPr lang="en-US" sz="1400" b="0" i="0" u="none" strike="noStrike">
                <a:solidFill>
                  <a:schemeClr val="bg2"/>
                </a:solidFill>
                <a:effectLst/>
                <a:latin typeface="Arial" panose="020B0604020202020204" pitchFamily="34" charset="0"/>
              </a:rPr>
              <a:t>with the axioms</a:t>
            </a:r>
          </a:p>
          <a:p>
            <a:pPr marL="342886" lvl="1" indent="0">
              <a:buNone/>
            </a:pPr>
            <a:r>
              <a:rPr lang="en-US" sz="1400">
                <a:solidFill>
                  <a:schemeClr val="bg2"/>
                </a:solidFill>
              </a:rPr>
              <a:t>first (cons (</a:t>
            </a:r>
            <a:r>
              <a:rPr lang="en-US" sz="1400" i="1">
                <a:solidFill>
                  <a:schemeClr val="bg2"/>
                </a:solidFill>
                <a:effectLst/>
              </a:rPr>
              <a:t>e</a:t>
            </a:r>
            <a:r>
              <a:rPr lang="en-US" sz="1400">
                <a:solidFill>
                  <a:schemeClr val="bg2"/>
                </a:solidFill>
              </a:rPr>
              <a:t>, </a:t>
            </a:r>
            <a:r>
              <a:rPr lang="en-US" sz="1400" i="1">
                <a:solidFill>
                  <a:schemeClr val="bg2"/>
                </a:solidFill>
                <a:effectLst/>
              </a:rPr>
              <a:t>l</a:t>
            </a:r>
            <a:r>
              <a:rPr lang="en-US" sz="1400">
                <a:solidFill>
                  <a:schemeClr val="bg2"/>
                </a:solidFill>
              </a:rPr>
              <a:t>)) = </a:t>
            </a:r>
            <a:r>
              <a:rPr lang="en-US" sz="1400" i="1">
                <a:solidFill>
                  <a:schemeClr val="bg2"/>
                </a:solidFill>
                <a:effectLst/>
              </a:rPr>
              <a:t>e</a:t>
            </a:r>
          </a:p>
          <a:p>
            <a:pPr marL="342886" lvl="1" indent="0">
              <a:buNone/>
            </a:pPr>
            <a:r>
              <a:rPr lang="en-US" sz="1400">
                <a:solidFill>
                  <a:schemeClr val="bg2"/>
                </a:solidFill>
              </a:rPr>
              <a:t>rest (cons (</a:t>
            </a:r>
            <a:r>
              <a:rPr lang="en-US" sz="1400" i="1">
                <a:solidFill>
                  <a:schemeClr val="bg2"/>
                </a:solidFill>
                <a:effectLst/>
              </a:rPr>
              <a:t>e</a:t>
            </a:r>
            <a:r>
              <a:rPr lang="en-US" sz="1400">
                <a:solidFill>
                  <a:schemeClr val="bg2"/>
                </a:solidFill>
              </a:rPr>
              <a:t>, </a:t>
            </a:r>
            <a:r>
              <a:rPr lang="en-US" sz="1400" i="1">
                <a:solidFill>
                  <a:schemeClr val="bg2"/>
                </a:solidFill>
                <a:effectLst/>
              </a:rPr>
              <a:t>l</a:t>
            </a:r>
            <a:r>
              <a:rPr lang="en-US" sz="1400">
                <a:solidFill>
                  <a:schemeClr val="bg2"/>
                </a:solidFill>
              </a:rPr>
              <a:t>)) = </a:t>
            </a:r>
            <a:r>
              <a:rPr lang="en-US" sz="1400" i="1">
                <a:solidFill>
                  <a:schemeClr val="bg2"/>
                </a:solidFill>
                <a:effectLst/>
              </a:rPr>
              <a:t>l</a:t>
            </a:r>
          </a:p>
          <a:p>
            <a:pPr marL="0" indent="0" algn="l">
              <a:buNone/>
            </a:pPr>
            <a:r>
              <a:rPr lang="en-US" sz="1400" b="0" i="0" u="none" strike="noStrike">
                <a:solidFill>
                  <a:schemeClr val="bg2"/>
                </a:solidFill>
                <a:effectLst/>
                <a:latin typeface="Arial" panose="020B0604020202020204" pitchFamily="34" charset="0"/>
              </a:rPr>
              <a:t>for any element </a:t>
            </a:r>
            <a:r>
              <a:rPr lang="en-US" sz="1400" b="0" i="1" u="none" strike="noStrike">
                <a:solidFill>
                  <a:schemeClr val="bg2"/>
                </a:solidFill>
                <a:effectLst/>
                <a:latin typeface="Arial" panose="020B0604020202020204" pitchFamily="34" charset="0"/>
              </a:rPr>
              <a:t>e</a:t>
            </a:r>
            <a:r>
              <a:rPr lang="en-US" sz="1400" b="0" i="0" u="none" strike="noStrike">
                <a:solidFill>
                  <a:schemeClr val="bg2"/>
                </a:solidFill>
                <a:effectLst/>
                <a:latin typeface="Arial" panose="020B0604020202020204" pitchFamily="34" charset="0"/>
              </a:rPr>
              <a:t> and any list </a:t>
            </a:r>
            <a:r>
              <a:rPr lang="en-US" sz="1400" b="0" i="1" u="none" strike="noStrike">
                <a:solidFill>
                  <a:schemeClr val="bg2"/>
                </a:solidFill>
                <a:effectLst/>
                <a:latin typeface="Arial" panose="020B0604020202020204" pitchFamily="34" charset="0"/>
              </a:rPr>
              <a:t>l</a:t>
            </a:r>
            <a:r>
              <a:rPr lang="en-US" sz="1400" b="0" i="0" u="none" strike="noStrike">
                <a:solidFill>
                  <a:schemeClr val="bg2"/>
                </a:solidFill>
                <a:effectLst/>
                <a:latin typeface="Arial" panose="020B0604020202020204" pitchFamily="34" charset="0"/>
              </a:rPr>
              <a:t>. It is implicit that</a:t>
            </a:r>
          </a:p>
          <a:p>
            <a:pPr marL="342886" lvl="1" indent="0">
              <a:buNone/>
            </a:pPr>
            <a:r>
              <a:rPr lang="en-US" sz="1400">
                <a:solidFill>
                  <a:schemeClr val="bg2"/>
                </a:solidFill>
              </a:rPr>
              <a:t>cons (</a:t>
            </a:r>
            <a:r>
              <a:rPr lang="en-US" sz="1400" i="1">
                <a:solidFill>
                  <a:schemeClr val="bg2"/>
                </a:solidFill>
                <a:effectLst/>
              </a:rPr>
              <a:t>e</a:t>
            </a:r>
            <a:r>
              <a:rPr lang="en-US" sz="1400">
                <a:solidFill>
                  <a:schemeClr val="bg2"/>
                </a:solidFill>
              </a:rPr>
              <a:t>, </a:t>
            </a:r>
            <a:r>
              <a:rPr lang="en-US" sz="1400" i="1">
                <a:solidFill>
                  <a:schemeClr val="bg2"/>
                </a:solidFill>
                <a:effectLst/>
              </a:rPr>
              <a:t>l</a:t>
            </a:r>
            <a:r>
              <a:rPr lang="en-US" sz="1400">
                <a:solidFill>
                  <a:schemeClr val="bg2"/>
                </a:solidFill>
              </a:rPr>
              <a:t>) ≠ </a:t>
            </a:r>
            <a:r>
              <a:rPr lang="en-US" sz="1400" i="1">
                <a:solidFill>
                  <a:schemeClr val="bg2"/>
                </a:solidFill>
                <a:effectLst/>
              </a:rPr>
              <a:t>l</a:t>
            </a:r>
          </a:p>
          <a:p>
            <a:pPr marL="342886" lvl="1" indent="0">
              <a:buNone/>
            </a:pPr>
            <a:r>
              <a:rPr lang="en-US" sz="1400">
                <a:solidFill>
                  <a:schemeClr val="bg2"/>
                </a:solidFill>
              </a:rPr>
              <a:t>cons (</a:t>
            </a:r>
            <a:r>
              <a:rPr lang="en-US" sz="1400" i="1">
                <a:solidFill>
                  <a:schemeClr val="bg2"/>
                </a:solidFill>
                <a:effectLst/>
              </a:rPr>
              <a:t>e</a:t>
            </a:r>
            <a:r>
              <a:rPr lang="en-US" sz="1400">
                <a:solidFill>
                  <a:schemeClr val="bg2"/>
                </a:solidFill>
              </a:rPr>
              <a:t>, </a:t>
            </a:r>
            <a:r>
              <a:rPr lang="en-US" sz="1400" i="1">
                <a:solidFill>
                  <a:schemeClr val="bg2"/>
                </a:solidFill>
                <a:effectLst/>
              </a:rPr>
              <a:t>l</a:t>
            </a:r>
            <a:r>
              <a:rPr lang="en-US" sz="1400">
                <a:solidFill>
                  <a:schemeClr val="bg2"/>
                </a:solidFill>
              </a:rPr>
              <a:t>) ≠ </a:t>
            </a:r>
            <a:r>
              <a:rPr lang="en-US" sz="1400" i="1">
                <a:solidFill>
                  <a:schemeClr val="bg2"/>
                </a:solidFill>
                <a:effectLst/>
              </a:rPr>
              <a:t>e</a:t>
            </a:r>
          </a:p>
          <a:p>
            <a:pPr marL="342886" lvl="1" indent="0">
              <a:buNone/>
            </a:pPr>
            <a:r>
              <a:rPr lang="en-US" sz="1400">
                <a:solidFill>
                  <a:schemeClr val="bg2"/>
                </a:solidFill>
              </a:rPr>
              <a:t>cons (</a:t>
            </a:r>
            <a:r>
              <a:rPr lang="en-US" sz="1400" i="1">
                <a:solidFill>
                  <a:schemeClr val="bg2"/>
                </a:solidFill>
                <a:effectLst/>
              </a:rPr>
              <a:t>e</a:t>
            </a:r>
            <a:r>
              <a:rPr lang="en-US" sz="1400" baseline="-25000">
                <a:solidFill>
                  <a:schemeClr val="bg2"/>
                </a:solidFill>
                <a:effectLst/>
              </a:rPr>
              <a:t>1</a:t>
            </a:r>
            <a:r>
              <a:rPr lang="en-US" sz="1400">
                <a:solidFill>
                  <a:schemeClr val="bg2"/>
                </a:solidFill>
              </a:rPr>
              <a:t>, </a:t>
            </a:r>
            <a:r>
              <a:rPr lang="en-US" sz="1400" i="1">
                <a:solidFill>
                  <a:schemeClr val="bg2"/>
                </a:solidFill>
                <a:effectLst/>
              </a:rPr>
              <a:t>l</a:t>
            </a:r>
            <a:r>
              <a:rPr lang="en-US" sz="1400" baseline="-25000">
                <a:solidFill>
                  <a:schemeClr val="bg2"/>
                </a:solidFill>
                <a:effectLst/>
              </a:rPr>
              <a:t>1</a:t>
            </a:r>
            <a:r>
              <a:rPr lang="en-US" sz="1400">
                <a:solidFill>
                  <a:schemeClr val="bg2"/>
                </a:solidFill>
              </a:rPr>
              <a:t>) = cons (</a:t>
            </a:r>
            <a:r>
              <a:rPr lang="en-US" sz="1400" i="1">
                <a:solidFill>
                  <a:schemeClr val="bg2"/>
                </a:solidFill>
                <a:effectLst/>
              </a:rPr>
              <a:t>e</a:t>
            </a:r>
            <a:r>
              <a:rPr lang="en-US" sz="1400" baseline="-25000">
                <a:solidFill>
                  <a:schemeClr val="bg2"/>
                </a:solidFill>
                <a:effectLst/>
              </a:rPr>
              <a:t>2</a:t>
            </a:r>
            <a:r>
              <a:rPr lang="en-US" sz="1400">
                <a:solidFill>
                  <a:schemeClr val="bg2"/>
                </a:solidFill>
              </a:rPr>
              <a:t>, </a:t>
            </a:r>
            <a:r>
              <a:rPr lang="en-US" sz="1400" i="1">
                <a:solidFill>
                  <a:schemeClr val="bg2"/>
                </a:solidFill>
                <a:effectLst/>
              </a:rPr>
              <a:t>l</a:t>
            </a:r>
            <a:r>
              <a:rPr lang="en-US" sz="1400" baseline="-25000">
                <a:solidFill>
                  <a:schemeClr val="bg2"/>
                </a:solidFill>
                <a:effectLst/>
              </a:rPr>
              <a:t>2</a:t>
            </a:r>
            <a:r>
              <a:rPr lang="en-US" sz="1400">
                <a:solidFill>
                  <a:schemeClr val="bg2"/>
                </a:solidFill>
              </a:rPr>
              <a:t>) if </a:t>
            </a:r>
            <a:r>
              <a:rPr lang="en-US" sz="1400" i="1">
                <a:solidFill>
                  <a:schemeClr val="bg2"/>
                </a:solidFill>
                <a:effectLst/>
              </a:rPr>
              <a:t>e</a:t>
            </a:r>
            <a:r>
              <a:rPr lang="en-US" sz="1400" baseline="-25000">
                <a:solidFill>
                  <a:schemeClr val="bg2"/>
                </a:solidFill>
                <a:effectLst/>
              </a:rPr>
              <a:t>1</a:t>
            </a:r>
            <a:r>
              <a:rPr lang="en-US" sz="1400">
                <a:solidFill>
                  <a:schemeClr val="bg2"/>
                </a:solidFill>
              </a:rPr>
              <a:t> = </a:t>
            </a:r>
            <a:r>
              <a:rPr lang="en-US" sz="1400" i="1">
                <a:solidFill>
                  <a:schemeClr val="bg2"/>
                </a:solidFill>
                <a:effectLst/>
              </a:rPr>
              <a:t>e</a:t>
            </a:r>
            <a:r>
              <a:rPr lang="en-US" sz="1400" baseline="-25000">
                <a:solidFill>
                  <a:schemeClr val="bg2"/>
                </a:solidFill>
                <a:effectLst/>
              </a:rPr>
              <a:t>2</a:t>
            </a:r>
            <a:r>
              <a:rPr lang="en-US" sz="1400">
                <a:solidFill>
                  <a:schemeClr val="bg2"/>
                </a:solidFill>
              </a:rPr>
              <a:t> and </a:t>
            </a:r>
            <a:r>
              <a:rPr lang="en-US" sz="1400" i="1">
                <a:solidFill>
                  <a:schemeClr val="bg2"/>
                </a:solidFill>
                <a:effectLst/>
              </a:rPr>
              <a:t>l</a:t>
            </a:r>
            <a:r>
              <a:rPr lang="en-US" sz="1400" baseline="-25000">
                <a:solidFill>
                  <a:schemeClr val="bg2"/>
                </a:solidFill>
                <a:effectLst/>
              </a:rPr>
              <a:t>1</a:t>
            </a:r>
            <a:r>
              <a:rPr lang="en-US" sz="1400">
                <a:solidFill>
                  <a:schemeClr val="bg2"/>
                </a:solidFill>
              </a:rPr>
              <a:t> = </a:t>
            </a:r>
            <a:r>
              <a:rPr lang="en-US" sz="1400" i="1">
                <a:solidFill>
                  <a:schemeClr val="bg2"/>
                </a:solidFill>
                <a:effectLst/>
              </a:rPr>
              <a:t>l</a:t>
            </a:r>
            <a:r>
              <a:rPr lang="en-US" sz="1400" baseline="-25000">
                <a:solidFill>
                  <a:schemeClr val="bg2"/>
                </a:solidFill>
                <a:effectLst/>
              </a:rPr>
              <a:t>2</a:t>
            </a:r>
          </a:p>
          <a:p>
            <a:pPr marL="0" indent="0" algn="l">
              <a:buNone/>
            </a:pPr>
            <a:r>
              <a:rPr lang="en-US" sz="1400" b="0" i="0" u="none" strike="noStrike">
                <a:solidFill>
                  <a:schemeClr val="bg2"/>
                </a:solidFill>
                <a:effectLst/>
                <a:latin typeface="Arial" panose="020B0604020202020204" pitchFamily="34" charset="0"/>
              </a:rPr>
              <a:t>Note that first (nil ()) and rest (nil ()) are not defined.</a:t>
            </a:r>
          </a:p>
          <a:p>
            <a:pPr marL="0" indent="0" algn="l">
              <a:buNone/>
            </a:pPr>
            <a:r>
              <a:rPr lang="en-US" sz="1400" b="0" i="0" u="none" strike="noStrike">
                <a:solidFill>
                  <a:schemeClr val="bg2"/>
                </a:solidFill>
                <a:effectLst/>
                <a:latin typeface="Arial" panose="020B0604020202020204" pitchFamily="34" charset="0"/>
              </a:rPr>
              <a:t>These axioms are equivalent to those of the abstract </a:t>
            </a:r>
            <a:r>
              <a:rPr lang="en-US" sz="1400" b="0" i="0" u="none" strike="noStrike">
                <a:solidFill>
                  <a:schemeClr val="bg2"/>
                </a:solidFill>
                <a:effectLst/>
                <a:latin typeface="Arial" panose="020B0604020202020204" pitchFamily="34" charset="0"/>
                <a:hlinkClick r:id="rId3" tooltip="Stack (abstract data type)">
                  <a:extLst>
                    <a:ext uri="{A12FA001-AC4F-418D-AE19-62706E023703}">
                      <ahyp:hlinkClr xmlns:ahyp="http://schemas.microsoft.com/office/drawing/2018/hyperlinkcolor" val="tx"/>
                    </a:ext>
                  </a:extLst>
                </a:hlinkClick>
              </a:rPr>
              <a:t>stack</a:t>
            </a:r>
            <a:r>
              <a:rPr lang="en-US" sz="1400" b="0" i="0" u="none" strike="noStrike">
                <a:solidFill>
                  <a:schemeClr val="bg2"/>
                </a:solidFill>
                <a:effectLst/>
                <a:latin typeface="Arial" panose="020B0604020202020204" pitchFamily="34" charset="0"/>
              </a:rPr>
              <a:t> data type.</a:t>
            </a:r>
          </a:p>
        </p:txBody>
      </p:sp>
      <p:sp>
        <p:nvSpPr>
          <p:cNvPr id="2" name="TextBox 1">
            <a:extLst>
              <a:ext uri="{FF2B5EF4-FFF2-40B4-BE49-F238E27FC236}">
                <a16:creationId xmlns:a16="http://schemas.microsoft.com/office/drawing/2014/main" id="{089E21BE-A8B6-112F-13B6-F38372DB4217}"/>
              </a:ext>
            </a:extLst>
          </p:cNvPr>
          <p:cNvSpPr txBox="1"/>
          <p:nvPr/>
        </p:nvSpPr>
        <p:spPr>
          <a:xfrm>
            <a:off x="4410636" y="3655199"/>
            <a:ext cx="1014292" cy="923330"/>
          </a:xfrm>
          <a:prstGeom prst="rect">
            <a:avLst/>
          </a:prstGeom>
          <a:noFill/>
        </p:spPr>
        <p:txBody>
          <a:bodyPr wrap="square" rtlCol="0">
            <a:spAutoFit/>
          </a:bodyPr>
          <a:lstStyle/>
          <a:p>
            <a:r>
              <a:rPr lang="en-US" sz="5400">
                <a:latin typeface="Segoe UI Emoji" panose="020B0502040204020203" pitchFamily="34" charset="0"/>
                <a:ea typeface="Segoe UI Emoji" panose="020B0502040204020203" pitchFamily="34" charset="0"/>
              </a:rPr>
              <a:t>🧐</a:t>
            </a:r>
          </a:p>
        </p:txBody>
      </p:sp>
    </p:spTree>
    <p:extLst>
      <p:ext uri="{BB962C8B-B14F-4D97-AF65-F5344CB8AC3E}">
        <p14:creationId xmlns:p14="http://schemas.microsoft.com/office/powerpoint/2010/main" val="2020971436"/>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E184139-E67F-206A-1D8A-A1C5733627EB}"/>
              </a:ext>
            </a:extLst>
          </p:cNvPr>
          <p:cNvSpPr>
            <a:spLocks noGrp="1"/>
          </p:cNvSpPr>
          <p:nvPr>
            <p:ph type="title"/>
          </p:nvPr>
        </p:nvSpPr>
        <p:spPr/>
        <p:txBody>
          <a:bodyPr/>
          <a:lstStyle/>
          <a:p>
            <a:r>
              <a:rPr lang="en-US" sz="4800" err="1"/>
              <a:t>i</a:t>
            </a:r>
            <a:r>
              <a:rPr lang="en-US" sz="4800"/>
              <a:t> typically won't.</a:t>
            </a:r>
            <a:br>
              <a:rPr lang="en-US" sz="2800"/>
            </a:br>
            <a:br>
              <a:rPr lang="en-US" sz="2800"/>
            </a:br>
            <a:r>
              <a:rPr lang="en-US" sz="2800"/>
              <a:t>just know there is a difference between</a:t>
            </a:r>
            <a:br>
              <a:rPr lang="en-US" sz="2800"/>
            </a:br>
            <a:br>
              <a:rPr lang="en-US" sz="2800"/>
            </a:br>
            <a:r>
              <a:rPr lang="en-US" sz="2800"/>
              <a:t>an </a:t>
            </a:r>
            <a:r>
              <a:rPr lang="en-US" sz="2800" b="1"/>
              <a:t>interface</a:t>
            </a:r>
            <a:r>
              <a:rPr lang="en-US" sz="2800"/>
              <a:t> ("a list")</a:t>
            </a:r>
            <a:br>
              <a:rPr lang="en-US" sz="2800"/>
            </a:br>
            <a:r>
              <a:rPr lang="en-US" sz="2800"/>
              <a:t>and</a:t>
            </a:r>
            <a:br>
              <a:rPr lang="en-US" sz="2800"/>
            </a:br>
            <a:r>
              <a:rPr lang="en-US" sz="2800"/>
              <a:t>a specific </a:t>
            </a:r>
            <a:r>
              <a:rPr lang="en-US" sz="2800" b="1"/>
              <a:t>implementation</a:t>
            </a:r>
            <a:r>
              <a:rPr lang="en-US" sz="2800"/>
              <a:t> (</a:t>
            </a:r>
            <a:r>
              <a:rPr lang="en-US" sz="2800" err="1"/>
              <a:t>ArrayList</a:t>
            </a:r>
            <a:r>
              <a:rPr lang="en-US" sz="2800"/>
              <a:t>&lt;Element&gt;)</a:t>
            </a:r>
            <a:endParaRPr lang="en-US" sz="2800" b="1"/>
          </a:p>
        </p:txBody>
      </p:sp>
    </p:spTree>
    <p:extLst>
      <p:ext uri="{BB962C8B-B14F-4D97-AF65-F5344CB8AC3E}">
        <p14:creationId xmlns:p14="http://schemas.microsoft.com/office/powerpoint/2010/main" val="281309011"/>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CE5A6B-1C7F-5807-D9B0-DAFA289AB668}"/>
              </a:ext>
            </a:extLst>
          </p:cNvPr>
          <p:cNvSpPr>
            <a:spLocks noGrp="1"/>
          </p:cNvSpPr>
          <p:nvPr>
            <p:ph type="title"/>
          </p:nvPr>
        </p:nvSpPr>
        <p:spPr/>
        <p:txBody>
          <a:bodyPr/>
          <a:lstStyle/>
          <a:p>
            <a:r>
              <a:rPr lang="en-US"/>
              <a:t>stack</a:t>
            </a:r>
          </a:p>
        </p:txBody>
      </p:sp>
    </p:spTree>
    <p:extLst>
      <p:ext uri="{BB962C8B-B14F-4D97-AF65-F5344CB8AC3E}">
        <p14:creationId xmlns:p14="http://schemas.microsoft.com/office/powerpoint/2010/main" val="1370799217"/>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6C2A2B1-FB1E-8EDE-E015-EA40B14D22CE}"/>
              </a:ext>
            </a:extLst>
          </p:cNvPr>
          <p:cNvSpPr>
            <a:spLocks noGrp="1"/>
          </p:cNvSpPr>
          <p:nvPr>
            <p:ph type="title"/>
          </p:nvPr>
        </p:nvSpPr>
        <p:spPr/>
        <p:txBody>
          <a:bodyPr/>
          <a:lstStyle/>
          <a:p>
            <a:r>
              <a:rPr lang="en-US"/>
              <a:t>analogy</a:t>
            </a:r>
          </a:p>
        </p:txBody>
      </p:sp>
    </p:spTree>
    <p:extLst>
      <p:ext uri="{BB962C8B-B14F-4D97-AF65-F5344CB8AC3E}">
        <p14:creationId xmlns:p14="http://schemas.microsoft.com/office/powerpoint/2010/main" val="1304884480"/>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6D21E-6565-5C60-830D-1FF6DA356B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C48E2-0724-F325-D16D-E5B78882BFC2}"/>
              </a:ext>
            </a:extLst>
          </p:cNvPr>
          <p:cNvSpPr>
            <a:spLocks noGrp="1"/>
          </p:cNvSpPr>
          <p:nvPr>
            <p:ph type="title"/>
          </p:nvPr>
        </p:nvSpPr>
        <p:spPr/>
        <p:txBody>
          <a:bodyPr/>
          <a:lstStyle/>
          <a:p>
            <a:r>
              <a:rPr lang="en-US" sz="4000"/>
              <a:t>a stack is like a helicopter pilot</a:t>
            </a:r>
            <a:br>
              <a:rPr lang="en-US" sz="4000"/>
            </a:br>
            <a:r>
              <a:rPr lang="en-US" sz="4000"/>
              <a:t>with a socially unacceptable hobby</a:t>
            </a:r>
          </a:p>
        </p:txBody>
      </p:sp>
    </p:spTree>
    <p:extLst>
      <p:ext uri="{BB962C8B-B14F-4D97-AF65-F5344CB8AC3E}">
        <p14:creationId xmlns:p14="http://schemas.microsoft.com/office/powerpoint/2010/main" val="4091386762"/>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4F05D-A01D-486A-7C17-3579ACE6811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F825AE7-99A1-36C3-4141-E4318A22EFA9}"/>
              </a:ext>
            </a:extLst>
          </p:cNvPr>
          <p:cNvSpPr txBox="1"/>
          <p:nvPr/>
        </p:nvSpPr>
        <p:spPr>
          <a:xfrm>
            <a:off x="4113543" y="3874953"/>
            <a:ext cx="814508" cy="707886"/>
          </a:xfrm>
          <a:prstGeom prst="rect">
            <a:avLst/>
          </a:prstGeom>
          <a:noFill/>
        </p:spPr>
        <p:txBody>
          <a:bodyPr wrap="square" rtlCol="0">
            <a:spAutoFit/>
          </a:bodyPr>
          <a:lstStyle/>
          <a:p>
            <a:r>
              <a:rPr lang="en-US" sz="4000">
                <a:latin typeface="Arial" panose="020B0604020202020204" pitchFamily="34" charset="0"/>
                <a:ea typeface="Segoe UI Emoji" panose="020B0502040204020203" pitchFamily="34" charset="0"/>
                <a:cs typeface="Arial" panose="020B0604020202020204" pitchFamily="34" charset="0"/>
              </a:rPr>
              <a:t>🐨</a:t>
            </a:r>
          </a:p>
        </p:txBody>
      </p:sp>
      <p:sp>
        <p:nvSpPr>
          <p:cNvPr id="3" name="TextBox 2">
            <a:extLst>
              <a:ext uri="{FF2B5EF4-FFF2-40B4-BE49-F238E27FC236}">
                <a16:creationId xmlns:a16="http://schemas.microsoft.com/office/drawing/2014/main" id="{0F7CB976-07D7-561A-852A-B20150402B0B}"/>
              </a:ext>
            </a:extLst>
          </p:cNvPr>
          <p:cNvSpPr txBox="1"/>
          <p:nvPr/>
        </p:nvSpPr>
        <p:spPr>
          <a:xfrm>
            <a:off x="3790140" y="3035251"/>
            <a:ext cx="2063163" cy="2215991"/>
          </a:xfrm>
          <a:prstGeom prst="rect">
            <a:avLst/>
          </a:prstGeom>
          <a:noFill/>
        </p:spPr>
        <p:txBody>
          <a:bodyPr wrap="square">
            <a:spAutoFit/>
          </a:bodyPr>
          <a:lstStyle/>
          <a:p>
            <a:pPr algn="ctr"/>
            <a:r>
              <a:rPr lang="en-US" sz="13800">
                <a:latin typeface="Arial" panose="020B0604020202020204" pitchFamily="34" charset="0"/>
                <a:ea typeface="Segoe UI Emoji" panose="020B0502040204020203" pitchFamily="34" charset="0"/>
                <a:cs typeface="Arial" panose="020B0604020202020204" pitchFamily="34" charset="0"/>
              </a:rPr>
              <a:t>🚁</a:t>
            </a:r>
            <a:endParaRPr lang="en-US" sz="13800"/>
          </a:p>
        </p:txBody>
      </p:sp>
      <p:sp>
        <p:nvSpPr>
          <p:cNvPr id="5" name="TextBox 4">
            <a:extLst>
              <a:ext uri="{FF2B5EF4-FFF2-40B4-BE49-F238E27FC236}">
                <a16:creationId xmlns:a16="http://schemas.microsoft.com/office/drawing/2014/main" id="{80E6CE3C-16CB-5E37-E555-747958F2227F}"/>
              </a:ext>
            </a:extLst>
          </p:cNvPr>
          <p:cNvSpPr txBox="1"/>
          <p:nvPr/>
        </p:nvSpPr>
        <p:spPr>
          <a:xfrm>
            <a:off x="3322674" y="2942637"/>
            <a:ext cx="2759149" cy="461665"/>
          </a:xfrm>
          <a:prstGeom prst="rect">
            <a:avLst/>
          </a:prstGeom>
          <a:noFill/>
        </p:spPr>
        <p:txBody>
          <a:bodyPr wrap="square" rtlCol="0">
            <a:spAutoFit/>
          </a:bodyPr>
          <a:lstStyle/>
          <a:p>
            <a:pPr algn="ctr"/>
            <a:r>
              <a:rPr lang="en-US" sz="2400">
                <a:latin typeface="Consolas" panose="020B0609020204030204" pitchFamily="49" charset="0"/>
                <a:cs typeface="Consolas" panose="020B0609020204030204" pitchFamily="49" charset="0"/>
              </a:rPr>
              <a:t>stack.push(</a:t>
            </a:r>
            <a:r>
              <a:rPr lang="en-US" sz="2400">
                <a:solidFill>
                  <a:srgbClr val="000000"/>
                </a:solidFill>
                <a:latin typeface="Arial" panose="020B0604020202020204" pitchFamily="34" charset="0"/>
                <a:ea typeface="Segoe UI Emoji" panose="020B0502040204020203" pitchFamily="34" charset="0"/>
                <a:cs typeface="Arial" panose="020B0604020202020204" pitchFamily="34" charset="0"/>
              </a:rPr>
              <a:t>🐨</a:t>
            </a:r>
            <a:r>
              <a:rPr lang="en-US" sz="2400">
                <a:latin typeface="Consolas" panose="020B0609020204030204" pitchFamily="49" charset="0"/>
                <a:ea typeface="Segoe UI Emoji" panose="020B0502040204020203" pitchFamily="34" charset="0"/>
                <a:cs typeface="Consolas" panose="020B0609020204030204" pitchFamily="49" charset="0"/>
              </a:rPr>
              <a:t>)</a:t>
            </a:r>
          </a:p>
        </p:txBody>
      </p:sp>
    </p:spTree>
    <p:extLst>
      <p:ext uri="{BB962C8B-B14F-4D97-AF65-F5344CB8AC3E}">
        <p14:creationId xmlns:p14="http://schemas.microsoft.com/office/powerpoint/2010/main" val="3257387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B0A06-2732-A4E4-1E20-FD7E0158517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F81F94E-CC36-6637-76FC-286CAA80FD03}"/>
              </a:ext>
            </a:extLst>
          </p:cNvPr>
          <p:cNvSpPr txBox="1"/>
          <p:nvPr/>
        </p:nvSpPr>
        <p:spPr>
          <a:xfrm>
            <a:off x="4113544" y="3423215"/>
            <a:ext cx="879822" cy="707886"/>
          </a:xfrm>
          <a:prstGeom prst="rect">
            <a:avLst/>
          </a:prstGeom>
          <a:noFill/>
        </p:spPr>
        <p:txBody>
          <a:bodyPr wrap="square">
            <a:spAutoFit/>
          </a:bodyPr>
          <a:lstStyle/>
          <a:p>
            <a:r>
              <a:rPr kumimoji="0" lang="en-US" sz="4000" b="0" i="0" u="none" strike="noStrike" kern="1200" cap="none" spc="0" normalizeH="0" baseline="0" noProof="0">
                <a:ln>
                  <a:noFill/>
                </a:ln>
                <a:solidFill>
                  <a:srgbClr val="000000"/>
                </a:solidFill>
                <a:effectLst/>
                <a:uLnTx/>
                <a:uFillTx/>
                <a:latin typeface="Arial" panose="020B0604020202020204" pitchFamily="34" charset="0"/>
                <a:ea typeface="Segoe UI Emoji" panose="020B0502040204020203" pitchFamily="34" charset="0"/>
                <a:cs typeface="Arial" panose="020B0604020202020204" pitchFamily="34" charset="0"/>
              </a:rPr>
              <a:t>🐻</a:t>
            </a:r>
            <a:endParaRPr lang="en-US"/>
          </a:p>
        </p:txBody>
      </p:sp>
      <p:sp>
        <p:nvSpPr>
          <p:cNvPr id="4" name="TextBox 3">
            <a:extLst>
              <a:ext uri="{FF2B5EF4-FFF2-40B4-BE49-F238E27FC236}">
                <a16:creationId xmlns:a16="http://schemas.microsoft.com/office/drawing/2014/main" id="{26513179-F3B6-201E-5002-C2DF09B37892}"/>
              </a:ext>
            </a:extLst>
          </p:cNvPr>
          <p:cNvSpPr txBox="1"/>
          <p:nvPr/>
        </p:nvSpPr>
        <p:spPr>
          <a:xfrm>
            <a:off x="4113544" y="4435614"/>
            <a:ext cx="814508" cy="707886"/>
          </a:xfrm>
          <a:prstGeom prst="rect">
            <a:avLst/>
          </a:prstGeom>
          <a:noFill/>
        </p:spPr>
        <p:txBody>
          <a:bodyPr wrap="square" rtlCol="0">
            <a:spAutoFit/>
          </a:bodyPr>
          <a:lstStyle/>
          <a:p>
            <a:r>
              <a:rPr lang="en-US" sz="4000">
                <a:latin typeface="Arial" panose="020B0604020202020204" pitchFamily="34" charset="0"/>
                <a:ea typeface="Segoe UI Emoji" panose="020B0502040204020203" pitchFamily="34" charset="0"/>
                <a:cs typeface="Arial" panose="020B0604020202020204" pitchFamily="34" charset="0"/>
              </a:rPr>
              <a:t>🐨</a:t>
            </a:r>
          </a:p>
        </p:txBody>
      </p:sp>
      <p:sp>
        <p:nvSpPr>
          <p:cNvPr id="3" name="TextBox 2">
            <a:extLst>
              <a:ext uri="{FF2B5EF4-FFF2-40B4-BE49-F238E27FC236}">
                <a16:creationId xmlns:a16="http://schemas.microsoft.com/office/drawing/2014/main" id="{0D160835-CEED-F767-7595-6BC74C47AE90}"/>
              </a:ext>
            </a:extLst>
          </p:cNvPr>
          <p:cNvSpPr txBox="1"/>
          <p:nvPr/>
        </p:nvSpPr>
        <p:spPr>
          <a:xfrm>
            <a:off x="3790140" y="2475567"/>
            <a:ext cx="2063163" cy="2215991"/>
          </a:xfrm>
          <a:prstGeom prst="rect">
            <a:avLst/>
          </a:prstGeom>
          <a:noFill/>
        </p:spPr>
        <p:txBody>
          <a:bodyPr wrap="square">
            <a:spAutoFit/>
          </a:bodyPr>
          <a:lstStyle/>
          <a:p>
            <a:pPr algn="ctr"/>
            <a:r>
              <a:rPr lang="en-US" sz="13800">
                <a:latin typeface="Arial" panose="020B0604020202020204" pitchFamily="34" charset="0"/>
                <a:ea typeface="Segoe UI Emoji" panose="020B0502040204020203" pitchFamily="34" charset="0"/>
                <a:cs typeface="Arial" panose="020B0604020202020204" pitchFamily="34" charset="0"/>
              </a:rPr>
              <a:t>🚁</a:t>
            </a:r>
            <a:endParaRPr lang="en-US" sz="13800"/>
          </a:p>
        </p:txBody>
      </p:sp>
      <p:sp>
        <p:nvSpPr>
          <p:cNvPr id="7" name="TextBox 6">
            <a:extLst>
              <a:ext uri="{FF2B5EF4-FFF2-40B4-BE49-F238E27FC236}">
                <a16:creationId xmlns:a16="http://schemas.microsoft.com/office/drawing/2014/main" id="{0DD747A5-1C0F-05A7-2ACF-87D574182813}"/>
              </a:ext>
            </a:extLst>
          </p:cNvPr>
          <p:cNvSpPr txBox="1"/>
          <p:nvPr/>
        </p:nvSpPr>
        <p:spPr>
          <a:xfrm>
            <a:off x="3322674" y="2411009"/>
            <a:ext cx="2759149" cy="461665"/>
          </a:xfrm>
          <a:prstGeom prst="rect">
            <a:avLst/>
          </a:prstGeom>
          <a:noFill/>
        </p:spPr>
        <p:txBody>
          <a:bodyPr wrap="square" rtlCol="0">
            <a:spAutoFit/>
          </a:bodyPr>
          <a:lstStyle/>
          <a:p>
            <a:pPr algn="ctr"/>
            <a:r>
              <a:rPr lang="en-US" sz="2400">
                <a:latin typeface="Consolas" panose="020B0609020204030204" pitchFamily="49" charset="0"/>
                <a:cs typeface="Consolas" panose="020B0609020204030204" pitchFamily="49" charset="0"/>
              </a:rPr>
              <a:t>stack.push(</a:t>
            </a:r>
            <a:r>
              <a:rPr lang="en-US" sz="2400">
                <a:solidFill>
                  <a:srgbClr val="000000"/>
                </a:solidFill>
                <a:latin typeface="Arial" panose="020B0604020202020204" pitchFamily="34" charset="0"/>
                <a:ea typeface="Segoe UI Emoji" panose="020B0502040204020203" pitchFamily="34" charset="0"/>
                <a:cs typeface="Arial" panose="020B0604020202020204" pitchFamily="34" charset="0"/>
              </a:rPr>
              <a:t>🐻</a:t>
            </a:r>
            <a:r>
              <a:rPr lang="en-US" sz="2400">
                <a:latin typeface="Consolas" panose="020B0609020204030204" pitchFamily="49" charset="0"/>
                <a:ea typeface="Segoe UI Emoji" panose="020B0502040204020203" pitchFamily="34" charset="0"/>
                <a:cs typeface="Consolas" panose="020B0609020204030204" pitchFamily="49" charset="0"/>
              </a:rPr>
              <a:t>)</a:t>
            </a:r>
          </a:p>
        </p:txBody>
      </p:sp>
    </p:spTree>
    <p:extLst>
      <p:ext uri="{BB962C8B-B14F-4D97-AF65-F5344CB8AC3E}">
        <p14:creationId xmlns:p14="http://schemas.microsoft.com/office/powerpoint/2010/main" val="38122419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08D67-4231-B6FE-3A3B-830DBEE5DBF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D6DC9D3-4F0A-2C9C-0140-92AB6AA1590A}"/>
              </a:ext>
            </a:extLst>
          </p:cNvPr>
          <p:cNvSpPr txBox="1"/>
          <p:nvPr/>
        </p:nvSpPr>
        <p:spPr>
          <a:xfrm>
            <a:off x="4102017" y="2908387"/>
            <a:ext cx="826034" cy="707886"/>
          </a:xfrm>
          <a:prstGeom prst="rect">
            <a:avLst/>
          </a:prstGeom>
          <a:noFill/>
        </p:spPr>
        <p:txBody>
          <a:bodyPr wrap="square">
            <a:spAutoFit/>
          </a:bodyPr>
          <a:lstStyle/>
          <a:p>
            <a:r>
              <a:rPr kumimoji="0" lang="en-US" sz="4000" b="0" i="0" u="none" strike="noStrike" kern="1200" cap="none" spc="0" normalizeH="0" baseline="0" noProof="0">
                <a:ln>
                  <a:noFill/>
                </a:ln>
                <a:solidFill>
                  <a:srgbClr val="000000"/>
                </a:solidFill>
                <a:effectLst/>
                <a:uLnTx/>
                <a:uFillTx/>
                <a:latin typeface="Arial" panose="020B0604020202020204" pitchFamily="34" charset="0"/>
                <a:ea typeface="Segoe UI Emoji" panose="020B0502040204020203" pitchFamily="34" charset="0"/>
                <a:cs typeface="Arial" panose="020B0604020202020204" pitchFamily="34" charset="0"/>
              </a:rPr>
              <a:t>🐷</a:t>
            </a:r>
            <a:endParaRPr lang="en-US"/>
          </a:p>
        </p:txBody>
      </p:sp>
      <p:sp>
        <p:nvSpPr>
          <p:cNvPr id="5" name="TextBox 4">
            <a:extLst>
              <a:ext uri="{FF2B5EF4-FFF2-40B4-BE49-F238E27FC236}">
                <a16:creationId xmlns:a16="http://schemas.microsoft.com/office/drawing/2014/main" id="{CC00A84D-A102-F7C2-71E1-1B132853D208}"/>
              </a:ext>
            </a:extLst>
          </p:cNvPr>
          <p:cNvSpPr txBox="1"/>
          <p:nvPr/>
        </p:nvSpPr>
        <p:spPr>
          <a:xfrm>
            <a:off x="4113544" y="3912934"/>
            <a:ext cx="879822" cy="707886"/>
          </a:xfrm>
          <a:prstGeom prst="rect">
            <a:avLst/>
          </a:prstGeom>
          <a:noFill/>
        </p:spPr>
        <p:txBody>
          <a:bodyPr wrap="square">
            <a:spAutoFit/>
          </a:bodyPr>
          <a:lstStyle/>
          <a:p>
            <a:r>
              <a:rPr kumimoji="0" lang="en-US" sz="4000" b="0" i="0" u="none" strike="noStrike" kern="1200" cap="none" spc="0" normalizeH="0" baseline="0" noProof="0">
                <a:ln>
                  <a:noFill/>
                </a:ln>
                <a:solidFill>
                  <a:srgbClr val="000000"/>
                </a:solidFill>
                <a:effectLst/>
                <a:uLnTx/>
                <a:uFillTx/>
                <a:latin typeface="Arial" panose="020B0604020202020204" pitchFamily="34" charset="0"/>
                <a:ea typeface="Segoe UI Emoji" panose="020B0502040204020203" pitchFamily="34" charset="0"/>
                <a:cs typeface="Arial" panose="020B0604020202020204" pitchFamily="34" charset="0"/>
              </a:rPr>
              <a:t>🐻</a:t>
            </a:r>
            <a:endParaRPr lang="en-US"/>
          </a:p>
        </p:txBody>
      </p:sp>
      <p:sp>
        <p:nvSpPr>
          <p:cNvPr id="4" name="TextBox 3">
            <a:extLst>
              <a:ext uri="{FF2B5EF4-FFF2-40B4-BE49-F238E27FC236}">
                <a16:creationId xmlns:a16="http://schemas.microsoft.com/office/drawing/2014/main" id="{6734708D-1C70-7161-865D-DAF475D52652}"/>
              </a:ext>
            </a:extLst>
          </p:cNvPr>
          <p:cNvSpPr txBox="1"/>
          <p:nvPr/>
        </p:nvSpPr>
        <p:spPr>
          <a:xfrm>
            <a:off x="4113544" y="4435614"/>
            <a:ext cx="814508" cy="707886"/>
          </a:xfrm>
          <a:prstGeom prst="rect">
            <a:avLst/>
          </a:prstGeom>
          <a:noFill/>
        </p:spPr>
        <p:txBody>
          <a:bodyPr wrap="square" rtlCol="0">
            <a:spAutoFit/>
          </a:bodyPr>
          <a:lstStyle/>
          <a:p>
            <a:r>
              <a:rPr lang="en-US" sz="4000">
                <a:latin typeface="Arial" panose="020B0604020202020204" pitchFamily="34" charset="0"/>
                <a:ea typeface="Segoe UI Emoji" panose="020B0502040204020203" pitchFamily="34" charset="0"/>
                <a:cs typeface="Arial" panose="020B0604020202020204" pitchFamily="34" charset="0"/>
              </a:rPr>
              <a:t>🐨</a:t>
            </a:r>
          </a:p>
        </p:txBody>
      </p:sp>
      <p:sp>
        <p:nvSpPr>
          <p:cNvPr id="3" name="TextBox 2">
            <a:extLst>
              <a:ext uri="{FF2B5EF4-FFF2-40B4-BE49-F238E27FC236}">
                <a16:creationId xmlns:a16="http://schemas.microsoft.com/office/drawing/2014/main" id="{392F1246-34EC-819C-9D8B-DDAFCB542C11}"/>
              </a:ext>
            </a:extLst>
          </p:cNvPr>
          <p:cNvSpPr txBox="1"/>
          <p:nvPr/>
        </p:nvSpPr>
        <p:spPr>
          <a:xfrm>
            <a:off x="3790140" y="1976107"/>
            <a:ext cx="2063163" cy="2215991"/>
          </a:xfrm>
          <a:prstGeom prst="rect">
            <a:avLst/>
          </a:prstGeom>
          <a:noFill/>
        </p:spPr>
        <p:txBody>
          <a:bodyPr wrap="square">
            <a:spAutoFit/>
          </a:bodyPr>
          <a:lstStyle/>
          <a:p>
            <a:pPr algn="ctr"/>
            <a:r>
              <a:rPr lang="en-US" sz="13800">
                <a:latin typeface="Arial" panose="020B0604020202020204" pitchFamily="34" charset="0"/>
                <a:ea typeface="Segoe UI Emoji" panose="020B0502040204020203" pitchFamily="34" charset="0"/>
                <a:cs typeface="Arial" panose="020B0604020202020204" pitchFamily="34" charset="0"/>
              </a:rPr>
              <a:t>🚁</a:t>
            </a:r>
            <a:endParaRPr lang="en-US" sz="13800"/>
          </a:p>
        </p:txBody>
      </p:sp>
      <p:sp>
        <p:nvSpPr>
          <p:cNvPr id="7" name="TextBox 6">
            <a:extLst>
              <a:ext uri="{FF2B5EF4-FFF2-40B4-BE49-F238E27FC236}">
                <a16:creationId xmlns:a16="http://schemas.microsoft.com/office/drawing/2014/main" id="{8EE2CDC7-B4B2-43DF-0604-CA11BAA69154}"/>
              </a:ext>
            </a:extLst>
          </p:cNvPr>
          <p:cNvSpPr txBox="1"/>
          <p:nvPr/>
        </p:nvSpPr>
        <p:spPr>
          <a:xfrm>
            <a:off x="3322674" y="1858111"/>
            <a:ext cx="2759149" cy="461665"/>
          </a:xfrm>
          <a:prstGeom prst="rect">
            <a:avLst/>
          </a:prstGeom>
          <a:noFill/>
        </p:spPr>
        <p:txBody>
          <a:bodyPr wrap="square" rtlCol="0">
            <a:spAutoFit/>
          </a:bodyPr>
          <a:lstStyle/>
          <a:p>
            <a:pPr algn="ctr"/>
            <a:r>
              <a:rPr lang="en-US" sz="2400">
                <a:latin typeface="Consolas" panose="020B0609020204030204" pitchFamily="49" charset="0"/>
                <a:cs typeface="Consolas" panose="020B0609020204030204" pitchFamily="49" charset="0"/>
              </a:rPr>
              <a:t>stack.push(</a:t>
            </a:r>
            <a:r>
              <a:rPr lang="en-US" sz="2400">
                <a:solidFill>
                  <a:srgbClr val="000000"/>
                </a:solidFill>
                <a:latin typeface="Arial" panose="020B0604020202020204" pitchFamily="34" charset="0"/>
                <a:ea typeface="Segoe UI Emoji" panose="020B0502040204020203" pitchFamily="34" charset="0"/>
                <a:cs typeface="Arial" panose="020B0604020202020204" pitchFamily="34" charset="0"/>
              </a:rPr>
              <a:t>🐷</a:t>
            </a:r>
            <a:r>
              <a:rPr lang="en-US" sz="2400">
                <a:latin typeface="Consolas" panose="020B0609020204030204" pitchFamily="49" charset="0"/>
                <a:ea typeface="Segoe UI Emoji" panose="020B0502040204020203" pitchFamily="34" charset="0"/>
                <a:cs typeface="Consolas" panose="020B0609020204030204" pitchFamily="49" charset="0"/>
              </a:rPr>
              <a:t>)</a:t>
            </a:r>
          </a:p>
        </p:txBody>
      </p:sp>
    </p:spTree>
    <p:extLst>
      <p:ext uri="{BB962C8B-B14F-4D97-AF65-F5344CB8AC3E}">
        <p14:creationId xmlns:p14="http://schemas.microsoft.com/office/powerpoint/2010/main" val="6480391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0D398-0C7B-B375-E314-DDF783D02AC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BEEA294-CB93-327E-CCC2-57DFBA41FFA8}"/>
              </a:ext>
            </a:extLst>
          </p:cNvPr>
          <p:cNvSpPr txBox="1"/>
          <p:nvPr/>
        </p:nvSpPr>
        <p:spPr>
          <a:xfrm>
            <a:off x="4113544" y="3912934"/>
            <a:ext cx="879822" cy="707886"/>
          </a:xfrm>
          <a:prstGeom prst="rect">
            <a:avLst/>
          </a:prstGeom>
          <a:noFill/>
        </p:spPr>
        <p:txBody>
          <a:bodyPr wrap="square">
            <a:spAutoFit/>
          </a:bodyPr>
          <a:lstStyle/>
          <a:p>
            <a:r>
              <a:rPr kumimoji="0" lang="en-US" sz="4000" b="0" i="0" u="none" strike="noStrike" kern="1200" cap="none" spc="0" normalizeH="0" baseline="0" noProof="0">
                <a:ln>
                  <a:noFill/>
                </a:ln>
                <a:solidFill>
                  <a:srgbClr val="000000"/>
                </a:solidFill>
                <a:effectLst/>
                <a:uLnTx/>
                <a:uFillTx/>
                <a:latin typeface="Arial" panose="020B0604020202020204" pitchFamily="34" charset="0"/>
                <a:ea typeface="Segoe UI Emoji" panose="020B0502040204020203" pitchFamily="34" charset="0"/>
                <a:cs typeface="Arial" panose="020B0604020202020204" pitchFamily="34" charset="0"/>
              </a:rPr>
              <a:t>🐻</a:t>
            </a:r>
            <a:endParaRPr lang="en-US"/>
          </a:p>
        </p:txBody>
      </p:sp>
      <p:sp>
        <p:nvSpPr>
          <p:cNvPr id="4" name="TextBox 3">
            <a:extLst>
              <a:ext uri="{FF2B5EF4-FFF2-40B4-BE49-F238E27FC236}">
                <a16:creationId xmlns:a16="http://schemas.microsoft.com/office/drawing/2014/main" id="{5D5D6C71-A6E3-EF68-AD94-68C35A5550A0}"/>
              </a:ext>
            </a:extLst>
          </p:cNvPr>
          <p:cNvSpPr txBox="1"/>
          <p:nvPr/>
        </p:nvSpPr>
        <p:spPr>
          <a:xfrm>
            <a:off x="4113544" y="4435614"/>
            <a:ext cx="814508" cy="707886"/>
          </a:xfrm>
          <a:prstGeom prst="rect">
            <a:avLst/>
          </a:prstGeom>
          <a:noFill/>
        </p:spPr>
        <p:txBody>
          <a:bodyPr wrap="square" rtlCol="0">
            <a:spAutoFit/>
          </a:bodyPr>
          <a:lstStyle/>
          <a:p>
            <a:r>
              <a:rPr lang="en-US" sz="4000">
                <a:latin typeface="Arial" panose="020B0604020202020204" pitchFamily="34" charset="0"/>
                <a:ea typeface="Segoe UI Emoji" panose="020B0502040204020203" pitchFamily="34" charset="0"/>
                <a:cs typeface="Arial" panose="020B0604020202020204" pitchFamily="34" charset="0"/>
              </a:rPr>
              <a:t>🐨</a:t>
            </a:r>
          </a:p>
        </p:txBody>
      </p:sp>
      <p:sp>
        <p:nvSpPr>
          <p:cNvPr id="6" name="TextBox 5">
            <a:extLst>
              <a:ext uri="{FF2B5EF4-FFF2-40B4-BE49-F238E27FC236}">
                <a16:creationId xmlns:a16="http://schemas.microsoft.com/office/drawing/2014/main" id="{81F8CD65-FF41-AB91-6EFD-62DADD96117F}"/>
              </a:ext>
            </a:extLst>
          </p:cNvPr>
          <p:cNvSpPr txBox="1"/>
          <p:nvPr/>
        </p:nvSpPr>
        <p:spPr>
          <a:xfrm>
            <a:off x="4102017" y="3405790"/>
            <a:ext cx="826034" cy="707886"/>
          </a:xfrm>
          <a:prstGeom prst="rect">
            <a:avLst/>
          </a:prstGeom>
          <a:noFill/>
        </p:spPr>
        <p:txBody>
          <a:bodyPr wrap="square">
            <a:spAutoFit/>
          </a:bodyPr>
          <a:lstStyle/>
          <a:p>
            <a:r>
              <a:rPr kumimoji="0" lang="en-US" sz="4000" b="0" i="0" u="none" strike="noStrike" kern="1200" cap="none" spc="0" normalizeH="0" baseline="0" noProof="0">
                <a:ln>
                  <a:noFill/>
                </a:ln>
                <a:solidFill>
                  <a:srgbClr val="000000"/>
                </a:solidFill>
                <a:effectLst/>
                <a:uLnTx/>
                <a:uFillTx/>
                <a:latin typeface="Arial" panose="020B0604020202020204" pitchFamily="34" charset="0"/>
                <a:ea typeface="Segoe UI Emoji" panose="020B0502040204020203" pitchFamily="34" charset="0"/>
                <a:cs typeface="Arial" panose="020B0604020202020204" pitchFamily="34" charset="0"/>
              </a:rPr>
              <a:t>🐷</a:t>
            </a:r>
            <a:endParaRPr lang="en-US"/>
          </a:p>
        </p:txBody>
      </p:sp>
      <p:sp>
        <p:nvSpPr>
          <p:cNvPr id="3" name="TextBox 2">
            <a:extLst>
              <a:ext uri="{FF2B5EF4-FFF2-40B4-BE49-F238E27FC236}">
                <a16:creationId xmlns:a16="http://schemas.microsoft.com/office/drawing/2014/main" id="{5C8DE830-F515-1AC6-F598-4AB794E53932}"/>
              </a:ext>
            </a:extLst>
          </p:cNvPr>
          <p:cNvSpPr txBox="1"/>
          <p:nvPr/>
        </p:nvSpPr>
        <p:spPr>
          <a:xfrm>
            <a:off x="3790140" y="1441263"/>
            <a:ext cx="2063163" cy="2215991"/>
          </a:xfrm>
          <a:prstGeom prst="rect">
            <a:avLst/>
          </a:prstGeom>
          <a:noFill/>
        </p:spPr>
        <p:txBody>
          <a:bodyPr wrap="square">
            <a:spAutoFit/>
          </a:bodyPr>
          <a:lstStyle/>
          <a:p>
            <a:pPr algn="ctr"/>
            <a:r>
              <a:rPr lang="en-US" sz="13800">
                <a:latin typeface="Arial" panose="020B0604020202020204" pitchFamily="34" charset="0"/>
                <a:ea typeface="Segoe UI Emoji" panose="020B0502040204020203" pitchFamily="34" charset="0"/>
                <a:cs typeface="Arial" panose="020B0604020202020204" pitchFamily="34" charset="0"/>
              </a:rPr>
              <a:t>🚁</a:t>
            </a:r>
            <a:endParaRPr lang="en-US" sz="13800"/>
          </a:p>
        </p:txBody>
      </p:sp>
      <p:sp>
        <p:nvSpPr>
          <p:cNvPr id="7" name="TextBox 6">
            <a:extLst>
              <a:ext uri="{FF2B5EF4-FFF2-40B4-BE49-F238E27FC236}">
                <a16:creationId xmlns:a16="http://schemas.microsoft.com/office/drawing/2014/main" id="{05F32D17-4A1D-3C02-0E6E-932BEA14BFA5}"/>
              </a:ext>
            </a:extLst>
          </p:cNvPr>
          <p:cNvSpPr txBox="1"/>
          <p:nvPr/>
        </p:nvSpPr>
        <p:spPr>
          <a:xfrm>
            <a:off x="3322674" y="1337112"/>
            <a:ext cx="2759149" cy="461665"/>
          </a:xfrm>
          <a:prstGeom prst="rect">
            <a:avLst/>
          </a:prstGeom>
          <a:noFill/>
        </p:spPr>
        <p:txBody>
          <a:bodyPr wrap="square" rtlCol="0">
            <a:spAutoFit/>
          </a:bodyPr>
          <a:lstStyle/>
          <a:p>
            <a:pPr algn="ctr"/>
            <a:r>
              <a:rPr lang="en-US" sz="2400">
                <a:latin typeface="Consolas" panose="020B0609020204030204" pitchFamily="49" charset="0"/>
                <a:cs typeface="Consolas" panose="020B0609020204030204" pitchFamily="49" charset="0"/>
              </a:rPr>
              <a:t>stack.pop()</a:t>
            </a:r>
            <a:endParaRPr lang="en-US" sz="2400">
              <a:latin typeface="Consolas" panose="020B0609020204030204" pitchFamily="49" charset="0"/>
              <a:ea typeface="Segoe UI Emoji" panose="020B0502040204020203" pitchFamily="34" charset="0"/>
              <a:cs typeface="Consolas" panose="020B0609020204030204" pitchFamily="49" charset="0"/>
            </a:endParaRPr>
          </a:p>
        </p:txBody>
      </p:sp>
    </p:spTree>
    <p:extLst>
      <p:ext uri="{BB962C8B-B14F-4D97-AF65-F5344CB8AC3E}">
        <p14:creationId xmlns:p14="http://schemas.microsoft.com/office/powerpoint/2010/main" val="18224611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1FDDE-CACE-2120-E56D-9CC5D6E73A0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FFB3767-0997-3E59-4DEE-6DD6036D7307}"/>
              </a:ext>
            </a:extLst>
          </p:cNvPr>
          <p:cNvSpPr txBox="1"/>
          <p:nvPr/>
        </p:nvSpPr>
        <p:spPr>
          <a:xfrm>
            <a:off x="4113544" y="4435614"/>
            <a:ext cx="814508" cy="707886"/>
          </a:xfrm>
          <a:prstGeom prst="rect">
            <a:avLst/>
          </a:prstGeom>
          <a:noFill/>
        </p:spPr>
        <p:txBody>
          <a:bodyPr wrap="square" rtlCol="0">
            <a:spAutoFit/>
          </a:bodyPr>
          <a:lstStyle/>
          <a:p>
            <a:r>
              <a:rPr lang="en-US" sz="4000">
                <a:latin typeface="Arial" panose="020B0604020202020204" pitchFamily="34" charset="0"/>
                <a:ea typeface="Segoe UI Emoji" panose="020B0502040204020203" pitchFamily="34" charset="0"/>
                <a:cs typeface="Arial" panose="020B0604020202020204" pitchFamily="34" charset="0"/>
              </a:rPr>
              <a:t>🐨</a:t>
            </a:r>
          </a:p>
        </p:txBody>
      </p:sp>
      <p:sp>
        <p:nvSpPr>
          <p:cNvPr id="3" name="TextBox 2">
            <a:extLst>
              <a:ext uri="{FF2B5EF4-FFF2-40B4-BE49-F238E27FC236}">
                <a16:creationId xmlns:a16="http://schemas.microsoft.com/office/drawing/2014/main" id="{8811F86B-822D-2655-39C8-0BB1DFACB1EB}"/>
              </a:ext>
            </a:extLst>
          </p:cNvPr>
          <p:cNvSpPr txBox="1"/>
          <p:nvPr/>
        </p:nvSpPr>
        <p:spPr>
          <a:xfrm>
            <a:off x="3790140" y="1967049"/>
            <a:ext cx="2063163" cy="2215991"/>
          </a:xfrm>
          <a:prstGeom prst="rect">
            <a:avLst/>
          </a:prstGeom>
          <a:noFill/>
        </p:spPr>
        <p:txBody>
          <a:bodyPr wrap="square">
            <a:spAutoFit/>
          </a:bodyPr>
          <a:lstStyle/>
          <a:p>
            <a:pPr algn="ctr"/>
            <a:r>
              <a:rPr lang="en-US" sz="13800">
                <a:latin typeface="Arial" panose="020B0604020202020204" pitchFamily="34" charset="0"/>
                <a:ea typeface="Segoe UI Emoji" panose="020B0502040204020203" pitchFamily="34" charset="0"/>
                <a:cs typeface="Arial" panose="020B0604020202020204" pitchFamily="34" charset="0"/>
              </a:rPr>
              <a:t>🚁</a:t>
            </a:r>
            <a:endParaRPr lang="en-US" sz="13800"/>
          </a:p>
        </p:txBody>
      </p:sp>
      <p:sp>
        <p:nvSpPr>
          <p:cNvPr id="8" name="TextBox 7">
            <a:extLst>
              <a:ext uri="{FF2B5EF4-FFF2-40B4-BE49-F238E27FC236}">
                <a16:creationId xmlns:a16="http://schemas.microsoft.com/office/drawing/2014/main" id="{535BDEB3-C6FD-7A32-272D-47268AE895A5}"/>
              </a:ext>
            </a:extLst>
          </p:cNvPr>
          <p:cNvSpPr txBox="1"/>
          <p:nvPr/>
        </p:nvSpPr>
        <p:spPr>
          <a:xfrm rot="10800000">
            <a:off x="4140438" y="5143500"/>
            <a:ext cx="826034" cy="707886"/>
          </a:xfrm>
          <a:prstGeom prst="rect">
            <a:avLst/>
          </a:prstGeom>
          <a:noFill/>
        </p:spPr>
        <p:txBody>
          <a:bodyPr wrap="square">
            <a:spAutoFit/>
          </a:bodyPr>
          <a:lstStyle/>
          <a:p>
            <a:r>
              <a:rPr kumimoji="0" lang="en-US" sz="4000" b="0" i="0" u="none" strike="noStrike" kern="1200" cap="none" spc="0" normalizeH="0" baseline="0" noProof="0">
                <a:ln>
                  <a:noFill/>
                </a:ln>
                <a:solidFill>
                  <a:srgbClr val="000000"/>
                </a:solidFill>
                <a:effectLst/>
                <a:uLnTx/>
                <a:uFillTx/>
                <a:latin typeface="Arial" panose="020B0604020202020204" pitchFamily="34" charset="0"/>
                <a:ea typeface="Segoe UI Emoji" panose="020B0502040204020203" pitchFamily="34" charset="0"/>
                <a:cs typeface="Arial" panose="020B0604020202020204" pitchFamily="34" charset="0"/>
              </a:rPr>
              <a:t>🐷</a:t>
            </a:r>
            <a:endParaRPr lang="en-US"/>
          </a:p>
        </p:txBody>
      </p:sp>
      <p:sp>
        <p:nvSpPr>
          <p:cNvPr id="9" name="TextBox 8">
            <a:extLst>
              <a:ext uri="{FF2B5EF4-FFF2-40B4-BE49-F238E27FC236}">
                <a16:creationId xmlns:a16="http://schemas.microsoft.com/office/drawing/2014/main" id="{C3C435F9-1607-FE99-1D3B-B0FD6F3072CA}"/>
              </a:ext>
            </a:extLst>
          </p:cNvPr>
          <p:cNvSpPr txBox="1"/>
          <p:nvPr/>
        </p:nvSpPr>
        <p:spPr>
          <a:xfrm>
            <a:off x="4113544" y="3912934"/>
            <a:ext cx="879822" cy="707886"/>
          </a:xfrm>
          <a:prstGeom prst="rect">
            <a:avLst/>
          </a:prstGeom>
          <a:noFill/>
        </p:spPr>
        <p:txBody>
          <a:bodyPr wrap="square">
            <a:spAutoFit/>
          </a:bodyPr>
          <a:lstStyle/>
          <a:p>
            <a:r>
              <a:rPr kumimoji="0" lang="en-US" sz="4000" b="0" i="0" u="none" strike="noStrike" kern="1200" cap="none" spc="0" normalizeH="0" baseline="0" noProof="0">
                <a:ln>
                  <a:noFill/>
                </a:ln>
                <a:solidFill>
                  <a:srgbClr val="000000"/>
                </a:solidFill>
                <a:effectLst/>
                <a:uLnTx/>
                <a:uFillTx/>
                <a:latin typeface="Arial" panose="020B0604020202020204" pitchFamily="34" charset="0"/>
                <a:ea typeface="Segoe UI Emoji" panose="020B0502040204020203" pitchFamily="34" charset="0"/>
                <a:cs typeface="Arial" panose="020B0604020202020204" pitchFamily="34" charset="0"/>
              </a:rPr>
              <a:t>🐻</a:t>
            </a:r>
            <a:endParaRPr lang="en-US"/>
          </a:p>
        </p:txBody>
      </p:sp>
      <p:sp>
        <p:nvSpPr>
          <p:cNvPr id="10" name="TextBox 9">
            <a:extLst>
              <a:ext uri="{FF2B5EF4-FFF2-40B4-BE49-F238E27FC236}">
                <a16:creationId xmlns:a16="http://schemas.microsoft.com/office/drawing/2014/main" id="{2A2306B4-C39D-6764-1BD7-BF0CAC37AED2}"/>
              </a:ext>
            </a:extLst>
          </p:cNvPr>
          <p:cNvSpPr txBox="1"/>
          <p:nvPr/>
        </p:nvSpPr>
        <p:spPr>
          <a:xfrm>
            <a:off x="3322674" y="1921909"/>
            <a:ext cx="2759149" cy="461665"/>
          </a:xfrm>
          <a:prstGeom prst="rect">
            <a:avLst/>
          </a:prstGeom>
          <a:noFill/>
        </p:spPr>
        <p:txBody>
          <a:bodyPr wrap="square" rtlCol="0">
            <a:spAutoFit/>
          </a:bodyPr>
          <a:lstStyle/>
          <a:p>
            <a:pPr algn="ctr"/>
            <a:r>
              <a:rPr lang="en-US" sz="2400">
                <a:latin typeface="Consolas" panose="020B0609020204030204" pitchFamily="49" charset="0"/>
                <a:cs typeface="Consolas" panose="020B0609020204030204" pitchFamily="49" charset="0"/>
              </a:rPr>
              <a:t>stack.pop()</a:t>
            </a:r>
            <a:endParaRPr lang="en-US" sz="2400">
              <a:latin typeface="Consolas" panose="020B0609020204030204" pitchFamily="49" charset="0"/>
              <a:ea typeface="Segoe UI Emoji" panose="020B0502040204020203" pitchFamily="34" charset="0"/>
              <a:cs typeface="Consolas" panose="020B0609020204030204" pitchFamily="49" charset="0"/>
            </a:endParaRPr>
          </a:p>
        </p:txBody>
      </p:sp>
    </p:spTree>
    <p:extLst>
      <p:ext uri="{BB962C8B-B14F-4D97-AF65-F5344CB8AC3E}">
        <p14:creationId xmlns:p14="http://schemas.microsoft.com/office/powerpoint/2010/main" val="365652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DA04A-2DFE-69C9-4448-66E542B350B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F5AAA2A-8E7C-EACC-7F80-1C3A8355F146}"/>
              </a:ext>
            </a:extLst>
          </p:cNvPr>
          <p:cNvSpPr txBox="1"/>
          <p:nvPr/>
        </p:nvSpPr>
        <p:spPr>
          <a:xfrm rot="10800000">
            <a:off x="4113544" y="5134705"/>
            <a:ext cx="879822" cy="707886"/>
          </a:xfrm>
          <a:prstGeom prst="rect">
            <a:avLst/>
          </a:prstGeom>
          <a:noFill/>
        </p:spPr>
        <p:txBody>
          <a:bodyPr wrap="square">
            <a:spAutoFit/>
          </a:bodyPr>
          <a:lstStyle/>
          <a:p>
            <a:r>
              <a:rPr kumimoji="0" lang="en-US" sz="4000" b="0" i="0" u="none" strike="noStrike" kern="1200" cap="none" spc="0" normalizeH="0" baseline="0" noProof="0">
                <a:ln>
                  <a:noFill/>
                </a:ln>
                <a:solidFill>
                  <a:srgbClr val="000000"/>
                </a:solidFill>
                <a:effectLst/>
                <a:uLnTx/>
                <a:uFillTx/>
                <a:latin typeface="Arial" panose="020B0604020202020204" pitchFamily="34" charset="0"/>
                <a:ea typeface="Segoe UI Emoji" panose="020B0502040204020203" pitchFamily="34" charset="0"/>
                <a:cs typeface="Arial" panose="020B0604020202020204" pitchFamily="34" charset="0"/>
              </a:rPr>
              <a:t>🐻</a:t>
            </a:r>
            <a:endParaRPr lang="en-US"/>
          </a:p>
        </p:txBody>
      </p:sp>
      <p:sp>
        <p:nvSpPr>
          <p:cNvPr id="4" name="TextBox 3">
            <a:extLst>
              <a:ext uri="{FF2B5EF4-FFF2-40B4-BE49-F238E27FC236}">
                <a16:creationId xmlns:a16="http://schemas.microsoft.com/office/drawing/2014/main" id="{9159B7DC-7AAE-ABC6-DBA2-BB731D98E5C9}"/>
              </a:ext>
            </a:extLst>
          </p:cNvPr>
          <p:cNvSpPr txBox="1"/>
          <p:nvPr/>
        </p:nvSpPr>
        <p:spPr>
          <a:xfrm>
            <a:off x="4113544" y="4435614"/>
            <a:ext cx="814508" cy="707886"/>
          </a:xfrm>
          <a:prstGeom prst="rect">
            <a:avLst/>
          </a:prstGeom>
          <a:noFill/>
        </p:spPr>
        <p:txBody>
          <a:bodyPr wrap="square" rtlCol="0">
            <a:spAutoFit/>
          </a:bodyPr>
          <a:lstStyle/>
          <a:p>
            <a:r>
              <a:rPr lang="en-US" sz="4000">
                <a:latin typeface="Arial" panose="020B0604020202020204" pitchFamily="34" charset="0"/>
                <a:ea typeface="Segoe UI Emoji" panose="020B0502040204020203" pitchFamily="34" charset="0"/>
                <a:cs typeface="Arial" panose="020B0604020202020204" pitchFamily="34" charset="0"/>
              </a:rPr>
              <a:t>🐨</a:t>
            </a:r>
          </a:p>
        </p:txBody>
      </p:sp>
      <p:sp>
        <p:nvSpPr>
          <p:cNvPr id="6" name="TextBox 5">
            <a:extLst>
              <a:ext uri="{FF2B5EF4-FFF2-40B4-BE49-F238E27FC236}">
                <a16:creationId xmlns:a16="http://schemas.microsoft.com/office/drawing/2014/main" id="{800C6D6A-25BC-611E-5B83-1FC361596A59}"/>
              </a:ext>
            </a:extLst>
          </p:cNvPr>
          <p:cNvSpPr txBox="1"/>
          <p:nvPr/>
        </p:nvSpPr>
        <p:spPr>
          <a:xfrm rot="10800000">
            <a:off x="4140438" y="5143500"/>
            <a:ext cx="826034" cy="707886"/>
          </a:xfrm>
          <a:prstGeom prst="rect">
            <a:avLst/>
          </a:prstGeom>
          <a:noFill/>
        </p:spPr>
        <p:txBody>
          <a:bodyPr wrap="square">
            <a:spAutoFit/>
          </a:bodyPr>
          <a:lstStyle/>
          <a:p>
            <a:r>
              <a:rPr kumimoji="0" lang="en-US" sz="4000" b="0" i="0" u="none" strike="noStrike" kern="1200" cap="none" spc="0" normalizeH="0" baseline="0" noProof="0">
                <a:ln>
                  <a:noFill/>
                </a:ln>
                <a:solidFill>
                  <a:srgbClr val="000000"/>
                </a:solidFill>
                <a:effectLst/>
                <a:uLnTx/>
                <a:uFillTx/>
                <a:latin typeface="Arial" panose="020B0604020202020204" pitchFamily="34" charset="0"/>
                <a:ea typeface="Segoe UI Emoji" panose="020B0502040204020203" pitchFamily="34" charset="0"/>
                <a:cs typeface="Arial" panose="020B0604020202020204" pitchFamily="34" charset="0"/>
              </a:rPr>
              <a:t>🐷</a:t>
            </a:r>
            <a:endParaRPr lang="en-US"/>
          </a:p>
        </p:txBody>
      </p:sp>
      <p:sp>
        <p:nvSpPr>
          <p:cNvPr id="2" name="TextBox 1">
            <a:extLst>
              <a:ext uri="{FF2B5EF4-FFF2-40B4-BE49-F238E27FC236}">
                <a16:creationId xmlns:a16="http://schemas.microsoft.com/office/drawing/2014/main" id="{0F040FE9-E21F-89E6-1938-58BC6F5B4F2A}"/>
              </a:ext>
            </a:extLst>
          </p:cNvPr>
          <p:cNvSpPr txBox="1"/>
          <p:nvPr/>
        </p:nvSpPr>
        <p:spPr>
          <a:xfrm>
            <a:off x="4101569" y="3396561"/>
            <a:ext cx="839972" cy="707886"/>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srgbClr val="000000"/>
                </a:solidFill>
                <a:effectLst/>
                <a:uLnTx/>
                <a:uFillTx/>
                <a:latin typeface="Arial" panose="020B0604020202020204" pitchFamily="34" charset="0"/>
                <a:ea typeface="Segoe UI Emoji" panose="020B0502040204020203" pitchFamily="34" charset="0"/>
                <a:cs typeface="Arial" panose="020B0604020202020204" pitchFamily="34" charset="0"/>
              </a:rPr>
              <a:t>🐮</a:t>
            </a:r>
          </a:p>
        </p:txBody>
      </p:sp>
      <p:sp>
        <p:nvSpPr>
          <p:cNvPr id="3" name="TextBox 2">
            <a:extLst>
              <a:ext uri="{FF2B5EF4-FFF2-40B4-BE49-F238E27FC236}">
                <a16:creationId xmlns:a16="http://schemas.microsoft.com/office/drawing/2014/main" id="{AA9D3B36-9866-EF94-8E62-77998F6B40B5}"/>
              </a:ext>
            </a:extLst>
          </p:cNvPr>
          <p:cNvSpPr txBox="1"/>
          <p:nvPr/>
        </p:nvSpPr>
        <p:spPr>
          <a:xfrm>
            <a:off x="3790140" y="2488043"/>
            <a:ext cx="2063163" cy="2215991"/>
          </a:xfrm>
          <a:prstGeom prst="rect">
            <a:avLst/>
          </a:prstGeom>
          <a:noFill/>
        </p:spPr>
        <p:txBody>
          <a:bodyPr wrap="square">
            <a:spAutoFit/>
          </a:bodyPr>
          <a:lstStyle/>
          <a:p>
            <a:pPr algn="ctr"/>
            <a:r>
              <a:rPr lang="en-US" sz="13800">
                <a:latin typeface="Arial" panose="020B0604020202020204" pitchFamily="34" charset="0"/>
                <a:ea typeface="Segoe UI Emoji" panose="020B0502040204020203" pitchFamily="34" charset="0"/>
                <a:cs typeface="Arial" panose="020B0604020202020204" pitchFamily="34" charset="0"/>
              </a:rPr>
              <a:t>🚁</a:t>
            </a:r>
            <a:endParaRPr lang="en-US" sz="13800"/>
          </a:p>
        </p:txBody>
      </p:sp>
      <p:sp>
        <p:nvSpPr>
          <p:cNvPr id="7" name="TextBox 6">
            <a:extLst>
              <a:ext uri="{FF2B5EF4-FFF2-40B4-BE49-F238E27FC236}">
                <a16:creationId xmlns:a16="http://schemas.microsoft.com/office/drawing/2014/main" id="{50035315-47E3-6AC9-7AEC-ACA11271AC74}"/>
              </a:ext>
            </a:extLst>
          </p:cNvPr>
          <p:cNvSpPr txBox="1"/>
          <p:nvPr/>
        </p:nvSpPr>
        <p:spPr>
          <a:xfrm>
            <a:off x="3322674" y="2442900"/>
            <a:ext cx="2759149" cy="461665"/>
          </a:xfrm>
          <a:prstGeom prst="rect">
            <a:avLst/>
          </a:prstGeom>
          <a:noFill/>
        </p:spPr>
        <p:txBody>
          <a:bodyPr wrap="square" rtlCol="0">
            <a:spAutoFit/>
          </a:bodyPr>
          <a:lstStyle/>
          <a:p>
            <a:pPr algn="ctr"/>
            <a:r>
              <a:rPr lang="en-US" sz="2400">
                <a:latin typeface="Consolas" panose="020B0609020204030204" pitchFamily="49" charset="0"/>
                <a:cs typeface="Consolas" panose="020B0609020204030204" pitchFamily="49" charset="0"/>
              </a:rPr>
              <a:t>stack.push(</a:t>
            </a:r>
            <a:r>
              <a:rPr lang="en-US" sz="2400">
                <a:solidFill>
                  <a:srgbClr val="000000"/>
                </a:solidFill>
                <a:latin typeface="Arial" panose="020B0604020202020204" pitchFamily="34" charset="0"/>
                <a:ea typeface="Segoe UI Emoji" panose="020B0502040204020203" pitchFamily="34" charset="0"/>
                <a:cs typeface="Arial" panose="020B0604020202020204" pitchFamily="34" charset="0"/>
              </a:rPr>
              <a:t>🐮</a:t>
            </a:r>
            <a:r>
              <a:rPr lang="en-US" sz="2400">
                <a:latin typeface="Consolas" panose="020B0609020204030204" pitchFamily="49" charset="0"/>
                <a:ea typeface="Segoe UI Emoji" panose="020B0502040204020203" pitchFamily="34" charset="0"/>
                <a:cs typeface="Consolas" panose="020B0609020204030204" pitchFamily="49" charset="0"/>
              </a:rPr>
              <a:t>)</a:t>
            </a:r>
          </a:p>
        </p:txBody>
      </p:sp>
    </p:spTree>
    <p:extLst>
      <p:ext uri="{BB962C8B-B14F-4D97-AF65-F5344CB8AC3E}">
        <p14:creationId xmlns:p14="http://schemas.microsoft.com/office/powerpoint/2010/main" val="809398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F9000-8DA2-18B5-3BC4-E3910D34FA0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562B701-63C7-C3E3-BAE9-0EB650111B4B}"/>
              </a:ext>
            </a:extLst>
          </p:cNvPr>
          <p:cNvSpPr txBox="1"/>
          <p:nvPr/>
        </p:nvSpPr>
        <p:spPr>
          <a:xfrm rot="10800000">
            <a:off x="4113544" y="5134705"/>
            <a:ext cx="879822" cy="707886"/>
          </a:xfrm>
          <a:prstGeom prst="rect">
            <a:avLst/>
          </a:prstGeom>
          <a:noFill/>
        </p:spPr>
        <p:txBody>
          <a:bodyPr wrap="square">
            <a:spAutoFit/>
          </a:bodyPr>
          <a:lstStyle/>
          <a:p>
            <a:r>
              <a:rPr kumimoji="0" lang="en-US" sz="4000" b="0" i="0" u="none" strike="noStrike" kern="1200" cap="none" spc="0" normalizeH="0" baseline="0" noProof="0">
                <a:ln>
                  <a:noFill/>
                </a:ln>
                <a:solidFill>
                  <a:srgbClr val="000000"/>
                </a:solidFill>
                <a:effectLst/>
                <a:uLnTx/>
                <a:uFillTx/>
                <a:latin typeface="Arial" panose="020B0604020202020204" pitchFamily="34" charset="0"/>
                <a:ea typeface="Segoe UI Emoji" panose="020B0502040204020203" pitchFamily="34" charset="0"/>
                <a:cs typeface="Arial" panose="020B0604020202020204" pitchFamily="34" charset="0"/>
              </a:rPr>
              <a:t>🐻</a:t>
            </a:r>
            <a:endParaRPr lang="en-US"/>
          </a:p>
        </p:txBody>
      </p:sp>
      <p:sp>
        <p:nvSpPr>
          <p:cNvPr id="4" name="TextBox 3">
            <a:extLst>
              <a:ext uri="{FF2B5EF4-FFF2-40B4-BE49-F238E27FC236}">
                <a16:creationId xmlns:a16="http://schemas.microsoft.com/office/drawing/2014/main" id="{03A3DB22-7CDA-6ED0-BFA1-71B17295E4C7}"/>
              </a:ext>
            </a:extLst>
          </p:cNvPr>
          <p:cNvSpPr txBox="1"/>
          <p:nvPr/>
        </p:nvSpPr>
        <p:spPr>
          <a:xfrm>
            <a:off x="4113544" y="4435614"/>
            <a:ext cx="814508" cy="707886"/>
          </a:xfrm>
          <a:prstGeom prst="rect">
            <a:avLst/>
          </a:prstGeom>
          <a:noFill/>
        </p:spPr>
        <p:txBody>
          <a:bodyPr wrap="square" rtlCol="0">
            <a:spAutoFit/>
          </a:bodyPr>
          <a:lstStyle/>
          <a:p>
            <a:r>
              <a:rPr lang="en-US" sz="4000">
                <a:latin typeface="Arial" panose="020B0604020202020204" pitchFamily="34" charset="0"/>
                <a:ea typeface="Segoe UI Emoji" panose="020B0502040204020203" pitchFamily="34" charset="0"/>
                <a:cs typeface="Arial" panose="020B0604020202020204" pitchFamily="34" charset="0"/>
              </a:rPr>
              <a:t>🐨</a:t>
            </a:r>
          </a:p>
        </p:txBody>
      </p:sp>
      <p:sp>
        <p:nvSpPr>
          <p:cNvPr id="6" name="TextBox 5">
            <a:extLst>
              <a:ext uri="{FF2B5EF4-FFF2-40B4-BE49-F238E27FC236}">
                <a16:creationId xmlns:a16="http://schemas.microsoft.com/office/drawing/2014/main" id="{62056FCF-FEA1-CFFD-8F9D-843345EC7811}"/>
              </a:ext>
            </a:extLst>
          </p:cNvPr>
          <p:cNvSpPr txBox="1"/>
          <p:nvPr/>
        </p:nvSpPr>
        <p:spPr>
          <a:xfrm rot="10800000">
            <a:off x="4140438" y="5143500"/>
            <a:ext cx="826034" cy="707886"/>
          </a:xfrm>
          <a:prstGeom prst="rect">
            <a:avLst/>
          </a:prstGeom>
          <a:noFill/>
        </p:spPr>
        <p:txBody>
          <a:bodyPr wrap="square">
            <a:spAutoFit/>
          </a:bodyPr>
          <a:lstStyle/>
          <a:p>
            <a:r>
              <a:rPr kumimoji="0" lang="en-US" sz="4000" b="0" i="0" u="none" strike="noStrike" kern="1200" cap="none" spc="0" normalizeH="0" baseline="0" noProof="0">
                <a:ln>
                  <a:noFill/>
                </a:ln>
                <a:solidFill>
                  <a:srgbClr val="000000"/>
                </a:solidFill>
                <a:effectLst/>
                <a:uLnTx/>
                <a:uFillTx/>
                <a:latin typeface="Arial" panose="020B0604020202020204" pitchFamily="34" charset="0"/>
                <a:ea typeface="Segoe UI Emoji" panose="020B0502040204020203" pitchFamily="34" charset="0"/>
                <a:cs typeface="Arial" panose="020B0604020202020204" pitchFamily="34" charset="0"/>
              </a:rPr>
              <a:t>🐷</a:t>
            </a:r>
            <a:endParaRPr lang="en-US"/>
          </a:p>
        </p:txBody>
      </p:sp>
      <p:sp>
        <p:nvSpPr>
          <p:cNvPr id="8" name="TextBox 7">
            <a:extLst>
              <a:ext uri="{FF2B5EF4-FFF2-40B4-BE49-F238E27FC236}">
                <a16:creationId xmlns:a16="http://schemas.microsoft.com/office/drawing/2014/main" id="{7C998866-DBFA-2C16-2485-2143471EA714}"/>
              </a:ext>
            </a:extLst>
          </p:cNvPr>
          <p:cNvSpPr txBox="1"/>
          <p:nvPr/>
        </p:nvSpPr>
        <p:spPr>
          <a:xfrm>
            <a:off x="4101569" y="3917552"/>
            <a:ext cx="839972" cy="707886"/>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srgbClr val="000000"/>
                </a:solidFill>
                <a:effectLst/>
                <a:uLnTx/>
                <a:uFillTx/>
                <a:latin typeface="Arial" panose="020B0604020202020204" pitchFamily="34" charset="0"/>
                <a:ea typeface="Segoe UI Emoji" panose="020B0502040204020203" pitchFamily="34" charset="0"/>
                <a:cs typeface="Arial" panose="020B0604020202020204" pitchFamily="34" charset="0"/>
              </a:rPr>
              <a:t>🐮</a:t>
            </a:r>
          </a:p>
        </p:txBody>
      </p:sp>
      <p:sp>
        <p:nvSpPr>
          <p:cNvPr id="3" name="TextBox 2">
            <a:extLst>
              <a:ext uri="{FF2B5EF4-FFF2-40B4-BE49-F238E27FC236}">
                <a16:creationId xmlns:a16="http://schemas.microsoft.com/office/drawing/2014/main" id="{6271D37A-8C35-0AEB-B619-E6D87698E688}"/>
              </a:ext>
            </a:extLst>
          </p:cNvPr>
          <p:cNvSpPr txBox="1"/>
          <p:nvPr/>
        </p:nvSpPr>
        <p:spPr>
          <a:xfrm>
            <a:off x="3790140" y="1965811"/>
            <a:ext cx="2063163" cy="2215991"/>
          </a:xfrm>
          <a:prstGeom prst="rect">
            <a:avLst/>
          </a:prstGeom>
          <a:noFill/>
        </p:spPr>
        <p:txBody>
          <a:bodyPr wrap="square">
            <a:spAutoFit/>
          </a:bodyPr>
          <a:lstStyle/>
          <a:p>
            <a:pPr algn="ctr"/>
            <a:r>
              <a:rPr lang="en-US" sz="13800">
                <a:latin typeface="Arial" panose="020B0604020202020204" pitchFamily="34" charset="0"/>
                <a:ea typeface="Segoe UI Emoji" panose="020B0502040204020203" pitchFamily="34" charset="0"/>
                <a:cs typeface="Arial" panose="020B0604020202020204" pitchFamily="34" charset="0"/>
              </a:rPr>
              <a:t>🚁</a:t>
            </a:r>
            <a:endParaRPr lang="en-US" sz="13800"/>
          </a:p>
        </p:txBody>
      </p:sp>
      <p:sp>
        <p:nvSpPr>
          <p:cNvPr id="11" name="TextBox 10">
            <a:extLst>
              <a:ext uri="{FF2B5EF4-FFF2-40B4-BE49-F238E27FC236}">
                <a16:creationId xmlns:a16="http://schemas.microsoft.com/office/drawing/2014/main" id="{ADC50232-F53C-B9E4-755B-768C80C96174}"/>
              </a:ext>
            </a:extLst>
          </p:cNvPr>
          <p:cNvSpPr txBox="1"/>
          <p:nvPr/>
        </p:nvSpPr>
        <p:spPr>
          <a:xfrm>
            <a:off x="3322674" y="1975070"/>
            <a:ext cx="2759149" cy="461665"/>
          </a:xfrm>
          <a:prstGeom prst="rect">
            <a:avLst/>
          </a:prstGeom>
          <a:noFill/>
        </p:spPr>
        <p:txBody>
          <a:bodyPr wrap="square" rtlCol="0">
            <a:spAutoFit/>
          </a:bodyPr>
          <a:lstStyle/>
          <a:p>
            <a:pPr algn="ctr"/>
            <a:r>
              <a:rPr lang="en-US" sz="2400">
                <a:latin typeface="Consolas" panose="020B0609020204030204" pitchFamily="49" charset="0"/>
                <a:cs typeface="Consolas" panose="020B0609020204030204" pitchFamily="49" charset="0"/>
              </a:rPr>
              <a:t>stack.pop()</a:t>
            </a:r>
            <a:endParaRPr lang="en-US" sz="2400">
              <a:latin typeface="Consolas" panose="020B0609020204030204" pitchFamily="49" charset="0"/>
              <a:ea typeface="Segoe UI Emoji" panose="020B0502040204020203" pitchFamily="34" charset="0"/>
              <a:cs typeface="Consolas" panose="020B0609020204030204" pitchFamily="49" charset="0"/>
            </a:endParaRPr>
          </a:p>
        </p:txBody>
      </p:sp>
    </p:spTree>
    <p:extLst>
      <p:ext uri="{BB962C8B-B14F-4D97-AF65-F5344CB8AC3E}">
        <p14:creationId xmlns:p14="http://schemas.microsoft.com/office/powerpoint/2010/main" val="20650889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11526-6255-C8B8-8F1C-0769FCC62FD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39027D5-626B-C2BA-8D7F-9D792236E35A}"/>
              </a:ext>
            </a:extLst>
          </p:cNvPr>
          <p:cNvSpPr txBox="1"/>
          <p:nvPr/>
        </p:nvSpPr>
        <p:spPr>
          <a:xfrm rot="10800000">
            <a:off x="4113544" y="5134705"/>
            <a:ext cx="879822" cy="707886"/>
          </a:xfrm>
          <a:prstGeom prst="rect">
            <a:avLst/>
          </a:prstGeom>
          <a:noFill/>
        </p:spPr>
        <p:txBody>
          <a:bodyPr wrap="square">
            <a:spAutoFit/>
          </a:bodyPr>
          <a:lstStyle/>
          <a:p>
            <a:r>
              <a:rPr kumimoji="0" lang="en-US" sz="4000" b="0" i="0" u="none" strike="noStrike" kern="1200" cap="none" spc="0" normalizeH="0" baseline="0" noProof="0">
                <a:ln>
                  <a:noFill/>
                </a:ln>
                <a:solidFill>
                  <a:srgbClr val="000000"/>
                </a:solidFill>
                <a:effectLst/>
                <a:uLnTx/>
                <a:uFillTx/>
                <a:latin typeface="Arial" panose="020B0604020202020204" pitchFamily="34" charset="0"/>
                <a:ea typeface="Segoe UI Emoji" panose="020B0502040204020203" pitchFamily="34" charset="0"/>
                <a:cs typeface="Arial" panose="020B0604020202020204" pitchFamily="34" charset="0"/>
              </a:rPr>
              <a:t>🐻</a:t>
            </a:r>
            <a:endParaRPr lang="en-US"/>
          </a:p>
        </p:txBody>
      </p:sp>
      <p:sp>
        <p:nvSpPr>
          <p:cNvPr id="4" name="TextBox 3">
            <a:extLst>
              <a:ext uri="{FF2B5EF4-FFF2-40B4-BE49-F238E27FC236}">
                <a16:creationId xmlns:a16="http://schemas.microsoft.com/office/drawing/2014/main" id="{558DDC7C-B815-E1AD-42A2-205646437C00}"/>
              </a:ext>
            </a:extLst>
          </p:cNvPr>
          <p:cNvSpPr txBox="1"/>
          <p:nvPr/>
        </p:nvSpPr>
        <p:spPr>
          <a:xfrm>
            <a:off x="4113544" y="4435614"/>
            <a:ext cx="814508" cy="707886"/>
          </a:xfrm>
          <a:prstGeom prst="rect">
            <a:avLst/>
          </a:prstGeom>
          <a:noFill/>
        </p:spPr>
        <p:txBody>
          <a:bodyPr wrap="square" rtlCol="0">
            <a:spAutoFit/>
          </a:bodyPr>
          <a:lstStyle/>
          <a:p>
            <a:r>
              <a:rPr lang="en-US" sz="4000">
                <a:latin typeface="Arial" panose="020B0604020202020204" pitchFamily="34" charset="0"/>
                <a:ea typeface="Segoe UI Emoji" panose="020B0502040204020203" pitchFamily="34" charset="0"/>
                <a:cs typeface="Arial" panose="020B0604020202020204" pitchFamily="34" charset="0"/>
              </a:rPr>
              <a:t>🐨</a:t>
            </a:r>
          </a:p>
        </p:txBody>
      </p:sp>
      <p:sp>
        <p:nvSpPr>
          <p:cNvPr id="6" name="TextBox 5">
            <a:extLst>
              <a:ext uri="{FF2B5EF4-FFF2-40B4-BE49-F238E27FC236}">
                <a16:creationId xmlns:a16="http://schemas.microsoft.com/office/drawing/2014/main" id="{654D4267-9FC9-04DD-4D9A-A31F6CD88236}"/>
              </a:ext>
            </a:extLst>
          </p:cNvPr>
          <p:cNvSpPr txBox="1"/>
          <p:nvPr/>
        </p:nvSpPr>
        <p:spPr>
          <a:xfrm rot="10800000">
            <a:off x="4140438" y="5143500"/>
            <a:ext cx="826034" cy="707886"/>
          </a:xfrm>
          <a:prstGeom prst="rect">
            <a:avLst/>
          </a:prstGeom>
          <a:noFill/>
        </p:spPr>
        <p:txBody>
          <a:bodyPr wrap="square">
            <a:spAutoFit/>
          </a:bodyPr>
          <a:lstStyle/>
          <a:p>
            <a:r>
              <a:rPr kumimoji="0" lang="en-US" sz="4000" b="0" i="0" u="none" strike="noStrike" kern="1200" cap="none" spc="0" normalizeH="0" baseline="0" noProof="0">
                <a:ln>
                  <a:noFill/>
                </a:ln>
                <a:solidFill>
                  <a:srgbClr val="000000"/>
                </a:solidFill>
                <a:effectLst/>
                <a:uLnTx/>
                <a:uFillTx/>
                <a:latin typeface="Arial" panose="020B0604020202020204" pitchFamily="34" charset="0"/>
                <a:ea typeface="Segoe UI Emoji" panose="020B0502040204020203" pitchFamily="34" charset="0"/>
                <a:cs typeface="Arial" panose="020B0604020202020204" pitchFamily="34" charset="0"/>
              </a:rPr>
              <a:t>🐷</a:t>
            </a:r>
            <a:endParaRPr lang="en-US"/>
          </a:p>
        </p:txBody>
      </p:sp>
      <p:sp>
        <p:nvSpPr>
          <p:cNvPr id="8" name="TextBox 7">
            <a:extLst>
              <a:ext uri="{FF2B5EF4-FFF2-40B4-BE49-F238E27FC236}">
                <a16:creationId xmlns:a16="http://schemas.microsoft.com/office/drawing/2014/main" id="{72465835-272B-9535-DC81-041244042560}"/>
              </a:ext>
            </a:extLst>
          </p:cNvPr>
          <p:cNvSpPr txBox="1"/>
          <p:nvPr/>
        </p:nvSpPr>
        <p:spPr>
          <a:xfrm rot="10800000">
            <a:off x="4101569" y="5097767"/>
            <a:ext cx="839972" cy="707886"/>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srgbClr val="000000"/>
                </a:solidFill>
                <a:effectLst/>
                <a:uLnTx/>
                <a:uFillTx/>
                <a:latin typeface="Arial" panose="020B0604020202020204" pitchFamily="34" charset="0"/>
                <a:ea typeface="Segoe UI Emoji" panose="020B0502040204020203" pitchFamily="34" charset="0"/>
                <a:cs typeface="Arial" panose="020B0604020202020204" pitchFamily="34" charset="0"/>
              </a:rPr>
              <a:t>🐮</a:t>
            </a:r>
          </a:p>
        </p:txBody>
      </p:sp>
      <p:sp>
        <p:nvSpPr>
          <p:cNvPr id="3" name="TextBox 2">
            <a:extLst>
              <a:ext uri="{FF2B5EF4-FFF2-40B4-BE49-F238E27FC236}">
                <a16:creationId xmlns:a16="http://schemas.microsoft.com/office/drawing/2014/main" id="{4561835E-7AC0-6850-BCD9-3491FF309935}"/>
              </a:ext>
            </a:extLst>
          </p:cNvPr>
          <p:cNvSpPr txBox="1"/>
          <p:nvPr/>
        </p:nvSpPr>
        <p:spPr>
          <a:xfrm>
            <a:off x="3790140" y="2486805"/>
            <a:ext cx="2063163" cy="2215991"/>
          </a:xfrm>
          <a:prstGeom prst="rect">
            <a:avLst/>
          </a:prstGeom>
          <a:noFill/>
        </p:spPr>
        <p:txBody>
          <a:bodyPr wrap="square">
            <a:spAutoFit/>
          </a:bodyPr>
          <a:lstStyle/>
          <a:p>
            <a:pPr algn="ctr"/>
            <a:r>
              <a:rPr lang="en-US" sz="13800">
                <a:latin typeface="Arial" panose="020B0604020202020204" pitchFamily="34" charset="0"/>
                <a:ea typeface="Segoe UI Emoji" panose="020B0502040204020203" pitchFamily="34" charset="0"/>
                <a:cs typeface="Arial" panose="020B0604020202020204" pitchFamily="34" charset="0"/>
              </a:rPr>
              <a:t>🚁</a:t>
            </a:r>
            <a:endParaRPr lang="en-US" sz="13800"/>
          </a:p>
        </p:txBody>
      </p:sp>
      <p:sp>
        <p:nvSpPr>
          <p:cNvPr id="2" name="TextBox 1">
            <a:extLst>
              <a:ext uri="{FF2B5EF4-FFF2-40B4-BE49-F238E27FC236}">
                <a16:creationId xmlns:a16="http://schemas.microsoft.com/office/drawing/2014/main" id="{3F7B8CF5-B51E-D63F-0D6B-6E85C801F756}"/>
              </a:ext>
            </a:extLst>
          </p:cNvPr>
          <p:cNvSpPr txBox="1"/>
          <p:nvPr/>
        </p:nvSpPr>
        <p:spPr>
          <a:xfrm>
            <a:off x="3322674" y="2400368"/>
            <a:ext cx="2759149" cy="461665"/>
          </a:xfrm>
          <a:prstGeom prst="rect">
            <a:avLst/>
          </a:prstGeom>
          <a:noFill/>
        </p:spPr>
        <p:txBody>
          <a:bodyPr wrap="square" rtlCol="0">
            <a:spAutoFit/>
          </a:bodyPr>
          <a:lstStyle/>
          <a:p>
            <a:pPr algn="ctr"/>
            <a:r>
              <a:rPr lang="en-US" sz="2400">
                <a:latin typeface="Consolas" panose="020B0609020204030204" pitchFamily="49" charset="0"/>
                <a:cs typeface="Consolas" panose="020B0609020204030204" pitchFamily="49" charset="0"/>
              </a:rPr>
              <a:t>stack.pop()</a:t>
            </a:r>
            <a:endParaRPr lang="en-US" sz="2400">
              <a:latin typeface="Consolas" panose="020B0609020204030204" pitchFamily="49" charset="0"/>
              <a:ea typeface="Segoe UI Emoji" panose="020B0502040204020203" pitchFamily="34" charset="0"/>
              <a:cs typeface="Consolas" panose="020B0609020204030204" pitchFamily="49" charset="0"/>
            </a:endParaRPr>
          </a:p>
        </p:txBody>
      </p:sp>
    </p:spTree>
    <p:extLst>
      <p:ext uri="{BB962C8B-B14F-4D97-AF65-F5344CB8AC3E}">
        <p14:creationId xmlns:p14="http://schemas.microsoft.com/office/powerpoint/2010/main" val="28142390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1E312-FEF5-B8F4-97D0-3A7BCD77AD1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3CD070F-EE3A-35D1-AD3A-27D6DF6AA494}"/>
              </a:ext>
            </a:extLst>
          </p:cNvPr>
          <p:cNvSpPr txBox="1"/>
          <p:nvPr/>
        </p:nvSpPr>
        <p:spPr>
          <a:xfrm rot="10800000">
            <a:off x="4113544" y="5134705"/>
            <a:ext cx="879822" cy="707886"/>
          </a:xfrm>
          <a:prstGeom prst="rect">
            <a:avLst/>
          </a:prstGeom>
          <a:noFill/>
        </p:spPr>
        <p:txBody>
          <a:bodyPr wrap="square">
            <a:spAutoFit/>
          </a:bodyPr>
          <a:lstStyle/>
          <a:p>
            <a:r>
              <a:rPr kumimoji="0" lang="en-US" sz="4000" b="0" i="0" u="none" strike="noStrike" kern="1200" cap="none" spc="0" normalizeH="0" baseline="0" noProof="0">
                <a:ln>
                  <a:noFill/>
                </a:ln>
                <a:solidFill>
                  <a:srgbClr val="000000"/>
                </a:solidFill>
                <a:effectLst/>
                <a:uLnTx/>
                <a:uFillTx/>
                <a:latin typeface="Arial" panose="020B0604020202020204" pitchFamily="34" charset="0"/>
                <a:ea typeface="Segoe UI Emoji" panose="020B0502040204020203" pitchFamily="34" charset="0"/>
                <a:cs typeface="Arial" panose="020B0604020202020204" pitchFamily="34" charset="0"/>
              </a:rPr>
              <a:t>🐻</a:t>
            </a:r>
            <a:endParaRPr lang="en-US"/>
          </a:p>
        </p:txBody>
      </p:sp>
      <p:sp>
        <p:nvSpPr>
          <p:cNvPr id="4" name="TextBox 3">
            <a:extLst>
              <a:ext uri="{FF2B5EF4-FFF2-40B4-BE49-F238E27FC236}">
                <a16:creationId xmlns:a16="http://schemas.microsoft.com/office/drawing/2014/main" id="{87820688-D1CD-F992-0C0C-B807C780FDDB}"/>
              </a:ext>
            </a:extLst>
          </p:cNvPr>
          <p:cNvSpPr txBox="1"/>
          <p:nvPr/>
        </p:nvSpPr>
        <p:spPr>
          <a:xfrm rot="10800000">
            <a:off x="4113544" y="5116102"/>
            <a:ext cx="814508" cy="707886"/>
          </a:xfrm>
          <a:prstGeom prst="rect">
            <a:avLst/>
          </a:prstGeom>
          <a:noFill/>
        </p:spPr>
        <p:txBody>
          <a:bodyPr wrap="square" rtlCol="0">
            <a:spAutoFit/>
          </a:bodyPr>
          <a:lstStyle/>
          <a:p>
            <a:r>
              <a:rPr lang="en-US" sz="4000">
                <a:latin typeface="Arial" panose="020B0604020202020204" pitchFamily="34" charset="0"/>
                <a:ea typeface="Segoe UI Emoji" panose="020B0502040204020203" pitchFamily="34" charset="0"/>
                <a:cs typeface="Arial" panose="020B0604020202020204" pitchFamily="34" charset="0"/>
              </a:rPr>
              <a:t>🐨</a:t>
            </a:r>
          </a:p>
        </p:txBody>
      </p:sp>
      <p:sp>
        <p:nvSpPr>
          <p:cNvPr id="6" name="TextBox 5">
            <a:extLst>
              <a:ext uri="{FF2B5EF4-FFF2-40B4-BE49-F238E27FC236}">
                <a16:creationId xmlns:a16="http://schemas.microsoft.com/office/drawing/2014/main" id="{DEBE33DF-906A-3F2D-58D2-CB4C5B4D9BC3}"/>
              </a:ext>
            </a:extLst>
          </p:cNvPr>
          <p:cNvSpPr txBox="1"/>
          <p:nvPr/>
        </p:nvSpPr>
        <p:spPr>
          <a:xfrm rot="10800000">
            <a:off x="4140438" y="5143500"/>
            <a:ext cx="826034" cy="707886"/>
          </a:xfrm>
          <a:prstGeom prst="rect">
            <a:avLst/>
          </a:prstGeom>
          <a:noFill/>
        </p:spPr>
        <p:txBody>
          <a:bodyPr wrap="square">
            <a:spAutoFit/>
          </a:bodyPr>
          <a:lstStyle/>
          <a:p>
            <a:r>
              <a:rPr kumimoji="0" lang="en-US" sz="4000" b="0" i="0" u="none" strike="noStrike" kern="1200" cap="none" spc="0" normalizeH="0" baseline="0" noProof="0">
                <a:ln>
                  <a:noFill/>
                </a:ln>
                <a:solidFill>
                  <a:srgbClr val="000000"/>
                </a:solidFill>
                <a:effectLst/>
                <a:uLnTx/>
                <a:uFillTx/>
                <a:latin typeface="Arial" panose="020B0604020202020204" pitchFamily="34" charset="0"/>
                <a:ea typeface="Segoe UI Emoji" panose="020B0502040204020203" pitchFamily="34" charset="0"/>
                <a:cs typeface="Arial" panose="020B0604020202020204" pitchFamily="34" charset="0"/>
              </a:rPr>
              <a:t>🐷</a:t>
            </a:r>
            <a:endParaRPr lang="en-US"/>
          </a:p>
        </p:txBody>
      </p:sp>
      <p:sp>
        <p:nvSpPr>
          <p:cNvPr id="8" name="TextBox 7">
            <a:extLst>
              <a:ext uri="{FF2B5EF4-FFF2-40B4-BE49-F238E27FC236}">
                <a16:creationId xmlns:a16="http://schemas.microsoft.com/office/drawing/2014/main" id="{4DEA25ED-1746-152F-974F-DC4621F82CBF}"/>
              </a:ext>
            </a:extLst>
          </p:cNvPr>
          <p:cNvSpPr txBox="1"/>
          <p:nvPr/>
        </p:nvSpPr>
        <p:spPr>
          <a:xfrm rot="10800000">
            <a:off x="4101569" y="5097767"/>
            <a:ext cx="839972" cy="707886"/>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srgbClr val="000000"/>
                </a:solidFill>
                <a:effectLst/>
                <a:uLnTx/>
                <a:uFillTx/>
                <a:latin typeface="Arial" panose="020B0604020202020204" pitchFamily="34" charset="0"/>
                <a:ea typeface="Segoe UI Emoji" panose="020B0502040204020203" pitchFamily="34" charset="0"/>
                <a:cs typeface="Arial" panose="020B0604020202020204" pitchFamily="34" charset="0"/>
              </a:rPr>
              <a:t>🐮</a:t>
            </a:r>
          </a:p>
        </p:txBody>
      </p:sp>
      <p:sp>
        <p:nvSpPr>
          <p:cNvPr id="3" name="TextBox 2">
            <a:extLst>
              <a:ext uri="{FF2B5EF4-FFF2-40B4-BE49-F238E27FC236}">
                <a16:creationId xmlns:a16="http://schemas.microsoft.com/office/drawing/2014/main" id="{2E75E5A0-0B2C-18A5-9225-0C8F003ECDEC}"/>
              </a:ext>
            </a:extLst>
          </p:cNvPr>
          <p:cNvSpPr txBox="1"/>
          <p:nvPr/>
        </p:nvSpPr>
        <p:spPr>
          <a:xfrm>
            <a:off x="3790140" y="3050335"/>
            <a:ext cx="2063163" cy="2215991"/>
          </a:xfrm>
          <a:prstGeom prst="rect">
            <a:avLst/>
          </a:prstGeom>
          <a:noFill/>
        </p:spPr>
        <p:txBody>
          <a:bodyPr wrap="square">
            <a:spAutoFit/>
          </a:bodyPr>
          <a:lstStyle/>
          <a:p>
            <a:pPr algn="ctr"/>
            <a:r>
              <a:rPr lang="en-US" sz="13800">
                <a:latin typeface="Arial" panose="020B0604020202020204" pitchFamily="34" charset="0"/>
                <a:ea typeface="Segoe UI Emoji" panose="020B0502040204020203" pitchFamily="34" charset="0"/>
                <a:cs typeface="Arial" panose="020B0604020202020204" pitchFamily="34" charset="0"/>
              </a:rPr>
              <a:t>🚁</a:t>
            </a:r>
            <a:endParaRPr lang="en-US" sz="13800"/>
          </a:p>
        </p:txBody>
      </p:sp>
    </p:spTree>
    <p:extLst>
      <p:ext uri="{BB962C8B-B14F-4D97-AF65-F5344CB8AC3E}">
        <p14:creationId xmlns:p14="http://schemas.microsoft.com/office/powerpoint/2010/main" val="32083690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2721192"/>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809D0-88F2-61A3-49FC-363BC7DB25F7}"/>
            </a:ext>
          </a:extLst>
        </p:cNvPr>
        <p:cNvGrpSpPr/>
        <p:nvPr/>
      </p:nvGrpSpPr>
      <p:grpSpPr>
        <a:xfrm>
          <a:off x="0" y="0"/>
          <a:ext cx="0" cy="0"/>
          <a:chOff x="0" y="0"/>
          <a:chExt cx="0" cy="0"/>
        </a:xfrm>
      </p:grpSpPr>
      <p:pic>
        <p:nvPicPr>
          <p:cNvPr id="1026" name="Picture 2" descr="YARN | I voted for Team Alpha Wolf Squadron. | Shrek the Third (2007) |  Video clips by quotes | 91197c07 | 紗">
            <a:extLst>
              <a:ext uri="{FF2B5EF4-FFF2-40B4-BE49-F238E27FC236}">
                <a16:creationId xmlns:a16="http://schemas.microsoft.com/office/drawing/2014/main" id="{AA62D97A-A3FE-F080-60A0-AE0848D160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2000" y="1143000"/>
            <a:ext cx="50800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8297469"/>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9C2820-5F19-1B0D-5E79-3A1C6431C26E}"/>
              </a:ext>
            </a:extLst>
          </p:cNvPr>
          <p:cNvSpPr>
            <a:spLocks noGrp="1"/>
          </p:cNvSpPr>
          <p:nvPr>
            <p:ph type="title"/>
          </p:nvPr>
        </p:nvSpPr>
        <p:spPr/>
        <p:txBody>
          <a:bodyPr/>
          <a:lstStyle/>
          <a:p>
            <a:r>
              <a:rPr lang="en-US"/>
              <a:t>stack</a:t>
            </a:r>
          </a:p>
        </p:txBody>
      </p:sp>
    </p:spTree>
    <p:extLst>
      <p:ext uri="{BB962C8B-B14F-4D97-AF65-F5344CB8AC3E}">
        <p14:creationId xmlns:p14="http://schemas.microsoft.com/office/powerpoint/2010/main" val="818764691"/>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a:extLst>
              <a:ext uri="{FF2B5EF4-FFF2-40B4-BE49-F238E27FC236}">
                <a16:creationId xmlns:a16="http://schemas.microsoft.com/office/drawing/2014/main" id="{70928186-C4A3-2EDA-E799-96FE0526F7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0" y="1536700"/>
            <a:ext cx="6032500" cy="2070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7634652"/>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Aspen Rimmed Dinner Plates 10.5&quot;, Set of Eight + Reviews | Crate &amp; Barrel">
            <a:extLst>
              <a:ext uri="{FF2B5EF4-FFF2-40B4-BE49-F238E27FC236}">
                <a16:creationId xmlns:a16="http://schemas.microsoft.com/office/drawing/2014/main" id="{C5C7D438-7050-0DF5-C703-B063C2FDE8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0" y="0"/>
            <a:ext cx="51435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9102900"/>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Stack in C - Scaler Topics">
            <a:extLst>
              <a:ext uri="{FF2B5EF4-FFF2-40B4-BE49-F238E27FC236}">
                <a16:creationId xmlns:a16="http://schemas.microsoft.com/office/drawing/2014/main" id="{877C0C42-4FEA-5AB3-43BD-7CB2D10BDB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1450" y="0"/>
            <a:ext cx="3721100" cy="51435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C5AA1B3-75CC-F0B3-B89C-2C1C5614F829}"/>
              </a:ext>
            </a:extLst>
          </p:cNvPr>
          <p:cNvSpPr txBox="1"/>
          <p:nvPr/>
        </p:nvSpPr>
        <p:spPr>
          <a:xfrm>
            <a:off x="3544246" y="1330037"/>
            <a:ext cx="733032" cy="461665"/>
          </a:xfrm>
          <a:prstGeom prst="rect">
            <a:avLst/>
          </a:prstGeom>
          <a:solidFill>
            <a:srgbClr val="FFFFFF">
              <a:alpha val="74902"/>
            </a:srgbClr>
          </a:solidFill>
        </p:spPr>
        <p:txBody>
          <a:bodyPr wrap="square" rtlCol="0">
            <a:spAutoFit/>
          </a:bodyPr>
          <a:lstStyle/>
          <a:p>
            <a:pPr algn="r"/>
            <a:r>
              <a:rPr lang="en-US" sz="1200">
                <a:solidFill>
                  <a:srgbClr val="0000FF"/>
                </a:solidFill>
                <a:latin typeface="Comic Sans MS" panose="030F0902030302020204" pitchFamily="66" charset="0"/>
              </a:rPr>
              <a:t>pushing</a:t>
            </a:r>
          </a:p>
          <a:p>
            <a:pPr algn="r"/>
            <a:endParaRPr lang="en-US" sz="1200">
              <a:solidFill>
                <a:srgbClr val="0000FF"/>
              </a:solidFill>
              <a:latin typeface="Comic Sans MS" panose="030F0902030302020204" pitchFamily="66" charset="0"/>
            </a:endParaRPr>
          </a:p>
        </p:txBody>
      </p:sp>
      <p:sp>
        <p:nvSpPr>
          <p:cNvPr id="4" name="TextBox 3">
            <a:extLst>
              <a:ext uri="{FF2B5EF4-FFF2-40B4-BE49-F238E27FC236}">
                <a16:creationId xmlns:a16="http://schemas.microsoft.com/office/drawing/2014/main" id="{76E91768-A77E-E215-54BA-C75539A7C717}"/>
              </a:ext>
            </a:extLst>
          </p:cNvPr>
          <p:cNvSpPr txBox="1"/>
          <p:nvPr/>
        </p:nvSpPr>
        <p:spPr>
          <a:xfrm>
            <a:off x="3673975" y="2890134"/>
            <a:ext cx="733032" cy="461665"/>
          </a:xfrm>
          <a:prstGeom prst="rect">
            <a:avLst/>
          </a:prstGeom>
          <a:solidFill>
            <a:srgbClr val="FFFFFF">
              <a:alpha val="74902"/>
            </a:srgbClr>
          </a:solidFill>
        </p:spPr>
        <p:txBody>
          <a:bodyPr wrap="square" rtlCol="0">
            <a:spAutoFit/>
          </a:bodyPr>
          <a:lstStyle/>
          <a:p>
            <a:pPr algn="r"/>
            <a:r>
              <a:rPr lang="en-US" sz="1200">
                <a:solidFill>
                  <a:srgbClr val="0000FF"/>
                </a:solidFill>
                <a:latin typeface="Comic Sans MS" panose="030F0902030302020204" pitchFamily="66" charset="0"/>
              </a:rPr>
              <a:t>popping</a:t>
            </a:r>
          </a:p>
          <a:p>
            <a:pPr algn="r"/>
            <a:endParaRPr lang="en-US" sz="1200">
              <a:solidFill>
                <a:srgbClr val="0000FF"/>
              </a:solidFill>
              <a:latin typeface="Comic Sans MS" panose="030F0902030302020204" pitchFamily="66" charset="0"/>
            </a:endParaRPr>
          </a:p>
        </p:txBody>
      </p:sp>
      <p:sp>
        <p:nvSpPr>
          <p:cNvPr id="5" name="TextBox 4">
            <a:extLst>
              <a:ext uri="{FF2B5EF4-FFF2-40B4-BE49-F238E27FC236}">
                <a16:creationId xmlns:a16="http://schemas.microsoft.com/office/drawing/2014/main" id="{36C9A142-48D7-AE8F-7C69-5414FE3927EC}"/>
              </a:ext>
            </a:extLst>
          </p:cNvPr>
          <p:cNvSpPr txBox="1"/>
          <p:nvPr/>
        </p:nvSpPr>
        <p:spPr>
          <a:xfrm>
            <a:off x="4040491" y="4450231"/>
            <a:ext cx="1031534" cy="577081"/>
          </a:xfrm>
          <a:prstGeom prst="rect">
            <a:avLst/>
          </a:prstGeom>
          <a:solidFill>
            <a:srgbClr val="FFFFFF">
              <a:alpha val="74902"/>
            </a:srgbClr>
          </a:solidFill>
        </p:spPr>
        <p:txBody>
          <a:bodyPr wrap="square">
            <a:spAutoFit/>
          </a:bodyPr>
          <a:lstStyle/>
          <a:p>
            <a:pPr algn="r"/>
            <a:endParaRPr lang="en-US" sz="1050">
              <a:solidFill>
                <a:srgbClr val="0000FF"/>
              </a:solidFill>
              <a:latin typeface="Comic Sans MS" panose="030F0902030302020204" pitchFamily="66" charset="0"/>
            </a:endParaRPr>
          </a:p>
          <a:p>
            <a:pPr algn="r"/>
            <a:r>
              <a:rPr lang="en-US" sz="1050">
                <a:solidFill>
                  <a:srgbClr val="0000FF"/>
                </a:solidFill>
                <a:latin typeface="Comic Sans MS" panose="030F0902030302020204" pitchFamily="66" charset="0"/>
              </a:rPr>
              <a:t>         </a:t>
            </a:r>
          </a:p>
          <a:p>
            <a:pPr algn="r"/>
            <a:endParaRPr lang="en-US" sz="1050">
              <a:solidFill>
                <a:srgbClr val="0000FF"/>
              </a:solidFill>
              <a:latin typeface="Comic Sans MS" panose="030F0902030302020204" pitchFamily="66" charset="0"/>
            </a:endParaRPr>
          </a:p>
        </p:txBody>
      </p:sp>
    </p:spTree>
    <p:extLst>
      <p:ext uri="{BB962C8B-B14F-4D97-AF65-F5344CB8AC3E}">
        <p14:creationId xmlns:p14="http://schemas.microsoft.com/office/powerpoint/2010/main" val="1557708338"/>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0CBA6CB-A634-A6D1-9E9A-31283F80CD9F}"/>
              </a:ext>
            </a:extLst>
          </p:cNvPr>
          <p:cNvPicPr>
            <a:picLocks noChangeAspect="1"/>
          </p:cNvPicPr>
          <p:nvPr/>
        </p:nvPicPr>
        <p:blipFill>
          <a:blip r:embed="rId2"/>
          <a:stretch>
            <a:fillRect/>
          </a:stretch>
        </p:blipFill>
        <p:spPr>
          <a:xfrm>
            <a:off x="1307549" y="0"/>
            <a:ext cx="6528901" cy="5143500"/>
          </a:xfrm>
          <a:prstGeom prst="rect">
            <a:avLst/>
          </a:prstGeom>
        </p:spPr>
      </p:pic>
    </p:spTree>
    <p:extLst>
      <p:ext uri="{BB962C8B-B14F-4D97-AF65-F5344CB8AC3E}">
        <p14:creationId xmlns:p14="http://schemas.microsoft.com/office/powerpoint/2010/main" val="3628429274"/>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5A5DEE93-935E-2D2A-CEA6-402C9503B4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8588" y="0"/>
            <a:ext cx="3805237"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6374380"/>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822AD-B61E-8558-CDA1-8569F2EF5244}"/>
            </a:ext>
          </a:extLst>
        </p:cNvPr>
        <p:cNvGrpSpPr/>
        <p:nvPr/>
      </p:nvGrpSpPr>
      <p:grpSpPr>
        <a:xfrm>
          <a:off x="0" y="0"/>
          <a:ext cx="0" cy="0"/>
          <a:chOff x="0" y="0"/>
          <a:chExt cx="0" cy="0"/>
        </a:xfrm>
      </p:grpSpPr>
      <p:pic>
        <p:nvPicPr>
          <p:cNvPr id="3074" name="Picture 2">
            <a:extLst>
              <a:ext uri="{FF2B5EF4-FFF2-40B4-BE49-F238E27FC236}">
                <a16:creationId xmlns:a16="http://schemas.microsoft.com/office/drawing/2014/main" id="{A7166A25-3C3F-0FE4-AFBD-6DC7D27642F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005" t="7649" r="49979" b="34677"/>
          <a:stretch/>
        </p:blipFill>
        <p:spPr bwMode="auto">
          <a:xfrm>
            <a:off x="3391785" y="393405"/>
            <a:ext cx="1180215" cy="2966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3254292"/>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BA8CC1-AB8B-A0DC-BE61-4317C435B4AD}"/>
              </a:ext>
            </a:extLst>
          </p:cNvPr>
          <p:cNvSpPr txBox="1"/>
          <p:nvPr/>
        </p:nvSpPr>
        <p:spPr>
          <a:xfrm>
            <a:off x="3445036" y="2337714"/>
            <a:ext cx="879822" cy="707886"/>
          </a:xfrm>
          <a:prstGeom prst="rect">
            <a:avLst/>
          </a:prstGeom>
          <a:noFill/>
        </p:spPr>
        <p:txBody>
          <a:bodyPr wrap="square">
            <a:spAutoFit/>
          </a:bodyPr>
          <a:lstStyle/>
          <a:p>
            <a:r>
              <a:rPr kumimoji="0" lang="en-US" sz="4000" b="0" i="0" u="none" strike="noStrike" kern="1200" cap="none" spc="0" normalizeH="0" baseline="0" noProof="0">
                <a:ln>
                  <a:noFill/>
                </a:ln>
                <a:solidFill>
                  <a:srgbClr val="000000"/>
                </a:solidFill>
                <a:effectLst/>
                <a:uLnTx/>
                <a:uFillTx/>
                <a:latin typeface="Arial" panose="020B0604020202020204" pitchFamily="34" charset="0"/>
                <a:ea typeface="Segoe UI Emoji" panose="020B0502040204020203" pitchFamily="34" charset="0"/>
                <a:cs typeface="Arial" panose="020B0604020202020204" pitchFamily="34" charset="0"/>
              </a:rPr>
              <a:t>🐻</a:t>
            </a:r>
            <a:endParaRPr lang="en-US"/>
          </a:p>
        </p:txBody>
      </p:sp>
      <p:sp>
        <p:nvSpPr>
          <p:cNvPr id="3" name="TextBox 2">
            <a:extLst>
              <a:ext uri="{FF2B5EF4-FFF2-40B4-BE49-F238E27FC236}">
                <a16:creationId xmlns:a16="http://schemas.microsoft.com/office/drawing/2014/main" id="{975F173D-AE24-2A86-184C-D9C6A4010498}"/>
              </a:ext>
            </a:extLst>
          </p:cNvPr>
          <p:cNvSpPr txBox="1"/>
          <p:nvPr/>
        </p:nvSpPr>
        <p:spPr>
          <a:xfrm>
            <a:off x="3445036" y="2860394"/>
            <a:ext cx="814508" cy="707886"/>
          </a:xfrm>
          <a:prstGeom prst="rect">
            <a:avLst/>
          </a:prstGeom>
          <a:noFill/>
        </p:spPr>
        <p:txBody>
          <a:bodyPr wrap="square" rtlCol="0">
            <a:spAutoFit/>
          </a:bodyPr>
          <a:lstStyle/>
          <a:p>
            <a:r>
              <a:rPr lang="en-US" sz="4000">
                <a:latin typeface="Arial" panose="020B0604020202020204" pitchFamily="34" charset="0"/>
                <a:ea typeface="Segoe UI Emoji" panose="020B0502040204020203" pitchFamily="34" charset="0"/>
                <a:cs typeface="Arial" panose="020B0604020202020204" pitchFamily="34" charset="0"/>
              </a:rPr>
              <a:t>🐨</a:t>
            </a:r>
          </a:p>
        </p:txBody>
      </p:sp>
      <p:sp>
        <p:nvSpPr>
          <p:cNvPr id="4" name="TextBox 3">
            <a:extLst>
              <a:ext uri="{FF2B5EF4-FFF2-40B4-BE49-F238E27FC236}">
                <a16:creationId xmlns:a16="http://schemas.microsoft.com/office/drawing/2014/main" id="{FBC7F6C5-F506-EF5B-FE96-1A80712CC018}"/>
              </a:ext>
            </a:extLst>
          </p:cNvPr>
          <p:cNvSpPr txBox="1"/>
          <p:nvPr/>
        </p:nvSpPr>
        <p:spPr>
          <a:xfrm>
            <a:off x="3433509" y="1830570"/>
            <a:ext cx="826034" cy="707886"/>
          </a:xfrm>
          <a:prstGeom prst="rect">
            <a:avLst/>
          </a:prstGeom>
          <a:noFill/>
        </p:spPr>
        <p:txBody>
          <a:bodyPr wrap="square">
            <a:spAutoFit/>
          </a:bodyPr>
          <a:lstStyle/>
          <a:p>
            <a:r>
              <a:rPr kumimoji="0" lang="en-US" sz="4000" b="0" i="0" u="none" strike="noStrike" kern="1200" cap="none" spc="0" normalizeH="0" baseline="0" noProof="0">
                <a:ln>
                  <a:noFill/>
                </a:ln>
                <a:solidFill>
                  <a:srgbClr val="000000"/>
                </a:solidFill>
                <a:effectLst/>
                <a:uLnTx/>
                <a:uFillTx/>
                <a:latin typeface="Arial" panose="020B0604020202020204" pitchFamily="34" charset="0"/>
                <a:ea typeface="Segoe UI Emoji" panose="020B0502040204020203" pitchFamily="34" charset="0"/>
                <a:cs typeface="Arial" panose="020B0604020202020204" pitchFamily="34" charset="0"/>
              </a:rPr>
              <a:t>🐷</a:t>
            </a:r>
            <a:endParaRPr lang="en-US"/>
          </a:p>
        </p:txBody>
      </p:sp>
      <p:sp>
        <p:nvSpPr>
          <p:cNvPr id="5" name="TextBox 4">
            <a:extLst>
              <a:ext uri="{FF2B5EF4-FFF2-40B4-BE49-F238E27FC236}">
                <a16:creationId xmlns:a16="http://schemas.microsoft.com/office/drawing/2014/main" id="{DADB9A38-0631-45DF-04BF-99F0AC70433F}"/>
              </a:ext>
            </a:extLst>
          </p:cNvPr>
          <p:cNvSpPr txBox="1"/>
          <p:nvPr/>
        </p:nvSpPr>
        <p:spPr>
          <a:xfrm>
            <a:off x="3121632" y="-133957"/>
            <a:ext cx="2063163" cy="2215991"/>
          </a:xfrm>
          <a:prstGeom prst="rect">
            <a:avLst/>
          </a:prstGeom>
          <a:noFill/>
        </p:spPr>
        <p:txBody>
          <a:bodyPr wrap="square">
            <a:spAutoFit/>
          </a:bodyPr>
          <a:lstStyle/>
          <a:p>
            <a:pPr algn="ctr"/>
            <a:r>
              <a:rPr lang="en-US" sz="13800">
                <a:latin typeface="Arial" panose="020B0604020202020204" pitchFamily="34" charset="0"/>
                <a:ea typeface="Segoe UI Emoji" panose="020B0502040204020203" pitchFamily="34" charset="0"/>
                <a:cs typeface="Arial" panose="020B0604020202020204" pitchFamily="34" charset="0"/>
              </a:rPr>
              <a:t>🚁</a:t>
            </a:r>
            <a:endParaRPr lang="en-US" sz="13800"/>
          </a:p>
        </p:txBody>
      </p:sp>
    </p:spTree>
    <p:extLst>
      <p:ext uri="{BB962C8B-B14F-4D97-AF65-F5344CB8AC3E}">
        <p14:creationId xmlns:p14="http://schemas.microsoft.com/office/powerpoint/2010/main" val="4261996365"/>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77503F-0758-C6C1-7EB9-1A3CA3243A3D}"/>
              </a:ext>
            </a:extLst>
          </p:cNvPr>
          <p:cNvSpPr>
            <a:spLocks noGrp="1"/>
          </p:cNvSpPr>
          <p:nvPr>
            <p:ph type="title"/>
          </p:nvPr>
        </p:nvSpPr>
        <p:spPr/>
        <p:txBody>
          <a:bodyPr/>
          <a:lstStyle/>
          <a:p>
            <a:r>
              <a:rPr lang="en-US" b="1"/>
              <a:t>stack</a:t>
            </a:r>
            <a:r>
              <a:rPr lang="en-US"/>
              <a:t> interface</a:t>
            </a:r>
          </a:p>
        </p:txBody>
      </p:sp>
      <p:sp>
        <p:nvSpPr>
          <p:cNvPr id="4" name="Content Placeholder 3">
            <a:extLst>
              <a:ext uri="{FF2B5EF4-FFF2-40B4-BE49-F238E27FC236}">
                <a16:creationId xmlns:a16="http://schemas.microsoft.com/office/drawing/2014/main" id="{569685B5-2E65-B967-1A90-8AF879131662}"/>
              </a:ext>
            </a:extLst>
          </p:cNvPr>
          <p:cNvSpPr>
            <a:spLocks noGrp="1"/>
          </p:cNvSpPr>
          <p:nvPr>
            <p:ph sz="quarter" idx="10"/>
          </p:nvPr>
        </p:nvSpPr>
        <p:spPr/>
        <p:txBody>
          <a:bodyPr>
            <a:noAutofit/>
          </a:bodyPr>
          <a:lstStyle/>
          <a:p>
            <a:r>
              <a:rPr lang="en-US">
                <a:solidFill>
                  <a:srgbClr val="007B00"/>
                </a:solidFill>
                <a:effectLst/>
                <a:latin typeface="+mj-lt"/>
              </a:rPr>
              <a:t>// </a:t>
            </a:r>
            <a:r>
              <a:rPr lang="en-US" b="1">
                <a:solidFill>
                  <a:srgbClr val="007B00"/>
                </a:solidFill>
                <a:effectLst/>
                <a:latin typeface="+mj-lt"/>
              </a:rPr>
              <a:t>Push</a:t>
            </a:r>
            <a:r>
              <a:rPr lang="en-US">
                <a:solidFill>
                  <a:srgbClr val="007B00"/>
                </a:solidFill>
                <a:effectLst/>
                <a:latin typeface="+mj-lt"/>
              </a:rPr>
              <a:t> (</a:t>
            </a:r>
            <a:r>
              <a:rPr lang="en-US" b="1">
                <a:solidFill>
                  <a:srgbClr val="007B00"/>
                </a:solidFill>
                <a:effectLst/>
                <a:latin typeface="+mj-lt"/>
              </a:rPr>
              <a:t>add</a:t>
            </a:r>
            <a:r>
              <a:rPr lang="en-US">
                <a:solidFill>
                  <a:srgbClr val="007B00"/>
                </a:solidFill>
                <a:effectLst/>
                <a:latin typeface="+mj-lt"/>
              </a:rPr>
              <a:t>) a new element to the top of the stack.</a:t>
            </a:r>
            <a:br>
              <a:rPr lang="en-US">
                <a:solidFill>
                  <a:srgbClr val="000080"/>
                </a:solidFill>
                <a:effectLst/>
                <a:latin typeface="+mj-lt"/>
              </a:rPr>
            </a:br>
            <a:r>
              <a:rPr lang="en-US">
                <a:solidFill>
                  <a:srgbClr val="000080"/>
                </a:solidFill>
                <a:effectLst/>
                <a:latin typeface="+mj-lt"/>
              </a:rPr>
              <a:t>void</a:t>
            </a:r>
            <a:r>
              <a:rPr lang="en-US">
                <a:latin typeface="+mj-lt"/>
              </a:rPr>
              <a:t> </a:t>
            </a:r>
            <a:r>
              <a:rPr lang="en-US">
                <a:effectLst/>
                <a:latin typeface="+mj-lt"/>
              </a:rPr>
              <a:t>push</a:t>
            </a:r>
            <a:r>
              <a:rPr lang="en-US">
                <a:latin typeface="+mj-lt"/>
              </a:rPr>
              <a:t>(</a:t>
            </a:r>
            <a:r>
              <a:rPr lang="en-US" err="1">
                <a:solidFill>
                  <a:srgbClr val="000080"/>
                </a:solidFill>
                <a:effectLst/>
                <a:latin typeface="+mj-lt"/>
              </a:rPr>
              <a:t>ElementType</a:t>
            </a:r>
            <a:r>
              <a:rPr lang="en-US">
                <a:latin typeface="+mj-lt"/>
              </a:rPr>
              <a:t> </a:t>
            </a:r>
            <a:r>
              <a:rPr lang="en-US">
                <a:effectLst/>
                <a:latin typeface="+mj-lt"/>
              </a:rPr>
              <a:t>element</a:t>
            </a:r>
            <a:r>
              <a:rPr lang="en-US">
                <a:latin typeface="+mj-lt"/>
              </a:rPr>
              <a:t>); </a:t>
            </a:r>
          </a:p>
          <a:p>
            <a:pPr lvl="1"/>
            <a:endParaRPr lang="en-US">
              <a:latin typeface="+mj-lt"/>
            </a:endParaRPr>
          </a:p>
          <a:p>
            <a:r>
              <a:rPr lang="en-US">
                <a:solidFill>
                  <a:srgbClr val="007B00"/>
                </a:solidFill>
                <a:effectLst/>
                <a:latin typeface="+mj-lt"/>
              </a:rPr>
              <a:t>// </a:t>
            </a:r>
            <a:r>
              <a:rPr lang="en-US" b="1">
                <a:solidFill>
                  <a:srgbClr val="007B00"/>
                </a:solidFill>
                <a:effectLst/>
                <a:latin typeface="+mj-lt"/>
              </a:rPr>
              <a:t>Pop</a:t>
            </a:r>
            <a:r>
              <a:rPr lang="en-US">
                <a:solidFill>
                  <a:srgbClr val="007B00"/>
                </a:solidFill>
                <a:effectLst/>
                <a:latin typeface="+mj-lt"/>
              </a:rPr>
              <a:t> (</a:t>
            </a:r>
            <a:r>
              <a:rPr lang="en-US" b="1">
                <a:solidFill>
                  <a:srgbClr val="007B00"/>
                </a:solidFill>
                <a:effectLst/>
                <a:latin typeface="+mj-lt"/>
              </a:rPr>
              <a:t>remove</a:t>
            </a:r>
            <a:r>
              <a:rPr lang="en-US">
                <a:solidFill>
                  <a:srgbClr val="007B00"/>
                </a:solidFill>
                <a:effectLst/>
                <a:latin typeface="+mj-lt"/>
              </a:rPr>
              <a:t>) the top element of the stack.</a:t>
            </a:r>
            <a:br>
              <a:rPr lang="en-US">
                <a:solidFill>
                  <a:srgbClr val="007B00"/>
                </a:solidFill>
                <a:effectLst/>
                <a:latin typeface="+mj-lt"/>
              </a:rPr>
            </a:br>
            <a:r>
              <a:rPr lang="en-US">
                <a:solidFill>
                  <a:srgbClr val="007B00"/>
                </a:solidFill>
                <a:effectLst/>
                <a:latin typeface="+mj-lt"/>
              </a:rPr>
              <a:t>// and returns it.</a:t>
            </a:r>
            <a:br>
              <a:rPr lang="en-US">
                <a:solidFill>
                  <a:srgbClr val="000080"/>
                </a:solidFill>
                <a:effectLst/>
                <a:latin typeface="+mj-lt"/>
              </a:rPr>
            </a:br>
            <a:r>
              <a:rPr lang="en-US" err="1">
                <a:solidFill>
                  <a:srgbClr val="000080"/>
                </a:solidFill>
                <a:effectLst/>
                <a:latin typeface="+mj-lt"/>
              </a:rPr>
              <a:t>ElementType</a:t>
            </a:r>
            <a:r>
              <a:rPr lang="en-US">
                <a:latin typeface="+mj-lt"/>
              </a:rPr>
              <a:t> </a:t>
            </a:r>
            <a:r>
              <a:rPr lang="en-US">
                <a:effectLst/>
                <a:latin typeface="+mj-lt"/>
              </a:rPr>
              <a:t>pop</a:t>
            </a:r>
            <a:r>
              <a:rPr lang="en-US">
                <a:latin typeface="+mj-lt"/>
              </a:rPr>
              <a:t>();</a:t>
            </a:r>
            <a:endParaRPr lang="en-US">
              <a:effectLst/>
              <a:latin typeface="+mj-lt"/>
            </a:endParaRPr>
          </a:p>
          <a:p>
            <a:pPr lvl="1"/>
            <a:endParaRPr lang="en-US">
              <a:effectLst/>
              <a:latin typeface="+mj-lt"/>
            </a:endParaRPr>
          </a:p>
          <a:p>
            <a:r>
              <a:rPr lang="en-US">
                <a:solidFill>
                  <a:srgbClr val="007B00"/>
                </a:solidFill>
                <a:effectLst/>
                <a:latin typeface="+mj-lt"/>
              </a:rPr>
              <a:t>// </a:t>
            </a:r>
            <a:r>
              <a:rPr lang="en-US" b="1">
                <a:solidFill>
                  <a:srgbClr val="007B00"/>
                </a:solidFill>
                <a:effectLst/>
                <a:latin typeface="+mj-lt"/>
              </a:rPr>
              <a:t>Peek</a:t>
            </a:r>
            <a:r>
              <a:rPr lang="en-US">
                <a:solidFill>
                  <a:srgbClr val="007B00"/>
                </a:solidFill>
                <a:effectLst/>
                <a:latin typeface="+mj-lt"/>
              </a:rPr>
              <a:t> (look) at the top element of the stack</a:t>
            </a:r>
            <a:br>
              <a:rPr lang="en-US">
                <a:solidFill>
                  <a:srgbClr val="007B00"/>
                </a:solidFill>
                <a:effectLst/>
                <a:latin typeface="+mj-lt"/>
              </a:rPr>
            </a:br>
            <a:r>
              <a:rPr lang="en-US">
                <a:solidFill>
                  <a:srgbClr val="007B00"/>
                </a:solidFill>
                <a:effectLst/>
                <a:latin typeface="+mj-lt"/>
              </a:rPr>
              <a:t>// (without removing it) and return it.</a:t>
            </a:r>
            <a:br>
              <a:rPr lang="en-US">
                <a:solidFill>
                  <a:srgbClr val="000080"/>
                </a:solidFill>
                <a:effectLst/>
                <a:latin typeface="+mj-lt"/>
              </a:rPr>
            </a:br>
            <a:r>
              <a:rPr lang="en-US" err="1">
                <a:solidFill>
                  <a:srgbClr val="000080"/>
                </a:solidFill>
                <a:effectLst/>
                <a:latin typeface="+mj-lt"/>
              </a:rPr>
              <a:t>ElementType</a:t>
            </a:r>
            <a:r>
              <a:rPr lang="en-US">
                <a:latin typeface="+mj-lt"/>
              </a:rPr>
              <a:t> </a:t>
            </a:r>
            <a:r>
              <a:rPr lang="en-US">
                <a:effectLst/>
                <a:latin typeface="+mj-lt"/>
              </a:rPr>
              <a:t>peek</a:t>
            </a:r>
            <a:r>
              <a:rPr lang="en-US">
                <a:latin typeface="+mj-lt"/>
              </a:rPr>
              <a:t>();</a:t>
            </a:r>
          </a:p>
          <a:p>
            <a:endParaRPr lang="en-US">
              <a:latin typeface="+mj-lt"/>
            </a:endParaRPr>
          </a:p>
          <a:p>
            <a:r>
              <a:rPr lang="en-US">
                <a:solidFill>
                  <a:srgbClr val="007B00"/>
                </a:solidFill>
                <a:effectLst/>
                <a:latin typeface="+mj-lt"/>
              </a:rPr>
              <a:t>// Returns the number of elements currently in the stack.</a:t>
            </a:r>
            <a:br>
              <a:rPr lang="en-US">
                <a:solidFill>
                  <a:srgbClr val="007B00"/>
                </a:solidFill>
                <a:effectLst/>
                <a:latin typeface="+mj-lt"/>
              </a:rPr>
            </a:br>
            <a:r>
              <a:rPr lang="en-US">
                <a:solidFill>
                  <a:srgbClr val="000080"/>
                </a:solidFill>
                <a:effectLst/>
                <a:latin typeface="+mj-lt"/>
              </a:rPr>
              <a:t>int</a:t>
            </a:r>
            <a:r>
              <a:rPr lang="en-US">
                <a:latin typeface="+mj-lt"/>
              </a:rPr>
              <a:t> </a:t>
            </a:r>
            <a:r>
              <a:rPr lang="en-US">
                <a:effectLst/>
                <a:latin typeface="+mj-lt"/>
              </a:rPr>
              <a:t>size</a:t>
            </a:r>
            <a:r>
              <a:rPr lang="en-US">
                <a:latin typeface="+mj-lt"/>
              </a:rPr>
              <a:t>();</a:t>
            </a:r>
          </a:p>
          <a:p>
            <a:endParaRPr lang="en-US">
              <a:latin typeface="+mj-lt"/>
            </a:endParaRPr>
          </a:p>
        </p:txBody>
      </p:sp>
      <p:pic>
        <p:nvPicPr>
          <p:cNvPr id="2" name="Picture 2" descr="Stack Operations in Data Structure | Scaler Topics">
            <a:extLst>
              <a:ext uri="{FF2B5EF4-FFF2-40B4-BE49-F238E27FC236}">
                <a16:creationId xmlns:a16="http://schemas.microsoft.com/office/drawing/2014/main" id="{31D890BC-A9FE-E48E-6A9E-9BD1457871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698" t="10726" r="36279" b="30633"/>
          <a:stretch/>
        </p:blipFill>
        <p:spPr bwMode="auto">
          <a:xfrm>
            <a:off x="6836735" y="1679943"/>
            <a:ext cx="1967243" cy="213049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8675156"/>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F564F7-E45C-8C5B-6B08-9F6E8BB1C7AB}"/>
              </a:ext>
            </a:extLst>
          </p:cNvPr>
          <p:cNvPicPr>
            <a:picLocks noChangeAspect="1"/>
          </p:cNvPicPr>
          <p:nvPr/>
        </p:nvPicPr>
        <p:blipFill>
          <a:blip r:embed="rId2"/>
          <a:stretch>
            <a:fillRect/>
          </a:stretch>
        </p:blipFill>
        <p:spPr>
          <a:xfrm rot="10800000">
            <a:off x="685800" y="385762"/>
            <a:ext cx="7772400" cy="4371975"/>
          </a:xfrm>
          <a:prstGeom prst="rect">
            <a:avLst/>
          </a:prstGeom>
        </p:spPr>
      </p:pic>
    </p:spTree>
    <p:extLst>
      <p:ext uri="{BB962C8B-B14F-4D97-AF65-F5344CB8AC3E}">
        <p14:creationId xmlns:p14="http://schemas.microsoft.com/office/powerpoint/2010/main" val="3218314476"/>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5A476-49D1-7AB4-46E7-668C14B3714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4D5F7F6-909C-48B8-FF04-03EDF3DB48FD}"/>
              </a:ext>
            </a:extLst>
          </p:cNvPr>
          <p:cNvSpPr>
            <a:spLocks noGrp="1"/>
          </p:cNvSpPr>
          <p:nvPr>
            <p:ph type="title"/>
          </p:nvPr>
        </p:nvSpPr>
        <p:spPr/>
        <p:txBody>
          <a:bodyPr/>
          <a:lstStyle/>
          <a:p>
            <a:r>
              <a:rPr lang="en-US"/>
              <a:t>what does this print?</a:t>
            </a:r>
          </a:p>
        </p:txBody>
      </p:sp>
    </p:spTree>
    <p:extLst>
      <p:ext uri="{BB962C8B-B14F-4D97-AF65-F5344CB8AC3E}">
        <p14:creationId xmlns:p14="http://schemas.microsoft.com/office/powerpoint/2010/main" val="289159639"/>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12185-DC4C-506A-A2F6-AD9E6DAEFA8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5B812E5-97D8-CB8A-4601-133E5BE32EB7}"/>
              </a:ext>
            </a:extLst>
          </p:cNvPr>
          <p:cNvSpPr>
            <a:spLocks noGrp="1"/>
          </p:cNvSpPr>
          <p:nvPr>
            <p:ph type="title"/>
          </p:nvPr>
        </p:nvSpPr>
        <p:spPr/>
        <p:txBody>
          <a:bodyPr/>
          <a:lstStyle/>
          <a:p>
            <a:pPr algn="l"/>
            <a:r>
              <a:rPr lang="en-US" sz="2800">
                <a:effectLst/>
                <a:latin typeface="Menlo" panose="020B0609030804020204" pitchFamily="49" charset="0"/>
              </a:rPr>
              <a:t>Stack&lt;Integer&gt; </a:t>
            </a:r>
            <a:r>
              <a:rPr lang="en-US" sz="2800">
                <a:solidFill>
                  <a:srgbClr val="6A3E3E"/>
                </a:solidFill>
                <a:effectLst/>
                <a:latin typeface="Menlo" panose="020B0609030804020204" pitchFamily="49" charset="0"/>
              </a:rPr>
              <a:t>stack</a:t>
            </a:r>
            <a:r>
              <a:rPr lang="en-US" sz="2800">
                <a:effectLst/>
                <a:latin typeface="Menlo" panose="020B0609030804020204" pitchFamily="49" charset="0"/>
              </a:rPr>
              <a:t> = </a:t>
            </a:r>
            <a:r>
              <a:rPr lang="en-US" sz="2800" b="1">
                <a:solidFill>
                  <a:srgbClr val="7F0055"/>
                </a:solidFill>
                <a:effectLst/>
                <a:latin typeface="Menlo" panose="020B0609030804020204" pitchFamily="49" charset="0"/>
              </a:rPr>
              <a:t>new</a:t>
            </a:r>
            <a:r>
              <a:rPr lang="en-US" sz="2800">
                <a:effectLst/>
                <a:latin typeface="Menlo" panose="020B0609030804020204" pitchFamily="49" charset="0"/>
              </a:rPr>
              <a:t> Stack&lt;&gt;();</a:t>
            </a:r>
            <a:br>
              <a:rPr lang="en-US" sz="2800">
                <a:effectLst/>
                <a:latin typeface="Menlo" panose="020B0609030804020204" pitchFamily="49" charset="0"/>
              </a:rPr>
            </a:br>
            <a:r>
              <a:rPr lang="en-US" sz="2800">
                <a:solidFill>
                  <a:srgbClr val="6A3E3E"/>
                </a:solidFill>
                <a:effectLst/>
                <a:latin typeface="Menlo" panose="020B0609030804020204" pitchFamily="49" charset="0"/>
              </a:rPr>
              <a:t>stack</a:t>
            </a:r>
            <a:r>
              <a:rPr lang="en-US" sz="2800">
                <a:effectLst/>
                <a:latin typeface="Menlo" panose="020B0609030804020204" pitchFamily="49" charset="0"/>
              </a:rPr>
              <a:t>.push(2);</a:t>
            </a:r>
            <a:br>
              <a:rPr lang="en-US" sz="2800">
                <a:effectLst/>
                <a:latin typeface="Menlo" panose="020B0609030804020204" pitchFamily="49" charset="0"/>
              </a:rPr>
            </a:br>
            <a:r>
              <a:rPr lang="en-US" sz="2800">
                <a:solidFill>
                  <a:srgbClr val="6A3E3E"/>
                </a:solidFill>
                <a:effectLst/>
                <a:latin typeface="Menlo" panose="020B0609030804020204" pitchFamily="49" charset="0"/>
              </a:rPr>
              <a:t>stack</a:t>
            </a:r>
            <a:r>
              <a:rPr lang="en-US" sz="2800">
                <a:effectLst/>
                <a:latin typeface="Menlo" panose="020B0609030804020204" pitchFamily="49" charset="0"/>
              </a:rPr>
              <a:t>.push(3);</a:t>
            </a:r>
            <a:br>
              <a:rPr lang="en-US" sz="2800">
                <a:effectLst/>
                <a:latin typeface="Menlo" panose="020B0609030804020204" pitchFamily="49" charset="0"/>
              </a:rPr>
            </a:br>
            <a:r>
              <a:rPr lang="en-US" sz="2800">
                <a:solidFill>
                  <a:srgbClr val="6A3E3E"/>
                </a:solidFill>
                <a:effectLst/>
                <a:latin typeface="Menlo" panose="020B0609030804020204" pitchFamily="49" charset="0"/>
              </a:rPr>
              <a:t>stack</a:t>
            </a:r>
            <a:r>
              <a:rPr lang="en-US" sz="2800">
                <a:effectLst/>
                <a:latin typeface="Menlo" panose="020B0609030804020204" pitchFamily="49" charset="0"/>
              </a:rPr>
              <a:t>.push(4);</a:t>
            </a:r>
            <a:br>
              <a:rPr lang="en-US" sz="2800">
                <a:effectLst/>
                <a:latin typeface="Menlo" panose="020B0609030804020204" pitchFamily="49" charset="0"/>
              </a:rPr>
            </a:br>
            <a:r>
              <a:rPr lang="en-US" sz="2800">
                <a:solidFill>
                  <a:srgbClr val="6A3E3E"/>
                </a:solidFill>
                <a:effectLst/>
                <a:latin typeface="Menlo" panose="020B0609030804020204" pitchFamily="49" charset="0"/>
              </a:rPr>
              <a:t>stack</a:t>
            </a:r>
            <a:r>
              <a:rPr lang="en-US" sz="2800">
                <a:effectLst/>
                <a:latin typeface="Menlo" panose="020B0609030804020204" pitchFamily="49" charset="0"/>
              </a:rPr>
              <a:t>.push(5);</a:t>
            </a:r>
            <a:br>
              <a:rPr lang="en-US" sz="2800">
                <a:effectLst/>
                <a:latin typeface="Menlo" panose="020B0609030804020204" pitchFamily="49" charset="0"/>
              </a:rPr>
            </a:br>
            <a:r>
              <a:rPr lang="en-US" sz="2800" i="1">
                <a:effectLst/>
                <a:latin typeface="Menlo" panose="020B0609030804020204" pitchFamily="49" charset="0"/>
              </a:rPr>
              <a:t>PRINT</a:t>
            </a:r>
            <a:r>
              <a:rPr lang="en-US" sz="2800">
                <a:effectLst/>
                <a:latin typeface="Menlo" panose="020B0609030804020204" pitchFamily="49" charset="0"/>
              </a:rPr>
              <a:t>(</a:t>
            </a:r>
            <a:r>
              <a:rPr lang="en-US" sz="2800">
                <a:solidFill>
                  <a:srgbClr val="6A3E3E"/>
                </a:solidFill>
                <a:effectLst/>
                <a:latin typeface="Menlo" panose="020B0609030804020204" pitchFamily="49" charset="0"/>
              </a:rPr>
              <a:t>stack</a:t>
            </a:r>
            <a:r>
              <a:rPr lang="en-US" sz="2800">
                <a:effectLst/>
                <a:latin typeface="Menlo" panose="020B0609030804020204" pitchFamily="49" charset="0"/>
              </a:rPr>
              <a:t>.pop());</a:t>
            </a:r>
            <a:br>
              <a:rPr lang="en-US" sz="2800">
                <a:effectLst/>
                <a:latin typeface="Menlo" panose="020B0609030804020204" pitchFamily="49" charset="0"/>
              </a:rPr>
            </a:br>
            <a:r>
              <a:rPr lang="en-US" sz="2800" i="1">
                <a:effectLst/>
                <a:latin typeface="Menlo" panose="020B0609030804020204" pitchFamily="49" charset="0"/>
              </a:rPr>
              <a:t>PRINT</a:t>
            </a:r>
            <a:r>
              <a:rPr lang="en-US" sz="2800">
                <a:effectLst/>
                <a:latin typeface="Menlo" panose="020B0609030804020204" pitchFamily="49" charset="0"/>
              </a:rPr>
              <a:t>(</a:t>
            </a:r>
            <a:r>
              <a:rPr lang="en-US" sz="2800">
                <a:solidFill>
                  <a:srgbClr val="6A3E3E"/>
                </a:solidFill>
                <a:effectLst/>
                <a:latin typeface="Menlo" panose="020B0609030804020204" pitchFamily="49" charset="0"/>
              </a:rPr>
              <a:t>stack</a:t>
            </a:r>
            <a:r>
              <a:rPr lang="en-US" sz="2800">
                <a:effectLst/>
                <a:latin typeface="Menlo" panose="020B0609030804020204" pitchFamily="49" charset="0"/>
              </a:rPr>
              <a:t>.peek());</a:t>
            </a:r>
            <a:br>
              <a:rPr lang="en-US" sz="2800">
                <a:effectLst/>
                <a:latin typeface="Menlo" panose="020B0609030804020204" pitchFamily="49" charset="0"/>
              </a:rPr>
            </a:br>
            <a:r>
              <a:rPr lang="en-US" sz="2800" i="1">
                <a:effectLst/>
                <a:latin typeface="Menlo" panose="020B0609030804020204" pitchFamily="49" charset="0"/>
              </a:rPr>
              <a:t>PRINT</a:t>
            </a:r>
            <a:r>
              <a:rPr lang="en-US" sz="2800">
                <a:effectLst/>
                <a:latin typeface="Menlo" panose="020B0609030804020204" pitchFamily="49" charset="0"/>
              </a:rPr>
              <a:t>(</a:t>
            </a:r>
            <a:r>
              <a:rPr lang="en-US" sz="2800">
                <a:solidFill>
                  <a:srgbClr val="6A3E3E"/>
                </a:solidFill>
                <a:effectLst/>
                <a:latin typeface="Menlo" panose="020B0609030804020204" pitchFamily="49" charset="0"/>
              </a:rPr>
              <a:t>stack</a:t>
            </a:r>
            <a:r>
              <a:rPr lang="en-US" sz="2800">
                <a:effectLst/>
                <a:latin typeface="Menlo" panose="020B0609030804020204" pitchFamily="49" charset="0"/>
              </a:rPr>
              <a:t>.size());</a:t>
            </a:r>
            <a:br>
              <a:rPr lang="en-US" sz="2800">
                <a:effectLst/>
                <a:latin typeface="Menlo" panose="020B0609030804020204" pitchFamily="49" charset="0"/>
              </a:rPr>
            </a:br>
            <a:r>
              <a:rPr lang="en-US" sz="2800" i="1">
                <a:effectLst/>
                <a:latin typeface="Menlo" panose="020B0609030804020204" pitchFamily="49" charset="0"/>
              </a:rPr>
              <a:t>PRINT</a:t>
            </a:r>
            <a:r>
              <a:rPr lang="en-US" sz="2800">
                <a:effectLst/>
                <a:latin typeface="Menlo" panose="020B0609030804020204" pitchFamily="49" charset="0"/>
              </a:rPr>
              <a:t>(</a:t>
            </a:r>
            <a:r>
              <a:rPr lang="en-US" sz="2800">
                <a:solidFill>
                  <a:srgbClr val="6A3E3E"/>
                </a:solidFill>
                <a:effectLst/>
                <a:latin typeface="Menlo" panose="020B0609030804020204" pitchFamily="49" charset="0"/>
              </a:rPr>
              <a:t>stack</a:t>
            </a:r>
            <a:r>
              <a:rPr lang="en-US" sz="2800">
                <a:effectLst/>
                <a:latin typeface="Menlo" panose="020B0609030804020204" pitchFamily="49" charset="0"/>
              </a:rPr>
              <a:t>);</a:t>
            </a:r>
          </a:p>
        </p:txBody>
      </p:sp>
    </p:spTree>
    <p:extLst>
      <p:ext uri="{BB962C8B-B14F-4D97-AF65-F5344CB8AC3E}">
        <p14:creationId xmlns:p14="http://schemas.microsoft.com/office/powerpoint/2010/main" val="2860673682"/>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34727-C2AE-A950-B25E-3FDE09864AA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71751FD-11D6-19E6-D535-729AD6103630}"/>
              </a:ext>
            </a:extLst>
          </p:cNvPr>
          <p:cNvSpPr>
            <a:spLocks noGrp="1"/>
          </p:cNvSpPr>
          <p:nvPr>
            <p:ph type="title"/>
          </p:nvPr>
        </p:nvSpPr>
        <p:spPr/>
        <p:txBody>
          <a:bodyPr/>
          <a:lstStyle/>
          <a:p>
            <a:pPr algn="l"/>
            <a:r>
              <a:rPr lang="en-US" sz="2800">
                <a:effectLst/>
                <a:latin typeface="Menlo" panose="020B0609030804020204" pitchFamily="49" charset="0"/>
              </a:rPr>
              <a:t>Stack&lt;Integer&gt; </a:t>
            </a:r>
            <a:r>
              <a:rPr lang="en-US" sz="2800">
                <a:solidFill>
                  <a:srgbClr val="6A3E3E"/>
                </a:solidFill>
                <a:effectLst/>
                <a:latin typeface="Menlo" panose="020B0609030804020204" pitchFamily="49" charset="0"/>
              </a:rPr>
              <a:t>stack</a:t>
            </a:r>
            <a:r>
              <a:rPr lang="en-US" sz="2800">
                <a:effectLst/>
                <a:latin typeface="Menlo" panose="020B0609030804020204" pitchFamily="49" charset="0"/>
              </a:rPr>
              <a:t> = </a:t>
            </a:r>
            <a:r>
              <a:rPr lang="en-US" sz="2800" b="1">
                <a:solidFill>
                  <a:srgbClr val="7F0055"/>
                </a:solidFill>
                <a:effectLst/>
                <a:latin typeface="Menlo" panose="020B0609030804020204" pitchFamily="49" charset="0"/>
              </a:rPr>
              <a:t>new</a:t>
            </a:r>
            <a:r>
              <a:rPr lang="en-US" sz="2800">
                <a:effectLst/>
                <a:latin typeface="Menlo" panose="020B0609030804020204" pitchFamily="49" charset="0"/>
              </a:rPr>
              <a:t> Stack&lt;&gt;();</a:t>
            </a:r>
            <a:br>
              <a:rPr lang="en-US" sz="2800">
                <a:effectLst/>
                <a:latin typeface="Menlo" panose="020B0609030804020204" pitchFamily="49" charset="0"/>
              </a:rPr>
            </a:br>
            <a:r>
              <a:rPr lang="en-US" sz="2800">
                <a:solidFill>
                  <a:srgbClr val="6A3E3E"/>
                </a:solidFill>
                <a:effectLst/>
                <a:latin typeface="Menlo" panose="020B0609030804020204" pitchFamily="49" charset="0"/>
              </a:rPr>
              <a:t>stack</a:t>
            </a:r>
            <a:r>
              <a:rPr lang="en-US" sz="2800">
                <a:effectLst/>
                <a:latin typeface="Menlo" panose="020B0609030804020204" pitchFamily="49" charset="0"/>
              </a:rPr>
              <a:t>.push(2);</a:t>
            </a:r>
            <a:br>
              <a:rPr lang="en-US" sz="2800">
                <a:effectLst/>
                <a:latin typeface="Menlo" panose="020B0609030804020204" pitchFamily="49" charset="0"/>
              </a:rPr>
            </a:br>
            <a:r>
              <a:rPr lang="en-US" sz="2800">
                <a:solidFill>
                  <a:srgbClr val="6A3E3E"/>
                </a:solidFill>
                <a:effectLst/>
                <a:latin typeface="Menlo" panose="020B0609030804020204" pitchFamily="49" charset="0"/>
              </a:rPr>
              <a:t>stack</a:t>
            </a:r>
            <a:r>
              <a:rPr lang="en-US" sz="2800">
                <a:effectLst/>
                <a:latin typeface="Menlo" panose="020B0609030804020204" pitchFamily="49" charset="0"/>
              </a:rPr>
              <a:t>.push(3);</a:t>
            </a:r>
            <a:br>
              <a:rPr lang="en-US" sz="2800">
                <a:effectLst/>
                <a:latin typeface="Menlo" panose="020B0609030804020204" pitchFamily="49" charset="0"/>
              </a:rPr>
            </a:br>
            <a:r>
              <a:rPr lang="en-US" sz="2800">
                <a:solidFill>
                  <a:srgbClr val="6A3E3E"/>
                </a:solidFill>
                <a:effectLst/>
                <a:latin typeface="Menlo" panose="020B0609030804020204" pitchFamily="49" charset="0"/>
              </a:rPr>
              <a:t>stack</a:t>
            </a:r>
            <a:r>
              <a:rPr lang="en-US" sz="2800">
                <a:effectLst/>
                <a:latin typeface="Menlo" panose="020B0609030804020204" pitchFamily="49" charset="0"/>
              </a:rPr>
              <a:t>.push(4);</a:t>
            </a:r>
            <a:br>
              <a:rPr lang="en-US" sz="2800">
                <a:effectLst/>
                <a:latin typeface="Menlo" panose="020B0609030804020204" pitchFamily="49" charset="0"/>
              </a:rPr>
            </a:br>
            <a:r>
              <a:rPr lang="en-US" sz="2800">
                <a:solidFill>
                  <a:srgbClr val="6A3E3E"/>
                </a:solidFill>
                <a:effectLst/>
                <a:latin typeface="Menlo" panose="020B0609030804020204" pitchFamily="49" charset="0"/>
              </a:rPr>
              <a:t>stack</a:t>
            </a:r>
            <a:r>
              <a:rPr lang="en-US" sz="2800">
                <a:effectLst/>
                <a:latin typeface="Menlo" panose="020B0609030804020204" pitchFamily="49" charset="0"/>
              </a:rPr>
              <a:t>.push(5);</a:t>
            </a:r>
            <a:br>
              <a:rPr lang="en-US" sz="2800">
                <a:effectLst/>
                <a:latin typeface="Menlo" panose="020B0609030804020204" pitchFamily="49" charset="0"/>
              </a:rPr>
            </a:br>
            <a:r>
              <a:rPr lang="en-US" sz="2800" i="1">
                <a:effectLst/>
                <a:latin typeface="Menlo" panose="020B0609030804020204" pitchFamily="49" charset="0"/>
              </a:rPr>
              <a:t>PRINT</a:t>
            </a:r>
            <a:r>
              <a:rPr lang="en-US" sz="2800">
                <a:effectLst/>
                <a:latin typeface="Menlo" panose="020B0609030804020204" pitchFamily="49" charset="0"/>
              </a:rPr>
              <a:t>(</a:t>
            </a:r>
            <a:r>
              <a:rPr lang="en-US" sz="2800">
                <a:solidFill>
                  <a:srgbClr val="6A3E3E"/>
                </a:solidFill>
                <a:effectLst/>
                <a:latin typeface="Menlo" panose="020B0609030804020204" pitchFamily="49" charset="0"/>
              </a:rPr>
              <a:t>stack</a:t>
            </a:r>
            <a:r>
              <a:rPr lang="en-US" sz="2800">
                <a:effectLst/>
                <a:latin typeface="Menlo" panose="020B0609030804020204" pitchFamily="49" charset="0"/>
              </a:rPr>
              <a:t>.pop());  </a:t>
            </a:r>
            <a:r>
              <a:rPr lang="en-US" sz="2800">
                <a:solidFill>
                  <a:srgbClr val="007B00"/>
                </a:solidFill>
                <a:effectLst/>
                <a:latin typeface="Menlo" panose="020B0609030804020204" pitchFamily="49" charset="0"/>
              </a:rPr>
              <a:t>// 5</a:t>
            </a:r>
            <a:br>
              <a:rPr lang="en-US" sz="2800">
                <a:effectLst/>
                <a:latin typeface="Menlo" panose="020B0609030804020204" pitchFamily="49" charset="0"/>
              </a:rPr>
            </a:br>
            <a:r>
              <a:rPr lang="en-US" sz="2800" i="1">
                <a:effectLst/>
                <a:latin typeface="Menlo" panose="020B0609030804020204" pitchFamily="49" charset="0"/>
              </a:rPr>
              <a:t>PRINT</a:t>
            </a:r>
            <a:r>
              <a:rPr lang="en-US" sz="2800">
                <a:effectLst/>
                <a:latin typeface="Menlo" panose="020B0609030804020204" pitchFamily="49" charset="0"/>
              </a:rPr>
              <a:t>(</a:t>
            </a:r>
            <a:r>
              <a:rPr lang="en-US" sz="2800">
                <a:solidFill>
                  <a:srgbClr val="6A3E3E"/>
                </a:solidFill>
                <a:effectLst/>
                <a:latin typeface="Menlo" panose="020B0609030804020204" pitchFamily="49" charset="0"/>
              </a:rPr>
              <a:t>stack</a:t>
            </a:r>
            <a:r>
              <a:rPr lang="en-US" sz="2800">
                <a:effectLst/>
                <a:latin typeface="Menlo" panose="020B0609030804020204" pitchFamily="49" charset="0"/>
              </a:rPr>
              <a:t>.peek()); </a:t>
            </a:r>
            <a:r>
              <a:rPr lang="en-US" sz="2800">
                <a:solidFill>
                  <a:srgbClr val="007B00"/>
                </a:solidFill>
                <a:effectLst/>
                <a:latin typeface="Menlo" panose="020B0609030804020204" pitchFamily="49" charset="0"/>
              </a:rPr>
              <a:t>// 4</a:t>
            </a:r>
            <a:br>
              <a:rPr lang="en-US" sz="2800">
                <a:effectLst/>
                <a:latin typeface="Menlo" panose="020B0609030804020204" pitchFamily="49" charset="0"/>
              </a:rPr>
            </a:br>
            <a:r>
              <a:rPr lang="en-US" sz="2800" i="1">
                <a:effectLst/>
                <a:latin typeface="Menlo" panose="020B0609030804020204" pitchFamily="49" charset="0"/>
              </a:rPr>
              <a:t>PRINT</a:t>
            </a:r>
            <a:r>
              <a:rPr lang="en-US" sz="2800">
                <a:effectLst/>
                <a:latin typeface="Menlo" panose="020B0609030804020204" pitchFamily="49" charset="0"/>
              </a:rPr>
              <a:t>(</a:t>
            </a:r>
            <a:r>
              <a:rPr lang="en-US" sz="2800">
                <a:solidFill>
                  <a:srgbClr val="6A3E3E"/>
                </a:solidFill>
                <a:effectLst/>
                <a:latin typeface="Menlo" panose="020B0609030804020204" pitchFamily="49" charset="0"/>
              </a:rPr>
              <a:t>stack</a:t>
            </a:r>
            <a:r>
              <a:rPr lang="en-US" sz="2800">
                <a:effectLst/>
                <a:latin typeface="Menlo" panose="020B0609030804020204" pitchFamily="49" charset="0"/>
              </a:rPr>
              <a:t>.size()); </a:t>
            </a:r>
            <a:r>
              <a:rPr lang="en-US" sz="2800">
                <a:solidFill>
                  <a:srgbClr val="007B00"/>
                </a:solidFill>
                <a:effectLst/>
                <a:latin typeface="Menlo" panose="020B0609030804020204" pitchFamily="49" charset="0"/>
              </a:rPr>
              <a:t>// 3</a:t>
            </a:r>
            <a:br>
              <a:rPr lang="en-US" sz="2800">
                <a:solidFill>
                  <a:srgbClr val="007B00"/>
                </a:solidFill>
                <a:effectLst/>
                <a:latin typeface="Menlo" panose="020B0609030804020204" pitchFamily="49" charset="0"/>
              </a:rPr>
            </a:br>
            <a:r>
              <a:rPr lang="en-US" sz="2800" i="1">
                <a:effectLst/>
                <a:latin typeface="Menlo" panose="020B0609030804020204" pitchFamily="49" charset="0"/>
              </a:rPr>
              <a:t>PRINT</a:t>
            </a:r>
            <a:r>
              <a:rPr lang="en-US" sz="2800">
                <a:effectLst/>
                <a:latin typeface="Menlo" panose="020B0609030804020204" pitchFamily="49" charset="0"/>
              </a:rPr>
              <a:t>(</a:t>
            </a:r>
            <a:r>
              <a:rPr lang="en-US" sz="2800">
                <a:solidFill>
                  <a:srgbClr val="6A3E3E"/>
                </a:solidFill>
                <a:effectLst/>
                <a:latin typeface="Menlo" panose="020B0609030804020204" pitchFamily="49" charset="0"/>
              </a:rPr>
              <a:t>stack</a:t>
            </a:r>
            <a:r>
              <a:rPr lang="en-US" sz="2800">
                <a:effectLst/>
                <a:latin typeface="Menlo" panose="020B0609030804020204" pitchFamily="49" charset="0"/>
              </a:rPr>
              <a:t>); </a:t>
            </a:r>
            <a:r>
              <a:rPr lang="en-US" sz="2800">
                <a:solidFill>
                  <a:srgbClr val="007B00"/>
                </a:solidFill>
                <a:effectLst/>
                <a:latin typeface="Menlo" panose="020B0609030804020204" pitchFamily="49" charset="0"/>
              </a:rPr>
              <a:t>// BOTTOM[ 2, 3, 4 ]TOP</a:t>
            </a:r>
          </a:p>
        </p:txBody>
      </p:sp>
    </p:spTree>
    <p:extLst>
      <p:ext uri="{BB962C8B-B14F-4D97-AF65-F5344CB8AC3E}">
        <p14:creationId xmlns:p14="http://schemas.microsoft.com/office/powerpoint/2010/main" val="1806537500"/>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CE5A6B-1C7F-5807-D9B0-DAFA289AB668}"/>
              </a:ext>
            </a:extLst>
          </p:cNvPr>
          <p:cNvSpPr>
            <a:spLocks noGrp="1"/>
          </p:cNvSpPr>
          <p:nvPr>
            <p:ph type="title"/>
          </p:nvPr>
        </p:nvSpPr>
        <p:spPr/>
        <p:txBody>
          <a:bodyPr/>
          <a:lstStyle/>
          <a:p>
            <a:r>
              <a:rPr lang="en-US"/>
              <a:t>queue</a:t>
            </a:r>
          </a:p>
        </p:txBody>
      </p:sp>
    </p:spTree>
    <p:extLst>
      <p:ext uri="{BB962C8B-B14F-4D97-AF65-F5344CB8AC3E}">
        <p14:creationId xmlns:p14="http://schemas.microsoft.com/office/powerpoint/2010/main" val="781281543"/>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69643-72CD-0FDD-5875-8BE3102DE64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F1BF24-3DCA-157D-9E69-A82CAB1EFC60}"/>
              </a:ext>
            </a:extLst>
          </p:cNvPr>
          <p:cNvSpPr>
            <a:spLocks noGrp="1"/>
          </p:cNvSpPr>
          <p:nvPr>
            <p:ph type="title"/>
          </p:nvPr>
        </p:nvSpPr>
        <p:spPr/>
        <p:txBody>
          <a:bodyPr/>
          <a:lstStyle/>
          <a:p>
            <a:r>
              <a:rPr lang="en-US"/>
              <a:t>q</a:t>
            </a:r>
            <a:r>
              <a:rPr lang="en-US">
                <a:solidFill>
                  <a:schemeClr val="tx1"/>
                </a:solidFill>
              </a:rPr>
              <a:t>ueue</a:t>
            </a:r>
          </a:p>
        </p:txBody>
      </p:sp>
    </p:spTree>
    <p:extLst>
      <p:ext uri="{BB962C8B-B14F-4D97-AF65-F5344CB8AC3E}">
        <p14:creationId xmlns:p14="http://schemas.microsoft.com/office/powerpoint/2010/main" val="4128329920"/>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E887E-C781-5A8C-F312-7AFB733D2B4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83E6021-EAD3-3671-A47C-4EA46C0A2B20}"/>
              </a:ext>
            </a:extLst>
          </p:cNvPr>
          <p:cNvSpPr>
            <a:spLocks noGrp="1"/>
          </p:cNvSpPr>
          <p:nvPr>
            <p:ph type="title"/>
          </p:nvPr>
        </p:nvSpPr>
        <p:spPr/>
        <p:txBody>
          <a:bodyPr/>
          <a:lstStyle/>
          <a:p>
            <a:endParaRPr lang="en-US"/>
          </a:p>
        </p:txBody>
      </p:sp>
      <p:sp>
        <p:nvSpPr>
          <p:cNvPr id="5" name="Title 2">
            <a:extLst>
              <a:ext uri="{FF2B5EF4-FFF2-40B4-BE49-F238E27FC236}">
                <a16:creationId xmlns:a16="http://schemas.microsoft.com/office/drawing/2014/main" id="{DEF24787-709F-0CB7-2E6F-47D109AFA3C7}"/>
              </a:ext>
            </a:extLst>
          </p:cNvPr>
          <p:cNvSpPr txBox="1">
            <a:spLocks/>
          </p:cNvSpPr>
          <p:nvPr/>
        </p:nvSpPr>
        <p:spPr>
          <a:xfrm>
            <a:off x="332974" y="2097021"/>
            <a:ext cx="8229600" cy="857250"/>
          </a:xfrm>
          <a:prstGeom prst="rect">
            <a:avLst/>
          </a:prstGeom>
        </p:spPr>
        <p:txBody>
          <a:bodyPr vert="horz" lIns="91440" tIns="45720" rIns="91440" bIns="45720" rtlCol="0" anchor="ctr">
            <a:noAutofit/>
          </a:bodyPr>
          <a:lstStyle>
            <a:lvl1pPr algn="ctr" defTabSz="342886" rtl="0" eaLnBrk="1" latinLnBrk="0" hangingPunct="1">
              <a:spcBef>
                <a:spcPct val="0"/>
              </a:spcBef>
              <a:buNone/>
              <a:defRPr sz="9600" kern="1200">
                <a:solidFill>
                  <a:schemeClr val="bg1"/>
                </a:solidFill>
                <a:latin typeface="+mn-lt"/>
                <a:ea typeface="Segoe UI Emoji" panose="020B0502040204020203" pitchFamily="34" charset="0"/>
                <a:cs typeface="+mj-cs"/>
              </a:defRPr>
            </a:lvl1pPr>
          </a:lstStyle>
          <a:p>
            <a:r>
              <a:rPr lang="en-US" sz="5400"/>
              <a:t>😬</a:t>
            </a:r>
            <a:r>
              <a:rPr lang="en-US" sz="8800">
                <a:solidFill>
                  <a:schemeClr val="tx1"/>
                </a:solidFill>
              </a:rPr>
              <a:t>ueue</a:t>
            </a:r>
          </a:p>
        </p:txBody>
      </p:sp>
    </p:spTree>
    <p:extLst>
      <p:ext uri="{BB962C8B-B14F-4D97-AF65-F5344CB8AC3E}">
        <p14:creationId xmlns:p14="http://schemas.microsoft.com/office/powerpoint/2010/main" val="3704116527"/>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63543-C8F3-0F34-B532-196FFD7A88A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45C5556-082C-A033-70C9-1CB2F78E6B02}"/>
              </a:ext>
            </a:extLst>
          </p:cNvPr>
          <p:cNvSpPr>
            <a:spLocks noGrp="1"/>
          </p:cNvSpPr>
          <p:nvPr>
            <p:ph type="title"/>
          </p:nvPr>
        </p:nvSpPr>
        <p:spPr/>
        <p:txBody>
          <a:bodyPr/>
          <a:lstStyle/>
          <a:p>
            <a:r>
              <a:rPr lang="en-US"/>
              <a:t>analogy</a:t>
            </a:r>
          </a:p>
        </p:txBody>
      </p:sp>
    </p:spTree>
    <p:extLst>
      <p:ext uri="{BB962C8B-B14F-4D97-AF65-F5344CB8AC3E}">
        <p14:creationId xmlns:p14="http://schemas.microsoft.com/office/powerpoint/2010/main" val="2823508243"/>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2E4B6-44F9-594B-164A-2B8F9A72E7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0E47A5-A9BF-BF5E-ECFB-1110401F0726}"/>
              </a:ext>
            </a:extLst>
          </p:cNvPr>
          <p:cNvSpPr>
            <a:spLocks noGrp="1"/>
          </p:cNvSpPr>
          <p:nvPr>
            <p:ph type="title"/>
          </p:nvPr>
        </p:nvSpPr>
        <p:spPr/>
        <p:txBody>
          <a:bodyPr/>
          <a:lstStyle/>
          <a:p>
            <a:r>
              <a:rPr lang="en-US"/>
              <a:t>a queue is like a line of very polite people patiently waiting</a:t>
            </a:r>
          </a:p>
        </p:txBody>
      </p:sp>
    </p:spTree>
    <p:extLst>
      <p:ext uri="{BB962C8B-B14F-4D97-AF65-F5344CB8AC3E}">
        <p14:creationId xmlns:p14="http://schemas.microsoft.com/office/powerpoint/2010/main" val="3092603712"/>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DA8BE-D5C0-0946-01B2-8347A3D49717}"/>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633332641"/>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F674F-B561-ED7D-2C2D-7F23184A52FF}"/>
            </a:ext>
          </a:extLst>
        </p:cNvPr>
        <p:cNvGrpSpPr/>
        <p:nvPr/>
      </p:nvGrpSpPr>
      <p:grpSpPr>
        <a:xfrm>
          <a:off x="0" y="0"/>
          <a:ext cx="0" cy="0"/>
          <a:chOff x="0" y="0"/>
          <a:chExt cx="0" cy="0"/>
        </a:xfrm>
      </p:grpSpPr>
      <p:pic>
        <p:nvPicPr>
          <p:cNvPr id="1026" name="Picture 2" descr="There is no 'rule of six' – the truth about the science of queueing | UK  news | The Guardian">
            <a:extLst>
              <a:ext uri="{FF2B5EF4-FFF2-40B4-BE49-F238E27FC236}">
                <a16:creationId xmlns:a16="http://schemas.microsoft.com/office/drawing/2014/main" id="{271761CB-1863-7E70-4580-4DC6AA9EAD1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6870"/>
          <a:stretch/>
        </p:blipFill>
        <p:spPr bwMode="auto">
          <a:xfrm>
            <a:off x="4387174" y="800100"/>
            <a:ext cx="3137576" cy="35433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E933750-77FC-07DF-153F-370247728322}"/>
              </a:ext>
            </a:extLst>
          </p:cNvPr>
          <p:cNvSpPr txBox="1"/>
          <p:nvPr/>
        </p:nvSpPr>
        <p:spPr>
          <a:xfrm>
            <a:off x="5955962" y="906550"/>
            <a:ext cx="2089184" cy="369332"/>
          </a:xfrm>
          <a:prstGeom prst="rect">
            <a:avLst/>
          </a:prstGeom>
          <a:noFill/>
        </p:spPr>
        <p:txBody>
          <a:bodyPr wrap="square" rtlCol="0">
            <a:spAutoFit/>
          </a:bodyPr>
          <a:lstStyle/>
          <a:p>
            <a:pPr algn="ctr"/>
            <a:r>
              <a:rPr lang="en-US">
                <a:latin typeface="+mj-lt"/>
              </a:rPr>
              <a:t>queue.remove()</a:t>
            </a:r>
          </a:p>
        </p:txBody>
      </p:sp>
    </p:spTree>
    <p:extLst>
      <p:ext uri="{BB962C8B-B14F-4D97-AF65-F5344CB8AC3E}">
        <p14:creationId xmlns:p14="http://schemas.microsoft.com/office/powerpoint/2010/main" val="2961280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1FAD5-1A4F-EB0F-C0EA-2AE577B5C841}"/>
            </a:ext>
          </a:extLst>
        </p:cNvPr>
        <p:cNvGrpSpPr/>
        <p:nvPr/>
      </p:nvGrpSpPr>
      <p:grpSpPr>
        <a:xfrm>
          <a:off x="0" y="0"/>
          <a:ext cx="0" cy="0"/>
          <a:chOff x="0" y="0"/>
          <a:chExt cx="0" cy="0"/>
        </a:xfrm>
      </p:grpSpPr>
      <p:pic>
        <p:nvPicPr>
          <p:cNvPr id="2" name="Picture 2" descr="There is no 'rule of six' – the truth about the science of queueing | UK  news | The Guardian">
            <a:extLst>
              <a:ext uri="{FF2B5EF4-FFF2-40B4-BE49-F238E27FC236}">
                <a16:creationId xmlns:a16="http://schemas.microsoft.com/office/drawing/2014/main" id="{5A9FEA57-A6AB-7349-FE04-869192BFBE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6871" r="14255"/>
          <a:stretch/>
        </p:blipFill>
        <p:spPr bwMode="auto">
          <a:xfrm>
            <a:off x="5000017" y="800100"/>
            <a:ext cx="2295728" cy="35433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2C882ED-20C9-77AF-F524-5D7BF3F11F74}"/>
              </a:ext>
            </a:extLst>
          </p:cNvPr>
          <p:cNvSpPr txBox="1"/>
          <p:nvPr/>
        </p:nvSpPr>
        <p:spPr>
          <a:xfrm>
            <a:off x="5955962" y="906550"/>
            <a:ext cx="2089184" cy="369332"/>
          </a:xfrm>
          <a:prstGeom prst="rect">
            <a:avLst/>
          </a:prstGeom>
          <a:noFill/>
        </p:spPr>
        <p:txBody>
          <a:bodyPr wrap="square" rtlCol="0">
            <a:spAutoFit/>
          </a:bodyPr>
          <a:lstStyle/>
          <a:p>
            <a:pPr algn="ctr"/>
            <a:r>
              <a:rPr lang="en-US">
                <a:latin typeface="+mj-lt"/>
              </a:rPr>
              <a:t>queue.remove()</a:t>
            </a:r>
          </a:p>
        </p:txBody>
      </p:sp>
    </p:spTree>
    <p:extLst>
      <p:ext uri="{BB962C8B-B14F-4D97-AF65-F5344CB8AC3E}">
        <p14:creationId xmlns:p14="http://schemas.microsoft.com/office/powerpoint/2010/main" val="3707507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296B8-3152-9540-96FF-453D88D1B7D5}"/>
            </a:ext>
          </a:extLst>
        </p:cNvPr>
        <p:cNvGrpSpPr/>
        <p:nvPr/>
      </p:nvGrpSpPr>
      <p:grpSpPr>
        <a:xfrm>
          <a:off x="0" y="0"/>
          <a:ext cx="0" cy="0"/>
          <a:chOff x="0" y="0"/>
          <a:chExt cx="0" cy="0"/>
        </a:xfrm>
      </p:grpSpPr>
      <p:pic>
        <p:nvPicPr>
          <p:cNvPr id="4" name="Picture 2" descr="There is no 'rule of six' – the truth about the science of queueing | UK  news | The Guardian">
            <a:extLst>
              <a:ext uri="{FF2B5EF4-FFF2-40B4-BE49-F238E27FC236}">
                <a16:creationId xmlns:a16="http://schemas.microsoft.com/office/drawing/2014/main" id="{26B1D958-BD70-3E60-4338-3FE189478DF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6871" r="22985"/>
          <a:stretch/>
        </p:blipFill>
        <p:spPr bwMode="auto">
          <a:xfrm>
            <a:off x="5642043" y="800100"/>
            <a:ext cx="1780161" cy="35433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9DC38B7-C7B9-BEB9-F1AD-FBDBA4DF5A19}"/>
              </a:ext>
            </a:extLst>
          </p:cNvPr>
          <p:cNvSpPr txBox="1"/>
          <p:nvPr/>
        </p:nvSpPr>
        <p:spPr>
          <a:xfrm>
            <a:off x="4093535" y="874652"/>
            <a:ext cx="1921551" cy="369332"/>
          </a:xfrm>
          <a:prstGeom prst="rect">
            <a:avLst/>
          </a:prstGeom>
          <a:noFill/>
        </p:spPr>
        <p:txBody>
          <a:bodyPr wrap="square" rtlCol="0">
            <a:spAutoFit/>
          </a:bodyPr>
          <a:lstStyle/>
          <a:p>
            <a:pPr algn="ctr"/>
            <a:r>
              <a:rPr lang="en-US">
                <a:latin typeface="+mj-lt"/>
              </a:rPr>
              <a:t>queue.add(  )</a:t>
            </a:r>
          </a:p>
        </p:txBody>
      </p:sp>
      <p:pic>
        <p:nvPicPr>
          <p:cNvPr id="7" name="Picture 2" descr="There is no 'rule of six' – the truth about the science of queueing | UK  news | The Guardian">
            <a:extLst>
              <a:ext uri="{FF2B5EF4-FFF2-40B4-BE49-F238E27FC236}">
                <a16:creationId xmlns:a16="http://schemas.microsoft.com/office/drawing/2014/main" id="{104CBC2E-7311-2B94-B9F7-FD599B48B45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799" t="13140" r="53124" b="10941"/>
          <a:stretch/>
        </p:blipFill>
        <p:spPr bwMode="auto">
          <a:xfrm>
            <a:off x="5503630" y="10633"/>
            <a:ext cx="213028" cy="12014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0163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691E4-EA7E-199B-5077-EC45FEDE4881}"/>
            </a:ext>
          </a:extLst>
        </p:cNvPr>
        <p:cNvGrpSpPr/>
        <p:nvPr/>
      </p:nvGrpSpPr>
      <p:grpSpPr>
        <a:xfrm>
          <a:off x="0" y="0"/>
          <a:ext cx="0" cy="0"/>
          <a:chOff x="0" y="0"/>
          <a:chExt cx="0" cy="0"/>
        </a:xfrm>
      </p:grpSpPr>
      <p:pic>
        <p:nvPicPr>
          <p:cNvPr id="4" name="Picture 2" descr="There is no 'rule of six' – the truth about the science of queueing | UK  news | The Guardian">
            <a:extLst>
              <a:ext uri="{FF2B5EF4-FFF2-40B4-BE49-F238E27FC236}">
                <a16:creationId xmlns:a16="http://schemas.microsoft.com/office/drawing/2014/main" id="{DCCED65B-09BE-3966-C6BE-140777DD08D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799" r="22985"/>
          <a:stretch/>
        </p:blipFill>
        <p:spPr bwMode="auto">
          <a:xfrm>
            <a:off x="5165387" y="800100"/>
            <a:ext cx="2256817" cy="35433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935946B-6EB3-B49C-2875-308450493B6A}"/>
              </a:ext>
            </a:extLst>
          </p:cNvPr>
          <p:cNvSpPr txBox="1"/>
          <p:nvPr/>
        </p:nvSpPr>
        <p:spPr>
          <a:xfrm>
            <a:off x="3413050" y="874652"/>
            <a:ext cx="1921551" cy="369332"/>
          </a:xfrm>
          <a:prstGeom prst="rect">
            <a:avLst/>
          </a:prstGeom>
          <a:noFill/>
        </p:spPr>
        <p:txBody>
          <a:bodyPr wrap="square" rtlCol="0">
            <a:spAutoFit/>
          </a:bodyPr>
          <a:lstStyle/>
          <a:p>
            <a:pPr algn="ctr"/>
            <a:r>
              <a:rPr lang="en-US">
                <a:latin typeface="+mj-lt"/>
              </a:rPr>
              <a:t>queue.add(  )</a:t>
            </a:r>
          </a:p>
        </p:txBody>
      </p:sp>
      <p:pic>
        <p:nvPicPr>
          <p:cNvPr id="9" name="Picture 2" descr="There is no 'rule of six' – the truth about the science of queueing | UK  news | The Guardian">
            <a:extLst>
              <a:ext uri="{FF2B5EF4-FFF2-40B4-BE49-F238E27FC236}">
                <a16:creationId xmlns:a16="http://schemas.microsoft.com/office/drawing/2014/main" id="{012238ED-F9F6-9ACD-8446-A653E3D834C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104" t="18230" r="62482" b="8852"/>
          <a:stretch/>
        </p:blipFill>
        <p:spPr bwMode="auto">
          <a:xfrm>
            <a:off x="4812512" y="133714"/>
            <a:ext cx="259218" cy="1089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4421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FB1B6-393E-13CB-DCC8-C4F43E3C615C}"/>
            </a:ext>
          </a:extLst>
        </p:cNvPr>
        <p:cNvGrpSpPr/>
        <p:nvPr/>
      </p:nvGrpSpPr>
      <p:grpSpPr>
        <a:xfrm>
          <a:off x="0" y="0"/>
          <a:ext cx="0" cy="0"/>
          <a:chOff x="0" y="0"/>
          <a:chExt cx="0" cy="0"/>
        </a:xfrm>
      </p:grpSpPr>
      <p:pic>
        <p:nvPicPr>
          <p:cNvPr id="4" name="Picture 2" descr="There is no 'rule of six' – the truth about the science of queueing | UK  news | The Guardian">
            <a:extLst>
              <a:ext uri="{FF2B5EF4-FFF2-40B4-BE49-F238E27FC236}">
                <a16:creationId xmlns:a16="http://schemas.microsoft.com/office/drawing/2014/main" id="{326CB9D7-3EF8-DA0A-D000-A4FEAC62FBC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104" r="22984"/>
          <a:stretch/>
        </p:blipFill>
        <p:spPr bwMode="auto">
          <a:xfrm>
            <a:off x="4474723" y="800100"/>
            <a:ext cx="2947481" cy="35433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B699599-E1CA-00BA-59D2-FF57CB8FED6D}"/>
              </a:ext>
            </a:extLst>
          </p:cNvPr>
          <p:cNvSpPr txBox="1"/>
          <p:nvPr/>
        </p:nvSpPr>
        <p:spPr>
          <a:xfrm>
            <a:off x="6224068" y="999295"/>
            <a:ext cx="1994295" cy="369332"/>
          </a:xfrm>
          <a:prstGeom prst="rect">
            <a:avLst/>
          </a:prstGeom>
          <a:noFill/>
        </p:spPr>
        <p:txBody>
          <a:bodyPr wrap="square" rtlCol="0">
            <a:spAutoFit/>
          </a:bodyPr>
          <a:lstStyle/>
          <a:p>
            <a:pPr algn="ctr"/>
            <a:r>
              <a:rPr lang="en-US">
                <a:latin typeface="Consolas" panose="020B0609020204030204" pitchFamily="49" charset="0"/>
                <a:cs typeface="Consolas" panose="020B0609020204030204" pitchFamily="49" charset="0"/>
              </a:rPr>
              <a:t>queue.remove()</a:t>
            </a:r>
          </a:p>
        </p:txBody>
      </p:sp>
    </p:spTree>
    <p:extLst>
      <p:ext uri="{BB962C8B-B14F-4D97-AF65-F5344CB8AC3E}">
        <p14:creationId xmlns:p14="http://schemas.microsoft.com/office/powerpoint/2010/main" val="3853056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E32F3-1B81-9D1B-D016-5320E32AC08A}"/>
            </a:ext>
          </a:extLst>
        </p:cNvPr>
        <p:cNvGrpSpPr/>
        <p:nvPr/>
      </p:nvGrpSpPr>
      <p:grpSpPr>
        <a:xfrm>
          <a:off x="0" y="0"/>
          <a:ext cx="0" cy="0"/>
          <a:chOff x="0" y="0"/>
          <a:chExt cx="0" cy="0"/>
        </a:xfrm>
      </p:grpSpPr>
      <p:pic>
        <p:nvPicPr>
          <p:cNvPr id="5" name="Picture 2" descr="There is no 'rule of six' – the truth about the science of queueing | UK  news | The Guardian">
            <a:extLst>
              <a:ext uri="{FF2B5EF4-FFF2-40B4-BE49-F238E27FC236}">
                <a16:creationId xmlns:a16="http://schemas.microsoft.com/office/drawing/2014/main" id="{FBE3F115-D040-3574-E690-71565976264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104" r="32209"/>
          <a:stretch/>
        </p:blipFill>
        <p:spPr bwMode="auto">
          <a:xfrm>
            <a:off x="5048656" y="800100"/>
            <a:ext cx="2402732" cy="35433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118DEF5-DC2D-7582-DBAC-387E411D83EF}"/>
              </a:ext>
            </a:extLst>
          </p:cNvPr>
          <p:cNvSpPr txBox="1"/>
          <p:nvPr/>
        </p:nvSpPr>
        <p:spPr>
          <a:xfrm>
            <a:off x="6224068" y="999295"/>
            <a:ext cx="1994295" cy="369332"/>
          </a:xfrm>
          <a:prstGeom prst="rect">
            <a:avLst/>
          </a:prstGeom>
          <a:noFill/>
        </p:spPr>
        <p:txBody>
          <a:bodyPr wrap="square" rtlCol="0">
            <a:spAutoFit/>
          </a:bodyPr>
          <a:lstStyle/>
          <a:p>
            <a:pPr algn="ctr"/>
            <a:r>
              <a:rPr lang="en-US">
                <a:latin typeface="Consolas" panose="020B0609020204030204" pitchFamily="49" charset="0"/>
                <a:cs typeface="Consolas" panose="020B0609020204030204" pitchFamily="49" charset="0"/>
              </a:rPr>
              <a:t>queue.remove()</a:t>
            </a:r>
          </a:p>
        </p:txBody>
      </p:sp>
    </p:spTree>
    <p:extLst>
      <p:ext uri="{BB962C8B-B14F-4D97-AF65-F5344CB8AC3E}">
        <p14:creationId xmlns:p14="http://schemas.microsoft.com/office/powerpoint/2010/main" val="2058777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1D5C0-BF47-BD42-6795-0984DD633187}"/>
            </a:ext>
          </a:extLst>
        </p:cNvPr>
        <p:cNvGrpSpPr/>
        <p:nvPr/>
      </p:nvGrpSpPr>
      <p:grpSpPr>
        <a:xfrm>
          <a:off x="0" y="0"/>
          <a:ext cx="0" cy="0"/>
          <a:chOff x="0" y="0"/>
          <a:chExt cx="0" cy="0"/>
        </a:xfrm>
      </p:grpSpPr>
      <p:pic>
        <p:nvPicPr>
          <p:cNvPr id="5" name="Picture 2" descr="There is no 'rule of six' – the truth about the science of queueing | UK  news | The Guardian">
            <a:extLst>
              <a:ext uri="{FF2B5EF4-FFF2-40B4-BE49-F238E27FC236}">
                <a16:creationId xmlns:a16="http://schemas.microsoft.com/office/drawing/2014/main" id="{A5F8EE7D-6913-33F2-0927-D76010317E0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104" r="41672"/>
          <a:stretch/>
        </p:blipFill>
        <p:spPr bwMode="auto">
          <a:xfrm>
            <a:off x="5701799" y="800100"/>
            <a:ext cx="1843922" cy="3543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5146717"/>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9C2820-5F19-1B0D-5E79-3A1C6431C26E}"/>
              </a:ext>
            </a:extLst>
          </p:cNvPr>
          <p:cNvSpPr>
            <a:spLocks noGrp="1"/>
          </p:cNvSpPr>
          <p:nvPr>
            <p:ph type="title"/>
          </p:nvPr>
        </p:nvSpPr>
        <p:spPr/>
        <p:txBody>
          <a:bodyPr/>
          <a:lstStyle/>
          <a:p>
            <a:r>
              <a:rPr lang="en-US"/>
              <a:t>queue</a:t>
            </a:r>
          </a:p>
        </p:txBody>
      </p:sp>
    </p:spTree>
    <p:extLst>
      <p:ext uri="{BB962C8B-B14F-4D97-AF65-F5344CB8AC3E}">
        <p14:creationId xmlns:p14="http://schemas.microsoft.com/office/powerpoint/2010/main" val="409178008"/>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a:extLst>
              <a:ext uri="{FF2B5EF4-FFF2-40B4-BE49-F238E27FC236}">
                <a16:creationId xmlns:a16="http://schemas.microsoft.com/office/drawing/2014/main" id="{611273F9-520A-DD71-CCF8-53959F4490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0" y="1536700"/>
            <a:ext cx="6032500" cy="2070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7999535"/>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12DA2-8E43-A621-2786-D6BC787AEA95}"/>
            </a:ext>
          </a:extLst>
        </p:cNvPr>
        <p:cNvGrpSpPr/>
        <p:nvPr/>
      </p:nvGrpSpPr>
      <p:grpSpPr>
        <a:xfrm>
          <a:off x="0" y="0"/>
          <a:ext cx="0" cy="0"/>
          <a:chOff x="0" y="0"/>
          <a:chExt cx="0" cy="0"/>
        </a:xfrm>
      </p:grpSpPr>
      <p:pic>
        <p:nvPicPr>
          <p:cNvPr id="2050" name="Picture 2" descr="image">
            <a:extLst>
              <a:ext uri="{FF2B5EF4-FFF2-40B4-BE49-F238E27FC236}">
                <a16:creationId xmlns:a16="http://schemas.microsoft.com/office/drawing/2014/main" id="{13CE5297-0600-D2C2-96EB-BB2D68D4DB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488885">
            <a:off x="-4560624" y="-1769640"/>
            <a:ext cx="13451703" cy="46160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0110551"/>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Queue in Data Structure - Scaler Topics">
            <a:extLst>
              <a:ext uri="{FF2B5EF4-FFF2-40B4-BE49-F238E27FC236}">
                <a16:creationId xmlns:a16="http://schemas.microsoft.com/office/drawing/2014/main" id="{0071B6C3-F174-9AF6-3A45-46EFA5E298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85788"/>
            <a:ext cx="9144000" cy="397033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F749D69-D8E9-8806-6A15-A386BAA67BB5}"/>
              </a:ext>
            </a:extLst>
          </p:cNvPr>
          <p:cNvSpPr txBox="1"/>
          <p:nvPr/>
        </p:nvSpPr>
        <p:spPr>
          <a:xfrm>
            <a:off x="1046648" y="1660554"/>
            <a:ext cx="1031534" cy="646331"/>
          </a:xfrm>
          <a:prstGeom prst="rect">
            <a:avLst/>
          </a:prstGeom>
          <a:solidFill>
            <a:srgbClr val="FFFFFF">
              <a:alpha val="74902"/>
            </a:srgbClr>
          </a:solidFill>
        </p:spPr>
        <p:txBody>
          <a:bodyPr wrap="square">
            <a:spAutoFit/>
          </a:bodyPr>
          <a:lstStyle/>
          <a:p>
            <a:pPr algn="r"/>
            <a:r>
              <a:rPr lang="en-US" sz="1800">
                <a:solidFill>
                  <a:srgbClr val="0000FF"/>
                </a:solidFill>
                <a:latin typeface="Comic Sans MS" panose="030F0902030302020204" pitchFamily="66" charset="0"/>
              </a:rPr>
              <a:t>         </a:t>
            </a:r>
          </a:p>
          <a:p>
            <a:pPr algn="r"/>
            <a:endParaRPr lang="en-US" sz="1800">
              <a:solidFill>
                <a:srgbClr val="0000FF"/>
              </a:solidFill>
              <a:latin typeface="Comic Sans MS" panose="030F0902030302020204" pitchFamily="66" charset="0"/>
            </a:endParaRPr>
          </a:p>
        </p:txBody>
      </p:sp>
      <p:sp>
        <p:nvSpPr>
          <p:cNvPr id="4" name="TextBox 3">
            <a:extLst>
              <a:ext uri="{FF2B5EF4-FFF2-40B4-BE49-F238E27FC236}">
                <a16:creationId xmlns:a16="http://schemas.microsoft.com/office/drawing/2014/main" id="{ABF58147-96DA-16AD-55AD-AB8D211DD317}"/>
              </a:ext>
            </a:extLst>
          </p:cNvPr>
          <p:cNvSpPr txBox="1"/>
          <p:nvPr/>
        </p:nvSpPr>
        <p:spPr>
          <a:xfrm>
            <a:off x="7065818" y="1648692"/>
            <a:ext cx="1031534" cy="646331"/>
          </a:xfrm>
          <a:prstGeom prst="rect">
            <a:avLst/>
          </a:prstGeom>
          <a:solidFill>
            <a:srgbClr val="FFFFFF">
              <a:alpha val="74902"/>
            </a:srgbClr>
          </a:solidFill>
        </p:spPr>
        <p:txBody>
          <a:bodyPr wrap="square">
            <a:spAutoFit/>
          </a:bodyPr>
          <a:lstStyle/>
          <a:p>
            <a:pPr algn="r"/>
            <a:r>
              <a:rPr lang="en-US" sz="1800">
                <a:solidFill>
                  <a:srgbClr val="0000FF"/>
                </a:solidFill>
                <a:latin typeface="Comic Sans MS" panose="030F0902030302020204" pitchFamily="66" charset="0"/>
              </a:rPr>
              <a:t>         </a:t>
            </a:r>
          </a:p>
          <a:p>
            <a:pPr algn="r"/>
            <a:endParaRPr lang="en-US" sz="1800">
              <a:solidFill>
                <a:srgbClr val="0000FF"/>
              </a:solidFill>
              <a:latin typeface="Comic Sans MS" panose="030F0902030302020204" pitchFamily="66" charset="0"/>
            </a:endParaRPr>
          </a:p>
        </p:txBody>
      </p:sp>
      <p:sp>
        <p:nvSpPr>
          <p:cNvPr id="5" name="TextBox 4">
            <a:extLst>
              <a:ext uri="{FF2B5EF4-FFF2-40B4-BE49-F238E27FC236}">
                <a16:creationId xmlns:a16="http://schemas.microsoft.com/office/drawing/2014/main" id="{F89D6495-058C-159E-0004-9AE2B7BC2C0C}"/>
              </a:ext>
            </a:extLst>
          </p:cNvPr>
          <p:cNvSpPr txBox="1"/>
          <p:nvPr/>
        </p:nvSpPr>
        <p:spPr>
          <a:xfrm>
            <a:off x="1787236" y="1285953"/>
            <a:ext cx="770817" cy="307777"/>
          </a:xfrm>
          <a:prstGeom prst="rect">
            <a:avLst/>
          </a:prstGeom>
          <a:solidFill>
            <a:srgbClr val="FFFFFF"/>
          </a:solidFill>
        </p:spPr>
        <p:txBody>
          <a:bodyPr wrap="square" rtlCol="0">
            <a:spAutoFit/>
          </a:bodyPr>
          <a:lstStyle/>
          <a:p>
            <a:pPr algn="r"/>
            <a:r>
              <a:rPr lang="en-US" sz="1400">
                <a:latin typeface="Arial" panose="020B0604020202020204" pitchFamily="34" charset="0"/>
                <a:cs typeface="Arial" panose="020B0604020202020204" pitchFamily="34" charset="0"/>
              </a:rPr>
              <a:t>Back</a:t>
            </a:r>
          </a:p>
        </p:txBody>
      </p:sp>
      <p:sp>
        <p:nvSpPr>
          <p:cNvPr id="6" name="TextBox 5">
            <a:extLst>
              <a:ext uri="{FF2B5EF4-FFF2-40B4-BE49-F238E27FC236}">
                <a16:creationId xmlns:a16="http://schemas.microsoft.com/office/drawing/2014/main" id="{BC63EB4D-B29A-9C0A-3455-F211C60B3FB8}"/>
              </a:ext>
            </a:extLst>
          </p:cNvPr>
          <p:cNvSpPr txBox="1"/>
          <p:nvPr/>
        </p:nvSpPr>
        <p:spPr>
          <a:xfrm>
            <a:off x="3964919" y="3354587"/>
            <a:ext cx="1031534" cy="923330"/>
          </a:xfrm>
          <a:prstGeom prst="rect">
            <a:avLst/>
          </a:prstGeom>
          <a:solidFill>
            <a:srgbClr val="FFFFFF">
              <a:alpha val="74902"/>
            </a:srgbClr>
          </a:solidFill>
        </p:spPr>
        <p:txBody>
          <a:bodyPr wrap="square">
            <a:spAutoFit/>
          </a:bodyPr>
          <a:lstStyle/>
          <a:p>
            <a:pPr algn="r"/>
            <a:endParaRPr lang="en-US" sz="1800">
              <a:solidFill>
                <a:srgbClr val="0000FF"/>
              </a:solidFill>
              <a:latin typeface="Comic Sans MS" panose="030F0902030302020204" pitchFamily="66" charset="0"/>
            </a:endParaRPr>
          </a:p>
          <a:p>
            <a:pPr algn="r"/>
            <a:r>
              <a:rPr lang="en-US" sz="1800">
                <a:solidFill>
                  <a:srgbClr val="0000FF"/>
                </a:solidFill>
                <a:latin typeface="Comic Sans MS" panose="030F0902030302020204" pitchFamily="66" charset="0"/>
              </a:rPr>
              <a:t>         </a:t>
            </a:r>
          </a:p>
          <a:p>
            <a:pPr algn="r"/>
            <a:endParaRPr lang="en-US" sz="1800">
              <a:solidFill>
                <a:srgbClr val="0000FF"/>
              </a:solidFill>
              <a:latin typeface="Comic Sans MS" panose="030F0902030302020204" pitchFamily="66" charset="0"/>
            </a:endParaRPr>
          </a:p>
        </p:txBody>
      </p:sp>
    </p:spTree>
    <p:extLst>
      <p:ext uri="{BB962C8B-B14F-4D97-AF65-F5344CB8AC3E}">
        <p14:creationId xmlns:p14="http://schemas.microsoft.com/office/powerpoint/2010/main" val="2142507516"/>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77503F-0758-C6C1-7EB9-1A3CA3243A3D}"/>
              </a:ext>
            </a:extLst>
          </p:cNvPr>
          <p:cNvSpPr>
            <a:spLocks noGrp="1"/>
          </p:cNvSpPr>
          <p:nvPr>
            <p:ph type="title"/>
          </p:nvPr>
        </p:nvSpPr>
        <p:spPr/>
        <p:txBody>
          <a:bodyPr/>
          <a:lstStyle/>
          <a:p>
            <a:r>
              <a:rPr lang="en-US" b="1"/>
              <a:t>queue</a:t>
            </a:r>
            <a:r>
              <a:rPr lang="en-US"/>
              <a:t> interface</a:t>
            </a:r>
          </a:p>
        </p:txBody>
      </p:sp>
      <p:sp>
        <p:nvSpPr>
          <p:cNvPr id="4" name="Content Placeholder 3">
            <a:extLst>
              <a:ext uri="{FF2B5EF4-FFF2-40B4-BE49-F238E27FC236}">
                <a16:creationId xmlns:a16="http://schemas.microsoft.com/office/drawing/2014/main" id="{569685B5-2E65-B967-1A90-8AF879131662}"/>
              </a:ext>
            </a:extLst>
          </p:cNvPr>
          <p:cNvSpPr>
            <a:spLocks noGrp="1"/>
          </p:cNvSpPr>
          <p:nvPr>
            <p:ph sz="quarter" idx="10"/>
          </p:nvPr>
        </p:nvSpPr>
        <p:spPr/>
        <p:txBody>
          <a:bodyPr/>
          <a:lstStyle/>
          <a:p>
            <a:r>
              <a:rPr lang="en-US">
                <a:solidFill>
                  <a:srgbClr val="007B00"/>
                </a:solidFill>
                <a:latin typeface="Consolas" panose="020B0609020204030204" pitchFamily="49" charset="0"/>
                <a:cs typeface="Consolas" panose="020B0609020204030204" pitchFamily="49" charset="0"/>
              </a:rPr>
              <a:t>// </a:t>
            </a:r>
            <a:r>
              <a:rPr lang="en-US" b="1">
                <a:solidFill>
                  <a:srgbClr val="007B00"/>
                </a:solidFill>
                <a:latin typeface="Consolas" panose="020B0609020204030204" pitchFamily="49" charset="0"/>
                <a:cs typeface="Consolas" panose="020B0609020204030204" pitchFamily="49" charset="0"/>
              </a:rPr>
              <a:t>Add</a:t>
            </a:r>
            <a:r>
              <a:rPr lang="en-US">
                <a:solidFill>
                  <a:srgbClr val="007B00"/>
                </a:solidFill>
                <a:latin typeface="Consolas" panose="020B0609020204030204" pitchFamily="49" charset="0"/>
                <a:cs typeface="Consolas" panose="020B0609020204030204" pitchFamily="49" charset="0"/>
              </a:rPr>
              <a:t> (</a:t>
            </a:r>
            <a:r>
              <a:rPr lang="en-US" b="1">
                <a:solidFill>
                  <a:srgbClr val="007B00"/>
                </a:solidFill>
                <a:latin typeface="Consolas" panose="020B0609020204030204" pitchFamily="49" charset="0"/>
                <a:cs typeface="Consolas" panose="020B0609020204030204" pitchFamily="49" charset="0"/>
              </a:rPr>
              <a:t>enqueue</a:t>
            </a:r>
            <a:r>
              <a:rPr lang="en-US">
                <a:solidFill>
                  <a:srgbClr val="007B00"/>
                </a:solidFill>
                <a:latin typeface="Consolas" panose="020B0609020204030204" pitchFamily="49" charset="0"/>
                <a:cs typeface="Consolas" panose="020B0609020204030204" pitchFamily="49" charset="0"/>
              </a:rPr>
              <a:t>) a new element to the back of the queue.</a:t>
            </a:r>
            <a:br>
              <a:rPr lang="en-US">
                <a:solidFill>
                  <a:srgbClr val="007B00"/>
                </a:solidFill>
                <a:latin typeface="Consolas" panose="020B0609020204030204" pitchFamily="49" charset="0"/>
                <a:cs typeface="Consolas" panose="020B0609020204030204" pitchFamily="49" charset="0"/>
              </a:rPr>
            </a:br>
            <a:r>
              <a:rPr lang="en-US">
                <a:solidFill>
                  <a:srgbClr val="000080"/>
                </a:solidFill>
                <a:latin typeface="Consolas" panose="020B0609020204030204" pitchFamily="49" charset="0"/>
                <a:cs typeface="Consolas" panose="020B0609020204030204" pitchFamily="49" charset="0"/>
              </a:rPr>
              <a:t>void</a:t>
            </a:r>
            <a:r>
              <a:rPr lang="en-US">
                <a:latin typeface="Consolas" panose="020B0609020204030204" pitchFamily="49" charset="0"/>
                <a:cs typeface="Consolas" panose="020B0609020204030204" pitchFamily="49" charset="0"/>
              </a:rPr>
              <a:t> add(</a:t>
            </a:r>
            <a:r>
              <a:rPr lang="en-US" err="1">
                <a:solidFill>
                  <a:srgbClr val="000080"/>
                </a:solidFill>
                <a:latin typeface="Consolas" panose="020B0609020204030204" pitchFamily="49" charset="0"/>
                <a:cs typeface="Consolas" panose="020B0609020204030204" pitchFamily="49" charset="0"/>
              </a:rPr>
              <a:t>ElementType</a:t>
            </a:r>
            <a:r>
              <a:rPr lang="en-US">
                <a:latin typeface="Consolas" panose="020B0609020204030204" pitchFamily="49" charset="0"/>
                <a:cs typeface="Consolas" panose="020B0609020204030204" pitchFamily="49" charset="0"/>
              </a:rPr>
              <a:t> element);</a:t>
            </a:r>
          </a:p>
          <a:p>
            <a:endParaRPr lang="en-US">
              <a:latin typeface="Consolas" panose="020B0609020204030204" pitchFamily="49" charset="0"/>
              <a:cs typeface="Consolas" panose="020B0609020204030204" pitchFamily="49" charset="0"/>
            </a:endParaRPr>
          </a:p>
          <a:p>
            <a:r>
              <a:rPr lang="en-US">
                <a:solidFill>
                  <a:srgbClr val="007B00"/>
                </a:solidFill>
                <a:latin typeface="Consolas" panose="020B0609020204030204" pitchFamily="49" charset="0"/>
                <a:cs typeface="Consolas" panose="020B0609020204030204" pitchFamily="49" charset="0"/>
              </a:rPr>
              <a:t>// </a:t>
            </a:r>
            <a:r>
              <a:rPr lang="en-US" b="1">
                <a:solidFill>
                  <a:srgbClr val="007B00"/>
                </a:solidFill>
                <a:latin typeface="Consolas" panose="020B0609020204030204" pitchFamily="49" charset="0"/>
                <a:cs typeface="Consolas" panose="020B0609020204030204" pitchFamily="49" charset="0"/>
              </a:rPr>
              <a:t>Remove</a:t>
            </a:r>
            <a:r>
              <a:rPr lang="en-US">
                <a:solidFill>
                  <a:srgbClr val="007B00"/>
                </a:solidFill>
                <a:latin typeface="Consolas" panose="020B0609020204030204" pitchFamily="49" charset="0"/>
                <a:cs typeface="Consolas" panose="020B0609020204030204" pitchFamily="49" charset="0"/>
              </a:rPr>
              <a:t> (</a:t>
            </a:r>
            <a:r>
              <a:rPr lang="en-US" b="1">
                <a:solidFill>
                  <a:srgbClr val="007B00"/>
                </a:solidFill>
                <a:latin typeface="Consolas" panose="020B0609020204030204" pitchFamily="49" charset="0"/>
                <a:cs typeface="Consolas" panose="020B0609020204030204" pitchFamily="49" charset="0"/>
              </a:rPr>
              <a:t>dequeue</a:t>
            </a:r>
            <a:r>
              <a:rPr lang="en-US">
                <a:solidFill>
                  <a:srgbClr val="007B00"/>
                </a:solidFill>
                <a:latin typeface="Consolas" panose="020B0609020204030204" pitchFamily="49" charset="0"/>
                <a:cs typeface="Consolas" panose="020B0609020204030204" pitchFamily="49" charset="0"/>
              </a:rPr>
              <a:t>) the front</a:t>
            </a:r>
            <a:br>
              <a:rPr lang="en-US">
                <a:solidFill>
                  <a:srgbClr val="007B00"/>
                </a:solidFill>
                <a:latin typeface="Consolas" panose="020B0609020204030204" pitchFamily="49" charset="0"/>
                <a:cs typeface="Consolas" panose="020B0609020204030204" pitchFamily="49" charset="0"/>
              </a:rPr>
            </a:br>
            <a:r>
              <a:rPr lang="en-US">
                <a:solidFill>
                  <a:srgbClr val="007B00"/>
                </a:solidFill>
                <a:latin typeface="Consolas" panose="020B0609020204030204" pitchFamily="49" charset="0"/>
                <a:cs typeface="Consolas" panose="020B0609020204030204" pitchFamily="49" charset="0"/>
              </a:rPr>
              <a:t>// element and return it.</a:t>
            </a:r>
            <a:br>
              <a:rPr lang="en-US">
                <a:latin typeface="Consolas" panose="020B0609020204030204" pitchFamily="49" charset="0"/>
                <a:cs typeface="Consolas" panose="020B0609020204030204" pitchFamily="49" charset="0"/>
              </a:rPr>
            </a:br>
            <a:r>
              <a:rPr lang="en-US" err="1">
                <a:solidFill>
                  <a:srgbClr val="000080"/>
                </a:solidFill>
                <a:latin typeface="Consolas" panose="020B0609020204030204" pitchFamily="49" charset="0"/>
                <a:cs typeface="Consolas" panose="020B0609020204030204" pitchFamily="49" charset="0"/>
              </a:rPr>
              <a:t>ElementType</a:t>
            </a:r>
            <a:r>
              <a:rPr lang="en-US">
                <a:latin typeface="Consolas" panose="020B0609020204030204" pitchFamily="49" charset="0"/>
                <a:cs typeface="Consolas" panose="020B0609020204030204" pitchFamily="49" charset="0"/>
              </a:rPr>
              <a:t> remove();</a:t>
            </a:r>
          </a:p>
          <a:p>
            <a:endParaRPr lang="en-US">
              <a:latin typeface="Consolas" panose="020B0609020204030204" pitchFamily="49" charset="0"/>
              <a:cs typeface="Consolas" panose="020B0609020204030204" pitchFamily="49" charset="0"/>
            </a:endParaRPr>
          </a:p>
          <a:p>
            <a:r>
              <a:rPr lang="en-US">
                <a:solidFill>
                  <a:srgbClr val="007B00"/>
                </a:solidFill>
                <a:latin typeface="Consolas" panose="020B0609020204030204" pitchFamily="49" charset="0"/>
                <a:cs typeface="Consolas" panose="020B0609020204030204" pitchFamily="49" charset="0"/>
              </a:rPr>
              <a:t>// </a:t>
            </a:r>
            <a:r>
              <a:rPr lang="en-US" b="1">
                <a:solidFill>
                  <a:srgbClr val="007B00"/>
                </a:solidFill>
                <a:latin typeface="Consolas" panose="020B0609020204030204" pitchFamily="49" charset="0"/>
                <a:cs typeface="Consolas" panose="020B0609020204030204" pitchFamily="49" charset="0"/>
              </a:rPr>
              <a:t>Peek</a:t>
            </a:r>
            <a:r>
              <a:rPr lang="en-US">
                <a:solidFill>
                  <a:srgbClr val="007B00"/>
                </a:solidFill>
                <a:latin typeface="Consolas" panose="020B0609020204030204" pitchFamily="49" charset="0"/>
                <a:cs typeface="Consolas" panose="020B0609020204030204" pitchFamily="49" charset="0"/>
              </a:rPr>
              <a:t> (look) at the front element (without removing it)</a:t>
            </a:r>
            <a:br>
              <a:rPr lang="en-US">
                <a:solidFill>
                  <a:srgbClr val="007B00"/>
                </a:solidFill>
                <a:latin typeface="Consolas" panose="020B0609020204030204" pitchFamily="49" charset="0"/>
                <a:cs typeface="Consolas" panose="020B0609020204030204" pitchFamily="49" charset="0"/>
              </a:rPr>
            </a:br>
            <a:r>
              <a:rPr lang="en-US">
                <a:solidFill>
                  <a:srgbClr val="007B00"/>
                </a:solidFill>
                <a:latin typeface="Consolas" panose="020B0609020204030204" pitchFamily="49" charset="0"/>
                <a:cs typeface="Consolas" panose="020B0609020204030204" pitchFamily="49" charset="0"/>
              </a:rPr>
              <a:t>// and return it.</a:t>
            </a:r>
            <a:br>
              <a:rPr lang="en-US">
                <a:latin typeface="Consolas" panose="020B0609020204030204" pitchFamily="49" charset="0"/>
                <a:cs typeface="Consolas" panose="020B0609020204030204" pitchFamily="49" charset="0"/>
              </a:rPr>
            </a:br>
            <a:r>
              <a:rPr lang="en-US" err="1">
                <a:solidFill>
                  <a:srgbClr val="000080"/>
                </a:solidFill>
                <a:latin typeface="Consolas" panose="020B0609020204030204" pitchFamily="49" charset="0"/>
                <a:cs typeface="Consolas" panose="020B0609020204030204" pitchFamily="49" charset="0"/>
              </a:rPr>
              <a:t>ElementType</a:t>
            </a:r>
            <a:r>
              <a:rPr lang="en-US">
                <a:latin typeface="Consolas" panose="020B0609020204030204" pitchFamily="49" charset="0"/>
                <a:cs typeface="Consolas" panose="020B0609020204030204" pitchFamily="49" charset="0"/>
              </a:rPr>
              <a:t> peek();</a:t>
            </a:r>
          </a:p>
          <a:p>
            <a:endParaRPr lang="en-US">
              <a:latin typeface="Consolas" panose="020B0609020204030204" pitchFamily="49" charset="0"/>
              <a:cs typeface="Consolas" panose="020B0609020204030204" pitchFamily="49" charset="0"/>
            </a:endParaRPr>
          </a:p>
          <a:p>
            <a:r>
              <a:rPr lang="en-US">
                <a:solidFill>
                  <a:srgbClr val="007B00"/>
                </a:solidFill>
                <a:latin typeface="Consolas" panose="020B0609020204030204" pitchFamily="49" charset="0"/>
                <a:cs typeface="Consolas" panose="020B0609020204030204" pitchFamily="49" charset="0"/>
              </a:rPr>
              <a:t>// Returns the number of elements currently in the queue.</a:t>
            </a:r>
            <a:br>
              <a:rPr lang="en-US">
                <a:latin typeface="Consolas" panose="020B0609020204030204" pitchFamily="49" charset="0"/>
                <a:cs typeface="Consolas" panose="020B0609020204030204" pitchFamily="49" charset="0"/>
              </a:rPr>
            </a:br>
            <a:r>
              <a:rPr lang="en-US">
                <a:solidFill>
                  <a:srgbClr val="000080"/>
                </a:solidFill>
                <a:latin typeface="Consolas" panose="020B0609020204030204" pitchFamily="49" charset="0"/>
                <a:cs typeface="Consolas" panose="020B0609020204030204" pitchFamily="49" charset="0"/>
              </a:rPr>
              <a:t>int</a:t>
            </a:r>
            <a:r>
              <a:rPr lang="en-US">
                <a:latin typeface="Consolas" panose="020B0609020204030204" pitchFamily="49" charset="0"/>
                <a:cs typeface="Consolas" panose="020B0609020204030204" pitchFamily="49" charset="0"/>
              </a:rPr>
              <a:t> size();</a:t>
            </a:r>
          </a:p>
        </p:txBody>
      </p:sp>
      <p:pic>
        <p:nvPicPr>
          <p:cNvPr id="2" name="Picture 1">
            <a:extLst>
              <a:ext uri="{FF2B5EF4-FFF2-40B4-BE49-F238E27FC236}">
                <a16:creationId xmlns:a16="http://schemas.microsoft.com/office/drawing/2014/main" id="{3DE6EDB7-F6B2-C02E-E5B2-5ED3E9A77477}"/>
              </a:ext>
            </a:extLst>
          </p:cNvPr>
          <p:cNvPicPr>
            <a:picLocks noChangeAspect="1"/>
          </p:cNvPicPr>
          <p:nvPr/>
        </p:nvPicPr>
        <p:blipFill rotWithShape="1">
          <a:blip r:embed="rId2"/>
          <a:srcRect l="13065" t="14243" r="10328" b="32486"/>
          <a:stretch/>
        </p:blipFill>
        <p:spPr>
          <a:xfrm>
            <a:off x="4890977" y="1556837"/>
            <a:ext cx="3785190" cy="1297779"/>
          </a:xfrm>
          <a:prstGeom prst="rect">
            <a:avLst/>
          </a:prstGeom>
          <a:ln>
            <a:solidFill>
              <a:schemeClr val="tx1"/>
            </a:solidFill>
          </a:ln>
        </p:spPr>
      </p:pic>
    </p:spTree>
    <p:extLst>
      <p:ext uri="{BB962C8B-B14F-4D97-AF65-F5344CB8AC3E}">
        <p14:creationId xmlns:p14="http://schemas.microsoft.com/office/powerpoint/2010/main" val="2630748311"/>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EF1EF-2638-A8FE-9821-67F591A0E8B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A853A6E-44C1-70B4-8005-0CC502A03864}"/>
              </a:ext>
            </a:extLst>
          </p:cNvPr>
          <p:cNvSpPr>
            <a:spLocks noGrp="1"/>
          </p:cNvSpPr>
          <p:nvPr>
            <p:ph type="title"/>
          </p:nvPr>
        </p:nvSpPr>
        <p:spPr/>
        <p:txBody>
          <a:bodyPr/>
          <a:lstStyle/>
          <a:p>
            <a:r>
              <a:rPr lang="en-US"/>
              <a:t>what does this print?</a:t>
            </a:r>
          </a:p>
        </p:txBody>
      </p:sp>
    </p:spTree>
    <p:extLst>
      <p:ext uri="{BB962C8B-B14F-4D97-AF65-F5344CB8AC3E}">
        <p14:creationId xmlns:p14="http://schemas.microsoft.com/office/powerpoint/2010/main" val="2779344378"/>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5E845-C92F-792A-A749-5E8D243FBEF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A119025-549C-8190-1F19-240189C06C4F}"/>
              </a:ext>
            </a:extLst>
          </p:cNvPr>
          <p:cNvSpPr>
            <a:spLocks noGrp="1"/>
          </p:cNvSpPr>
          <p:nvPr>
            <p:ph type="title"/>
          </p:nvPr>
        </p:nvSpPr>
        <p:spPr>
          <a:xfrm>
            <a:off x="257175" y="2143125"/>
            <a:ext cx="8886825" cy="857250"/>
          </a:xfrm>
        </p:spPr>
        <p:txBody>
          <a:bodyPr/>
          <a:lstStyle/>
          <a:p>
            <a:pPr algn="l"/>
            <a:r>
              <a:rPr lang="en-US" sz="2400">
                <a:effectLst/>
                <a:latin typeface="Menlo" panose="020B0609030804020204" pitchFamily="49" charset="0"/>
              </a:rPr>
              <a:t>ArrayDeque&lt;Integer&gt; </a:t>
            </a:r>
            <a:r>
              <a:rPr lang="en-US" sz="2400">
                <a:solidFill>
                  <a:srgbClr val="6A3E3E"/>
                </a:solidFill>
                <a:effectLst/>
                <a:latin typeface="Menlo" panose="020B0609030804020204" pitchFamily="49" charset="0"/>
              </a:rPr>
              <a:t>queue</a:t>
            </a:r>
            <a:r>
              <a:rPr lang="en-US" sz="2400">
                <a:effectLst/>
                <a:latin typeface="Menlo" panose="020B0609030804020204" pitchFamily="49" charset="0"/>
              </a:rPr>
              <a:t> = </a:t>
            </a:r>
            <a:r>
              <a:rPr lang="en-US" sz="2400" b="1">
                <a:solidFill>
                  <a:srgbClr val="7F0055"/>
                </a:solidFill>
                <a:effectLst/>
                <a:latin typeface="Menlo" panose="020B0609030804020204" pitchFamily="49" charset="0"/>
              </a:rPr>
              <a:t>new</a:t>
            </a:r>
            <a:r>
              <a:rPr lang="en-US" sz="2400">
                <a:effectLst/>
                <a:latin typeface="Menlo" panose="020B0609030804020204" pitchFamily="49" charset="0"/>
              </a:rPr>
              <a:t> ArrayDeque&lt;&gt;();</a:t>
            </a:r>
            <a:br>
              <a:rPr lang="en-US" sz="2400">
                <a:effectLst/>
                <a:latin typeface="Menlo" panose="020B0609030804020204" pitchFamily="49" charset="0"/>
              </a:rPr>
            </a:br>
            <a:r>
              <a:rPr lang="en-US" sz="2400">
                <a:solidFill>
                  <a:srgbClr val="6A3E3E"/>
                </a:solidFill>
                <a:effectLst/>
                <a:latin typeface="Menlo" panose="020B0609030804020204" pitchFamily="49" charset="0"/>
              </a:rPr>
              <a:t>queue</a:t>
            </a:r>
            <a:r>
              <a:rPr lang="en-US" sz="2400">
                <a:effectLst/>
                <a:latin typeface="Menlo" panose="020B0609030804020204" pitchFamily="49" charset="0"/>
              </a:rPr>
              <a:t>.add(7);</a:t>
            </a:r>
            <a:br>
              <a:rPr lang="en-US" sz="2400">
                <a:effectLst/>
                <a:latin typeface="Menlo" panose="020B0609030804020204" pitchFamily="49" charset="0"/>
              </a:rPr>
            </a:br>
            <a:r>
              <a:rPr lang="en-US" sz="2400">
                <a:solidFill>
                  <a:srgbClr val="6A3E3E"/>
                </a:solidFill>
                <a:effectLst/>
                <a:latin typeface="Menlo" panose="020B0609030804020204" pitchFamily="49" charset="0"/>
              </a:rPr>
              <a:t>queue</a:t>
            </a:r>
            <a:r>
              <a:rPr lang="en-US" sz="2400">
                <a:effectLst/>
                <a:latin typeface="Menlo" panose="020B0609030804020204" pitchFamily="49" charset="0"/>
              </a:rPr>
              <a:t>.add(8);</a:t>
            </a:r>
            <a:br>
              <a:rPr lang="en-US" sz="2400">
                <a:effectLst/>
                <a:latin typeface="Menlo" panose="020B0609030804020204" pitchFamily="49" charset="0"/>
              </a:rPr>
            </a:br>
            <a:r>
              <a:rPr lang="en-US" sz="2400">
                <a:solidFill>
                  <a:srgbClr val="6A3E3E"/>
                </a:solidFill>
                <a:effectLst/>
                <a:latin typeface="Menlo" panose="020B0609030804020204" pitchFamily="49" charset="0"/>
              </a:rPr>
              <a:t>queue</a:t>
            </a:r>
            <a:r>
              <a:rPr lang="en-US" sz="2400">
                <a:effectLst/>
                <a:latin typeface="Menlo" panose="020B0609030804020204" pitchFamily="49" charset="0"/>
              </a:rPr>
              <a:t>.add(9);</a:t>
            </a:r>
            <a:br>
              <a:rPr lang="en-US" sz="2400">
                <a:effectLst/>
                <a:latin typeface="Menlo" panose="020B0609030804020204" pitchFamily="49" charset="0"/>
              </a:rPr>
            </a:br>
            <a:r>
              <a:rPr lang="en-US" sz="2400" i="1">
                <a:effectLst/>
                <a:latin typeface="Menlo" panose="020B0609030804020204" pitchFamily="49" charset="0"/>
              </a:rPr>
              <a:t>PRINT</a:t>
            </a:r>
            <a:r>
              <a:rPr lang="en-US" sz="2400">
                <a:effectLst/>
                <a:latin typeface="Menlo" panose="020B0609030804020204" pitchFamily="49" charset="0"/>
              </a:rPr>
              <a:t>(</a:t>
            </a:r>
            <a:r>
              <a:rPr lang="en-US" sz="2400">
                <a:solidFill>
                  <a:srgbClr val="6A3E3E"/>
                </a:solidFill>
                <a:effectLst/>
                <a:latin typeface="Menlo" panose="020B0609030804020204" pitchFamily="49" charset="0"/>
              </a:rPr>
              <a:t>queue</a:t>
            </a:r>
            <a:r>
              <a:rPr lang="en-US" sz="2400">
                <a:effectLst/>
                <a:latin typeface="Menlo" panose="020B0609030804020204" pitchFamily="49" charset="0"/>
              </a:rPr>
              <a:t>.remove());</a:t>
            </a:r>
            <a:br>
              <a:rPr lang="en-US" sz="2400">
                <a:effectLst/>
                <a:latin typeface="Menlo" panose="020B0609030804020204" pitchFamily="49" charset="0"/>
              </a:rPr>
            </a:br>
            <a:r>
              <a:rPr lang="en-US" sz="2400" i="1">
                <a:effectLst/>
                <a:latin typeface="Menlo" panose="020B0609030804020204" pitchFamily="49" charset="0"/>
              </a:rPr>
              <a:t>PRINT</a:t>
            </a:r>
            <a:r>
              <a:rPr lang="en-US" sz="2400">
                <a:effectLst/>
                <a:latin typeface="Menlo" panose="020B0609030804020204" pitchFamily="49" charset="0"/>
              </a:rPr>
              <a:t>(</a:t>
            </a:r>
            <a:r>
              <a:rPr lang="en-US" sz="2400">
                <a:solidFill>
                  <a:srgbClr val="6A3E3E"/>
                </a:solidFill>
                <a:effectLst/>
                <a:latin typeface="Menlo" panose="020B0609030804020204" pitchFamily="49" charset="0"/>
              </a:rPr>
              <a:t>queue</a:t>
            </a:r>
            <a:r>
              <a:rPr lang="en-US" sz="2400">
                <a:effectLst/>
                <a:latin typeface="Menlo" panose="020B0609030804020204" pitchFamily="49" charset="0"/>
              </a:rPr>
              <a:t>.peek());</a:t>
            </a:r>
            <a:br>
              <a:rPr lang="en-US" sz="2400">
                <a:effectLst/>
                <a:latin typeface="Menlo" panose="020B0609030804020204" pitchFamily="49" charset="0"/>
              </a:rPr>
            </a:br>
            <a:r>
              <a:rPr lang="en-US" sz="2400" i="1">
                <a:effectLst/>
                <a:latin typeface="Menlo" panose="020B0609030804020204" pitchFamily="49" charset="0"/>
              </a:rPr>
              <a:t>PRINT</a:t>
            </a:r>
            <a:r>
              <a:rPr lang="en-US" sz="2400">
                <a:effectLst/>
                <a:latin typeface="Menlo" panose="020B0609030804020204" pitchFamily="49" charset="0"/>
              </a:rPr>
              <a:t>(</a:t>
            </a:r>
            <a:r>
              <a:rPr lang="en-US" sz="2400">
                <a:solidFill>
                  <a:srgbClr val="6A3E3E"/>
                </a:solidFill>
                <a:effectLst/>
                <a:latin typeface="Menlo" panose="020B0609030804020204" pitchFamily="49" charset="0"/>
              </a:rPr>
              <a:t>queue</a:t>
            </a:r>
            <a:r>
              <a:rPr lang="en-US" sz="2400">
                <a:effectLst/>
                <a:latin typeface="Menlo" panose="020B0609030804020204" pitchFamily="49" charset="0"/>
              </a:rPr>
              <a:t>.size());</a:t>
            </a:r>
            <a:br>
              <a:rPr lang="en-US" sz="2400">
                <a:effectLst/>
                <a:latin typeface="Menlo" panose="020B0609030804020204" pitchFamily="49" charset="0"/>
              </a:rPr>
            </a:br>
            <a:r>
              <a:rPr lang="en-US" sz="2400" i="1">
                <a:effectLst/>
                <a:latin typeface="Menlo" panose="020B0609030804020204" pitchFamily="49" charset="0"/>
              </a:rPr>
              <a:t>PRINT</a:t>
            </a:r>
            <a:r>
              <a:rPr lang="en-US" sz="2400">
                <a:effectLst/>
                <a:latin typeface="Menlo" panose="020B0609030804020204" pitchFamily="49" charset="0"/>
              </a:rPr>
              <a:t>(</a:t>
            </a:r>
            <a:r>
              <a:rPr lang="en-US" sz="2400">
                <a:solidFill>
                  <a:srgbClr val="6A3E3E"/>
                </a:solidFill>
                <a:effectLst/>
                <a:latin typeface="Menlo" panose="020B0609030804020204" pitchFamily="49" charset="0"/>
              </a:rPr>
              <a:t>queue</a:t>
            </a:r>
            <a:r>
              <a:rPr lang="en-US" sz="2400">
                <a:effectLst/>
                <a:latin typeface="Menlo" panose="020B0609030804020204" pitchFamily="49" charset="0"/>
              </a:rPr>
              <a:t>);</a:t>
            </a:r>
          </a:p>
        </p:txBody>
      </p:sp>
    </p:spTree>
    <p:extLst>
      <p:ext uri="{BB962C8B-B14F-4D97-AF65-F5344CB8AC3E}">
        <p14:creationId xmlns:p14="http://schemas.microsoft.com/office/powerpoint/2010/main" val="1087180183"/>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5D40B-55F1-DC56-95A2-A43B30E7D6F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9174FA1-5F36-BB7A-FB45-B9CDE8EF23B3}"/>
              </a:ext>
            </a:extLst>
          </p:cNvPr>
          <p:cNvSpPr>
            <a:spLocks noGrp="1"/>
          </p:cNvSpPr>
          <p:nvPr>
            <p:ph type="title"/>
          </p:nvPr>
        </p:nvSpPr>
        <p:spPr>
          <a:xfrm>
            <a:off x="257175" y="2143125"/>
            <a:ext cx="8886825" cy="857250"/>
          </a:xfrm>
        </p:spPr>
        <p:txBody>
          <a:bodyPr/>
          <a:lstStyle/>
          <a:p>
            <a:pPr algn="l"/>
            <a:r>
              <a:rPr lang="en-US" sz="2400">
                <a:effectLst/>
                <a:latin typeface="Menlo" panose="020B0609030804020204" pitchFamily="49" charset="0"/>
              </a:rPr>
              <a:t>ArrayDeque&lt;Integer&gt; </a:t>
            </a:r>
            <a:r>
              <a:rPr lang="en-US" sz="2400">
                <a:solidFill>
                  <a:srgbClr val="6A3E3E"/>
                </a:solidFill>
                <a:effectLst/>
                <a:latin typeface="Menlo" panose="020B0609030804020204" pitchFamily="49" charset="0"/>
              </a:rPr>
              <a:t>queue</a:t>
            </a:r>
            <a:r>
              <a:rPr lang="en-US" sz="2400">
                <a:effectLst/>
                <a:latin typeface="Menlo" panose="020B0609030804020204" pitchFamily="49" charset="0"/>
              </a:rPr>
              <a:t> = </a:t>
            </a:r>
            <a:r>
              <a:rPr lang="en-US" sz="2400" b="1">
                <a:solidFill>
                  <a:srgbClr val="7F0055"/>
                </a:solidFill>
                <a:effectLst/>
                <a:latin typeface="Menlo" panose="020B0609030804020204" pitchFamily="49" charset="0"/>
              </a:rPr>
              <a:t>new</a:t>
            </a:r>
            <a:r>
              <a:rPr lang="en-US" sz="2400">
                <a:effectLst/>
                <a:latin typeface="Menlo" panose="020B0609030804020204" pitchFamily="49" charset="0"/>
              </a:rPr>
              <a:t> ArrayDeque&lt;&gt;();</a:t>
            </a:r>
            <a:br>
              <a:rPr lang="en-US" sz="2400">
                <a:effectLst/>
                <a:latin typeface="Menlo" panose="020B0609030804020204" pitchFamily="49" charset="0"/>
              </a:rPr>
            </a:br>
            <a:r>
              <a:rPr lang="en-US" sz="2400">
                <a:solidFill>
                  <a:srgbClr val="6A3E3E"/>
                </a:solidFill>
                <a:effectLst/>
                <a:latin typeface="Menlo" panose="020B0609030804020204" pitchFamily="49" charset="0"/>
              </a:rPr>
              <a:t>queue</a:t>
            </a:r>
            <a:r>
              <a:rPr lang="en-US" sz="2400">
                <a:effectLst/>
                <a:latin typeface="Menlo" panose="020B0609030804020204" pitchFamily="49" charset="0"/>
              </a:rPr>
              <a:t>.add(7);</a:t>
            </a:r>
            <a:br>
              <a:rPr lang="en-US" sz="2400">
                <a:effectLst/>
                <a:latin typeface="Menlo" panose="020B0609030804020204" pitchFamily="49" charset="0"/>
              </a:rPr>
            </a:br>
            <a:r>
              <a:rPr lang="en-US" sz="2400">
                <a:solidFill>
                  <a:srgbClr val="6A3E3E"/>
                </a:solidFill>
                <a:effectLst/>
                <a:latin typeface="Menlo" panose="020B0609030804020204" pitchFamily="49" charset="0"/>
              </a:rPr>
              <a:t>queue</a:t>
            </a:r>
            <a:r>
              <a:rPr lang="en-US" sz="2400">
                <a:effectLst/>
                <a:latin typeface="Menlo" panose="020B0609030804020204" pitchFamily="49" charset="0"/>
              </a:rPr>
              <a:t>.add(8);</a:t>
            </a:r>
            <a:br>
              <a:rPr lang="en-US" sz="2400">
                <a:effectLst/>
                <a:latin typeface="Menlo" panose="020B0609030804020204" pitchFamily="49" charset="0"/>
              </a:rPr>
            </a:br>
            <a:r>
              <a:rPr lang="en-US" sz="2400">
                <a:solidFill>
                  <a:srgbClr val="6A3E3E"/>
                </a:solidFill>
                <a:effectLst/>
                <a:latin typeface="Menlo" panose="020B0609030804020204" pitchFamily="49" charset="0"/>
              </a:rPr>
              <a:t>queue</a:t>
            </a:r>
            <a:r>
              <a:rPr lang="en-US" sz="2400">
                <a:effectLst/>
                <a:latin typeface="Menlo" panose="020B0609030804020204" pitchFamily="49" charset="0"/>
              </a:rPr>
              <a:t>.add(9);</a:t>
            </a:r>
            <a:br>
              <a:rPr lang="en-US" sz="2400">
                <a:effectLst/>
                <a:latin typeface="Menlo" panose="020B0609030804020204" pitchFamily="49" charset="0"/>
              </a:rPr>
            </a:br>
            <a:r>
              <a:rPr lang="en-US" sz="2400" i="1">
                <a:effectLst/>
                <a:latin typeface="Menlo" panose="020B0609030804020204" pitchFamily="49" charset="0"/>
              </a:rPr>
              <a:t>PRINT</a:t>
            </a:r>
            <a:r>
              <a:rPr lang="en-US" sz="2400">
                <a:effectLst/>
                <a:latin typeface="Menlo" panose="020B0609030804020204" pitchFamily="49" charset="0"/>
              </a:rPr>
              <a:t>(</a:t>
            </a:r>
            <a:r>
              <a:rPr lang="en-US" sz="2400">
                <a:solidFill>
                  <a:srgbClr val="6A3E3E"/>
                </a:solidFill>
                <a:effectLst/>
                <a:latin typeface="Menlo" panose="020B0609030804020204" pitchFamily="49" charset="0"/>
              </a:rPr>
              <a:t>queue</a:t>
            </a:r>
            <a:r>
              <a:rPr lang="en-US" sz="2400">
                <a:effectLst/>
                <a:latin typeface="Menlo" panose="020B0609030804020204" pitchFamily="49" charset="0"/>
              </a:rPr>
              <a:t>.remove()); </a:t>
            </a:r>
            <a:r>
              <a:rPr lang="en-US" sz="2400">
                <a:solidFill>
                  <a:srgbClr val="007B00"/>
                </a:solidFill>
                <a:effectLst/>
                <a:latin typeface="Menlo" panose="020B0609030804020204" pitchFamily="49" charset="0"/>
              </a:rPr>
              <a:t>// 7</a:t>
            </a:r>
            <a:br>
              <a:rPr lang="en-US" sz="2400">
                <a:effectLst/>
                <a:latin typeface="Menlo" panose="020B0609030804020204" pitchFamily="49" charset="0"/>
              </a:rPr>
            </a:br>
            <a:r>
              <a:rPr lang="en-US" sz="2400" i="1">
                <a:effectLst/>
                <a:latin typeface="Menlo" panose="020B0609030804020204" pitchFamily="49" charset="0"/>
              </a:rPr>
              <a:t>PRINT</a:t>
            </a:r>
            <a:r>
              <a:rPr lang="en-US" sz="2400">
                <a:effectLst/>
                <a:latin typeface="Menlo" panose="020B0609030804020204" pitchFamily="49" charset="0"/>
              </a:rPr>
              <a:t>(</a:t>
            </a:r>
            <a:r>
              <a:rPr lang="en-US" sz="2400">
                <a:solidFill>
                  <a:srgbClr val="6A3E3E"/>
                </a:solidFill>
                <a:effectLst/>
                <a:latin typeface="Menlo" panose="020B0609030804020204" pitchFamily="49" charset="0"/>
              </a:rPr>
              <a:t>queue</a:t>
            </a:r>
            <a:r>
              <a:rPr lang="en-US" sz="2400">
                <a:effectLst/>
                <a:latin typeface="Menlo" panose="020B0609030804020204" pitchFamily="49" charset="0"/>
              </a:rPr>
              <a:t>.peek());   </a:t>
            </a:r>
            <a:r>
              <a:rPr lang="en-US" sz="2400">
                <a:solidFill>
                  <a:srgbClr val="007B00"/>
                </a:solidFill>
                <a:effectLst/>
                <a:latin typeface="Menlo" panose="020B0609030804020204" pitchFamily="49" charset="0"/>
              </a:rPr>
              <a:t>// 8</a:t>
            </a:r>
            <a:br>
              <a:rPr lang="en-US" sz="2400">
                <a:effectLst/>
                <a:latin typeface="Menlo" panose="020B0609030804020204" pitchFamily="49" charset="0"/>
              </a:rPr>
            </a:br>
            <a:r>
              <a:rPr lang="en-US" sz="2400" i="1">
                <a:effectLst/>
                <a:latin typeface="Menlo" panose="020B0609030804020204" pitchFamily="49" charset="0"/>
              </a:rPr>
              <a:t>PRINT</a:t>
            </a:r>
            <a:r>
              <a:rPr lang="en-US" sz="2400">
                <a:effectLst/>
                <a:latin typeface="Menlo" panose="020B0609030804020204" pitchFamily="49" charset="0"/>
              </a:rPr>
              <a:t>(</a:t>
            </a:r>
            <a:r>
              <a:rPr lang="en-US" sz="2400">
                <a:solidFill>
                  <a:srgbClr val="6A3E3E"/>
                </a:solidFill>
                <a:effectLst/>
                <a:latin typeface="Menlo" panose="020B0609030804020204" pitchFamily="49" charset="0"/>
              </a:rPr>
              <a:t>queue</a:t>
            </a:r>
            <a:r>
              <a:rPr lang="en-US" sz="2400">
                <a:effectLst/>
                <a:latin typeface="Menlo" panose="020B0609030804020204" pitchFamily="49" charset="0"/>
              </a:rPr>
              <a:t>.size());   </a:t>
            </a:r>
            <a:r>
              <a:rPr lang="en-US" sz="2400">
                <a:solidFill>
                  <a:srgbClr val="007B00"/>
                </a:solidFill>
                <a:effectLst/>
                <a:latin typeface="Menlo" panose="020B0609030804020204" pitchFamily="49" charset="0"/>
              </a:rPr>
              <a:t>// 2</a:t>
            </a:r>
            <a:br>
              <a:rPr lang="en-US" sz="2400">
                <a:solidFill>
                  <a:srgbClr val="007B00"/>
                </a:solidFill>
                <a:effectLst/>
                <a:latin typeface="Menlo" panose="020B0609030804020204" pitchFamily="49" charset="0"/>
              </a:rPr>
            </a:br>
            <a:r>
              <a:rPr lang="en-US" sz="2400" i="1">
                <a:effectLst/>
                <a:latin typeface="Menlo" panose="020B0609030804020204" pitchFamily="49" charset="0"/>
              </a:rPr>
              <a:t>PRINT</a:t>
            </a:r>
            <a:r>
              <a:rPr lang="en-US" sz="2400">
                <a:effectLst/>
                <a:latin typeface="Menlo" panose="020B0609030804020204" pitchFamily="49" charset="0"/>
              </a:rPr>
              <a:t>(</a:t>
            </a:r>
            <a:r>
              <a:rPr lang="en-US" sz="2400">
                <a:solidFill>
                  <a:srgbClr val="6A3E3E"/>
                </a:solidFill>
                <a:effectLst/>
                <a:latin typeface="Menlo" panose="020B0609030804020204" pitchFamily="49" charset="0"/>
              </a:rPr>
              <a:t>queue</a:t>
            </a:r>
            <a:r>
              <a:rPr lang="en-US" sz="2400">
                <a:effectLst/>
                <a:latin typeface="Menlo" panose="020B0609030804020204" pitchFamily="49" charset="0"/>
              </a:rPr>
              <a:t>); </a:t>
            </a:r>
            <a:r>
              <a:rPr lang="en-US" sz="2400">
                <a:solidFill>
                  <a:srgbClr val="007B00"/>
                </a:solidFill>
                <a:effectLst/>
                <a:latin typeface="Menlo" panose="020B0609030804020204" pitchFamily="49" charset="0"/>
              </a:rPr>
              <a:t>// FRONT[ 8, 9 ]BACK</a:t>
            </a:r>
            <a:br>
              <a:rPr lang="en-US" sz="2400">
                <a:effectLst/>
                <a:latin typeface="Menlo" panose="020B0609030804020204" pitchFamily="49" charset="0"/>
              </a:rPr>
            </a:br>
            <a:endParaRPr lang="en-US" sz="2400">
              <a:solidFill>
                <a:srgbClr val="007B00"/>
              </a:solidFill>
              <a:effectLst/>
              <a:latin typeface="Menlo" panose="020B0609030804020204" pitchFamily="49" charset="0"/>
            </a:endParaRPr>
          </a:p>
        </p:txBody>
      </p:sp>
    </p:spTree>
    <p:extLst>
      <p:ext uri="{BB962C8B-B14F-4D97-AF65-F5344CB8AC3E}">
        <p14:creationId xmlns:p14="http://schemas.microsoft.com/office/powerpoint/2010/main" val="1833332539"/>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BD84012-AB54-F3FD-E21F-B1A378C1E2A6}"/>
              </a:ext>
            </a:extLst>
          </p:cNvPr>
          <p:cNvSpPr>
            <a:spLocks noGrp="1"/>
          </p:cNvSpPr>
          <p:nvPr>
            <p:ph type="title"/>
          </p:nvPr>
        </p:nvSpPr>
        <p:spPr/>
        <p:txBody>
          <a:bodyPr/>
          <a:lstStyle/>
          <a:p>
            <a:r>
              <a:rPr lang="en-US" sz="8000"/>
              <a:t>stacks &amp; queues</a:t>
            </a:r>
            <a:br>
              <a:rPr lang="en-US"/>
            </a:br>
            <a:r>
              <a:rPr lang="en-US" sz="4000"/>
              <a:t>(why are these in the same lecture)</a:t>
            </a:r>
            <a:endParaRPr lang="en-US"/>
          </a:p>
        </p:txBody>
      </p:sp>
    </p:spTree>
    <p:extLst>
      <p:ext uri="{BB962C8B-B14F-4D97-AF65-F5344CB8AC3E}">
        <p14:creationId xmlns:p14="http://schemas.microsoft.com/office/powerpoint/2010/main" val="1894883661"/>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77503F-0758-C6C1-7EB9-1A3CA3243A3D}"/>
              </a:ext>
            </a:extLst>
          </p:cNvPr>
          <p:cNvSpPr>
            <a:spLocks noGrp="1"/>
          </p:cNvSpPr>
          <p:nvPr>
            <p:ph type="title"/>
          </p:nvPr>
        </p:nvSpPr>
        <p:spPr/>
        <p:txBody>
          <a:bodyPr/>
          <a:lstStyle/>
          <a:p>
            <a:r>
              <a:rPr lang="en-US" b="1"/>
              <a:t>stack</a:t>
            </a:r>
            <a:r>
              <a:rPr lang="en-US"/>
              <a:t> interface</a:t>
            </a:r>
          </a:p>
        </p:txBody>
      </p:sp>
      <p:sp>
        <p:nvSpPr>
          <p:cNvPr id="4" name="Content Placeholder 3">
            <a:extLst>
              <a:ext uri="{FF2B5EF4-FFF2-40B4-BE49-F238E27FC236}">
                <a16:creationId xmlns:a16="http://schemas.microsoft.com/office/drawing/2014/main" id="{569685B5-2E65-B967-1A90-8AF879131662}"/>
              </a:ext>
            </a:extLst>
          </p:cNvPr>
          <p:cNvSpPr>
            <a:spLocks noGrp="1"/>
          </p:cNvSpPr>
          <p:nvPr>
            <p:ph sz="quarter" idx="10"/>
          </p:nvPr>
        </p:nvSpPr>
        <p:spPr/>
        <p:txBody>
          <a:bodyPr>
            <a:noAutofit/>
          </a:bodyPr>
          <a:lstStyle/>
          <a:p>
            <a:r>
              <a:rPr lang="en-US">
                <a:solidFill>
                  <a:srgbClr val="007B00"/>
                </a:solidFill>
                <a:effectLst/>
                <a:latin typeface="+mj-lt"/>
              </a:rPr>
              <a:t>// </a:t>
            </a:r>
            <a:r>
              <a:rPr lang="en-US" b="1">
                <a:solidFill>
                  <a:srgbClr val="007B00"/>
                </a:solidFill>
                <a:effectLst/>
                <a:latin typeface="+mj-lt"/>
              </a:rPr>
              <a:t>Push</a:t>
            </a:r>
            <a:r>
              <a:rPr lang="en-US">
                <a:solidFill>
                  <a:srgbClr val="007B00"/>
                </a:solidFill>
                <a:effectLst/>
                <a:latin typeface="+mj-lt"/>
              </a:rPr>
              <a:t> (</a:t>
            </a:r>
            <a:r>
              <a:rPr lang="en-US" b="1">
                <a:solidFill>
                  <a:srgbClr val="007B00"/>
                </a:solidFill>
                <a:effectLst/>
                <a:latin typeface="+mj-lt"/>
              </a:rPr>
              <a:t>add</a:t>
            </a:r>
            <a:r>
              <a:rPr lang="en-US">
                <a:solidFill>
                  <a:srgbClr val="007B00"/>
                </a:solidFill>
                <a:effectLst/>
                <a:latin typeface="+mj-lt"/>
              </a:rPr>
              <a:t>)    a new element to the top  of the stack</a:t>
            </a:r>
            <a:br>
              <a:rPr lang="en-US">
                <a:solidFill>
                  <a:srgbClr val="000080"/>
                </a:solidFill>
                <a:effectLst/>
                <a:latin typeface="+mj-lt"/>
              </a:rPr>
            </a:br>
            <a:r>
              <a:rPr lang="en-US">
                <a:solidFill>
                  <a:srgbClr val="000080"/>
                </a:solidFill>
                <a:effectLst/>
                <a:latin typeface="+mj-lt"/>
              </a:rPr>
              <a:t>void</a:t>
            </a:r>
            <a:r>
              <a:rPr lang="en-US">
                <a:latin typeface="+mj-lt"/>
              </a:rPr>
              <a:t> </a:t>
            </a:r>
            <a:r>
              <a:rPr lang="en-US">
                <a:effectLst/>
                <a:latin typeface="+mj-lt"/>
              </a:rPr>
              <a:t>push</a:t>
            </a:r>
            <a:r>
              <a:rPr lang="en-US">
                <a:latin typeface="+mj-lt"/>
              </a:rPr>
              <a:t>(</a:t>
            </a:r>
            <a:r>
              <a:rPr lang="en-US" err="1">
                <a:solidFill>
                  <a:srgbClr val="000080"/>
                </a:solidFill>
                <a:effectLst/>
                <a:latin typeface="+mj-lt"/>
              </a:rPr>
              <a:t>ElementType</a:t>
            </a:r>
            <a:r>
              <a:rPr lang="en-US">
                <a:latin typeface="+mj-lt"/>
              </a:rPr>
              <a:t> </a:t>
            </a:r>
            <a:r>
              <a:rPr lang="en-US">
                <a:effectLst/>
                <a:latin typeface="+mj-lt"/>
              </a:rPr>
              <a:t>element</a:t>
            </a:r>
            <a:r>
              <a:rPr lang="en-US">
                <a:latin typeface="+mj-lt"/>
              </a:rPr>
              <a:t>); </a:t>
            </a:r>
          </a:p>
          <a:p>
            <a:pPr lvl="1"/>
            <a:endParaRPr lang="en-US">
              <a:latin typeface="+mj-lt"/>
            </a:endParaRPr>
          </a:p>
          <a:p>
            <a:r>
              <a:rPr lang="en-US">
                <a:solidFill>
                  <a:srgbClr val="007B00"/>
                </a:solidFill>
                <a:effectLst/>
                <a:latin typeface="+mj-lt"/>
              </a:rPr>
              <a:t>// </a:t>
            </a:r>
            <a:r>
              <a:rPr lang="en-US" b="1">
                <a:solidFill>
                  <a:srgbClr val="007B00"/>
                </a:solidFill>
                <a:effectLst/>
                <a:latin typeface="+mj-lt"/>
              </a:rPr>
              <a:t>Remove</a:t>
            </a:r>
            <a:r>
              <a:rPr lang="en-US">
                <a:solidFill>
                  <a:srgbClr val="007B00"/>
                </a:solidFill>
                <a:effectLst/>
                <a:latin typeface="+mj-lt"/>
              </a:rPr>
              <a:t> (</a:t>
            </a:r>
            <a:r>
              <a:rPr lang="en-US" b="1">
                <a:solidFill>
                  <a:srgbClr val="007B00"/>
                </a:solidFill>
                <a:effectLst/>
                <a:latin typeface="+mj-lt"/>
              </a:rPr>
              <a:t>pop</a:t>
            </a:r>
            <a:r>
              <a:rPr lang="en-US">
                <a:solidFill>
                  <a:srgbClr val="007B00"/>
                </a:solidFill>
                <a:effectLst/>
                <a:latin typeface="+mj-lt"/>
              </a:rPr>
              <a:t>)     the top   element of the stack</a:t>
            </a:r>
            <a:br>
              <a:rPr lang="en-US">
                <a:solidFill>
                  <a:srgbClr val="007B00"/>
                </a:solidFill>
                <a:effectLst/>
                <a:latin typeface="+mj-lt"/>
              </a:rPr>
            </a:br>
            <a:r>
              <a:rPr lang="en-US">
                <a:solidFill>
                  <a:srgbClr val="007B00"/>
                </a:solidFill>
                <a:effectLst/>
                <a:latin typeface="+mj-lt"/>
              </a:rPr>
              <a:t>// and returns it.</a:t>
            </a:r>
            <a:br>
              <a:rPr lang="en-US">
                <a:solidFill>
                  <a:srgbClr val="000080"/>
                </a:solidFill>
                <a:effectLst/>
                <a:latin typeface="+mj-lt"/>
              </a:rPr>
            </a:br>
            <a:r>
              <a:rPr lang="en-US" err="1">
                <a:solidFill>
                  <a:srgbClr val="000080"/>
                </a:solidFill>
                <a:effectLst/>
                <a:latin typeface="+mj-lt"/>
              </a:rPr>
              <a:t>ElementType</a:t>
            </a:r>
            <a:r>
              <a:rPr lang="en-US">
                <a:latin typeface="+mj-lt"/>
              </a:rPr>
              <a:t> </a:t>
            </a:r>
            <a:r>
              <a:rPr lang="en-US">
                <a:effectLst/>
                <a:latin typeface="+mj-lt"/>
              </a:rPr>
              <a:t>pop</a:t>
            </a:r>
            <a:r>
              <a:rPr lang="en-US">
                <a:latin typeface="+mj-lt"/>
              </a:rPr>
              <a:t>();</a:t>
            </a:r>
            <a:endParaRPr lang="en-US">
              <a:effectLst/>
              <a:latin typeface="+mj-lt"/>
            </a:endParaRPr>
          </a:p>
          <a:p>
            <a:pPr lvl="1"/>
            <a:endParaRPr lang="en-US">
              <a:effectLst/>
              <a:latin typeface="+mj-lt"/>
            </a:endParaRPr>
          </a:p>
          <a:p>
            <a:r>
              <a:rPr lang="en-US">
                <a:solidFill>
                  <a:srgbClr val="007B00"/>
                </a:solidFill>
                <a:effectLst/>
                <a:latin typeface="+mj-lt"/>
              </a:rPr>
              <a:t>// </a:t>
            </a:r>
            <a:r>
              <a:rPr lang="en-US" b="1">
                <a:solidFill>
                  <a:srgbClr val="007B00"/>
                </a:solidFill>
                <a:effectLst/>
                <a:latin typeface="+mj-lt"/>
              </a:rPr>
              <a:t>Peek</a:t>
            </a:r>
            <a:r>
              <a:rPr lang="en-US">
                <a:solidFill>
                  <a:srgbClr val="007B00"/>
                </a:solidFill>
                <a:effectLst/>
                <a:latin typeface="+mj-lt"/>
              </a:rPr>
              <a:t> (look) at the top   element of the stack</a:t>
            </a:r>
            <a:br>
              <a:rPr lang="en-US">
                <a:solidFill>
                  <a:srgbClr val="007B00"/>
                </a:solidFill>
                <a:effectLst/>
                <a:latin typeface="+mj-lt"/>
              </a:rPr>
            </a:br>
            <a:r>
              <a:rPr lang="en-US">
                <a:solidFill>
                  <a:srgbClr val="007B00"/>
                </a:solidFill>
                <a:effectLst/>
                <a:latin typeface="+mj-lt"/>
              </a:rPr>
              <a:t>// (without removing it) and return it.</a:t>
            </a:r>
            <a:br>
              <a:rPr lang="en-US">
                <a:solidFill>
                  <a:srgbClr val="000080"/>
                </a:solidFill>
                <a:effectLst/>
                <a:latin typeface="+mj-lt"/>
              </a:rPr>
            </a:br>
            <a:r>
              <a:rPr lang="en-US" err="1">
                <a:solidFill>
                  <a:srgbClr val="000080"/>
                </a:solidFill>
                <a:effectLst/>
                <a:latin typeface="+mj-lt"/>
              </a:rPr>
              <a:t>ElementType</a:t>
            </a:r>
            <a:r>
              <a:rPr lang="en-US">
                <a:latin typeface="+mj-lt"/>
              </a:rPr>
              <a:t> </a:t>
            </a:r>
            <a:r>
              <a:rPr lang="en-US">
                <a:effectLst/>
                <a:latin typeface="+mj-lt"/>
              </a:rPr>
              <a:t>peek</a:t>
            </a:r>
            <a:r>
              <a:rPr lang="en-US">
                <a:latin typeface="+mj-lt"/>
              </a:rPr>
              <a:t>();</a:t>
            </a:r>
          </a:p>
          <a:p>
            <a:endParaRPr lang="en-US">
              <a:latin typeface="+mj-lt"/>
            </a:endParaRPr>
          </a:p>
          <a:p>
            <a:r>
              <a:rPr lang="en-US">
                <a:solidFill>
                  <a:srgbClr val="007B00"/>
                </a:solidFill>
                <a:effectLst/>
                <a:latin typeface="+mj-lt"/>
              </a:rPr>
              <a:t>// Returns the number of elements currently in the stack</a:t>
            </a:r>
            <a:br>
              <a:rPr lang="en-US">
                <a:solidFill>
                  <a:srgbClr val="007B00"/>
                </a:solidFill>
                <a:effectLst/>
                <a:latin typeface="+mj-lt"/>
              </a:rPr>
            </a:br>
            <a:r>
              <a:rPr lang="en-US">
                <a:solidFill>
                  <a:srgbClr val="000080"/>
                </a:solidFill>
                <a:effectLst/>
                <a:latin typeface="+mj-lt"/>
              </a:rPr>
              <a:t>int</a:t>
            </a:r>
            <a:r>
              <a:rPr lang="en-US">
                <a:latin typeface="+mj-lt"/>
              </a:rPr>
              <a:t> </a:t>
            </a:r>
            <a:r>
              <a:rPr lang="en-US">
                <a:effectLst/>
                <a:latin typeface="+mj-lt"/>
              </a:rPr>
              <a:t>size</a:t>
            </a:r>
            <a:r>
              <a:rPr lang="en-US">
                <a:latin typeface="+mj-lt"/>
              </a:rPr>
              <a:t>();</a:t>
            </a:r>
          </a:p>
          <a:p>
            <a:endParaRPr lang="en-US">
              <a:latin typeface="+mj-lt"/>
            </a:endParaRPr>
          </a:p>
        </p:txBody>
      </p:sp>
    </p:spTree>
    <p:extLst>
      <p:ext uri="{BB962C8B-B14F-4D97-AF65-F5344CB8AC3E}">
        <p14:creationId xmlns:p14="http://schemas.microsoft.com/office/powerpoint/2010/main" val="4080207261"/>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77503F-0758-C6C1-7EB9-1A3CA3243A3D}"/>
              </a:ext>
            </a:extLst>
          </p:cNvPr>
          <p:cNvSpPr>
            <a:spLocks noGrp="1"/>
          </p:cNvSpPr>
          <p:nvPr>
            <p:ph type="title"/>
          </p:nvPr>
        </p:nvSpPr>
        <p:spPr/>
        <p:txBody>
          <a:bodyPr/>
          <a:lstStyle/>
          <a:p>
            <a:r>
              <a:rPr lang="en-US" b="1"/>
              <a:t>queue</a:t>
            </a:r>
            <a:r>
              <a:rPr lang="en-US"/>
              <a:t> interface</a:t>
            </a:r>
          </a:p>
        </p:txBody>
      </p:sp>
      <p:sp>
        <p:nvSpPr>
          <p:cNvPr id="4" name="Content Placeholder 3">
            <a:extLst>
              <a:ext uri="{FF2B5EF4-FFF2-40B4-BE49-F238E27FC236}">
                <a16:creationId xmlns:a16="http://schemas.microsoft.com/office/drawing/2014/main" id="{569685B5-2E65-B967-1A90-8AF879131662}"/>
              </a:ext>
            </a:extLst>
          </p:cNvPr>
          <p:cNvSpPr>
            <a:spLocks noGrp="1"/>
          </p:cNvSpPr>
          <p:nvPr>
            <p:ph sz="quarter" idx="10"/>
          </p:nvPr>
        </p:nvSpPr>
        <p:spPr/>
        <p:txBody>
          <a:bodyPr/>
          <a:lstStyle/>
          <a:p>
            <a:r>
              <a:rPr lang="en-US">
                <a:solidFill>
                  <a:srgbClr val="007B00"/>
                </a:solidFill>
                <a:latin typeface="Consolas" panose="020B0609020204030204" pitchFamily="49" charset="0"/>
                <a:cs typeface="Consolas" panose="020B0609020204030204" pitchFamily="49" charset="0"/>
              </a:rPr>
              <a:t>// </a:t>
            </a:r>
            <a:r>
              <a:rPr lang="en-US" b="1">
                <a:solidFill>
                  <a:srgbClr val="007B00"/>
                </a:solidFill>
                <a:latin typeface="Consolas" panose="020B0609020204030204" pitchFamily="49" charset="0"/>
                <a:cs typeface="Consolas" panose="020B0609020204030204" pitchFamily="49" charset="0"/>
              </a:rPr>
              <a:t>Add</a:t>
            </a:r>
            <a:r>
              <a:rPr lang="en-US">
                <a:solidFill>
                  <a:srgbClr val="007B00"/>
                </a:solidFill>
                <a:latin typeface="Consolas" panose="020B0609020204030204" pitchFamily="49" charset="0"/>
                <a:cs typeface="Consolas" panose="020B0609020204030204" pitchFamily="49" charset="0"/>
              </a:rPr>
              <a:t> (</a:t>
            </a:r>
            <a:r>
              <a:rPr lang="en-US" b="1">
                <a:solidFill>
                  <a:srgbClr val="007B00"/>
                </a:solidFill>
                <a:latin typeface="Consolas" panose="020B0609020204030204" pitchFamily="49" charset="0"/>
                <a:cs typeface="Consolas" panose="020B0609020204030204" pitchFamily="49" charset="0"/>
              </a:rPr>
              <a:t>enqueue</a:t>
            </a:r>
            <a:r>
              <a:rPr lang="en-US">
                <a:solidFill>
                  <a:srgbClr val="007B00"/>
                </a:solidFill>
                <a:latin typeface="Consolas" panose="020B0609020204030204" pitchFamily="49" charset="0"/>
                <a:cs typeface="Consolas" panose="020B0609020204030204" pitchFamily="49" charset="0"/>
              </a:rPr>
              <a:t>) a new element to the back of the queue</a:t>
            </a:r>
            <a:br>
              <a:rPr lang="en-US">
                <a:solidFill>
                  <a:srgbClr val="007B00"/>
                </a:solidFill>
                <a:latin typeface="Consolas" panose="020B0609020204030204" pitchFamily="49" charset="0"/>
                <a:cs typeface="Consolas" panose="020B0609020204030204" pitchFamily="49" charset="0"/>
              </a:rPr>
            </a:br>
            <a:r>
              <a:rPr lang="en-US">
                <a:solidFill>
                  <a:srgbClr val="000080"/>
                </a:solidFill>
                <a:latin typeface="Consolas" panose="020B0609020204030204" pitchFamily="49" charset="0"/>
                <a:cs typeface="Consolas" panose="020B0609020204030204" pitchFamily="49" charset="0"/>
              </a:rPr>
              <a:t>void</a:t>
            </a:r>
            <a:r>
              <a:rPr lang="en-US">
                <a:latin typeface="Consolas" panose="020B0609020204030204" pitchFamily="49" charset="0"/>
                <a:cs typeface="Consolas" panose="020B0609020204030204" pitchFamily="49" charset="0"/>
              </a:rPr>
              <a:t> add(</a:t>
            </a:r>
            <a:r>
              <a:rPr lang="en-US" err="1">
                <a:solidFill>
                  <a:srgbClr val="000080"/>
                </a:solidFill>
                <a:latin typeface="Consolas" panose="020B0609020204030204" pitchFamily="49" charset="0"/>
                <a:cs typeface="Consolas" panose="020B0609020204030204" pitchFamily="49" charset="0"/>
              </a:rPr>
              <a:t>ElementType</a:t>
            </a:r>
            <a:r>
              <a:rPr lang="en-US">
                <a:latin typeface="Consolas" panose="020B0609020204030204" pitchFamily="49" charset="0"/>
                <a:cs typeface="Consolas" panose="020B0609020204030204" pitchFamily="49" charset="0"/>
              </a:rPr>
              <a:t> element);</a:t>
            </a:r>
          </a:p>
          <a:p>
            <a:endParaRPr lang="en-US">
              <a:latin typeface="Consolas" panose="020B0609020204030204" pitchFamily="49" charset="0"/>
              <a:cs typeface="Consolas" panose="020B0609020204030204" pitchFamily="49" charset="0"/>
            </a:endParaRPr>
          </a:p>
          <a:p>
            <a:r>
              <a:rPr lang="en-US">
                <a:solidFill>
                  <a:srgbClr val="007B00"/>
                </a:solidFill>
                <a:latin typeface="Consolas" panose="020B0609020204030204" pitchFamily="49" charset="0"/>
                <a:cs typeface="Consolas" panose="020B0609020204030204" pitchFamily="49" charset="0"/>
              </a:rPr>
              <a:t>// </a:t>
            </a:r>
            <a:r>
              <a:rPr lang="en-US" b="1">
                <a:solidFill>
                  <a:srgbClr val="007B00"/>
                </a:solidFill>
                <a:latin typeface="Consolas" panose="020B0609020204030204" pitchFamily="49" charset="0"/>
                <a:cs typeface="Consolas" panose="020B0609020204030204" pitchFamily="49" charset="0"/>
              </a:rPr>
              <a:t>Remove</a:t>
            </a:r>
            <a:r>
              <a:rPr lang="en-US">
                <a:solidFill>
                  <a:srgbClr val="007B00"/>
                </a:solidFill>
                <a:latin typeface="Consolas" panose="020B0609020204030204" pitchFamily="49" charset="0"/>
                <a:cs typeface="Consolas" panose="020B0609020204030204" pitchFamily="49" charset="0"/>
              </a:rPr>
              <a:t> (</a:t>
            </a:r>
            <a:r>
              <a:rPr lang="en-US" b="1">
                <a:solidFill>
                  <a:srgbClr val="007B00"/>
                </a:solidFill>
                <a:latin typeface="Consolas" panose="020B0609020204030204" pitchFamily="49" charset="0"/>
                <a:cs typeface="Consolas" panose="020B0609020204030204" pitchFamily="49" charset="0"/>
              </a:rPr>
              <a:t>dequeue</a:t>
            </a:r>
            <a:r>
              <a:rPr lang="en-US">
                <a:solidFill>
                  <a:srgbClr val="007B00"/>
                </a:solidFill>
                <a:latin typeface="Consolas" panose="020B0609020204030204" pitchFamily="49" charset="0"/>
                <a:cs typeface="Consolas" panose="020B0609020204030204" pitchFamily="49" charset="0"/>
              </a:rPr>
              <a:t>) the front element of the queue</a:t>
            </a:r>
            <a:br>
              <a:rPr lang="en-US">
                <a:solidFill>
                  <a:srgbClr val="007B00"/>
                </a:solidFill>
                <a:latin typeface="Consolas" panose="020B0609020204030204" pitchFamily="49" charset="0"/>
                <a:cs typeface="Consolas" panose="020B0609020204030204" pitchFamily="49" charset="0"/>
              </a:rPr>
            </a:br>
            <a:r>
              <a:rPr lang="en-US">
                <a:solidFill>
                  <a:srgbClr val="007B00"/>
                </a:solidFill>
                <a:latin typeface="Consolas" panose="020B0609020204030204" pitchFamily="49" charset="0"/>
                <a:cs typeface="Consolas" panose="020B0609020204030204" pitchFamily="49" charset="0"/>
              </a:rPr>
              <a:t>// and return it.</a:t>
            </a:r>
            <a:br>
              <a:rPr lang="en-US">
                <a:latin typeface="Consolas" panose="020B0609020204030204" pitchFamily="49" charset="0"/>
                <a:cs typeface="Consolas" panose="020B0609020204030204" pitchFamily="49" charset="0"/>
              </a:rPr>
            </a:br>
            <a:r>
              <a:rPr lang="en-US" err="1">
                <a:solidFill>
                  <a:srgbClr val="000080"/>
                </a:solidFill>
                <a:latin typeface="Consolas" panose="020B0609020204030204" pitchFamily="49" charset="0"/>
                <a:cs typeface="Consolas" panose="020B0609020204030204" pitchFamily="49" charset="0"/>
              </a:rPr>
              <a:t>ElementType</a:t>
            </a:r>
            <a:r>
              <a:rPr lang="en-US">
                <a:latin typeface="Consolas" panose="020B0609020204030204" pitchFamily="49" charset="0"/>
                <a:cs typeface="Consolas" panose="020B0609020204030204" pitchFamily="49" charset="0"/>
              </a:rPr>
              <a:t> remove();</a:t>
            </a:r>
          </a:p>
          <a:p>
            <a:endParaRPr lang="en-US">
              <a:latin typeface="Consolas" panose="020B0609020204030204" pitchFamily="49" charset="0"/>
              <a:cs typeface="Consolas" panose="020B0609020204030204" pitchFamily="49" charset="0"/>
            </a:endParaRPr>
          </a:p>
          <a:p>
            <a:r>
              <a:rPr lang="en-US">
                <a:solidFill>
                  <a:srgbClr val="007B00"/>
                </a:solidFill>
                <a:latin typeface="Consolas" panose="020B0609020204030204" pitchFamily="49" charset="0"/>
                <a:cs typeface="Consolas" panose="020B0609020204030204" pitchFamily="49" charset="0"/>
              </a:rPr>
              <a:t>// </a:t>
            </a:r>
            <a:r>
              <a:rPr lang="en-US" b="1">
                <a:solidFill>
                  <a:srgbClr val="007B00"/>
                </a:solidFill>
                <a:latin typeface="Consolas" panose="020B0609020204030204" pitchFamily="49" charset="0"/>
                <a:cs typeface="Consolas" panose="020B0609020204030204" pitchFamily="49" charset="0"/>
              </a:rPr>
              <a:t>Peek</a:t>
            </a:r>
            <a:r>
              <a:rPr lang="en-US">
                <a:solidFill>
                  <a:srgbClr val="007B00"/>
                </a:solidFill>
                <a:latin typeface="Consolas" panose="020B0609020204030204" pitchFamily="49" charset="0"/>
                <a:cs typeface="Consolas" panose="020B0609020204030204" pitchFamily="49" charset="0"/>
              </a:rPr>
              <a:t> (look) at the front element of the queue</a:t>
            </a:r>
            <a:br>
              <a:rPr lang="en-US">
                <a:solidFill>
                  <a:srgbClr val="007B00"/>
                </a:solidFill>
                <a:latin typeface="Consolas" panose="020B0609020204030204" pitchFamily="49" charset="0"/>
                <a:cs typeface="Consolas" panose="020B0609020204030204" pitchFamily="49" charset="0"/>
              </a:rPr>
            </a:br>
            <a:r>
              <a:rPr lang="en-US">
                <a:solidFill>
                  <a:srgbClr val="007B00"/>
                </a:solidFill>
                <a:latin typeface="Consolas" panose="020B0609020204030204" pitchFamily="49" charset="0"/>
                <a:cs typeface="Consolas" panose="020B0609020204030204" pitchFamily="49" charset="0"/>
              </a:rPr>
              <a:t>// (without removing it) and return it.</a:t>
            </a:r>
            <a:br>
              <a:rPr lang="en-US">
                <a:latin typeface="Consolas" panose="020B0609020204030204" pitchFamily="49" charset="0"/>
                <a:cs typeface="Consolas" panose="020B0609020204030204" pitchFamily="49" charset="0"/>
              </a:rPr>
            </a:br>
            <a:r>
              <a:rPr lang="en-US" err="1">
                <a:solidFill>
                  <a:srgbClr val="000080"/>
                </a:solidFill>
                <a:latin typeface="Consolas" panose="020B0609020204030204" pitchFamily="49" charset="0"/>
                <a:cs typeface="Consolas" panose="020B0609020204030204" pitchFamily="49" charset="0"/>
              </a:rPr>
              <a:t>ElementType</a:t>
            </a:r>
            <a:r>
              <a:rPr lang="en-US">
                <a:latin typeface="Consolas" panose="020B0609020204030204" pitchFamily="49" charset="0"/>
                <a:cs typeface="Consolas" panose="020B0609020204030204" pitchFamily="49" charset="0"/>
              </a:rPr>
              <a:t> peek();</a:t>
            </a:r>
          </a:p>
          <a:p>
            <a:endParaRPr lang="en-US">
              <a:latin typeface="Consolas" panose="020B0609020204030204" pitchFamily="49" charset="0"/>
              <a:cs typeface="Consolas" panose="020B0609020204030204" pitchFamily="49" charset="0"/>
            </a:endParaRPr>
          </a:p>
          <a:p>
            <a:r>
              <a:rPr lang="en-US">
                <a:solidFill>
                  <a:srgbClr val="007B00"/>
                </a:solidFill>
                <a:latin typeface="Consolas" panose="020B0609020204030204" pitchFamily="49" charset="0"/>
                <a:cs typeface="Consolas" panose="020B0609020204030204" pitchFamily="49" charset="0"/>
              </a:rPr>
              <a:t>// Returns the number of elements currently in the queue</a:t>
            </a:r>
            <a:br>
              <a:rPr lang="en-US">
                <a:latin typeface="Consolas" panose="020B0609020204030204" pitchFamily="49" charset="0"/>
                <a:cs typeface="Consolas" panose="020B0609020204030204" pitchFamily="49" charset="0"/>
              </a:rPr>
            </a:br>
            <a:r>
              <a:rPr lang="en-US">
                <a:solidFill>
                  <a:srgbClr val="000080"/>
                </a:solidFill>
                <a:latin typeface="Consolas" panose="020B0609020204030204" pitchFamily="49" charset="0"/>
                <a:cs typeface="Consolas" panose="020B0609020204030204" pitchFamily="49" charset="0"/>
              </a:rPr>
              <a:t>int</a:t>
            </a:r>
            <a:r>
              <a:rPr lang="en-US">
                <a:latin typeface="Consolas" panose="020B0609020204030204" pitchFamily="49" charset="0"/>
                <a:cs typeface="Consolas" panose="020B0609020204030204" pitchFamily="49" charset="0"/>
              </a:rPr>
              <a:t> size();</a:t>
            </a:r>
          </a:p>
        </p:txBody>
      </p:sp>
    </p:spTree>
    <p:extLst>
      <p:ext uri="{BB962C8B-B14F-4D97-AF65-F5344CB8AC3E}">
        <p14:creationId xmlns:p14="http://schemas.microsoft.com/office/powerpoint/2010/main" val="2459830382"/>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322E5-9453-011E-F5B4-AF86A5F0C0CB}"/>
              </a:ext>
            </a:extLst>
          </p:cNvPr>
          <p:cNvSpPr>
            <a:spLocks noGrp="1"/>
          </p:cNvSpPr>
          <p:nvPr>
            <p:ph type="title"/>
          </p:nvPr>
        </p:nvSpPr>
        <p:spPr/>
        <p:txBody>
          <a:bodyPr/>
          <a:lstStyle/>
          <a:p>
            <a:r>
              <a:rPr lang="en-US"/>
              <a:t>stacks and queues</a:t>
            </a:r>
          </a:p>
        </p:txBody>
      </p:sp>
      <p:sp>
        <p:nvSpPr>
          <p:cNvPr id="3" name="Content Placeholder 2">
            <a:extLst>
              <a:ext uri="{FF2B5EF4-FFF2-40B4-BE49-F238E27FC236}">
                <a16:creationId xmlns:a16="http://schemas.microsoft.com/office/drawing/2014/main" id="{6437F1F0-2DBC-E67A-55FD-B473AB87AF91}"/>
              </a:ext>
            </a:extLst>
          </p:cNvPr>
          <p:cNvSpPr>
            <a:spLocks noGrp="1"/>
          </p:cNvSpPr>
          <p:nvPr>
            <p:ph sz="quarter" idx="10"/>
          </p:nvPr>
        </p:nvSpPr>
        <p:spPr/>
        <p:txBody>
          <a:bodyPr/>
          <a:lstStyle/>
          <a:p>
            <a:r>
              <a:rPr lang="en-US"/>
              <a:t>a stack is </a:t>
            </a:r>
            <a:r>
              <a:rPr lang="en-US" b="1"/>
              <a:t>FILO</a:t>
            </a:r>
            <a:r>
              <a:rPr lang="en-US"/>
              <a:t> (</a:t>
            </a:r>
            <a:r>
              <a:rPr lang="en-US" b="1"/>
              <a:t>first in last out</a:t>
            </a:r>
            <a:r>
              <a:rPr lang="en-US"/>
              <a:t>)</a:t>
            </a:r>
          </a:p>
          <a:p>
            <a:r>
              <a:rPr lang="en-US"/>
              <a:t>a queue is </a:t>
            </a:r>
            <a:r>
              <a:rPr lang="en-US" b="1"/>
              <a:t>FIFO</a:t>
            </a:r>
            <a:r>
              <a:rPr lang="en-US"/>
              <a:t> (</a:t>
            </a:r>
            <a:r>
              <a:rPr lang="en-US" b="1"/>
              <a:t>first in first out)</a:t>
            </a:r>
          </a:p>
          <a:p>
            <a:endParaRPr lang="en-US"/>
          </a:p>
        </p:txBody>
      </p:sp>
    </p:spTree>
    <p:extLst>
      <p:ext uri="{BB962C8B-B14F-4D97-AF65-F5344CB8AC3E}">
        <p14:creationId xmlns:p14="http://schemas.microsoft.com/office/powerpoint/2010/main" val="4083725708"/>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DE0913-5FE8-1A73-C59E-ABD6C33DAD6A}"/>
              </a:ext>
            </a:extLst>
          </p:cNvPr>
          <p:cNvSpPr>
            <a:spLocks noGrp="1"/>
          </p:cNvSpPr>
          <p:nvPr>
            <p:ph type="title"/>
          </p:nvPr>
        </p:nvSpPr>
        <p:spPr/>
        <p:txBody>
          <a:bodyPr/>
          <a:lstStyle/>
          <a:p>
            <a:pPr algn="l"/>
            <a:r>
              <a:rPr lang="en-US" sz="4800"/>
              <a:t>💭 what are some examples of stacks and queues in...</a:t>
            </a:r>
            <a:br>
              <a:rPr lang="en-US" sz="4800"/>
            </a:br>
            <a:r>
              <a:rPr lang="en-US" sz="4800"/>
              <a:t>- real life?</a:t>
            </a:r>
            <a:br>
              <a:rPr lang="en-US" sz="4800"/>
            </a:br>
            <a:r>
              <a:rPr lang="en-US" sz="4800"/>
              <a:t>- computers?</a:t>
            </a:r>
            <a:br>
              <a:rPr lang="en-US" sz="4800"/>
            </a:br>
            <a:r>
              <a:rPr lang="en-US" sz="4800"/>
              <a:t>- computer science?</a:t>
            </a:r>
          </a:p>
        </p:txBody>
      </p:sp>
    </p:spTree>
    <p:extLst>
      <p:ext uri="{BB962C8B-B14F-4D97-AF65-F5344CB8AC3E}">
        <p14:creationId xmlns:p14="http://schemas.microsoft.com/office/powerpoint/2010/main" val="858962480"/>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85EF80-5457-596A-951D-A33BC87F94EA}"/>
              </a:ext>
            </a:extLst>
          </p:cNvPr>
          <p:cNvPicPr>
            <a:picLocks noChangeAspect="1"/>
          </p:cNvPicPr>
          <p:nvPr/>
        </p:nvPicPr>
        <p:blipFill>
          <a:blip r:embed="rId2"/>
          <a:stretch>
            <a:fillRect/>
          </a:stretch>
        </p:blipFill>
        <p:spPr>
          <a:xfrm>
            <a:off x="438255" y="1498600"/>
            <a:ext cx="3816350" cy="2146300"/>
          </a:xfrm>
          <a:prstGeom prst="rect">
            <a:avLst/>
          </a:prstGeom>
          <a:ln>
            <a:solidFill>
              <a:schemeClr val="tx1"/>
            </a:solidFill>
          </a:ln>
        </p:spPr>
      </p:pic>
    </p:spTree>
    <p:extLst>
      <p:ext uri="{BB962C8B-B14F-4D97-AF65-F5344CB8AC3E}">
        <p14:creationId xmlns:p14="http://schemas.microsoft.com/office/powerpoint/2010/main" val="3536082358"/>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7ADFC-E1C7-F4E4-2AED-D8EC6A5AA7E2}"/>
            </a:ext>
          </a:extLst>
        </p:cNvPr>
        <p:cNvGrpSpPr/>
        <p:nvPr/>
      </p:nvGrpSpPr>
      <p:grpSpPr>
        <a:xfrm>
          <a:off x="0" y="0"/>
          <a:ext cx="0" cy="0"/>
          <a:chOff x="0" y="0"/>
          <a:chExt cx="0" cy="0"/>
        </a:xfrm>
      </p:grpSpPr>
      <p:pic>
        <p:nvPicPr>
          <p:cNvPr id="2" name="Picture 1" descr="〽️New Arrival Pringles Dill Pickle Flavored Potato Chips 5.5oz">
            <a:extLst>
              <a:ext uri="{FF2B5EF4-FFF2-40B4-BE49-F238E27FC236}">
                <a16:creationId xmlns:a16="http://schemas.microsoft.com/office/drawing/2014/main" id="{CC6C6EEE-AE58-2828-9010-C09D76078382}"/>
              </a:ext>
            </a:extLst>
          </p:cNvPr>
          <p:cNvPicPr>
            <a:picLocks noChangeAspect="1"/>
          </p:cNvPicPr>
          <p:nvPr/>
        </p:nvPicPr>
        <p:blipFill>
          <a:blip r:embed="rId2"/>
          <a:stretch>
            <a:fillRect/>
          </a:stretch>
        </p:blipFill>
        <p:spPr>
          <a:xfrm>
            <a:off x="3123247" y="643890"/>
            <a:ext cx="2897505" cy="3863340"/>
          </a:xfrm>
          <a:prstGeom prst="rect">
            <a:avLst/>
          </a:prstGeom>
        </p:spPr>
      </p:pic>
    </p:spTree>
    <p:extLst>
      <p:ext uri="{BB962C8B-B14F-4D97-AF65-F5344CB8AC3E}">
        <p14:creationId xmlns:p14="http://schemas.microsoft.com/office/powerpoint/2010/main" val="3570516238"/>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e Curious Case of Hyakumansan – Two Second Street">
            <a:extLst>
              <a:ext uri="{FF2B5EF4-FFF2-40B4-BE49-F238E27FC236}">
                <a16:creationId xmlns:a16="http://schemas.microsoft.com/office/drawing/2014/main" id="{C14083E8-0EC2-8F20-9034-51D60A94684C}"/>
              </a:ext>
            </a:extLst>
          </p:cNvPr>
          <p:cNvPicPr>
            <a:picLocks noChangeAspect="1"/>
          </p:cNvPicPr>
          <p:nvPr/>
        </p:nvPicPr>
        <p:blipFill>
          <a:blip r:embed="rId2"/>
          <a:stretch>
            <a:fillRect/>
          </a:stretch>
        </p:blipFill>
        <p:spPr>
          <a:xfrm>
            <a:off x="3123247" y="643890"/>
            <a:ext cx="2897505" cy="3863340"/>
          </a:xfrm>
          <a:prstGeom prst="rect">
            <a:avLst/>
          </a:prstGeom>
        </p:spPr>
      </p:pic>
    </p:spTree>
    <p:extLst>
      <p:ext uri="{BB962C8B-B14F-4D97-AF65-F5344CB8AC3E}">
        <p14:creationId xmlns:p14="http://schemas.microsoft.com/office/powerpoint/2010/main" val="1609019060"/>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2939F-8E34-566E-A032-EB5BBE716B0A}"/>
            </a:ext>
          </a:extLst>
        </p:cNvPr>
        <p:cNvGrpSpPr/>
        <p:nvPr/>
      </p:nvGrpSpPr>
      <p:grpSpPr>
        <a:xfrm>
          <a:off x="0" y="0"/>
          <a:ext cx="0" cy="0"/>
          <a:chOff x="0" y="0"/>
          <a:chExt cx="0" cy="0"/>
        </a:xfrm>
      </p:grpSpPr>
      <p:pic>
        <p:nvPicPr>
          <p:cNvPr id="9218" name="Picture 2" descr="How to Use the Print Queue for a HomeGroup Printer in Windows 7 - dummies">
            <a:extLst>
              <a:ext uri="{FF2B5EF4-FFF2-40B4-BE49-F238E27FC236}">
                <a16:creationId xmlns:a16="http://schemas.microsoft.com/office/drawing/2014/main" id="{0D48B8CE-C7B4-A3ED-A9E0-1098BC2D58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1774" y="1887026"/>
            <a:ext cx="4234998" cy="136944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How to Use the Print Queue for a HomeGroup Printer in Windows 7 - dummies">
            <a:extLst>
              <a:ext uri="{FF2B5EF4-FFF2-40B4-BE49-F238E27FC236}">
                <a16:creationId xmlns:a16="http://schemas.microsoft.com/office/drawing/2014/main" id="{BBCE4B2E-B74C-C6A5-A461-7B82C68B611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8915" r="81264"/>
          <a:stretch/>
        </p:blipFill>
        <p:spPr bwMode="auto">
          <a:xfrm>
            <a:off x="5153889" y="3455645"/>
            <a:ext cx="2951813" cy="564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8937436"/>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7E4592-B90A-34D5-A7DA-AD6C6A1B38B2}"/>
              </a:ext>
            </a:extLst>
          </p:cNvPr>
          <p:cNvSpPr>
            <a:spLocks noGrp="1"/>
          </p:cNvSpPr>
          <p:nvPr>
            <p:ph type="title"/>
          </p:nvPr>
        </p:nvSpPr>
        <p:spPr/>
        <p:txBody>
          <a:bodyPr/>
          <a:lstStyle/>
          <a:p>
            <a:r>
              <a:rPr lang="en-US" sz="3600"/>
              <a:t>[input buffering in Safari's address bar]</a:t>
            </a:r>
          </a:p>
        </p:txBody>
      </p:sp>
    </p:spTree>
    <p:extLst>
      <p:ext uri="{BB962C8B-B14F-4D97-AF65-F5344CB8AC3E}">
        <p14:creationId xmlns:p14="http://schemas.microsoft.com/office/powerpoint/2010/main" val="52977655"/>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4D570-D013-5E5B-AB27-12CB6D77321D}"/>
              </a:ext>
            </a:extLst>
          </p:cNvPr>
          <p:cNvSpPr>
            <a:spLocks noGrp="1"/>
          </p:cNvSpPr>
          <p:nvPr>
            <p:ph type="title"/>
          </p:nvPr>
        </p:nvSpPr>
        <p:spPr/>
        <p:txBody>
          <a:bodyPr/>
          <a:lstStyle/>
          <a:p>
            <a:r>
              <a:rPr lang="en-US" sz="4800"/>
              <a:t>Stack, Queue, and ArrayList</a:t>
            </a:r>
            <a:br>
              <a:rPr lang="en-US" sz="4800"/>
            </a:br>
            <a:r>
              <a:rPr lang="en-US" sz="3600"/>
              <a:t>(philosophies of Java vs Python)</a:t>
            </a:r>
            <a:endParaRPr lang="en-US" sz="4800"/>
          </a:p>
        </p:txBody>
      </p:sp>
    </p:spTree>
    <p:extLst>
      <p:ext uri="{BB962C8B-B14F-4D97-AF65-F5344CB8AC3E}">
        <p14:creationId xmlns:p14="http://schemas.microsoft.com/office/powerpoint/2010/main" val="3794724121"/>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EF307D-7A7E-74BD-E5A9-C2731A246766}"/>
              </a:ext>
            </a:extLst>
          </p:cNvPr>
          <p:cNvSpPr>
            <a:spLocks noGrp="1"/>
          </p:cNvSpPr>
          <p:nvPr>
            <p:ph type="title"/>
          </p:nvPr>
        </p:nvSpPr>
        <p:spPr/>
        <p:txBody>
          <a:bodyPr/>
          <a:lstStyle/>
          <a:p>
            <a:r>
              <a:rPr lang="en-US" sz="2800"/>
              <a:t>🧠</a:t>
            </a:r>
            <a:br>
              <a:rPr lang="en-US" sz="2800"/>
            </a:br>
            <a:r>
              <a:rPr lang="en-US" sz="2800"/>
              <a:t>why not just use ArrayList as a stack?</a:t>
            </a:r>
            <a:br>
              <a:rPr lang="en-US" sz="2800"/>
            </a:br>
            <a:r>
              <a:rPr lang="en-US" sz="2800"/>
              <a:t>what is the point of having a seperate Stack class?</a:t>
            </a:r>
            <a:br>
              <a:rPr lang="en-US" sz="2800"/>
            </a:br>
            <a:r>
              <a:rPr lang="en-US" sz="2800"/>
              <a:t>...isn't it literally just a less powerful ArrayList?</a:t>
            </a:r>
          </a:p>
        </p:txBody>
      </p:sp>
    </p:spTree>
    <p:extLst>
      <p:ext uri="{BB962C8B-B14F-4D97-AF65-F5344CB8AC3E}">
        <p14:creationId xmlns:p14="http://schemas.microsoft.com/office/powerpoint/2010/main" val="2104655308"/>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9D16E-B28B-95BE-C4AA-1D63979879D2}"/>
              </a:ext>
            </a:extLst>
          </p:cNvPr>
          <p:cNvSpPr>
            <a:spLocks noGrp="1"/>
          </p:cNvSpPr>
          <p:nvPr>
            <p:ph type="title"/>
          </p:nvPr>
        </p:nvSpPr>
        <p:spPr/>
        <p:txBody>
          <a:bodyPr/>
          <a:lstStyle/>
          <a:p>
            <a:r>
              <a:rPr lang="en-US"/>
              <a:t>well, Java loooves classes</a:t>
            </a:r>
          </a:p>
        </p:txBody>
      </p:sp>
      <p:pic>
        <p:nvPicPr>
          <p:cNvPr id="4" name="Picture 2">
            <a:extLst>
              <a:ext uri="{FF2B5EF4-FFF2-40B4-BE49-F238E27FC236}">
                <a16:creationId xmlns:a16="http://schemas.microsoft.com/office/drawing/2014/main" id="{53098F29-229C-179D-D8A5-3CDF67FDDE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365" y="922084"/>
            <a:ext cx="7081798" cy="35409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Pyramide à renverser - The poster shows a social stratification pyramid which symbolises class society. At the top we can see King Leopold II.">
            <a:extLst>
              <a:ext uri="{FF2B5EF4-FFF2-40B4-BE49-F238E27FC236}">
                <a16:creationId xmlns:a16="http://schemas.microsoft.com/office/drawing/2014/main" id="{C14C065E-6EFF-AEAA-6109-6F369C4ACF38}"/>
              </a:ext>
            </a:extLst>
          </p:cNvPr>
          <p:cNvPicPr>
            <a:picLocks noChangeAspect="1"/>
          </p:cNvPicPr>
          <p:nvPr/>
        </p:nvPicPr>
        <p:blipFill>
          <a:blip r:embed="rId3"/>
          <a:stretch>
            <a:fillRect/>
          </a:stretch>
        </p:blipFill>
        <p:spPr>
          <a:xfrm>
            <a:off x="7063296" y="2571750"/>
            <a:ext cx="2080704" cy="2571750"/>
          </a:xfrm>
          <a:prstGeom prst="rect">
            <a:avLst/>
          </a:prstGeom>
        </p:spPr>
      </p:pic>
    </p:spTree>
    <p:extLst>
      <p:ext uri="{BB962C8B-B14F-4D97-AF65-F5344CB8AC3E}">
        <p14:creationId xmlns:p14="http://schemas.microsoft.com/office/powerpoint/2010/main" val="1563941027"/>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B957C-C2FF-03AA-A075-521EA698CAC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554487E-3D50-2E0E-717D-2C4AA587B81F}"/>
              </a:ext>
            </a:extLst>
          </p:cNvPr>
          <p:cNvPicPr>
            <a:picLocks noChangeAspect="1"/>
          </p:cNvPicPr>
          <p:nvPr/>
        </p:nvPicPr>
        <p:blipFill>
          <a:blip r:embed="rId2"/>
          <a:stretch>
            <a:fillRect/>
          </a:stretch>
        </p:blipFill>
        <p:spPr>
          <a:xfrm>
            <a:off x="457200" y="1437646"/>
            <a:ext cx="6355221" cy="3510872"/>
          </a:xfrm>
          <a:prstGeom prst="rect">
            <a:avLst/>
          </a:prstGeom>
        </p:spPr>
      </p:pic>
      <p:sp>
        <p:nvSpPr>
          <p:cNvPr id="2" name="Title 1">
            <a:extLst>
              <a:ext uri="{FF2B5EF4-FFF2-40B4-BE49-F238E27FC236}">
                <a16:creationId xmlns:a16="http://schemas.microsoft.com/office/drawing/2014/main" id="{E4513E59-306A-BC3B-3326-F7239CCA7481}"/>
              </a:ext>
            </a:extLst>
          </p:cNvPr>
          <p:cNvSpPr>
            <a:spLocks noGrp="1"/>
          </p:cNvSpPr>
          <p:nvPr>
            <p:ph type="title"/>
          </p:nvPr>
        </p:nvSpPr>
        <p:spPr>
          <a:xfrm>
            <a:off x="457200" y="254915"/>
            <a:ext cx="8229600" cy="905373"/>
          </a:xfrm>
        </p:spPr>
        <p:txBody>
          <a:bodyPr/>
          <a:lstStyle/>
          <a:p>
            <a:r>
              <a:rPr lang="en-US">
                <a:latin typeface="Arial" panose="020B0604020202020204" pitchFamily="34" charset="0"/>
                <a:cs typeface="Arial" panose="020B0604020202020204" pitchFamily="34" charset="0"/>
              </a:rPr>
              <a:t>but Python favors </a:t>
            </a:r>
            <a:r>
              <a:rPr lang="en-US">
                <a:latin typeface="Zapfino" panose="03030300040707070C03" pitchFamily="66" charset="77"/>
                <a:cs typeface="Arial" panose="020B0604020202020204" pitchFamily="34" charset="0"/>
              </a:rPr>
              <a:t>elegance</a:t>
            </a:r>
          </a:p>
        </p:txBody>
      </p:sp>
      <p:pic>
        <p:nvPicPr>
          <p:cNvPr id="2050" name="Picture 2" descr="Fancy snake by SuffelPuff on DeviantArt">
            <a:extLst>
              <a:ext uri="{FF2B5EF4-FFF2-40B4-BE49-F238E27FC236}">
                <a16:creationId xmlns:a16="http://schemas.microsoft.com/office/drawing/2014/main" id="{450862BE-0153-BAAF-5EA1-F6BB23FC42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64400" y="3263900"/>
            <a:ext cx="1879600" cy="187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7608291"/>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My response when my preteen son keeps judging my fashion choices :  r/futurama">
            <a:extLst>
              <a:ext uri="{FF2B5EF4-FFF2-40B4-BE49-F238E27FC236}">
                <a16:creationId xmlns:a16="http://schemas.microsoft.com/office/drawing/2014/main" id="{F1D3B3DC-AF33-F1EB-A08A-484ADF1DAEDB}"/>
              </a:ext>
            </a:extLst>
          </p:cNvPr>
          <p:cNvPicPr>
            <a:picLocks noChangeAspect="1"/>
          </p:cNvPicPr>
          <p:nvPr/>
        </p:nvPicPr>
        <p:blipFill>
          <a:blip r:embed="rId2"/>
          <a:stretch>
            <a:fillRect/>
          </a:stretch>
        </p:blipFill>
        <p:spPr>
          <a:xfrm>
            <a:off x="3427475" y="1713539"/>
            <a:ext cx="2289050" cy="1721224"/>
          </a:xfrm>
          <a:prstGeom prst="rect">
            <a:avLst/>
          </a:prstGeom>
        </p:spPr>
      </p:pic>
    </p:spTree>
    <p:extLst>
      <p:ext uri="{BB962C8B-B14F-4D97-AF65-F5344CB8AC3E}">
        <p14:creationId xmlns:p14="http://schemas.microsoft.com/office/powerpoint/2010/main" val="3879843615"/>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8CBDE-3394-193F-1821-A926232D92F5}"/>
              </a:ext>
            </a:extLst>
          </p:cNvPr>
          <p:cNvSpPr>
            <a:spLocks noGrp="1"/>
          </p:cNvSpPr>
          <p:nvPr>
            <p:ph type="title"/>
          </p:nvPr>
        </p:nvSpPr>
        <p:spPr/>
        <p:txBody>
          <a:bodyPr/>
          <a:lstStyle/>
          <a:p>
            <a:r>
              <a:rPr lang="en-US" sz="7200"/>
              <a:t>Stack and Queue tutorial</a:t>
            </a:r>
            <a:br>
              <a:rPr lang="en-US" sz="7200"/>
            </a:br>
            <a:r>
              <a:rPr lang="en-US" sz="7200"/>
              <a:t>💻</a:t>
            </a:r>
          </a:p>
        </p:txBody>
      </p:sp>
    </p:spTree>
    <p:extLst>
      <p:ext uri="{BB962C8B-B14F-4D97-AF65-F5344CB8AC3E}">
        <p14:creationId xmlns:p14="http://schemas.microsoft.com/office/powerpoint/2010/main" val="1956231413"/>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654E2F1-5BE2-EE9E-FB6C-4769FC00C4FB}"/>
              </a:ext>
            </a:extLst>
          </p:cNvPr>
          <p:cNvSpPr txBox="1"/>
          <p:nvPr/>
        </p:nvSpPr>
        <p:spPr>
          <a:xfrm>
            <a:off x="358346" y="-59738"/>
            <a:ext cx="8396548" cy="5262979"/>
          </a:xfrm>
          <a:prstGeom prst="rect">
            <a:avLst/>
          </a:prstGeom>
          <a:noFill/>
        </p:spPr>
        <p:txBody>
          <a:bodyPr wrap="square" rtlCol="0" anchor="ctr">
            <a:spAutoFit/>
          </a:bodyPr>
          <a:lstStyle/>
          <a:p>
            <a:r>
              <a:rPr lang="en-US" sz="3200" b="1">
                <a:solidFill>
                  <a:schemeClr val="accent4"/>
                </a:solidFill>
              </a:rPr>
              <a:t>ANNOUNCEMENTS</a:t>
            </a:r>
            <a:br>
              <a:rPr lang="en-US" sz="2400" b="1">
                <a:solidFill>
                  <a:schemeClr val="accent4"/>
                </a:solidFill>
              </a:rPr>
            </a:br>
            <a:r>
              <a:rPr lang="en-US" sz="2400">
                <a:solidFill>
                  <a:schemeClr val="accent4"/>
                </a:solidFill>
              </a:rPr>
              <a:t>today is Laptop Wednesday!</a:t>
            </a:r>
          </a:p>
          <a:p>
            <a:r>
              <a:rPr lang="en-US" sz="2400">
                <a:solidFill>
                  <a:schemeClr val="accent4"/>
                </a:solidFill>
              </a:rPr>
              <a:t>replace interpret(...token</a:t>
            </a:r>
            <a:r>
              <a:rPr lang="en-US" sz="2400" b="1" u="sng">
                <a:solidFill>
                  <a:schemeClr val="accent4"/>
                </a:solidFill>
              </a:rPr>
              <a:t>s</a:t>
            </a:r>
            <a:r>
              <a:rPr lang="en-US" sz="2400">
                <a:solidFill>
                  <a:schemeClr val="accent4"/>
                </a:solidFill>
              </a:rPr>
              <a:t>) with version from </a:t>
            </a:r>
            <a:r>
              <a:rPr lang="en-US" sz="2400" b="1" u="sng">
                <a:solidFill>
                  <a:schemeClr val="accent4"/>
                </a:solidFill>
              </a:rPr>
              <a:t>the Writeup </a:t>
            </a:r>
          </a:p>
          <a:p>
            <a:br>
              <a:rPr lang="en-US" sz="2400" b="1"/>
            </a:br>
            <a:r>
              <a:rPr lang="en-US" sz="3200" b="1">
                <a:solidFill>
                  <a:schemeClr val="accent5"/>
                </a:solidFill>
              </a:rPr>
              <a:t>WARMUP</a:t>
            </a:r>
            <a:br>
              <a:rPr lang="en-US" sz="2400" b="1">
                <a:solidFill>
                  <a:schemeClr val="accent5"/>
                </a:solidFill>
              </a:rPr>
            </a:br>
            <a:r>
              <a:rPr lang="en-US" sz="2400">
                <a:solidFill>
                  <a:schemeClr val="accent5"/>
                </a:solidFill>
              </a:rPr>
              <a:t>a couple (slightly silly) interview questions</a:t>
            </a:r>
          </a:p>
          <a:p>
            <a:r>
              <a:rPr lang="en-US" sz="2400">
                <a:solidFill>
                  <a:schemeClr val="accent5"/>
                </a:solidFill>
                <a:sym typeface="Wingdings" pitchFamily="2" charset="2"/>
              </a:rPr>
              <a:t>- implement a stack using a (basic) queue</a:t>
            </a:r>
          </a:p>
          <a:p>
            <a:r>
              <a:rPr lang="en-US" sz="2400">
                <a:solidFill>
                  <a:schemeClr val="accent5"/>
                </a:solidFill>
                <a:sym typeface="Wingdings" pitchFamily="2" charset="2"/>
              </a:rPr>
              <a:t>  - just implement push and pop (and peek?)</a:t>
            </a:r>
          </a:p>
          <a:p>
            <a:r>
              <a:rPr lang="en-US" sz="2400">
                <a:solidFill>
                  <a:schemeClr val="accent5"/>
                </a:solidFill>
                <a:sym typeface="Wingdings" pitchFamily="2" charset="2"/>
              </a:rPr>
              <a:t>  - (don't worry about efficiency)</a:t>
            </a:r>
          </a:p>
          <a:p>
            <a:r>
              <a:rPr lang="en-US" sz="2400">
                <a:solidFill>
                  <a:schemeClr val="accent5"/>
                </a:solidFill>
                <a:sym typeface="Wingdings" pitchFamily="2" charset="2"/>
              </a:rPr>
              <a:t>  - pseudocode is fine</a:t>
            </a:r>
          </a:p>
          <a:p>
            <a:r>
              <a:rPr lang="en-US" sz="2400">
                <a:solidFill>
                  <a:schemeClr val="accent5"/>
                </a:solidFill>
                <a:sym typeface="Wingdings" pitchFamily="2" charset="2"/>
              </a:rPr>
              <a:t>  - what is the runtime (big O)?</a:t>
            </a:r>
          </a:p>
          <a:p>
            <a:r>
              <a:rPr lang="en-US" sz="2400">
                <a:solidFill>
                  <a:schemeClr val="accent5"/>
                </a:solidFill>
                <a:sym typeface="Wingdings" pitchFamily="2" charset="2"/>
              </a:rPr>
              <a:t>- implement a queue using 2 stacks</a:t>
            </a:r>
            <a:br>
              <a:rPr lang="en-US" sz="2400"/>
            </a:br>
            <a:r>
              <a:rPr lang="en-US" sz="3200" b="1">
                <a:solidFill>
                  <a:schemeClr val="accent6"/>
                </a:solidFill>
              </a:rPr>
              <a:t>TODAY</a:t>
            </a:r>
            <a:r>
              <a:rPr lang="en-US" sz="2400" b="1">
                <a:solidFill>
                  <a:schemeClr val="accent6"/>
                </a:solidFill>
              </a:rPr>
              <a:t> </a:t>
            </a:r>
            <a:r>
              <a:rPr lang="en-US" sz="2400">
                <a:solidFill>
                  <a:schemeClr val="accent6"/>
                </a:solidFill>
              </a:rPr>
              <a:t>stacks and queue tutorial</a:t>
            </a:r>
          </a:p>
        </p:txBody>
      </p:sp>
      <p:pic>
        <p:nvPicPr>
          <p:cNvPr id="2" name="Picture 2" descr="Stack Operations in Data Structure | Scaler Topics">
            <a:extLst>
              <a:ext uri="{FF2B5EF4-FFF2-40B4-BE49-F238E27FC236}">
                <a16:creationId xmlns:a16="http://schemas.microsoft.com/office/drawing/2014/main" id="{011938B1-1D2B-C47E-CBE4-BAC5078349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41" t="13272" r="36733" b="32778"/>
          <a:stretch/>
        </p:blipFill>
        <p:spPr bwMode="auto">
          <a:xfrm>
            <a:off x="7174795" y="1799441"/>
            <a:ext cx="1746555" cy="177808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882966F7-689B-F000-E1E3-7EECC4A6C2BE}"/>
              </a:ext>
            </a:extLst>
          </p:cNvPr>
          <p:cNvPicPr>
            <a:picLocks noChangeAspect="1"/>
          </p:cNvPicPr>
          <p:nvPr/>
        </p:nvPicPr>
        <p:blipFill>
          <a:blip r:embed="rId3"/>
          <a:stretch>
            <a:fillRect/>
          </a:stretch>
        </p:blipFill>
        <p:spPr>
          <a:xfrm>
            <a:off x="5529505" y="3791864"/>
            <a:ext cx="3391845" cy="1158843"/>
          </a:xfrm>
          <a:prstGeom prst="rect">
            <a:avLst/>
          </a:prstGeom>
        </p:spPr>
      </p:pic>
    </p:spTree>
    <p:extLst>
      <p:ext uri="{BB962C8B-B14F-4D97-AF65-F5344CB8AC3E}">
        <p14:creationId xmlns:p14="http://schemas.microsoft.com/office/powerpoint/2010/main" val="3453393657"/>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B2A65-61CA-2E59-7DAA-1D7E7245BF5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F71C830-3086-7E2D-39AF-BB80F4353F36}"/>
              </a:ext>
            </a:extLst>
          </p:cNvPr>
          <p:cNvSpPr>
            <a:spLocks noGrp="1"/>
          </p:cNvSpPr>
          <p:nvPr>
            <p:ph type="title"/>
          </p:nvPr>
        </p:nvSpPr>
        <p:spPr>
          <a:xfrm>
            <a:off x="457200" y="254916"/>
            <a:ext cx="8229600" cy="1893924"/>
          </a:xfrm>
        </p:spPr>
        <p:txBody>
          <a:bodyPr/>
          <a:lstStyle/>
          <a:p>
            <a:r>
              <a:rPr lang="en-US" sz="8800"/>
              <a:t>Week05b</a:t>
            </a:r>
          </a:p>
        </p:txBody>
      </p:sp>
      <p:sp>
        <p:nvSpPr>
          <p:cNvPr id="6" name="Content Placeholder 5">
            <a:extLst>
              <a:ext uri="{FF2B5EF4-FFF2-40B4-BE49-F238E27FC236}">
                <a16:creationId xmlns:a16="http://schemas.microsoft.com/office/drawing/2014/main" id="{03F5F3ED-84F7-A99E-02E5-A60100E36A2D}"/>
              </a:ext>
            </a:extLst>
          </p:cNvPr>
          <p:cNvSpPr>
            <a:spLocks noGrp="1"/>
          </p:cNvSpPr>
          <p:nvPr>
            <p:ph sz="quarter" idx="10"/>
          </p:nvPr>
        </p:nvSpPr>
        <p:spPr>
          <a:xfrm>
            <a:off x="457200" y="1993732"/>
            <a:ext cx="2846934" cy="2894013"/>
          </a:xfrm>
        </p:spPr>
        <p:txBody>
          <a:bodyPr>
            <a:noAutofit/>
          </a:bodyPr>
          <a:lstStyle/>
          <a:p>
            <a:r>
              <a:rPr lang="en-US"/>
              <a:t>stack &amp; queue tutorial</a:t>
            </a:r>
          </a:p>
        </p:txBody>
      </p:sp>
      <p:sp>
        <p:nvSpPr>
          <p:cNvPr id="2" name="TextBox 1">
            <a:extLst>
              <a:ext uri="{FF2B5EF4-FFF2-40B4-BE49-F238E27FC236}">
                <a16:creationId xmlns:a16="http://schemas.microsoft.com/office/drawing/2014/main" id="{50721698-B7C4-AA93-EEE0-76F3295342F2}"/>
              </a:ext>
            </a:extLst>
          </p:cNvPr>
          <p:cNvSpPr txBox="1"/>
          <p:nvPr/>
        </p:nvSpPr>
        <p:spPr>
          <a:xfrm>
            <a:off x="4861834" y="610921"/>
            <a:ext cx="3077936" cy="369332"/>
          </a:xfrm>
          <a:prstGeom prst="rect">
            <a:avLst/>
          </a:prstGeom>
          <a:noFill/>
        </p:spPr>
        <p:txBody>
          <a:bodyPr wrap="square" rtlCol="0">
            <a:spAutoFit/>
          </a:bodyPr>
          <a:lstStyle/>
          <a:p>
            <a:r>
              <a:rPr lang="en-US" b="1">
                <a:solidFill>
                  <a:srgbClr val="F80B8D"/>
                </a:solidFill>
              </a:rPr>
              <a:t>TODO:</a:t>
            </a:r>
            <a:r>
              <a:rPr lang="en-US">
                <a:solidFill>
                  <a:srgbClr val="F80B8D"/>
                </a:solidFill>
              </a:rPr>
              <a:t> record lecture</a:t>
            </a:r>
          </a:p>
        </p:txBody>
      </p:sp>
      <p:sp>
        <p:nvSpPr>
          <p:cNvPr id="3" name="TextBox 2">
            <a:extLst>
              <a:ext uri="{FF2B5EF4-FFF2-40B4-BE49-F238E27FC236}">
                <a16:creationId xmlns:a16="http://schemas.microsoft.com/office/drawing/2014/main" id="{41E13668-033E-3930-FE29-0B4839F3861C}"/>
              </a:ext>
            </a:extLst>
          </p:cNvPr>
          <p:cNvSpPr txBox="1"/>
          <p:nvPr/>
        </p:nvSpPr>
        <p:spPr>
          <a:xfrm>
            <a:off x="-79289" y="157769"/>
            <a:ext cx="4555307" cy="769441"/>
          </a:xfrm>
          <a:prstGeom prst="rect">
            <a:avLst/>
          </a:prstGeom>
          <a:noFill/>
        </p:spPr>
        <p:txBody>
          <a:bodyPr wrap="square">
            <a:spAutoFit/>
          </a:bodyPr>
          <a:lstStyle/>
          <a:p>
            <a:pPr algn="ctr"/>
            <a:r>
              <a:rPr kumimoji="0" lang="en-US" sz="44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 🦜     🦜🦜</a:t>
            </a:r>
            <a:endParaRPr lang="en-US" sz="4400"/>
          </a:p>
        </p:txBody>
      </p:sp>
      <p:sp>
        <p:nvSpPr>
          <p:cNvPr id="7" name="TextBox 6">
            <a:extLst>
              <a:ext uri="{FF2B5EF4-FFF2-40B4-BE49-F238E27FC236}">
                <a16:creationId xmlns:a16="http://schemas.microsoft.com/office/drawing/2014/main" id="{F59B6393-27AE-5441-0EE1-35EE6B066C54}"/>
              </a:ext>
            </a:extLst>
          </p:cNvPr>
          <p:cNvSpPr txBox="1"/>
          <p:nvPr/>
        </p:nvSpPr>
        <p:spPr>
          <a:xfrm>
            <a:off x="3292356" y="1902312"/>
            <a:ext cx="5640082" cy="2677656"/>
          </a:xfrm>
          <a:prstGeom prst="rect">
            <a:avLst/>
          </a:prstGeom>
          <a:solidFill>
            <a:schemeClr val="accent3">
              <a:lumMod val="40000"/>
              <a:lumOff val="60000"/>
            </a:schemeClr>
          </a:solidFill>
          <a:ln>
            <a:solidFill>
              <a:schemeClr val="tx1"/>
            </a:solidFill>
          </a:ln>
        </p:spPr>
        <p:txBody>
          <a:bodyPr wrap="square" rtlCol="0">
            <a:spAutoFit/>
          </a:bodyPr>
          <a:lstStyle/>
          <a:p>
            <a:r>
              <a:rPr lang="en-US" sz="2800" b="1">
                <a:latin typeface="Arial" panose="020B0604020202020204" pitchFamily="34" charset="0"/>
                <a:cs typeface="Arial" panose="020B0604020202020204" pitchFamily="34" charset="0"/>
              </a:rPr>
              <a:t>WARMUP</a:t>
            </a:r>
            <a:br>
              <a:rPr lang="en-US" sz="2000" b="1">
                <a:latin typeface="Arial" panose="020B0604020202020204" pitchFamily="34" charset="0"/>
                <a:cs typeface="Arial" panose="020B0604020202020204" pitchFamily="34" charset="0"/>
              </a:rPr>
            </a:br>
            <a:r>
              <a:rPr lang="en-US" sz="2000" b="1">
                <a:latin typeface="Arial" panose="020B0604020202020204" pitchFamily="34" charset="0"/>
                <a:cs typeface="Arial" panose="020B0604020202020204" pitchFamily="34" charset="0"/>
              </a:rPr>
              <a:t>two silly interview questions:</a:t>
            </a:r>
          </a:p>
          <a:p>
            <a:r>
              <a:rPr lang="en-US" sz="2000">
                <a:latin typeface="Arial" panose="020B0604020202020204" pitchFamily="34" charset="0"/>
                <a:cs typeface="Arial" panose="020B0604020202020204" pitchFamily="34" charset="0"/>
                <a:sym typeface="Wingdings" pitchFamily="2" charset="2"/>
              </a:rPr>
              <a:t>- implement a stack using 1 queue</a:t>
            </a:r>
          </a:p>
          <a:p>
            <a:r>
              <a:rPr lang="en-US" sz="2000">
                <a:latin typeface="Arial" panose="020B0604020202020204" pitchFamily="34" charset="0"/>
                <a:cs typeface="Arial" panose="020B0604020202020204" pitchFamily="34" charset="0"/>
                <a:sym typeface="Wingdings" pitchFamily="2" charset="2"/>
              </a:rPr>
              <a:t>  - pseudocode is fine</a:t>
            </a:r>
          </a:p>
          <a:p>
            <a:r>
              <a:rPr lang="en-US" sz="2000">
                <a:latin typeface="Arial" panose="020B0604020202020204" pitchFamily="34" charset="0"/>
                <a:cs typeface="Arial" panose="020B0604020202020204" pitchFamily="34" charset="0"/>
                <a:sym typeface="Wingdings" pitchFamily="2" charset="2"/>
              </a:rPr>
              <a:t>  - (push and pop (and peek?))</a:t>
            </a:r>
          </a:p>
          <a:p>
            <a:r>
              <a:rPr lang="en-US" sz="2000">
                <a:latin typeface="Arial" panose="020B0604020202020204" pitchFamily="34" charset="0"/>
                <a:cs typeface="Arial" panose="020B0604020202020204" pitchFamily="34" charset="0"/>
                <a:sym typeface="Wingdings" pitchFamily="2" charset="2"/>
              </a:rPr>
              <a:t>  - what is the runtime (big O)?—slow is OK </a:t>
            </a:r>
            <a:r>
              <a:rPr lang="en-US" sz="2000">
                <a:latin typeface="Arial" panose="020B0604020202020204" pitchFamily="34" charset="0"/>
                <a:ea typeface="Segoe UI Emoji" panose="020B0502040204020203" pitchFamily="34" charset="0"/>
                <a:cs typeface="Arial" panose="020B0604020202020204" pitchFamily="34" charset="0"/>
                <a:sym typeface="Wingdings" pitchFamily="2" charset="2"/>
              </a:rPr>
              <a:t>😴</a:t>
            </a:r>
          </a:p>
          <a:p>
            <a:r>
              <a:rPr lang="en-US" sz="2000">
                <a:latin typeface="Arial" panose="020B0604020202020204" pitchFamily="34" charset="0"/>
                <a:cs typeface="Arial" panose="020B0604020202020204" pitchFamily="34" charset="0"/>
                <a:sym typeface="Wingdings" pitchFamily="2" charset="2"/>
              </a:rPr>
              <a:t>- implement a queue using 2 stacks</a:t>
            </a:r>
          </a:p>
          <a:p>
            <a:r>
              <a:rPr lang="en-US" sz="2000">
                <a:latin typeface="Arial" panose="020B0604020202020204" pitchFamily="34" charset="0"/>
                <a:cs typeface="Arial" panose="020B0604020202020204" pitchFamily="34" charset="0"/>
                <a:sym typeface="Wingdings" pitchFamily="2" charset="2"/>
              </a:rPr>
              <a:t>  - ...</a:t>
            </a:r>
            <a:endParaRPr lang="en-US" sz="200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C71F4FCB-6607-9D5F-E4E1-1714192A7A3F}"/>
              </a:ext>
            </a:extLst>
          </p:cNvPr>
          <p:cNvSpPr txBox="1"/>
          <p:nvPr/>
        </p:nvSpPr>
        <p:spPr>
          <a:xfrm>
            <a:off x="4028730" y="149256"/>
            <a:ext cx="4903708" cy="523220"/>
          </a:xfrm>
          <a:prstGeom prst="rect">
            <a:avLst/>
          </a:prstGeom>
          <a:noFill/>
        </p:spPr>
        <p:txBody>
          <a:bodyPr wrap="square" rtlCol="0">
            <a:spAutoFit/>
          </a:bodyPr>
          <a:lstStyle/>
          <a:p>
            <a:pPr algn="ctr"/>
            <a:r>
              <a:rPr lang="en-US" sz="2800">
                <a:solidFill>
                  <a:srgbClr val="000000"/>
                </a:solidFill>
                <a:ea typeface="Segoe UI Emoji" panose="020B0502040204020203" pitchFamily="34" charset="0"/>
              </a:rPr>
              <a:t>✨</a:t>
            </a:r>
            <a:r>
              <a:rPr lang="en-US" sz="2800" b="1">
                <a:solidFill>
                  <a:srgbClr val="F80B8D"/>
                </a:solidFill>
              </a:rPr>
              <a:t>Laptop Wednesday!</a:t>
            </a:r>
            <a:r>
              <a:rPr lang="en-US" sz="2800">
                <a:solidFill>
                  <a:srgbClr val="000000"/>
                </a:solidFill>
                <a:ea typeface="Segoe UI Emoji" panose="020B0502040204020203" pitchFamily="34" charset="0"/>
              </a:rPr>
              <a:t> ✨</a:t>
            </a:r>
            <a:endParaRPr lang="en-US" sz="2400">
              <a:solidFill>
                <a:srgbClr val="F80B8D"/>
              </a:solidFill>
            </a:endParaRPr>
          </a:p>
        </p:txBody>
      </p:sp>
      <p:sp>
        <p:nvSpPr>
          <p:cNvPr id="9" name="TextBox 8">
            <a:extLst>
              <a:ext uri="{FF2B5EF4-FFF2-40B4-BE49-F238E27FC236}">
                <a16:creationId xmlns:a16="http://schemas.microsoft.com/office/drawing/2014/main" id="{B7402860-858F-081A-83AB-D5648079A49F}"/>
              </a:ext>
            </a:extLst>
          </p:cNvPr>
          <p:cNvSpPr txBox="1"/>
          <p:nvPr/>
        </p:nvSpPr>
        <p:spPr>
          <a:xfrm rot="1800000">
            <a:off x="1854573" y="765635"/>
            <a:ext cx="454075" cy="369332"/>
          </a:xfrm>
          <a:prstGeom prst="rect">
            <a:avLst/>
          </a:prstGeom>
          <a:noFill/>
        </p:spPr>
        <p:txBody>
          <a:bodyPr wrap="square">
            <a:spAutoFit/>
          </a:bodyPr>
          <a:lstStyle/>
          <a:p>
            <a:r>
              <a:rPr kumimoji="0" lang="en-US" sz="1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a:p>
        </p:txBody>
      </p:sp>
      <p:sp>
        <p:nvSpPr>
          <p:cNvPr id="10" name="TextBox 9">
            <a:extLst>
              <a:ext uri="{FF2B5EF4-FFF2-40B4-BE49-F238E27FC236}">
                <a16:creationId xmlns:a16="http://schemas.microsoft.com/office/drawing/2014/main" id="{750049F9-433C-D6ED-1BD7-0382FCC9295A}"/>
              </a:ext>
            </a:extLst>
          </p:cNvPr>
          <p:cNvSpPr txBox="1"/>
          <p:nvPr/>
        </p:nvSpPr>
        <p:spPr>
          <a:xfrm>
            <a:off x="4494881" y="957591"/>
            <a:ext cx="4903708" cy="830997"/>
          </a:xfrm>
          <a:prstGeom prst="rect">
            <a:avLst/>
          </a:prstGeom>
          <a:noFill/>
        </p:spPr>
        <p:txBody>
          <a:bodyPr wrap="square" rtlCol="0">
            <a:spAutoFit/>
          </a:bodyPr>
          <a:lstStyle/>
          <a:p>
            <a:pPr algn="ctr"/>
            <a:r>
              <a:rPr lang="en-US" sz="2800" b="1">
                <a:solidFill>
                  <a:srgbClr val="04A6ED"/>
                </a:solidFill>
                <a:ea typeface="Segoe UI Emoji" panose="020B0502040204020203" pitchFamily="34" charset="0"/>
              </a:rPr>
              <a:t>HW05 is due Oct21</a:t>
            </a:r>
          </a:p>
          <a:p>
            <a:pPr algn="ctr"/>
            <a:r>
              <a:rPr lang="en-US">
                <a:solidFill>
                  <a:srgbClr val="04A6ED"/>
                </a:solidFill>
                <a:ea typeface="Segoe UI Emoji" panose="020B0502040204020203" pitchFamily="34" charset="0"/>
              </a:rPr>
              <a:t>(catch up; study for midterm)</a:t>
            </a:r>
            <a:endParaRPr lang="en-US" sz="1600">
              <a:solidFill>
                <a:srgbClr val="04A6ED"/>
              </a:solidFill>
            </a:endParaRPr>
          </a:p>
        </p:txBody>
      </p:sp>
    </p:spTree>
    <p:extLst>
      <p:ext uri="{BB962C8B-B14F-4D97-AF65-F5344CB8AC3E}">
        <p14:creationId xmlns:p14="http://schemas.microsoft.com/office/powerpoint/2010/main" val="883559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FE5DD12-16FA-7A20-0D38-28BA74E5E336}"/>
              </a:ext>
            </a:extLst>
          </p:cNvPr>
          <p:cNvSpPr>
            <a:spLocks noGrp="1"/>
          </p:cNvSpPr>
          <p:nvPr>
            <p:ph type="title"/>
          </p:nvPr>
        </p:nvSpPr>
        <p:spPr/>
        <p:txBody>
          <a:bodyPr/>
          <a:lstStyle/>
          <a:p>
            <a:r>
              <a:rPr lang="en-US" sz="4000"/>
              <a:t>[mildly interesting animation thing]</a:t>
            </a:r>
          </a:p>
        </p:txBody>
      </p:sp>
    </p:spTree>
    <p:extLst>
      <p:ext uri="{BB962C8B-B14F-4D97-AF65-F5344CB8AC3E}">
        <p14:creationId xmlns:p14="http://schemas.microsoft.com/office/powerpoint/2010/main" val="2397587424"/>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654E2F1-5BE2-EE9E-FB6C-4769FC00C4FB}"/>
              </a:ext>
            </a:extLst>
          </p:cNvPr>
          <p:cNvSpPr txBox="1"/>
          <p:nvPr/>
        </p:nvSpPr>
        <p:spPr>
          <a:xfrm>
            <a:off x="358346" y="124928"/>
            <a:ext cx="8396548" cy="4893647"/>
          </a:xfrm>
          <a:prstGeom prst="rect">
            <a:avLst/>
          </a:prstGeom>
          <a:noFill/>
        </p:spPr>
        <p:txBody>
          <a:bodyPr wrap="square" rtlCol="0" anchor="ctr">
            <a:spAutoFit/>
          </a:bodyPr>
          <a:lstStyle/>
          <a:p>
            <a:r>
              <a:rPr lang="en-US" sz="3200" b="1">
                <a:solidFill>
                  <a:schemeClr val="accent4"/>
                </a:solidFill>
              </a:rPr>
              <a:t>ANNOUNCEMENTS</a:t>
            </a:r>
            <a:br>
              <a:rPr lang="en-US" sz="2400" b="1">
                <a:solidFill>
                  <a:schemeClr val="accent4"/>
                </a:solidFill>
              </a:rPr>
            </a:br>
            <a:r>
              <a:rPr lang="en-US" sz="2400">
                <a:solidFill>
                  <a:schemeClr val="accent4"/>
                </a:solidFill>
              </a:rPr>
              <a:t>today is Friday! (fun Colloquium today at 2:35 in TCL 123)</a:t>
            </a:r>
          </a:p>
          <a:p>
            <a:r>
              <a:rPr lang="en-US" sz="2400">
                <a:solidFill>
                  <a:schemeClr val="accent4"/>
                </a:solidFill>
              </a:rPr>
              <a:t>apply to </a:t>
            </a:r>
            <a:r>
              <a:rPr lang="en-US" sz="2400" b="1">
                <a:solidFill>
                  <a:schemeClr val="accent4"/>
                </a:solidFill>
              </a:rPr>
              <a:t>TA</a:t>
            </a:r>
            <a:r>
              <a:rPr lang="en-US" sz="2400">
                <a:solidFill>
                  <a:schemeClr val="accent4"/>
                </a:solidFill>
              </a:rPr>
              <a:t> next semester! also next next (next?) semester!</a:t>
            </a:r>
          </a:p>
          <a:p>
            <a:br>
              <a:rPr lang="en-US" sz="2400" b="1"/>
            </a:br>
            <a:r>
              <a:rPr lang="en-US" sz="3200" b="1">
                <a:solidFill>
                  <a:schemeClr val="accent5"/>
                </a:solidFill>
              </a:rPr>
              <a:t>WARMUP</a:t>
            </a:r>
            <a:br>
              <a:rPr lang="en-US" sz="2400" b="1">
                <a:solidFill>
                  <a:schemeClr val="accent5"/>
                </a:solidFill>
              </a:rPr>
            </a:br>
            <a:r>
              <a:rPr lang="en-US" sz="2400">
                <a:solidFill>
                  <a:schemeClr val="accent5"/>
                </a:solidFill>
                <a:sym typeface="Wingdings" pitchFamily="2" charset="2"/>
              </a:rPr>
              <a:t>implement a queue using two stacks</a:t>
            </a:r>
          </a:p>
          <a:p>
            <a:r>
              <a:rPr lang="en-US" sz="2400">
                <a:solidFill>
                  <a:schemeClr val="accent5"/>
                </a:solidFill>
                <a:sym typeface="Wingdings" pitchFamily="2" charset="2"/>
              </a:rPr>
              <a:t>  - just implement add and remove (and peek?)</a:t>
            </a:r>
          </a:p>
          <a:p>
            <a:r>
              <a:rPr lang="en-US" sz="2400">
                <a:solidFill>
                  <a:schemeClr val="accent5"/>
                </a:solidFill>
                <a:sym typeface="Wingdings" pitchFamily="2" charset="2"/>
              </a:rPr>
              <a:t>  - (don't worry about efficiency)</a:t>
            </a:r>
          </a:p>
          <a:p>
            <a:r>
              <a:rPr lang="en-US" sz="2400">
                <a:solidFill>
                  <a:schemeClr val="accent5"/>
                </a:solidFill>
                <a:sym typeface="Wingdings" pitchFamily="2" charset="2"/>
              </a:rPr>
              <a:t>  - pseudocode is fine</a:t>
            </a:r>
          </a:p>
          <a:p>
            <a:r>
              <a:rPr lang="en-US" sz="2400">
                <a:solidFill>
                  <a:schemeClr val="accent5"/>
                </a:solidFill>
                <a:sym typeface="Wingdings" pitchFamily="2" charset="2"/>
              </a:rPr>
              <a:t>  - what is the runtime (big O)?</a:t>
            </a:r>
          </a:p>
          <a:p>
            <a:br>
              <a:rPr lang="en-US" sz="2400"/>
            </a:br>
            <a:r>
              <a:rPr lang="en-US" sz="3200" b="1">
                <a:solidFill>
                  <a:schemeClr val="accent6"/>
                </a:solidFill>
              </a:rPr>
              <a:t>TODAY</a:t>
            </a:r>
            <a:r>
              <a:rPr lang="en-US" sz="2400" b="1">
                <a:solidFill>
                  <a:schemeClr val="accent6"/>
                </a:solidFill>
              </a:rPr>
              <a:t> </a:t>
            </a:r>
            <a:r>
              <a:rPr lang="en-US" sz="2400">
                <a:solidFill>
                  <a:schemeClr val="accent6"/>
                </a:solidFill>
              </a:rPr>
              <a:t>odds and ends</a:t>
            </a:r>
          </a:p>
        </p:txBody>
      </p:sp>
      <p:pic>
        <p:nvPicPr>
          <p:cNvPr id="2" name="Picture 2" descr="Stack Operations in Data Structure | Scaler Topics">
            <a:extLst>
              <a:ext uri="{FF2B5EF4-FFF2-40B4-BE49-F238E27FC236}">
                <a16:creationId xmlns:a16="http://schemas.microsoft.com/office/drawing/2014/main" id="{011938B1-1D2B-C47E-CBE4-BAC5078349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41" t="13272" r="36733" b="32778"/>
          <a:stretch/>
        </p:blipFill>
        <p:spPr bwMode="auto">
          <a:xfrm>
            <a:off x="7174795" y="1799441"/>
            <a:ext cx="1746555" cy="177808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882966F7-689B-F000-E1E3-7EECC4A6C2BE}"/>
              </a:ext>
            </a:extLst>
          </p:cNvPr>
          <p:cNvPicPr>
            <a:picLocks noChangeAspect="1"/>
          </p:cNvPicPr>
          <p:nvPr/>
        </p:nvPicPr>
        <p:blipFill>
          <a:blip r:embed="rId3"/>
          <a:stretch>
            <a:fillRect/>
          </a:stretch>
        </p:blipFill>
        <p:spPr>
          <a:xfrm>
            <a:off x="5529505" y="3791864"/>
            <a:ext cx="3391845" cy="1158843"/>
          </a:xfrm>
          <a:prstGeom prst="rect">
            <a:avLst/>
          </a:prstGeom>
        </p:spPr>
      </p:pic>
    </p:spTree>
    <p:extLst>
      <p:ext uri="{BB962C8B-B14F-4D97-AF65-F5344CB8AC3E}">
        <p14:creationId xmlns:p14="http://schemas.microsoft.com/office/powerpoint/2010/main" val="1059947838"/>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00A86-2FE2-0EC5-D3A9-3CEC186378E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51D553C-B940-14CE-5E7A-EDCBD0C21503}"/>
              </a:ext>
            </a:extLst>
          </p:cNvPr>
          <p:cNvSpPr>
            <a:spLocks noGrp="1"/>
          </p:cNvSpPr>
          <p:nvPr>
            <p:ph type="title"/>
          </p:nvPr>
        </p:nvSpPr>
        <p:spPr/>
        <p:txBody>
          <a:bodyPr/>
          <a:lstStyle/>
          <a:p>
            <a:r>
              <a:rPr lang="en-US" sz="8000"/>
              <a:t>Tungsten break </a:t>
            </a:r>
            <a:r>
              <a:rPr lang="en-US" sz="4000"/>
              <a:t>😀</a:t>
            </a:r>
            <a:br>
              <a:rPr lang="en-US" sz="8000"/>
            </a:br>
            <a:r>
              <a:rPr lang="en-US" sz="2000"/>
              <a:t>did you know the density of Tungsten is 19.25 g/cm</a:t>
            </a:r>
            <a:r>
              <a:rPr lang="en-US" sz="2000" baseline="30000"/>
              <a:t>3</a:t>
            </a:r>
            <a:r>
              <a:rPr lang="en-US" sz="2000"/>
              <a:t>?</a:t>
            </a:r>
            <a:br>
              <a:rPr lang="en-US" sz="2000"/>
            </a:br>
            <a:r>
              <a:rPr lang="en-US" sz="2000"/>
              <a:t>Gold is 19.32</a:t>
            </a:r>
            <a:r>
              <a:rPr kumimoji="0" lang="en-US" sz="2000" b="0" i="0" u="none" strike="noStrike" kern="1200" cap="none" spc="0" normalizeH="0" baseline="0" noProof="0">
                <a:ln>
                  <a:noFill/>
                </a:ln>
                <a:solidFill>
                  <a:srgbClr val="FFFFFF"/>
                </a:solidFill>
                <a:effectLst/>
                <a:uLnTx/>
                <a:uFillTx/>
                <a:latin typeface="Arial"/>
                <a:ea typeface="Segoe UI Emoji" panose="020B0502040204020203" pitchFamily="34" charset="0"/>
                <a:cs typeface="+mj-cs"/>
              </a:rPr>
              <a:t> g/cm</a:t>
            </a:r>
            <a:r>
              <a:rPr kumimoji="0" lang="en-US" sz="2000" b="0" i="0" u="none" strike="noStrike" kern="1200" cap="none" spc="0" normalizeH="0" baseline="30000" noProof="0">
                <a:ln>
                  <a:noFill/>
                </a:ln>
                <a:solidFill>
                  <a:srgbClr val="FFFFFF"/>
                </a:solidFill>
                <a:effectLst/>
                <a:uLnTx/>
                <a:uFillTx/>
                <a:latin typeface="Arial"/>
                <a:ea typeface="Segoe UI Emoji" panose="020B0502040204020203" pitchFamily="34" charset="0"/>
                <a:cs typeface="+mj-cs"/>
              </a:rPr>
              <a:t>3</a:t>
            </a:r>
            <a:br>
              <a:rPr kumimoji="0" lang="en-US" sz="2000" b="0" i="0" u="none" strike="noStrike" kern="1200" cap="none" spc="0" normalizeH="0" baseline="30000" noProof="0">
                <a:ln>
                  <a:noFill/>
                </a:ln>
                <a:solidFill>
                  <a:srgbClr val="FFFFFF"/>
                </a:solidFill>
                <a:effectLst/>
                <a:uLnTx/>
                <a:uFillTx/>
                <a:latin typeface="Arial"/>
                <a:ea typeface="Segoe UI Emoji" panose="020B0502040204020203" pitchFamily="34" charset="0"/>
                <a:cs typeface="+mj-cs"/>
              </a:rPr>
            </a:br>
            <a:br>
              <a:rPr kumimoji="0" lang="en-US" sz="2000" b="0" i="0" u="none" strike="noStrike" kern="1200" cap="none" spc="0" normalizeH="0" baseline="30000" noProof="0">
                <a:ln>
                  <a:noFill/>
                </a:ln>
                <a:solidFill>
                  <a:srgbClr val="FFFFFF"/>
                </a:solidFill>
                <a:effectLst/>
                <a:uLnTx/>
                <a:uFillTx/>
                <a:latin typeface="Arial"/>
                <a:ea typeface="Segoe UI Emoji" panose="020B0502040204020203" pitchFamily="34" charset="0"/>
                <a:cs typeface="+mj-cs"/>
              </a:rPr>
            </a:br>
            <a:r>
              <a:rPr kumimoji="0" lang="en-US" sz="2000" b="0" i="0" u="none" strike="noStrike" kern="1200" cap="none" spc="0" normalizeH="0" noProof="0">
                <a:ln>
                  <a:noFill/>
                </a:ln>
                <a:solidFill>
                  <a:srgbClr val="FFFFFF"/>
                </a:solidFill>
                <a:effectLst/>
                <a:uLnTx/>
                <a:uFillTx/>
                <a:latin typeface="Arial"/>
                <a:ea typeface="Segoe UI Emoji" panose="020B0502040204020203" pitchFamily="34" charset="0"/>
                <a:cs typeface="+mj-cs"/>
              </a:rPr>
              <a:t>did you know Tungsten is really hard?</a:t>
            </a:r>
            <a:br>
              <a:rPr kumimoji="0" lang="en-US" sz="2000" b="0" i="0" u="none" strike="noStrike" kern="1200" cap="none" spc="0" normalizeH="0" noProof="0">
                <a:ln>
                  <a:noFill/>
                </a:ln>
                <a:solidFill>
                  <a:srgbClr val="FFFFFF"/>
                </a:solidFill>
                <a:effectLst/>
                <a:uLnTx/>
                <a:uFillTx/>
                <a:latin typeface="Arial"/>
                <a:ea typeface="Segoe UI Emoji" panose="020B0502040204020203" pitchFamily="34" charset="0"/>
                <a:cs typeface="+mj-cs"/>
              </a:rPr>
            </a:br>
            <a:r>
              <a:rPr lang="en-US" sz="2000">
                <a:solidFill>
                  <a:srgbClr val="FFFFFF"/>
                </a:solidFill>
                <a:latin typeface="Arial"/>
              </a:rPr>
              <a:t>Tungsten alloys can be as hard as Sapphire! that's really hard!</a:t>
            </a:r>
            <a:br>
              <a:rPr lang="en-US" sz="2000">
                <a:solidFill>
                  <a:srgbClr val="FFFFFF"/>
                </a:solidFill>
                <a:latin typeface="Arial"/>
              </a:rPr>
            </a:br>
            <a:br>
              <a:rPr lang="en-US" sz="2000">
                <a:solidFill>
                  <a:srgbClr val="FFFFFF"/>
                </a:solidFill>
                <a:latin typeface="Arial"/>
              </a:rPr>
            </a:br>
            <a:r>
              <a:rPr lang="en-US" sz="2000">
                <a:solidFill>
                  <a:srgbClr val="FFFFFF"/>
                </a:solidFill>
                <a:latin typeface="Arial"/>
              </a:rPr>
              <a:t>Tungsten is expensive (that cube is $60) but not like...that expensive</a:t>
            </a:r>
            <a:br>
              <a:rPr lang="en-US" sz="2000">
                <a:solidFill>
                  <a:srgbClr val="FFFFFF"/>
                </a:solidFill>
                <a:latin typeface="Arial"/>
              </a:rPr>
            </a:br>
            <a:br>
              <a:rPr lang="en-US" sz="2000">
                <a:solidFill>
                  <a:srgbClr val="FFFFFF"/>
                </a:solidFill>
                <a:latin typeface="Arial"/>
              </a:rPr>
            </a:br>
            <a:r>
              <a:rPr lang="en-US" sz="2000">
                <a:solidFill>
                  <a:srgbClr val="FFB02E"/>
                </a:solidFill>
                <a:latin typeface="Arial"/>
              </a:rPr>
              <a:t>what could YOU do with Tungsten?</a:t>
            </a:r>
            <a:endParaRPr lang="en-US" sz="8000">
              <a:solidFill>
                <a:srgbClr val="FFB02E"/>
              </a:solidFill>
            </a:endParaRPr>
          </a:p>
        </p:txBody>
      </p:sp>
    </p:spTree>
    <p:extLst>
      <p:ext uri="{BB962C8B-B14F-4D97-AF65-F5344CB8AC3E}">
        <p14:creationId xmlns:p14="http://schemas.microsoft.com/office/powerpoint/2010/main" val="2863802291"/>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4CCC18-07C4-C3A4-4915-ECE0E969CB6B}"/>
            </a:ext>
          </a:extLst>
        </p:cNvPr>
        <p:cNvGrpSpPr/>
        <p:nvPr/>
      </p:nvGrpSpPr>
      <p:grpSpPr>
        <a:xfrm>
          <a:off x="0" y="0"/>
          <a:ext cx="0" cy="0"/>
          <a:chOff x="0" y="0"/>
          <a:chExt cx="0" cy="0"/>
        </a:xfrm>
      </p:grpSpPr>
      <p:pic>
        <p:nvPicPr>
          <p:cNvPr id="5" name="Picture 4" descr="Exotic and Magnificent Hawaiian Islands">
            <a:extLst>
              <a:ext uri="{FF2B5EF4-FFF2-40B4-BE49-F238E27FC236}">
                <a16:creationId xmlns:a16="http://schemas.microsoft.com/office/drawing/2014/main" id="{37EE7223-D39E-AAA1-7BF3-286DEF8FB797}"/>
              </a:ext>
            </a:extLst>
          </p:cNvPr>
          <p:cNvPicPr>
            <a:picLocks noChangeAspect="1"/>
          </p:cNvPicPr>
          <p:nvPr/>
        </p:nvPicPr>
        <p:blipFill>
          <a:blip r:embed="rId2"/>
          <a:stretch>
            <a:fillRect/>
          </a:stretch>
        </p:blipFill>
        <p:spPr>
          <a:xfrm>
            <a:off x="3023974" y="468276"/>
            <a:ext cx="6494676" cy="4329784"/>
          </a:xfrm>
          <a:prstGeom prst="rect">
            <a:avLst/>
          </a:prstGeom>
        </p:spPr>
      </p:pic>
      <p:sp>
        <p:nvSpPr>
          <p:cNvPr id="4" name="TextBox 3">
            <a:extLst>
              <a:ext uri="{FF2B5EF4-FFF2-40B4-BE49-F238E27FC236}">
                <a16:creationId xmlns:a16="http://schemas.microsoft.com/office/drawing/2014/main" id="{86DA0865-51E4-C8DD-9A4F-0910631EF245}"/>
              </a:ext>
            </a:extLst>
          </p:cNvPr>
          <p:cNvSpPr txBox="1"/>
          <p:nvPr/>
        </p:nvSpPr>
        <p:spPr>
          <a:xfrm>
            <a:off x="4508390" y="-140969"/>
            <a:ext cx="4635610" cy="3770263"/>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39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8000" b="0" i="0" u="none" strike="noStrike" kern="1200" cap="none" spc="0" normalizeH="0" baseline="0" noProof="0">
              <a:ln>
                <a:noFill/>
              </a:ln>
              <a:solidFill>
                <a:srgbClr val="000000"/>
              </a:solidFill>
              <a:effectLst/>
              <a:uLnTx/>
              <a:uFillTx/>
              <a:latin typeface="Arial"/>
              <a:ea typeface="+mn-ea"/>
              <a:cs typeface="+mn-cs"/>
            </a:endParaRPr>
          </a:p>
        </p:txBody>
      </p:sp>
      <p:sp>
        <p:nvSpPr>
          <p:cNvPr id="8" name="Title 7">
            <a:extLst>
              <a:ext uri="{FF2B5EF4-FFF2-40B4-BE49-F238E27FC236}">
                <a16:creationId xmlns:a16="http://schemas.microsoft.com/office/drawing/2014/main" id="{0E7C2BCB-2219-3786-226B-5A20363FD991}"/>
              </a:ext>
            </a:extLst>
          </p:cNvPr>
          <p:cNvSpPr>
            <a:spLocks noGrp="1"/>
          </p:cNvSpPr>
          <p:nvPr>
            <p:ph type="title"/>
          </p:nvPr>
        </p:nvSpPr>
        <p:spPr>
          <a:xfrm>
            <a:off x="457200" y="254916"/>
            <a:ext cx="4805680" cy="1893924"/>
          </a:xfrm>
          <a:solidFill>
            <a:schemeClr val="bg1"/>
          </a:solidFill>
        </p:spPr>
        <p:txBody>
          <a:bodyPr/>
          <a:lstStyle/>
          <a:p>
            <a:r>
              <a:rPr lang="en-US" sz="9600"/>
              <a:t>Week04</a:t>
            </a:r>
          </a:p>
        </p:txBody>
      </p:sp>
      <p:sp>
        <p:nvSpPr>
          <p:cNvPr id="6" name="Content Placeholder 5">
            <a:extLst>
              <a:ext uri="{FF2B5EF4-FFF2-40B4-BE49-F238E27FC236}">
                <a16:creationId xmlns:a16="http://schemas.microsoft.com/office/drawing/2014/main" id="{D0D8616A-ED01-C7F1-D11D-8FAD0484FE09}"/>
              </a:ext>
            </a:extLst>
          </p:cNvPr>
          <p:cNvSpPr>
            <a:spLocks noGrp="1"/>
          </p:cNvSpPr>
          <p:nvPr>
            <p:ph sz="quarter" idx="10"/>
          </p:nvPr>
        </p:nvSpPr>
        <p:spPr>
          <a:xfrm>
            <a:off x="457200" y="1993732"/>
            <a:ext cx="3322320" cy="1000929"/>
          </a:xfrm>
          <a:solidFill>
            <a:schemeClr val="bg1"/>
          </a:solidFill>
        </p:spPr>
        <p:txBody>
          <a:bodyPr>
            <a:noAutofit/>
          </a:bodyPr>
          <a:lstStyle/>
          <a:p>
            <a:r>
              <a:rPr lang="en-US" sz="5400"/>
              <a:t>array list</a:t>
            </a:r>
          </a:p>
        </p:txBody>
      </p:sp>
      <p:sp>
        <p:nvSpPr>
          <p:cNvPr id="3" name="TextBox 2">
            <a:extLst>
              <a:ext uri="{FF2B5EF4-FFF2-40B4-BE49-F238E27FC236}">
                <a16:creationId xmlns:a16="http://schemas.microsoft.com/office/drawing/2014/main" id="{D479E523-6B13-860B-0978-768F37C641EB}"/>
              </a:ext>
            </a:extLst>
          </p:cNvPr>
          <p:cNvSpPr txBox="1"/>
          <p:nvPr/>
        </p:nvSpPr>
        <p:spPr>
          <a:xfrm>
            <a:off x="5057029" y="2208419"/>
            <a:ext cx="3448955" cy="144655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440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4400" b="0" i="0" u="none" strike="noStrike" kern="1200" cap="none" spc="0" normalizeH="0" baseline="0" noProof="0">
              <a:ln>
                <a:noFill/>
              </a:ln>
              <a:solidFill>
                <a:srgbClr val="000000"/>
              </a:solidFill>
              <a:effectLst/>
              <a:uLnTx/>
              <a:uFillTx/>
              <a:latin typeface="Arial"/>
              <a:ea typeface="+mn-ea"/>
              <a:cs typeface="+mn-cs"/>
            </a:endParaRPr>
          </a:p>
        </p:txBody>
      </p:sp>
      <p:sp>
        <p:nvSpPr>
          <p:cNvPr id="7" name="TextBox 6">
            <a:extLst>
              <a:ext uri="{FF2B5EF4-FFF2-40B4-BE49-F238E27FC236}">
                <a16:creationId xmlns:a16="http://schemas.microsoft.com/office/drawing/2014/main" id="{B8783FED-BF91-E4E5-2F71-2138525975CB}"/>
              </a:ext>
            </a:extLst>
          </p:cNvPr>
          <p:cNvSpPr txBox="1"/>
          <p:nvPr/>
        </p:nvSpPr>
        <p:spPr>
          <a:xfrm>
            <a:off x="4670016" y="2866027"/>
            <a:ext cx="4114800" cy="1815882"/>
          </a:xfrm>
          <a:prstGeom prst="rect">
            <a:avLst/>
          </a:prstGeom>
          <a:solidFill>
            <a:schemeClr val="accent2">
              <a:lumMod val="40000"/>
              <a:lumOff val="60000"/>
            </a:schemeClr>
          </a:solidFill>
          <a:ln>
            <a:solidFill>
              <a:schemeClr val="tx1"/>
            </a:solid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0000"/>
                </a:solidFill>
                <a:effectLst/>
                <a:uLnTx/>
                <a:uFillTx/>
                <a:latin typeface="Arial"/>
                <a:ea typeface="+mn-ea"/>
                <a:cs typeface="+mn-cs"/>
              </a:rPr>
              <a:t>WARMUP</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00"/>
                </a:solidFill>
                <a:effectLst/>
                <a:uLnTx/>
                <a:uFillTx/>
                <a:latin typeface="Arial"/>
                <a:ea typeface="+mn-ea"/>
                <a:cs typeface="+mn-cs"/>
              </a:rPr>
              <a:t>what is </a:t>
            </a:r>
            <a:r>
              <a:rPr kumimoji="0" lang="en-US" sz="2800" b="0" i="1" u="none" strike="noStrike" kern="1200" cap="none" spc="0" normalizeH="0" baseline="0" noProof="0">
                <a:ln>
                  <a:noFill/>
                </a:ln>
                <a:solidFill>
                  <a:srgbClr val="000000"/>
                </a:solidFill>
                <a:effectLst/>
                <a:uLnTx/>
                <a:uFillTx/>
                <a:latin typeface="Arial"/>
                <a:ea typeface="+mn-ea"/>
                <a:cs typeface="+mn-cs"/>
              </a:rPr>
              <a:t>data</a:t>
            </a:r>
            <a:r>
              <a:rPr kumimoji="0" lang="en-US" sz="2800" b="0" i="0" u="none" strike="noStrike" kern="1200" cap="none" spc="0" normalizeH="0" baseline="0" noProof="0">
                <a:ln>
                  <a:noFill/>
                </a:ln>
                <a:solidFill>
                  <a:srgbClr val="000000"/>
                </a:solidFill>
                <a:effectLst/>
                <a:uLnTx/>
                <a:uFillTx/>
                <a:latin typeface="Arial"/>
                <a:ea typeface="+mn-ea"/>
                <a:cs typeface="+mn-cs"/>
              </a:rPr>
              <a: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00"/>
                </a:solidFill>
                <a:effectLst/>
                <a:uLnTx/>
                <a:uFillTx/>
                <a:latin typeface="Arial"/>
                <a:ea typeface="+mn-ea"/>
                <a:cs typeface="+mn-cs"/>
              </a:rPr>
              <a:t>what is a data </a:t>
            </a:r>
            <a:r>
              <a:rPr kumimoji="0" lang="en-US" sz="2800" b="0" i="1" u="none" strike="noStrike" kern="1200" cap="none" spc="0" normalizeH="0" baseline="0" noProof="0">
                <a:ln>
                  <a:noFill/>
                </a:ln>
                <a:solidFill>
                  <a:srgbClr val="000000"/>
                </a:solidFill>
                <a:effectLst/>
                <a:uLnTx/>
                <a:uFillTx/>
                <a:latin typeface="Arial"/>
                <a:ea typeface="+mn-ea"/>
                <a:cs typeface="+mn-cs"/>
              </a:rPr>
              <a:t>structure</a:t>
            </a:r>
            <a:r>
              <a:rPr kumimoji="0" lang="en-US" sz="2800" b="0" i="0" u="none" strike="noStrike" kern="1200" cap="none" spc="0" normalizeH="0" baseline="0" noProof="0">
                <a:ln>
                  <a:noFill/>
                </a:ln>
                <a:solidFill>
                  <a:srgbClr val="000000"/>
                </a:solidFill>
                <a:effectLst/>
                <a:uLnTx/>
                <a:uFillTx/>
                <a:latin typeface="Arial"/>
                <a:ea typeface="+mn-ea"/>
                <a:cs typeface="+mn-cs"/>
              </a:rPr>
              <a: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0" i="1" u="none" strike="noStrike" kern="1200" cap="none" spc="0" normalizeH="0" baseline="0" noProof="0">
                <a:ln>
                  <a:noFill/>
                </a:ln>
                <a:solidFill>
                  <a:srgbClr val="000000"/>
                </a:solidFill>
                <a:effectLst/>
                <a:uLnTx/>
                <a:uFillTx/>
                <a:latin typeface="Arial"/>
                <a:ea typeface="+mn-ea"/>
                <a:cs typeface="+mn-cs"/>
              </a:rPr>
              <a:t>why</a:t>
            </a:r>
            <a:r>
              <a:rPr kumimoji="0" lang="en-US" sz="2800" b="0" i="0" u="none" strike="noStrike" kern="1200" cap="none" spc="0" normalizeH="0" baseline="0" noProof="0">
                <a:ln>
                  <a:noFill/>
                </a:ln>
                <a:solidFill>
                  <a:srgbClr val="000000"/>
                </a:solidFill>
                <a:effectLst/>
                <a:uLnTx/>
                <a:uFillTx/>
                <a:latin typeface="Arial"/>
                <a:ea typeface="+mn-ea"/>
                <a:cs typeface="+mn-cs"/>
              </a:rPr>
              <a:t> are data structures?</a:t>
            </a:r>
            <a:endParaRPr kumimoji="0" lang="en-US" sz="2800" b="0" i="1" u="none" strike="noStrike" kern="1200" cap="none" spc="0" normalizeH="0" baseline="0" noProof="0">
              <a:ln>
                <a:noFill/>
              </a:ln>
              <a:solidFill>
                <a:srgbClr val="000000"/>
              </a:solidFill>
              <a:effectLst/>
              <a:uLnTx/>
              <a:uFillTx/>
              <a:latin typeface="Arial"/>
              <a:ea typeface="+mn-ea"/>
              <a:cs typeface="+mn-cs"/>
            </a:endParaRPr>
          </a:p>
        </p:txBody>
      </p:sp>
      <p:sp>
        <p:nvSpPr>
          <p:cNvPr id="2" name="TextBox 1">
            <a:extLst>
              <a:ext uri="{FF2B5EF4-FFF2-40B4-BE49-F238E27FC236}">
                <a16:creationId xmlns:a16="http://schemas.microsoft.com/office/drawing/2014/main" id="{0A064149-B61E-42C9-6E95-C96FD0D92C59}"/>
              </a:ext>
            </a:extLst>
          </p:cNvPr>
          <p:cNvSpPr txBox="1"/>
          <p:nvPr/>
        </p:nvSpPr>
        <p:spPr>
          <a:xfrm>
            <a:off x="724159" y="3111264"/>
            <a:ext cx="2161563" cy="1384995"/>
          </a:xfrm>
          <a:prstGeom prst="rect">
            <a:avLst/>
          </a:prstGeom>
          <a:noFill/>
        </p:spPr>
        <p:txBody>
          <a:bodyPr wrap="square" rtlCol="0">
            <a:spAutoFit/>
          </a:bodyPr>
          <a:lstStyle/>
          <a:p>
            <a:r>
              <a:rPr lang="en-US" sz="2800">
                <a:solidFill>
                  <a:srgbClr val="011893"/>
                </a:solidFill>
              </a:rPr>
              <a:t>n o</a:t>
            </a:r>
          </a:p>
          <a:p>
            <a:r>
              <a:rPr lang="en-US" sz="2800">
                <a:solidFill>
                  <a:srgbClr val="011893"/>
                </a:solidFill>
              </a:rPr>
              <a:t> l a p t o p</a:t>
            </a:r>
          </a:p>
          <a:p>
            <a:r>
              <a:rPr lang="en-US" sz="2800">
                <a:solidFill>
                  <a:srgbClr val="011893"/>
                </a:solidFill>
              </a:rPr>
              <a:t>m o n d a y</a:t>
            </a:r>
          </a:p>
        </p:txBody>
      </p:sp>
    </p:spTree>
    <p:extLst>
      <p:ext uri="{BB962C8B-B14F-4D97-AF65-F5344CB8AC3E}">
        <p14:creationId xmlns:p14="http://schemas.microsoft.com/office/powerpoint/2010/main" val="1869580345"/>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BE378-ADD3-D5E2-C60E-FA695A59E29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3BB50D3-02FE-3493-776F-3FD110BE6751}"/>
              </a:ext>
            </a:extLst>
          </p:cNvPr>
          <p:cNvSpPr>
            <a:spLocks noGrp="1"/>
          </p:cNvSpPr>
          <p:nvPr>
            <p:ph type="title"/>
          </p:nvPr>
        </p:nvSpPr>
        <p:spPr/>
        <p:txBody>
          <a:bodyPr/>
          <a:lstStyle/>
          <a:p>
            <a:r>
              <a:rPr lang="en-US" sz="3600"/>
              <a:t>say hi to WoW students</a:t>
            </a:r>
          </a:p>
        </p:txBody>
      </p:sp>
    </p:spTree>
    <p:extLst>
      <p:ext uri="{BB962C8B-B14F-4D97-AF65-F5344CB8AC3E}">
        <p14:creationId xmlns:p14="http://schemas.microsoft.com/office/powerpoint/2010/main" val="2487687954"/>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D3AC7-099D-AF58-0776-3327D245ABB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DA2D5CA-BA24-BB7C-A0EC-95EE7BBC390A}"/>
              </a:ext>
            </a:extLst>
          </p:cNvPr>
          <p:cNvSpPr>
            <a:spLocks noGrp="1"/>
          </p:cNvSpPr>
          <p:nvPr>
            <p:ph type="title"/>
          </p:nvPr>
        </p:nvSpPr>
        <p:spPr/>
        <p:txBody>
          <a:bodyPr/>
          <a:lstStyle/>
          <a:p>
            <a:r>
              <a:rPr lang="en-US" sz="3600"/>
              <a:t>talk about trees 🌳</a:t>
            </a:r>
          </a:p>
        </p:txBody>
      </p:sp>
    </p:spTree>
    <p:extLst>
      <p:ext uri="{BB962C8B-B14F-4D97-AF65-F5344CB8AC3E}">
        <p14:creationId xmlns:p14="http://schemas.microsoft.com/office/powerpoint/2010/main" val="1958706973"/>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67096-2DE9-5172-D33C-D43BBFC9CF1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3D96B13-4CC3-C2A3-2B68-8CBC8ACEA9A9}"/>
              </a:ext>
            </a:extLst>
          </p:cNvPr>
          <p:cNvSpPr>
            <a:spLocks noGrp="1"/>
          </p:cNvSpPr>
          <p:nvPr>
            <p:ph type="title"/>
          </p:nvPr>
        </p:nvSpPr>
        <p:spPr/>
        <p:txBody>
          <a:bodyPr/>
          <a:lstStyle/>
          <a:p>
            <a:r>
              <a:rPr lang="en-US"/>
              <a:t>where are we?</a:t>
            </a:r>
          </a:p>
        </p:txBody>
      </p:sp>
    </p:spTree>
    <p:extLst>
      <p:ext uri="{BB962C8B-B14F-4D97-AF65-F5344CB8AC3E}">
        <p14:creationId xmlns:p14="http://schemas.microsoft.com/office/powerpoint/2010/main" val="1855778502"/>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80F9A-38FF-DD14-FA6F-2A3334F642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D8735BE-E42D-3E39-B0B3-25A0CEDA5854}"/>
              </a:ext>
            </a:extLst>
          </p:cNvPr>
          <p:cNvSpPr>
            <a:spLocks noGrp="1"/>
          </p:cNvSpPr>
          <p:nvPr>
            <p:ph type="title"/>
          </p:nvPr>
        </p:nvSpPr>
        <p:spPr/>
        <p:txBody>
          <a:bodyPr/>
          <a:lstStyle/>
          <a:p>
            <a:r>
              <a:rPr lang="en-US"/>
              <a:t>at the </a:t>
            </a:r>
            <a:r>
              <a:rPr lang="en-US" b="1"/>
              <a:t>turning point</a:t>
            </a:r>
            <a:r>
              <a:rPr lang="en-US"/>
              <a:t> of CS136</a:t>
            </a:r>
          </a:p>
        </p:txBody>
      </p:sp>
      <p:sp>
        <p:nvSpPr>
          <p:cNvPr id="4" name="Content Placeholder 3">
            <a:extLst>
              <a:ext uri="{FF2B5EF4-FFF2-40B4-BE49-F238E27FC236}">
                <a16:creationId xmlns:a16="http://schemas.microsoft.com/office/drawing/2014/main" id="{5E6BF73A-1669-D906-09EA-4877FC1E6F57}"/>
              </a:ext>
            </a:extLst>
          </p:cNvPr>
          <p:cNvSpPr>
            <a:spLocks noGrp="1"/>
          </p:cNvSpPr>
          <p:nvPr>
            <p:ph sz="quarter" idx="10"/>
          </p:nvPr>
        </p:nvSpPr>
        <p:spPr/>
        <p:txBody>
          <a:bodyPr/>
          <a:lstStyle/>
          <a:p>
            <a:r>
              <a:rPr lang="en-US" b="1" strike="sngStrike"/>
              <a:t>part A:</a:t>
            </a:r>
            <a:r>
              <a:rPr lang="en-US" strike="sngStrike"/>
              <a:t> programming fundamentals in Java</a:t>
            </a:r>
          </a:p>
          <a:p>
            <a:r>
              <a:rPr lang="en-US" b="1"/>
              <a:t>part B:</a:t>
            </a:r>
            <a:r>
              <a:rPr lang="en-US"/>
              <a:t> data structures</a:t>
            </a:r>
          </a:p>
          <a:p>
            <a:pPr lvl="1"/>
            <a:r>
              <a:rPr lang="en-US"/>
              <a:t>one data structure per week here we gooo 🙂👍</a:t>
            </a:r>
          </a:p>
          <a:p>
            <a:pPr lvl="1"/>
            <a:endParaRPr lang="en-US"/>
          </a:p>
        </p:txBody>
      </p:sp>
    </p:spTree>
    <p:extLst>
      <p:ext uri="{BB962C8B-B14F-4D97-AF65-F5344CB8AC3E}">
        <p14:creationId xmlns:p14="http://schemas.microsoft.com/office/powerpoint/2010/main" val="3358097461"/>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4E0C0-0CF5-A327-45E0-B8A20519676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08ACE99-18B4-CAB7-D2FB-7E04D937DDDD}"/>
              </a:ext>
            </a:extLst>
          </p:cNvPr>
          <p:cNvSpPr>
            <a:spLocks noGrp="1"/>
          </p:cNvSpPr>
          <p:nvPr>
            <p:ph type="title"/>
          </p:nvPr>
        </p:nvSpPr>
        <p:spPr/>
        <p:txBody>
          <a:bodyPr/>
          <a:lstStyle/>
          <a:p>
            <a:r>
              <a:rPr lang="en-US" sz="8800"/>
              <a:t>data structures</a:t>
            </a:r>
          </a:p>
        </p:txBody>
      </p:sp>
    </p:spTree>
    <p:extLst>
      <p:ext uri="{BB962C8B-B14F-4D97-AF65-F5344CB8AC3E}">
        <p14:creationId xmlns:p14="http://schemas.microsoft.com/office/powerpoint/2010/main" val="1620888122"/>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C5C0179-7D32-3DA2-5641-CE902ED765F7}"/>
              </a:ext>
            </a:extLst>
          </p:cNvPr>
          <p:cNvSpPr>
            <a:spLocks noGrp="1"/>
          </p:cNvSpPr>
          <p:nvPr>
            <p:ph type="title"/>
          </p:nvPr>
        </p:nvSpPr>
        <p:spPr/>
        <p:txBody>
          <a:bodyPr/>
          <a:lstStyle/>
          <a:p>
            <a:r>
              <a:rPr lang="en-US"/>
              <a:t>data</a:t>
            </a:r>
          </a:p>
        </p:txBody>
      </p:sp>
    </p:spTree>
    <p:extLst>
      <p:ext uri="{BB962C8B-B14F-4D97-AF65-F5344CB8AC3E}">
        <p14:creationId xmlns:p14="http://schemas.microsoft.com/office/powerpoint/2010/main" val="4061578753"/>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127051E-911F-8D01-E2DD-A4DAB9E1F9B5}"/>
              </a:ext>
            </a:extLst>
          </p:cNvPr>
          <p:cNvSpPr>
            <a:spLocks noGrp="1"/>
          </p:cNvSpPr>
          <p:nvPr>
            <p:ph type="title"/>
          </p:nvPr>
        </p:nvSpPr>
        <p:spPr/>
        <p:txBody>
          <a:bodyPr/>
          <a:lstStyle/>
          <a:p>
            <a:r>
              <a:rPr lang="en-US" b="1"/>
              <a:t>data </a:t>
            </a:r>
            <a:r>
              <a:rPr lang="en-US"/>
              <a:t>is numbers</a:t>
            </a:r>
            <a:endParaRPr lang="en-US" b="1"/>
          </a:p>
        </p:txBody>
      </p:sp>
    </p:spTree>
    <p:extLst>
      <p:ext uri="{BB962C8B-B14F-4D97-AF65-F5344CB8AC3E}">
        <p14:creationId xmlns:p14="http://schemas.microsoft.com/office/powerpoint/2010/main" val="853378363"/>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8F610-99D1-F8EE-12D5-24AFE0D99E27}"/>
              </a:ext>
            </a:extLst>
          </p:cNvPr>
          <p:cNvSpPr>
            <a:spLocks noGrp="1"/>
          </p:cNvSpPr>
          <p:nvPr>
            <p:ph type="title"/>
          </p:nvPr>
        </p:nvSpPr>
        <p:spPr/>
        <p:txBody>
          <a:bodyPr/>
          <a:lstStyle/>
          <a:p>
            <a:pPr algn="l"/>
            <a:r>
              <a:rPr lang="en-US" b="0" i="0">
                <a:solidFill>
                  <a:srgbClr val="202122"/>
                </a:solidFill>
                <a:effectLst/>
                <a:latin typeface="Arial" panose="020B0604020202020204" pitchFamily="34" charset="0"/>
              </a:rPr>
              <a:t>a </a:t>
            </a:r>
            <a:r>
              <a:rPr lang="en-US" b="1" i="0">
                <a:solidFill>
                  <a:srgbClr val="202122"/>
                </a:solidFill>
                <a:effectLst/>
                <a:latin typeface="Arial" panose="020B0604020202020204" pitchFamily="34" charset="0"/>
              </a:rPr>
              <a:t>data structure</a:t>
            </a:r>
            <a:r>
              <a:rPr lang="en-US" b="0" i="0">
                <a:solidFill>
                  <a:srgbClr val="202122"/>
                </a:solidFill>
                <a:effectLst/>
                <a:latin typeface="Arial" panose="020B0604020202020204" pitchFamily="34" charset="0"/>
              </a:rPr>
              <a:t> helps you organizes your data...</a:t>
            </a:r>
            <a:br>
              <a:rPr lang="en-US" b="0" i="0">
                <a:solidFill>
                  <a:srgbClr val="202122"/>
                </a:solidFill>
                <a:effectLst/>
                <a:latin typeface="Arial" panose="020B0604020202020204" pitchFamily="34" charset="0"/>
              </a:rPr>
            </a:br>
            <a:br>
              <a:rPr lang="en-US" b="0" i="0">
                <a:solidFill>
                  <a:srgbClr val="202122"/>
                </a:solidFill>
                <a:effectLst/>
                <a:latin typeface="Arial" panose="020B0604020202020204" pitchFamily="34" charset="0"/>
              </a:rPr>
            </a:br>
            <a:r>
              <a:rPr lang="en-US" sz="3200" b="0" i="0">
                <a:solidFill>
                  <a:srgbClr val="202122"/>
                </a:solidFill>
                <a:effectLst/>
                <a:latin typeface="Arial" panose="020B0604020202020204" pitchFamily="34" charset="0"/>
              </a:rPr>
              <a:t>...the right data structure for a task is...</a:t>
            </a:r>
            <a:br>
              <a:rPr lang="en-US" sz="3200" b="0" i="0">
                <a:solidFill>
                  <a:srgbClr val="202122"/>
                </a:solidFill>
                <a:effectLst/>
                <a:latin typeface="Arial" panose="020B0604020202020204" pitchFamily="34" charset="0"/>
              </a:rPr>
            </a:br>
            <a:r>
              <a:rPr lang="en-US" sz="3200" b="0" i="0">
                <a:solidFill>
                  <a:srgbClr val="202122"/>
                </a:solidFill>
                <a:effectLst/>
                <a:latin typeface="Arial" panose="020B0604020202020204" pitchFamily="34" charset="0"/>
              </a:rPr>
              <a:t>- easy to work with -- </a:t>
            </a:r>
            <a:r>
              <a:rPr lang="en-US" sz="3200" b="1" i="0">
                <a:solidFill>
                  <a:srgbClr val="202122"/>
                </a:solidFill>
                <a:effectLst/>
                <a:latin typeface="Arial" panose="020B0604020202020204" pitchFamily="34" charset="0"/>
              </a:rPr>
              <a:t>programmer time</a:t>
            </a:r>
            <a:br>
              <a:rPr lang="en-US" sz="3200" b="0" i="0">
                <a:solidFill>
                  <a:srgbClr val="202122"/>
                </a:solidFill>
                <a:effectLst/>
                <a:latin typeface="Arial" panose="020B0604020202020204" pitchFamily="34" charset="0"/>
              </a:rPr>
            </a:br>
            <a:r>
              <a:rPr lang="en-US" sz="3200" b="0" i="0">
                <a:solidFill>
                  <a:srgbClr val="202122"/>
                </a:solidFill>
                <a:effectLst/>
                <a:latin typeface="Arial" panose="020B0604020202020204" pitchFamily="34" charset="0"/>
              </a:rPr>
              <a:t>- </a:t>
            </a:r>
            <a:r>
              <a:rPr lang="en-US" sz="3200">
                <a:solidFill>
                  <a:srgbClr val="202122"/>
                </a:solidFill>
                <a:latin typeface="Arial" panose="020B0604020202020204" pitchFamily="34" charset="0"/>
              </a:rPr>
              <a:t>runs fast -- </a:t>
            </a:r>
            <a:r>
              <a:rPr lang="en-US" sz="3200" b="1">
                <a:solidFill>
                  <a:srgbClr val="202122"/>
                </a:solidFill>
                <a:latin typeface="Arial" panose="020B0604020202020204" pitchFamily="34" charset="0"/>
              </a:rPr>
              <a:t>runtime</a:t>
            </a:r>
            <a:r>
              <a:rPr lang="en-US" sz="3200">
                <a:solidFill>
                  <a:srgbClr val="202122"/>
                </a:solidFill>
                <a:latin typeface="Arial" panose="020B0604020202020204" pitchFamily="34" charset="0"/>
              </a:rPr>
              <a:t> (user time)</a:t>
            </a:r>
            <a:endParaRPr lang="en-US"/>
          </a:p>
        </p:txBody>
      </p:sp>
    </p:spTree>
    <p:extLst>
      <p:ext uri="{BB962C8B-B14F-4D97-AF65-F5344CB8AC3E}">
        <p14:creationId xmlns:p14="http://schemas.microsoft.com/office/powerpoint/2010/main" val="3970840389"/>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lassification of civil engineering structures and their uses">
            <a:extLst>
              <a:ext uri="{FF2B5EF4-FFF2-40B4-BE49-F238E27FC236}">
                <a16:creationId xmlns:a16="http://schemas.microsoft.com/office/drawing/2014/main" id="{6C132E1B-DE5A-0312-BC01-83C03CB147CE}"/>
              </a:ext>
            </a:extLst>
          </p:cNvPr>
          <p:cNvPicPr>
            <a:picLocks noChangeAspect="1"/>
          </p:cNvPicPr>
          <p:nvPr/>
        </p:nvPicPr>
        <p:blipFill>
          <a:blip r:embed="rId2"/>
          <a:stretch>
            <a:fillRect/>
          </a:stretch>
        </p:blipFill>
        <p:spPr>
          <a:xfrm>
            <a:off x="1930400" y="-67734"/>
            <a:ext cx="5283200" cy="5283200"/>
          </a:xfrm>
          <a:prstGeom prst="rect">
            <a:avLst/>
          </a:prstGeom>
        </p:spPr>
      </p:pic>
    </p:spTree>
    <p:extLst>
      <p:ext uri="{BB962C8B-B14F-4D97-AF65-F5344CB8AC3E}">
        <p14:creationId xmlns:p14="http://schemas.microsoft.com/office/powerpoint/2010/main" val="2883357854"/>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6DDA9F1-15DE-9C1E-D44C-7178A93AD1C7}"/>
              </a:ext>
            </a:extLst>
          </p:cNvPr>
          <p:cNvPicPr>
            <a:picLocks noChangeAspect="1"/>
          </p:cNvPicPr>
          <p:nvPr/>
        </p:nvPicPr>
        <p:blipFill>
          <a:blip r:embed="rId2"/>
          <a:stretch>
            <a:fillRect/>
          </a:stretch>
        </p:blipFill>
        <p:spPr>
          <a:xfrm>
            <a:off x="2584450" y="457200"/>
            <a:ext cx="3975100" cy="4229100"/>
          </a:xfrm>
          <a:prstGeom prst="rect">
            <a:avLst/>
          </a:prstGeom>
        </p:spPr>
      </p:pic>
    </p:spTree>
    <p:extLst>
      <p:ext uri="{BB962C8B-B14F-4D97-AF65-F5344CB8AC3E}">
        <p14:creationId xmlns:p14="http://schemas.microsoft.com/office/powerpoint/2010/main" val="821537106"/>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C47AC-604E-F09B-A34A-45F4DBFEACA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E4FFF69-C200-7A0D-737F-0618F90E637E}"/>
              </a:ext>
            </a:extLst>
          </p:cNvPr>
          <p:cNvSpPr>
            <a:spLocks noGrp="1"/>
          </p:cNvSpPr>
          <p:nvPr>
            <p:ph type="title"/>
          </p:nvPr>
        </p:nvSpPr>
        <p:spPr/>
        <p:txBody>
          <a:bodyPr/>
          <a:lstStyle/>
          <a:p>
            <a:r>
              <a:rPr lang="en-US"/>
              <a:t>array list</a:t>
            </a:r>
          </a:p>
        </p:txBody>
      </p:sp>
    </p:spTree>
    <p:extLst>
      <p:ext uri="{BB962C8B-B14F-4D97-AF65-F5344CB8AC3E}">
        <p14:creationId xmlns:p14="http://schemas.microsoft.com/office/powerpoint/2010/main" val="3418069089"/>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6C45A27-66CC-2428-7962-79BDD9B794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9ACC87-B0C5-1C2B-B7F6-CD87095FB9AC}"/>
              </a:ext>
            </a:extLst>
          </p:cNvPr>
          <p:cNvSpPr>
            <a:spLocks noGrp="1"/>
          </p:cNvSpPr>
          <p:nvPr>
            <p:ph type="title"/>
          </p:nvPr>
        </p:nvSpPr>
        <p:spPr>
          <a:xfrm>
            <a:off x="457200" y="254916"/>
            <a:ext cx="8229600" cy="667168"/>
          </a:xfrm>
        </p:spPr>
        <p:txBody>
          <a:bodyPr>
            <a:normAutofit/>
          </a:bodyPr>
          <a:lstStyle/>
          <a:p>
            <a:pPr lvl="0"/>
            <a:r>
              <a:rPr lang="en-US"/>
              <a:t>array list</a:t>
            </a:r>
          </a:p>
        </p:txBody>
      </p:sp>
      <p:sp>
        <p:nvSpPr>
          <p:cNvPr id="3" name="Content Placeholder 2">
            <a:extLst>
              <a:ext uri="{FF2B5EF4-FFF2-40B4-BE49-F238E27FC236}">
                <a16:creationId xmlns:a16="http://schemas.microsoft.com/office/drawing/2014/main" id="{59B92DA2-852F-84B6-052B-BD90E183D3D8}"/>
              </a:ext>
            </a:extLst>
          </p:cNvPr>
          <p:cNvSpPr>
            <a:spLocks noGrp="1"/>
          </p:cNvSpPr>
          <p:nvPr>
            <p:ph sz="quarter" idx="10"/>
          </p:nvPr>
        </p:nvSpPr>
        <p:spPr>
          <a:xfrm>
            <a:off x="457200" y="963338"/>
            <a:ext cx="8229600" cy="4080271"/>
          </a:xfrm>
        </p:spPr>
        <p:txBody>
          <a:bodyPr>
            <a:noAutofit/>
          </a:bodyPr>
          <a:lstStyle/>
          <a:p>
            <a:r>
              <a:rPr lang="en-US" b="1"/>
              <a:t>☠️ even though another name for an array list is a "vector,"</a:t>
            </a:r>
            <a:br>
              <a:rPr lang="en-US" b="1"/>
            </a:br>
            <a:r>
              <a:rPr lang="en-US" b="1"/>
              <a:t>the array list is NOT related to the notion of a vector from math/physics</a:t>
            </a:r>
          </a:p>
        </p:txBody>
      </p:sp>
    </p:spTree>
    <p:extLst>
      <p:ext uri="{BB962C8B-B14F-4D97-AF65-F5344CB8AC3E}">
        <p14:creationId xmlns:p14="http://schemas.microsoft.com/office/powerpoint/2010/main" val="1483164099"/>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EB75D-8D2E-2971-9B8A-957B242A146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A16D01-05B6-6ED3-2A39-56F1C9BDD05A}"/>
              </a:ext>
            </a:extLst>
          </p:cNvPr>
          <p:cNvSpPr>
            <a:spLocks noGrp="1"/>
          </p:cNvSpPr>
          <p:nvPr>
            <p:ph type="title"/>
          </p:nvPr>
        </p:nvSpPr>
        <p:spPr/>
        <p:txBody>
          <a:bodyPr/>
          <a:lstStyle/>
          <a:p>
            <a:r>
              <a:rPr lang="en-US"/>
              <a:t>motivation</a:t>
            </a:r>
          </a:p>
        </p:txBody>
      </p:sp>
    </p:spTree>
    <p:extLst>
      <p:ext uri="{BB962C8B-B14F-4D97-AF65-F5344CB8AC3E}">
        <p14:creationId xmlns:p14="http://schemas.microsoft.com/office/powerpoint/2010/main" val="2673539350"/>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5987B96-056C-1C9E-AD6D-1A4AA33104BE}"/>
              </a:ext>
            </a:extLst>
          </p:cNvPr>
          <p:cNvSpPr>
            <a:spLocks noGrp="1"/>
          </p:cNvSpPr>
          <p:nvPr>
            <p:ph type="title"/>
          </p:nvPr>
        </p:nvSpPr>
        <p:spPr/>
        <p:txBody>
          <a:bodyPr/>
          <a:lstStyle/>
          <a:p>
            <a:r>
              <a:rPr lang="en-US"/>
              <a:t>arrays are super useful, but...</a:t>
            </a:r>
          </a:p>
        </p:txBody>
      </p:sp>
    </p:spTree>
    <p:extLst>
      <p:ext uri="{BB962C8B-B14F-4D97-AF65-F5344CB8AC3E}">
        <p14:creationId xmlns:p14="http://schemas.microsoft.com/office/powerpoint/2010/main" val="1068011795"/>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33DF1-B0D7-4540-99B9-7D26D305FA5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B746FBB-F755-C607-C48A-51064288CCD2}"/>
              </a:ext>
            </a:extLst>
          </p:cNvPr>
          <p:cNvSpPr>
            <a:spLocks noGrp="1"/>
          </p:cNvSpPr>
          <p:nvPr>
            <p:ph type="title"/>
          </p:nvPr>
        </p:nvSpPr>
        <p:spPr/>
        <p:txBody>
          <a:bodyPr/>
          <a:lstStyle/>
          <a:p>
            <a:r>
              <a:rPr lang="en-US"/>
              <a:t>arrays are super useful, but...</a:t>
            </a:r>
            <a:br>
              <a:rPr lang="en-US"/>
            </a:br>
            <a:r>
              <a:rPr lang="en-US"/>
              <a:t>🧠</a:t>
            </a:r>
          </a:p>
        </p:txBody>
      </p:sp>
    </p:spTree>
    <p:extLst>
      <p:ext uri="{BB962C8B-B14F-4D97-AF65-F5344CB8AC3E}">
        <p14:creationId xmlns:p14="http://schemas.microsoft.com/office/powerpoint/2010/main" val="2289634129"/>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FFC69-009B-F894-86F7-7B4013D0CAC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B7FB24E-F5DF-FECE-6C47-5C43A1EA76F8}"/>
              </a:ext>
            </a:extLst>
          </p:cNvPr>
          <p:cNvSpPr>
            <a:spLocks noGrp="1"/>
          </p:cNvSpPr>
          <p:nvPr>
            <p:ph type="title"/>
          </p:nvPr>
        </p:nvSpPr>
        <p:spPr/>
        <p:txBody>
          <a:bodyPr>
            <a:noAutofit/>
          </a:bodyPr>
          <a:lstStyle/>
          <a:p>
            <a:r>
              <a:rPr lang="en-US" sz="2800" b="1"/>
              <a:t>main limitation of arrays:</a:t>
            </a:r>
            <a:r>
              <a:rPr lang="en-US" sz="2800"/>
              <a:t> can't change length</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55BD326-60CE-DCDA-5EDC-5D732253337A}"/>
                  </a:ext>
                </a:extLst>
              </p:cNvPr>
              <p:cNvSpPr>
                <a:spLocks noGrp="1"/>
              </p:cNvSpPr>
              <p:nvPr>
                <p:ph sz="quarter" idx="10"/>
              </p:nvPr>
            </p:nvSpPr>
            <p:spPr/>
            <p:txBody>
              <a:bodyPr/>
              <a:lstStyle/>
              <a:p>
                <a:r>
                  <a:rPr lang="en-US"/>
                  <a:t>🔄 an </a:t>
                </a:r>
                <a:r>
                  <a:rPr lang="en-US" b="1"/>
                  <a:t>array</a:t>
                </a:r>
                <a:r>
                  <a:rPr lang="en-US"/>
                  <a:t> is a fixed-length sequence of elements all of the same type</a:t>
                </a:r>
              </a:p>
              <a:p>
                <a:r>
                  <a:rPr lang="en-US"/>
                  <a:t>😀 very fast (</a:t>
                </a:r>
                <a14:m>
                  <m:oMath xmlns:m="http://schemas.openxmlformats.org/officeDocument/2006/math">
                    <m:r>
                      <a:rPr lang="en-US" i="1" smtClean="0">
                        <a:latin typeface="Cambria Math" panose="02040503050406030204" pitchFamily="18" charset="0"/>
                      </a:rPr>
                      <m:t>𝒪</m:t>
                    </m:r>
                    <m:r>
                      <a:rPr lang="en-US" i="1" smtClean="0">
                        <a:latin typeface="Cambria Math" panose="02040503050406030204" pitchFamily="18" charset="0"/>
                      </a:rPr>
                      <m:t>(1)</m:t>
                    </m:r>
                  </m:oMath>
                </a14:m>
                <a:r>
                  <a:rPr lang="en-US"/>
                  <a:t> access), very simple</a:t>
                </a:r>
              </a:p>
              <a:p>
                <a:r>
                  <a:rPr lang="en-US"/>
                  <a:t>😫 but what if we don't know how many elements we need?</a:t>
                </a:r>
              </a:p>
              <a:p>
                <a:pPr lvl="1"/>
                <a:r>
                  <a:rPr lang="en-US" b="1"/>
                  <a:t>🐘 solution A: </a:t>
                </a:r>
                <a:r>
                  <a:rPr lang="en-US"/>
                  <a:t>make a</a:t>
                </a:r>
                <a:r>
                  <a:rPr lang="en-US" b="1"/>
                  <a:t> </a:t>
                </a:r>
                <a:r>
                  <a:rPr lang="en-US"/>
                  <a:t>BIG array</a:t>
                </a:r>
              </a:p>
              <a:p>
                <a:pPr lvl="2"/>
                <a:r>
                  <a:rPr lang="en-US"/>
                  <a:t>🔄 </a:t>
                </a:r>
                <a:r>
                  <a:rPr lang="en-US">
                    <a:latin typeface="+mj-lt"/>
                  </a:rPr>
                  <a:t>pool = </a:t>
                </a:r>
                <a:r>
                  <a:rPr lang="en-US">
                    <a:solidFill>
                      <a:srgbClr val="0000FF"/>
                    </a:solidFill>
                    <a:effectLst/>
                    <a:latin typeface="+mj-lt"/>
                  </a:rPr>
                  <a:t>new</a:t>
                </a:r>
                <a:r>
                  <a:rPr lang="en-US">
                    <a:latin typeface="+mj-lt"/>
                  </a:rPr>
                  <a:t> </a:t>
                </a:r>
                <a:r>
                  <a:rPr lang="en-US">
                    <a:solidFill>
                      <a:srgbClr val="000080"/>
                    </a:solidFill>
                    <a:effectLst/>
                    <a:latin typeface="+mj-lt"/>
                  </a:rPr>
                  <a:t>Thing</a:t>
                </a:r>
                <a:r>
                  <a:rPr lang="en-US">
                    <a:latin typeface="+mj-lt"/>
                  </a:rPr>
                  <a:t>[</a:t>
                </a:r>
                <a:r>
                  <a:rPr lang="en-US">
                    <a:solidFill>
                      <a:srgbClr val="0CB5B5"/>
                    </a:solidFill>
                    <a:effectLst/>
                    <a:latin typeface="+mj-lt"/>
                  </a:rPr>
                  <a:t>256</a:t>
                </a:r>
                <a:r>
                  <a:rPr lang="en-US">
                    <a:latin typeface="+mj-lt"/>
                  </a:rPr>
                  <a:t>]; </a:t>
                </a:r>
                <a:r>
                  <a:rPr lang="en-US">
                    <a:solidFill>
                      <a:srgbClr val="007B00"/>
                    </a:solidFill>
                    <a:latin typeface="+mj-lt"/>
                  </a:rPr>
                  <a:t>// from HW03</a:t>
                </a:r>
              </a:p>
              <a:p>
                <a:pPr lvl="2"/>
                <a:r>
                  <a:rPr lang="en-US"/>
                  <a:t>🙂 simple</a:t>
                </a:r>
              </a:p>
              <a:p>
                <a:pPr lvl="2"/>
                <a:r>
                  <a:rPr lang="en-US"/>
                  <a:t>☹️ might end up being...</a:t>
                </a:r>
              </a:p>
              <a:p>
                <a:pPr lvl="3"/>
                <a:r>
                  <a:rPr lang="en-US" b="1"/>
                  <a:t>too long:</a:t>
                </a:r>
                <a:r>
                  <a:rPr lang="en-US"/>
                  <a:t> wastes space (often okay, but not always)</a:t>
                </a:r>
              </a:p>
              <a:p>
                <a:pPr lvl="3"/>
                <a:r>
                  <a:rPr lang="en-US" b="1"/>
                  <a:t>too short: </a:t>
                </a:r>
                <a:r>
                  <a:rPr lang="en-US"/>
                  <a:t>program crashes? (bad bad very bad)</a:t>
                </a:r>
              </a:p>
              <a:p>
                <a:pPr lvl="1"/>
                <a:r>
                  <a:rPr lang="en-US" b="1"/>
                  <a:t>🥕 solution B:</a:t>
                </a:r>
                <a:r>
                  <a:rPr lang="en-US"/>
                  <a:t> </a:t>
                </a:r>
                <a:r>
                  <a:rPr lang="en-US" i="1"/>
                  <a:t>grow the array </a:t>
                </a:r>
                <a:r>
                  <a:rPr lang="en-US"/>
                  <a:t>as needed (an </a:t>
                </a:r>
                <a:r>
                  <a:rPr lang="en-US" b="1"/>
                  <a:t>array list</a:t>
                </a:r>
                <a:r>
                  <a:rPr lang="en-US"/>
                  <a:t>)</a:t>
                </a:r>
              </a:p>
              <a:p>
                <a:pPr lvl="2"/>
                <a:r>
                  <a:rPr lang="en-US"/>
                  <a:t>🙂 pretty simple</a:t>
                </a:r>
              </a:p>
              <a:p>
                <a:pPr lvl="2"/>
                <a:r>
                  <a:rPr lang="en-US"/>
                  <a:t>🙂 pretty fast</a:t>
                </a:r>
              </a:p>
              <a:p>
                <a:pPr lvl="2"/>
                <a:endParaRPr lang="en-US"/>
              </a:p>
              <a:p>
                <a:pPr lvl="2"/>
                <a:endParaRPr lang="en-US" i="1"/>
              </a:p>
            </p:txBody>
          </p:sp>
        </mc:Choice>
        <mc:Fallback xmlns="">
          <p:sp>
            <p:nvSpPr>
              <p:cNvPr id="4" name="Content Placeholder 3">
                <a:extLst>
                  <a:ext uri="{FF2B5EF4-FFF2-40B4-BE49-F238E27FC236}">
                    <a16:creationId xmlns:a16="http://schemas.microsoft.com/office/drawing/2014/main" id="{B55BD326-60CE-DCDA-5EDC-5D732253337A}"/>
                  </a:ext>
                </a:extLst>
              </p:cNvPr>
              <p:cNvSpPr>
                <a:spLocks noGrp="1" noRot="1" noChangeAspect="1" noMove="1" noResize="1" noEditPoints="1" noAdjustHandles="1" noChangeArrowheads="1" noChangeShapeType="1" noTextEdit="1"/>
              </p:cNvSpPr>
              <p:nvPr>
                <p:ph sz="quarter" idx="10"/>
              </p:nvPr>
            </p:nvSpPr>
            <p:spPr>
              <a:blipFill>
                <a:blip r:embed="rId3"/>
                <a:stretch>
                  <a:fillRect l="-617" t="-621" b="-621"/>
                </a:stretch>
              </a:blipFill>
            </p:spPr>
            <p:txBody>
              <a:bodyPr/>
              <a:lstStyle/>
              <a:p>
                <a:r>
                  <a:rPr lang="en-US">
                    <a:noFill/>
                  </a:rPr>
                  <a:t> </a:t>
                </a:r>
              </a:p>
            </p:txBody>
          </p:sp>
        </mc:Fallback>
      </mc:AlternateContent>
    </p:spTree>
    <p:extLst>
      <p:ext uri="{BB962C8B-B14F-4D97-AF65-F5344CB8AC3E}">
        <p14:creationId xmlns:p14="http://schemas.microsoft.com/office/powerpoint/2010/main" val="1287925313"/>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6BAB5-1F40-947C-47F6-EC6F3FD045E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9F65A63-CC8C-C12F-DE1B-0B5090339422}"/>
              </a:ext>
            </a:extLst>
          </p:cNvPr>
          <p:cNvSpPr>
            <a:spLocks noGrp="1"/>
          </p:cNvSpPr>
          <p:nvPr>
            <p:ph type="title"/>
          </p:nvPr>
        </p:nvSpPr>
        <p:spPr/>
        <p:txBody>
          <a:bodyPr/>
          <a:lstStyle/>
          <a:p>
            <a:r>
              <a:rPr lang="en-US" b="1"/>
              <a:t>review: </a:t>
            </a:r>
            <a:r>
              <a:rPr lang="en-US"/>
              <a:t>array metaphor</a:t>
            </a:r>
          </a:p>
        </p:txBody>
      </p:sp>
    </p:spTree>
    <p:extLst>
      <p:ext uri="{BB962C8B-B14F-4D97-AF65-F5344CB8AC3E}">
        <p14:creationId xmlns:p14="http://schemas.microsoft.com/office/powerpoint/2010/main" val="784790657"/>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EA44F-1B4B-2831-80CB-6839B56CDAA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D549F45-7C00-6A77-8BC2-ACA5BFE1D03E}"/>
              </a:ext>
            </a:extLst>
          </p:cNvPr>
          <p:cNvSpPr>
            <a:spLocks noGrp="1"/>
          </p:cNvSpPr>
          <p:nvPr>
            <p:ph type="title"/>
          </p:nvPr>
        </p:nvSpPr>
        <p:spPr/>
        <p:txBody>
          <a:bodyPr/>
          <a:lstStyle/>
          <a:p>
            <a:pPr algn="l"/>
            <a:r>
              <a:rPr lang="en-US"/>
              <a:t>an array is like a very organized person's flower planter</a:t>
            </a:r>
            <a:br>
              <a:rPr lang="en-US"/>
            </a:br>
            <a:br>
              <a:rPr lang="en-US"/>
            </a:br>
            <a:r>
              <a:rPr lang="en-US"/>
              <a:t>- one flower per square</a:t>
            </a:r>
            <a:br>
              <a:rPr lang="en-US"/>
            </a:br>
            <a:r>
              <a:rPr lang="en-US"/>
              <a:t>- the planter can't change size</a:t>
            </a:r>
            <a:br>
              <a:rPr lang="en-US"/>
            </a:br>
            <a:r>
              <a:rPr lang="en-US" sz="4000"/>
              <a:t>  </a:t>
            </a:r>
            <a:r>
              <a:rPr lang="en-US" sz="2800"/>
              <a:t>(it is made of artisinal woods or something)</a:t>
            </a:r>
            <a:endParaRPr lang="en-US"/>
          </a:p>
        </p:txBody>
      </p:sp>
    </p:spTree>
    <p:extLst>
      <p:ext uri="{BB962C8B-B14F-4D97-AF65-F5344CB8AC3E}">
        <p14:creationId xmlns:p14="http://schemas.microsoft.com/office/powerpoint/2010/main" val="3907332843"/>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9915E-5239-11F3-ECAD-353FFBC04B3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D63D88B-6027-F848-33D2-05DE5A403C41}"/>
              </a:ext>
            </a:extLst>
          </p:cNvPr>
          <p:cNvSpPr/>
          <p:nvPr/>
        </p:nvSpPr>
        <p:spPr>
          <a:xfrm>
            <a:off x="1003852" y="1610139"/>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A850AC2-094C-389A-AAB7-066BC38F0641}"/>
              </a:ext>
            </a:extLst>
          </p:cNvPr>
          <p:cNvSpPr/>
          <p:nvPr/>
        </p:nvSpPr>
        <p:spPr>
          <a:xfrm>
            <a:off x="1003852" y="3294823"/>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81AECDE-37B6-4A38-F6ED-8EEF457E7D2D}"/>
              </a:ext>
            </a:extLst>
          </p:cNvPr>
          <p:cNvSpPr/>
          <p:nvPr/>
        </p:nvSpPr>
        <p:spPr>
          <a:xfrm rot="5400000">
            <a:off x="153271" y="2452481"/>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FDAA2C1-EBFC-689F-E072-64372E02D37C}"/>
              </a:ext>
            </a:extLst>
          </p:cNvPr>
          <p:cNvSpPr/>
          <p:nvPr/>
        </p:nvSpPr>
        <p:spPr>
          <a:xfrm rot="5400000">
            <a:off x="6800849" y="24524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F26DB83-1CF0-C5B3-A288-1127B4FD0EDE}"/>
              </a:ext>
            </a:extLst>
          </p:cNvPr>
          <p:cNvSpPr/>
          <p:nvPr/>
        </p:nvSpPr>
        <p:spPr>
          <a:xfrm rot="5400000">
            <a:off x="1778903" y="25033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C33AF95-E318-D9AF-93F1-9FE29C3D45DA}"/>
              </a:ext>
            </a:extLst>
          </p:cNvPr>
          <p:cNvSpPr/>
          <p:nvPr/>
        </p:nvSpPr>
        <p:spPr>
          <a:xfrm rot="5400000">
            <a:off x="3404503" y="25033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A9660AF-7E3F-38EC-0349-F2DE1C66B1A8}"/>
              </a:ext>
            </a:extLst>
          </p:cNvPr>
          <p:cNvSpPr/>
          <p:nvPr/>
        </p:nvSpPr>
        <p:spPr>
          <a:xfrm rot="5400000">
            <a:off x="5080903" y="2503316"/>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782E195-C5BC-4166-6083-462112CF92DC}"/>
              </a:ext>
            </a:extLst>
          </p:cNvPr>
          <p:cNvSpPr txBox="1"/>
          <p:nvPr/>
        </p:nvSpPr>
        <p:spPr>
          <a:xfrm>
            <a:off x="1148080" y="2187028"/>
            <a:ext cx="1574799" cy="769441"/>
          </a:xfrm>
          <a:prstGeom prst="rect">
            <a:avLst/>
          </a:prstGeom>
          <a:noFill/>
        </p:spPr>
        <p:txBody>
          <a:bodyPr wrap="square">
            <a:spAutoFit/>
          </a:bodyPr>
          <a:lstStyle/>
          <a:p>
            <a:pPr algn="ctr"/>
            <a:r>
              <a:rPr kumimoji="0" lang="en-US" sz="44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a:p>
        </p:txBody>
      </p:sp>
      <p:sp>
        <p:nvSpPr>
          <p:cNvPr id="15" name="TextBox 14">
            <a:extLst>
              <a:ext uri="{FF2B5EF4-FFF2-40B4-BE49-F238E27FC236}">
                <a16:creationId xmlns:a16="http://schemas.microsoft.com/office/drawing/2014/main" id="{D47F6503-4287-FBD6-0761-D522DE8712B5}"/>
              </a:ext>
            </a:extLst>
          </p:cNvPr>
          <p:cNvSpPr txBox="1"/>
          <p:nvPr/>
        </p:nvSpPr>
        <p:spPr>
          <a:xfrm>
            <a:off x="2730643" y="2063716"/>
            <a:ext cx="1574799" cy="923330"/>
          </a:xfrm>
          <a:prstGeom prst="rect">
            <a:avLst/>
          </a:prstGeom>
          <a:noFill/>
        </p:spPr>
        <p:txBody>
          <a:bodyPr wrap="square">
            <a:spAutoFit/>
          </a:bodyPr>
          <a:lstStyle/>
          <a:p>
            <a:pPr algn="ctr"/>
            <a:r>
              <a:rPr kumimoji="0" lang="en-US" sz="54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2400"/>
          </a:p>
        </p:txBody>
      </p:sp>
      <p:sp>
        <p:nvSpPr>
          <p:cNvPr id="16" name="TextBox 15">
            <a:extLst>
              <a:ext uri="{FF2B5EF4-FFF2-40B4-BE49-F238E27FC236}">
                <a16:creationId xmlns:a16="http://schemas.microsoft.com/office/drawing/2014/main" id="{412B5F9F-AAFF-62D7-A922-FBCFBF33018F}"/>
              </a:ext>
            </a:extLst>
          </p:cNvPr>
          <p:cNvSpPr txBox="1"/>
          <p:nvPr/>
        </p:nvSpPr>
        <p:spPr>
          <a:xfrm>
            <a:off x="4383752" y="1848476"/>
            <a:ext cx="1574799" cy="1446550"/>
          </a:xfrm>
          <a:prstGeom prst="rect">
            <a:avLst/>
          </a:prstGeom>
          <a:noFill/>
        </p:spPr>
        <p:txBody>
          <a:bodyPr wrap="square">
            <a:spAutoFit/>
          </a:bodyPr>
          <a:lstStyle/>
          <a:p>
            <a:pPr algn="ctr"/>
            <a:r>
              <a:rPr kumimoji="0" lang="en-US" sz="8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4400"/>
          </a:p>
        </p:txBody>
      </p:sp>
      <p:sp>
        <p:nvSpPr>
          <p:cNvPr id="20" name="TextBox 19">
            <a:extLst>
              <a:ext uri="{FF2B5EF4-FFF2-40B4-BE49-F238E27FC236}">
                <a16:creationId xmlns:a16="http://schemas.microsoft.com/office/drawing/2014/main" id="{83CD5604-2DAD-3F86-F9CC-51492B94CE5E}"/>
              </a:ext>
            </a:extLst>
          </p:cNvPr>
          <p:cNvSpPr txBox="1"/>
          <p:nvPr/>
        </p:nvSpPr>
        <p:spPr>
          <a:xfrm>
            <a:off x="6070312" y="2140661"/>
            <a:ext cx="1574799" cy="769441"/>
          </a:xfrm>
          <a:prstGeom prst="rect">
            <a:avLst/>
          </a:prstGeom>
          <a:noFill/>
        </p:spPr>
        <p:txBody>
          <a:bodyPr wrap="square">
            <a:spAutoFit/>
          </a:bodyPr>
          <a:lstStyle/>
          <a:p>
            <a:pPr algn="ctr"/>
            <a:r>
              <a:rPr kumimoji="0" lang="en-US" sz="44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a:p>
        </p:txBody>
      </p:sp>
    </p:spTree>
    <p:extLst>
      <p:ext uri="{BB962C8B-B14F-4D97-AF65-F5344CB8AC3E}">
        <p14:creationId xmlns:p14="http://schemas.microsoft.com/office/powerpoint/2010/main" val="17019370"/>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9A185-7DE8-B115-FFE9-9B3520A70B6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E0A9C91-86E7-A200-95C8-04D4B1B4E458}"/>
              </a:ext>
            </a:extLst>
          </p:cNvPr>
          <p:cNvSpPr>
            <a:spLocks noGrp="1"/>
          </p:cNvSpPr>
          <p:nvPr>
            <p:ph type="title"/>
          </p:nvPr>
        </p:nvSpPr>
        <p:spPr/>
        <p:txBody>
          <a:bodyPr/>
          <a:lstStyle/>
          <a:p>
            <a:r>
              <a:rPr lang="en-US"/>
              <a:t>how an array list works</a:t>
            </a:r>
            <a:br>
              <a:rPr lang="en-US"/>
            </a:br>
            <a:r>
              <a:rPr lang="en-US"/>
              <a:t>(metaphor)</a:t>
            </a:r>
          </a:p>
        </p:txBody>
      </p:sp>
    </p:spTree>
    <p:extLst>
      <p:ext uri="{BB962C8B-B14F-4D97-AF65-F5344CB8AC3E}">
        <p14:creationId xmlns:p14="http://schemas.microsoft.com/office/powerpoint/2010/main" val="4182565678"/>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2B3EB-E69B-30E3-D96E-E309B74A723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0859ADF-A950-1A1D-B564-6154F1B6F62B}"/>
              </a:ext>
            </a:extLst>
          </p:cNvPr>
          <p:cNvSpPr>
            <a:spLocks noGrp="1"/>
          </p:cNvSpPr>
          <p:nvPr>
            <p:ph type="title"/>
          </p:nvPr>
        </p:nvSpPr>
        <p:spPr/>
        <p:txBody>
          <a:bodyPr/>
          <a:lstStyle/>
          <a:p>
            <a:r>
              <a:rPr lang="en-US" sz="2400"/>
              <a:t>let us imagine...</a:t>
            </a:r>
          </a:p>
        </p:txBody>
      </p:sp>
      <p:pic>
        <p:nvPicPr>
          <p:cNvPr id="1026" name="Picture 2" descr="Imagination Spongebob | Know Your Meme">
            <a:extLst>
              <a:ext uri="{FF2B5EF4-FFF2-40B4-BE49-F238E27FC236}">
                <a16:creationId xmlns:a16="http://schemas.microsoft.com/office/drawing/2014/main" id="{F2C0CE71-00F0-4D41-B122-461916D596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2884394"/>
            <a:ext cx="304800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0802471"/>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BB02A-B673-B6FF-DB4F-EA4B7F5C68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E9D89-2A32-8A1A-C40A-D74D63FDE16F}"/>
              </a:ext>
            </a:extLst>
          </p:cNvPr>
          <p:cNvSpPr>
            <a:spLocks noGrp="1"/>
          </p:cNvSpPr>
          <p:nvPr>
            <p:ph type="title"/>
          </p:nvPr>
        </p:nvSpPr>
        <p:spPr/>
        <p:txBody>
          <a:bodyPr/>
          <a:lstStyle/>
          <a:p>
            <a:r>
              <a:rPr lang="en-US"/>
              <a:t>you have a bunch of pieces of produce you need to put somewhere for quick access,</a:t>
            </a:r>
            <a:br>
              <a:rPr lang="en-US"/>
            </a:br>
            <a:r>
              <a:rPr lang="en-US" sz="4400"/>
              <a:t>but you don't know how many</a:t>
            </a:r>
            <a:br>
              <a:rPr lang="en-US"/>
            </a:br>
            <a:br>
              <a:rPr lang="en-US"/>
            </a:br>
            <a:r>
              <a:rPr lang="en-US" sz="3200"/>
              <a:t>...off to the produce bank we go!</a:t>
            </a:r>
            <a:endParaRPr lang="en-US"/>
          </a:p>
        </p:txBody>
      </p:sp>
    </p:spTree>
    <p:extLst>
      <p:ext uri="{BB962C8B-B14F-4D97-AF65-F5344CB8AC3E}">
        <p14:creationId xmlns:p14="http://schemas.microsoft.com/office/powerpoint/2010/main" val="1359175279"/>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B44B5-2BB9-5CA5-C3D9-8FFF7989A6A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3543826-262F-702F-2437-E962DE97009E}"/>
              </a:ext>
            </a:extLst>
          </p:cNvPr>
          <p:cNvSpPr txBox="1"/>
          <p:nvPr/>
        </p:nvSpPr>
        <p:spPr>
          <a:xfrm>
            <a:off x="2845965" y="2150703"/>
            <a:ext cx="3030808" cy="1862048"/>
          </a:xfrm>
          <a:prstGeom prst="rect">
            <a:avLst/>
          </a:prstGeom>
          <a:noFill/>
        </p:spPr>
        <p:txBody>
          <a:bodyPr wrap="square">
            <a:spAutoFit/>
          </a:bodyPr>
          <a:lstStyle/>
          <a:p>
            <a:pPr algn="ctr"/>
            <a:r>
              <a:rPr lang="en-US" sz="11500">
                <a:solidFill>
                  <a:srgbClr val="000000"/>
                </a:solidFill>
                <a:latin typeface="Arial"/>
                <a:ea typeface="Segoe UI Emoji" panose="020B0502040204020203" pitchFamily="34" charset="0"/>
                <a:cs typeface="+mj-cs"/>
              </a:rPr>
              <a:t>👩‍🌾</a:t>
            </a:r>
            <a:endParaRPr lang="en-US" sz="8800"/>
          </a:p>
        </p:txBody>
      </p:sp>
      <p:sp>
        <p:nvSpPr>
          <p:cNvPr id="6" name="Rectangle 5">
            <a:extLst>
              <a:ext uri="{FF2B5EF4-FFF2-40B4-BE49-F238E27FC236}">
                <a16:creationId xmlns:a16="http://schemas.microsoft.com/office/drawing/2014/main" id="{16F9D7EF-1D8F-5918-1072-AB8294F70B5C}"/>
              </a:ext>
            </a:extLst>
          </p:cNvPr>
          <p:cNvSpPr/>
          <p:nvPr/>
        </p:nvSpPr>
        <p:spPr>
          <a:xfrm>
            <a:off x="1844997" y="3820247"/>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01C2C1A-3501-39BB-42CB-B5DA56438FB0}"/>
              </a:ext>
            </a:extLst>
          </p:cNvPr>
          <p:cNvSpPr txBox="1"/>
          <p:nvPr/>
        </p:nvSpPr>
        <p:spPr>
          <a:xfrm>
            <a:off x="6154072" y="3287768"/>
            <a:ext cx="2659732" cy="461665"/>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US" sz="2400" err="1">
                <a:latin typeface="Consolas" panose="020B0609020204030204" pitchFamily="49" charset="0"/>
                <a:cs typeface="Consolas" panose="020B0609020204030204" pitchFamily="49" charset="0"/>
              </a:rPr>
              <a:t>list.add</a:t>
            </a:r>
            <a:r>
              <a:rPr lang="en-US" sz="2400">
                <a:latin typeface="Consolas" panose="020B0609020204030204" pitchFamily="49" charset="0"/>
                <a:cs typeface="Consolas" panose="020B0609020204030204" pitchFamily="49" charset="0"/>
              </a:rPr>
              <a:t>(</a:t>
            </a:r>
            <a:r>
              <a:rPr kumimoji="0" lang="en-US" sz="2400" b="0" i="0" u="none" strike="noStrike" kern="1200" cap="none" spc="0" normalizeH="0" baseline="0" noProof="0">
                <a:ln>
                  <a:noFill/>
                </a:ln>
                <a:effectLst/>
                <a:uLnTx/>
                <a:uFillTx/>
                <a:latin typeface="Consolas" panose="020B0609020204030204" pitchFamily="49" charset="0"/>
                <a:ea typeface="Segoe UI Emoji" panose="020B0502040204020203" pitchFamily="34" charset="0"/>
                <a:cs typeface="Consolas" panose="020B0609020204030204" pitchFamily="49" charset="0"/>
              </a:rPr>
              <a:t>🥕);</a:t>
            </a:r>
            <a:endParaRPr kumimoji="0" lang="en-US" sz="2400" b="0" i="0" u="none" strike="noStrike" kern="1200" cap="none" spc="0" normalizeH="0" baseline="0" noProof="0">
              <a:ln>
                <a:noFill/>
              </a:ln>
              <a:effectLst/>
              <a:uLnTx/>
              <a:uFillTx/>
              <a:latin typeface="Consolas" panose="020B0609020204030204" pitchFamily="49" charset="0"/>
              <a:cs typeface="Consolas" panose="020B0609020204030204" pitchFamily="49" charset="0"/>
            </a:endParaRPr>
          </a:p>
        </p:txBody>
      </p:sp>
      <p:grpSp>
        <p:nvGrpSpPr>
          <p:cNvPr id="17" name="Group 16">
            <a:extLst>
              <a:ext uri="{FF2B5EF4-FFF2-40B4-BE49-F238E27FC236}">
                <a16:creationId xmlns:a16="http://schemas.microsoft.com/office/drawing/2014/main" id="{BB1B9D00-F842-CAFC-7CE0-65F0F1FA0143}"/>
              </a:ext>
            </a:extLst>
          </p:cNvPr>
          <p:cNvGrpSpPr/>
          <p:nvPr/>
        </p:nvGrpSpPr>
        <p:grpSpPr>
          <a:xfrm>
            <a:off x="277482" y="303351"/>
            <a:ext cx="3268890" cy="912967"/>
            <a:chOff x="582919" y="134337"/>
            <a:chExt cx="6886117" cy="1923225"/>
          </a:xfrm>
        </p:grpSpPr>
        <p:sp>
          <p:nvSpPr>
            <p:cNvPr id="2" name="Rectangle 1">
              <a:extLst>
                <a:ext uri="{FF2B5EF4-FFF2-40B4-BE49-F238E27FC236}">
                  <a16:creationId xmlns:a16="http://schemas.microsoft.com/office/drawing/2014/main" id="{FE126B54-997E-D442-D4A5-85C3A16774DE}"/>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 name="Rectangle 2">
              <a:extLst>
                <a:ext uri="{FF2B5EF4-FFF2-40B4-BE49-F238E27FC236}">
                  <a16:creationId xmlns:a16="http://schemas.microsoft.com/office/drawing/2014/main" id="{DC918D0C-7C4C-59F1-955C-5CF30A2C2860}"/>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4" name="Rectangle 3">
              <a:extLst>
                <a:ext uri="{FF2B5EF4-FFF2-40B4-BE49-F238E27FC236}">
                  <a16:creationId xmlns:a16="http://schemas.microsoft.com/office/drawing/2014/main" id="{F2895BAE-1B8B-9086-E9BE-4439728009CC}"/>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952F44EF-695E-5E4F-D98D-F8546F4AB6F1}"/>
                </a:ext>
              </a:extLst>
            </p:cNvPr>
            <p:cNvSpPr/>
            <p:nvPr/>
          </p:nvSpPr>
          <p:spPr>
            <a:xfrm rot="5400000">
              <a:off x="6388155"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48E8A4D8-E888-9256-DDD3-6A4DB7A67852}"/>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3067C7CB-4A52-7307-17D3-B54B311B9DC2}"/>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2" name="Rectangle 11">
              <a:extLst>
                <a:ext uri="{FF2B5EF4-FFF2-40B4-BE49-F238E27FC236}">
                  <a16:creationId xmlns:a16="http://schemas.microsoft.com/office/drawing/2014/main" id="{13F1998A-EA63-F83A-E67B-DFF223EF55AD}"/>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3" name="TextBox 12">
              <a:extLst>
                <a:ext uri="{FF2B5EF4-FFF2-40B4-BE49-F238E27FC236}">
                  <a16:creationId xmlns:a16="http://schemas.microsoft.com/office/drawing/2014/main" id="{1CA3F5EF-86DA-DF50-E8F6-A365CE0EADE3}"/>
                </a:ext>
              </a:extLst>
            </p:cNvPr>
            <p:cNvSpPr txBox="1"/>
            <p:nvPr/>
          </p:nvSpPr>
          <p:spPr>
            <a:xfrm>
              <a:off x="942124" y="544850"/>
              <a:ext cx="1189238" cy="551099"/>
            </a:xfrm>
            <a:prstGeom prst="rect">
              <a:avLst/>
            </a:prstGeom>
            <a:noFill/>
          </p:spPr>
          <p:txBody>
            <a:bodyPr wrap="square">
              <a:spAutoFit/>
            </a:bodyPr>
            <a:lstStyle/>
            <a:p>
              <a:pPr algn="ctr"/>
              <a:endParaRPr lang="en-US" sz="1100"/>
            </a:p>
          </p:txBody>
        </p:sp>
        <p:sp>
          <p:nvSpPr>
            <p:cNvPr id="19" name="TextBox 18">
              <a:extLst>
                <a:ext uri="{FF2B5EF4-FFF2-40B4-BE49-F238E27FC236}">
                  <a16:creationId xmlns:a16="http://schemas.microsoft.com/office/drawing/2014/main" id="{8134065F-6A02-257E-5732-3952957E5FE2}"/>
                </a:ext>
              </a:extLst>
            </p:cNvPr>
            <p:cNvSpPr txBox="1"/>
            <p:nvPr/>
          </p:nvSpPr>
          <p:spPr>
            <a:xfrm>
              <a:off x="2527435" y="544850"/>
              <a:ext cx="1189238" cy="551099"/>
            </a:xfrm>
            <a:prstGeom prst="rect">
              <a:avLst/>
            </a:prstGeom>
            <a:noFill/>
          </p:spPr>
          <p:txBody>
            <a:bodyPr wrap="square">
              <a:spAutoFit/>
            </a:bodyPr>
            <a:lstStyle/>
            <a:p>
              <a:pPr algn="ctr"/>
              <a:endParaRPr lang="en-US" sz="1100"/>
            </a:p>
          </p:txBody>
        </p:sp>
        <p:sp>
          <p:nvSpPr>
            <p:cNvPr id="20" name="TextBox 19">
              <a:extLst>
                <a:ext uri="{FF2B5EF4-FFF2-40B4-BE49-F238E27FC236}">
                  <a16:creationId xmlns:a16="http://schemas.microsoft.com/office/drawing/2014/main" id="{F598076D-6CE7-F617-914D-0F4940982A14}"/>
                </a:ext>
              </a:extLst>
            </p:cNvPr>
            <p:cNvSpPr txBox="1"/>
            <p:nvPr/>
          </p:nvSpPr>
          <p:spPr>
            <a:xfrm>
              <a:off x="4215027" y="544850"/>
              <a:ext cx="1189238" cy="551099"/>
            </a:xfrm>
            <a:prstGeom prst="rect">
              <a:avLst/>
            </a:prstGeom>
            <a:noFill/>
          </p:spPr>
          <p:txBody>
            <a:bodyPr wrap="square">
              <a:spAutoFit/>
            </a:bodyPr>
            <a:lstStyle/>
            <a:p>
              <a:pPr algn="ctr"/>
              <a:endParaRPr lang="en-US" sz="1100"/>
            </a:p>
          </p:txBody>
        </p:sp>
        <p:sp>
          <p:nvSpPr>
            <p:cNvPr id="21" name="TextBox 20">
              <a:extLst>
                <a:ext uri="{FF2B5EF4-FFF2-40B4-BE49-F238E27FC236}">
                  <a16:creationId xmlns:a16="http://schemas.microsoft.com/office/drawing/2014/main" id="{FBA45EB9-40D1-7BAC-DE9D-AFB2DA6DBA03}"/>
                </a:ext>
              </a:extLst>
            </p:cNvPr>
            <p:cNvSpPr txBox="1"/>
            <p:nvPr/>
          </p:nvSpPr>
          <p:spPr>
            <a:xfrm>
              <a:off x="5868523" y="544850"/>
              <a:ext cx="1189238" cy="551099"/>
            </a:xfrm>
            <a:prstGeom prst="rect">
              <a:avLst/>
            </a:prstGeom>
            <a:noFill/>
          </p:spPr>
          <p:txBody>
            <a:bodyPr wrap="square">
              <a:spAutoFit/>
            </a:bodyPr>
            <a:lstStyle/>
            <a:p>
              <a:pPr algn="ctr"/>
              <a:endParaRPr lang="en-US" sz="1100"/>
            </a:p>
          </p:txBody>
        </p:sp>
      </p:grpSp>
      <p:sp>
        <p:nvSpPr>
          <p:cNvPr id="24" name="TextBox 23">
            <a:extLst>
              <a:ext uri="{FF2B5EF4-FFF2-40B4-BE49-F238E27FC236}">
                <a16:creationId xmlns:a16="http://schemas.microsoft.com/office/drawing/2014/main" id="{C62626D8-55F5-9D73-F63C-186C0ED425DF}"/>
              </a:ext>
            </a:extLst>
          </p:cNvPr>
          <p:cNvSpPr txBox="1"/>
          <p:nvPr/>
        </p:nvSpPr>
        <p:spPr>
          <a:xfrm>
            <a:off x="5025739" y="2701402"/>
            <a:ext cx="1242029" cy="1107996"/>
          </a:xfrm>
          <a:prstGeom prst="rect">
            <a:avLst/>
          </a:prstGeom>
          <a:noFill/>
        </p:spPr>
        <p:txBody>
          <a:bodyPr wrap="square">
            <a:spAutoFit/>
          </a:bodyPr>
          <a:lstStyle/>
          <a:p>
            <a:pPr algn="ctr"/>
            <a:r>
              <a:rPr kumimoji="0" lang="en-US" sz="66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sz="5400"/>
          </a:p>
        </p:txBody>
      </p:sp>
    </p:spTree>
    <p:extLst>
      <p:ext uri="{BB962C8B-B14F-4D97-AF65-F5344CB8AC3E}">
        <p14:creationId xmlns:p14="http://schemas.microsoft.com/office/powerpoint/2010/main" val="2055472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par>
                          <p:cTn id="7" fill="hold">
                            <p:stCondLst>
                              <p:cond delay="0"/>
                            </p:stCondLst>
                            <p:childTnLst>
                              <p:par>
                                <p:cTn id="8" presetID="47" presetClass="entr" presetSubtype="0" fill="hold" grpId="0" nodeType="after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anim calcmode="lin" valueType="num">
                                      <p:cBhvr>
                                        <p:cTn id="11" dur="500" fill="hold"/>
                                        <p:tgtEl>
                                          <p:spTgt spid="24"/>
                                        </p:tgtEl>
                                        <p:attrNameLst>
                                          <p:attrName>ppt_x</p:attrName>
                                        </p:attrNameLst>
                                      </p:cBhvr>
                                      <p:tavLst>
                                        <p:tav tm="0">
                                          <p:val>
                                            <p:strVal val="#ppt_x"/>
                                          </p:val>
                                        </p:tav>
                                        <p:tav tm="100000">
                                          <p:val>
                                            <p:strVal val="#ppt_x"/>
                                          </p:val>
                                        </p:tav>
                                      </p:tavLst>
                                    </p:anim>
                                    <p:anim calcmode="lin" valueType="num">
                                      <p:cBhvr>
                                        <p:cTn id="12" dur="5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4" grpId="0"/>
    </p:bldLst>
  </p:timing>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DA2E8-FC16-ACA5-7BBF-D8ADF8F2581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37B5317-5605-889E-FA17-774B43B92A35}"/>
              </a:ext>
            </a:extLst>
          </p:cNvPr>
          <p:cNvSpPr txBox="1"/>
          <p:nvPr/>
        </p:nvSpPr>
        <p:spPr>
          <a:xfrm>
            <a:off x="2845965" y="2150703"/>
            <a:ext cx="3030808" cy="1862048"/>
          </a:xfrm>
          <a:prstGeom prst="rect">
            <a:avLst/>
          </a:prstGeom>
          <a:noFill/>
        </p:spPr>
        <p:txBody>
          <a:bodyPr wrap="square">
            <a:spAutoFit/>
          </a:bodyPr>
          <a:lstStyle/>
          <a:p>
            <a:pPr algn="ctr"/>
            <a:r>
              <a:rPr lang="en-US" sz="11500">
                <a:solidFill>
                  <a:srgbClr val="000000"/>
                </a:solidFill>
                <a:latin typeface="Arial"/>
                <a:ea typeface="Segoe UI Emoji" panose="020B0502040204020203" pitchFamily="34" charset="0"/>
                <a:cs typeface="+mj-cs"/>
              </a:rPr>
              <a:t>👩‍🌾</a:t>
            </a:r>
            <a:endParaRPr lang="en-US" sz="8800"/>
          </a:p>
        </p:txBody>
      </p:sp>
      <p:sp>
        <p:nvSpPr>
          <p:cNvPr id="6" name="Rectangle 5">
            <a:extLst>
              <a:ext uri="{FF2B5EF4-FFF2-40B4-BE49-F238E27FC236}">
                <a16:creationId xmlns:a16="http://schemas.microsoft.com/office/drawing/2014/main" id="{C887FC9E-A097-DB1D-1BEF-27BD0E09061C}"/>
              </a:ext>
            </a:extLst>
          </p:cNvPr>
          <p:cNvSpPr/>
          <p:nvPr/>
        </p:nvSpPr>
        <p:spPr>
          <a:xfrm>
            <a:off x="1844997" y="3820247"/>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4C02492A-867D-BBFF-40F0-1DB2AA98846B}"/>
              </a:ext>
            </a:extLst>
          </p:cNvPr>
          <p:cNvGrpSpPr/>
          <p:nvPr/>
        </p:nvGrpSpPr>
        <p:grpSpPr>
          <a:xfrm>
            <a:off x="277482" y="303351"/>
            <a:ext cx="3268890" cy="912967"/>
            <a:chOff x="582919" y="134337"/>
            <a:chExt cx="6886117" cy="1923225"/>
          </a:xfrm>
        </p:grpSpPr>
        <p:sp>
          <p:nvSpPr>
            <p:cNvPr id="2" name="Rectangle 1">
              <a:extLst>
                <a:ext uri="{FF2B5EF4-FFF2-40B4-BE49-F238E27FC236}">
                  <a16:creationId xmlns:a16="http://schemas.microsoft.com/office/drawing/2014/main" id="{AAA44DC1-1894-BFD6-7411-F2F94D0AD27D}"/>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 name="Rectangle 2">
              <a:extLst>
                <a:ext uri="{FF2B5EF4-FFF2-40B4-BE49-F238E27FC236}">
                  <a16:creationId xmlns:a16="http://schemas.microsoft.com/office/drawing/2014/main" id="{1E7FE084-4305-C032-6F0E-B30A79F6C731}"/>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4" name="Rectangle 3">
              <a:extLst>
                <a:ext uri="{FF2B5EF4-FFF2-40B4-BE49-F238E27FC236}">
                  <a16:creationId xmlns:a16="http://schemas.microsoft.com/office/drawing/2014/main" id="{36D7B1D1-73DE-314F-16C6-DDF09CD3BBFD}"/>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1A8D184A-5510-0045-21F2-BB461E34C188}"/>
                </a:ext>
              </a:extLst>
            </p:cNvPr>
            <p:cNvSpPr/>
            <p:nvPr/>
          </p:nvSpPr>
          <p:spPr>
            <a:xfrm rot="5400000">
              <a:off x="6388155"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C0E7D7FE-1EF4-C66F-0A29-B9BE77DE3676}"/>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20043A75-6FFA-AF44-3AC1-98876BAEC614}"/>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2" name="Rectangle 11">
              <a:extLst>
                <a:ext uri="{FF2B5EF4-FFF2-40B4-BE49-F238E27FC236}">
                  <a16:creationId xmlns:a16="http://schemas.microsoft.com/office/drawing/2014/main" id="{A724A0D4-7BBD-FEDC-2AAE-A92F19D8999E}"/>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3" name="TextBox 12">
              <a:extLst>
                <a:ext uri="{FF2B5EF4-FFF2-40B4-BE49-F238E27FC236}">
                  <a16:creationId xmlns:a16="http://schemas.microsoft.com/office/drawing/2014/main" id="{7B6C27A2-9D27-D917-D681-DFB618EF03DB}"/>
                </a:ext>
              </a:extLst>
            </p:cNvPr>
            <p:cNvSpPr txBox="1"/>
            <p:nvPr/>
          </p:nvSpPr>
          <p:spPr>
            <a:xfrm>
              <a:off x="942124" y="544850"/>
              <a:ext cx="1189238" cy="551099"/>
            </a:xfrm>
            <a:prstGeom prst="rect">
              <a:avLst/>
            </a:prstGeom>
            <a:noFill/>
          </p:spPr>
          <p:txBody>
            <a:bodyPr wrap="square">
              <a:spAutoFit/>
            </a:bodyPr>
            <a:lstStyle/>
            <a:p>
              <a:pPr algn="ctr"/>
              <a:endParaRPr lang="en-US" sz="1100"/>
            </a:p>
          </p:txBody>
        </p:sp>
        <p:sp>
          <p:nvSpPr>
            <p:cNvPr id="19" name="TextBox 18">
              <a:extLst>
                <a:ext uri="{FF2B5EF4-FFF2-40B4-BE49-F238E27FC236}">
                  <a16:creationId xmlns:a16="http://schemas.microsoft.com/office/drawing/2014/main" id="{690F2018-BC95-62E0-28AE-1F1E5E9A7ED6}"/>
                </a:ext>
              </a:extLst>
            </p:cNvPr>
            <p:cNvSpPr txBox="1"/>
            <p:nvPr/>
          </p:nvSpPr>
          <p:spPr>
            <a:xfrm>
              <a:off x="2527435" y="544850"/>
              <a:ext cx="1189238" cy="551099"/>
            </a:xfrm>
            <a:prstGeom prst="rect">
              <a:avLst/>
            </a:prstGeom>
            <a:noFill/>
          </p:spPr>
          <p:txBody>
            <a:bodyPr wrap="square">
              <a:spAutoFit/>
            </a:bodyPr>
            <a:lstStyle/>
            <a:p>
              <a:pPr algn="ctr"/>
              <a:endParaRPr lang="en-US" sz="1100"/>
            </a:p>
          </p:txBody>
        </p:sp>
        <p:sp>
          <p:nvSpPr>
            <p:cNvPr id="20" name="TextBox 19">
              <a:extLst>
                <a:ext uri="{FF2B5EF4-FFF2-40B4-BE49-F238E27FC236}">
                  <a16:creationId xmlns:a16="http://schemas.microsoft.com/office/drawing/2014/main" id="{08C0B5D2-D754-7D7E-FDBC-DF23C790AA12}"/>
                </a:ext>
              </a:extLst>
            </p:cNvPr>
            <p:cNvSpPr txBox="1"/>
            <p:nvPr/>
          </p:nvSpPr>
          <p:spPr>
            <a:xfrm>
              <a:off x="4215027" y="544850"/>
              <a:ext cx="1189238" cy="551099"/>
            </a:xfrm>
            <a:prstGeom prst="rect">
              <a:avLst/>
            </a:prstGeom>
            <a:noFill/>
          </p:spPr>
          <p:txBody>
            <a:bodyPr wrap="square">
              <a:spAutoFit/>
            </a:bodyPr>
            <a:lstStyle/>
            <a:p>
              <a:pPr algn="ctr"/>
              <a:endParaRPr lang="en-US" sz="1100"/>
            </a:p>
          </p:txBody>
        </p:sp>
        <p:sp>
          <p:nvSpPr>
            <p:cNvPr id="21" name="TextBox 20">
              <a:extLst>
                <a:ext uri="{FF2B5EF4-FFF2-40B4-BE49-F238E27FC236}">
                  <a16:creationId xmlns:a16="http://schemas.microsoft.com/office/drawing/2014/main" id="{41E9FF4C-A9C9-A442-9EA6-D759E5D936E2}"/>
                </a:ext>
              </a:extLst>
            </p:cNvPr>
            <p:cNvSpPr txBox="1"/>
            <p:nvPr/>
          </p:nvSpPr>
          <p:spPr>
            <a:xfrm>
              <a:off x="5868523" y="544850"/>
              <a:ext cx="1189238" cy="551099"/>
            </a:xfrm>
            <a:prstGeom prst="rect">
              <a:avLst/>
            </a:prstGeom>
            <a:noFill/>
          </p:spPr>
          <p:txBody>
            <a:bodyPr wrap="square">
              <a:spAutoFit/>
            </a:bodyPr>
            <a:lstStyle/>
            <a:p>
              <a:pPr algn="ctr"/>
              <a:endParaRPr lang="en-US" sz="1100"/>
            </a:p>
          </p:txBody>
        </p:sp>
      </p:grpSp>
      <p:sp>
        <p:nvSpPr>
          <p:cNvPr id="23" name="TextBox 22">
            <a:extLst>
              <a:ext uri="{FF2B5EF4-FFF2-40B4-BE49-F238E27FC236}">
                <a16:creationId xmlns:a16="http://schemas.microsoft.com/office/drawing/2014/main" id="{A372E24E-6718-F301-C267-0B902ECD91F8}"/>
              </a:ext>
            </a:extLst>
          </p:cNvPr>
          <p:cNvSpPr txBox="1"/>
          <p:nvPr/>
        </p:nvSpPr>
        <p:spPr>
          <a:xfrm>
            <a:off x="447999" y="498224"/>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4" name="TextBox 13">
            <a:extLst>
              <a:ext uri="{FF2B5EF4-FFF2-40B4-BE49-F238E27FC236}">
                <a16:creationId xmlns:a16="http://schemas.microsoft.com/office/drawing/2014/main" id="{431A0C61-0DE5-EAFC-9605-FCC3E71FEE0C}"/>
              </a:ext>
            </a:extLst>
          </p:cNvPr>
          <p:cNvSpPr txBox="1"/>
          <p:nvPr/>
        </p:nvSpPr>
        <p:spPr>
          <a:xfrm>
            <a:off x="6154072" y="3287768"/>
            <a:ext cx="2659732" cy="461665"/>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US" sz="2400" err="1">
                <a:latin typeface="Consolas" panose="020B0609020204030204" pitchFamily="49" charset="0"/>
                <a:cs typeface="Consolas" panose="020B0609020204030204" pitchFamily="49" charset="0"/>
              </a:rPr>
              <a:t>list.add</a:t>
            </a:r>
            <a:r>
              <a:rPr lang="en-US" sz="2400">
                <a:latin typeface="Consolas" panose="020B0609020204030204" pitchFamily="49" charset="0"/>
                <a:cs typeface="Consolas" panose="020B0609020204030204" pitchFamily="49" charset="0"/>
              </a:rPr>
              <a:t>(</a:t>
            </a:r>
            <a:r>
              <a:rPr kumimoji="0" lang="en-US" sz="2400" b="0" i="0" u="none" strike="noStrike" kern="1200" cap="none" spc="0" normalizeH="0" baseline="0" noProof="0">
                <a:ln>
                  <a:noFill/>
                </a:ln>
                <a:effectLst/>
                <a:uLnTx/>
                <a:uFillTx/>
                <a:latin typeface="Consolas" panose="020B0609020204030204" pitchFamily="49" charset="0"/>
                <a:ea typeface="Segoe UI Emoji" panose="020B0502040204020203" pitchFamily="34" charset="0"/>
                <a:cs typeface="Consolas" panose="020B0609020204030204" pitchFamily="49" charset="0"/>
              </a:rPr>
              <a:t>🥕);</a:t>
            </a:r>
            <a:endParaRPr kumimoji="0" lang="en-US" sz="2400" b="0" i="0" u="none" strike="noStrike" kern="1200" cap="none" spc="0" normalizeH="0" baseline="0" noProof="0">
              <a:ln>
                <a:noFill/>
              </a:ln>
              <a:effectLst/>
              <a:uLnTx/>
              <a:uFillTx/>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14669234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85204-FD32-B5BF-113B-7C82FF7A823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7C60B93-33BB-74A3-A097-554AAA27CDE8}"/>
              </a:ext>
            </a:extLst>
          </p:cNvPr>
          <p:cNvSpPr txBox="1"/>
          <p:nvPr/>
        </p:nvSpPr>
        <p:spPr>
          <a:xfrm>
            <a:off x="2845965" y="2150703"/>
            <a:ext cx="3030808" cy="1862048"/>
          </a:xfrm>
          <a:prstGeom prst="rect">
            <a:avLst/>
          </a:prstGeom>
          <a:noFill/>
        </p:spPr>
        <p:txBody>
          <a:bodyPr wrap="square">
            <a:spAutoFit/>
          </a:bodyPr>
          <a:lstStyle/>
          <a:p>
            <a:pPr algn="ctr"/>
            <a:r>
              <a:rPr lang="en-US" sz="11500">
                <a:solidFill>
                  <a:srgbClr val="000000"/>
                </a:solidFill>
                <a:latin typeface="Arial"/>
                <a:ea typeface="Segoe UI Emoji" panose="020B0502040204020203" pitchFamily="34" charset="0"/>
                <a:cs typeface="+mj-cs"/>
              </a:rPr>
              <a:t>👩‍🌾</a:t>
            </a:r>
            <a:endParaRPr lang="en-US" sz="8800"/>
          </a:p>
        </p:txBody>
      </p:sp>
      <p:sp>
        <p:nvSpPr>
          <p:cNvPr id="6" name="Rectangle 5">
            <a:extLst>
              <a:ext uri="{FF2B5EF4-FFF2-40B4-BE49-F238E27FC236}">
                <a16:creationId xmlns:a16="http://schemas.microsoft.com/office/drawing/2014/main" id="{52970257-BBC7-F371-FACB-6AE77ECF5191}"/>
              </a:ext>
            </a:extLst>
          </p:cNvPr>
          <p:cNvSpPr/>
          <p:nvPr/>
        </p:nvSpPr>
        <p:spPr>
          <a:xfrm>
            <a:off x="1844997" y="3820247"/>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84B4601-D83E-75E0-35D5-37766F839D5C}"/>
              </a:ext>
            </a:extLst>
          </p:cNvPr>
          <p:cNvSpPr txBox="1"/>
          <p:nvPr/>
        </p:nvSpPr>
        <p:spPr>
          <a:xfrm>
            <a:off x="6154072" y="3287768"/>
            <a:ext cx="2659732" cy="461665"/>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US" sz="2400" err="1">
                <a:latin typeface="Consolas" panose="020B0609020204030204" pitchFamily="49" charset="0"/>
                <a:cs typeface="Consolas" panose="020B0609020204030204" pitchFamily="49" charset="0"/>
              </a:rPr>
              <a:t>list.add</a:t>
            </a:r>
            <a:r>
              <a:rPr lang="en-US" sz="2400">
                <a:latin typeface="Consolas" panose="020B0609020204030204" pitchFamily="49" charset="0"/>
                <a:cs typeface="Consolas" panose="020B0609020204030204" pitchFamily="49" charset="0"/>
              </a:rPr>
              <a:t>(</a:t>
            </a:r>
            <a:r>
              <a:rPr kumimoji="0" lang="en-US" sz="2400" b="0" i="0" u="none" strike="noStrike" kern="1200" cap="none" spc="0" normalizeH="0" baseline="0" noProof="0">
                <a:ln>
                  <a:noFill/>
                </a:ln>
                <a:effectLst/>
                <a:uLnTx/>
                <a:uFillTx/>
                <a:latin typeface="Consolas" panose="020B0609020204030204" pitchFamily="49" charset="0"/>
                <a:ea typeface="Segoe UI Emoji" panose="020B0502040204020203" pitchFamily="34" charset="0"/>
                <a:cs typeface="Consolas" panose="020B0609020204030204" pitchFamily="49" charset="0"/>
              </a:rPr>
              <a:t>🍎);</a:t>
            </a:r>
            <a:endParaRPr kumimoji="0" lang="en-US" sz="2400" b="0" i="0" u="none" strike="noStrike" kern="1200" cap="none" spc="0" normalizeH="0" baseline="0" noProof="0">
              <a:ln>
                <a:noFill/>
              </a:ln>
              <a:effectLst/>
              <a:uLnTx/>
              <a:uFillTx/>
              <a:latin typeface="Consolas" panose="020B0609020204030204" pitchFamily="49" charset="0"/>
              <a:cs typeface="Consolas" panose="020B0609020204030204" pitchFamily="49" charset="0"/>
            </a:endParaRPr>
          </a:p>
        </p:txBody>
      </p:sp>
      <p:grpSp>
        <p:nvGrpSpPr>
          <p:cNvPr id="17" name="Group 16">
            <a:extLst>
              <a:ext uri="{FF2B5EF4-FFF2-40B4-BE49-F238E27FC236}">
                <a16:creationId xmlns:a16="http://schemas.microsoft.com/office/drawing/2014/main" id="{26107C45-DFA3-2445-6506-210587DDDB49}"/>
              </a:ext>
            </a:extLst>
          </p:cNvPr>
          <p:cNvGrpSpPr/>
          <p:nvPr/>
        </p:nvGrpSpPr>
        <p:grpSpPr>
          <a:xfrm>
            <a:off x="277482" y="303351"/>
            <a:ext cx="3268890" cy="912967"/>
            <a:chOff x="582919" y="134337"/>
            <a:chExt cx="6886117" cy="1923225"/>
          </a:xfrm>
        </p:grpSpPr>
        <p:sp>
          <p:nvSpPr>
            <p:cNvPr id="2" name="Rectangle 1">
              <a:extLst>
                <a:ext uri="{FF2B5EF4-FFF2-40B4-BE49-F238E27FC236}">
                  <a16:creationId xmlns:a16="http://schemas.microsoft.com/office/drawing/2014/main" id="{A111A790-A828-BC88-321E-565D7F4E1FF0}"/>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 name="Rectangle 2">
              <a:extLst>
                <a:ext uri="{FF2B5EF4-FFF2-40B4-BE49-F238E27FC236}">
                  <a16:creationId xmlns:a16="http://schemas.microsoft.com/office/drawing/2014/main" id="{9213FCCC-EC8E-6464-BB4C-306716915CC1}"/>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4" name="Rectangle 3">
              <a:extLst>
                <a:ext uri="{FF2B5EF4-FFF2-40B4-BE49-F238E27FC236}">
                  <a16:creationId xmlns:a16="http://schemas.microsoft.com/office/drawing/2014/main" id="{2C0512C5-BAEA-6791-5546-D9F15715E2D0}"/>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549FE712-0D18-B8A5-1EB8-F5934CC66523}"/>
                </a:ext>
              </a:extLst>
            </p:cNvPr>
            <p:cNvSpPr/>
            <p:nvPr/>
          </p:nvSpPr>
          <p:spPr>
            <a:xfrm rot="5400000">
              <a:off x="6388155"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1EA040F8-4BAC-68C7-A0C9-E702011C0616}"/>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ED178CD1-A52E-16CC-2514-A376343A56F9}"/>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2" name="Rectangle 11">
              <a:extLst>
                <a:ext uri="{FF2B5EF4-FFF2-40B4-BE49-F238E27FC236}">
                  <a16:creationId xmlns:a16="http://schemas.microsoft.com/office/drawing/2014/main" id="{7350E5BC-FBFA-976A-D0E5-01FB04CA1E76}"/>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3" name="TextBox 12">
              <a:extLst>
                <a:ext uri="{FF2B5EF4-FFF2-40B4-BE49-F238E27FC236}">
                  <a16:creationId xmlns:a16="http://schemas.microsoft.com/office/drawing/2014/main" id="{ABC5F9B9-3C59-3F96-119A-BE3056C4D1F9}"/>
                </a:ext>
              </a:extLst>
            </p:cNvPr>
            <p:cNvSpPr txBox="1"/>
            <p:nvPr/>
          </p:nvSpPr>
          <p:spPr>
            <a:xfrm>
              <a:off x="942124" y="544849"/>
              <a:ext cx="1189238" cy="1102196"/>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grpSp>
      <p:sp>
        <p:nvSpPr>
          <p:cNvPr id="16" name="TextBox 15">
            <a:extLst>
              <a:ext uri="{FF2B5EF4-FFF2-40B4-BE49-F238E27FC236}">
                <a16:creationId xmlns:a16="http://schemas.microsoft.com/office/drawing/2014/main" id="{B64A4996-DEEF-C81F-277E-08689836395D}"/>
              </a:ext>
            </a:extLst>
          </p:cNvPr>
          <p:cNvSpPr txBox="1"/>
          <p:nvPr/>
        </p:nvSpPr>
        <p:spPr>
          <a:xfrm>
            <a:off x="5025739" y="2701402"/>
            <a:ext cx="1242029" cy="1107996"/>
          </a:xfrm>
          <a:prstGeom prst="rect">
            <a:avLst/>
          </a:prstGeom>
          <a:noFill/>
        </p:spPr>
        <p:txBody>
          <a:bodyPr wrap="square">
            <a:spAutoFit/>
          </a:bodyPr>
          <a:lstStyle/>
          <a:p>
            <a:pPr algn="ctr"/>
            <a:r>
              <a:rPr kumimoji="0" lang="en-US" sz="66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sz="5400"/>
          </a:p>
        </p:txBody>
      </p:sp>
    </p:spTree>
    <p:extLst>
      <p:ext uri="{BB962C8B-B14F-4D97-AF65-F5344CB8AC3E}">
        <p14:creationId xmlns:p14="http://schemas.microsoft.com/office/powerpoint/2010/main" val="76751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1"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anim calcmode="lin" valueType="num">
                                      <p:cBhvr>
                                        <p:cTn id="8" dur="500" fill="hold"/>
                                        <p:tgtEl>
                                          <p:spTgt spid="16"/>
                                        </p:tgtEl>
                                        <p:attrNameLst>
                                          <p:attrName>ppt_x</p:attrName>
                                        </p:attrNameLst>
                                      </p:cBhvr>
                                      <p:tavLst>
                                        <p:tav tm="0">
                                          <p:val>
                                            <p:strVal val="#ppt_x"/>
                                          </p:val>
                                        </p:tav>
                                        <p:tav tm="100000">
                                          <p:val>
                                            <p:strVal val="#ppt_x"/>
                                          </p:val>
                                        </p:tav>
                                      </p:tavLst>
                                    </p:anim>
                                    <p:anim calcmode="lin" valueType="num">
                                      <p:cBhvr>
                                        <p:cTn id="9" dur="5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1"/>
    </p:bldLst>
  </p:timing>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998B4-93C7-1451-29AC-44AB54AB3B3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E226D74-DA7A-89C1-7C8C-01C635577E12}"/>
              </a:ext>
            </a:extLst>
          </p:cNvPr>
          <p:cNvSpPr txBox="1"/>
          <p:nvPr/>
        </p:nvSpPr>
        <p:spPr>
          <a:xfrm>
            <a:off x="2845965" y="2150703"/>
            <a:ext cx="3030808" cy="1862048"/>
          </a:xfrm>
          <a:prstGeom prst="rect">
            <a:avLst/>
          </a:prstGeom>
          <a:noFill/>
        </p:spPr>
        <p:txBody>
          <a:bodyPr wrap="square">
            <a:spAutoFit/>
          </a:bodyPr>
          <a:lstStyle/>
          <a:p>
            <a:pPr algn="ctr"/>
            <a:r>
              <a:rPr lang="en-US" sz="11500">
                <a:solidFill>
                  <a:srgbClr val="000000"/>
                </a:solidFill>
                <a:latin typeface="Arial"/>
                <a:ea typeface="Segoe UI Emoji" panose="020B0502040204020203" pitchFamily="34" charset="0"/>
                <a:cs typeface="+mj-cs"/>
              </a:rPr>
              <a:t>👩‍🌾</a:t>
            </a:r>
            <a:endParaRPr lang="en-US" sz="8800"/>
          </a:p>
        </p:txBody>
      </p:sp>
      <p:sp>
        <p:nvSpPr>
          <p:cNvPr id="6" name="Rectangle 5">
            <a:extLst>
              <a:ext uri="{FF2B5EF4-FFF2-40B4-BE49-F238E27FC236}">
                <a16:creationId xmlns:a16="http://schemas.microsoft.com/office/drawing/2014/main" id="{AB68D685-36A2-1204-7C7F-AF2912721258}"/>
              </a:ext>
            </a:extLst>
          </p:cNvPr>
          <p:cNvSpPr/>
          <p:nvPr/>
        </p:nvSpPr>
        <p:spPr>
          <a:xfrm>
            <a:off x="1844997" y="3820247"/>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A8242D1E-E2AF-23CD-BA99-C22955A41A22}"/>
              </a:ext>
            </a:extLst>
          </p:cNvPr>
          <p:cNvGrpSpPr/>
          <p:nvPr/>
        </p:nvGrpSpPr>
        <p:grpSpPr>
          <a:xfrm>
            <a:off x="277482" y="303351"/>
            <a:ext cx="3268890" cy="912967"/>
            <a:chOff x="582919" y="134337"/>
            <a:chExt cx="6886117" cy="1923225"/>
          </a:xfrm>
        </p:grpSpPr>
        <p:sp>
          <p:nvSpPr>
            <p:cNvPr id="2" name="Rectangle 1">
              <a:extLst>
                <a:ext uri="{FF2B5EF4-FFF2-40B4-BE49-F238E27FC236}">
                  <a16:creationId xmlns:a16="http://schemas.microsoft.com/office/drawing/2014/main" id="{FCF91314-DA0E-8228-76CB-23C77B2A016A}"/>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 name="Rectangle 2">
              <a:extLst>
                <a:ext uri="{FF2B5EF4-FFF2-40B4-BE49-F238E27FC236}">
                  <a16:creationId xmlns:a16="http://schemas.microsoft.com/office/drawing/2014/main" id="{D0CF9143-E154-29C2-D04A-3A1E984DC268}"/>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4" name="Rectangle 3">
              <a:extLst>
                <a:ext uri="{FF2B5EF4-FFF2-40B4-BE49-F238E27FC236}">
                  <a16:creationId xmlns:a16="http://schemas.microsoft.com/office/drawing/2014/main" id="{AD4DA66F-5921-9B11-5986-83517684A8C0}"/>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9EA8A1DD-A040-59B5-31C0-D7237A231348}"/>
                </a:ext>
              </a:extLst>
            </p:cNvPr>
            <p:cNvSpPr/>
            <p:nvPr/>
          </p:nvSpPr>
          <p:spPr>
            <a:xfrm rot="5400000">
              <a:off x="6388155"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16922F9D-F472-33FA-3637-1AFC6E42462B}"/>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8F9E68CD-D6E8-875B-1794-231FF0661C8A}"/>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2" name="Rectangle 11">
              <a:extLst>
                <a:ext uri="{FF2B5EF4-FFF2-40B4-BE49-F238E27FC236}">
                  <a16:creationId xmlns:a16="http://schemas.microsoft.com/office/drawing/2014/main" id="{D27B98EE-A21E-335D-09E6-D68548AC9755}"/>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3" name="TextBox 12">
              <a:extLst>
                <a:ext uri="{FF2B5EF4-FFF2-40B4-BE49-F238E27FC236}">
                  <a16:creationId xmlns:a16="http://schemas.microsoft.com/office/drawing/2014/main" id="{6B45F2B4-E70B-3279-A240-EC3FB106656A}"/>
                </a:ext>
              </a:extLst>
            </p:cNvPr>
            <p:cNvSpPr txBox="1"/>
            <p:nvPr/>
          </p:nvSpPr>
          <p:spPr>
            <a:xfrm>
              <a:off x="942124" y="544849"/>
              <a:ext cx="1189238" cy="1102196"/>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grpSp>
      <p:sp>
        <p:nvSpPr>
          <p:cNvPr id="15" name="TextBox 14">
            <a:extLst>
              <a:ext uri="{FF2B5EF4-FFF2-40B4-BE49-F238E27FC236}">
                <a16:creationId xmlns:a16="http://schemas.microsoft.com/office/drawing/2014/main" id="{082E5F15-ECED-F9BF-18F6-1DB41F390E11}"/>
              </a:ext>
            </a:extLst>
          </p:cNvPr>
          <p:cNvSpPr txBox="1"/>
          <p:nvPr/>
        </p:nvSpPr>
        <p:spPr>
          <a:xfrm>
            <a:off x="1200559" y="49822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0" name="TextBox 9">
            <a:extLst>
              <a:ext uri="{FF2B5EF4-FFF2-40B4-BE49-F238E27FC236}">
                <a16:creationId xmlns:a16="http://schemas.microsoft.com/office/drawing/2014/main" id="{BAD48E58-29C9-EC44-E501-4B82D570AEE6}"/>
              </a:ext>
            </a:extLst>
          </p:cNvPr>
          <p:cNvSpPr txBox="1"/>
          <p:nvPr/>
        </p:nvSpPr>
        <p:spPr>
          <a:xfrm>
            <a:off x="6154072" y="3287768"/>
            <a:ext cx="2659732" cy="461665"/>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US" sz="2400" err="1">
                <a:latin typeface="Consolas" panose="020B0609020204030204" pitchFamily="49" charset="0"/>
                <a:cs typeface="Consolas" panose="020B0609020204030204" pitchFamily="49" charset="0"/>
              </a:rPr>
              <a:t>list.add</a:t>
            </a:r>
            <a:r>
              <a:rPr lang="en-US" sz="2400">
                <a:latin typeface="Consolas" panose="020B0609020204030204" pitchFamily="49" charset="0"/>
                <a:cs typeface="Consolas" panose="020B0609020204030204" pitchFamily="49" charset="0"/>
              </a:rPr>
              <a:t>(</a:t>
            </a:r>
            <a:r>
              <a:rPr kumimoji="0" lang="en-US" sz="2400" b="0" i="0" u="none" strike="noStrike" kern="1200" cap="none" spc="0" normalizeH="0" baseline="0" noProof="0">
                <a:ln>
                  <a:noFill/>
                </a:ln>
                <a:effectLst/>
                <a:uLnTx/>
                <a:uFillTx/>
                <a:latin typeface="Consolas" panose="020B0609020204030204" pitchFamily="49" charset="0"/>
                <a:ea typeface="Segoe UI Emoji" panose="020B0502040204020203" pitchFamily="34" charset="0"/>
                <a:cs typeface="Consolas" panose="020B0609020204030204" pitchFamily="49" charset="0"/>
              </a:rPr>
              <a:t>🍎);</a:t>
            </a:r>
            <a:endParaRPr kumimoji="0" lang="en-US" sz="2400" b="0" i="0" u="none" strike="noStrike" kern="1200" cap="none" spc="0" normalizeH="0" baseline="0" noProof="0">
              <a:ln>
                <a:noFill/>
              </a:ln>
              <a:effectLst/>
              <a:uLnTx/>
              <a:uFillTx/>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18363861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9B00D-4FF3-FB51-8B94-BE43361F6EA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361E4C2-BFAF-034E-E6B9-18978CB77424}"/>
              </a:ext>
            </a:extLst>
          </p:cNvPr>
          <p:cNvSpPr txBox="1"/>
          <p:nvPr/>
        </p:nvSpPr>
        <p:spPr>
          <a:xfrm>
            <a:off x="2845965" y="2150703"/>
            <a:ext cx="3030808" cy="1862048"/>
          </a:xfrm>
          <a:prstGeom prst="rect">
            <a:avLst/>
          </a:prstGeom>
          <a:noFill/>
        </p:spPr>
        <p:txBody>
          <a:bodyPr wrap="square">
            <a:spAutoFit/>
          </a:bodyPr>
          <a:lstStyle/>
          <a:p>
            <a:pPr algn="ctr"/>
            <a:r>
              <a:rPr lang="en-US" sz="11500">
                <a:solidFill>
                  <a:srgbClr val="000000"/>
                </a:solidFill>
                <a:latin typeface="Arial"/>
                <a:ea typeface="Segoe UI Emoji" panose="020B0502040204020203" pitchFamily="34" charset="0"/>
                <a:cs typeface="+mj-cs"/>
              </a:rPr>
              <a:t>👩‍🌾</a:t>
            </a:r>
            <a:endParaRPr lang="en-US" sz="8800"/>
          </a:p>
        </p:txBody>
      </p:sp>
      <p:sp>
        <p:nvSpPr>
          <p:cNvPr id="6" name="Rectangle 5">
            <a:extLst>
              <a:ext uri="{FF2B5EF4-FFF2-40B4-BE49-F238E27FC236}">
                <a16:creationId xmlns:a16="http://schemas.microsoft.com/office/drawing/2014/main" id="{192AB552-5762-2FB3-9D87-50ACAC4048FE}"/>
              </a:ext>
            </a:extLst>
          </p:cNvPr>
          <p:cNvSpPr/>
          <p:nvPr/>
        </p:nvSpPr>
        <p:spPr>
          <a:xfrm>
            <a:off x="1844997" y="3820247"/>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170BD85-4725-3AD8-07DC-7985423019DB}"/>
              </a:ext>
            </a:extLst>
          </p:cNvPr>
          <p:cNvSpPr txBox="1"/>
          <p:nvPr/>
        </p:nvSpPr>
        <p:spPr>
          <a:xfrm>
            <a:off x="6154072" y="3287768"/>
            <a:ext cx="2659732" cy="461665"/>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US" sz="2400" err="1">
                <a:latin typeface="Consolas" panose="020B0609020204030204" pitchFamily="49" charset="0"/>
                <a:cs typeface="Consolas" panose="020B0609020204030204" pitchFamily="49" charset="0"/>
              </a:rPr>
              <a:t>list.add</a:t>
            </a:r>
            <a:r>
              <a:rPr lang="en-US" sz="2400">
                <a:latin typeface="Consolas" panose="020B0609020204030204" pitchFamily="49" charset="0"/>
                <a:cs typeface="Consolas" panose="020B0609020204030204" pitchFamily="49" charset="0"/>
              </a:rPr>
              <a:t>(</a:t>
            </a:r>
            <a:r>
              <a:rPr kumimoji="0" lang="en-US" sz="2400" b="0" i="0" u="none" strike="noStrike" kern="1200" cap="none" spc="0" normalizeH="0" baseline="0" noProof="0">
                <a:ln>
                  <a:noFill/>
                </a:ln>
                <a:effectLst/>
                <a:uLnTx/>
                <a:uFillTx/>
                <a:latin typeface="Consolas" panose="020B0609020204030204" pitchFamily="49" charset="0"/>
                <a:ea typeface="Segoe UI Emoji" panose="020B0502040204020203" pitchFamily="34" charset="0"/>
                <a:cs typeface="Consolas" panose="020B0609020204030204" pitchFamily="49" charset="0"/>
              </a:rPr>
              <a:t>🥦);</a:t>
            </a:r>
            <a:endParaRPr kumimoji="0" lang="en-US" sz="2400" b="0" i="0" u="none" strike="noStrike" kern="1200" cap="none" spc="0" normalizeH="0" baseline="0" noProof="0">
              <a:ln>
                <a:noFill/>
              </a:ln>
              <a:effectLst/>
              <a:uLnTx/>
              <a:uFillTx/>
              <a:latin typeface="Consolas" panose="020B0609020204030204" pitchFamily="49" charset="0"/>
              <a:cs typeface="Consolas" panose="020B0609020204030204" pitchFamily="49" charset="0"/>
            </a:endParaRPr>
          </a:p>
        </p:txBody>
      </p:sp>
      <p:grpSp>
        <p:nvGrpSpPr>
          <p:cNvPr id="17" name="Group 16">
            <a:extLst>
              <a:ext uri="{FF2B5EF4-FFF2-40B4-BE49-F238E27FC236}">
                <a16:creationId xmlns:a16="http://schemas.microsoft.com/office/drawing/2014/main" id="{8530F3DB-2190-6C69-8B24-A0A4E3E46C6D}"/>
              </a:ext>
            </a:extLst>
          </p:cNvPr>
          <p:cNvGrpSpPr/>
          <p:nvPr/>
        </p:nvGrpSpPr>
        <p:grpSpPr>
          <a:xfrm>
            <a:off x="277482" y="303351"/>
            <a:ext cx="3268890" cy="912967"/>
            <a:chOff x="582919" y="134337"/>
            <a:chExt cx="6886117" cy="1923225"/>
          </a:xfrm>
        </p:grpSpPr>
        <p:sp>
          <p:nvSpPr>
            <p:cNvPr id="2" name="Rectangle 1">
              <a:extLst>
                <a:ext uri="{FF2B5EF4-FFF2-40B4-BE49-F238E27FC236}">
                  <a16:creationId xmlns:a16="http://schemas.microsoft.com/office/drawing/2014/main" id="{171876DD-B205-F28D-6E7B-0B82B1508B9F}"/>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 name="Rectangle 2">
              <a:extLst>
                <a:ext uri="{FF2B5EF4-FFF2-40B4-BE49-F238E27FC236}">
                  <a16:creationId xmlns:a16="http://schemas.microsoft.com/office/drawing/2014/main" id="{4AA465EC-D775-52E9-1F7F-FFAC5212195C}"/>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4" name="Rectangle 3">
              <a:extLst>
                <a:ext uri="{FF2B5EF4-FFF2-40B4-BE49-F238E27FC236}">
                  <a16:creationId xmlns:a16="http://schemas.microsoft.com/office/drawing/2014/main" id="{CA3B2084-4A7B-7637-55A3-64145E112393}"/>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52AA778F-B290-CD36-A264-2492902286E2}"/>
                </a:ext>
              </a:extLst>
            </p:cNvPr>
            <p:cNvSpPr/>
            <p:nvPr/>
          </p:nvSpPr>
          <p:spPr>
            <a:xfrm rot="5400000">
              <a:off x="6388155"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4BF597D3-6371-B971-42E5-DD81D0703291}"/>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D5556D51-DB82-92D8-1F10-27EFC91EB04F}"/>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2" name="Rectangle 11">
              <a:extLst>
                <a:ext uri="{FF2B5EF4-FFF2-40B4-BE49-F238E27FC236}">
                  <a16:creationId xmlns:a16="http://schemas.microsoft.com/office/drawing/2014/main" id="{D897E07F-75D6-D103-F09A-01890605C745}"/>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3" name="TextBox 12">
              <a:extLst>
                <a:ext uri="{FF2B5EF4-FFF2-40B4-BE49-F238E27FC236}">
                  <a16:creationId xmlns:a16="http://schemas.microsoft.com/office/drawing/2014/main" id="{199C4656-210F-1B00-0781-5E1AB6600FCD}"/>
                </a:ext>
              </a:extLst>
            </p:cNvPr>
            <p:cNvSpPr txBox="1"/>
            <p:nvPr/>
          </p:nvSpPr>
          <p:spPr>
            <a:xfrm>
              <a:off x="942124" y="544849"/>
              <a:ext cx="1189238" cy="1102196"/>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grpSp>
      <p:sp>
        <p:nvSpPr>
          <p:cNvPr id="15" name="TextBox 14">
            <a:extLst>
              <a:ext uri="{FF2B5EF4-FFF2-40B4-BE49-F238E27FC236}">
                <a16:creationId xmlns:a16="http://schemas.microsoft.com/office/drawing/2014/main" id="{FC0CFCE1-C9E4-F2EA-5AFE-C92C712E368D}"/>
              </a:ext>
            </a:extLst>
          </p:cNvPr>
          <p:cNvSpPr txBox="1"/>
          <p:nvPr/>
        </p:nvSpPr>
        <p:spPr>
          <a:xfrm>
            <a:off x="1200559" y="49822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6" name="TextBox 15">
            <a:extLst>
              <a:ext uri="{FF2B5EF4-FFF2-40B4-BE49-F238E27FC236}">
                <a16:creationId xmlns:a16="http://schemas.microsoft.com/office/drawing/2014/main" id="{BEB12DFA-64D4-E8C1-3833-A9F2667E8E4B}"/>
              </a:ext>
            </a:extLst>
          </p:cNvPr>
          <p:cNvSpPr txBox="1"/>
          <p:nvPr/>
        </p:nvSpPr>
        <p:spPr>
          <a:xfrm>
            <a:off x="5025739" y="2701402"/>
            <a:ext cx="1242029" cy="1107996"/>
          </a:xfrm>
          <a:prstGeom prst="rect">
            <a:avLst/>
          </a:prstGeom>
          <a:noFill/>
        </p:spPr>
        <p:txBody>
          <a:bodyPr wrap="square">
            <a:spAutoFit/>
          </a:bodyPr>
          <a:lstStyle/>
          <a:p>
            <a:pPr algn="ctr"/>
            <a:r>
              <a:rPr kumimoji="0" lang="en-US" sz="66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sz="5400"/>
          </a:p>
        </p:txBody>
      </p:sp>
    </p:spTree>
    <p:extLst>
      <p:ext uri="{BB962C8B-B14F-4D97-AF65-F5344CB8AC3E}">
        <p14:creationId xmlns:p14="http://schemas.microsoft.com/office/powerpoint/2010/main" val="2720774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anim calcmode="lin" valueType="num">
                                      <p:cBhvr>
                                        <p:cTn id="8" dur="500" fill="hold"/>
                                        <p:tgtEl>
                                          <p:spTgt spid="16"/>
                                        </p:tgtEl>
                                        <p:attrNameLst>
                                          <p:attrName>ppt_x</p:attrName>
                                        </p:attrNameLst>
                                      </p:cBhvr>
                                      <p:tavLst>
                                        <p:tav tm="0">
                                          <p:val>
                                            <p:strVal val="#ppt_x"/>
                                          </p:val>
                                        </p:tav>
                                        <p:tav tm="100000">
                                          <p:val>
                                            <p:strVal val="#ppt_x"/>
                                          </p:val>
                                        </p:tav>
                                      </p:tavLst>
                                    </p:anim>
                                    <p:anim calcmode="lin" valueType="num">
                                      <p:cBhvr>
                                        <p:cTn id="9" dur="5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7ED7C-FF24-1277-805B-04F1B0C2776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24123F6-F956-03FC-2C23-5AE63441CA54}"/>
              </a:ext>
            </a:extLst>
          </p:cNvPr>
          <p:cNvSpPr txBox="1"/>
          <p:nvPr/>
        </p:nvSpPr>
        <p:spPr>
          <a:xfrm>
            <a:off x="2845965" y="2150703"/>
            <a:ext cx="3030808" cy="1862048"/>
          </a:xfrm>
          <a:prstGeom prst="rect">
            <a:avLst/>
          </a:prstGeom>
          <a:noFill/>
        </p:spPr>
        <p:txBody>
          <a:bodyPr wrap="square">
            <a:spAutoFit/>
          </a:bodyPr>
          <a:lstStyle/>
          <a:p>
            <a:pPr algn="ctr"/>
            <a:r>
              <a:rPr lang="en-US" sz="11500">
                <a:solidFill>
                  <a:srgbClr val="000000"/>
                </a:solidFill>
                <a:latin typeface="Arial"/>
                <a:ea typeface="Segoe UI Emoji" panose="020B0502040204020203" pitchFamily="34" charset="0"/>
                <a:cs typeface="+mj-cs"/>
              </a:rPr>
              <a:t>👩‍🌾</a:t>
            </a:r>
            <a:endParaRPr lang="en-US" sz="8800"/>
          </a:p>
        </p:txBody>
      </p:sp>
      <p:sp>
        <p:nvSpPr>
          <p:cNvPr id="6" name="Rectangle 5">
            <a:extLst>
              <a:ext uri="{FF2B5EF4-FFF2-40B4-BE49-F238E27FC236}">
                <a16:creationId xmlns:a16="http://schemas.microsoft.com/office/drawing/2014/main" id="{7A309188-A637-F24C-F167-1AB96423582A}"/>
              </a:ext>
            </a:extLst>
          </p:cNvPr>
          <p:cNvSpPr/>
          <p:nvPr/>
        </p:nvSpPr>
        <p:spPr>
          <a:xfrm>
            <a:off x="1844997" y="3820247"/>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B71430E-85EE-D4EF-D20A-F566E737F823}"/>
              </a:ext>
            </a:extLst>
          </p:cNvPr>
          <p:cNvSpPr txBox="1"/>
          <p:nvPr/>
        </p:nvSpPr>
        <p:spPr>
          <a:xfrm>
            <a:off x="6154072" y="3287768"/>
            <a:ext cx="2659732" cy="461665"/>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US" sz="2400" err="1">
                <a:latin typeface="Consolas" panose="020B0609020204030204" pitchFamily="49" charset="0"/>
                <a:cs typeface="Consolas" panose="020B0609020204030204" pitchFamily="49" charset="0"/>
              </a:rPr>
              <a:t>list.add</a:t>
            </a:r>
            <a:r>
              <a:rPr lang="en-US" sz="2400">
                <a:latin typeface="Consolas" panose="020B0609020204030204" pitchFamily="49" charset="0"/>
                <a:cs typeface="Consolas" panose="020B0609020204030204" pitchFamily="49" charset="0"/>
              </a:rPr>
              <a:t>(</a:t>
            </a:r>
            <a:r>
              <a:rPr kumimoji="0" lang="en-US" sz="2400" b="0" i="0" u="none" strike="noStrike" kern="1200" cap="none" spc="0" normalizeH="0" baseline="0" noProof="0">
                <a:ln>
                  <a:noFill/>
                </a:ln>
                <a:effectLst/>
                <a:uLnTx/>
                <a:uFillTx/>
                <a:latin typeface="Consolas" panose="020B0609020204030204" pitchFamily="49" charset="0"/>
                <a:ea typeface="Segoe UI Emoji" panose="020B0502040204020203" pitchFamily="34" charset="0"/>
                <a:cs typeface="Consolas" panose="020B0609020204030204" pitchFamily="49" charset="0"/>
              </a:rPr>
              <a:t>🥦);</a:t>
            </a:r>
            <a:endParaRPr kumimoji="0" lang="en-US" sz="2400" b="0" i="0" u="none" strike="noStrike" kern="1200" cap="none" spc="0" normalizeH="0" baseline="0" noProof="0">
              <a:ln>
                <a:noFill/>
              </a:ln>
              <a:effectLst/>
              <a:uLnTx/>
              <a:uFillTx/>
              <a:latin typeface="Consolas" panose="020B0609020204030204" pitchFamily="49" charset="0"/>
              <a:cs typeface="Consolas" panose="020B0609020204030204" pitchFamily="49" charset="0"/>
            </a:endParaRPr>
          </a:p>
        </p:txBody>
      </p:sp>
      <p:grpSp>
        <p:nvGrpSpPr>
          <p:cNvPr id="17" name="Group 16">
            <a:extLst>
              <a:ext uri="{FF2B5EF4-FFF2-40B4-BE49-F238E27FC236}">
                <a16:creationId xmlns:a16="http://schemas.microsoft.com/office/drawing/2014/main" id="{BA378344-C782-622D-495C-7C2BDAAB78B3}"/>
              </a:ext>
            </a:extLst>
          </p:cNvPr>
          <p:cNvGrpSpPr/>
          <p:nvPr/>
        </p:nvGrpSpPr>
        <p:grpSpPr>
          <a:xfrm>
            <a:off x="277482" y="303351"/>
            <a:ext cx="3268890" cy="912967"/>
            <a:chOff x="582919" y="134337"/>
            <a:chExt cx="6886117" cy="1923225"/>
          </a:xfrm>
        </p:grpSpPr>
        <p:sp>
          <p:nvSpPr>
            <p:cNvPr id="2" name="Rectangle 1">
              <a:extLst>
                <a:ext uri="{FF2B5EF4-FFF2-40B4-BE49-F238E27FC236}">
                  <a16:creationId xmlns:a16="http://schemas.microsoft.com/office/drawing/2014/main" id="{E3F74650-9B06-FA5B-2034-FA6632AA5848}"/>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 name="Rectangle 2">
              <a:extLst>
                <a:ext uri="{FF2B5EF4-FFF2-40B4-BE49-F238E27FC236}">
                  <a16:creationId xmlns:a16="http://schemas.microsoft.com/office/drawing/2014/main" id="{AC626A12-CAF7-5AF0-E0BC-2B7E7FD4F706}"/>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4" name="Rectangle 3">
              <a:extLst>
                <a:ext uri="{FF2B5EF4-FFF2-40B4-BE49-F238E27FC236}">
                  <a16:creationId xmlns:a16="http://schemas.microsoft.com/office/drawing/2014/main" id="{20928E99-9739-B5B5-5AF3-85142315CCE2}"/>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E5628116-AFA8-BF6E-AEBA-6AA352CD4C16}"/>
                </a:ext>
              </a:extLst>
            </p:cNvPr>
            <p:cNvSpPr/>
            <p:nvPr/>
          </p:nvSpPr>
          <p:spPr>
            <a:xfrm rot="5400000">
              <a:off x="6388155"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D6EBDF98-4B36-78CF-08FE-2C4093766D1E}"/>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CB13FFA1-F1D2-3F36-597F-51496EFA920E}"/>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2" name="Rectangle 11">
              <a:extLst>
                <a:ext uri="{FF2B5EF4-FFF2-40B4-BE49-F238E27FC236}">
                  <a16:creationId xmlns:a16="http://schemas.microsoft.com/office/drawing/2014/main" id="{BBBDD9B6-12FD-24B2-F039-59D1AD2B48B4}"/>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3" name="TextBox 12">
              <a:extLst>
                <a:ext uri="{FF2B5EF4-FFF2-40B4-BE49-F238E27FC236}">
                  <a16:creationId xmlns:a16="http://schemas.microsoft.com/office/drawing/2014/main" id="{B3CEF38F-E5B2-16A4-0CCF-D4A2E0745FE6}"/>
                </a:ext>
              </a:extLst>
            </p:cNvPr>
            <p:cNvSpPr txBox="1"/>
            <p:nvPr/>
          </p:nvSpPr>
          <p:spPr>
            <a:xfrm>
              <a:off x="942124" y="544849"/>
              <a:ext cx="1189238" cy="1102196"/>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grpSp>
      <p:sp>
        <p:nvSpPr>
          <p:cNvPr id="15" name="TextBox 14">
            <a:extLst>
              <a:ext uri="{FF2B5EF4-FFF2-40B4-BE49-F238E27FC236}">
                <a16:creationId xmlns:a16="http://schemas.microsoft.com/office/drawing/2014/main" id="{B7BEC776-AE64-2C65-1D71-05819B8AE3F4}"/>
              </a:ext>
            </a:extLst>
          </p:cNvPr>
          <p:cNvSpPr txBox="1"/>
          <p:nvPr/>
        </p:nvSpPr>
        <p:spPr>
          <a:xfrm>
            <a:off x="1200559" y="49822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0" name="TextBox 9">
            <a:extLst>
              <a:ext uri="{FF2B5EF4-FFF2-40B4-BE49-F238E27FC236}">
                <a16:creationId xmlns:a16="http://schemas.microsoft.com/office/drawing/2014/main" id="{A4BDC5AE-376D-3D8C-E4E2-E546FFD3D646}"/>
              </a:ext>
            </a:extLst>
          </p:cNvPr>
          <p:cNvSpPr txBox="1"/>
          <p:nvPr/>
        </p:nvSpPr>
        <p:spPr>
          <a:xfrm>
            <a:off x="2001671" y="49822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Tree>
    <p:extLst>
      <p:ext uri="{BB962C8B-B14F-4D97-AF65-F5344CB8AC3E}">
        <p14:creationId xmlns:p14="http://schemas.microsoft.com/office/powerpoint/2010/main" val="3898695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41F73-B159-CEDB-0C4C-DDC81D03774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26A2B03-EFC4-3D2A-0C62-0307D61A558A}"/>
              </a:ext>
            </a:extLst>
          </p:cNvPr>
          <p:cNvSpPr txBox="1"/>
          <p:nvPr/>
        </p:nvSpPr>
        <p:spPr>
          <a:xfrm>
            <a:off x="2845965" y="2150703"/>
            <a:ext cx="3030808" cy="1862048"/>
          </a:xfrm>
          <a:prstGeom prst="rect">
            <a:avLst/>
          </a:prstGeom>
          <a:noFill/>
        </p:spPr>
        <p:txBody>
          <a:bodyPr wrap="square">
            <a:spAutoFit/>
          </a:bodyPr>
          <a:lstStyle/>
          <a:p>
            <a:pPr algn="ctr"/>
            <a:r>
              <a:rPr lang="en-US" sz="11500">
                <a:solidFill>
                  <a:srgbClr val="000000"/>
                </a:solidFill>
                <a:latin typeface="Arial"/>
                <a:ea typeface="Segoe UI Emoji" panose="020B0502040204020203" pitchFamily="34" charset="0"/>
                <a:cs typeface="+mj-cs"/>
              </a:rPr>
              <a:t>👩‍🌾</a:t>
            </a:r>
            <a:endParaRPr lang="en-US" sz="8800"/>
          </a:p>
        </p:txBody>
      </p:sp>
      <p:sp>
        <p:nvSpPr>
          <p:cNvPr id="6" name="Rectangle 5">
            <a:extLst>
              <a:ext uri="{FF2B5EF4-FFF2-40B4-BE49-F238E27FC236}">
                <a16:creationId xmlns:a16="http://schemas.microsoft.com/office/drawing/2014/main" id="{ECB13561-7217-4A8E-B93F-D3682AE64B41}"/>
              </a:ext>
            </a:extLst>
          </p:cNvPr>
          <p:cNvSpPr/>
          <p:nvPr/>
        </p:nvSpPr>
        <p:spPr>
          <a:xfrm>
            <a:off x="1844997" y="3820247"/>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87C0628-4C36-6C0F-C608-9A1C6AE78834}"/>
              </a:ext>
            </a:extLst>
          </p:cNvPr>
          <p:cNvSpPr txBox="1"/>
          <p:nvPr/>
        </p:nvSpPr>
        <p:spPr>
          <a:xfrm>
            <a:off x="6154072" y="3287768"/>
            <a:ext cx="2659732" cy="461665"/>
          </a:xfrm>
          <a:prstGeom prst="rect">
            <a:avLst/>
          </a:prstGeom>
          <a:noFill/>
        </p:spPr>
        <p:txBody>
          <a:bodyPr wrap="square" rtlCol="0">
            <a:spAutoFit/>
          </a:bodyPr>
          <a:lstStyle/>
          <a:p>
            <a:pPr>
              <a:defRPr/>
            </a:pPr>
            <a:r>
              <a:rPr lang="en-US" sz="2400" err="1">
                <a:latin typeface="Consolas" panose="020B0609020204030204" pitchFamily="49" charset="0"/>
                <a:cs typeface="Consolas" panose="020B0609020204030204" pitchFamily="49" charset="0"/>
              </a:rPr>
              <a:t>list.add</a:t>
            </a:r>
            <a:r>
              <a:rPr lang="en-US" sz="2400">
                <a:latin typeface="Consolas" panose="020B0609020204030204" pitchFamily="49" charset="0"/>
                <a:cs typeface="Consolas" panose="020B0609020204030204" pitchFamily="49" charset="0"/>
              </a:rPr>
              <a:t>(</a:t>
            </a:r>
            <a:r>
              <a:rPr lang="en-US" sz="2400">
                <a:solidFill>
                  <a:srgbClr val="000000"/>
                </a:solidFill>
                <a:ea typeface="Segoe UI Emoji" panose="020B0502040204020203" pitchFamily="34" charset="0"/>
              </a:rPr>
              <a:t>🌽</a:t>
            </a:r>
            <a:r>
              <a:rPr kumimoji="0" lang="en-US" sz="2400" b="0" i="0" u="none" strike="noStrike" kern="1200" cap="none" spc="0" normalizeH="0" baseline="0" noProof="0">
                <a:ln>
                  <a:noFill/>
                </a:ln>
                <a:effectLst/>
                <a:uLnTx/>
                <a:uFillTx/>
                <a:latin typeface="Consolas" panose="020B0609020204030204" pitchFamily="49" charset="0"/>
                <a:ea typeface="Segoe UI Emoji" panose="020B0502040204020203" pitchFamily="34" charset="0"/>
                <a:cs typeface="Consolas" panose="020B0609020204030204" pitchFamily="49" charset="0"/>
              </a:rPr>
              <a:t>);</a:t>
            </a:r>
            <a:endParaRPr kumimoji="0" lang="en-US" sz="2400" b="0" i="0" u="none" strike="noStrike" kern="1200" cap="none" spc="0" normalizeH="0" baseline="0" noProof="0">
              <a:ln>
                <a:noFill/>
              </a:ln>
              <a:effectLst/>
              <a:uLnTx/>
              <a:uFillTx/>
              <a:latin typeface="Consolas" panose="020B0609020204030204" pitchFamily="49" charset="0"/>
              <a:cs typeface="Consolas" panose="020B0609020204030204" pitchFamily="49" charset="0"/>
            </a:endParaRPr>
          </a:p>
        </p:txBody>
      </p:sp>
      <p:grpSp>
        <p:nvGrpSpPr>
          <p:cNvPr id="17" name="Group 16">
            <a:extLst>
              <a:ext uri="{FF2B5EF4-FFF2-40B4-BE49-F238E27FC236}">
                <a16:creationId xmlns:a16="http://schemas.microsoft.com/office/drawing/2014/main" id="{CB2338B8-607A-A78A-93EF-1A06E32C1308}"/>
              </a:ext>
            </a:extLst>
          </p:cNvPr>
          <p:cNvGrpSpPr/>
          <p:nvPr/>
        </p:nvGrpSpPr>
        <p:grpSpPr>
          <a:xfrm>
            <a:off x="277482" y="303351"/>
            <a:ext cx="3268890" cy="912967"/>
            <a:chOff x="582919" y="134337"/>
            <a:chExt cx="6886117" cy="1923225"/>
          </a:xfrm>
        </p:grpSpPr>
        <p:sp>
          <p:nvSpPr>
            <p:cNvPr id="2" name="Rectangle 1">
              <a:extLst>
                <a:ext uri="{FF2B5EF4-FFF2-40B4-BE49-F238E27FC236}">
                  <a16:creationId xmlns:a16="http://schemas.microsoft.com/office/drawing/2014/main" id="{51E291C9-E31C-5061-C679-833D4F7C63E9}"/>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 name="Rectangle 2">
              <a:extLst>
                <a:ext uri="{FF2B5EF4-FFF2-40B4-BE49-F238E27FC236}">
                  <a16:creationId xmlns:a16="http://schemas.microsoft.com/office/drawing/2014/main" id="{7AC15AFD-18DC-FE2F-7EAF-58140ACA9093}"/>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4" name="Rectangle 3">
              <a:extLst>
                <a:ext uri="{FF2B5EF4-FFF2-40B4-BE49-F238E27FC236}">
                  <a16:creationId xmlns:a16="http://schemas.microsoft.com/office/drawing/2014/main" id="{D5CB5AA4-60F6-4910-EAD9-AD0DE014B47F}"/>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CBDFE4BC-6D80-52B9-03C3-0A359C89D76C}"/>
                </a:ext>
              </a:extLst>
            </p:cNvPr>
            <p:cNvSpPr/>
            <p:nvPr/>
          </p:nvSpPr>
          <p:spPr>
            <a:xfrm rot="5400000">
              <a:off x="6388155"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63A725A5-E0BD-5719-BDA3-2C18ADAA1DEC}"/>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2BC3F3C1-1179-EB24-D897-DDA1CE8FE5A8}"/>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2" name="Rectangle 11">
              <a:extLst>
                <a:ext uri="{FF2B5EF4-FFF2-40B4-BE49-F238E27FC236}">
                  <a16:creationId xmlns:a16="http://schemas.microsoft.com/office/drawing/2014/main" id="{AF0D557B-A80E-C2B1-AF49-D912F3BD0AD0}"/>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3" name="TextBox 12">
              <a:extLst>
                <a:ext uri="{FF2B5EF4-FFF2-40B4-BE49-F238E27FC236}">
                  <a16:creationId xmlns:a16="http://schemas.microsoft.com/office/drawing/2014/main" id="{2183ED01-FED1-C7E0-83A3-785425A0B020}"/>
                </a:ext>
              </a:extLst>
            </p:cNvPr>
            <p:cNvSpPr txBox="1"/>
            <p:nvPr/>
          </p:nvSpPr>
          <p:spPr>
            <a:xfrm>
              <a:off x="942124" y="544849"/>
              <a:ext cx="1189238" cy="1102196"/>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grpSp>
      <p:sp>
        <p:nvSpPr>
          <p:cNvPr id="15" name="TextBox 14">
            <a:extLst>
              <a:ext uri="{FF2B5EF4-FFF2-40B4-BE49-F238E27FC236}">
                <a16:creationId xmlns:a16="http://schemas.microsoft.com/office/drawing/2014/main" id="{41538D6E-119D-DECF-DC84-504C4871D0CE}"/>
              </a:ext>
            </a:extLst>
          </p:cNvPr>
          <p:cNvSpPr txBox="1"/>
          <p:nvPr/>
        </p:nvSpPr>
        <p:spPr>
          <a:xfrm>
            <a:off x="1200559" y="49822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0" name="TextBox 9">
            <a:extLst>
              <a:ext uri="{FF2B5EF4-FFF2-40B4-BE49-F238E27FC236}">
                <a16:creationId xmlns:a16="http://schemas.microsoft.com/office/drawing/2014/main" id="{11D04B95-17A2-B881-2F12-EB66EE4DFAA0}"/>
              </a:ext>
            </a:extLst>
          </p:cNvPr>
          <p:cNvSpPr txBox="1"/>
          <p:nvPr/>
        </p:nvSpPr>
        <p:spPr>
          <a:xfrm>
            <a:off x="2001671" y="49822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9" name="TextBox 18">
            <a:extLst>
              <a:ext uri="{FF2B5EF4-FFF2-40B4-BE49-F238E27FC236}">
                <a16:creationId xmlns:a16="http://schemas.microsoft.com/office/drawing/2014/main" id="{CA827011-C149-F591-2984-091A54BD9626}"/>
              </a:ext>
            </a:extLst>
          </p:cNvPr>
          <p:cNvSpPr txBox="1"/>
          <p:nvPr/>
        </p:nvSpPr>
        <p:spPr>
          <a:xfrm>
            <a:off x="5025739" y="2701402"/>
            <a:ext cx="1242029" cy="1107996"/>
          </a:xfrm>
          <a:prstGeom prst="rect">
            <a:avLst/>
          </a:prstGeom>
          <a:noFill/>
        </p:spPr>
        <p:txBody>
          <a:bodyPr wrap="square">
            <a:spAutoFit/>
          </a:bodyPr>
          <a:lstStyle/>
          <a:p>
            <a:pPr algn="ctr"/>
            <a:r>
              <a:rPr kumimoji="0" lang="en-US" sz="66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sz="5400"/>
          </a:p>
        </p:txBody>
      </p:sp>
    </p:spTree>
    <p:extLst>
      <p:ext uri="{BB962C8B-B14F-4D97-AF65-F5344CB8AC3E}">
        <p14:creationId xmlns:p14="http://schemas.microsoft.com/office/powerpoint/2010/main" val="2412542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anim calcmode="lin" valueType="num">
                                      <p:cBhvr>
                                        <p:cTn id="8" dur="500" fill="hold"/>
                                        <p:tgtEl>
                                          <p:spTgt spid="19"/>
                                        </p:tgtEl>
                                        <p:attrNameLst>
                                          <p:attrName>ppt_x</p:attrName>
                                        </p:attrNameLst>
                                      </p:cBhvr>
                                      <p:tavLst>
                                        <p:tav tm="0">
                                          <p:val>
                                            <p:strVal val="#ppt_x"/>
                                          </p:val>
                                        </p:tav>
                                        <p:tav tm="100000">
                                          <p:val>
                                            <p:strVal val="#ppt_x"/>
                                          </p:val>
                                        </p:tav>
                                      </p:tavLst>
                                    </p:anim>
                                    <p:anim calcmode="lin" valueType="num">
                                      <p:cBhvr>
                                        <p:cTn id="9"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3A2BD-E669-00FF-21BB-80C5C9AC13D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6CFF299-7014-F564-22BE-958EEEF6DA19}"/>
              </a:ext>
            </a:extLst>
          </p:cNvPr>
          <p:cNvSpPr txBox="1"/>
          <p:nvPr/>
        </p:nvSpPr>
        <p:spPr>
          <a:xfrm>
            <a:off x="2845965" y="2150703"/>
            <a:ext cx="3030808" cy="1862048"/>
          </a:xfrm>
          <a:prstGeom prst="rect">
            <a:avLst/>
          </a:prstGeom>
          <a:noFill/>
        </p:spPr>
        <p:txBody>
          <a:bodyPr wrap="square">
            <a:spAutoFit/>
          </a:bodyPr>
          <a:lstStyle/>
          <a:p>
            <a:pPr algn="ctr"/>
            <a:r>
              <a:rPr lang="en-US" sz="11500">
                <a:solidFill>
                  <a:srgbClr val="000000"/>
                </a:solidFill>
                <a:latin typeface="Arial"/>
                <a:ea typeface="Segoe UI Emoji" panose="020B0502040204020203" pitchFamily="34" charset="0"/>
                <a:cs typeface="+mj-cs"/>
              </a:rPr>
              <a:t>👩‍🌾</a:t>
            </a:r>
            <a:endParaRPr lang="en-US" sz="8800"/>
          </a:p>
        </p:txBody>
      </p:sp>
      <p:sp>
        <p:nvSpPr>
          <p:cNvPr id="6" name="Rectangle 5">
            <a:extLst>
              <a:ext uri="{FF2B5EF4-FFF2-40B4-BE49-F238E27FC236}">
                <a16:creationId xmlns:a16="http://schemas.microsoft.com/office/drawing/2014/main" id="{F099989D-E672-5A4B-16F6-A26164EA896F}"/>
              </a:ext>
            </a:extLst>
          </p:cNvPr>
          <p:cNvSpPr/>
          <p:nvPr/>
        </p:nvSpPr>
        <p:spPr>
          <a:xfrm>
            <a:off x="1844997" y="3820247"/>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32459F4-B7A9-E6D8-F094-81912F98B686}"/>
              </a:ext>
            </a:extLst>
          </p:cNvPr>
          <p:cNvSpPr txBox="1"/>
          <p:nvPr/>
        </p:nvSpPr>
        <p:spPr>
          <a:xfrm>
            <a:off x="6154072" y="3287768"/>
            <a:ext cx="2659732" cy="461665"/>
          </a:xfrm>
          <a:prstGeom prst="rect">
            <a:avLst/>
          </a:prstGeom>
          <a:noFill/>
        </p:spPr>
        <p:txBody>
          <a:bodyPr wrap="square" rtlCol="0">
            <a:spAutoFit/>
          </a:bodyPr>
          <a:lstStyle/>
          <a:p>
            <a:pPr>
              <a:defRPr/>
            </a:pPr>
            <a:r>
              <a:rPr lang="en-US" sz="2400" err="1">
                <a:latin typeface="Consolas" panose="020B0609020204030204" pitchFamily="49" charset="0"/>
                <a:cs typeface="Consolas" panose="020B0609020204030204" pitchFamily="49" charset="0"/>
              </a:rPr>
              <a:t>list.add</a:t>
            </a:r>
            <a:r>
              <a:rPr lang="en-US" sz="2400">
                <a:latin typeface="Consolas" panose="020B0609020204030204" pitchFamily="49" charset="0"/>
                <a:cs typeface="Consolas" panose="020B0609020204030204" pitchFamily="49" charset="0"/>
              </a:rPr>
              <a:t>(</a:t>
            </a:r>
            <a:r>
              <a:rPr lang="en-US" sz="2400">
                <a:solidFill>
                  <a:srgbClr val="000000"/>
                </a:solidFill>
                <a:ea typeface="Segoe UI Emoji" panose="020B0502040204020203" pitchFamily="34" charset="0"/>
              </a:rPr>
              <a:t>🌽</a:t>
            </a:r>
            <a:r>
              <a:rPr kumimoji="0" lang="en-US" sz="2400" b="0" i="0" u="none" strike="noStrike" kern="1200" cap="none" spc="0" normalizeH="0" baseline="0" noProof="0">
                <a:ln>
                  <a:noFill/>
                </a:ln>
                <a:effectLst/>
                <a:uLnTx/>
                <a:uFillTx/>
                <a:latin typeface="Consolas" panose="020B0609020204030204" pitchFamily="49" charset="0"/>
                <a:ea typeface="Segoe UI Emoji" panose="020B0502040204020203" pitchFamily="34" charset="0"/>
                <a:cs typeface="Consolas" panose="020B0609020204030204" pitchFamily="49" charset="0"/>
              </a:rPr>
              <a:t>);</a:t>
            </a:r>
            <a:endParaRPr kumimoji="0" lang="en-US" sz="2400" b="0" i="0" u="none" strike="noStrike" kern="1200" cap="none" spc="0" normalizeH="0" baseline="0" noProof="0">
              <a:ln>
                <a:noFill/>
              </a:ln>
              <a:effectLst/>
              <a:uLnTx/>
              <a:uFillTx/>
              <a:latin typeface="Consolas" panose="020B0609020204030204" pitchFamily="49" charset="0"/>
              <a:cs typeface="Consolas" panose="020B0609020204030204" pitchFamily="49" charset="0"/>
            </a:endParaRPr>
          </a:p>
        </p:txBody>
      </p:sp>
      <p:grpSp>
        <p:nvGrpSpPr>
          <p:cNvPr id="17" name="Group 16">
            <a:extLst>
              <a:ext uri="{FF2B5EF4-FFF2-40B4-BE49-F238E27FC236}">
                <a16:creationId xmlns:a16="http://schemas.microsoft.com/office/drawing/2014/main" id="{1D55C922-C903-611E-B60A-0ECA308292C3}"/>
              </a:ext>
            </a:extLst>
          </p:cNvPr>
          <p:cNvGrpSpPr/>
          <p:nvPr/>
        </p:nvGrpSpPr>
        <p:grpSpPr>
          <a:xfrm>
            <a:off x="277482" y="303351"/>
            <a:ext cx="3268890" cy="912967"/>
            <a:chOff x="582919" y="134337"/>
            <a:chExt cx="6886117" cy="1923225"/>
          </a:xfrm>
        </p:grpSpPr>
        <p:sp>
          <p:nvSpPr>
            <p:cNvPr id="2" name="Rectangle 1">
              <a:extLst>
                <a:ext uri="{FF2B5EF4-FFF2-40B4-BE49-F238E27FC236}">
                  <a16:creationId xmlns:a16="http://schemas.microsoft.com/office/drawing/2014/main" id="{39E4B256-094B-A1E2-ECDC-93D73237C132}"/>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 name="Rectangle 2">
              <a:extLst>
                <a:ext uri="{FF2B5EF4-FFF2-40B4-BE49-F238E27FC236}">
                  <a16:creationId xmlns:a16="http://schemas.microsoft.com/office/drawing/2014/main" id="{A873B595-9990-3062-64F1-0D578B26D76A}"/>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4" name="Rectangle 3">
              <a:extLst>
                <a:ext uri="{FF2B5EF4-FFF2-40B4-BE49-F238E27FC236}">
                  <a16:creationId xmlns:a16="http://schemas.microsoft.com/office/drawing/2014/main" id="{A1A569BA-94CC-DCBB-B3CE-304EBA467316}"/>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2B9F5C28-FD57-5BB6-EC07-3E124BB3B0B2}"/>
                </a:ext>
              </a:extLst>
            </p:cNvPr>
            <p:cNvSpPr/>
            <p:nvPr/>
          </p:nvSpPr>
          <p:spPr>
            <a:xfrm rot="5400000">
              <a:off x="6388155"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EEF76E67-C9EA-7B61-5626-0A33BD72FC1F}"/>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4D1C9EF7-7640-5842-3995-DAD7AB6B3A83}"/>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2" name="Rectangle 11">
              <a:extLst>
                <a:ext uri="{FF2B5EF4-FFF2-40B4-BE49-F238E27FC236}">
                  <a16:creationId xmlns:a16="http://schemas.microsoft.com/office/drawing/2014/main" id="{8C9D01D3-927D-07E5-CA14-76031F3176BA}"/>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3" name="TextBox 12">
              <a:extLst>
                <a:ext uri="{FF2B5EF4-FFF2-40B4-BE49-F238E27FC236}">
                  <a16:creationId xmlns:a16="http://schemas.microsoft.com/office/drawing/2014/main" id="{4B921F9A-3B1E-C3C0-8FA3-7792F115A5A0}"/>
                </a:ext>
              </a:extLst>
            </p:cNvPr>
            <p:cNvSpPr txBox="1"/>
            <p:nvPr/>
          </p:nvSpPr>
          <p:spPr>
            <a:xfrm>
              <a:off x="942124" y="544849"/>
              <a:ext cx="1189238" cy="1102196"/>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grpSp>
      <p:sp>
        <p:nvSpPr>
          <p:cNvPr id="15" name="TextBox 14">
            <a:extLst>
              <a:ext uri="{FF2B5EF4-FFF2-40B4-BE49-F238E27FC236}">
                <a16:creationId xmlns:a16="http://schemas.microsoft.com/office/drawing/2014/main" id="{4CA78FB5-19F7-319C-0C54-F49CCB97B439}"/>
              </a:ext>
            </a:extLst>
          </p:cNvPr>
          <p:cNvSpPr txBox="1"/>
          <p:nvPr/>
        </p:nvSpPr>
        <p:spPr>
          <a:xfrm>
            <a:off x="1200559" y="49822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0" name="TextBox 9">
            <a:extLst>
              <a:ext uri="{FF2B5EF4-FFF2-40B4-BE49-F238E27FC236}">
                <a16:creationId xmlns:a16="http://schemas.microsoft.com/office/drawing/2014/main" id="{0969D1F7-2BEA-17B5-048E-844D773A9DC5}"/>
              </a:ext>
            </a:extLst>
          </p:cNvPr>
          <p:cNvSpPr txBox="1"/>
          <p:nvPr/>
        </p:nvSpPr>
        <p:spPr>
          <a:xfrm>
            <a:off x="2001671" y="49822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6" name="TextBox 15">
            <a:extLst>
              <a:ext uri="{FF2B5EF4-FFF2-40B4-BE49-F238E27FC236}">
                <a16:creationId xmlns:a16="http://schemas.microsoft.com/office/drawing/2014/main" id="{4BCB0902-F630-88F2-430B-EB922E591262}"/>
              </a:ext>
            </a:extLst>
          </p:cNvPr>
          <p:cNvSpPr txBox="1"/>
          <p:nvPr/>
        </p:nvSpPr>
        <p:spPr>
          <a:xfrm>
            <a:off x="2786598" y="49822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Tree>
    <p:extLst>
      <p:ext uri="{BB962C8B-B14F-4D97-AF65-F5344CB8AC3E}">
        <p14:creationId xmlns:p14="http://schemas.microsoft.com/office/powerpoint/2010/main" val="24956739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6ED82-26B9-944A-E166-9347F06FF82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BB7C96A-0C48-F4B5-59CE-2A953F3E931C}"/>
              </a:ext>
            </a:extLst>
          </p:cNvPr>
          <p:cNvSpPr txBox="1"/>
          <p:nvPr/>
        </p:nvSpPr>
        <p:spPr>
          <a:xfrm>
            <a:off x="2845965" y="2150703"/>
            <a:ext cx="3030808" cy="1862048"/>
          </a:xfrm>
          <a:prstGeom prst="rect">
            <a:avLst/>
          </a:prstGeom>
          <a:noFill/>
        </p:spPr>
        <p:txBody>
          <a:bodyPr wrap="square">
            <a:spAutoFit/>
          </a:bodyPr>
          <a:lstStyle/>
          <a:p>
            <a:pPr algn="ctr"/>
            <a:r>
              <a:rPr lang="en-US" sz="11500">
                <a:solidFill>
                  <a:srgbClr val="000000"/>
                </a:solidFill>
                <a:latin typeface="Arial"/>
                <a:ea typeface="Segoe UI Emoji" panose="020B0502040204020203" pitchFamily="34" charset="0"/>
                <a:cs typeface="+mj-cs"/>
              </a:rPr>
              <a:t>👩‍🌾</a:t>
            </a:r>
            <a:endParaRPr lang="en-US" sz="8800"/>
          </a:p>
        </p:txBody>
      </p:sp>
      <p:sp>
        <p:nvSpPr>
          <p:cNvPr id="6" name="Rectangle 5">
            <a:extLst>
              <a:ext uri="{FF2B5EF4-FFF2-40B4-BE49-F238E27FC236}">
                <a16:creationId xmlns:a16="http://schemas.microsoft.com/office/drawing/2014/main" id="{F338A205-004A-2C9E-DE01-E30DC771281A}"/>
              </a:ext>
            </a:extLst>
          </p:cNvPr>
          <p:cNvSpPr/>
          <p:nvPr/>
        </p:nvSpPr>
        <p:spPr>
          <a:xfrm>
            <a:off x="1844997" y="3820247"/>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FEBD65F-F2CF-1F39-51D7-D91C6232B506}"/>
              </a:ext>
            </a:extLst>
          </p:cNvPr>
          <p:cNvSpPr txBox="1"/>
          <p:nvPr/>
        </p:nvSpPr>
        <p:spPr>
          <a:xfrm>
            <a:off x="6154072" y="3287768"/>
            <a:ext cx="2659732" cy="461665"/>
          </a:xfrm>
          <a:prstGeom prst="rect">
            <a:avLst/>
          </a:prstGeom>
          <a:noFill/>
        </p:spPr>
        <p:txBody>
          <a:bodyPr wrap="square" rtlCol="0">
            <a:spAutoFit/>
          </a:bodyPr>
          <a:lstStyle/>
          <a:p>
            <a:pPr>
              <a:defRPr/>
            </a:pPr>
            <a:r>
              <a:rPr lang="en-US" sz="2400" err="1">
                <a:latin typeface="Consolas" panose="020B0609020204030204" pitchFamily="49" charset="0"/>
                <a:cs typeface="Consolas" panose="020B0609020204030204" pitchFamily="49" charset="0"/>
              </a:rPr>
              <a:t>list.add</a:t>
            </a:r>
            <a:r>
              <a:rPr lang="en-US" sz="2400">
                <a:latin typeface="Consolas" panose="020B0609020204030204" pitchFamily="49" charset="0"/>
                <a:cs typeface="Consolas" panose="020B0609020204030204" pitchFamily="49" charset="0"/>
              </a:rPr>
              <a:t>(</a:t>
            </a:r>
            <a:r>
              <a:rPr lang="en-US" sz="2400">
                <a:solidFill>
                  <a:srgbClr val="000000"/>
                </a:solidFill>
                <a:ea typeface="Segoe UI Emoji" panose="020B0502040204020203" pitchFamily="34" charset="0"/>
              </a:rPr>
              <a:t>🍇</a:t>
            </a:r>
            <a:r>
              <a:rPr kumimoji="0" lang="en-US" sz="2400" b="0" i="0" u="none" strike="noStrike" kern="1200" cap="none" spc="0" normalizeH="0" baseline="0" noProof="0">
                <a:ln>
                  <a:noFill/>
                </a:ln>
                <a:effectLst/>
                <a:uLnTx/>
                <a:uFillTx/>
                <a:latin typeface="Consolas" panose="020B0609020204030204" pitchFamily="49" charset="0"/>
                <a:ea typeface="Segoe UI Emoji" panose="020B0502040204020203" pitchFamily="34" charset="0"/>
                <a:cs typeface="Consolas" panose="020B0609020204030204" pitchFamily="49" charset="0"/>
              </a:rPr>
              <a:t>);</a:t>
            </a:r>
            <a:endParaRPr kumimoji="0" lang="en-US" sz="2400" b="0" i="0" u="none" strike="noStrike" kern="1200" cap="none" spc="0" normalizeH="0" baseline="0" noProof="0">
              <a:ln>
                <a:noFill/>
              </a:ln>
              <a:effectLst/>
              <a:uLnTx/>
              <a:uFillTx/>
              <a:latin typeface="Consolas" panose="020B0609020204030204" pitchFamily="49" charset="0"/>
              <a:cs typeface="Consolas" panose="020B0609020204030204" pitchFamily="49" charset="0"/>
            </a:endParaRPr>
          </a:p>
        </p:txBody>
      </p:sp>
      <p:grpSp>
        <p:nvGrpSpPr>
          <p:cNvPr id="17" name="Group 16">
            <a:extLst>
              <a:ext uri="{FF2B5EF4-FFF2-40B4-BE49-F238E27FC236}">
                <a16:creationId xmlns:a16="http://schemas.microsoft.com/office/drawing/2014/main" id="{47083069-5281-1F66-993D-1BA7993AC4CA}"/>
              </a:ext>
            </a:extLst>
          </p:cNvPr>
          <p:cNvGrpSpPr/>
          <p:nvPr/>
        </p:nvGrpSpPr>
        <p:grpSpPr>
          <a:xfrm>
            <a:off x="277482" y="303351"/>
            <a:ext cx="3268890" cy="912967"/>
            <a:chOff x="582919" y="134337"/>
            <a:chExt cx="6886117" cy="1923225"/>
          </a:xfrm>
        </p:grpSpPr>
        <p:sp>
          <p:nvSpPr>
            <p:cNvPr id="2" name="Rectangle 1">
              <a:extLst>
                <a:ext uri="{FF2B5EF4-FFF2-40B4-BE49-F238E27FC236}">
                  <a16:creationId xmlns:a16="http://schemas.microsoft.com/office/drawing/2014/main" id="{F69AA252-F6B4-0722-9015-6D0ED551CFDC}"/>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 name="Rectangle 2">
              <a:extLst>
                <a:ext uri="{FF2B5EF4-FFF2-40B4-BE49-F238E27FC236}">
                  <a16:creationId xmlns:a16="http://schemas.microsoft.com/office/drawing/2014/main" id="{3215A9CF-B266-426F-E3DB-5D1B36CD28CD}"/>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4" name="Rectangle 3">
              <a:extLst>
                <a:ext uri="{FF2B5EF4-FFF2-40B4-BE49-F238E27FC236}">
                  <a16:creationId xmlns:a16="http://schemas.microsoft.com/office/drawing/2014/main" id="{BB66CA3C-291A-9676-6439-711CD1DF9D53}"/>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2016A387-6EEC-9484-CA0E-13AAA0D7C035}"/>
                </a:ext>
              </a:extLst>
            </p:cNvPr>
            <p:cNvSpPr/>
            <p:nvPr/>
          </p:nvSpPr>
          <p:spPr>
            <a:xfrm rot="5400000">
              <a:off x="6388155"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C2C092C6-DBBC-C44F-8651-0D572FDDDC9D}"/>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9E79CD0E-5A13-8E35-6354-0295A07C98EB}"/>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2" name="Rectangle 11">
              <a:extLst>
                <a:ext uri="{FF2B5EF4-FFF2-40B4-BE49-F238E27FC236}">
                  <a16:creationId xmlns:a16="http://schemas.microsoft.com/office/drawing/2014/main" id="{36B57E66-BA2D-9CDA-EFB9-F77219548568}"/>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3" name="TextBox 12">
              <a:extLst>
                <a:ext uri="{FF2B5EF4-FFF2-40B4-BE49-F238E27FC236}">
                  <a16:creationId xmlns:a16="http://schemas.microsoft.com/office/drawing/2014/main" id="{7F4FD62D-9B70-2888-56E4-E693928A5697}"/>
                </a:ext>
              </a:extLst>
            </p:cNvPr>
            <p:cNvSpPr txBox="1"/>
            <p:nvPr/>
          </p:nvSpPr>
          <p:spPr>
            <a:xfrm>
              <a:off x="942124" y="544849"/>
              <a:ext cx="1189238" cy="1102196"/>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grpSp>
      <p:sp>
        <p:nvSpPr>
          <p:cNvPr id="15" name="TextBox 14">
            <a:extLst>
              <a:ext uri="{FF2B5EF4-FFF2-40B4-BE49-F238E27FC236}">
                <a16:creationId xmlns:a16="http://schemas.microsoft.com/office/drawing/2014/main" id="{028F5BC5-7F59-2CFC-320F-B352BC6E04E6}"/>
              </a:ext>
            </a:extLst>
          </p:cNvPr>
          <p:cNvSpPr txBox="1"/>
          <p:nvPr/>
        </p:nvSpPr>
        <p:spPr>
          <a:xfrm>
            <a:off x="1200559" y="49822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0" name="TextBox 9">
            <a:extLst>
              <a:ext uri="{FF2B5EF4-FFF2-40B4-BE49-F238E27FC236}">
                <a16:creationId xmlns:a16="http://schemas.microsoft.com/office/drawing/2014/main" id="{9D97E8B4-00C5-D04E-5FAB-2EF207A00CB7}"/>
              </a:ext>
            </a:extLst>
          </p:cNvPr>
          <p:cNvSpPr txBox="1"/>
          <p:nvPr/>
        </p:nvSpPr>
        <p:spPr>
          <a:xfrm>
            <a:off x="2001671" y="49822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6" name="TextBox 15">
            <a:extLst>
              <a:ext uri="{FF2B5EF4-FFF2-40B4-BE49-F238E27FC236}">
                <a16:creationId xmlns:a16="http://schemas.microsoft.com/office/drawing/2014/main" id="{3A5981E8-29C1-A5C1-6A6B-F5284B896AA3}"/>
              </a:ext>
            </a:extLst>
          </p:cNvPr>
          <p:cNvSpPr txBox="1"/>
          <p:nvPr/>
        </p:nvSpPr>
        <p:spPr>
          <a:xfrm>
            <a:off x="2786598" y="49822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4" name="TextBox 13">
            <a:extLst>
              <a:ext uri="{FF2B5EF4-FFF2-40B4-BE49-F238E27FC236}">
                <a16:creationId xmlns:a16="http://schemas.microsoft.com/office/drawing/2014/main" id="{1DE55D4B-8A87-99DA-F70F-F8CF7BEC9EB1}"/>
              </a:ext>
            </a:extLst>
          </p:cNvPr>
          <p:cNvSpPr txBox="1"/>
          <p:nvPr/>
        </p:nvSpPr>
        <p:spPr>
          <a:xfrm>
            <a:off x="5127343" y="2701402"/>
            <a:ext cx="1242029" cy="1107996"/>
          </a:xfrm>
          <a:prstGeom prst="rect">
            <a:avLst/>
          </a:prstGeom>
          <a:noFill/>
        </p:spPr>
        <p:txBody>
          <a:bodyPr wrap="square">
            <a:spAutoFit/>
          </a:bodyPr>
          <a:lstStyle/>
          <a:p>
            <a:pPr algn="ctr"/>
            <a:r>
              <a:rPr kumimoji="0" lang="en-US" sz="66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sz="5400"/>
          </a:p>
        </p:txBody>
      </p:sp>
    </p:spTree>
    <p:extLst>
      <p:ext uri="{BB962C8B-B14F-4D97-AF65-F5344CB8AC3E}">
        <p14:creationId xmlns:p14="http://schemas.microsoft.com/office/powerpoint/2010/main" val="2843817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anim calcmode="lin" valueType="num">
                                      <p:cBhvr>
                                        <p:cTn id="8" dur="500" fill="hold"/>
                                        <p:tgtEl>
                                          <p:spTgt spid="14"/>
                                        </p:tgtEl>
                                        <p:attrNameLst>
                                          <p:attrName>ppt_x</p:attrName>
                                        </p:attrNameLst>
                                      </p:cBhvr>
                                      <p:tavLst>
                                        <p:tav tm="0">
                                          <p:val>
                                            <p:strVal val="#ppt_x"/>
                                          </p:val>
                                        </p:tav>
                                        <p:tav tm="100000">
                                          <p:val>
                                            <p:strVal val="#ppt_x"/>
                                          </p:val>
                                        </p:tav>
                                      </p:tavLst>
                                    </p:anim>
                                    <p:anim calcmode="lin" valueType="num">
                                      <p:cBhvr>
                                        <p:cTn id="9"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xit" presetSubtype="0" fill="hold" grpId="0" nodeType="clickEffect">
                                  <p:stCondLst>
                                    <p:cond delay="0"/>
                                  </p:stCondLst>
                                  <p:childTnLst>
                                    <p:animEffect transition="out" filter="fade">
                                      <p:cBhvr>
                                        <p:cTn id="13" dur="500"/>
                                        <p:tgtEl>
                                          <p:spTgt spid="5"/>
                                        </p:tgtEl>
                                      </p:cBhvr>
                                    </p:animEffect>
                                    <p:anim calcmode="lin" valueType="num">
                                      <p:cBhvr>
                                        <p:cTn id="14" dur="500"/>
                                        <p:tgtEl>
                                          <p:spTgt spid="5"/>
                                        </p:tgtEl>
                                        <p:attrNameLst>
                                          <p:attrName>ppt_x</p:attrName>
                                        </p:attrNameLst>
                                      </p:cBhvr>
                                      <p:tavLst>
                                        <p:tav tm="0">
                                          <p:val>
                                            <p:strVal val="ppt_x"/>
                                          </p:val>
                                        </p:tav>
                                        <p:tav tm="100000">
                                          <p:val>
                                            <p:strVal val="ppt_x"/>
                                          </p:val>
                                        </p:tav>
                                      </p:tavLst>
                                    </p:anim>
                                    <p:anim calcmode="lin" valueType="num">
                                      <p:cBhvr>
                                        <p:cTn id="15" dur="500"/>
                                        <p:tgtEl>
                                          <p:spTgt spid="5"/>
                                        </p:tgtEl>
                                        <p:attrNameLst>
                                          <p:attrName>ppt_y</p:attrName>
                                        </p:attrNameLst>
                                      </p:cBhvr>
                                      <p:tavLst>
                                        <p:tav tm="0">
                                          <p:val>
                                            <p:strVal val="ppt_y"/>
                                          </p:val>
                                        </p:tav>
                                        <p:tav tm="100000">
                                          <p:val>
                                            <p:strVal val="ppt_y+.1"/>
                                          </p:val>
                                        </p:tav>
                                      </p:tavLst>
                                    </p:anim>
                                    <p:set>
                                      <p:cBhvr>
                                        <p:cTn id="16"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p:bldLst>
  </p:timing>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9D7C9-C6FF-6357-D72E-D83098D2A01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AF7B312-8971-22EE-3326-F8001BB883EE}"/>
              </a:ext>
            </a:extLst>
          </p:cNvPr>
          <p:cNvSpPr txBox="1"/>
          <p:nvPr/>
        </p:nvSpPr>
        <p:spPr>
          <a:xfrm>
            <a:off x="2845965" y="2150703"/>
            <a:ext cx="3030808" cy="1862048"/>
          </a:xfrm>
          <a:prstGeom prst="rect">
            <a:avLst/>
          </a:prstGeom>
          <a:noFill/>
        </p:spPr>
        <p:txBody>
          <a:bodyPr wrap="square">
            <a:spAutoFit/>
          </a:bodyPr>
          <a:lstStyle/>
          <a:p>
            <a:pPr algn="ctr"/>
            <a:r>
              <a:rPr lang="en-US" sz="11500">
                <a:solidFill>
                  <a:srgbClr val="000000"/>
                </a:solidFill>
                <a:latin typeface="Arial"/>
                <a:ea typeface="Segoe UI Emoji" panose="020B0502040204020203" pitchFamily="34" charset="0"/>
                <a:cs typeface="+mj-cs"/>
              </a:rPr>
              <a:t>👷‍♀️</a:t>
            </a:r>
            <a:endParaRPr lang="en-US" sz="8800"/>
          </a:p>
        </p:txBody>
      </p:sp>
      <p:sp>
        <p:nvSpPr>
          <p:cNvPr id="6" name="Rectangle 5">
            <a:extLst>
              <a:ext uri="{FF2B5EF4-FFF2-40B4-BE49-F238E27FC236}">
                <a16:creationId xmlns:a16="http://schemas.microsoft.com/office/drawing/2014/main" id="{09257AD6-223F-E5E1-51A4-D712142EA4C6}"/>
              </a:ext>
            </a:extLst>
          </p:cNvPr>
          <p:cNvSpPr/>
          <p:nvPr/>
        </p:nvSpPr>
        <p:spPr>
          <a:xfrm>
            <a:off x="1844997" y="3820247"/>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DA8FDC2-DD76-BC81-6C94-1570C7F93D34}"/>
              </a:ext>
            </a:extLst>
          </p:cNvPr>
          <p:cNvSpPr txBox="1"/>
          <p:nvPr/>
        </p:nvSpPr>
        <p:spPr>
          <a:xfrm>
            <a:off x="6154072" y="3287768"/>
            <a:ext cx="2659732" cy="461665"/>
          </a:xfrm>
          <a:prstGeom prst="rect">
            <a:avLst/>
          </a:prstGeom>
          <a:noFill/>
        </p:spPr>
        <p:txBody>
          <a:bodyPr wrap="square" rtlCol="0">
            <a:spAutoFit/>
          </a:bodyPr>
          <a:lstStyle/>
          <a:p>
            <a:pPr>
              <a:defRPr/>
            </a:pPr>
            <a:r>
              <a:rPr lang="en-US" sz="2400" err="1">
                <a:latin typeface="Consolas" panose="020B0609020204030204" pitchFamily="49" charset="0"/>
                <a:cs typeface="Consolas" panose="020B0609020204030204" pitchFamily="49" charset="0"/>
              </a:rPr>
              <a:t>list.add</a:t>
            </a:r>
            <a:r>
              <a:rPr lang="en-US" sz="2400">
                <a:latin typeface="Consolas" panose="020B0609020204030204" pitchFamily="49" charset="0"/>
                <a:cs typeface="Consolas" panose="020B0609020204030204" pitchFamily="49" charset="0"/>
              </a:rPr>
              <a:t>(</a:t>
            </a:r>
            <a:r>
              <a:rPr lang="en-US" sz="2400">
                <a:solidFill>
                  <a:srgbClr val="000000"/>
                </a:solidFill>
                <a:ea typeface="Segoe UI Emoji" panose="020B0502040204020203" pitchFamily="34" charset="0"/>
              </a:rPr>
              <a:t>🍇</a:t>
            </a:r>
            <a:r>
              <a:rPr kumimoji="0" lang="en-US" sz="2400" b="0" i="0" u="none" strike="noStrike" kern="1200" cap="none" spc="0" normalizeH="0" baseline="0" noProof="0">
                <a:ln>
                  <a:noFill/>
                </a:ln>
                <a:effectLst/>
                <a:uLnTx/>
                <a:uFillTx/>
                <a:latin typeface="Consolas" panose="020B0609020204030204" pitchFamily="49" charset="0"/>
                <a:ea typeface="Segoe UI Emoji" panose="020B0502040204020203" pitchFamily="34" charset="0"/>
                <a:cs typeface="Consolas" panose="020B0609020204030204" pitchFamily="49" charset="0"/>
              </a:rPr>
              <a:t>);</a:t>
            </a:r>
            <a:endParaRPr kumimoji="0" lang="en-US" sz="2400" b="0" i="0" u="none" strike="noStrike" kern="1200" cap="none" spc="0" normalizeH="0" baseline="0" noProof="0">
              <a:ln>
                <a:noFill/>
              </a:ln>
              <a:effectLst/>
              <a:uLnTx/>
              <a:uFillTx/>
              <a:latin typeface="Consolas" panose="020B0609020204030204" pitchFamily="49" charset="0"/>
              <a:cs typeface="Consolas" panose="020B0609020204030204" pitchFamily="49" charset="0"/>
            </a:endParaRPr>
          </a:p>
        </p:txBody>
      </p:sp>
      <p:grpSp>
        <p:nvGrpSpPr>
          <p:cNvPr id="17" name="Group 16">
            <a:extLst>
              <a:ext uri="{FF2B5EF4-FFF2-40B4-BE49-F238E27FC236}">
                <a16:creationId xmlns:a16="http://schemas.microsoft.com/office/drawing/2014/main" id="{D709E106-BBDA-86C6-0F46-2A924CA8F9B0}"/>
              </a:ext>
            </a:extLst>
          </p:cNvPr>
          <p:cNvGrpSpPr/>
          <p:nvPr/>
        </p:nvGrpSpPr>
        <p:grpSpPr>
          <a:xfrm>
            <a:off x="277482" y="303351"/>
            <a:ext cx="3268890" cy="912967"/>
            <a:chOff x="582919" y="134337"/>
            <a:chExt cx="6886117" cy="1923225"/>
          </a:xfrm>
        </p:grpSpPr>
        <p:sp>
          <p:nvSpPr>
            <p:cNvPr id="2" name="Rectangle 1">
              <a:extLst>
                <a:ext uri="{FF2B5EF4-FFF2-40B4-BE49-F238E27FC236}">
                  <a16:creationId xmlns:a16="http://schemas.microsoft.com/office/drawing/2014/main" id="{97DA2A76-1C5C-4296-7DC6-85838948A824}"/>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 name="Rectangle 2">
              <a:extLst>
                <a:ext uri="{FF2B5EF4-FFF2-40B4-BE49-F238E27FC236}">
                  <a16:creationId xmlns:a16="http://schemas.microsoft.com/office/drawing/2014/main" id="{70E01B3B-89BA-8039-8B9F-0389B04F00C1}"/>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4" name="Rectangle 3">
              <a:extLst>
                <a:ext uri="{FF2B5EF4-FFF2-40B4-BE49-F238E27FC236}">
                  <a16:creationId xmlns:a16="http://schemas.microsoft.com/office/drawing/2014/main" id="{C682D21E-92C5-349F-5D43-D61CA08DAED4}"/>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611401E5-94E6-BAC9-489B-07BAE7522656}"/>
                </a:ext>
              </a:extLst>
            </p:cNvPr>
            <p:cNvSpPr/>
            <p:nvPr/>
          </p:nvSpPr>
          <p:spPr>
            <a:xfrm rot="5400000">
              <a:off x="6388155"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6BF919A6-FFCE-FD23-484A-30DCAE617152}"/>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2F09D2C1-21DE-13BF-FAEC-CE941AD8CBA8}"/>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2" name="Rectangle 11">
              <a:extLst>
                <a:ext uri="{FF2B5EF4-FFF2-40B4-BE49-F238E27FC236}">
                  <a16:creationId xmlns:a16="http://schemas.microsoft.com/office/drawing/2014/main" id="{30934D1A-4E37-3A4E-AB79-D2B11CB50E37}"/>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15" name="TextBox 14">
            <a:extLst>
              <a:ext uri="{FF2B5EF4-FFF2-40B4-BE49-F238E27FC236}">
                <a16:creationId xmlns:a16="http://schemas.microsoft.com/office/drawing/2014/main" id="{E1B0BC82-4EC2-6068-2812-F5AE5927DD9F}"/>
              </a:ext>
            </a:extLst>
          </p:cNvPr>
          <p:cNvSpPr txBox="1"/>
          <p:nvPr/>
        </p:nvSpPr>
        <p:spPr>
          <a:xfrm>
            <a:off x="1200559" y="49822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0" name="TextBox 9">
            <a:extLst>
              <a:ext uri="{FF2B5EF4-FFF2-40B4-BE49-F238E27FC236}">
                <a16:creationId xmlns:a16="http://schemas.microsoft.com/office/drawing/2014/main" id="{22E1FDDF-5DEA-6DC9-16AD-6F5AE288437B}"/>
              </a:ext>
            </a:extLst>
          </p:cNvPr>
          <p:cNvSpPr txBox="1"/>
          <p:nvPr/>
        </p:nvSpPr>
        <p:spPr>
          <a:xfrm>
            <a:off x="2001671" y="49822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6" name="TextBox 15">
            <a:extLst>
              <a:ext uri="{FF2B5EF4-FFF2-40B4-BE49-F238E27FC236}">
                <a16:creationId xmlns:a16="http://schemas.microsoft.com/office/drawing/2014/main" id="{70DBB306-459C-C891-9077-6F4EBDA83DB3}"/>
              </a:ext>
            </a:extLst>
          </p:cNvPr>
          <p:cNvSpPr txBox="1"/>
          <p:nvPr/>
        </p:nvSpPr>
        <p:spPr>
          <a:xfrm>
            <a:off x="2786598" y="49822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4" name="TextBox 13">
            <a:extLst>
              <a:ext uri="{FF2B5EF4-FFF2-40B4-BE49-F238E27FC236}">
                <a16:creationId xmlns:a16="http://schemas.microsoft.com/office/drawing/2014/main" id="{464631B7-990A-4293-39DB-DEB8A6EEB898}"/>
              </a:ext>
            </a:extLst>
          </p:cNvPr>
          <p:cNvSpPr txBox="1"/>
          <p:nvPr/>
        </p:nvSpPr>
        <p:spPr>
          <a:xfrm>
            <a:off x="5127343" y="2701402"/>
            <a:ext cx="1242029" cy="1107996"/>
          </a:xfrm>
          <a:prstGeom prst="rect">
            <a:avLst/>
          </a:prstGeom>
          <a:noFill/>
        </p:spPr>
        <p:txBody>
          <a:bodyPr wrap="square">
            <a:spAutoFit/>
          </a:bodyPr>
          <a:lstStyle/>
          <a:p>
            <a:pPr algn="ctr"/>
            <a:r>
              <a:rPr kumimoji="0" lang="en-US" sz="66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sz="5400"/>
          </a:p>
        </p:txBody>
      </p:sp>
      <p:grpSp>
        <p:nvGrpSpPr>
          <p:cNvPr id="35" name="Group 34">
            <a:extLst>
              <a:ext uri="{FF2B5EF4-FFF2-40B4-BE49-F238E27FC236}">
                <a16:creationId xmlns:a16="http://schemas.microsoft.com/office/drawing/2014/main" id="{9AD0258F-1A3B-E13E-C915-5EB9223174F6}"/>
              </a:ext>
            </a:extLst>
          </p:cNvPr>
          <p:cNvGrpSpPr/>
          <p:nvPr/>
        </p:nvGrpSpPr>
        <p:grpSpPr>
          <a:xfrm>
            <a:off x="1303110" y="1353818"/>
            <a:ext cx="6393846" cy="915812"/>
            <a:chOff x="1303110" y="1353818"/>
            <a:chExt cx="6393846" cy="915812"/>
          </a:xfrm>
        </p:grpSpPr>
        <p:grpSp>
          <p:nvGrpSpPr>
            <p:cNvPr id="18" name="Group 17">
              <a:extLst>
                <a:ext uri="{FF2B5EF4-FFF2-40B4-BE49-F238E27FC236}">
                  <a16:creationId xmlns:a16="http://schemas.microsoft.com/office/drawing/2014/main" id="{DAB6CBAE-71B4-E810-AF48-9A4C81484014}"/>
                </a:ext>
              </a:extLst>
            </p:cNvPr>
            <p:cNvGrpSpPr/>
            <p:nvPr/>
          </p:nvGrpSpPr>
          <p:grpSpPr>
            <a:xfrm>
              <a:off x="1303110" y="1356663"/>
              <a:ext cx="3268890" cy="912967"/>
              <a:chOff x="582919" y="134337"/>
              <a:chExt cx="6886117" cy="1923225"/>
            </a:xfrm>
          </p:grpSpPr>
          <p:sp>
            <p:nvSpPr>
              <p:cNvPr id="19" name="Rectangle 18">
                <a:extLst>
                  <a:ext uri="{FF2B5EF4-FFF2-40B4-BE49-F238E27FC236}">
                    <a16:creationId xmlns:a16="http://schemas.microsoft.com/office/drawing/2014/main" id="{C08EC0CD-2A39-DB9C-168D-655D3E28C5DC}"/>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0" name="Rectangle 19">
                <a:extLst>
                  <a:ext uri="{FF2B5EF4-FFF2-40B4-BE49-F238E27FC236}">
                    <a16:creationId xmlns:a16="http://schemas.microsoft.com/office/drawing/2014/main" id="{B3DB4BDA-5793-8620-C6C4-095F8139506A}"/>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1" name="Rectangle 20">
                <a:extLst>
                  <a:ext uri="{FF2B5EF4-FFF2-40B4-BE49-F238E27FC236}">
                    <a16:creationId xmlns:a16="http://schemas.microsoft.com/office/drawing/2014/main" id="{D87126C9-3E7C-37F8-B7BE-4513CBED1F8A}"/>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3" name="Rectangle 22">
                <a:extLst>
                  <a:ext uri="{FF2B5EF4-FFF2-40B4-BE49-F238E27FC236}">
                    <a16:creationId xmlns:a16="http://schemas.microsoft.com/office/drawing/2014/main" id="{BDAD147D-B603-4F86-8A08-F604D4DD32D8}"/>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4" name="Rectangle 23">
                <a:extLst>
                  <a:ext uri="{FF2B5EF4-FFF2-40B4-BE49-F238E27FC236}">
                    <a16:creationId xmlns:a16="http://schemas.microsoft.com/office/drawing/2014/main" id="{C003387A-A952-965D-34DB-B32EA90DB5A7}"/>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5" name="Rectangle 24">
                <a:extLst>
                  <a:ext uri="{FF2B5EF4-FFF2-40B4-BE49-F238E27FC236}">
                    <a16:creationId xmlns:a16="http://schemas.microsoft.com/office/drawing/2014/main" id="{809400B2-DCE1-F0CC-E078-EEFD1F3C89FF}"/>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grpSp>
          <p:nvGrpSpPr>
            <p:cNvPr id="27" name="Group 26">
              <a:extLst>
                <a:ext uri="{FF2B5EF4-FFF2-40B4-BE49-F238E27FC236}">
                  <a16:creationId xmlns:a16="http://schemas.microsoft.com/office/drawing/2014/main" id="{D73EA225-59EF-8534-B5DC-9EEF61F4BC1D}"/>
                </a:ext>
              </a:extLst>
            </p:cNvPr>
            <p:cNvGrpSpPr/>
            <p:nvPr/>
          </p:nvGrpSpPr>
          <p:grpSpPr>
            <a:xfrm rot="10800000">
              <a:off x="4428066" y="1353818"/>
              <a:ext cx="3268890" cy="912967"/>
              <a:chOff x="582919" y="134337"/>
              <a:chExt cx="6886117" cy="1923225"/>
            </a:xfrm>
          </p:grpSpPr>
          <p:sp>
            <p:nvSpPr>
              <p:cNvPr id="28" name="Rectangle 27">
                <a:extLst>
                  <a:ext uri="{FF2B5EF4-FFF2-40B4-BE49-F238E27FC236}">
                    <a16:creationId xmlns:a16="http://schemas.microsoft.com/office/drawing/2014/main" id="{875D077A-CE40-B7E2-356D-D0072F914C60}"/>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9" name="Rectangle 28">
                <a:extLst>
                  <a:ext uri="{FF2B5EF4-FFF2-40B4-BE49-F238E27FC236}">
                    <a16:creationId xmlns:a16="http://schemas.microsoft.com/office/drawing/2014/main" id="{671E07C5-8CB3-B3BE-0CB7-549969F1B69C}"/>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0" name="Rectangle 29">
                <a:extLst>
                  <a:ext uri="{FF2B5EF4-FFF2-40B4-BE49-F238E27FC236}">
                    <a16:creationId xmlns:a16="http://schemas.microsoft.com/office/drawing/2014/main" id="{771503CB-A0F3-195C-84CF-2748E0352274}"/>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1" name="Rectangle 30">
                <a:extLst>
                  <a:ext uri="{FF2B5EF4-FFF2-40B4-BE49-F238E27FC236}">
                    <a16:creationId xmlns:a16="http://schemas.microsoft.com/office/drawing/2014/main" id="{AFF3C6E4-6210-1440-5544-7A1E035F8805}"/>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2" name="Rectangle 31">
                <a:extLst>
                  <a:ext uri="{FF2B5EF4-FFF2-40B4-BE49-F238E27FC236}">
                    <a16:creationId xmlns:a16="http://schemas.microsoft.com/office/drawing/2014/main" id="{0B24BF06-8290-97E3-6FC6-16F22EF71E75}"/>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3" name="Rectangle 32">
                <a:extLst>
                  <a:ext uri="{FF2B5EF4-FFF2-40B4-BE49-F238E27FC236}">
                    <a16:creationId xmlns:a16="http://schemas.microsoft.com/office/drawing/2014/main" id="{65DCC96F-841E-7F20-02C9-943C1A631FE2}"/>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34" name="Rectangle 33">
              <a:extLst>
                <a:ext uri="{FF2B5EF4-FFF2-40B4-BE49-F238E27FC236}">
                  <a16:creationId xmlns:a16="http://schemas.microsoft.com/office/drawing/2014/main" id="{42E709B1-F785-4974-BB3C-E0A9EF35C836}"/>
                </a:ext>
              </a:extLst>
            </p:cNvPr>
            <p:cNvSpPr/>
            <p:nvPr/>
          </p:nvSpPr>
          <p:spPr>
            <a:xfrm rot="5400000">
              <a:off x="4032228" y="1777814"/>
              <a:ext cx="912966" cy="64974"/>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36" name="TextBox 35">
            <a:extLst>
              <a:ext uri="{FF2B5EF4-FFF2-40B4-BE49-F238E27FC236}">
                <a16:creationId xmlns:a16="http://schemas.microsoft.com/office/drawing/2014/main" id="{7D55C39F-A356-C5C7-FDD1-03D86158ADD2}"/>
              </a:ext>
            </a:extLst>
          </p:cNvPr>
          <p:cNvSpPr txBox="1"/>
          <p:nvPr/>
        </p:nvSpPr>
        <p:spPr>
          <a:xfrm>
            <a:off x="447999" y="498224"/>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Tree>
    <p:extLst>
      <p:ext uri="{BB962C8B-B14F-4D97-AF65-F5344CB8AC3E}">
        <p14:creationId xmlns:p14="http://schemas.microsoft.com/office/powerpoint/2010/main" val="3778819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wipe(left)">
                                      <p:cBhvr>
                                        <p:cTn id="14" dur="4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D6E06-8591-2F9B-BEEE-90A9A4BE435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9D35948-DF46-C14F-FA1F-9C95885F0C35}"/>
              </a:ext>
            </a:extLst>
          </p:cNvPr>
          <p:cNvSpPr txBox="1"/>
          <p:nvPr/>
        </p:nvSpPr>
        <p:spPr>
          <a:xfrm>
            <a:off x="2845965" y="2150703"/>
            <a:ext cx="3030808" cy="1862048"/>
          </a:xfrm>
          <a:prstGeom prst="rect">
            <a:avLst/>
          </a:prstGeom>
          <a:noFill/>
        </p:spPr>
        <p:txBody>
          <a:bodyPr wrap="square">
            <a:spAutoFit/>
          </a:bodyPr>
          <a:lstStyle/>
          <a:p>
            <a:pPr algn="ctr"/>
            <a:r>
              <a:rPr lang="en-US" sz="11500">
                <a:solidFill>
                  <a:srgbClr val="000000"/>
                </a:solidFill>
                <a:ea typeface="Segoe UI Emoji" panose="020B0502040204020203" pitchFamily="34" charset="0"/>
              </a:rPr>
              <a:t>👷‍♀️</a:t>
            </a:r>
            <a:endParaRPr lang="en-US" sz="8800"/>
          </a:p>
        </p:txBody>
      </p:sp>
      <p:sp>
        <p:nvSpPr>
          <p:cNvPr id="6" name="Rectangle 5">
            <a:extLst>
              <a:ext uri="{FF2B5EF4-FFF2-40B4-BE49-F238E27FC236}">
                <a16:creationId xmlns:a16="http://schemas.microsoft.com/office/drawing/2014/main" id="{BBA2DD56-9FB2-C1E4-816A-D0B7CFFBF1FF}"/>
              </a:ext>
            </a:extLst>
          </p:cNvPr>
          <p:cNvSpPr/>
          <p:nvPr/>
        </p:nvSpPr>
        <p:spPr>
          <a:xfrm>
            <a:off x="1844997" y="3820247"/>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6AB003A-8040-702D-D991-F298C9445518}"/>
              </a:ext>
            </a:extLst>
          </p:cNvPr>
          <p:cNvSpPr txBox="1"/>
          <p:nvPr/>
        </p:nvSpPr>
        <p:spPr>
          <a:xfrm>
            <a:off x="6154072" y="3287768"/>
            <a:ext cx="2659732" cy="461665"/>
          </a:xfrm>
          <a:prstGeom prst="rect">
            <a:avLst/>
          </a:prstGeom>
          <a:noFill/>
        </p:spPr>
        <p:txBody>
          <a:bodyPr wrap="square" rtlCol="0">
            <a:spAutoFit/>
          </a:bodyPr>
          <a:lstStyle/>
          <a:p>
            <a:pPr>
              <a:defRPr/>
            </a:pPr>
            <a:r>
              <a:rPr lang="en-US" sz="2400" err="1">
                <a:latin typeface="Consolas" panose="020B0609020204030204" pitchFamily="49" charset="0"/>
                <a:cs typeface="Consolas" panose="020B0609020204030204" pitchFamily="49" charset="0"/>
              </a:rPr>
              <a:t>list.add</a:t>
            </a:r>
            <a:r>
              <a:rPr lang="en-US" sz="2400">
                <a:latin typeface="Consolas" panose="020B0609020204030204" pitchFamily="49" charset="0"/>
                <a:cs typeface="Consolas" panose="020B0609020204030204" pitchFamily="49" charset="0"/>
              </a:rPr>
              <a:t>(</a:t>
            </a:r>
            <a:r>
              <a:rPr lang="en-US" sz="2400">
                <a:solidFill>
                  <a:srgbClr val="000000"/>
                </a:solidFill>
                <a:ea typeface="Segoe UI Emoji" panose="020B0502040204020203" pitchFamily="34" charset="0"/>
              </a:rPr>
              <a:t>🍇</a:t>
            </a:r>
            <a:r>
              <a:rPr kumimoji="0" lang="en-US" sz="2400" b="0" i="0" u="none" strike="noStrike" kern="1200" cap="none" spc="0" normalizeH="0" baseline="0" noProof="0">
                <a:ln>
                  <a:noFill/>
                </a:ln>
                <a:effectLst/>
                <a:uLnTx/>
                <a:uFillTx/>
                <a:latin typeface="Consolas" panose="020B0609020204030204" pitchFamily="49" charset="0"/>
                <a:ea typeface="Segoe UI Emoji" panose="020B0502040204020203" pitchFamily="34" charset="0"/>
                <a:cs typeface="Consolas" panose="020B0609020204030204" pitchFamily="49" charset="0"/>
              </a:rPr>
              <a:t>);</a:t>
            </a:r>
            <a:endParaRPr kumimoji="0" lang="en-US" sz="2400" b="0" i="0" u="none" strike="noStrike" kern="1200" cap="none" spc="0" normalizeH="0" baseline="0" noProof="0">
              <a:ln>
                <a:noFill/>
              </a:ln>
              <a:effectLst/>
              <a:uLnTx/>
              <a:uFillTx/>
              <a:latin typeface="Consolas" panose="020B0609020204030204" pitchFamily="49" charset="0"/>
              <a:cs typeface="Consolas" panose="020B0609020204030204" pitchFamily="49" charset="0"/>
            </a:endParaRPr>
          </a:p>
        </p:txBody>
      </p:sp>
      <p:grpSp>
        <p:nvGrpSpPr>
          <p:cNvPr id="17" name="Group 16">
            <a:extLst>
              <a:ext uri="{FF2B5EF4-FFF2-40B4-BE49-F238E27FC236}">
                <a16:creationId xmlns:a16="http://schemas.microsoft.com/office/drawing/2014/main" id="{824914F2-9E95-390B-0DED-2B219335E8D4}"/>
              </a:ext>
            </a:extLst>
          </p:cNvPr>
          <p:cNvGrpSpPr/>
          <p:nvPr/>
        </p:nvGrpSpPr>
        <p:grpSpPr>
          <a:xfrm>
            <a:off x="277482" y="303351"/>
            <a:ext cx="3268890" cy="912967"/>
            <a:chOff x="582919" y="134337"/>
            <a:chExt cx="6886117" cy="1923225"/>
          </a:xfrm>
        </p:grpSpPr>
        <p:sp>
          <p:nvSpPr>
            <p:cNvPr id="2" name="Rectangle 1">
              <a:extLst>
                <a:ext uri="{FF2B5EF4-FFF2-40B4-BE49-F238E27FC236}">
                  <a16:creationId xmlns:a16="http://schemas.microsoft.com/office/drawing/2014/main" id="{9692EA34-003E-EFA7-93CB-EAFBDC6A713D}"/>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 name="Rectangle 2">
              <a:extLst>
                <a:ext uri="{FF2B5EF4-FFF2-40B4-BE49-F238E27FC236}">
                  <a16:creationId xmlns:a16="http://schemas.microsoft.com/office/drawing/2014/main" id="{04DE54AD-B370-DC24-23F4-03A4EA08A953}"/>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4" name="Rectangle 3">
              <a:extLst>
                <a:ext uri="{FF2B5EF4-FFF2-40B4-BE49-F238E27FC236}">
                  <a16:creationId xmlns:a16="http://schemas.microsoft.com/office/drawing/2014/main" id="{91CCAD06-65C6-B65A-9125-953D453FE688}"/>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253FDBEC-307D-3B9C-2C3F-58AE444B6BAC}"/>
                </a:ext>
              </a:extLst>
            </p:cNvPr>
            <p:cNvSpPr/>
            <p:nvPr/>
          </p:nvSpPr>
          <p:spPr>
            <a:xfrm rot="5400000">
              <a:off x="6388155"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8D301602-A3F0-66B9-4951-C389C5ADEEA9}"/>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FC839759-FEAC-A4F8-D1FD-68A8886DEFAD}"/>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2" name="Rectangle 11">
              <a:extLst>
                <a:ext uri="{FF2B5EF4-FFF2-40B4-BE49-F238E27FC236}">
                  <a16:creationId xmlns:a16="http://schemas.microsoft.com/office/drawing/2014/main" id="{8CAADD4E-A4C9-75CC-861B-D398338298A3}"/>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15" name="TextBox 14">
            <a:extLst>
              <a:ext uri="{FF2B5EF4-FFF2-40B4-BE49-F238E27FC236}">
                <a16:creationId xmlns:a16="http://schemas.microsoft.com/office/drawing/2014/main" id="{3D711A16-EF2A-D8A7-ADFE-98C2F5DB4872}"/>
              </a:ext>
            </a:extLst>
          </p:cNvPr>
          <p:cNvSpPr txBox="1"/>
          <p:nvPr/>
        </p:nvSpPr>
        <p:spPr>
          <a:xfrm>
            <a:off x="1200559" y="49822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0" name="TextBox 9">
            <a:extLst>
              <a:ext uri="{FF2B5EF4-FFF2-40B4-BE49-F238E27FC236}">
                <a16:creationId xmlns:a16="http://schemas.microsoft.com/office/drawing/2014/main" id="{C2381A4D-5230-033A-53D4-4F6A9D475352}"/>
              </a:ext>
            </a:extLst>
          </p:cNvPr>
          <p:cNvSpPr txBox="1"/>
          <p:nvPr/>
        </p:nvSpPr>
        <p:spPr>
          <a:xfrm>
            <a:off x="2001671" y="49822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6" name="TextBox 15">
            <a:extLst>
              <a:ext uri="{FF2B5EF4-FFF2-40B4-BE49-F238E27FC236}">
                <a16:creationId xmlns:a16="http://schemas.microsoft.com/office/drawing/2014/main" id="{8BE38AEA-5D96-D4B1-135E-6372EE7232F2}"/>
              </a:ext>
            </a:extLst>
          </p:cNvPr>
          <p:cNvSpPr txBox="1"/>
          <p:nvPr/>
        </p:nvSpPr>
        <p:spPr>
          <a:xfrm>
            <a:off x="2786598" y="49822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4" name="TextBox 13">
            <a:extLst>
              <a:ext uri="{FF2B5EF4-FFF2-40B4-BE49-F238E27FC236}">
                <a16:creationId xmlns:a16="http://schemas.microsoft.com/office/drawing/2014/main" id="{7A16C0A1-FC05-30A4-55F9-7134BC03A819}"/>
              </a:ext>
            </a:extLst>
          </p:cNvPr>
          <p:cNvSpPr txBox="1"/>
          <p:nvPr/>
        </p:nvSpPr>
        <p:spPr>
          <a:xfrm>
            <a:off x="5127343" y="2701402"/>
            <a:ext cx="1242029" cy="1107996"/>
          </a:xfrm>
          <a:prstGeom prst="rect">
            <a:avLst/>
          </a:prstGeom>
          <a:noFill/>
        </p:spPr>
        <p:txBody>
          <a:bodyPr wrap="square">
            <a:spAutoFit/>
          </a:bodyPr>
          <a:lstStyle/>
          <a:p>
            <a:pPr algn="ctr"/>
            <a:r>
              <a:rPr kumimoji="0" lang="en-US" sz="66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sz="5400"/>
          </a:p>
        </p:txBody>
      </p:sp>
      <p:grpSp>
        <p:nvGrpSpPr>
          <p:cNvPr id="35" name="Group 34">
            <a:extLst>
              <a:ext uri="{FF2B5EF4-FFF2-40B4-BE49-F238E27FC236}">
                <a16:creationId xmlns:a16="http://schemas.microsoft.com/office/drawing/2014/main" id="{73A03164-420D-10BC-59B6-589A3C194791}"/>
              </a:ext>
            </a:extLst>
          </p:cNvPr>
          <p:cNvGrpSpPr/>
          <p:nvPr/>
        </p:nvGrpSpPr>
        <p:grpSpPr>
          <a:xfrm>
            <a:off x="1303110" y="1353818"/>
            <a:ext cx="6393846" cy="915812"/>
            <a:chOff x="1303110" y="1353818"/>
            <a:chExt cx="6393846" cy="915812"/>
          </a:xfrm>
        </p:grpSpPr>
        <p:grpSp>
          <p:nvGrpSpPr>
            <p:cNvPr id="18" name="Group 17">
              <a:extLst>
                <a:ext uri="{FF2B5EF4-FFF2-40B4-BE49-F238E27FC236}">
                  <a16:creationId xmlns:a16="http://schemas.microsoft.com/office/drawing/2014/main" id="{BC0D6A00-E81B-AFF1-8F15-8915309422CF}"/>
                </a:ext>
              </a:extLst>
            </p:cNvPr>
            <p:cNvGrpSpPr/>
            <p:nvPr/>
          </p:nvGrpSpPr>
          <p:grpSpPr>
            <a:xfrm>
              <a:off x="1303110" y="1356663"/>
              <a:ext cx="3268890" cy="912967"/>
              <a:chOff x="582919" y="134337"/>
              <a:chExt cx="6886117" cy="1923225"/>
            </a:xfrm>
          </p:grpSpPr>
          <p:sp>
            <p:nvSpPr>
              <p:cNvPr id="19" name="Rectangle 18">
                <a:extLst>
                  <a:ext uri="{FF2B5EF4-FFF2-40B4-BE49-F238E27FC236}">
                    <a16:creationId xmlns:a16="http://schemas.microsoft.com/office/drawing/2014/main" id="{055433FA-029B-E51F-F14A-C090C3942575}"/>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0" name="Rectangle 19">
                <a:extLst>
                  <a:ext uri="{FF2B5EF4-FFF2-40B4-BE49-F238E27FC236}">
                    <a16:creationId xmlns:a16="http://schemas.microsoft.com/office/drawing/2014/main" id="{6E01F138-545B-C564-FD50-13B21957B0B0}"/>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1" name="Rectangle 20">
                <a:extLst>
                  <a:ext uri="{FF2B5EF4-FFF2-40B4-BE49-F238E27FC236}">
                    <a16:creationId xmlns:a16="http://schemas.microsoft.com/office/drawing/2014/main" id="{288C221B-EA66-5CE0-83E6-5406A55C8493}"/>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3" name="Rectangle 22">
                <a:extLst>
                  <a:ext uri="{FF2B5EF4-FFF2-40B4-BE49-F238E27FC236}">
                    <a16:creationId xmlns:a16="http://schemas.microsoft.com/office/drawing/2014/main" id="{C49AC0D4-6352-48B1-6899-CDED51053BF1}"/>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4" name="Rectangle 23">
                <a:extLst>
                  <a:ext uri="{FF2B5EF4-FFF2-40B4-BE49-F238E27FC236}">
                    <a16:creationId xmlns:a16="http://schemas.microsoft.com/office/drawing/2014/main" id="{155D80E5-C806-310D-413E-AFFCB42B6142}"/>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5" name="Rectangle 24">
                <a:extLst>
                  <a:ext uri="{FF2B5EF4-FFF2-40B4-BE49-F238E27FC236}">
                    <a16:creationId xmlns:a16="http://schemas.microsoft.com/office/drawing/2014/main" id="{F34868FE-0BDA-C251-2138-65150458F6BE}"/>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grpSp>
          <p:nvGrpSpPr>
            <p:cNvPr id="27" name="Group 26">
              <a:extLst>
                <a:ext uri="{FF2B5EF4-FFF2-40B4-BE49-F238E27FC236}">
                  <a16:creationId xmlns:a16="http://schemas.microsoft.com/office/drawing/2014/main" id="{7E47FD9D-6E73-DCA1-A494-F71ACCC10774}"/>
                </a:ext>
              </a:extLst>
            </p:cNvPr>
            <p:cNvGrpSpPr/>
            <p:nvPr/>
          </p:nvGrpSpPr>
          <p:grpSpPr>
            <a:xfrm rot="10800000">
              <a:off x="4428066" y="1353818"/>
              <a:ext cx="3268890" cy="912967"/>
              <a:chOff x="582919" y="134337"/>
              <a:chExt cx="6886117" cy="1923225"/>
            </a:xfrm>
          </p:grpSpPr>
          <p:sp>
            <p:nvSpPr>
              <p:cNvPr id="28" name="Rectangle 27">
                <a:extLst>
                  <a:ext uri="{FF2B5EF4-FFF2-40B4-BE49-F238E27FC236}">
                    <a16:creationId xmlns:a16="http://schemas.microsoft.com/office/drawing/2014/main" id="{FB3C3CB1-E6FD-BD83-5263-280A18C1598B}"/>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9" name="Rectangle 28">
                <a:extLst>
                  <a:ext uri="{FF2B5EF4-FFF2-40B4-BE49-F238E27FC236}">
                    <a16:creationId xmlns:a16="http://schemas.microsoft.com/office/drawing/2014/main" id="{11DCBCCF-F90B-A257-165A-C641E2F77FCA}"/>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0" name="Rectangle 29">
                <a:extLst>
                  <a:ext uri="{FF2B5EF4-FFF2-40B4-BE49-F238E27FC236}">
                    <a16:creationId xmlns:a16="http://schemas.microsoft.com/office/drawing/2014/main" id="{996C3440-05CB-3D54-17C1-F6DCC1421A46}"/>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1" name="Rectangle 30">
                <a:extLst>
                  <a:ext uri="{FF2B5EF4-FFF2-40B4-BE49-F238E27FC236}">
                    <a16:creationId xmlns:a16="http://schemas.microsoft.com/office/drawing/2014/main" id="{814A199B-161D-54A1-56E2-BCDA3B3C60DB}"/>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2" name="Rectangle 31">
                <a:extLst>
                  <a:ext uri="{FF2B5EF4-FFF2-40B4-BE49-F238E27FC236}">
                    <a16:creationId xmlns:a16="http://schemas.microsoft.com/office/drawing/2014/main" id="{765F2D8E-2972-E96F-E8F7-002A094FD722}"/>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3" name="Rectangle 32">
                <a:extLst>
                  <a:ext uri="{FF2B5EF4-FFF2-40B4-BE49-F238E27FC236}">
                    <a16:creationId xmlns:a16="http://schemas.microsoft.com/office/drawing/2014/main" id="{9AB020AB-15A2-890D-E8A5-FBEB123D4AFC}"/>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34" name="Rectangle 33">
              <a:extLst>
                <a:ext uri="{FF2B5EF4-FFF2-40B4-BE49-F238E27FC236}">
                  <a16:creationId xmlns:a16="http://schemas.microsoft.com/office/drawing/2014/main" id="{9ED6406C-1A46-36D3-F503-BA8277F40616}"/>
                </a:ext>
              </a:extLst>
            </p:cNvPr>
            <p:cNvSpPr/>
            <p:nvPr/>
          </p:nvSpPr>
          <p:spPr>
            <a:xfrm rot="5400000">
              <a:off x="4032228" y="1777814"/>
              <a:ext cx="912966" cy="64974"/>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26" name="TextBox 25">
            <a:extLst>
              <a:ext uri="{FF2B5EF4-FFF2-40B4-BE49-F238E27FC236}">
                <a16:creationId xmlns:a16="http://schemas.microsoft.com/office/drawing/2014/main" id="{1F725A7D-E1FD-AA2B-38DA-B6B8C51CDF80}"/>
              </a:ext>
            </a:extLst>
          </p:cNvPr>
          <p:cNvSpPr txBox="1"/>
          <p:nvPr/>
        </p:nvSpPr>
        <p:spPr>
          <a:xfrm>
            <a:off x="1475101" y="1557520"/>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Tree>
    <p:extLst>
      <p:ext uri="{BB962C8B-B14F-4D97-AF65-F5344CB8AC3E}">
        <p14:creationId xmlns:p14="http://schemas.microsoft.com/office/powerpoint/2010/main" val="202698317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2DE14-B246-0E53-FAD2-A1FA3FCD8CA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6335CE12-3DEC-E4C6-705A-C7FB92D78C61}"/>
              </a:ext>
            </a:extLst>
          </p:cNvPr>
          <p:cNvSpPr/>
          <p:nvPr/>
        </p:nvSpPr>
        <p:spPr>
          <a:xfrm>
            <a:off x="1844997" y="3820247"/>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95F8AC5-B021-4B29-A958-4AAE905896ED}"/>
              </a:ext>
            </a:extLst>
          </p:cNvPr>
          <p:cNvSpPr txBox="1"/>
          <p:nvPr/>
        </p:nvSpPr>
        <p:spPr>
          <a:xfrm>
            <a:off x="6154072" y="3287768"/>
            <a:ext cx="2659732" cy="461665"/>
          </a:xfrm>
          <a:prstGeom prst="rect">
            <a:avLst/>
          </a:prstGeom>
          <a:noFill/>
        </p:spPr>
        <p:txBody>
          <a:bodyPr wrap="square" rtlCol="0">
            <a:spAutoFit/>
          </a:bodyPr>
          <a:lstStyle/>
          <a:p>
            <a:pPr>
              <a:defRPr/>
            </a:pPr>
            <a:r>
              <a:rPr lang="en-US" sz="2400" err="1">
                <a:latin typeface="Consolas" panose="020B0609020204030204" pitchFamily="49" charset="0"/>
                <a:cs typeface="Consolas" panose="020B0609020204030204" pitchFamily="49" charset="0"/>
              </a:rPr>
              <a:t>list.add</a:t>
            </a:r>
            <a:r>
              <a:rPr lang="en-US" sz="2400">
                <a:latin typeface="Consolas" panose="020B0609020204030204" pitchFamily="49" charset="0"/>
                <a:cs typeface="Consolas" panose="020B0609020204030204" pitchFamily="49" charset="0"/>
              </a:rPr>
              <a:t>(</a:t>
            </a:r>
            <a:r>
              <a:rPr lang="en-US" sz="2400">
                <a:solidFill>
                  <a:srgbClr val="000000"/>
                </a:solidFill>
                <a:ea typeface="Segoe UI Emoji" panose="020B0502040204020203" pitchFamily="34" charset="0"/>
              </a:rPr>
              <a:t>🍇</a:t>
            </a:r>
            <a:r>
              <a:rPr kumimoji="0" lang="en-US" sz="2400" b="0" i="0" u="none" strike="noStrike" kern="1200" cap="none" spc="0" normalizeH="0" baseline="0" noProof="0">
                <a:ln>
                  <a:noFill/>
                </a:ln>
                <a:effectLst/>
                <a:uLnTx/>
                <a:uFillTx/>
                <a:latin typeface="Consolas" panose="020B0609020204030204" pitchFamily="49" charset="0"/>
                <a:ea typeface="Segoe UI Emoji" panose="020B0502040204020203" pitchFamily="34" charset="0"/>
                <a:cs typeface="Consolas" panose="020B0609020204030204" pitchFamily="49" charset="0"/>
              </a:rPr>
              <a:t>);</a:t>
            </a:r>
            <a:endParaRPr kumimoji="0" lang="en-US" sz="2400" b="0" i="0" u="none" strike="noStrike" kern="1200" cap="none" spc="0" normalizeH="0" baseline="0" noProof="0">
              <a:ln>
                <a:noFill/>
              </a:ln>
              <a:effectLst/>
              <a:uLnTx/>
              <a:uFillTx/>
              <a:latin typeface="Consolas" panose="020B0609020204030204" pitchFamily="49" charset="0"/>
              <a:cs typeface="Consolas" panose="020B0609020204030204" pitchFamily="49" charset="0"/>
            </a:endParaRPr>
          </a:p>
        </p:txBody>
      </p:sp>
      <p:grpSp>
        <p:nvGrpSpPr>
          <p:cNvPr id="17" name="Group 16">
            <a:extLst>
              <a:ext uri="{FF2B5EF4-FFF2-40B4-BE49-F238E27FC236}">
                <a16:creationId xmlns:a16="http://schemas.microsoft.com/office/drawing/2014/main" id="{1E76027F-15DD-DB78-4D72-EF8390A49AD1}"/>
              </a:ext>
            </a:extLst>
          </p:cNvPr>
          <p:cNvGrpSpPr/>
          <p:nvPr/>
        </p:nvGrpSpPr>
        <p:grpSpPr>
          <a:xfrm>
            <a:off x="277482" y="303351"/>
            <a:ext cx="3268890" cy="912967"/>
            <a:chOff x="582919" y="134337"/>
            <a:chExt cx="6886117" cy="1923225"/>
          </a:xfrm>
        </p:grpSpPr>
        <p:sp>
          <p:nvSpPr>
            <p:cNvPr id="2" name="Rectangle 1">
              <a:extLst>
                <a:ext uri="{FF2B5EF4-FFF2-40B4-BE49-F238E27FC236}">
                  <a16:creationId xmlns:a16="http://schemas.microsoft.com/office/drawing/2014/main" id="{9D85D657-73B8-BA03-E053-7CA3C6E91B5D}"/>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 name="Rectangle 2">
              <a:extLst>
                <a:ext uri="{FF2B5EF4-FFF2-40B4-BE49-F238E27FC236}">
                  <a16:creationId xmlns:a16="http://schemas.microsoft.com/office/drawing/2014/main" id="{EFA981CD-7FEB-B475-A9F8-8FB454549B52}"/>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4" name="Rectangle 3">
              <a:extLst>
                <a:ext uri="{FF2B5EF4-FFF2-40B4-BE49-F238E27FC236}">
                  <a16:creationId xmlns:a16="http://schemas.microsoft.com/office/drawing/2014/main" id="{6C6E969E-E0D2-A336-7487-83DACBA93EBD}"/>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78FD1C4B-DCEB-A9C1-2696-C21C7F49DECA}"/>
                </a:ext>
              </a:extLst>
            </p:cNvPr>
            <p:cNvSpPr/>
            <p:nvPr/>
          </p:nvSpPr>
          <p:spPr>
            <a:xfrm rot="5400000">
              <a:off x="6388155"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9A7083E1-0BC2-349F-6CFA-123883DECD66}"/>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D24B4F48-5F22-5B76-8397-2056BFE28BBE}"/>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2" name="Rectangle 11">
              <a:extLst>
                <a:ext uri="{FF2B5EF4-FFF2-40B4-BE49-F238E27FC236}">
                  <a16:creationId xmlns:a16="http://schemas.microsoft.com/office/drawing/2014/main" id="{C97807C4-8B89-4620-222A-097936D971E2}"/>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15" name="TextBox 14">
            <a:extLst>
              <a:ext uri="{FF2B5EF4-FFF2-40B4-BE49-F238E27FC236}">
                <a16:creationId xmlns:a16="http://schemas.microsoft.com/office/drawing/2014/main" id="{EBFB5640-EA88-C8A7-40ED-2146A05C6BA9}"/>
              </a:ext>
            </a:extLst>
          </p:cNvPr>
          <p:cNvSpPr txBox="1"/>
          <p:nvPr/>
        </p:nvSpPr>
        <p:spPr>
          <a:xfrm>
            <a:off x="2226356" y="155751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0" name="TextBox 9">
            <a:extLst>
              <a:ext uri="{FF2B5EF4-FFF2-40B4-BE49-F238E27FC236}">
                <a16:creationId xmlns:a16="http://schemas.microsoft.com/office/drawing/2014/main" id="{075CF0F7-5C27-F8F1-6C24-54C6A13CFB6C}"/>
              </a:ext>
            </a:extLst>
          </p:cNvPr>
          <p:cNvSpPr txBox="1"/>
          <p:nvPr/>
        </p:nvSpPr>
        <p:spPr>
          <a:xfrm>
            <a:off x="2001671" y="49822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6" name="TextBox 15">
            <a:extLst>
              <a:ext uri="{FF2B5EF4-FFF2-40B4-BE49-F238E27FC236}">
                <a16:creationId xmlns:a16="http://schemas.microsoft.com/office/drawing/2014/main" id="{6087F1A7-F7DA-97E1-5BC5-9A0D6AAF2BD7}"/>
              </a:ext>
            </a:extLst>
          </p:cNvPr>
          <p:cNvSpPr txBox="1"/>
          <p:nvPr/>
        </p:nvSpPr>
        <p:spPr>
          <a:xfrm>
            <a:off x="2786598" y="49822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4" name="TextBox 13">
            <a:extLst>
              <a:ext uri="{FF2B5EF4-FFF2-40B4-BE49-F238E27FC236}">
                <a16:creationId xmlns:a16="http://schemas.microsoft.com/office/drawing/2014/main" id="{46627653-225E-91A9-DEA3-42A3724870D3}"/>
              </a:ext>
            </a:extLst>
          </p:cNvPr>
          <p:cNvSpPr txBox="1"/>
          <p:nvPr/>
        </p:nvSpPr>
        <p:spPr>
          <a:xfrm>
            <a:off x="5127343" y="2701402"/>
            <a:ext cx="1242029" cy="1107996"/>
          </a:xfrm>
          <a:prstGeom prst="rect">
            <a:avLst/>
          </a:prstGeom>
          <a:noFill/>
        </p:spPr>
        <p:txBody>
          <a:bodyPr wrap="square">
            <a:spAutoFit/>
          </a:bodyPr>
          <a:lstStyle/>
          <a:p>
            <a:pPr algn="ctr"/>
            <a:r>
              <a:rPr kumimoji="0" lang="en-US" sz="66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sz="5400"/>
          </a:p>
        </p:txBody>
      </p:sp>
      <p:grpSp>
        <p:nvGrpSpPr>
          <p:cNvPr id="35" name="Group 34">
            <a:extLst>
              <a:ext uri="{FF2B5EF4-FFF2-40B4-BE49-F238E27FC236}">
                <a16:creationId xmlns:a16="http://schemas.microsoft.com/office/drawing/2014/main" id="{92075AF6-A817-4BEB-5BE8-6AE2F8E83671}"/>
              </a:ext>
            </a:extLst>
          </p:cNvPr>
          <p:cNvGrpSpPr/>
          <p:nvPr/>
        </p:nvGrpSpPr>
        <p:grpSpPr>
          <a:xfrm>
            <a:off x="1303110" y="1353818"/>
            <a:ext cx="6393846" cy="915812"/>
            <a:chOff x="1303110" y="1353818"/>
            <a:chExt cx="6393846" cy="915812"/>
          </a:xfrm>
        </p:grpSpPr>
        <p:grpSp>
          <p:nvGrpSpPr>
            <p:cNvPr id="18" name="Group 17">
              <a:extLst>
                <a:ext uri="{FF2B5EF4-FFF2-40B4-BE49-F238E27FC236}">
                  <a16:creationId xmlns:a16="http://schemas.microsoft.com/office/drawing/2014/main" id="{16300D0F-5932-5C51-5B34-CF17DC107D9B}"/>
                </a:ext>
              </a:extLst>
            </p:cNvPr>
            <p:cNvGrpSpPr/>
            <p:nvPr/>
          </p:nvGrpSpPr>
          <p:grpSpPr>
            <a:xfrm>
              <a:off x="1303110" y="1356663"/>
              <a:ext cx="3268890" cy="912967"/>
              <a:chOff x="582919" y="134337"/>
              <a:chExt cx="6886117" cy="1923225"/>
            </a:xfrm>
          </p:grpSpPr>
          <p:sp>
            <p:nvSpPr>
              <p:cNvPr id="19" name="Rectangle 18">
                <a:extLst>
                  <a:ext uri="{FF2B5EF4-FFF2-40B4-BE49-F238E27FC236}">
                    <a16:creationId xmlns:a16="http://schemas.microsoft.com/office/drawing/2014/main" id="{674900B3-252F-0E99-BE3F-C9EFCA31EF4D}"/>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0" name="Rectangle 19">
                <a:extLst>
                  <a:ext uri="{FF2B5EF4-FFF2-40B4-BE49-F238E27FC236}">
                    <a16:creationId xmlns:a16="http://schemas.microsoft.com/office/drawing/2014/main" id="{FBD1929D-BEA2-B309-D773-C3D3797236EB}"/>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1" name="Rectangle 20">
                <a:extLst>
                  <a:ext uri="{FF2B5EF4-FFF2-40B4-BE49-F238E27FC236}">
                    <a16:creationId xmlns:a16="http://schemas.microsoft.com/office/drawing/2014/main" id="{5FEB6264-E1BF-A475-E535-926126E04613}"/>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3" name="Rectangle 22">
                <a:extLst>
                  <a:ext uri="{FF2B5EF4-FFF2-40B4-BE49-F238E27FC236}">
                    <a16:creationId xmlns:a16="http://schemas.microsoft.com/office/drawing/2014/main" id="{D92F996B-CB12-C5DF-9978-53A62DA30A2A}"/>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4" name="Rectangle 23">
                <a:extLst>
                  <a:ext uri="{FF2B5EF4-FFF2-40B4-BE49-F238E27FC236}">
                    <a16:creationId xmlns:a16="http://schemas.microsoft.com/office/drawing/2014/main" id="{0455D66C-C731-4BDB-6904-5AB994C05771}"/>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5" name="Rectangle 24">
                <a:extLst>
                  <a:ext uri="{FF2B5EF4-FFF2-40B4-BE49-F238E27FC236}">
                    <a16:creationId xmlns:a16="http://schemas.microsoft.com/office/drawing/2014/main" id="{25568D61-6120-70F7-DC53-2421E1906EAE}"/>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grpSp>
          <p:nvGrpSpPr>
            <p:cNvPr id="27" name="Group 26">
              <a:extLst>
                <a:ext uri="{FF2B5EF4-FFF2-40B4-BE49-F238E27FC236}">
                  <a16:creationId xmlns:a16="http://schemas.microsoft.com/office/drawing/2014/main" id="{BDCF9446-ABB9-A9DF-2FF0-6B674163FB7B}"/>
                </a:ext>
              </a:extLst>
            </p:cNvPr>
            <p:cNvGrpSpPr/>
            <p:nvPr/>
          </p:nvGrpSpPr>
          <p:grpSpPr>
            <a:xfrm rot="10800000">
              <a:off x="4428066" y="1353818"/>
              <a:ext cx="3268890" cy="912967"/>
              <a:chOff x="582919" y="134337"/>
              <a:chExt cx="6886117" cy="1923225"/>
            </a:xfrm>
          </p:grpSpPr>
          <p:sp>
            <p:nvSpPr>
              <p:cNvPr id="28" name="Rectangle 27">
                <a:extLst>
                  <a:ext uri="{FF2B5EF4-FFF2-40B4-BE49-F238E27FC236}">
                    <a16:creationId xmlns:a16="http://schemas.microsoft.com/office/drawing/2014/main" id="{22B2FD9B-92DF-0563-57AE-1C56B029AA06}"/>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9" name="Rectangle 28">
                <a:extLst>
                  <a:ext uri="{FF2B5EF4-FFF2-40B4-BE49-F238E27FC236}">
                    <a16:creationId xmlns:a16="http://schemas.microsoft.com/office/drawing/2014/main" id="{1907EC1C-3117-7BFD-4BCF-12DB63F26F43}"/>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0" name="Rectangle 29">
                <a:extLst>
                  <a:ext uri="{FF2B5EF4-FFF2-40B4-BE49-F238E27FC236}">
                    <a16:creationId xmlns:a16="http://schemas.microsoft.com/office/drawing/2014/main" id="{AE99B2EC-8DB1-A06C-1054-569DC5A80015}"/>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1" name="Rectangle 30">
                <a:extLst>
                  <a:ext uri="{FF2B5EF4-FFF2-40B4-BE49-F238E27FC236}">
                    <a16:creationId xmlns:a16="http://schemas.microsoft.com/office/drawing/2014/main" id="{D8501E1B-A7FC-788D-A507-F1CEC0BF71E6}"/>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2" name="Rectangle 31">
                <a:extLst>
                  <a:ext uri="{FF2B5EF4-FFF2-40B4-BE49-F238E27FC236}">
                    <a16:creationId xmlns:a16="http://schemas.microsoft.com/office/drawing/2014/main" id="{9AB633B7-D55A-0BD5-F332-326D9231F3E3}"/>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3" name="Rectangle 32">
                <a:extLst>
                  <a:ext uri="{FF2B5EF4-FFF2-40B4-BE49-F238E27FC236}">
                    <a16:creationId xmlns:a16="http://schemas.microsoft.com/office/drawing/2014/main" id="{066F4E91-5780-63CF-2363-B7B0B6384CF4}"/>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34" name="Rectangle 33">
              <a:extLst>
                <a:ext uri="{FF2B5EF4-FFF2-40B4-BE49-F238E27FC236}">
                  <a16:creationId xmlns:a16="http://schemas.microsoft.com/office/drawing/2014/main" id="{E6AFC96F-1521-184E-72D9-3E5C7C694FD8}"/>
                </a:ext>
              </a:extLst>
            </p:cNvPr>
            <p:cNvSpPr/>
            <p:nvPr/>
          </p:nvSpPr>
          <p:spPr>
            <a:xfrm rot="5400000">
              <a:off x="4032228" y="1777814"/>
              <a:ext cx="912966" cy="64974"/>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26" name="TextBox 25">
            <a:extLst>
              <a:ext uri="{FF2B5EF4-FFF2-40B4-BE49-F238E27FC236}">
                <a16:creationId xmlns:a16="http://schemas.microsoft.com/office/drawing/2014/main" id="{A65FBE05-97E7-85E9-FA5A-815F2C85F4AF}"/>
              </a:ext>
            </a:extLst>
          </p:cNvPr>
          <p:cNvSpPr txBox="1"/>
          <p:nvPr/>
        </p:nvSpPr>
        <p:spPr>
          <a:xfrm>
            <a:off x="1475101" y="1557520"/>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3" name="TextBox 12">
            <a:extLst>
              <a:ext uri="{FF2B5EF4-FFF2-40B4-BE49-F238E27FC236}">
                <a16:creationId xmlns:a16="http://schemas.microsoft.com/office/drawing/2014/main" id="{BAFAFE7C-C488-D9D1-9742-BA1BD7F966DC}"/>
              </a:ext>
            </a:extLst>
          </p:cNvPr>
          <p:cNvSpPr txBox="1"/>
          <p:nvPr/>
        </p:nvSpPr>
        <p:spPr>
          <a:xfrm>
            <a:off x="2845965" y="2150703"/>
            <a:ext cx="3030808" cy="1862048"/>
          </a:xfrm>
          <a:prstGeom prst="rect">
            <a:avLst/>
          </a:prstGeom>
          <a:noFill/>
        </p:spPr>
        <p:txBody>
          <a:bodyPr wrap="square">
            <a:spAutoFit/>
          </a:bodyPr>
          <a:lstStyle/>
          <a:p>
            <a:pPr algn="ctr"/>
            <a:r>
              <a:rPr lang="en-US" sz="11500">
                <a:solidFill>
                  <a:srgbClr val="000000"/>
                </a:solidFill>
                <a:ea typeface="Segoe UI Emoji" panose="020B0502040204020203" pitchFamily="34" charset="0"/>
              </a:rPr>
              <a:t>👷‍♀️</a:t>
            </a:r>
            <a:endParaRPr lang="en-US" sz="8800"/>
          </a:p>
        </p:txBody>
      </p:sp>
    </p:spTree>
    <p:extLst>
      <p:ext uri="{BB962C8B-B14F-4D97-AF65-F5344CB8AC3E}">
        <p14:creationId xmlns:p14="http://schemas.microsoft.com/office/powerpoint/2010/main" val="252406334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FA626-BBAD-BFBD-7180-527AF11FF93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0B6385C-ABA2-174D-6878-9AB0219090CA}"/>
              </a:ext>
            </a:extLst>
          </p:cNvPr>
          <p:cNvSpPr/>
          <p:nvPr/>
        </p:nvSpPr>
        <p:spPr>
          <a:xfrm>
            <a:off x="1844997" y="3820247"/>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B5CFBDC-D2EC-6278-838F-4556103FAF57}"/>
              </a:ext>
            </a:extLst>
          </p:cNvPr>
          <p:cNvSpPr txBox="1"/>
          <p:nvPr/>
        </p:nvSpPr>
        <p:spPr>
          <a:xfrm>
            <a:off x="6154072" y="3287768"/>
            <a:ext cx="2659732" cy="461665"/>
          </a:xfrm>
          <a:prstGeom prst="rect">
            <a:avLst/>
          </a:prstGeom>
          <a:noFill/>
        </p:spPr>
        <p:txBody>
          <a:bodyPr wrap="square" rtlCol="0">
            <a:spAutoFit/>
          </a:bodyPr>
          <a:lstStyle/>
          <a:p>
            <a:pPr>
              <a:defRPr/>
            </a:pPr>
            <a:r>
              <a:rPr lang="en-US" sz="2400" err="1">
                <a:latin typeface="Consolas" panose="020B0609020204030204" pitchFamily="49" charset="0"/>
                <a:cs typeface="Consolas" panose="020B0609020204030204" pitchFamily="49" charset="0"/>
              </a:rPr>
              <a:t>list.add</a:t>
            </a:r>
            <a:r>
              <a:rPr lang="en-US" sz="2400">
                <a:latin typeface="Consolas" panose="020B0609020204030204" pitchFamily="49" charset="0"/>
                <a:cs typeface="Consolas" panose="020B0609020204030204" pitchFamily="49" charset="0"/>
              </a:rPr>
              <a:t>(</a:t>
            </a:r>
            <a:r>
              <a:rPr lang="en-US" sz="2400">
                <a:solidFill>
                  <a:srgbClr val="000000"/>
                </a:solidFill>
                <a:ea typeface="Segoe UI Emoji" panose="020B0502040204020203" pitchFamily="34" charset="0"/>
              </a:rPr>
              <a:t>🍇</a:t>
            </a:r>
            <a:r>
              <a:rPr kumimoji="0" lang="en-US" sz="2400" b="0" i="0" u="none" strike="noStrike" kern="1200" cap="none" spc="0" normalizeH="0" baseline="0" noProof="0">
                <a:ln>
                  <a:noFill/>
                </a:ln>
                <a:effectLst/>
                <a:uLnTx/>
                <a:uFillTx/>
                <a:latin typeface="Consolas" panose="020B0609020204030204" pitchFamily="49" charset="0"/>
                <a:ea typeface="Segoe UI Emoji" panose="020B0502040204020203" pitchFamily="34" charset="0"/>
                <a:cs typeface="Consolas" panose="020B0609020204030204" pitchFamily="49" charset="0"/>
              </a:rPr>
              <a:t>);</a:t>
            </a:r>
            <a:endParaRPr kumimoji="0" lang="en-US" sz="2400" b="0" i="0" u="none" strike="noStrike" kern="1200" cap="none" spc="0" normalizeH="0" baseline="0" noProof="0">
              <a:ln>
                <a:noFill/>
              </a:ln>
              <a:effectLst/>
              <a:uLnTx/>
              <a:uFillTx/>
              <a:latin typeface="Consolas" panose="020B0609020204030204" pitchFamily="49" charset="0"/>
              <a:cs typeface="Consolas" panose="020B0609020204030204" pitchFamily="49" charset="0"/>
            </a:endParaRPr>
          </a:p>
        </p:txBody>
      </p:sp>
      <p:grpSp>
        <p:nvGrpSpPr>
          <p:cNvPr id="17" name="Group 16">
            <a:extLst>
              <a:ext uri="{FF2B5EF4-FFF2-40B4-BE49-F238E27FC236}">
                <a16:creationId xmlns:a16="http://schemas.microsoft.com/office/drawing/2014/main" id="{2B936F07-E741-3543-445D-F20A6F4E67D5}"/>
              </a:ext>
            </a:extLst>
          </p:cNvPr>
          <p:cNvGrpSpPr/>
          <p:nvPr/>
        </p:nvGrpSpPr>
        <p:grpSpPr>
          <a:xfrm>
            <a:off x="277482" y="303351"/>
            <a:ext cx="3268890" cy="912967"/>
            <a:chOff x="582919" y="134337"/>
            <a:chExt cx="6886117" cy="1923225"/>
          </a:xfrm>
        </p:grpSpPr>
        <p:sp>
          <p:nvSpPr>
            <p:cNvPr id="2" name="Rectangle 1">
              <a:extLst>
                <a:ext uri="{FF2B5EF4-FFF2-40B4-BE49-F238E27FC236}">
                  <a16:creationId xmlns:a16="http://schemas.microsoft.com/office/drawing/2014/main" id="{3B418C9D-53A0-C7A5-7A1D-82CECA7B42F3}"/>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 name="Rectangle 2">
              <a:extLst>
                <a:ext uri="{FF2B5EF4-FFF2-40B4-BE49-F238E27FC236}">
                  <a16:creationId xmlns:a16="http://schemas.microsoft.com/office/drawing/2014/main" id="{1F46D818-8EAF-5B1D-0A77-1CCB24F91328}"/>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4" name="Rectangle 3">
              <a:extLst>
                <a:ext uri="{FF2B5EF4-FFF2-40B4-BE49-F238E27FC236}">
                  <a16:creationId xmlns:a16="http://schemas.microsoft.com/office/drawing/2014/main" id="{DCFF1F76-B98A-2E79-7F88-CDF2629B210A}"/>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56ECEE8A-8536-1E7F-9E86-2CAFCF10B29F}"/>
                </a:ext>
              </a:extLst>
            </p:cNvPr>
            <p:cNvSpPr/>
            <p:nvPr/>
          </p:nvSpPr>
          <p:spPr>
            <a:xfrm rot="5400000">
              <a:off x="6388155"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13DEF933-66F8-6A15-3113-D4CA04B0CFB4}"/>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46F78B79-1FE0-94A2-A9F9-828C6EE3FE4F}"/>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2" name="Rectangle 11">
              <a:extLst>
                <a:ext uri="{FF2B5EF4-FFF2-40B4-BE49-F238E27FC236}">
                  <a16:creationId xmlns:a16="http://schemas.microsoft.com/office/drawing/2014/main" id="{B69474AA-AB81-F93A-852D-A21CC31AAADE}"/>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15" name="TextBox 14">
            <a:extLst>
              <a:ext uri="{FF2B5EF4-FFF2-40B4-BE49-F238E27FC236}">
                <a16:creationId xmlns:a16="http://schemas.microsoft.com/office/drawing/2014/main" id="{B313B740-0003-C407-50B7-6E3C7DCF6457}"/>
              </a:ext>
            </a:extLst>
          </p:cNvPr>
          <p:cNvSpPr txBox="1"/>
          <p:nvPr/>
        </p:nvSpPr>
        <p:spPr>
          <a:xfrm>
            <a:off x="2226356" y="155751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0" name="TextBox 9">
            <a:extLst>
              <a:ext uri="{FF2B5EF4-FFF2-40B4-BE49-F238E27FC236}">
                <a16:creationId xmlns:a16="http://schemas.microsoft.com/office/drawing/2014/main" id="{4E35C7D5-9A39-213D-999A-92F87627EF6A}"/>
              </a:ext>
            </a:extLst>
          </p:cNvPr>
          <p:cNvSpPr txBox="1"/>
          <p:nvPr/>
        </p:nvSpPr>
        <p:spPr>
          <a:xfrm>
            <a:off x="3018741" y="155751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6" name="TextBox 15">
            <a:extLst>
              <a:ext uri="{FF2B5EF4-FFF2-40B4-BE49-F238E27FC236}">
                <a16:creationId xmlns:a16="http://schemas.microsoft.com/office/drawing/2014/main" id="{7E028FDE-FE5B-DAFA-1EAC-CB0B902C2CD3}"/>
              </a:ext>
            </a:extLst>
          </p:cNvPr>
          <p:cNvSpPr txBox="1"/>
          <p:nvPr/>
        </p:nvSpPr>
        <p:spPr>
          <a:xfrm>
            <a:off x="2786598" y="49822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4" name="TextBox 13">
            <a:extLst>
              <a:ext uri="{FF2B5EF4-FFF2-40B4-BE49-F238E27FC236}">
                <a16:creationId xmlns:a16="http://schemas.microsoft.com/office/drawing/2014/main" id="{3B4EA480-46F9-2DC4-C32F-EBCB9D25A4F7}"/>
              </a:ext>
            </a:extLst>
          </p:cNvPr>
          <p:cNvSpPr txBox="1"/>
          <p:nvPr/>
        </p:nvSpPr>
        <p:spPr>
          <a:xfrm>
            <a:off x="5127343" y="2701402"/>
            <a:ext cx="1242029" cy="1107996"/>
          </a:xfrm>
          <a:prstGeom prst="rect">
            <a:avLst/>
          </a:prstGeom>
          <a:noFill/>
        </p:spPr>
        <p:txBody>
          <a:bodyPr wrap="square">
            <a:spAutoFit/>
          </a:bodyPr>
          <a:lstStyle/>
          <a:p>
            <a:pPr algn="ctr"/>
            <a:r>
              <a:rPr kumimoji="0" lang="en-US" sz="66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sz="5400"/>
          </a:p>
        </p:txBody>
      </p:sp>
      <p:grpSp>
        <p:nvGrpSpPr>
          <p:cNvPr id="35" name="Group 34">
            <a:extLst>
              <a:ext uri="{FF2B5EF4-FFF2-40B4-BE49-F238E27FC236}">
                <a16:creationId xmlns:a16="http://schemas.microsoft.com/office/drawing/2014/main" id="{4FD49CBC-4948-19CD-025F-6CA85A9019A6}"/>
              </a:ext>
            </a:extLst>
          </p:cNvPr>
          <p:cNvGrpSpPr/>
          <p:nvPr/>
        </p:nvGrpSpPr>
        <p:grpSpPr>
          <a:xfrm>
            <a:off x="1303110" y="1353818"/>
            <a:ext cx="6393846" cy="915812"/>
            <a:chOff x="1303110" y="1353818"/>
            <a:chExt cx="6393846" cy="915812"/>
          </a:xfrm>
        </p:grpSpPr>
        <p:grpSp>
          <p:nvGrpSpPr>
            <p:cNvPr id="18" name="Group 17">
              <a:extLst>
                <a:ext uri="{FF2B5EF4-FFF2-40B4-BE49-F238E27FC236}">
                  <a16:creationId xmlns:a16="http://schemas.microsoft.com/office/drawing/2014/main" id="{6052BCD9-AC90-E11D-E696-6E10136A9385}"/>
                </a:ext>
              </a:extLst>
            </p:cNvPr>
            <p:cNvGrpSpPr/>
            <p:nvPr/>
          </p:nvGrpSpPr>
          <p:grpSpPr>
            <a:xfrm>
              <a:off x="1303110" y="1356663"/>
              <a:ext cx="3268890" cy="912967"/>
              <a:chOff x="582919" y="134337"/>
              <a:chExt cx="6886117" cy="1923225"/>
            </a:xfrm>
          </p:grpSpPr>
          <p:sp>
            <p:nvSpPr>
              <p:cNvPr id="20" name="Rectangle 19">
                <a:extLst>
                  <a:ext uri="{FF2B5EF4-FFF2-40B4-BE49-F238E27FC236}">
                    <a16:creationId xmlns:a16="http://schemas.microsoft.com/office/drawing/2014/main" id="{86D6E9F1-4494-DB73-7FC0-AAD5906488C7}"/>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9" name="Rectangle 18">
                <a:extLst>
                  <a:ext uri="{FF2B5EF4-FFF2-40B4-BE49-F238E27FC236}">
                    <a16:creationId xmlns:a16="http://schemas.microsoft.com/office/drawing/2014/main" id="{6E1703FA-892C-CAB0-1DEF-1110AF3285EC}"/>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1" name="Rectangle 20">
                <a:extLst>
                  <a:ext uri="{FF2B5EF4-FFF2-40B4-BE49-F238E27FC236}">
                    <a16:creationId xmlns:a16="http://schemas.microsoft.com/office/drawing/2014/main" id="{A94F93AB-B04D-2212-548D-5AB3D0C2A122}"/>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3" name="Rectangle 22">
                <a:extLst>
                  <a:ext uri="{FF2B5EF4-FFF2-40B4-BE49-F238E27FC236}">
                    <a16:creationId xmlns:a16="http://schemas.microsoft.com/office/drawing/2014/main" id="{A228C0AF-2C12-3D80-53B1-A854D602AA79}"/>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4" name="Rectangle 23">
                <a:extLst>
                  <a:ext uri="{FF2B5EF4-FFF2-40B4-BE49-F238E27FC236}">
                    <a16:creationId xmlns:a16="http://schemas.microsoft.com/office/drawing/2014/main" id="{2C784C51-FE8F-FAF6-0D48-7C214D40ADAF}"/>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5" name="Rectangle 24">
                <a:extLst>
                  <a:ext uri="{FF2B5EF4-FFF2-40B4-BE49-F238E27FC236}">
                    <a16:creationId xmlns:a16="http://schemas.microsoft.com/office/drawing/2014/main" id="{F76B7DBC-CE0D-EB27-A091-2CAF1E549DEF}"/>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grpSp>
          <p:nvGrpSpPr>
            <p:cNvPr id="27" name="Group 26">
              <a:extLst>
                <a:ext uri="{FF2B5EF4-FFF2-40B4-BE49-F238E27FC236}">
                  <a16:creationId xmlns:a16="http://schemas.microsoft.com/office/drawing/2014/main" id="{4A50C2FC-E187-1EB1-22F6-A74822D61384}"/>
                </a:ext>
              </a:extLst>
            </p:cNvPr>
            <p:cNvGrpSpPr/>
            <p:nvPr/>
          </p:nvGrpSpPr>
          <p:grpSpPr>
            <a:xfrm rot="10800000">
              <a:off x="4428066" y="1353818"/>
              <a:ext cx="3268890" cy="912967"/>
              <a:chOff x="582919" y="134337"/>
              <a:chExt cx="6886117" cy="1923225"/>
            </a:xfrm>
          </p:grpSpPr>
          <p:sp>
            <p:nvSpPr>
              <p:cNvPr id="28" name="Rectangle 27">
                <a:extLst>
                  <a:ext uri="{FF2B5EF4-FFF2-40B4-BE49-F238E27FC236}">
                    <a16:creationId xmlns:a16="http://schemas.microsoft.com/office/drawing/2014/main" id="{7BF74EB9-D0C0-C7C5-6252-5E93EBBEDB79}"/>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9" name="Rectangle 28">
                <a:extLst>
                  <a:ext uri="{FF2B5EF4-FFF2-40B4-BE49-F238E27FC236}">
                    <a16:creationId xmlns:a16="http://schemas.microsoft.com/office/drawing/2014/main" id="{87840B70-0C18-B662-141D-D84F11B50F4F}"/>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0" name="Rectangle 29">
                <a:extLst>
                  <a:ext uri="{FF2B5EF4-FFF2-40B4-BE49-F238E27FC236}">
                    <a16:creationId xmlns:a16="http://schemas.microsoft.com/office/drawing/2014/main" id="{E51980B3-9587-0557-1A47-0E7A7B965300}"/>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1" name="Rectangle 30">
                <a:extLst>
                  <a:ext uri="{FF2B5EF4-FFF2-40B4-BE49-F238E27FC236}">
                    <a16:creationId xmlns:a16="http://schemas.microsoft.com/office/drawing/2014/main" id="{F36DEF1E-8270-C867-04F5-A3601B9B56BA}"/>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2" name="Rectangle 31">
                <a:extLst>
                  <a:ext uri="{FF2B5EF4-FFF2-40B4-BE49-F238E27FC236}">
                    <a16:creationId xmlns:a16="http://schemas.microsoft.com/office/drawing/2014/main" id="{B8CE18EA-512B-3BDB-6EBE-703E48739214}"/>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3" name="Rectangle 32">
                <a:extLst>
                  <a:ext uri="{FF2B5EF4-FFF2-40B4-BE49-F238E27FC236}">
                    <a16:creationId xmlns:a16="http://schemas.microsoft.com/office/drawing/2014/main" id="{EE321C7F-50CB-3522-63AA-22169CE0D519}"/>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34" name="Rectangle 33">
              <a:extLst>
                <a:ext uri="{FF2B5EF4-FFF2-40B4-BE49-F238E27FC236}">
                  <a16:creationId xmlns:a16="http://schemas.microsoft.com/office/drawing/2014/main" id="{D737EE06-9D78-0EE5-9E26-2ED91C9F5173}"/>
                </a:ext>
              </a:extLst>
            </p:cNvPr>
            <p:cNvSpPr/>
            <p:nvPr/>
          </p:nvSpPr>
          <p:spPr>
            <a:xfrm rot="5400000">
              <a:off x="4032228" y="1777814"/>
              <a:ext cx="912966" cy="64974"/>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26" name="TextBox 25">
            <a:extLst>
              <a:ext uri="{FF2B5EF4-FFF2-40B4-BE49-F238E27FC236}">
                <a16:creationId xmlns:a16="http://schemas.microsoft.com/office/drawing/2014/main" id="{C9D12441-35E6-9439-1D9E-AF361710D2DF}"/>
              </a:ext>
            </a:extLst>
          </p:cNvPr>
          <p:cNvSpPr txBox="1"/>
          <p:nvPr/>
        </p:nvSpPr>
        <p:spPr>
          <a:xfrm>
            <a:off x="1475101" y="1557520"/>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3" name="TextBox 12">
            <a:extLst>
              <a:ext uri="{FF2B5EF4-FFF2-40B4-BE49-F238E27FC236}">
                <a16:creationId xmlns:a16="http://schemas.microsoft.com/office/drawing/2014/main" id="{C89ECDB7-6761-23EB-7777-51653DF02601}"/>
              </a:ext>
            </a:extLst>
          </p:cNvPr>
          <p:cNvSpPr txBox="1"/>
          <p:nvPr/>
        </p:nvSpPr>
        <p:spPr>
          <a:xfrm>
            <a:off x="2845965" y="2150703"/>
            <a:ext cx="3030808" cy="1862048"/>
          </a:xfrm>
          <a:prstGeom prst="rect">
            <a:avLst/>
          </a:prstGeom>
          <a:noFill/>
        </p:spPr>
        <p:txBody>
          <a:bodyPr wrap="square">
            <a:spAutoFit/>
          </a:bodyPr>
          <a:lstStyle/>
          <a:p>
            <a:pPr algn="ctr"/>
            <a:r>
              <a:rPr lang="en-US" sz="11500">
                <a:solidFill>
                  <a:srgbClr val="000000"/>
                </a:solidFill>
                <a:ea typeface="Segoe UI Emoji" panose="020B0502040204020203" pitchFamily="34" charset="0"/>
              </a:rPr>
              <a:t>👷‍♀️</a:t>
            </a:r>
            <a:endParaRPr lang="en-US" sz="8800"/>
          </a:p>
        </p:txBody>
      </p:sp>
    </p:spTree>
    <p:extLst>
      <p:ext uri="{BB962C8B-B14F-4D97-AF65-F5344CB8AC3E}">
        <p14:creationId xmlns:p14="http://schemas.microsoft.com/office/powerpoint/2010/main" val="381305124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11D7A-0679-453A-62C5-5DBA0E604A11}"/>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BE93E91-8952-AA2E-63A0-58626D3A7131}"/>
              </a:ext>
            </a:extLst>
          </p:cNvPr>
          <p:cNvSpPr txBox="1"/>
          <p:nvPr/>
        </p:nvSpPr>
        <p:spPr>
          <a:xfrm>
            <a:off x="6154072" y="3287768"/>
            <a:ext cx="2659732" cy="461665"/>
          </a:xfrm>
          <a:prstGeom prst="rect">
            <a:avLst/>
          </a:prstGeom>
          <a:noFill/>
        </p:spPr>
        <p:txBody>
          <a:bodyPr wrap="square" rtlCol="0">
            <a:spAutoFit/>
          </a:bodyPr>
          <a:lstStyle/>
          <a:p>
            <a:pPr>
              <a:defRPr/>
            </a:pPr>
            <a:r>
              <a:rPr lang="en-US" sz="2400" err="1">
                <a:latin typeface="Consolas" panose="020B0609020204030204" pitchFamily="49" charset="0"/>
                <a:cs typeface="Consolas" panose="020B0609020204030204" pitchFamily="49" charset="0"/>
              </a:rPr>
              <a:t>list.add</a:t>
            </a:r>
            <a:r>
              <a:rPr lang="en-US" sz="2400">
                <a:latin typeface="Consolas" panose="020B0609020204030204" pitchFamily="49" charset="0"/>
                <a:cs typeface="Consolas" panose="020B0609020204030204" pitchFamily="49" charset="0"/>
              </a:rPr>
              <a:t>(</a:t>
            </a:r>
            <a:r>
              <a:rPr lang="en-US" sz="2400">
                <a:solidFill>
                  <a:srgbClr val="000000"/>
                </a:solidFill>
                <a:ea typeface="Segoe UI Emoji" panose="020B0502040204020203" pitchFamily="34" charset="0"/>
              </a:rPr>
              <a:t>🍇</a:t>
            </a:r>
            <a:r>
              <a:rPr kumimoji="0" lang="en-US" sz="2400" b="0" i="0" u="none" strike="noStrike" kern="1200" cap="none" spc="0" normalizeH="0" baseline="0" noProof="0">
                <a:ln>
                  <a:noFill/>
                </a:ln>
                <a:effectLst/>
                <a:uLnTx/>
                <a:uFillTx/>
                <a:latin typeface="Consolas" panose="020B0609020204030204" pitchFamily="49" charset="0"/>
                <a:ea typeface="Segoe UI Emoji" panose="020B0502040204020203" pitchFamily="34" charset="0"/>
                <a:cs typeface="Consolas" panose="020B0609020204030204" pitchFamily="49" charset="0"/>
              </a:rPr>
              <a:t>);</a:t>
            </a:r>
            <a:endParaRPr kumimoji="0" lang="en-US" sz="2400" b="0" i="0" u="none" strike="noStrike" kern="1200" cap="none" spc="0" normalizeH="0" baseline="0" noProof="0">
              <a:ln>
                <a:noFill/>
              </a:ln>
              <a:effectLst/>
              <a:uLnTx/>
              <a:uFillTx/>
              <a:latin typeface="Consolas" panose="020B0609020204030204" pitchFamily="49" charset="0"/>
              <a:cs typeface="Consolas" panose="020B0609020204030204" pitchFamily="49" charset="0"/>
            </a:endParaRPr>
          </a:p>
        </p:txBody>
      </p:sp>
      <p:grpSp>
        <p:nvGrpSpPr>
          <p:cNvPr id="17" name="Group 16">
            <a:extLst>
              <a:ext uri="{FF2B5EF4-FFF2-40B4-BE49-F238E27FC236}">
                <a16:creationId xmlns:a16="http://schemas.microsoft.com/office/drawing/2014/main" id="{32226C71-0AA3-1B52-EC2C-36E5026DCE84}"/>
              </a:ext>
            </a:extLst>
          </p:cNvPr>
          <p:cNvGrpSpPr/>
          <p:nvPr/>
        </p:nvGrpSpPr>
        <p:grpSpPr>
          <a:xfrm>
            <a:off x="277482" y="303351"/>
            <a:ext cx="3268890" cy="912967"/>
            <a:chOff x="582919" y="134337"/>
            <a:chExt cx="6886117" cy="1923225"/>
          </a:xfrm>
        </p:grpSpPr>
        <p:sp>
          <p:nvSpPr>
            <p:cNvPr id="2" name="Rectangle 1">
              <a:extLst>
                <a:ext uri="{FF2B5EF4-FFF2-40B4-BE49-F238E27FC236}">
                  <a16:creationId xmlns:a16="http://schemas.microsoft.com/office/drawing/2014/main" id="{E2557182-87DD-CA1B-38E8-B87265C62607}"/>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 name="Rectangle 2">
              <a:extLst>
                <a:ext uri="{FF2B5EF4-FFF2-40B4-BE49-F238E27FC236}">
                  <a16:creationId xmlns:a16="http://schemas.microsoft.com/office/drawing/2014/main" id="{D72EBB17-2A97-5076-1FE9-A4F428FE0AF4}"/>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4" name="Rectangle 3">
              <a:extLst>
                <a:ext uri="{FF2B5EF4-FFF2-40B4-BE49-F238E27FC236}">
                  <a16:creationId xmlns:a16="http://schemas.microsoft.com/office/drawing/2014/main" id="{18EBE720-B278-D397-A5DC-E5F6A3AE3BF6}"/>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11E54A4E-8EEB-B846-74D8-11ADEB08AE27}"/>
                </a:ext>
              </a:extLst>
            </p:cNvPr>
            <p:cNvSpPr/>
            <p:nvPr/>
          </p:nvSpPr>
          <p:spPr>
            <a:xfrm rot="5400000">
              <a:off x="6388155"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34C6402D-33BF-BD8E-811A-9CDE8254F47E}"/>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354E66DB-AEAB-DEB8-01EF-8218B1A6893B}"/>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2" name="Rectangle 11">
              <a:extLst>
                <a:ext uri="{FF2B5EF4-FFF2-40B4-BE49-F238E27FC236}">
                  <a16:creationId xmlns:a16="http://schemas.microsoft.com/office/drawing/2014/main" id="{4CBDFDFD-5C65-F327-89CF-9B75D6EBA231}"/>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15" name="TextBox 14">
            <a:extLst>
              <a:ext uri="{FF2B5EF4-FFF2-40B4-BE49-F238E27FC236}">
                <a16:creationId xmlns:a16="http://schemas.microsoft.com/office/drawing/2014/main" id="{32DB43EB-6495-E53D-E58F-6EEAABF26C2D}"/>
              </a:ext>
            </a:extLst>
          </p:cNvPr>
          <p:cNvSpPr txBox="1"/>
          <p:nvPr/>
        </p:nvSpPr>
        <p:spPr>
          <a:xfrm>
            <a:off x="2226356" y="155751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0" name="TextBox 9">
            <a:extLst>
              <a:ext uri="{FF2B5EF4-FFF2-40B4-BE49-F238E27FC236}">
                <a16:creationId xmlns:a16="http://schemas.microsoft.com/office/drawing/2014/main" id="{8E9D3FC9-0731-9D03-0368-B441CBCC039C}"/>
              </a:ext>
            </a:extLst>
          </p:cNvPr>
          <p:cNvSpPr txBox="1"/>
          <p:nvPr/>
        </p:nvSpPr>
        <p:spPr>
          <a:xfrm>
            <a:off x="3018741" y="155751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6" name="TextBox 15">
            <a:extLst>
              <a:ext uri="{FF2B5EF4-FFF2-40B4-BE49-F238E27FC236}">
                <a16:creationId xmlns:a16="http://schemas.microsoft.com/office/drawing/2014/main" id="{53087392-46E2-0855-E742-DF65C80C9B7E}"/>
              </a:ext>
            </a:extLst>
          </p:cNvPr>
          <p:cNvSpPr txBox="1"/>
          <p:nvPr/>
        </p:nvSpPr>
        <p:spPr>
          <a:xfrm>
            <a:off x="3796829" y="1548691"/>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4" name="TextBox 13">
            <a:extLst>
              <a:ext uri="{FF2B5EF4-FFF2-40B4-BE49-F238E27FC236}">
                <a16:creationId xmlns:a16="http://schemas.microsoft.com/office/drawing/2014/main" id="{50B30F9F-CA3D-7E80-4648-BACB65521502}"/>
              </a:ext>
            </a:extLst>
          </p:cNvPr>
          <p:cNvSpPr txBox="1"/>
          <p:nvPr/>
        </p:nvSpPr>
        <p:spPr>
          <a:xfrm>
            <a:off x="5127343" y="2701402"/>
            <a:ext cx="1242029" cy="1107996"/>
          </a:xfrm>
          <a:prstGeom prst="rect">
            <a:avLst/>
          </a:prstGeom>
          <a:noFill/>
        </p:spPr>
        <p:txBody>
          <a:bodyPr wrap="square">
            <a:spAutoFit/>
          </a:bodyPr>
          <a:lstStyle/>
          <a:p>
            <a:pPr algn="ctr"/>
            <a:r>
              <a:rPr kumimoji="0" lang="en-US" sz="66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sz="5400"/>
          </a:p>
        </p:txBody>
      </p:sp>
      <p:grpSp>
        <p:nvGrpSpPr>
          <p:cNvPr id="35" name="Group 34">
            <a:extLst>
              <a:ext uri="{FF2B5EF4-FFF2-40B4-BE49-F238E27FC236}">
                <a16:creationId xmlns:a16="http://schemas.microsoft.com/office/drawing/2014/main" id="{D3B9862C-C559-1E1E-C16F-F408E64BCFC0}"/>
              </a:ext>
            </a:extLst>
          </p:cNvPr>
          <p:cNvGrpSpPr/>
          <p:nvPr/>
        </p:nvGrpSpPr>
        <p:grpSpPr>
          <a:xfrm>
            <a:off x="1303110" y="1353818"/>
            <a:ext cx="6393846" cy="915812"/>
            <a:chOff x="1303110" y="1353818"/>
            <a:chExt cx="6393846" cy="915812"/>
          </a:xfrm>
        </p:grpSpPr>
        <p:grpSp>
          <p:nvGrpSpPr>
            <p:cNvPr id="18" name="Group 17">
              <a:extLst>
                <a:ext uri="{FF2B5EF4-FFF2-40B4-BE49-F238E27FC236}">
                  <a16:creationId xmlns:a16="http://schemas.microsoft.com/office/drawing/2014/main" id="{E665ED3D-B7E1-A88F-C479-5F0110690499}"/>
                </a:ext>
              </a:extLst>
            </p:cNvPr>
            <p:cNvGrpSpPr/>
            <p:nvPr/>
          </p:nvGrpSpPr>
          <p:grpSpPr>
            <a:xfrm>
              <a:off x="1303110" y="1356663"/>
              <a:ext cx="3268890" cy="912967"/>
              <a:chOff x="582919" y="134337"/>
              <a:chExt cx="6886117" cy="1923225"/>
            </a:xfrm>
          </p:grpSpPr>
          <p:sp>
            <p:nvSpPr>
              <p:cNvPr id="19" name="Rectangle 18">
                <a:extLst>
                  <a:ext uri="{FF2B5EF4-FFF2-40B4-BE49-F238E27FC236}">
                    <a16:creationId xmlns:a16="http://schemas.microsoft.com/office/drawing/2014/main" id="{4A371371-41CC-590A-A3C8-AC7C853BB92B}"/>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0" name="Rectangle 19">
                <a:extLst>
                  <a:ext uri="{FF2B5EF4-FFF2-40B4-BE49-F238E27FC236}">
                    <a16:creationId xmlns:a16="http://schemas.microsoft.com/office/drawing/2014/main" id="{547184FD-CA83-6B24-8DC3-D8594D1BEFFD}"/>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1" name="Rectangle 20">
                <a:extLst>
                  <a:ext uri="{FF2B5EF4-FFF2-40B4-BE49-F238E27FC236}">
                    <a16:creationId xmlns:a16="http://schemas.microsoft.com/office/drawing/2014/main" id="{B83138A8-DF0E-262A-3C55-16424C81912B}"/>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3" name="Rectangle 22">
                <a:extLst>
                  <a:ext uri="{FF2B5EF4-FFF2-40B4-BE49-F238E27FC236}">
                    <a16:creationId xmlns:a16="http://schemas.microsoft.com/office/drawing/2014/main" id="{CABD5105-4F15-C3A6-A443-30FE9015742A}"/>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4" name="Rectangle 23">
                <a:extLst>
                  <a:ext uri="{FF2B5EF4-FFF2-40B4-BE49-F238E27FC236}">
                    <a16:creationId xmlns:a16="http://schemas.microsoft.com/office/drawing/2014/main" id="{4C112089-16F9-0A3A-FDF8-9080F108683E}"/>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5" name="Rectangle 24">
                <a:extLst>
                  <a:ext uri="{FF2B5EF4-FFF2-40B4-BE49-F238E27FC236}">
                    <a16:creationId xmlns:a16="http://schemas.microsoft.com/office/drawing/2014/main" id="{2C0769ED-20A2-C897-5C85-9B1693C0A30A}"/>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grpSp>
          <p:nvGrpSpPr>
            <p:cNvPr id="27" name="Group 26">
              <a:extLst>
                <a:ext uri="{FF2B5EF4-FFF2-40B4-BE49-F238E27FC236}">
                  <a16:creationId xmlns:a16="http://schemas.microsoft.com/office/drawing/2014/main" id="{CA5B2112-B46C-F8D7-50E4-871ED41D2F83}"/>
                </a:ext>
              </a:extLst>
            </p:cNvPr>
            <p:cNvGrpSpPr/>
            <p:nvPr/>
          </p:nvGrpSpPr>
          <p:grpSpPr>
            <a:xfrm rot="10800000">
              <a:off x="4428066" y="1353818"/>
              <a:ext cx="3268890" cy="912967"/>
              <a:chOff x="582919" y="134337"/>
              <a:chExt cx="6886117" cy="1923225"/>
            </a:xfrm>
          </p:grpSpPr>
          <p:sp>
            <p:nvSpPr>
              <p:cNvPr id="28" name="Rectangle 27">
                <a:extLst>
                  <a:ext uri="{FF2B5EF4-FFF2-40B4-BE49-F238E27FC236}">
                    <a16:creationId xmlns:a16="http://schemas.microsoft.com/office/drawing/2014/main" id="{8EDD2079-0FD9-6A38-4473-7C820C3398CB}"/>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9" name="Rectangle 28">
                <a:extLst>
                  <a:ext uri="{FF2B5EF4-FFF2-40B4-BE49-F238E27FC236}">
                    <a16:creationId xmlns:a16="http://schemas.microsoft.com/office/drawing/2014/main" id="{E3C8F1EC-4F41-E658-2E17-859B6A5D2E5E}"/>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0" name="Rectangle 29">
                <a:extLst>
                  <a:ext uri="{FF2B5EF4-FFF2-40B4-BE49-F238E27FC236}">
                    <a16:creationId xmlns:a16="http://schemas.microsoft.com/office/drawing/2014/main" id="{37737C14-C815-FC7C-A824-485AAAEF9179}"/>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1" name="Rectangle 30">
                <a:extLst>
                  <a:ext uri="{FF2B5EF4-FFF2-40B4-BE49-F238E27FC236}">
                    <a16:creationId xmlns:a16="http://schemas.microsoft.com/office/drawing/2014/main" id="{C129D5C7-C9A6-DF59-B7F9-F461A9851D9C}"/>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2" name="Rectangle 31">
                <a:extLst>
                  <a:ext uri="{FF2B5EF4-FFF2-40B4-BE49-F238E27FC236}">
                    <a16:creationId xmlns:a16="http://schemas.microsoft.com/office/drawing/2014/main" id="{7296D4C9-8E93-3848-B87A-6E3644878CD7}"/>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3" name="Rectangle 32">
                <a:extLst>
                  <a:ext uri="{FF2B5EF4-FFF2-40B4-BE49-F238E27FC236}">
                    <a16:creationId xmlns:a16="http://schemas.microsoft.com/office/drawing/2014/main" id="{23D81AE7-6CFF-71D0-9D43-D894AA34D04A}"/>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34" name="Rectangle 33">
              <a:extLst>
                <a:ext uri="{FF2B5EF4-FFF2-40B4-BE49-F238E27FC236}">
                  <a16:creationId xmlns:a16="http://schemas.microsoft.com/office/drawing/2014/main" id="{31BC5EA3-1CD0-14D2-10B6-DA0B8134766D}"/>
                </a:ext>
              </a:extLst>
            </p:cNvPr>
            <p:cNvSpPr/>
            <p:nvPr/>
          </p:nvSpPr>
          <p:spPr>
            <a:xfrm rot="5400000">
              <a:off x="4032228" y="1777814"/>
              <a:ext cx="912966" cy="64974"/>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26" name="TextBox 25">
            <a:extLst>
              <a:ext uri="{FF2B5EF4-FFF2-40B4-BE49-F238E27FC236}">
                <a16:creationId xmlns:a16="http://schemas.microsoft.com/office/drawing/2014/main" id="{073A19B8-2113-23C0-E026-4D1E3EC963D0}"/>
              </a:ext>
            </a:extLst>
          </p:cNvPr>
          <p:cNvSpPr txBox="1"/>
          <p:nvPr/>
        </p:nvSpPr>
        <p:spPr>
          <a:xfrm>
            <a:off x="1475101" y="1557520"/>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3" name="TextBox 12">
            <a:extLst>
              <a:ext uri="{FF2B5EF4-FFF2-40B4-BE49-F238E27FC236}">
                <a16:creationId xmlns:a16="http://schemas.microsoft.com/office/drawing/2014/main" id="{442FC54D-D6B4-60DB-7F92-416BD2A9755A}"/>
              </a:ext>
            </a:extLst>
          </p:cNvPr>
          <p:cNvSpPr txBox="1"/>
          <p:nvPr/>
        </p:nvSpPr>
        <p:spPr>
          <a:xfrm>
            <a:off x="2845965" y="2150703"/>
            <a:ext cx="3030808" cy="1862048"/>
          </a:xfrm>
          <a:prstGeom prst="rect">
            <a:avLst/>
          </a:prstGeom>
          <a:noFill/>
        </p:spPr>
        <p:txBody>
          <a:bodyPr wrap="square">
            <a:spAutoFit/>
          </a:bodyPr>
          <a:lstStyle/>
          <a:p>
            <a:pPr algn="ctr"/>
            <a:r>
              <a:rPr lang="en-US" sz="11500">
                <a:solidFill>
                  <a:srgbClr val="000000"/>
                </a:solidFill>
                <a:ea typeface="Segoe UI Emoji" panose="020B0502040204020203" pitchFamily="34" charset="0"/>
              </a:rPr>
              <a:t>👷‍♀️</a:t>
            </a:r>
            <a:endParaRPr lang="en-US" sz="8800"/>
          </a:p>
        </p:txBody>
      </p:sp>
      <p:sp>
        <p:nvSpPr>
          <p:cNvPr id="6" name="Rectangle 5">
            <a:extLst>
              <a:ext uri="{FF2B5EF4-FFF2-40B4-BE49-F238E27FC236}">
                <a16:creationId xmlns:a16="http://schemas.microsoft.com/office/drawing/2014/main" id="{BC42E856-17CA-1DE3-AD6D-6A69F9902AB4}"/>
              </a:ext>
            </a:extLst>
          </p:cNvPr>
          <p:cNvSpPr/>
          <p:nvPr/>
        </p:nvSpPr>
        <p:spPr>
          <a:xfrm>
            <a:off x="1844997" y="3820247"/>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15300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nodeType="clickEffect">
                                  <p:stCondLst>
                                    <p:cond delay="0"/>
                                  </p:stCondLst>
                                  <p:childTnLst>
                                    <p:animEffect transition="out" filter="dissolve">
                                      <p:cBhvr>
                                        <p:cTn id="6" dur="500"/>
                                        <p:tgtEl>
                                          <p:spTgt spid="17"/>
                                        </p:tgtEl>
                                      </p:cBhvr>
                                    </p:animEffect>
                                    <p:set>
                                      <p:cBhvr>
                                        <p:cTn id="7" dur="1" fill="hold">
                                          <p:stCondLst>
                                            <p:cond delay="499"/>
                                          </p:stCondLst>
                                        </p:cTn>
                                        <p:tgtEl>
                                          <p:spTgt spid="1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42" presetClass="exit" presetSubtype="0" fill="hold" grpId="0" nodeType="clickEffect">
                                  <p:stCondLst>
                                    <p:cond delay="0"/>
                                  </p:stCondLst>
                                  <p:childTnLst>
                                    <p:animEffect transition="out" filter="fade">
                                      <p:cBhvr>
                                        <p:cTn id="11" dur="500"/>
                                        <p:tgtEl>
                                          <p:spTgt spid="13"/>
                                        </p:tgtEl>
                                      </p:cBhvr>
                                    </p:animEffect>
                                    <p:anim calcmode="lin" valueType="num">
                                      <p:cBhvr>
                                        <p:cTn id="12" dur="500"/>
                                        <p:tgtEl>
                                          <p:spTgt spid="13"/>
                                        </p:tgtEl>
                                        <p:attrNameLst>
                                          <p:attrName>ppt_x</p:attrName>
                                        </p:attrNameLst>
                                      </p:cBhvr>
                                      <p:tavLst>
                                        <p:tav tm="0">
                                          <p:val>
                                            <p:strVal val="ppt_x"/>
                                          </p:val>
                                        </p:tav>
                                        <p:tav tm="100000">
                                          <p:val>
                                            <p:strVal val="ppt_x"/>
                                          </p:val>
                                        </p:tav>
                                      </p:tavLst>
                                    </p:anim>
                                    <p:anim calcmode="lin" valueType="num">
                                      <p:cBhvr>
                                        <p:cTn id="13" dur="500"/>
                                        <p:tgtEl>
                                          <p:spTgt spid="13"/>
                                        </p:tgtEl>
                                        <p:attrNameLst>
                                          <p:attrName>ppt_y</p:attrName>
                                        </p:attrNameLst>
                                      </p:cBhvr>
                                      <p:tavLst>
                                        <p:tav tm="0">
                                          <p:val>
                                            <p:strVal val="ppt_y"/>
                                          </p:val>
                                        </p:tav>
                                        <p:tav tm="100000">
                                          <p:val>
                                            <p:strVal val="ppt_y+.1"/>
                                          </p:val>
                                        </p:tav>
                                      </p:tavLst>
                                    </p:anim>
                                    <p:set>
                                      <p:cBhvr>
                                        <p:cTn id="14"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C199B-3EA8-8DF8-201A-3C536377A2F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E6CA5DE-66D5-4F34-22D1-1C9579DB95DD}"/>
              </a:ext>
            </a:extLst>
          </p:cNvPr>
          <p:cNvSpPr txBox="1"/>
          <p:nvPr/>
        </p:nvSpPr>
        <p:spPr>
          <a:xfrm>
            <a:off x="6154072" y="3287768"/>
            <a:ext cx="2659732" cy="461665"/>
          </a:xfrm>
          <a:prstGeom prst="rect">
            <a:avLst/>
          </a:prstGeom>
          <a:noFill/>
        </p:spPr>
        <p:txBody>
          <a:bodyPr wrap="square" rtlCol="0">
            <a:spAutoFit/>
          </a:bodyPr>
          <a:lstStyle/>
          <a:p>
            <a:pPr>
              <a:defRPr/>
            </a:pPr>
            <a:r>
              <a:rPr lang="en-US" sz="2400" err="1">
                <a:latin typeface="Consolas" panose="020B0609020204030204" pitchFamily="49" charset="0"/>
                <a:cs typeface="Consolas" panose="020B0609020204030204" pitchFamily="49" charset="0"/>
              </a:rPr>
              <a:t>list.add</a:t>
            </a:r>
            <a:r>
              <a:rPr lang="en-US" sz="2400">
                <a:latin typeface="Consolas" panose="020B0609020204030204" pitchFamily="49" charset="0"/>
                <a:cs typeface="Consolas" panose="020B0609020204030204" pitchFamily="49" charset="0"/>
              </a:rPr>
              <a:t>(</a:t>
            </a:r>
            <a:r>
              <a:rPr lang="en-US" sz="2400">
                <a:solidFill>
                  <a:srgbClr val="000000"/>
                </a:solidFill>
                <a:ea typeface="Segoe UI Emoji" panose="020B0502040204020203" pitchFamily="34" charset="0"/>
              </a:rPr>
              <a:t>🍇</a:t>
            </a:r>
            <a:r>
              <a:rPr kumimoji="0" lang="en-US" sz="2400" b="0" i="0" u="none" strike="noStrike" kern="1200" cap="none" spc="0" normalizeH="0" baseline="0" noProof="0">
                <a:ln>
                  <a:noFill/>
                </a:ln>
                <a:effectLst/>
                <a:uLnTx/>
                <a:uFillTx/>
                <a:latin typeface="Consolas" panose="020B0609020204030204" pitchFamily="49" charset="0"/>
                <a:ea typeface="Segoe UI Emoji" panose="020B0502040204020203" pitchFamily="34" charset="0"/>
                <a:cs typeface="Consolas" panose="020B0609020204030204" pitchFamily="49" charset="0"/>
              </a:rPr>
              <a:t>);</a:t>
            </a:r>
            <a:endParaRPr kumimoji="0" lang="en-US" sz="2400" b="0" i="0" u="none" strike="noStrike" kern="1200" cap="none" spc="0" normalizeH="0" baseline="0" noProof="0">
              <a:ln>
                <a:noFill/>
              </a:ln>
              <a:effectLst/>
              <a:uLnTx/>
              <a:uFillTx/>
              <a:latin typeface="Consolas" panose="020B0609020204030204" pitchFamily="49" charset="0"/>
              <a:cs typeface="Consolas" panose="020B0609020204030204" pitchFamily="49" charset="0"/>
            </a:endParaRPr>
          </a:p>
        </p:txBody>
      </p:sp>
      <p:sp>
        <p:nvSpPr>
          <p:cNvPr id="15" name="TextBox 14">
            <a:extLst>
              <a:ext uri="{FF2B5EF4-FFF2-40B4-BE49-F238E27FC236}">
                <a16:creationId xmlns:a16="http://schemas.microsoft.com/office/drawing/2014/main" id="{96F7A1D1-D7CA-DCB2-B18F-938839C2B154}"/>
              </a:ext>
            </a:extLst>
          </p:cNvPr>
          <p:cNvSpPr txBox="1"/>
          <p:nvPr/>
        </p:nvSpPr>
        <p:spPr>
          <a:xfrm>
            <a:off x="2226356" y="155751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0" name="TextBox 9">
            <a:extLst>
              <a:ext uri="{FF2B5EF4-FFF2-40B4-BE49-F238E27FC236}">
                <a16:creationId xmlns:a16="http://schemas.microsoft.com/office/drawing/2014/main" id="{8BB1DBA3-C72A-06DC-F4F7-14B3392BCF20}"/>
              </a:ext>
            </a:extLst>
          </p:cNvPr>
          <p:cNvSpPr txBox="1"/>
          <p:nvPr/>
        </p:nvSpPr>
        <p:spPr>
          <a:xfrm>
            <a:off x="3018741" y="155751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6" name="TextBox 15">
            <a:extLst>
              <a:ext uri="{FF2B5EF4-FFF2-40B4-BE49-F238E27FC236}">
                <a16:creationId xmlns:a16="http://schemas.microsoft.com/office/drawing/2014/main" id="{ABEFF424-3170-C81D-18D7-1468775451BD}"/>
              </a:ext>
            </a:extLst>
          </p:cNvPr>
          <p:cNvSpPr txBox="1"/>
          <p:nvPr/>
        </p:nvSpPr>
        <p:spPr>
          <a:xfrm>
            <a:off x="3796829" y="1548691"/>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4" name="TextBox 13">
            <a:extLst>
              <a:ext uri="{FF2B5EF4-FFF2-40B4-BE49-F238E27FC236}">
                <a16:creationId xmlns:a16="http://schemas.microsoft.com/office/drawing/2014/main" id="{DE795B43-CB87-950D-BB2A-FF6E9732717C}"/>
              </a:ext>
            </a:extLst>
          </p:cNvPr>
          <p:cNvSpPr txBox="1"/>
          <p:nvPr/>
        </p:nvSpPr>
        <p:spPr>
          <a:xfrm>
            <a:off x="5127343" y="2701402"/>
            <a:ext cx="1242029" cy="1107996"/>
          </a:xfrm>
          <a:prstGeom prst="rect">
            <a:avLst/>
          </a:prstGeom>
          <a:noFill/>
        </p:spPr>
        <p:txBody>
          <a:bodyPr wrap="square">
            <a:spAutoFit/>
          </a:bodyPr>
          <a:lstStyle/>
          <a:p>
            <a:pPr algn="ctr"/>
            <a:r>
              <a:rPr kumimoji="0" lang="en-US" sz="66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sz="5400"/>
          </a:p>
        </p:txBody>
      </p:sp>
      <p:grpSp>
        <p:nvGrpSpPr>
          <p:cNvPr id="35" name="Group 34">
            <a:extLst>
              <a:ext uri="{FF2B5EF4-FFF2-40B4-BE49-F238E27FC236}">
                <a16:creationId xmlns:a16="http://schemas.microsoft.com/office/drawing/2014/main" id="{E48254D4-0034-91A9-93F4-B4DA108A5D7B}"/>
              </a:ext>
            </a:extLst>
          </p:cNvPr>
          <p:cNvGrpSpPr/>
          <p:nvPr/>
        </p:nvGrpSpPr>
        <p:grpSpPr>
          <a:xfrm>
            <a:off x="1303110" y="1353818"/>
            <a:ext cx="6393846" cy="915812"/>
            <a:chOff x="1303110" y="1353818"/>
            <a:chExt cx="6393846" cy="915812"/>
          </a:xfrm>
        </p:grpSpPr>
        <p:grpSp>
          <p:nvGrpSpPr>
            <p:cNvPr id="18" name="Group 17">
              <a:extLst>
                <a:ext uri="{FF2B5EF4-FFF2-40B4-BE49-F238E27FC236}">
                  <a16:creationId xmlns:a16="http://schemas.microsoft.com/office/drawing/2014/main" id="{66D0129A-63C6-0B7B-DA61-982CA76577FA}"/>
                </a:ext>
              </a:extLst>
            </p:cNvPr>
            <p:cNvGrpSpPr/>
            <p:nvPr/>
          </p:nvGrpSpPr>
          <p:grpSpPr>
            <a:xfrm>
              <a:off x="1303110" y="1356663"/>
              <a:ext cx="3268890" cy="912967"/>
              <a:chOff x="582919" y="134337"/>
              <a:chExt cx="6886117" cy="1923225"/>
            </a:xfrm>
          </p:grpSpPr>
          <p:sp>
            <p:nvSpPr>
              <p:cNvPr id="19" name="Rectangle 18">
                <a:extLst>
                  <a:ext uri="{FF2B5EF4-FFF2-40B4-BE49-F238E27FC236}">
                    <a16:creationId xmlns:a16="http://schemas.microsoft.com/office/drawing/2014/main" id="{4CA907DA-3ACE-8A9F-6A8C-4189FF7D9126}"/>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0" name="Rectangle 19">
                <a:extLst>
                  <a:ext uri="{FF2B5EF4-FFF2-40B4-BE49-F238E27FC236}">
                    <a16:creationId xmlns:a16="http://schemas.microsoft.com/office/drawing/2014/main" id="{E39CAE10-7FAF-F3B8-EB84-8D249B0A243B}"/>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1" name="Rectangle 20">
                <a:extLst>
                  <a:ext uri="{FF2B5EF4-FFF2-40B4-BE49-F238E27FC236}">
                    <a16:creationId xmlns:a16="http://schemas.microsoft.com/office/drawing/2014/main" id="{0532F94C-2642-BE0E-B90E-60B8FDF36C2E}"/>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3" name="Rectangle 22">
                <a:extLst>
                  <a:ext uri="{FF2B5EF4-FFF2-40B4-BE49-F238E27FC236}">
                    <a16:creationId xmlns:a16="http://schemas.microsoft.com/office/drawing/2014/main" id="{DFD59969-7DF4-06F0-8759-65EC20F40E69}"/>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4" name="Rectangle 23">
                <a:extLst>
                  <a:ext uri="{FF2B5EF4-FFF2-40B4-BE49-F238E27FC236}">
                    <a16:creationId xmlns:a16="http://schemas.microsoft.com/office/drawing/2014/main" id="{C494AF00-D33D-19DF-EA29-FA30B1D4EB36}"/>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5" name="Rectangle 24">
                <a:extLst>
                  <a:ext uri="{FF2B5EF4-FFF2-40B4-BE49-F238E27FC236}">
                    <a16:creationId xmlns:a16="http://schemas.microsoft.com/office/drawing/2014/main" id="{A6CE8EB6-338D-B6D5-3634-DA8EBE3DBE08}"/>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grpSp>
          <p:nvGrpSpPr>
            <p:cNvPr id="27" name="Group 26">
              <a:extLst>
                <a:ext uri="{FF2B5EF4-FFF2-40B4-BE49-F238E27FC236}">
                  <a16:creationId xmlns:a16="http://schemas.microsoft.com/office/drawing/2014/main" id="{734CEF3B-9822-F915-2F02-1296E9AE72D4}"/>
                </a:ext>
              </a:extLst>
            </p:cNvPr>
            <p:cNvGrpSpPr/>
            <p:nvPr/>
          </p:nvGrpSpPr>
          <p:grpSpPr>
            <a:xfrm rot="10800000">
              <a:off x="4428066" y="1353818"/>
              <a:ext cx="3268890" cy="912967"/>
              <a:chOff x="582919" y="134337"/>
              <a:chExt cx="6886117" cy="1923225"/>
            </a:xfrm>
          </p:grpSpPr>
          <p:sp>
            <p:nvSpPr>
              <p:cNvPr id="28" name="Rectangle 27">
                <a:extLst>
                  <a:ext uri="{FF2B5EF4-FFF2-40B4-BE49-F238E27FC236}">
                    <a16:creationId xmlns:a16="http://schemas.microsoft.com/office/drawing/2014/main" id="{E6F536DA-159E-87D5-599E-DAD25E8BB3DF}"/>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9" name="Rectangle 28">
                <a:extLst>
                  <a:ext uri="{FF2B5EF4-FFF2-40B4-BE49-F238E27FC236}">
                    <a16:creationId xmlns:a16="http://schemas.microsoft.com/office/drawing/2014/main" id="{2284F548-604B-7E38-69D1-8D019039F5B0}"/>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0" name="Rectangle 29">
                <a:extLst>
                  <a:ext uri="{FF2B5EF4-FFF2-40B4-BE49-F238E27FC236}">
                    <a16:creationId xmlns:a16="http://schemas.microsoft.com/office/drawing/2014/main" id="{931A58F5-9792-A2A5-0453-121B30100EA5}"/>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1" name="Rectangle 30">
                <a:extLst>
                  <a:ext uri="{FF2B5EF4-FFF2-40B4-BE49-F238E27FC236}">
                    <a16:creationId xmlns:a16="http://schemas.microsoft.com/office/drawing/2014/main" id="{39A9602D-DAAF-446C-8F4C-FC6E9CEFFC5E}"/>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2" name="Rectangle 31">
                <a:extLst>
                  <a:ext uri="{FF2B5EF4-FFF2-40B4-BE49-F238E27FC236}">
                    <a16:creationId xmlns:a16="http://schemas.microsoft.com/office/drawing/2014/main" id="{FE151B1D-3950-85F2-A9C3-23869C53592A}"/>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3" name="Rectangle 32">
                <a:extLst>
                  <a:ext uri="{FF2B5EF4-FFF2-40B4-BE49-F238E27FC236}">
                    <a16:creationId xmlns:a16="http://schemas.microsoft.com/office/drawing/2014/main" id="{8DF429B7-13C2-A1CD-FA6E-D85DEB935830}"/>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34" name="Rectangle 33">
              <a:extLst>
                <a:ext uri="{FF2B5EF4-FFF2-40B4-BE49-F238E27FC236}">
                  <a16:creationId xmlns:a16="http://schemas.microsoft.com/office/drawing/2014/main" id="{972324BE-8FCE-BA5C-F32C-EB4C5E3FD5E2}"/>
                </a:ext>
              </a:extLst>
            </p:cNvPr>
            <p:cNvSpPr/>
            <p:nvPr/>
          </p:nvSpPr>
          <p:spPr>
            <a:xfrm rot="5400000">
              <a:off x="4032228" y="1777814"/>
              <a:ext cx="912966" cy="64974"/>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26" name="TextBox 25">
            <a:extLst>
              <a:ext uri="{FF2B5EF4-FFF2-40B4-BE49-F238E27FC236}">
                <a16:creationId xmlns:a16="http://schemas.microsoft.com/office/drawing/2014/main" id="{E6653A18-F1D0-1906-9263-06FD7D130688}"/>
              </a:ext>
            </a:extLst>
          </p:cNvPr>
          <p:cNvSpPr txBox="1"/>
          <p:nvPr/>
        </p:nvSpPr>
        <p:spPr>
          <a:xfrm>
            <a:off x="1475101" y="1557520"/>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3" name="TextBox 12">
            <a:extLst>
              <a:ext uri="{FF2B5EF4-FFF2-40B4-BE49-F238E27FC236}">
                <a16:creationId xmlns:a16="http://schemas.microsoft.com/office/drawing/2014/main" id="{E636B66F-402E-D400-83F4-FA0011046EC8}"/>
              </a:ext>
            </a:extLst>
          </p:cNvPr>
          <p:cNvSpPr txBox="1"/>
          <p:nvPr/>
        </p:nvSpPr>
        <p:spPr>
          <a:xfrm>
            <a:off x="2845965" y="2150703"/>
            <a:ext cx="3030808" cy="1862048"/>
          </a:xfrm>
          <a:prstGeom prst="rect">
            <a:avLst/>
          </a:prstGeom>
          <a:noFill/>
        </p:spPr>
        <p:txBody>
          <a:bodyPr wrap="square">
            <a:spAutoFit/>
          </a:bodyPr>
          <a:lstStyle/>
          <a:p>
            <a:pPr algn="ctr"/>
            <a:r>
              <a:rPr lang="en-US" sz="11500">
                <a:solidFill>
                  <a:srgbClr val="000000"/>
                </a:solidFill>
                <a:ea typeface="Segoe UI Emoji" panose="020B0502040204020203" pitchFamily="34" charset="0"/>
              </a:rPr>
              <a:t>👩‍🌾</a:t>
            </a:r>
            <a:endParaRPr lang="en-US" sz="8800"/>
          </a:p>
        </p:txBody>
      </p:sp>
      <p:sp>
        <p:nvSpPr>
          <p:cNvPr id="6" name="Rectangle 5">
            <a:extLst>
              <a:ext uri="{FF2B5EF4-FFF2-40B4-BE49-F238E27FC236}">
                <a16:creationId xmlns:a16="http://schemas.microsoft.com/office/drawing/2014/main" id="{7F388A15-9356-3753-60BD-5CE75E5C9AE7}"/>
              </a:ext>
            </a:extLst>
          </p:cNvPr>
          <p:cNvSpPr/>
          <p:nvPr/>
        </p:nvSpPr>
        <p:spPr>
          <a:xfrm>
            <a:off x="1844997" y="3820247"/>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9479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anim calcmode="lin" valueType="num">
                                      <p:cBhvr>
                                        <p:cTn id="8" dur="500" fill="hold"/>
                                        <p:tgtEl>
                                          <p:spTgt spid="13"/>
                                        </p:tgtEl>
                                        <p:attrNameLst>
                                          <p:attrName>ppt_x</p:attrName>
                                        </p:attrNameLst>
                                      </p:cBhvr>
                                      <p:tavLst>
                                        <p:tav tm="0">
                                          <p:val>
                                            <p:strVal val="#ppt_x"/>
                                          </p:val>
                                        </p:tav>
                                        <p:tav tm="100000">
                                          <p:val>
                                            <p:strVal val="#ppt_x"/>
                                          </p:val>
                                        </p:tav>
                                      </p:tavLst>
                                    </p:anim>
                                    <p:anim calcmode="lin" valueType="num">
                                      <p:cBhvr>
                                        <p:cTn id="9" dur="5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82768-431E-87CA-9B7B-4F1C7288A05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348DB41-7087-95F2-FAC1-7D71211A71BA}"/>
              </a:ext>
            </a:extLst>
          </p:cNvPr>
          <p:cNvSpPr txBox="1"/>
          <p:nvPr/>
        </p:nvSpPr>
        <p:spPr>
          <a:xfrm>
            <a:off x="2845965" y="2150703"/>
            <a:ext cx="3030808" cy="1862048"/>
          </a:xfrm>
          <a:prstGeom prst="rect">
            <a:avLst/>
          </a:prstGeom>
          <a:noFill/>
        </p:spPr>
        <p:txBody>
          <a:bodyPr wrap="square">
            <a:spAutoFit/>
          </a:bodyPr>
          <a:lstStyle/>
          <a:p>
            <a:pPr algn="ctr"/>
            <a:r>
              <a:rPr lang="en-US" sz="11500">
                <a:solidFill>
                  <a:srgbClr val="000000"/>
                </a:solidFill>
                <a:latin typeface="Arial"/>
                <a:ea typeface="Segoe UI Emoji" panose="020B0502040204020203" pitchFamily="34" charset="0"/>
                <a:cs typeface="+mj-cs"/>
              </a:rPr>
              <a:t>👩‍🌾</a:t>
            </a:r>
            <a:endParaRPr lang="en-US" sz="8800"/>
          </a:p>
        </p:txBody>
      </p:sp>
      <p:sp>
        <p:nvSpPr>
          <p:cNvPr id="6" name="Rectangle 5">
            <a:extLst>
              <a:ext uri="{FF2B5EF4-FFF2-40B4-BE49-F238E27FC236}">
                <a16:creationId xmlns:a16="http://schemas.microsoft.com/office/drawing/2014/main" id="{E99C20F4-3A8D-CD4F-D0AB-60DAA4FAE6D0}"/>
              </a:ext>
            </a:extLst>
          </p:cNvPr>
          <p:cNvSpPr/>
          <p:nvPr/>
        </p:nvSpPr>
        <p:spPr>
          <a:xfrm>
            <a:off x="1844997" y="3820247"/>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E273BF6-9933-817F-7ED2-7B8253FD796B}"/>
              </a:ext>
            </a:extLst>
          </p:cNvPr>
          <p:cNvSpPr txBox="1"/>
          <p:nvPr/>
        </p:nvSpPr>
        <p:spPr>
          <a:xfrm>
            <a:off x="6154072" y="3287768"/>
            <a:ext cx="2659732" cy="461665"/>
          </a:xfrm>
          <a:prstGeom prst="rect">
            <a:avLst/>
          </a:prstGeom>
          <a:noFill/>
        </p:spPr>
        <p:txBody>
          <a:bodyPr wrap="square" rtlCol="0">
            <a:spAutoFit/>
          </a:bodyPr>
          <a:lstStyle/>
          <a:p>
            <a:pPr>
              <a:defRPr/>
            </a:pPr>
            <a:r>
              <a:rPr lang="en-US" sz="2400" err="1">
                <a:latin typeface="Consolas" panose="020B0609020204030204" pitchFamily="49" charset="0"/>
                <a:cs typeface="Consolas" panose="020B0609020204030204" pitchFamily="49" charset="0"/>
              </a:rPr>
              <a:t>list.add</a:t>
            </a:r>
            <a:r>
              <a:rPr lang="en-US" sz="2400">
                <a:latin typeface="Consolas" panose="020B0609020204030204" pitchFamily="49" charset="0"/>
                <a:cs typeface="Consolas" panose="020B0609020204030204" pitchFamily="49" charset="0"/>
              </a:rPr>
              <a:t>(</a:t>
            </a:r>
            <a:r>
              <a:rPr lang="en-US" sz="2400">
                <a:solidFill>
                  <a:srgbClr val="000000"/>
                </a:solidFill>
                <a:ea typeface="Segoe UI Emoji" panose="020B0502040204020203" pitchFamily="34" charset="0"/>
              </a:rPr>
              <a:t>🍇</a:t>
            </a:r>
            <a:r>
              <a:rPr kumimoji="0" lang="en-US" sz="2400" b="0" i="0" u="none" strike="noStrike" kern="1200" cap="none" spc="0" normalizeH="0" baseline="0" noProof="0">
                <a:ln>
                  <a:noFill/>
                </a:ln>
                <a:effectLst/>
                <a:uLnTx/>
                <a:uFillTx/>
                <a:latin typeface="Consolas" panose="020B0609020204030204" pitchFamily="49" charset="0"/>
                <a:ea typeface="Segoe UI Emoji" panose="020B0502040204020203" pitchFamily="34" charset="0"/>
                <a:cs typeface="Consolas" panose="020B0609020204030204" pitchFamily="49" charset="0"/>
              </a:rPr>
              <a:t>);</a:t>
            </a:r>
            <a:endParaRPr kumimoji="0" lang="en-US" sz="2400" b="0" i="0" u="none" strike="noStrike" kern="1200" cap="none" spc="0" normalizeH="0" baseline="0" noProof="0">
              <a:ln>
                <a:noFill/>
              </a:ln>
              <a:effectLst/>
              <a:uLnTx/>
              <a:uFillTx/>
              <a:latin typeface="Consolas" panose="020B0609020204030204" pitchFamily="49" charset="0"/>
              <a:cs typeface="Consolas" panose="020B0609020204030204" pitchFamily="49" charset="0"/>
            </a:endParaRPr>
          </a:p>
        </p:txBody>
      </p:sp>
      <p:sp>
        <p:nvSpPr>
          <p:cNvPr id="15" name="TextBox 14">
            <a:extLst>
              <a:ext uri="{FF2B5EF4-FFF2-40B4-BE49-F238E27FC236}">
                <a16:creationId xmlns:a16="http://schemas.microsoft.com/office/drawing/2014/main" id="{741F000E-A660-1DC9-A388-220CF51CE118}"/>
              </a:ext>
            </a:extLst>
          </p:cNvPr>
          <p:cNvSpPr txBox="1"/>
          <p:nvPr/>
        </p:nvSpPr>
        <p:spPr>
          <a:xfrm>
            <a:off x="2226356" y="155751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0" name="TextBox 9">
            <a:extLst>
              <a:ext uri="{FF2B5EF4-FFF2-40B4-BE49-F238E27FC236}">
                <a16:creationId xmlns:a16="http://schemas.microsoft.com/office/drawing/2014/main" id="{2B17B4F4-A91B-DF6F-262F-84F1ABF47B45}"/>
              </a:ext>
            </a:extLst>
          </p:cNvPr>
          <p:cNvSpPr txBox="1"/>
          <p:nvPr/>
        </p:nvSpPr>
        <p:spPr>
          <a:xfrm>
            <a:off x="3018741" y="155751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6" name="TextBox 15">
            <a:extLst>
              <a:ext uri="{FF2B5EF4-FFF2-40B4-BE49-F238E27FC236}">
                <a16:creationId xmlns:a16="http://schemas.microsoft.com/office/drawing/2014/main" id="{F1F36780-586A-5120-3A6B-631BAD4D9A33}"/>
              </a:ext>
            </a:extLst>
          </p:cNvPr>
          <p:cNvSpPr txBox="1"/>
          <p:nvPr/>
        </p:nvSpPr>
        <p:spPr>
          <a:xfrm>
            <a:off x="3796829" y="1548691"/>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grpSp>
        <p:nvGrpSpPr>
          <p:cNvPr id="35" name="Group 34">
            <a:extLst>
              <a:ext uri="{FF2B5EF4-FFF2-40B4-BE49-F238E27FC236}">
                <a16:creationId xmlns:a16="http://schemas.microsoft.com/office/drawing/2014/main" id="{3D2B8AF8-E29A-648E-E722-F06BF3944F50}"/>
              </a:ext>
            </a:extLst>
          </p:cNvPr>
          <p:cNvGrpSpPr/>
          <p:nvPr/>
        </p:nvGrpSpPr>
        <p:grpSpPr>
          <a:xfrm>
            <a:off x="1303110" y="1353818"/>
            <a:ext cx="6393846" cy="915812"/>
            <a:chOff x="1303110" y="1353818"/>
            <a:chExt cx="6393846" cy="915812"/>
          </a:xfrm>
        </p:grpSpPr>
        <p:grpSp>
          <p:nvGrpSpPr>
            <p:cNvPr id="18" name="Group 17">
              <a:extLst>
                <a:ext uri="{FF2B5EF4-FFF2-40B4-BE49-F238E27FC236}">
                  <a16:creationId xmlns:a16="http://schemas.microsoft.com/office/drawing/2014/main" id="{663B8504-FDFD-ADDC-7B35-D3A27CCF35D5}"/>
                </a:ext>
              </a:extLst>
            </p:cNvPr>
            <p:cNvGrpSpPr/>
            <p:nvPr/>
          </p:nvGrpSpPr>
          <p:grpSpPr>
            <a:xfrm>
              <a:off x="1303110" y="1356663"/>
              <a:ext cx="3268890" cy="912967"/>
              <a:chOff x="582919" y="134337"/>
              <a:chExt cx="6886117" cy="1923225"/>
            </a:xfrm>
          </p:grpSpPr>
          <p:sp>
            <p:nvSpPr>
              <p:cNvPr id="19" name="Rectangle 18">
                <a:extLst>
                  <a:ext uri="{FF2B5EF4-FFF2-40B4-BE49-F238E27FC236}">
                    <a16:creationId xmlns:a16="http://schemas.microsoft.com/office/drawing/2014/main" id="{FC757DD9-0841-EE01-2149-4001F6A32FB5}"/>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0" name="Rectangle 19">
                <a:extLst>
                  <a:ext uri="{FF2B5EF4-FFF2-40B4-BE49-F238E27FC236}">
                    <a16:creationId xmlns:a16="http://schemas.microsoft.com/office/drawing/2014/main" id="{4F5799C4-6539-933A-72E1-0B7AE6B1CE5D}"/>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1" name="Rectangle 20">
                <a:extLst>
                  <a:ext uri="{FF2B5EF4-FFF2-40B4-BE49-F238E27FC236}">
                    <a16:creationId xmlns:a16="http://schemas.microsoft.com/office/drawing/2014/main" id="{175A5D08-1471-8B91-DF8F-74A0B5BAA65E}"/>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3" name="Rectangle 22">
                <a:extLst>
                  <a:ext uri="{FF2B5EF4-FFF2-40B4-BE49-F238E27FC236}">
                    <a16:creationId xmlns:a16="http://schemas.microsoft.com/office/drawing/2014/main" id="{692FD8CF-C114-F658-0E65-1B0EBB8BEDE1}"/>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4" name="Rectangle 23">
                <a:extLst>
                  <a:ext uri="{FF2B5EF4-FFF2-40B4-BE49-F238E27FC236}">
                    <a16:creationId xmlns:a16="http://schemas.microsoft.com/office/drawing/2014/main" id="{2DA3396F-8052-1931-D6D0-B2E93716430A}"/>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5" name="Rectangle 24">
                <a:extLst>
                  <a:ext uri="{FF2B5EF4-FFF2-40B4-BE49-F238E27FC236}">
                    <a16:creationId xmlns:a16="http://schemas.microsoft.com/office/drawing/2014/main" id="{579047F6-55D4-E76A-9BF4-563A1CE3F949}"/>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grpSp>
          <p:nvGrpSpPr>
            <p:cNvPr id="27" name="Group 26">
              <a:extLst>
                <a:ext uri="{FF2B5EF4-FFF2-40B4-BE49-F238E27FC236}">
                  <a16:creationId xmlns:a16="http://schemas.microsoft.com/office/drawing/2014/main" id="{E5FFD51E-C60F-1402-952C-3C2C6AE54DF0}"/>
                </a:ext>
              </a:extLst>
            </p:cNvPr>
            <p:cNvGrpSpPr/>
            <p:nvPr/>
          </p:nvGrpSpPr>
          <p:grpSpPr>
            <a:xfrm rot="10800000">
              <a:off x="4428066" y="1353818"/>
              <a:ext cx="3268890" cy="912967"/>
              <a:chOff x="582919" y="134337"/>
              <a:chExt cx="6886117" cy="1923225"/>
            </a:xfrm>
          </p:grpSpPr>
          <p:sp>
            <p:nvSpPr>
              <p:cNvPr id="28" name="Rectangle 27">
                <a:extLst>
                  <a:ext uri="{FF2B5EF4-FFF2-40B4-BE49-F238E27FC236}">
                    <a16:creationId xmlns:a16="http://schemas.microsoft.com/office/drawing/2014/main" id="{E9449B93-FD55-AD3F-4F68-3F70FDF7E613}"/>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9" name="Rectangle 28">
                <a:extLst>
                  <a:ext uri="{FF2B5EF4-FFF2-40B4-BE49-F238E27FC236}">
                    <a16:creationId xmlns:a16="http://schemas.microsoft.com/office/drawing/2014/main" id="{4DF078BF-EDA8-4753-A4AD-897270EAE067}"/>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0" name="Rectangle 29">
                <a:extLst>
                  <a:ext uri="{FF2B5EF4-FFF2-40B4-BE49-F238E27FC236}">
                    <a16:creationId xmlns:a16="http://schemas.microsoft.com/office/drawing/2014/main" id="{9E38FE02-00E6-CD51-E801-B64724D5F72A}"/>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1" name="Rectangle 30">
                <a:extLst>
                  <a:ext uri="{FF2B5EF4-FFF2-40B4-BE49-F238E27FC236}">
                    <a16:creationId xmlns:a16="http://schemas.microsoft.com/office/drawing/2014/main" id="{10BEC62E-540E-7EB3-F8A9-2358953380C0}"/>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2" name="Rectangle 31">
                <a:extLst>
                  <a:ext uri="{FF2B5EF4-FFF2-40B4-BE49-F238E27FC236}">
                    <a16:creationId xmlns:a16="http://schemas.microsoft.com/office/drawing/2014/main" id="{E9135189-DD70-0231-34E0-D36CA25B338E}"/>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3" name="Rectangle 32">
                <a:extLst>
                  <a:ext uri="{FF2B5EF4-FFF2-40B4-BE49-F238E27FC236}">
                    <a16:creationId xmlns:a16="http://schemas.microsoft.com/office/drawing/2014/main" id="{9629120B-7591-58C2-3114-F7DC1C606303}"/>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34" name="Rectangle 33">
              <a:extLst>
                <a:ext uri="{FF2B5EF4-FFF2-40B4-BE49-F238E27FC236}">
                  <a16:creationId xmlns:a16="http://schemas.microsoft.com/office/drawing/2014/main" id="{FCB81071-04FA-80B6-C5DD-3B849D217489}"/>
                </a:ext>
              </a:extLst>
            </p:cNvPr>
            <p:cNvSpPr/>
            <p:nvPr/>
          </p:nvSpPr>
          <p:spPr>
            <a:xfrm rot="5400000">
              <a:off x="4032228" y="1777814"/>
              <a:ext cx="912966" cy="64974"/>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26" name="TextBox 25">
            <a:extLst>
              <a:ext uri="{FF2B5EF4-FFF2-40B4-BE49-F238E27FC236}">
                <a16:creationId xmlns:a16="http://schemas.microsoft.com/office/drawing/2014/main" id="{E1F8F600-D6C2-A541-C572-5ACE2954908D}"/>
              </a:ext>
            </a:extLst>
          </p:cNvPr>
          <p:cNvSpPr txBox="1"/>
          <p:nvPr/>
        </p:nvSpPr>
        <p:spPr>
          <a:xfrm>
            <a:off x="1475101" y="1557520"/>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2" name="TextBox 1">
            <a:extLst>
              <a:ext uri="{FF2B5EF4-FFF2-40B4-BE49-F238E27FC236}">
                <a16:creationId xmlns:a16="http://schemas.microsoft.com/office/drawing/2014/main" id="{E22E3411-297B-B62E-DEDA-A8DB32A3C252}"/>
              </a:ext>
            </a:extLst>
          </p:cNvPr>
          <p:cNvSpPr txBox="1"/>
          <p:nvPr/>
        </p:nvSpPr>
        <p:spPr>
          <a:xfrm>
            <a:off x="4610281" y="1548691"/>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sz="2000"/>
          </a:p>
        </p:txBody>
      </p:sp>
    </p:spTree>
    <p:extLst>
      <p:ext uri="{BB962C8B-B14F-4D97-AF65-F5344CB8AC3E}">
        <p14:creationId xmlns:p14="http://schemas.microsoft.com/office/powerpoint/2010/main" val="422966317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0CC95-512E-3AAD-99DF-A3A9ECC82A5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F68214B-7935-26F9-2992-32BB23399226}"/>
              </a:ext>
            </a:extLst>
          </p:cNvPr>
          <p:cNvSpPr txBox="1"/>
          <p:nvPr/>
        </p:nvSpPr>
        <p:spPr>
          <a:xfrm>
            <a:off x="2845965" y="2150703"/>
            <a:ext cx="3030808" cy="1862048"/>
          </a:xfrm>
          <a:prstGeom prst="rect">
            <a:avLst/>
          </a:prstGeom>
          <a:noFill/>
        </p:spPr>
        <p:txBody>
          <a:bodyPr wrap="square">
            <a:spAutoFit/>
          </a:bodyPr>
          <a:lstStyle/>
          <a:p>
            <a:pPr algn="ctr"/>
            <a:r>
              <a:rPr lang="en-US" sz="11500">
                <a:solidFill>
                  <a:srgbClr val="000000"/>
                </a:solidFill>
                <a:latin typeface="Arial"/>
                <a:ea typeface="Segoe UI Emoji" panose="020B0502040204020203" pitchFamily="34" charset="0"/>
                <a:cs typeface="+mj-cs"/>
              </a:rPr>
              <a:t>👩‍🌾</a:t>
            </a:r>
            <a:endParaRPr lang="en-US" sz="8800"/>
          </a:p>
        </p:txBody>
      </p:sp>
      <p:sp>
        <p:nvSpPr>
          <p:cNvPr id="6" name="Rectangle 5">
            <a:extLst>
              <a:ext uri="{FF2B5EF4-FFF2-40B4-BE49-F238E27FC236}">
                <a16:creationId xmlns:a16="http://schemas.microsoft.com/office/drawing/2014/main" id="{0FC63691-863F-95ED-E957-34A56EFAA85E}"/>
              </a:ext>
            </a:extLst>
          </p:cNvPr>
          <p:cNvSpPr/>
          <p:nvPr/>
        </p:nvSpPr>
        <p:spPr>
          <a:xfrm>
            <a:off x="1844997" y="3820247"/>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2DED0CC-4048-CAD7-B37E-9F1BAA768F01}"/>
              </a:ext>
            </a:extLst>
          </p:cNvPr>
          <p:cNvSpPr txBox="1"/>
          <p:nvPr/>
        </p:nvSpPr>
        <p:spPr>
          <a:xfrm>
            <a:off x="6154072" y="3287768"/>
            <a:ext cx="2659732" cy="461665"/>
          </a:xfrm>
          <a:prstGeom prst="rect">
            <a:avLst/>
          </a:prstGeom>
          <a:noFill/>
        </p:spPr>
        <p:txBody>
          <a:bodyPr wrap="square" rtlCol="0">
            <a:spAutoFit/>
          </a:bodyPr>
          <a:lstStyle/>
          <a:p>
            <a:pPr>
              <a:defRPr/>
            </a:pPr>
            <a:r>
              <a:rPr lang="en-US" sz="2400" err="1">
                <a:latin typeface="Consolas" panose="020B0609020204030204" pitchFamily="49" charset="0"/>
                <a:cs typeface="Consolas" panose="020B0609020204030204" pitchFamily="49" charset="0"/>
              </a:rPr>
              <a:t>list.add</a:t>
            </a:r>
            <a:r>
              <a:rPr lang="en-US" sz="2400">
                <a:latin typeface="Consolas" panose="020B0609020204030204" pitchFamily="49" charset="0"/>
                <a:cs typeface="Consolas" panose="020B0609020204030204" pitchFamily="49" charset="0"/>
              </a:rPr>
              <a:t>(</a:t>
            </a:r>
            <a:r>
              <a:rPr lang="en-US" sz="2400">
                <a:solidFill>
                  <a:srgbClr val="000000"/>
                </a:solidFill>
                <a:ea typeface="Segoe UI Emoji" panose="020B0502040204020203" pitchFamily="34" charset="0"/>
              </a:rPr>
              <a:t>🍉</a:t>
            </a:r>
            <a:r>
              <a:rPr kumimoji="0" lang="en-US" sz="2400" b="0" i="0" u="none" strike="noStrike" kern="1200" cap="none" spc="0" normalizeH="0" baseline="0" noProof="0">
                <a:ln>
                  <a:noFill/>
                </a:ln>
                <a:effectLst/>
                <a:uLnTx/>
                <a:uFillTx/>
                <a:latin typeface="Consolas" panose="020B0609020204030204" pitchFamily="49" charset="0"/>
                <a:ea typeface="Segoe UI Emoji" panose="020B0502040204020203" pitchFamily="34" charset="0"/>
                <a:cs typeface="Consolas" panose="020B0609020204030204" pitchFamily="49" charset="0"/>
              </a:rPr>
              <a:t>);</a:t>
            </a:r>
            <a:endParaRPr kumimoji="0" lang="en-US" sz="2400" b="0" i="0" u="none" strike="noStrike" kern="1200" cap="none" spc="0" normalizeH="0" baseline="0" noProof="0">
              <a:ln>
                <a:noFill/>
              </a:ln>
              <a:effectLst/>
              <a:uLnTx/>
              <a:uFillTx/>
              <a:latin typeface="Consolas" panose="020B0609020204030204" pitchFamily="49" charset="0"/>
              <a:cs typeface="Consolas" panose="020B0609020204030204" pitchFamily="49" charset="0"/>
            </a:endParaRPr>
          </a:p>
        </p:txBody>
      </p:sp>
      <p:sp>
        <p:nvSpPr>
          <p:cNvPr id="15" name="TextBox 14">
            <a:extLst>
              <a:ext uri="{FF2B5EF4-FFF2-40B4-BE49-F238E27FC236}">
                <a16:creationId xmlns:a16="http://schemas.microsoft.com/office/drawing/2014/main" id="{FBD786E5-0EC0-7FE0-9423-A00010A867ED}"/>
              </a:ext>
            </a:extLst>
          </p:cNvPr>
          <p:cNvSpPr txBox="1"/>
          <p:nvPr/>
        </p:nvSpPr>
        <p:spPr>
          <a:xfrm>
            <a:off x="2226356" y="155751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0" name="TextBox 9">
            <a:extLst>
              <a:ext uri="{FF2B5EF4-FFF2-40B4-BE49-F238E27FC236}">
                <a16:creationId xmlns:a16="http://schemas.microsoft.com/office/drawing/2014/main" id="{F74BCDF5-868E-A3A6-CF66-8BB6753617BC}"/>
              </a:ext>
            </a:extLst>
          </p:cNvPr>
          <p:cNvSpPr txBox="1"/>
          <p:nvPr/>
        </p:nvSpPr>
        <p:spPr>
          <a:xfrm>
            <a:off x="3018741" y="155751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6" name="TextBox 15">
            <a:extLst>
              <a:ext uri="{FF2B5EF4-FFF2-40B4-BE49-F238E27FC236}">
                <a16:creationId xmlns:a16="http://schemas.microsoft.com/office/drawing/2014/main" id="{D152D160-F4C7-E317-B6FB-C5252AAA6365}"/>
              </a:ext>
            </a:extLst>
          </p:cNvPr>
          <p:cNvSpPr txBox="1"/>
          <p:nvPr/>
        </p:nvSpPr>
        <p:spPr>
          <a:xfrm>
            <a:off x="3796829" y="1548691"/>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grpSp>
        <p:nvGrpSpPr>
          <p:cNvPr id="35" name="Group 34">
            <a:extLst>
              <a:ext uri="{FF2B5EF4-FFF2-40B4-BE49-F238E27FC236}">
                <a16:creationId xmlns:a16="http://schemas.microsoft.com/office/drawing/2014/main" id="{6E46921D-22DE-7733-ED4E-4D2493FB6131}"/>
              </a:ext>
            </a:extLst>
          </p:cNvPr>
          <p:cNvGrpSpPr/>
          <p:nvPr/>
        </p:nvGrpSpPr>
        <p:grpSpPr>
          <a:xfrm>
            <a:off x="1303110" y="1353818"/>
            <a:ext cx="6393846" cy="915812"/>
            <a:chOff x="1303110" y="1353818"/>
            <a:chExt cx="6393846" cy="915812"/>
          </a:xfrm>
        </p:grpSpPr>
        <p:grpSp>
          <p:nvGrpSpPr>
            <p:cNvPr id="18" name="Group 17">
              <a:extLst>
                <a:ext uri="{FF2B5EF4-FFF2-40B4-BE49-F238E27FC236}">
                  <a16:creationId xmlns:a16="http://schemas.microsoft.com/office/drawing/2014/main" id="{39CD7144-BA1D-67F6-F58D-3A60D8CB20F7}"/>
                </a:ext>
              </a:extLst>
            </p:cNvPr>
            <p:cNvGrpSpPr/>
            <p:nvPr/>
          </p:nvGrpSpPr>
          <p:grpSpPr>
            <a:xfrm>
              <a:off x="1303110" y="1356663"/>
              <a:ext cx="3268890" cy="912967"/>
              <a:chOff x="582919" y="134337"/>
              <a:chExt cx="6886117" cy="1923225"/>
            </a:xfrm>
          </p:grpSpPr>
          <p:sp>
            <p:nvSpPr>
              <p:cNvPr id="19" name="Rectangle 18">
                <a:extLst>
                  <a:ext uri="{FF2B5EF4-FFF2-40B4-BE49-F238E27FC236}">
                    <a16:creationId xmlns:a16="http://schemas.microsoft.com/office/drawing/2014/main" id="{C20130BD-E253-BF6B-73D7-F1009D28B0DA}"/>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0" name="Rectangle 19">
                <a:extLst>
                  <a:ext uri="{FF2B5EF4-FFF2-40B4-BE49-F238E27FC236}">
                    <a16:creationId xmlns:a16="http://schemas.microsoft.com/office/drawing/2014/main" id="{AFCD0BD2-ED7B-93D0-86B1-B4A97E00900F}"/>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1" name="Rectangle 20">
                <a:extLst>
                  <a:ext uri="{FF2B5EF4-FFF2-40B4-BE49-F238E27FC236}">
                    <a16:creationId xmlns:a16="http://schemas.microsoft.com/office/drawing/2014/main" id="{54684EFB-624A-2FE5-B362-7C99300D2401}"/>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3" name="Rectangle 22">
                <a:extLst>
                  <a:ext uri="{FF2B5EF4-FFF2-40B4-BE49-F238E27FC236}">
                    <a16:creationId xmlns:a16="http://schemas.microsoft.com/office/drawing/2014/main" id="{4B649CAC-13F6-0E35-0332-784540B8A611}"/>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4" name="Rectangle 23">
                <a:extLst>
                  <a:ext uri="{FF2B5EF4-FFF2-40B4-BE49-F238E27FC236}">
                    <a16:creationId xmlns:a16="http://schemas.microsoft.com/office/drawing/2014/main" id="{DDA3125F-DA00-6D9B-7C56-E72E0F447092}"/>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5" name="Rectangle 24">
                <a:extLst>
                  <a:ext uri="{FF2B5EF4-FFF2-40B4-BE49-F238E27FC236}">
                    <a16:creationId xmlns:a16="http://schemas.microsoft.com/office/drawing/2014/main" id="{2AEAA32A-39FE-5A82-C528-7ADF9F529B9E}"/>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grpSp>
          <p:nvGrpSpPr>
            <p:cNvPr id="27" name="Group 26">
              <a:extLst>
                <a:ext uri="{FF2B5EF4-FFF2-40B4-BE49-F238E27FC236}">
                  <a16:creationId xmlns:a16="http://schemas.microsoft.com/office/drawing/2014/main" id="{3EAB46C4-0015-8A41-3BEF-EC10FC608347}"/>
                </a:ext>
              </a:extLst>
            </p:cNvPr>
            <p:cNvGrpSpPr/>
            <p:nvPr/>
          </p:nvGrpSpPr>
          <p:grpSpPr>
            <a:xfrm rot="10800000">
              <a:off x="4428066" y="1353818"/>
              <a:ext cx="3268890" cy="912967"/>
              <a:chOff x="582919" y="134337"/>
              <a:chExt cx="6886117" cy="1923225"/>
            </a:xfrm>
          </p:grpSpPr>
          <p:sp>
            <p:nvSpPr>
              <p:cNvPr id="28" name="Rectangle 27">
                <a:extLst>
                  <a:ext uri="{FF2B5EF4-FFF2-40B4-BE49-F238E27FC236}">
                    <a16:creationId xmlns:a16="http://schemas.microsoft.com/office/drawing/2014/main" id="{BF3CF65B-1E92-A4F0-80EF-9AF6D0E6BB87}"/>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9" name="Rectangle 28">
                <a:extLst>
                  <a:ext uri="{FF2B5EF4-FFF2-40B4-BE49-F238E27FC236}">
                    <a16:creationId xmlns:a16="http://schemas.microsoft.com/office/drawing/2014/main" id="{16E1EEE6-F1AD-DC26-9636-2445C7E8397E}"/>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0" name="Rectangle 29">
                <a:extLst>
                  <a:ext uri="{FF2B5EF4-FFF2-40B4-BE49-F238E27FC236}">
                    <a16:creationId xmlns:a16="http://schemas.microsoft.com/office/drawing/2014/main" id="{8650DD22-99AF-7C64-33F7-367766531448}"/>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1" name="Rectangle 30">
                <a:extLst>
                  <a:ext uri="{FF2B5EF4-FFF2-40B4-BE49-F238E27FC236}">
                    <a16:creationId xmlns:a16="http://schemas.microsoft.com/office/drawing/2014/main" id="{EB28F8A1-961E-FE04-CFD6-9033FC90BA21}"/>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2" name="Rectangle 31">
                <a:extLst>
                  <a:ext uri="{FF2B5EF4-FFF2-40B4-BE49-F238E27FC236}">
                    <a16:creationId xmlns:a16="http://schemas.microsoft.com/office/drawing/2014/main" id="{85897A6E-F5E1-D404-EB20-0B8F76C83664}"/>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3" name="Rectangle 32">
                <a:extLst>
                  <a:ext uri="{FF2B5EF4-FFF2-40B4-BE49-F238E27FC236}">
                    <a16:creationId xmlns:a16="http://schemas.microsoft.com/office/drawing/2014/main" id="{E9CF6391-7484-26FF-F3A8-23D4C66F758E}"/>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34" name="Rectangle 33">
              <a:extLst>
                <a:ext uri="{FF2B5EF4-FFF2-40B4-BE49-F238E27FC236}">
                  <a16:creationId xmlns:a16="http://schemas.microsoft.com/office/drawing/2014/main" id="{2E633058-4C55-D99C-108E-A4AFEBF392DF}"/>
                </a:ext>
              </a:extLst>
            </p:cNvPr>
            <p:cNvSpPr/>
            <p:nvPr/>
          </p:nvSpPr>
          <p:spPr>
            <a:xfrm rot="5400000">
              <a:off x="4032228" y="1777814"/>
              <a:ext cx="912966" cy="64974"/>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26" name="TextBox 25">
            <a:extLst>
              <a:ext uri="{FF2B5EF4-FFF2-40B4-BE49-F238E27FC236}">
                <a16:creationId xmlns:a16="http://schemas.microsoft.com/office/drawing/2014/main" id="{F95D3461-E1D0-C33B-18BB-2BFCFC5FC044}"/>
              </a:ext>
            </a:extLst>
          </p:cNvPr>
          <p:cNvSpPr txBox="1"/>
          <p:nvPr/>
        </p:nvSpPr>
        <p:spPr>
          <a:xfrm>
            <a:off x="1475101" y="1557520"/>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2" name="TextBox 1">
            <a:extLst>
              <a:ext uri="{FF2B5EF4-FFF2-40B4-BE49-F238E27FC236}">
                <a16:creationId xmlns:a16="http://schemas.microsoft.com/office/drawing/2014/main" id="{99D23233-808E-12CC-F050-585AE44D63E2}"/>
              </a:ext>
            </a:extLst>
          </p:cNvPr>
          <p:cNvSpPr txBox="1"/>
          <p:nvPr/>
        </p:nvSpPr>
        <p:spPr>
          <a:xfrm>
            <a:off x="4610281" y="1548691"/>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sz="2000"/>
          </a:p>
        </p:txBody>
      </p:sp>
      <p:sp>
        <p:nvSpPr>
          <p:cNvPr id="3" name="TextBox 2">
            <a:extLst>
              <a:ext uri="{FF2B5EF4-FFF2-40B4-BE49-F238E27FC236}">
                <a16:creationId xmlns:a16="http://schemas.microsoft.com/office/drawing/2014/main" id="{E19B82F8-D9FC-067C-2DAF-7334E0B8F842}"/>
              </a:ext>
            </a:extLst>
          </p:cNvPr>
          <p:cNvSpPr txBox="1"/>
          <p:nvPr/>
        </p:nvSpPr>
        <p:spPr>
          <a:xfrm>
            <a:off x="5025739" y="2701402"/>
            <a:ext cx="1242029" cy="1107996"/>
          </a:xfrm>
          <a:prstGeom prst="rect">
            <a:avLst/>
          </a:prstGeom>
          <a:noFill/>
        </p:spPr>
        <p:txBody>
          <a:bodyPr wrap="square">
            <a:spAutoFit/>
          </a:bodyPr>
          <a:lstStyle/>
          <a:p>
            <a:pPr algn="ctr"/>
            <a:r>
              <a:rPr kumimoji="0" lang="en-US" sz="66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sz="5400"/>
          </a:p>
        </p:txBody>
      </p:sp>
    </p:spTree>
    <p:extLst>
      <p:ext uri="{BB962C8B-B14F-4D97-AF65-F5344CB8AC3E}">
        <p14:creationId xmlns:p14="http://schemas.microsoft.com/office/powerpoint/2010/main" val="3427076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AAB87-E844-DB37-8226-F96BAF57DF2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C7A5A5A-5C28-5367-F8D1-CF894409E4F4}"/>
              </a:ext>
            </a:extLst>
          </p:cNvPr>
          <p:cNvSpPr txBox="1"/>
          <p:nvPr/>
        </p:nvSpPr>
        <p:spPr>
          <a:xfrm>
            <a:off x="2845965" y="2150703"/>
            <a:ext cx="3030808" cy="1862048"/>
          </a:xfrm>
          <a:prstGeom prst="rect">
            <a:avLst/>
          </a:prstGeom>
          <a:noFill/>
        </p:spPr>
        <p:txBody>
          <a:bodyPr wrap="square">
            <a:spAutoFit/>
          </a:bodyPr>
          <a:lstStyle/>
          <a:p>
            <a:pPr algn="ctr"/>
            <a:r>
              <a:rPr lang="en-US" sz="11500">
                <a:solidFill>
                  <a:srgbClr val="000000"/>
                </a:solidFill>
                <a:latin typeface="Arial"/>
                <a:ea typeface="Segoe UI Emoji" panose="020B0502040204020203" pitchFamily="34" charset="0"/>
                <a:cs typeface="+mj-cs"/>
              </a:rPr>
              <a:t>👩‍🌾</a:t>
            </a:r>
            <a:endParaRPr lang="en-US" sz="8800"/>
          </a:p>
        </p:txBody>
      </p:sp>
      <p:sp>
        <p:nvSpPr>
          <p:cNvPr id="6" name="Rectangle 5">
            <a:extLst>
              <a:ext uri="{FF2B5EF4-FFF2-40B4-BE49-F238E27FC236}">
                <a16:creationId xmlns:a16="http://schemas.microsoft.com/office/drawing/2014/main" id="{45E036A9-E7D9-019B-D018-2615DC2E88F9}"/>
              </a:ext>
            </a:extLst>
          </p:cNvPr>
          <p:cNvSpPr/>
          <p:nvPr/>
        </p:nvSpPr>
        <p:spPr>
          <a:xfrm>
            <a:off x="1844997" y="3820247"/>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0B2B57E-46CC-1851-A679-91AB62BB2836}"/>
              </a:ext>
            </a:extLst>
          </p:cNvPr>
          <p:cNvSpPr txBox="1"/>
          <p:nvPr/>
        </p:nvSpPr>
        <p:spPr>
          <a:xfrm>
            <a:off x="6154072" y="3287768"/>
            <a:ext cx="2659732" cy="461665"/>
          </a:xfrm>
          <a:prstGeom prst="rect">
            <a:avLst/>
          </a:prstGeom>
          <a:noFill/>
        </p:spPr>
        <p:txBody>
          <a:bodyPr wrap="square" rtlCol="0">
            <a:spAutoFit/>
          </a:bodyPr>
          <a:lstStyle/>
          <a:p>
            <a:pPr>
              <a:defRPr/>
            </a:pPr>
            <a:r>
              <a:rPr lang="en-US" sz="2400" err="1">
                <a:latin typeface="Consolas" panose="020B0609020204030204" pitchFamily="49" charset="0"/>
                <a:cs typeface="Consolas" panose="020B0609020204030204" pitchFamily="49" charset="0"/>
              </a:rPr>
              <a:t>list.add</a:t>
            </a:r>
            <a:r>
              <a:rPr lang="en-US" sz="2400">
                <a:latin typeface="Consolas" panose="020B0609020204030204" pitchFamily="49" charset="0"/>
                <a:cs typeface="Consolas" panose="020B0609020204030204" pitchFamily="49" charset="0"/>
              </a:rPr>
              <a:t>(</a:t>
            </a:r>
            <a:r>
              <a:rPr lang="en-US" sz="2400">
                <a:solidFill>
                  <a:srgbClr val="000000"/>
                </a:solidFill>
                <a:ea typeface="Segoe UI Emoji" panose="020B0502040204020203" pitchFamily="34" charset="0"/>
              </a:rPr>
              <a:t>🍉</a:t>
            </a:r>
            <a:r>
              <a:rPr kumimoji="0" lang="en-US" sz="2400" b="0" i="0" u="none" strike="noStrike" kern="1200" cap="none" spc="0" normalizeH="0" baseline="0" noProof="0">
                <a:ln>
                  <a:noFill/>
                </a:ln>
                <a:effectLst/>
                <a:uLnTx/>
                <a:uFillTx/>
                <a:latin typeface="Consolas" panose="020B0609020204030204" pitchFamily="49" charset="0"/>
                <a:ea typeface="Segoe UI Emoji" panose="020B0502040204020203" pitchFamily="34" charset="0"/>
                <a:cs typeface="Consolas" panose="020B0609020204030204" pitchFamily="49" charset="0"/>
              </a:rPr>
              <a:t>);</a:t>
            </a:r>
            <a:endParaRPr kumimoji="0" lang="en-US" sz="2400" b="0" i="0" u="none" strike="noStrike" kern="1200" cap="none" spc="0" normalizeH="0" baseline="0" noProof="0">
              <a:ln>
                <a:noFill/>
              </a:ln>
              <a:effectLst/>
              <a:uLnTx/>
              <a:uFillTx/>
              <a:latin typeface="Consolas" panose="020B0609020204030204" pitchFamily="49" charset="0"/>
              <a:cs typeface="Consolas" panose="020B0609020204030204" pitchFamily="49" charset="0"/>
            </a:endParaRPr>
          </a:p>
        </p:txBody>
      </p:sp>
      <p:sp>
        <p:nvSpPr>
          <p:cNvPr id="15" name="TextBox 14">
            <a:extLst>
              <a:ext uri="{FF2B5EF4-FFF2-40B4-BE49-F238E27FC236}">
                <a16:creationId xmlns:a16="http://schemas.microsoft.com/office/drawing/2014/main" id="{BED1A2D7-1C42-0804-CAA9-1796FE9943A6}"/>
              </a:ext>
            </a:extLst>
          </p:cNvPr>
          <p:cNvSpPr txBox="1"/>
          <p:nvPr/>
        </p:nvSpPr>
        <p:spPr>
          <a:xfrm>
            <a:off x="2226356" y="155751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0" name="TextBox 9">
            <a:extLst>
              <a:ext uri="{FF2B5EF4-FFF2-40B4-BE49-F238E27FC236}">
                <a16:creationId xmlns:a16="http://schemas.microsoft.com/office/drawing/2014/main" id="{492AFBE8-FF48-3EAD-4035-CBAF93141F69}"/>
              </a:ext>
            </a:extLst>
          </p:cNvPr>
          <p:cNvSpPr txBox="1"/>
          <p:nvPr/>
        </p:nvSpPr>
        <p:spPr>
          <a:xfrm>
            <a:off x="3018741" y="155751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6" name="TextBox 15">
            <a:extLst>
              <a:ext uri="{FF2B5EF4-FFF2-40B4-BE49-F238E27FC236}">
                <a16:creationId xmlns:a16="http://schemas.microsoft.com/office/drawing/2014/main" id="{0853F331-6BE8-E973-B582-D93599798C0B}"/>
              </a:ext>
            </a:extLst>
          </p:cNvPr>
          <p:cNvSpPr txBox="1"/>
          <p:nvPr/>
        </p:nvSpPr>
        <p:spPr>
          <a:xfrm>
            <a:off x="3796829" y="1548691"/>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grpSp>
        <p:nvGrpSpPr>
          <p:cNvPr id="35" name="Group 34">
            <a:extLst>
              <a:ext uri="{FF2B5EF4-FFF2-40B4-BE49-F238E27FC236}">
                <a16:creationId xmlns:a16="http://schemas.microsoft.com/office/drawing/2014/main" id="{0F5AABBB-D2B1-D9F8-6181-C3252B891094}"/>
              </a:ext>
            </a:extLst>
          </p:cNvPr>
          <p:cNvGrpSpPr/>
          <p:nvPr/>
        </p:nvGrpSpPr>
        <p:grpSpPr>
          <a:xfrm>
            <a:off x="1303110" y="1353818"/>
            <a:ext cx="6393846" cy="915812"/>
            <a:chOff x="1303110" y="1353818"/>
            <a:chExt cx="6393846" cy="915812"/>
          </a:xfrm>
        </p:grpSpPr>
        <p:grpSp>
          <p:nvGrpSpPr>
            <p:cNvPr id="18" name="Group 17">
              <a:extLst>
                <a:ext uri="{FF2B5EF4-FFF2-40B4-BE49-F238E27FC236}">
                  <a16:creationId xmlns:a16="http://schemas.microsoft.com/office/drawing/2014/main" id="{C07C8179-35B5-67F3-B825-8D32D7BC0D4A}"/>
                </a:ext>
              </a:extLst>
            </p:cNvPr>
            <p:cNvGrpSpPr/>
            <p:nvPr/>
          </p:nvGrpSpPr>
          <p:grpSpPr>
            <a:xfrm>
              <a:off x="1303110" y="1356663"/>
              <a:ext cx="3268890" cy="912967"/>
              <a:chOff x="582919" y="134337"/>
              <a:chExt cx="6886117" cy="1923225"/>
            </a:xfrm>
          </p:grpSpPr>
          <p:sp>
            <p:nvSpPr>
              <p:cNvPr id="19" name="Rectangle 18">
                <a:extLst>
                  <a:ext uri="{FF2B5EF4-FFF2-40B4-BE49-F238E27FC236}">
                    <a16:creationId xmlns:a16="http://schemas.microsoft.com/office/drawing/2014/main" id="{39A76C87-9647-B1CF-F88E-D2789BAE7906}"/>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0" name="Rectangle 19">
                <a:extLst>
                  <a:ext uri="{FF2B5EF4-FFF2-40B4-BE49-F238E27FC236}">
                    <a16:creationId xmlns:a16="http://schemas.microsoft.com/office/drawing/2014/main" id="{8059F614-517E-4718-EBB0-EDCB92627746}"/>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1" name="Rectangle 20">
                <a:extLst>
                  <a:ext uri="{FF2B5EF4-FFF2-40B4-BE49-F238E27FC236}">
                    <a16:creationId xmlns:a16="http://schemas.microsoft.com/office/drawing/2014/main" id="{A726C273-8670-B5F4-C966-9DB44B4DB9B0}"/>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3" name="Rectangle 22">
                <a:extLst>
                  <a:ext uri="{FF2B5EF4-FFF2-40B4-BE49-F238E27FC236}">
                    <a16:creationId xmlns:a16="http://schemas.microsoft.com/office/drawing/2014/main" id="{2436E4A1-242A-7CB9-A3DF-AB19785742DC}"/>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4" name="Rectangle 23">
                <a:extLst>
                  <a:ext uri="{FF2B5EF4-FFF2-40B4-BE49-F238E27FC236}">
                    <a16:creationId xmlns:a16="http://schemas.microsoft.com/office/drawing/2014/main" id="{4A99CE5C-FE16-BFF2-11CA-935CB9A30794}"/>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5" name="Rectangle 24">
                <a:extLst>
                  <a:ext uri="{FF2B5EF4-FFF2-40B4-BE49-F238E27FC236}">
                    <a16:creationId xmlns:a16="http://schemas.microsoft.com/office/drawing/2014/main" id="{EDCACF7C-7486-933F-974B-007AE7ECFFC6}"/>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grpSp>
          <p:nvGrpSpPr>
            <p:cNvPr id="27" name="Group 26">
              <a:extLst>
                <a:ext uri="{FF2B5EF4-FFF2-40B4-BE49-F238E27FC236}">
                  <a16:creationId xmlns:a16="http://schemas.microsoft.com/office/drawing/2014/main" id="{EA07744E-7821-13E0-B9CE-4A0D634B64AF}"/>
                </a:ext>
              </a:extLst>
            </p:cNvPr>
            <p:cNvGrpSpPr/>
            <p:nvPr/>
          </p:nvGrpSpPr>
          <p:grpSpPr>
            <a:xfrm rot="10800000">
              <a:off x="4428066" y="1353818"/>
              <a:ext cx="3268890" cy="912967"/>
              <a:chOff x="582919" y="134337"/>
              <a:chExt cx="6886117" cy="1923225"/>
            </a:xfrm>
          </p:grpSpPr>
          <p:sp>
            <p:nvSpPr>
              <p:cNvPr id="28" name="Rectangle 27">
                <a:extLst>
                  <a:ext uri="{FF2B5EF4-FFF2-40B4-BE49-F238E27FC236}">
                    <a16:creationId xmlns:a16="http://schemas.microsoft.com/office/drawing/2014/main" id="{557FF220-6EC0-96D6-BF51-9DF87912D04A}"/>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9" name="Rectangle 28">
                <a:extLst>
                  <a:ext uri="{FF2B5EF4-FFF2-40B4-BE49-F238E27FC236}">
                    <a16:creationId xmlns:a16="http://schemas.microsoft.com/office/drawing/2014/main" id="{00265F03-552B-AEE0-EACB-94C84223CA80}"/>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0" name="Rectangle 29">
                <a:extLst>
                  <a:ext uri="{FF2B5EF4-FFF2-40B4-BE49-F238E27FC236}">
                    <a16:creationId xmlns:a16="http://schemas.microsoft.com/office/drawing/2014/main" id="{BDCB9A7A-468B-A128-DA19-259EDFE37DAB}"/>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1" name="Rectangle 30">
                <a:extLst>
                  <a:ext uri="{FF2B5EF4-FFF2-40B4-BE49-F238E27FC236}">
                    <a16:creationId xmlns:a16="http://schemas.microsoft.com/office/drawing/2014/main" id="{0706E254-2775-D46E-3418-EC1C0B5BA934}"/>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2" name="Rectangle 31">
                <a:extLst>
                  <a:ext uri="{FF2B5EF4-FFF2-40B4-BE49-F238E27FC236}">
                    <a16:creationId xmlns:a16="http://schemas.microsoft.com/office/drawing/2014/main" id="{78430347-7564-A453-61F4-E2F3C1744AB8}"/>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3" name="Rectangle 32">
                <a:extLst>
                  <a:ext uri="{FF2B5EF4-FFF2-40B4-BE49-F238E27FC236}">
                    <a16:creationId xmlns:a16="http://schemas.microsoft.com/office/drawing/2014/main" id="{9C75F48C-7B01-B2B0-23BD-C6816D1F992F}"/>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34" name="Rectangle 33">
              <a:extLst>
                <a:ext uri="{FF2B5EF4-FFF2-40B4-BE49-F238E27FC236}">
                  <a16:creationId xmlns:a16="http://schemas.microsoft.com/office/drawing/2014/main" id="{DCD7B0F3-CB5B-34FE-D7AD-0889F8C2F253}"/>
                </a:ext>
              </a:extLst>
            </p:cNvPr>
            <p:cNvSpPr/>
            <p:nvPr/>
          </p:nvSpPr>
          <p:spPr>
            <a:xfrm rot="5400000">
              <a:off x="4032228" y="1777814"/>
              <a:ext cx="912966" cy="64974"/>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26" name="TextBox 25">
            <a:extLst>
              <a:ext uri="{FF2B5EF4-FFF2-40B4-BE49-F238E27FC236}">
                <a16:creationId xmlns:a16="http://schemas.microsoft.com/office/drawing/2014/main" id="{F12AF64F-EC89-1A4B-E986-70793A7D7381}"/>
              </a:ext>
            </a:extLst>
          </p:cNvPr>
          <p:cNvSpPr txBox="1"/>
          <p:nvPr/>
        </p:nvSpPr>
        <p:spPr>
          <a:xfrm>
            <a:off x="1475101" y="1557520"/>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2" name="TextBox 1">
            <a:extLst>
              <a:ext uri="{FF2B5EF4-FFF2-40B4-BE49-F238E27FC236}">
                <a16:creationId xmlns:a16="http://schemas.microsoft.com/office/drawing/2014/main" id="{3F8F903E-4F9C-3082-B018-67A7C96BA8D6}"/>
              </a:ext>
            </a:extLst>
          </p:cNvPr>
          <p:cNvSpPr txBox="1"/>
          <p:nvPr/>
        </p:nvSpPr>
        <p:spPr>
          <a:xfrm>
            <a:off x="4610281" y="1548691"/>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sz="2000"/>
          </a:p>
        </p:txBody>
      </p:sp>
      <p:sp>
        <p:nvSpPr>
          <p:cNvPr id="4" name="TextBox 3">
            <a:extLst>
              <a:ext uri="{FF2B5EF4-FFF2-40B4-BE49-F238E27FC236}">
                <a16:creationId xmlns:a16="http://schemas.microsoft.com/office/drawing/2014/main" id="{CCBDBE1F-2988-2F9E-2D59-3B629F4D854E}"/>
              </a:ext>
            </a:extLst>
          </p:cNvPr>
          <p:cNvSpPr txBox="1"/>
          <p:nvPr/>
        </p:nvSpPr>
        <p:spPr>
          <a:xfrm>
            <a:off x="5414614" y="1548691"/>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sz="2000"/>
          </a:p>
        </p:txBody>
      </p:sp>
    </p:spTree>
    <p:extLst>
      <p:ext uri="{BB962C8B-B14F-4D97-AF65-F5344CB8AC3E}">
        <p14:creationId xmlns:p14="http://schemas.microsoft.com/office/powerpoint/2010/main" val="406241740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84EEE-BF74-1F19-3453-52BA363F06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D1A559B-160C-0443-8171-90C668D79706}"/>
              </a:ext>
            </a:extLst>
          </p:cNvPr>
          <p:cNvSpPr txBox="1"/>
          <p:nvPr/>
        </p:nvSpPr>
        <p:spPr>
          <a:xfrm>
            <a:off x="2845965" y="2150703"/>
            <a:ext cx="3030808" cy="1862048"/>
          </a:xfrm>
          <a:prstGeom prst="rect">
            <a:avLst/>
          </a:prstGeom>
          <a:noFill/>
        </p:spPr>
        <p:txBody>
          <a:bodyPr wrap="square">
            <a:spAutoFit/>
          </a:bodyPr>
          <a:lstStyle/>
          <a:p>
            <a:pPr algn="ctr"/>
            <a:r>
              <a:rPr lang="en-US" sz="11500">
                <a:solidFill>
                  <a:srgbClr val="000000"/>
                </a:solidFill>
                <a:latin typeface="Arial"/>
                <a:ea typeface="Segoe UI Emoji" panose="020B0502040204020203" pitchFamily="34" charset="0"/>
                <a:cs typeface="+mj-cs"/>
              </a:rPr>
              <a:t>👩‍🌾</a:t>
            </a:r>
            <a:endParaRPr lang="en-US" sz="8800"/>
          </a:p>
        </p:txBody>
      </p:sp>
      <p:sp>
        <p:nvSpPr>
          <p:cNvPr id="6" name="Rectangle 5">
            <a:extLst>
              <a:ext uri="{FF2B5EF4-FFF2-40B4-BE49-F238E27FC236}">
                <a16:creationId xmlns:a16="http://schemas.microsoft.com/office/drawing/2014/main" id="{609604A3-CE88-048E-6E3D-8287AAAD3742}"/>
              </a:ext>
            </a:extLst>
          </p:cNvPr>
          <p:cNvSpPr/>
          <p:nvPr/>
        </p:nvSpPr>
        <p:spPr>
          <a:xfrm>
            <a:off x="1844997" y="3820247"/>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FB37AE1-FC9E-4155-AAD8-2EA8C4BD2945}"/>
              </a:ext>
            </a:extLst>
          </p:cNvPr>
          <p:cNvSpPr txBox="1"/>
          <p:nvPr/>
        </p:nvSpPr>
        <p:spPr>
          <a:xfrm>
            <a:off x="1507799" y="1565928"/>
            <a:ext cx="5707140" cy="584775"/>
          </a:xfrm>
          <a:prstGeom prst="rect">
            <a:avLst/>
          </a:prstGeom>
          <a:noFill/>
        </p:spPr>
        <p:txBody>
          <a:bodyPr wrap="square" rtlCol="0">
            <a:spAutoFit/>
          </a:bodyPr>
          <a:lstStyle/>
          <a:p>
            <a:pPr algn="ctr"/>
            <a:r>
              <a:rPr lang="en-US" sz="3200">
                <a:solidFill>
                  <a:schemeClr val="accent2"/>
                </a:solidFill>
                <a:latin typeface="+mj-lt"/>
              </a:rPr>
              <a:t>ArrayList&lt;Produce&gt; list;</a:t>
            </a:r>
          </a:p>
        </p:txBody>
      </p:sp>
    </p:spTree>
    <p:extLst>
      <p:ext uri="{BB962C8B-B14F-4D97-AF65-F5344CB8AC3E}">
        <p14:creationId xmlns:p14="http://schemas.microsoft.com/office/powerpoint/2010/main" val="4148965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516E5-E57E-7381-2E7C-51E53A0D988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5646929-EA28-8F6D-F6E1-9B52C68D11D9}"/>
              </a:ext>
            </a:extLst>
          </p:cNvPr>
          <p:cNvSpPr>
            <a:spLocks noGrp="1"/>
          </p:cNvSpPr>
          <p:nvPr>
            <p:ph type="title"/>
          </p:nvPr>
        </p:nvSpPr>
        <p:spPr/>
        <p:txBody>
          <a:bodyPr/>
          <a:lstStyle/>
          <a:p>
            <a:r>
              <a:rPr lang="en-US"/>
              <a:t>interface</a:t>
            </a:r>
          </a:p>
        </p:txBody>
      </p:sp>
    </p:spTree>
    <p:extLst>
      <p:ext uri="{BB962C8B-B14F-4D97-AF65-F5344CB8AC3E}">
        <p14:creationId xmlns:p14="http://schemas.microsoft.com/office/powerpoint/2010/main" val="2599635919"/>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F02FB-B7DF-97DD-7818-C51B6949A7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4A67B-6B69-6D54-03A9-4FB683336C89}"/>
              </a:ext>
            </a:extLst>
          </p:cNvPr>
          <p:cNvSpPr>
            <a:spLocks noGrp="1"/>
          </p:cNvSpPr>
          <p:nvPr>
            <p:ph type="title"/>
          </p:nvPr>
        </p:nvSpPr>
        <p:spPr>
          <a:xfrm>
            <a:off x="457200" y="254916"/>
            <a:ext cx="8229600" cy="667168"/>
          </a:xfrm>
        </p:spPr>
        <p:txBody>
          <a:bodyPr>
            <a:normAutofit/>
          </a:bodyPr>
          <a:lstStyle/>
          <a:p>
            <a:pPr lvl="0"/>
            <a:r>
              <a:rPr lang="en-US"/>
              <a:t>an array list is a kind of list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8632147-3248-4A9D-2009-B918E8713B1B}"/>
                  </a:ext>
                </a:extLst>
              </p:cNvPr>
              <p:cNvSpPr>
                <a:spLocks noGrp="1"/>
              </p:cNvSpPr>
              <p:nvPr>
                <p:ph sz="quarter" idx="10"/>
              </p:nvPr>
            </p:nvSpPr>
            <p:spPr>
              <a:xfrm>
                <a:off x="457200" y="963338"/>
                <a:ext cx="8229600" cy="4080271"/>
              </a:xfrm>
            </p:spPr>
            <p:txBody>
              <a:bodyPr>
                <a:noAutofit/>
              </a:bodyPr>
              <a:lstStyle/>
              <a:p>
                <a:r>
                  <a:rPr lang="en-US"/>
                  <a:t>an </a:t>
                </a:r>
                <a:r>
                  <a:rPr lang="en-US" b="1"/>
                  <a:t>array list </a:t>
                </a:r>
                <a:r>
                  <a:rPr lang="en-US"/>
                  <a:t>(dynamic array, stretchy buffer, </a:t>
                </a:r>
                <a:r>
                  <a:rPr lang="en-US" b="1"/>
                  <a:t>vector</a:t>
                </a:r>
                <a:r>
                  <a:rPr lang="en-US"/>
                  <a:t>) is a kind of </a:t>
                </a:r>
                <a:r>
                  <a:rPr lang="en-US" b="1"/>
                  <a:t>list</a:t>
                </a:r>
              </a:p>
              <a:p>
                <a:pPr lvl="1"/>
                <a:r>
                  <a:rPr lang="en-US"/>
                  <a:t>like an array, the user can </a:t>
                </a:r>
                <a:r>
                  <a:rPr lang="en-US" b="1"/>
                  <a:t>access</a:t>
                </a:r>
                <a:r>
                  <a:rPr lang="en-US"/>
                  <a:t> the </a:t>
                </a:r>
                <a14:m>
                  <m:oMath xmlns:m="http://schemas.openxmlformats.org/officeDocument/2006/math">
                    <m:r>
                      <a:rPr lang="en-US" i="1">
                        <a:latin typeface="Cambria Math" panose="02040503050406030204" pitchFamily="18" charset="0"/>
                      </a:rPr>
                      <m:t>𝑖</m:t>
                    </m:r>
                  </m:oMath>
                </a14:m>
                <a:r>
                  <a:rPr lang="en-US"/>
                  <a:t>-</a:t>
                </a:r>
                <a:r>
                  <a:rPr lang="en-US" err="1"/>
                  <a:t>th</a:t>
                </a:r>
                <a:r>
                  <a:rPr lang="en-US"/>
                  <a:t> element in an array list</a:t>
                </a:r>
              </a:p>
              <a:p>
                <a:pPr lvl="2"/>
                <a:r>
                  <a:rPr lang="en-US" b="1"/>
                  <a:t>get</a:t>
                </a:r>
                <a:r>
                  <a:rPr lang="en-US"/>
                  <a:t> the value of an element that is already there</a:t>
                </a:r>
              </a:p>
              <a:p>
                <a:pPr lvl="2"/>
                <a:r>
                  <a:rPr lang="en-US" b="1"/>
                  <a:t>set </a:t>
                </a:r>
                <a:r>
                  <a:rPr lang="en-US"/>
                  <a:t>the value of an element that is already there</a:t>
                </a:r>
                <a:endParaRPr lang="en-US" b="1"/>
              </a:p>
              <a:p>
                <a:pPr lvl="1"/>
                <a:r>
                  <a:rPr lang="en-US"/>
                  <a:t>unlike an array, the user can always </a:t>
                </a:r>
                <a:r>
                  <a:rPr lang="en-US" b="1"/>
                  <a:t>add</a:t>
                </a:r>
                <a:r>
                  <a:rPr lang="en-US"/>
                  <a:t> a new element to an array list, no matter how many elements it already contains</a:t>
                </a:r>
              </a:p>
              <a:p>
                <a:pPr lvl="2"/>
                <a:r>
                  <a:rPr lang="en-US" b="1"/>
                  <a:t>append</a:t>
                </a:r>
                <a:r>
                  <a:rPr lang="en-US"/>
                  <a:t> (push back) a new element to the end (back)</a:t>
                </a:r>
              </a:p>
              <a:p>
                <a:pPr lvl="2"/>
                <a:r>
                  <a:rPr lang="en-US" b="1"/>
                  <a:t>insert</a:t>
                </a:r>
                <a:r>
                  <a:rPr lang="en-US"/>
                  <a:t> a new element at any valid index</a:t>
                </a:r>
              </a:p>
              <a:p>
                <a:pPr lvl="1"/>
                <a:r>
                  <a:rPr lang="en-US"/>
                  <a:t>the user can also </a:t>
                </a:r>
                <a:r>
                  <a:rPr lang="en-US" b="1"/>
                  <a:t>remove </a:t>
                </a:r>
                <a:r>
                  <a:rPr lang="en-US"/>
                  <a:t>elements from an array list</a:t>
                </a:r>
              </a:p>
            </p:txBody>
          </p:sp>
        </mc:Choice>
        <mc:Fallback xmlns="">
          <p:sp>
            <p:nvSpPr>
              <p:cNvPr id="3" name="Content Placeholder 2">
                <a:extLst>
                  <a:ext uri="{FF2B5EF4-FFF2-40B4-BE49-F238E27FC236}">
                    <a16:creationId xmlns:a16="http://schemas.microsoft.com/office/drawing/2014/main" id="{18632147-3248-4A9D-2009-B918E8713B1B}"/>
                  </a:ext>
                </a:extLst>
              </p:cNvPr>
              <p:cNvSpPr>
                <a:spLocks noGrp="1" noRot="1" noChangeAspect="1" noMove="1" noResize="1" noEditPoints="1" noAdjustHandles="1" noChangeArrowheads="1" noChangeShapeType="1" noTextEdit="1"/>
              </p:cNvSpPr>
              <p:nvPr>
                <p:ph sz="quarter" idx="10"/>
              </p:nvPr>
            </p:nvSpPr>
            <p:spPr>
              <a:xfrm>
                <a:off x="457200" y="963338"/>
                <a:ext cx="8229600" cy="4080271"/>
              </a:xfrm>
              <a:blipFill>
                <a:blip r:embed="rId3"/>
                <a:stretch>
                  <a:fillRect l="-617" t="-621"/>
                </a:stretch>
              </a:blipFill>
            </p:spPr>
            <p:txBody>
              <a:bodyPr/>
              <a:lstStyle/>
              <a:p>
                <a:r>
                  <a:rPr lang="en-US">
                    <a:noFill/>
                  </a:rPr>
                  <a:t> </a:t>
                </a:r>
              </a:p>
            </p:txBody>
          </p:sp>
        </mc:Fallback>
      </mc:AlternateContent>
    </p:spTree>
    <p:extLst>
      <p:ext uri="{BB962C8B-B14F-4D97-AF65-F5344CB8AC3E}">
        <p14:creationId xmlns:p14="http://schemas.microsoft.com/office/powerpoint/2010/main" val="3759311809"/>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E5F14-72C5-0EDC-6652-74FD4632536A}"/>
              </a:ext>
            </a:extLst>
          </p:cNvPr>
          <p:cNvSpPr>
            <a:spLocks noGrp="1"/>
          </p:cNvSpPr>
          <p:nvPr>
            <p:ph type="title"/>
          </p:nvPr>
        </p:nvSpPr>
        <p:spPr/>
        <p:txBody>
          <a:bodyPr/>
          <a:lstStyle/>
          <a:p>
            <a:r>
              <a:rPr lang="en-US" b="1" i="0" u="none" strike="noStrike">
                <a:solidFill>
                  <a:srgbClr val="445588"/>
                </a:solidFill>
                <a:effectLst/>
                <a:latin typeface="Consolas" panose="020B0609020204030204" pitchFamily="49" charset="0"/>
                <a:cs typeface="Consolas" panose="020B0609020204030204" pitchFamily="49" charset="0"/>
              </a:rPr>
              <a:t>ArrayList&lt;ElementType&gt;</a:t>
            </a:r>
            <a:endParaRPr lang="en-US"/>
          </a:p>
        </p:txBody>
      </p:sp>
      <p:sp>
        <p:nvSpPr>
          <p:cNvPr id="3" name="Content Placeholder 2">
            <a:extLst>
              <a:ext uri="{FF2B5EF4-FFF2-40B4-BE49-F238E27FC236}">
                <a16:creationId xmlns:a16="http://schemas.microsoft.com/office/drawing/2014/main" id="{EB8C6474-E381-F624-B4C3-53426CD4BE47}"/>
              </a:ext>
            </a:extLst>
          </p:cNvPr>
          <p:cNvSpPr>
            <a:spLocks noGrp="1"/>
          </p:cNvSpPr>
          <p:nvPr>
            <p:ph sz="quarter" idx="10"/>
          </p:nvPr>
        </p:nvSpPr>
        <p:spPr/>
        <p:txBody>
          <a:bodyPr>
            <a:noAutofit/>
          </a:bodyPr>
          <a:lstStyle/>
          <a:p>
            <a:pPr marL="0" indent="0">
              <a:buNone/>
            </a:pPr>
            <a:r>
              <a:rPr lang="en-US" sz="2400" b="1" i="0" u="none" strike="noStrike">
                <a:solidFill>
                  <a:srgbClr val="333333"/>
                </a:solidFill>
                <a:effectLst/>
                <a:latin typeface="Consolas" panose="020B0609020204030204" pitchFamily="49" charset="0"/>
                <a:cs typeface="Consolas" panose="020B0609020204030204" pitchFamily="49" charset="0"/>
              </a:rPr>
              <a:t>class</a:t>
            </a:r>
            <a:r>
              <a:rPr lang="en-US" sz="2400" b="0" i="0" u="none" strike="noStrike">
                <a:solidFill>
                  <a:srgbClr val="333333"/>
                </a:solidFill>
                <a:effectLst/>
                <a:latin typeface="Consolas" panose="020B0609020204030204" pitchFamily="49" charset="0"/>
                <a:cs typeface="Consolas" panose="020B0609020204030204" pitchFamily="49" charset="0"/>
              </a:rPr>
              <a:t> </a:t>
            </a:r>
            <a:r>
              <a:rPr lang="en-US" sz="2400" b="1" i="0" u="none" strike="noStrike">
                <a:solidFill>
                  <a:srgbClr val="445588"/>
                </a:solidFill>
                <a:effectLst/>
                <a:latin typeface="Consolas" panose="020B0609020204030204" pitchFamily="49" charset="0"/>
                <a:cs typeface="Consolas" panose="020B0609020204030204" pitchFamily="49" charset="0"/>
              </a:rPr>
              <a:t>ArrayList</a:t>
            </a:r>
            <a:r>
              <a:rPr lang="en-US" sz="2400" b="0" i="0" u="none" strike="noStrike">
                <a:solidFill>
                  <a:srgbClr val="333333"/>
                </a:solidFill>
                <a:effectLst/>
                <a:latin typeface="Consolas" panose="020B0609020204030204" pitchFamily="49" charset="0"/>
                <a:cs typeface="Consolas" panose="020B0609020204030204" pitchFamily="49" charset="0"/>
              </a:rPr>
              <a:t>&lt;</a:t>
            </a:r>
            <a:r>
              <a:rPr lang="en-US" sz="2400" b="1" i="0" u="none" strike="noStrike">
                <a:solidFill>
                  <a:srgbClr val="445588"/>
                </a:solidFill>
                <a:effectLst/>
                <a:latin typeface="Consolas" panose="020B0609020204030204" pitchFamily="49" charset="0"/>
                <a:cs typeface="Consolas" panose="020B0609020204030204" pitchFamily="49" charset="0"/>
              </a:rPr>
              <a:t>ElementType</a:t>
            </a:r>
            <a:r>
              <a:rPr lang="en-US" sz="2400" b="0" i="0" u="none" strike="noStrike">
                <a:solidFill>
                  <a:srgbClr val="333333"/>
                </a:solidFill>
                <a:effectLst/>
                <a:latin typeface="Consolas" panose="020B0609020204030204" pitchFamily="49" charset="0"/>
                <a:cs typeface="Consolas" panose="020B0609020204030204" pitchFamily="49" charset="0"/>
              </a:rPr>
              <a:t>&gt; {</a:t>
            </a:r>
          </a:p>
          <a:p>
            <a:pPr marL="342886" lvl="1" indent="0">
              <a:buNone/>
            </a:pPr>
            <a:r>
              <a:rPr lang="en-US" sz="2400" b="1" i="0" u="none" strike="noStrike">
                <a:solidFill>
                  <a:srgbClr val="333333"/>
                </a:solidFill>
                <a:effectLst/>
                <a:latin typeface="Consolas" panose="020B0609020204030204" pitchFamily="49" charset="0"/>
                <a:cs typeface="Consolas" panose="020B0609020204030204" pitchFamily="49" charset="0"/>
              </a:rPr>
              <a:t>void</a:t>
            </a:r>
            <a:r>
              <a:rPr lang="en-US" sz="2400" b="0" i="0" u="none" strike="noStrike">
                <a:solidFill>
                  <a:srgbClr val="333333"/>
                </a:solidFill>
                <a:effectLst/>
                <a:latin typeface="Consolas" panose="020B0609020204030204" pitchFamily="49" charset="0"/>
                <a:cs typeface="Consolas" panose="020B0609020204030204" pitchFamily="49" charset="0"/>
              </a:rPr>
              <a:t> </a:t>
            </a:r>
            <a:r>
              <a:rPr lang="en-US" sz="2400" b="1" i="0" u="none" strike="noStrike">
                <a:solidFill>
                  <a:srgbClr val="990000"/>
                </a:solidFill>
                <a:effectLst/>
                <a:latin typeface="Consolas" panose="020B0609020204030204" pitchFamily="49" charset="0"/>
                <a:cs typeface="Consolas" panose="020B0609020204030204" pitchFamily="49" charset="0"/>
              </a:rPr>
              <a:t>add</a:t>
            </a:r>
            <a:r>
              <a:rPr lang="en-US" sz="2400" b="0" i="0" u="none" strike="noStrike">
                <a:solidFill>
                  <a:srgbClr val="333333"/>
                </a:solidFill>
                <a:effectLst/>
                <a:latin typeface="Consolas" panose="020B0609020204030204" pitchFamily="49" charset="0"/>
                <a:cs typeface="Consolas" panose="020B0609020204030204" pitchFamily="49" charset="0"/>
              </a:rPr>
              <a:t>(ElementType element); </a:t>
            </a:r>
            <a:r>
              <a:rPr lang="en-US" sz="2400" b="0" i="0" u="none" strike="noStrike">
                <a:solidFill>
                  <a:srgbClr val="007B00"/>
                </a:solidFill>
                <a:effectLst/>
                <a:latin typeface="Consolas" panose="020B0609020204030204" pitchFamily="49" charset="0"/>
                <a:cs typeface="Consolas" panose="020B0609020204030204" pitchFamily="49" charset="0"/>
              </a:rPr>
              <a:t>// to end</a:t>
            </a:r>
          </a:p>
          <a:p>
            <a:pPr marL="342886" lvl="1" indent="0">
              <a:buNone/>
            </a:pPr>
            <a:r>
              <a:rPr lang="en-US" sz="2400" b="1" i="0" u="none" strike="noStrike">
                <a:solidFill>
                  <a:srgbClr val="333333"/>
                </a:solidFill>
                <a:effectLst/>
                <a:latin typeface="Consolas" panose="020B0609020204030204" pitchFamily="49" charset="0"/>
                <a:cs typeface="Consolas" panose="020B0609020204030204" pitchFamily="49" charset="0"/>
              </a:rPr>
              <a:t>void</a:t>
            </a:r>
            <a:r>
              <a:rPr lang="en-US" sz="2400" b="0" i="0" u="none" strike="noStrike">
                <a:solidFill>
                  <a:srgbClr val="333333"/>
                </a:solidFill>
                <a:effectLst/>
                <a:latin typeface="Consolas" panose="020B0609020204030204" pitchFamily="49" charset="0"/>
                <a:cs typeface="Consolas" panose="020B0609020204030204" pitchFamily="49" charset="0"/>
              </a:rPr>
              <a:t> </a:t>
            </a:r>
            <a:r>
              <a:rPr lang="en-US" sz="2400" b="1" i="0" u="none" strike="noStrike">
                <a:solidFill>
                  <a:srgbClr val="990000"/>
                </a:solidFill>
                <a:effectLst/>
                <a:latin typeface="Consolas" panose="020B0609020204030204" pitchFamily="49" charset="0"/>
                <a:cs typeface="Consolas" panose="020B0609020204030204" pitchFamily="49" charset="0"/>
              </a:rPr>
              <a:t>add</a:t>
            </a:r>
            <a:r>
              <a:rPr lang="en-US" sz="2400" b="0" i="0" u="none" strike="noStrike">
                <a:solidFill>
                  <a:srgbClr val="333333"/>
                </a:solidFill>
                <a:effectLst/>
                <a:latin typeface="Consolas" panose="020B0609020204030204" pitchFamily="49" charset="0"/>
                <a:cs typeface="Consolas" panose="020B0609020204030204" pitchFamily="49" charset="0"/>
              </a:rPr>
              <a:t>(</a:t>
            </a:r>
            <a:r>
              <a:rPr lang="en-US" sz="2400" b="1" i="0" u="none" strike="noStrike">
                <a:solidFill>
                  <a:srgbClr val="333333"/>
                </a:solidFill>
                <a:effectLst/>
                <a:latin typeface="Consolas" panose="020B0609020204030204" pitchFamily="49" charset="0"/>
                <a:cs typeface="Consolas" panose="020B0609020204030204" pitchFamily="49" charset="0"/>
              </a:rPr>
              <a:t>int</a:t>
            </a:r>
            <a:r>
              <a:rPr lang="en-US" sz="2400" b="0" i="0" u="none" strike="noStrike">
                <a:solidFill>
                  <a:srgbClr val="333333"/>
                </a:solidFill>
                <a:effectLst/>
                <a:latin typeface="Consolas" panose="020B0609020204030204" pitchFamily="49" charset="0"/>
                <a:cs typeface="Consolas" panose="020B0609020204030204" pitchFamily="49" charset="0"/>
              </a:rPr>
              <a:t> index, ElementType element);</a:t>
            </a:r>
          </a:p>
          <a:p>
            <a:pPr marL="342886" lvl="1" indent="0">
              <a:buNone/>
            </a:pPr>
            <a:r>
              <a:rPr lang="en-US" sz="2400" b="0" i="0" u="none" strike="noStrike">
                <a:solidFill>
                  <a:srgbClr val="333333"/>
                </a:solidFill>
                <a:effectLst/>
                <a:latin typeface="Consolas" panose="020B0609020204030204" pitchFamily="49" charset="0"/>
                <a:cs typeface="Consolas" panose="020B0609020204030204" pitchFamily="49" charset="0"/>
              </a:rPr>
              <a:t>ElementType </a:t>
            </a:r>
            <a:r>
              <a:rPr lang="en-US" sz="2400" b="1" i="0" u="none" strike="noStrike">
                <a:solidFill>
                  <a:srgbClr val="990000"/>
                </a:solidFill>
                <a:effectLst/>
                <a:latin typeface="Consolas" panose="020B0609020204030204" pitchFamily="49" charset="0"/>
                <a:cs typeface="Consolas" panose="020B0609020204030204" pitchFamily="49" charset="0"/>
              </a:rPr>
              <a:t>get</a:t>
            </a:r>
            <a:r>
              <a:rPr lang="en-US" sz="2400" b="0" i="0" u="none" strike="noStrike">
                <a:solidFill>
                  <a:srgbClr val="333333"/>
                </a:solidFill>
                <a:effectLst/>
                <a:latin typeface="Consolas" panose="020B0609020204030204" pitchFamily="49" charset="0"/>
                <a:cs typeface="Consolas" panose="020B0609020204030204" pitchFamily="49" charset="0"/>
              </a:rPr>
              <a:t>(</a:t>
            </a:r>
            <a:r>
              <a:rPr lang="en-US" sz="2400" b="1" i="0" u="none" strike="noStrike">
                <a:solidFill>
                  <a:srgbClr val="333333"/>
                </a:solidFill>
                <a:effectLst/>
                <a:latin typeface="Consolas" panose="020B0609020204030204" pitchFamily="49" charset="0"/>
                <a:cs typeface="Consolas" panose="020B0609020204030204" pitchFamily="49" charset="0"/>
              </a:rPr>
              <a:t>int</a:t>
            </a:r>
            <a:r>
              <a:rPr lang="en-US" sz="2400" b="0" i="0" u="none" strike="noStrike">
                <a:solidFill>
                  <a:srgbClr val="333333"/>
                </a:solidFill>
                <a:effectLst/>
                <a:latin typeface="Consolas" panose="020B0609020204030204" pitchFamily="49" charset="0"/>
                <a:cs typeface="Consolas" panose="020B0609020204030204" pitchFamily="49" charset="0"/>
              </a:rPr>
              <a:t> index);</a:t>
            </a:r>
          </a:p>
          <a:p>
            <a:pPr marL="342886" lvl="1" indent="0">
              <a:buNone/>
            </a:pPr>
            <a:r>
              <a:rPr lang="en-US" sz="2400" b="1" i="0" u="none" strike="noStrike">
                <a:solidFill>
                  <a:srgbClr val="333333"/>
                </a:solidFill>
                <a:effectLst/>
                <a:latin typeface="Consolas" panose="020B0609020204030204" pitchFamily="49" charset="0"/>
                <a:cs typeface="Consolas" panose="020B0609020204030204" pitchFamily="49" charset="0"/>
              </a:rPr>
              <a:t>void</a:t>
            </a:r>
            <a:r>
              <a:rPr lang="en-US" sz="2400" b="0" i="0" u="none" strike="noStrike">
                <a:solidFill>
                  <a:srgbClr val="333333"/>
                </a:solidFill>
                <a:effectLst/>
                <a:latin typeface="Consolas" panose="020B0609020204030204" pitchFamily="49" charset="0"/>
                <a:cs typeface="Consolas" panose="020B0609020204030204" pitchFamily="49" charset="0"/>
              </a:rPr>
              <a:t> </a:t>
            </a:r>
            <a:r>
              <a:rPr lang="en-US" sz="2400" b="1" i="0" u="none" strike="noStrike">
                <a:solidFill>
                  <a:srgbClr val="990000"/>
                </a:solidFill>
                <a:effectLst/>
                <a:latin typeface="Consolas" panose="020B0609020204030204" pitchFamily="49" charset="0"/>
                <a:cs typeface="Consolas" panose="020B0609020204030204" pitchFamily="49" charset="0"/>
              </a:rPr>
              <a:t>set</a:t>
            </a:r>
            <a:r>
              <a:rPr lang="en-US" sz="2400" b="0" i="0" u="none" strike="noStrike">
                <a:solidFill>
                  <a:srgbClr val="333333"/>
                </a:solidFill>
                <a:effectLst/>
                <a:latin typeface="Consolas" panose="020B0609020204030204" pitchFamily="49" charset="0"/>
                <a:cs typeface="Consolas" panose="020B0609020204030204" pitchFamily="49" charset="0"/>
              </a:rPr>
              <a:t>(</a:t>
            </a:r>
            <a:r>
              <a:rPr lang="en-US" sz="2400" b="1" i="0" u="none" strike="noStrike">
                <a:solidFill>
                  <a:srgbClr val="333333"/>
                </a:solidFill>
                <a:effectLst/>
                <a:latin typeface="Consolas" panose="020B0609020204030204" pitchFamily="49" charset="0"/>
                <a:cs typeface="Consolas" panose="020B0609020204030204" pitchFamily="49" charset="0"/>
              </a:rPr>
              <a:t>int</a:t>
            </a:r>
            <a:r>
              <a:rPr lang="en-US" sz="2400" b="0" i="0" u="none" strike="noStrike">
                <a:solidFill>
                  <a:srgbClr val="333333"/>
                </a:solidFill>
                <a:effectLst/>
                <a:latin typeface="Consolas" panose="020B0609020204030204" pitchFamily="49" charset="0"/>
                <a:cs typeface="Consolas" panose="020B0609020204030204" pitchFamily="49" charset="0"/>
              </a:rPr>
              <a:t> index, ElementType element);</a:t>
            </a:r>
          </a:p>
          <a:p>
            <a:pPr marL="342886" lvl="1" indent="0">
              <a:buNone/>
            </a:pPr>
            <a:r>
              <a:rPr lang="en-US" sz="2400" b="1" i="0" u="none" strike="noStrike">
                <a:solidFill>
                  <a:srgbClr val="333333"/>
                </a:solidFill>
                <a:effectLst/>
                <a:latin typeface="Consolas" panose="020B0609020204030204" pitchFamily="49" charset="0"/>
                <a:cs typeface="Consolas" panose="020B0609020204030204" pitchFamily="49" charset="0"/>
              </a:rPr>
              <a:t>void</a:t>
            </a:r>
            <a:r>
              <a:rPr lang="en-US" sz="2400" b="0" i="0" u="none" strike="noStrike">
                <a:solidFill>
                  <a:srgbClr val="333333"/>
                </a:solidFill>
                <a:effectLst/>
                <a:latin typeface="Consolas" panose="020B0609020204030204" pitchFamily="49" charset="0"/>
                <a:cs typeface="Consolas" panose="020B0609020204030204" pitchFamily="49" charset="0"/>
              </a:rPr>
              <a:t> </a:t>
            </a:r>
            <a:r>
              <a:rPr lang="en-US" sz="2400" b="1" i="0" u="none" strike="noStrike">
                <a:solidFill>
                  <a:srgbClr val="990000"/>
                </a:solidFill>
                <a:effectLst/>
                <a:latin typeface="Consolas" panose="020B0609020204030204" pitchFamily="49" charset="0"/>
                <a:cs typeface="Consolas" panose="020B0609020204030204" pitchFamily="49" charset="0"/>
              </a:rPr>
              <a:t>remove</a:t>
            </a:r>
            <a:r>
              <a:rPr lang="en-US" sz="2400" b="0" i="0" u="none" strike="noStrike">
                <a:solidFill>
                  <a:srgbClr val="333333"/>
                </a:solidFill>
                <a:effectLst/>
                <a:latin typeface="Consolas" panose="020B0609020204030204" pitchFamily="49" charset="0"/>
                <a:cs typeface="Consolas" panose="020B0609020204030204" pitchFamily="49" charset="0"/>
              </a:rPr>
              <a:t>(</a:t>
            </a:r>
            <a:r>
              <a:rPr lang="en-US" sz="2400" b="1" i="0" u="none" strike="noStrike">
                <a:solidFill>
                  <a:srgbClr val="333333"/>
                </a:solidFill>
                <a:effectLst/>
                <a:latin typeface="Consolas" panose="020B0609020204030204" pitchFamily="49" charset="0"/>
                <a:cs typeface="Consolas" panose="020B0609020204030204" pitchFamily="49" charset="0"/>
              </a:rPr>
              <a:t>int</a:t>
            </a:r>
            <a:r>
              <a:rPr lang="en-US" sz="2400" b="0" i="0" u="none" strike="noStrike">
                <a:solidFill>
                  <a:srgbClr val="333333"/>
                </a:solidFill>
                <a:effectLst/>
                <a:latin typeface="Consolas" panose="020B0609020204030204" pitchFamily="49" charset="0"/>
                <a:cs typeface="Consolas" panose="020B0609020204030204" pitchFamily="49" charset="0"/>
              </a:rPr>
              <a:t> index);</a:t>
            </a:r>
          </a:p>
          <a:p>
            <a:pPr marL="342886" lvl="1" indent="0">
              <a:buNone/>
            </a:pPr>
            <a:r>
              <a:rPr lang="en-US" sz="2400" b="1" i="0" u="none" strike="noStrike">
                <a:solidFill>
                  <a:srgbClr val="333333"/>
                </a:solidFill>
                <a:effectLst/>
                <a:latin typeface="Consolas" panose="020B0609020204030204" pitchFamily="49" charset="0"/>
                <a:cs typeface="Consolas" panose="020B0609020204030204" pitchFamily="49" charset="0"/>
              </a:rPr>
              <a:t>int</a:t>
            </a:r>
            <a:r>
              <a:rPr lang="en-US" sz="2400" b="0" i="0" u="none" strike="noStrike">
                <a:solidFill>
                  <a:srgbClr val="333333"/>
                </a:solidFill>
                <a:effectLst/>
                <a:latin typeface="Consolas" panose="020B0609020204030204" pitchFamily="49" charset="0"/>
                <a:cs typeface="Consolas" panose="020B0609020204030204" pitchFamily="49" charset="0"/>
              </a:rPr>
              <a:t> </a:t>
            </a:r>
            <a:r>
              <a:rPr lang="en-US" sz="2400" b="1" i="0" u="none" strike="noStrike">
                <a:solidFill>
                  <a:srgbClr val="990000"/>
                </a:solidFill>
                <a:effectLst/>
                <a:latin typeface="Consolas" panose="020B0609020204030204" pitchFamily="49" charset="0"/>
                <a:cs typeface="Consolas" panose="020B0609020204030204" pitchFamily="49" charset="0"/>
              </a:rPr>
              <a:t>size</a:t>
            </a:r>
            <a:r>
              <a:rPr lang="en-US" sz="2400" b="0" i="0" u="none" strike="noStrike">
                <a:solidFill>
                  <a:srgbClr val="333333"/>
                </a:solidFill>
                <a:effectLst/>
                <a:latin typeface="Consolas" panose="020B0609020204030204" pitchFamily="49" charset="0"/>
                <a:cs typeface="Consolas" panose="020B0609020204030204" pitchFamily="49" charset="0"/>
              </a:rPr>
              <a:t>();</a:t>
            </a:r>
          </a:p>
          <a:p>
            <a:pPr marL="342886" lvl="1" indent="0">
              <a:buNone/>
            </a:pPr>
            <a:r>
              <a:rPr lang="en-US" sz="2400" b="1" i="0" u="none" strike="noStrike">
                <a:solidFill>
                  <a:srgbClr val="333333"/>
                </a:solidFill>
                <a:effectLst/>
                <a:latin typeface="Consolas" panose="020B0609020204030204" pitchFamily="49" charset="0"/>
                <a:cs typeface="Consolas" panose="020B0609020204030204" pitchFamily="49" charset="0"/>
              </a:rPr>
              <a:t>boolean</a:t>
            </a:r>
            <a:r>
              <a:rPr lang="en-US" sz="2400" b="0" i="0" u="none" strike="noStrike">
                <a:solidFill>
                  <a:srgbClr val="333333"/>
                </a:solidFill>
                <a:effectLst/>
                <a:latin typeface="Consolas" panose="020B0609020204030204" pitchFamily="49" charset="0"/>
                <a:cs typeface="Consolas" panose="020B0609020204030204" pitchFamily="49" charset="0"/>
              </a:rPr>
              <a:t> </a:t>
            </a:r>
            <a:r>
              <a:rPr lang="en-US" sz="2400" b="1" i="0" u="none" strike="noStrike">
                <a:solidFill>
                  <a:srgbClr val="990000"/>
                </a:solidFill>
                <a:effectLst/>
                <a:latin typeface="Consolas" panose="020B0609020204030204" pitchFamily="49" charset="0"/>
                <a:cs typeface="Consolas" panose="020B0609020204030204" pitchFamily="49" charset="0"/>
              </a:rPr>
              <a:t>isEmpty</a:t>
            </a:r>
            <a:r>
              <a:rPr lang="en-US" sz="2400" b="0" i="0" u="none" strike="noStrike">
                <a:solidFill>
                  <a:srgbClr val="333333"/>
                </a:solidFill>
                <a:effectLst/>
                <a:latin typeface="Consolas" panose="020B0609020204030204" pitchFamily="49" charset="0"/>
                <a:cs typeface="Consolas" panose="020B0609020204030204" pitchFamily="49" charset="0"/>
              </a:rPr>
              <a:t>(); </a:t>
            </a:r>
            <a:r>
              <a:rPr lang="en-US" sz="2400" b="0" i="0" u="none" strike="noStrike">
                <a:solidFill>
                  <a:srgbClr val="007B00"/>
                </a:solidFill>
                <a:effectLst/>
                <a:latin typeface="Consolas" panose="020B0609020204030204" pitchFamily="49" charset="0"/>
                <a:cs typeface="Consolas" panose="020B0609020204030204" pitchFamily="49" charset="0"/>
              </a:rPr>
              <a:t>// (list.size() == 0)</a:t>
            </a:r>
            <a:endParaRPr lang="en-US" sz="2400" b="0" i="0" u="none" strike="noStrike">
              <a:solidFill>
                <a:srgbClr val="333333"/>
              </a:solidFill>
              <a:effectLst/>
              <a:latin typeface="Consolas" panose="020B0609020204030204" pitchFamily="49" charset="0"/>
              <a:cs typeface="Consolas" panose="020B0609020204030204" pitchFamily="49" charset="0"/>
            </a:endParaRPr>
          </a:p>
          <a:p>
            <a:pPr marL="0" indent="0">
              <a:buNone/>
            </a:pPr>
            <a:r>
              <a:rPr lang="en-US" sz="2400" b="0" i="0" u="none" strike="noStrike">
                <a:solidFill>
                  <a:srgbClr val="333333"/>
                </a:solidFill>
                <a:effectLst/>
                <a:latin typeface="Consolas" panose="020B0609020204030204" pitchFamily="49" charset="0"/>
                <a:cs typeface="Consolas" panose="020B0609020204030204" pitchFamily="49" charset="0"/>
              </a:rPr>
              <a:t>}</a:t>
            </a:r>
            <a:endParaRPr lang="en-US" sz="240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780768559"/>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B97EC-C22E-28B1-1C5E-4A04E2A6429D}"/>
              </a:ext>
            </a:extLst>
          </p:cNvPr>
          <p:cNvSpPr>
            <a:spLocks noGrp="1"/>
          </p:cNvSpPr>
          <p:nvPr>
            <p:ph type="title"/>
          </p:nvPr>
        </p:nvSpPr>
        <p:spPr/>
        <p:txBody>
          <a:bodyPr/>
          <a:lstStyle/>
          <a:p>
            <a:r>
              <a:rPr lang="en-US" b="1" i="0" u="none" strike="noStrike">
                <a:solidFill>
                  <a:schemeClr val="bg1"/>
                </a:solidFill>
                <a:effectLst/>
                <a:latin typeface="Consolas" panose="020B0609020204030204" pitchFamily="49" charset="0"/>
                <a:cs typeface="Consolas" panose="020B0609020204030204" pitchFamily="49" charset="0"/>
              </a:rPr>
              <a:t>ArrayList</a:t>
            </a:r>
            <a:r>
              <a:rPr lang="en-US" i="0" u="none" strike="noStrike">
                <a:effectLst/>
                <a:latin typeface="Consolas" panose="020B0609020204030204" pitchFamily="49" charset="0"/>
                <a:cs typeface="Consolas" panose="020B0609020204030204" pitchFamily="49" charset="0"/>
              </a:rPr>
              <a:t>&lt;ElementType&gt;</a:t>
            </a:r>
            <a:endParaRPr lang="en-US"/>
          </a:p>
        </p:txBody>
      </p:sp>
      <p:sp>
        <p:nvSpPr>
          <p:cNvPr id="3" name="Content Placeholder 2">
            <a:extLst>
              <a:ext uri="{FF2B5EF4-FFF2-40B4-BE49-F238E27FC236}">
                <a16:creationId xmlns:a16="http://schemas.microsoft.com/office/drawing/2014/main" id="{681648B7-E72C-A369-D50C-5A1D3C7AA906}"/>
              </a:ext>
            </a:extLst>
          </p:cNvPr>
          <p:cNvSpPr>
            <a:spLocks noGrp="1"/>
          </p:cNvSpPr>
          <p:nvPr>
            <p:ph sz="quarter" idx="10"/>
          </p:nvPr>
        </p:nvSpPr>
        <p:spPr/>
        <p:txBody>
          <a:bodyPr/>
          <a:lstStyle/>
          <a:p>
            <a:r>
              <a:rPr lang="en-US"/>
              <a:t>Java's </a:t>
            </a:r>
            <a:r>
              <a:rPr lang="en-US" sz="1800" b="1" i="0" u="none" strike="noStrike">
                <a:solidFill>
                  <a:srgbClr val="00007F"/>
                </a:solidFill>
                <a:effectLst/>
                <a:latin typeface="Consolas" panose="020B0609020204030204" pitchFamily="49" charset="0"/>
                <a:cs typeface="Consolas" panose="020B0609020204030204" pitchFamily="49" charset="0"/>
              </a:rPr>
              <a:t>ArrayList</a:t>
            </a:r>
            <a:r>
              <a:rPr lang="en-US" sz="1800" b="1" i="0" u="none" strike="noStrike">
                <a:effectLst/>
                <a:latin typeface="Consolas" panose="020B0609020204030204" pitchFamily="49" charset="0"/>
                <a:cs typeface="Consolas" panose="020B0609020204030204" pitchFamily="49" charset="0"/>
              </a:rPr>
              <a:t>&lt;ElementType&gt;</a:t>
            </a:r>
            <a:r>
              <a:rPr lang="en-US"/>
              <a:t> is </a:t>
            </a:r>
            <a:r>
              <a:rPr lang="en-US" b="1"/>
              <a:t>generic</a:t>
            </a:r>
            <a:r>
              <a:rPr lang="en-US"/>
              <a:t>, which means</a:t>
            </a:r>
            <a:br>
              <a:rPr lang="en-US"/>
            </a:br>
            <a:r>
              <a:rPr lang="en-US"/>
              <a:t>you choose </a:t>
            </a:r>
            <a:r>
              <a:rPr lang="en-US" i="0" u="none" strike="noStrike">
                <a:effectLst/>
                <a:latin typeface="Consolas" panose="020B0609020204030204" pitchFamily="49" charset="0"/>
                <a:cs typeface="Consolas" panose="020B0609020204030204" pitchFamily="49" charset="0"/>
              </a:rPr>
              <a:t>ElementType</a:t>
            </a:r>
            <a:r>
              <a:rPr lang="en-US"/>
              <a:t> when you instantiate the class</a:t>
            </a:r>
          </a:p>
          <a:p>
            <a:pPr lvl="1"/>
            <a:r>
              <a:rPr lang="en-US" i="0" u="none" strike="noStrike">
                <a:solidFill>
                  <a:srgbClr val="00007F"/>
                </a:solidFill>
                <a:effectLst/>
                <a:latin typeface="+mj-lt"/>
                <a:cs typeface="Consolas" panose="020B0609020204030204" pitchFamily="49" charset="0"/>
              </a:rPr>
              <a:t>ArrayList</a:t>
            </a:r>
            <a:r>
              <a:rPr lang="en-US" i="0" u="none" strike="noStrike">
                <a:effectLst/>
                <a:latin typeface="+mj-lt"/>
                <a:cs typeface="Consolas" panose="020B0609020204030204" pitchFamily="49" charset="0"/>
              </a:rPr>
              <a:t>&lt;</a:t>
            </a:r>
            <a:r>
              <a:rPr lang="en-US" i="0" u="none" strike="noStrike">
                <a:solidFill>
                  <a:srgbClr val="00007F"/>
                </a:solidFill>
                <a:effectLst/>
                <a:latin typeface="+mj-lt"/>
                <a:cs typeface="Consolas" panose="020B0609020204030204" pitchFamily="49" charset="0"/>
              </a:rPr>
              <a:t>Thing</a:t>
            </a:r>
            <a:r>
              <a:rPr lang="en-US" i="0" u="none" strike="noStrike">
                <a:effectLst/>
                <a:latin typeface="+mj-lt"/>
                <a:cs typeface="Consolas" panose="020B0609020204030204" pitchFamily="49" charset="0"/>
              </a:rPr>
              <a:t>&gt; list = new </a:t>
            </a:r>
            <a:r>
              <a:rPr lang="en-US" i="0" u="none" strike="noStrike">
                <a:solidFill>
                  <a:srgbClr val="00007F"/>
                </a:solidFill>
                <a:effectLst/>
                <a:latin typeface="+mj-lt"/>
                <a:cs typeface="Consolas" panose="020B0609020204030204" pitchFamily="49" charset="0"/>
              </a:rPr>
              <a:t>ArrayList</a:t>
            </a:r>
            <a:r>
              <a:rPr lang="en-US" i="0" u="none" strike="noStrike">
                <a:effectLst/>
                <a:latin typeface="+mj-lt"/>
                <a:cs typeface="Consolas" panose="020B0609020204030204" pitchFamily="49" charset="0"/>
              </a:rPr>
              <a:t>&lt;&gt;()</a:t>
            </a:r>
            <a:r>
              <a:rPr lang="en-US" b="1" i="0" u="none" strike="noStrike">
                <a:solidFill>
                  <a:srgbClr val="00007F"/>
                </a:solidFill>
                <a:effectLst/>
                <a:latin typeface="+mj-lt"/>
                <a:cs typeface="Consolas" panose="020B0609020204030204" pitchFamily="49" charset="0"/>
              </a:rPr>
              <a:t>;</a:t>
            </a:r>
          </a:p>
          <a:p>
            <a:pPr lvl="1"/>
            <a:r>
              <a:rPr lang="en-US" i="0" u="none" strike="noStrike">
                <a:solidFill>
                  <a:srgbClr val="00007F"/>
                </a:solidFill>
                <a:effectLst/>
                <a:latin typeface="+mj-lt"/>
                <a:cs typeface="Consolas" panose="020B0609020204030204" pitchFamily="49" charset="0"/>
              </a:rPr>
              <a:t>ArrayList</a:t>
            </a:r>
            <a:r>
              <a:rPr lang="en-US" i="0" u="none" strike="noStrike">
                <a:effectLst/>
                <a:latin typeface="+mj-lt"/>
                <a:cs typeface="Consolas" panose="020B0609020204030204" pitchFamily="49" charset="0"/>
              </a:rPr>
              <a:t>&lt;</a:t>
            </a:r>
            <a:r>
              <a:rPr lang="en-US" i="0" u="none" strike="noStrike">
                <a:solidFill>
                  <a:srgbClr val="00007F"/>
                </a:solidFill>
                <a:effectLst/>
                <a:latin typeface="+mj-lt"/>
                <a:cs typeface="Consolas" panose="020B0609020204030204" pitchFamily="49" charset="0"/>
              </a:rPr>
              <a:t>ArrayList&lt;Thing&gt;&gt;</a:t>
            </a:r>
            <a:r>
              <a:rPr lang="en-US" i="0" u="none" strike="noStrike">
                <a:effectLst/>
                <a:latin typeface="+mj-lt"/>
                <a:cs typeface="Consolas" panose="020B0609020204030204" pitchFamily="49" charset="0"/>
              </a:rPr>
              <a:t> lists = new </a:t>
            </a:r>
            <a:r>
              <a:rPr lang="en-US" i="0" u="none" strike="noStrike">
                <a:solidFill>
                  <a:srgbClr val="00007F"/>
                </a:solidFill>
                <a:effectLst/>
                <a:latin typeface="+mj-lt"/>
                <a:cs typeface="Consolas" panose="020B0609020204030204" pitchFamily="49" charset="0"/>
              </a:rPr>
              <a:t>ArrayList</a:t>
            </a:r>
            <a:r>
              <a:rPr lang="en-US" i="0" u="none" strike="noStrike">
                <a:effectLst/>
                <a:latin typeface="+mj-lt"/>
                <a:cs typeface="Consolas" panose="020B0609020204030204" pitchFamily="49" charset="0"/>
              </a:rPr>
              <a:t>&lt;&gt;()</a:t>
            </a:r>
            <a:r>
              <a:rPr lang="en-US" b="1" i="0" u="none" strike="noStrike">
                <a:solidFill>
                  <a:srgbClr val="00007F"/>
                </a:solidFill>
                <a:effectLst/>
                <a:latin typeface="+mj-lt"/>
                <a:cs typeface="Consolas" panose="020B0609020204030204" pitchFamily="49" charset="0"/>
              </a:rPr>
              <a:t>;</a:t>
            </a:r>
          </a:p>
          <a:p>
            <a:pPr lvl="1"/>
            <a:r>
              <a:rPr lang="en-US" i="0" u="none" strike="noStrike">
                <a:solidFill>
                  <a:srgbClr val="00007F"/>
                </a:solidFill>
                <a:effectLst/>
                <a:latin typeface="+mj-lt"/>
                <a:cs typeface="Consolas" panose="020B0609020204030204" pitchFamily="49" charset="0"/>
              </a:rPr>
              <a:t>ArrayList</a:t>
            </a:r>
            <a:r>
              <a:rPr lang="en-US" i="0" u="none" strike="noStrike">
                <a:effectLst/>
                <a:latin typeface="+mj-lt"/>
                <a:cs typeface="Consolas" panose="020B0609020204030204" pitchFamily="49" charset="0"/>
              </a:rPr>
              <a:t>&lt;</a:t>
            </a:r>
            <a:r>
              <a:rPr lang="en-US" i="0" u="none" strike="noStrike">
                <a:solidFill>
                  <a:srgbClr val="00007F"/>
                </a:solidFill>
                <a:effectLst/>
                <a:latin typeface="+mj-lt"/>
                <a:cs typeface="Consolas" panose="020B0609020204030204" pitchFamily="49" charset="0"/>
              </a:rPr>
              <a:t>Integer</a:t>
            </a:r>
            <a:r>
              <a:rPr lang="en-US" i="0" u="none" strike="noStrike">
                <a:effectLst/>
                <a:latin typeface="+mj-lt"/>
                <a:cs typeface="Consolas" panose="020B0609020204030204" pitchFamily="49" charset="0"/>
              </a:rPr>
              <a:t>&gt; numbers = new </a:t>
            </a:r>
            <a:r>
              <a:rPr lang="en-US" i="0" u="none" strike="noStrike">
                <a:solidFill>
                  <a:srgbClr val="00007F"/>
                </a:solidFill>
                <a:effectLst/>
                <a:latin typeface="+mj-lt"/>
                <a:cs typeface="Consolas" panose="020B0609020204030204" pitchFamily="49" charset="0"/>
              </a:rPr>
              <a:t>ArrayList</a:t>
            </a:r>
            <a:r>
              <a:rPr lang="en-US" i="0" u="none" strike="noStrike">
                <a:effectLst/>
                <a:latin typeface="+mj-lt"/>
                <a:cs typeface="Consolas" panose="020B0609020204030204" pitchFamily="49" charset="0"/>
              </a:rPr>
              <a:t>&lt;&gt;()</a:t>
            </a:r>
            <a:r>
              <a:rPr lang="en-US" b="1" i="0" u="none" strike="noStrike">
                <a:solidFill>
                  <a:srgbClr val="00007F"/>
                </a:solidFill>
                <a:effectLst/>
                <a:latin typeface="+mj-lt"/>
                <a:cs typeface="Consolas" panose="020B0609020204030204" pitchFamily="49" charset="0"/>
              </a:rPr>
              <a:t>;</a:t>
            </a:r>
          </a:p>
          <a:p>
            <a:pPr lvl="2"/>
            <a:r>
              <a:rPr lang="en-US" b="1" i="0" u="none" strike="noStrike">
                <a:effectLst/>
                <a:cs typeface="Consolas" panose="020B0609020204030204" pitchFamily="49" charset="0"/>
              </a:rPr>
              <a:t>NOTE: </a:t>
            </a:r>
            <a:r>
              <a:rPr lang="en-US" i="0" u="none" strike="noStrike">
                <a:effectLst/>
                <a:cs typeface="Consolas" panose="020B0609020204030204" pitchFamily="49" charset="0"/>
              </a:rPr>
              <a:t>In between the angle brackets, use...</a:t>
            </a:r>
          </a:p>
          <a:p>
            <a:pPr lvl="3"/>
            <a:r>
              <a:rPr lang="en-US" i="0" u="none" strike="noStrike">
                <a:solidFill>
                  <a:srgbClr val="00007F"/>
                </a:solidFill>
                <a:effectLst/>
                <a:latin typeface="+mj-lt"/>
                <a:cs typeface="Consolas" panose="020B0609020204030204" pitchFamily="49" charset="0"/>
              </a:rPr>
              <a:t>Boolean</a:t>
            </a:r>
            <a:r>
              <a:rPr lang="en-US">
                <a:cs typeface="Consolas" panose="020B0609020204030204" pitchFamily="49" charset="0"/>
              </a:rPr>
              <a:t> 		instead of </a:t>
            </a:r>
            <a:r>
              <a:rPr lang="en-US">
                <a:solidFill>
                  <a:srgbClr val="0432FF"/>
                </a:solidFill>
                <a:latin typeface="+mj-lt"/>
                <a:cs typeface="Consolas" panose="020B0609020204030204" pitchFamily="49" charset="0"/>
              </a:rPr>
              <a:t>boolean</a:t>
            </a:r>
          </a:p>
          <a:p>
            <a:pPr lvl="3"/>
            <a:r>
              <a:rPr lang="en-US" i="0" u="none" strike="noStrike">
                <a:solidFill>
                  <a:srgbClr val="00007F"/>
                </a:solidFill>
                <a:effectLst/>
                <a:latin typeface="+mj-lt"/>
                <a:cs typeface="Consolas" panose="020B0609020204030204" pitchFamily="49" charset="0"/>
              </a:rPr>
              <a:t>Character</a:t>
            </a:r>
            <a:r>
              <a:rPr lang="en-US">
                <a:cs typeface="Consolas" panose="020B0609020204030204" pitchFamily="49" charset="0"/>
              </a:rPr>
              <a:t> 	instead of </a:t>
            </a:r>
            <a:r>
              <a:rPr lang="en-US">
                <a:solidFill>
                  <a:srgbClr val="0432FF"/>
                </a:solidFill>
                <a:latin typeface="+mj-lt"/>
                <a:cs typeface="Consolas" panose="020B0609020204030204" pitchFamily="49" charset="0"/>
              </a:rPr>
              <a:t>char</a:t>
            </a:r>
          </a:p>
          <a:p>
            <a:pPr lvl="3"/>
            <a:r>
              <a:rPr lang="en-US" i="0" u="none" strike="noStrike">
                <a:solidFill>
                  <a:srgbClr val="00007F"/>
                </a:solidFill>
                <a:effectLst/>
                <a:latin typeface="+mj-lt"/>
                <a:cs typeface="Consolas" panose="020B0609020204030204" pitchFamily="49" charset="0"/>
              </a:rPr>
              <a:t>Double</a:t>
            </a:r>
            <a:r>
              <a:rPr lang="en-US">
                <a:cs typeface="Consolas" panose="020B0609020204030204" pitchFamily="49" charset="0"/>
              </a:rPr>
              <a:t> 		instead of </a:t>
            </a:r>
            <a:r>
              <a:rPr lang="en-US">
                <a:solidFill>
                  <a:srgbClr val="0432FF"/>
                </a:solidFill>
                <a:latin typeface="+mj-lt"/>
                <a:cs typeface="Consolas" panose="020B0609020204030204" pitchFamily="49" charset="0"/>
              </a:rPr>
              <a:t>double</a:t>
            </a:r>
          </a:p>
          <a:p>
            <a:pPr lvl="3"/>
            <a:r>
              <a:rPr lang="en-US" i="0" u="none" strike="noStrike">
                <a:solidFill>
                  <a:srgbClr val="00007F"/>
                </a:solidFill>
                <a:effectLst/>
                <a:latin typeface="+mj-lt"/>
                <a:cs typeface="Consolas" panose="020B0609020204030204" pitchFamily="49" charset="0"/>
              </a:rPr>
              <a:t>Integer</a:t>
            </a:r>
            <a:r>
              <a:rPr lang="en-US">
                <a:cs typeface="Consolas" panose="020B0609020204030204" pitchFamily="49" charset="0"/>
              </a:rPr>
              <a:t> 		instead of </a:t>
            </a:r>
            <a:r>
              <a:rPr lang="en-US">
                <a:solidFill>
                  <a:srgbClr val="0432FF"/>
                </a:solidFill>
                <a:latin typeface="+mj-lt"/>
                <a:cs typeface="Consolas" panose="020B0609020204030204" pitchFamily="49" charset="0"/>
              </a:rPr>
              <a:t>int</a:t>
            </a:r>
          </a:p>
          <a:p>
            <a:pPr lvl="3"/>
            <a:r>
              <a:rPr lang="en-US">
                <a:solidFill>
                  <a:srgbClr val="0432FF"/>
                </a:solidFill>
                <a:latin typeface="+mj-lt"/>
                <a:cs typeface="Consolas" panose="020B0609020204030204" pitchFamily="49" charset="0"/>
              </a:rPr>
              <a:t>🤷‍♂️</a:t>
            </a:r>
            <a:endParaRPr lang="en-US">
              <a:latin typeface="+mj-lt"/>
            </a:endParaRPr>
          </a:p>
          <a:p>
            <a:pPr marL="0" indent="0">
              <a:buNone/>
            </a:pPr>
            <a:r>
              <a:rPr lang="en-US"/>
              <a:t>	</a:t>
            </a:r>
          </a:p>
        </p:txBody>
      </p:sp>
    </p:spTree>
    <p:extLst>
      <p:ext uri="{BB962C8B-B14F-4D97-AF65-F5344CB8AC3E}">
        <p14:creationId xmlns:p14="http://schemas.microsoft.com/office/powerpoint/2010/main" val="3189422227"/>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EC024-707A-059A-92B4-01DD7D49D59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9EF1ACE-71FE-9EDF-E629-62C2FE4AAD48}"/>
              </a:ext>
            </a:extLst>
          </p:cNvPr>
          <p:cNvSpPr>
            <a:spLocks noGrp="1"/>
          </p:cNvSpPr>
          <p:nvPr>
            <p:ph type="title"/>
          </p:nvPr>
        </p:nvSpPr>
        <p:spPr/>
        <p:txBody>
          <a:bodyPr/>
          <a:lstStyle/>
          <a:p>
            <a:r>
              <a:rPr lang="en-US"/>
              <a:t>usage code</a:t>
            </a:r>
          </a:p>
        </p:txBody>
      </p:sp>
    </p:spTree>
    <p:extLst>
      <p:ext uri="{BB962C8B-B14F-4D97-AF65-F5344CB8AC3E}">
        <p14:creationId xmlns:p14="http://schemas.microsoft.com/office/powerpoint/2010/main" val="4175433911"/>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13CEE-5F24-6875-78F5-D8466C31186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E2AADFA-DD38-7994-EB18-15C2056A540A}"/>
              </a:ext>
            </a:extLst>
          </p:cNvPr>
          <p:cNvSpPr>
            <a:spLocks noGrp="1"/>
          </p:cNvSpPr>
          <p:nvPr>
            <p:ph type="title"/>
          </p:nvPr>
        </p:nvSpPr>
        <p:spPr/>
        <p:txBody>
          <a:bodyPr>
            <a:noAutofit/>
          </a:bodyPr>
          <a:lstStyle/>
          <a:p>
            <a:r>
              <a:rPr lang="en-US" sz="2800"/>
              <a:t>what does this code print? (the home game)</a:t>
            </a:r>
          </a:p>
        </p:txBody>
      </p:sp>
      <p:sp>
        <p:nvSpPr>
          <p:cNvPr id="4" name="Content Placeholder 3">
            <a:extLst>
              <a:ext uri="{FF2B5EF4-FFF2-40B4-BE49-F238E27FC236}">
                <a16:creationId xmlns:a16="http://schemas.microsoft.com/office/drawing/2014/main" id="{9871DE9D-75E2-0294-D1DB-3B7BF1E72FA8}"/>
              </a:ext>
            </a:extLst>
          </p:cNvPr>
          <p:cNvSpPr>
            <a:spLocks noGrp="1"/>
          </p:cNvSpPr>
          <p:nvPr>
            <p:ph sz="quarter" idx="10"/>
          </p:nvPr>
        </p:nvSpPr>
        <p:spPr/>
        <p:txBody>
          <a:bodyPr>
            <a:noAutofit/>
          </a:bodyPr>
          <a:lstStyle/>
          <a:p>
            <a:r>
              <a:rPr lang="en-US" sz="1600" err="1">
                <a:solidFill>
                  <a:srgbClr val="000080"/>
                </a:solidFill>
                <a:latin typeface="Consolas" panose="020B0609020204030204" pitchFamily="49" charset="0"/>
                <a:cs typeface="Consolas" panose="020B0609020204030204" pitchFamily="49" charset="0"/>
              </a:rPr>
              <a:t>ArrayList</a:t>
            </a:r>
            <a:r>
              <a:rPr lang="en-US" sz="1600">
                <a:latin typeface="Consolas" panose="020B0609020204030204" pitchFamily="49" charset="0"/>
                <a:cs typeface="Consolas" panose="020B0609020204030204" pitchFamily="49" charset="0"/>
              </a:rPr>
              <a:t>&lt;</a:t>
            </a:r>
            <a:r>
              <a:rPr lang="en-US" sz="1600">
                <a:solidFill>
                  <a:srgbClr val="000080"/>
                </a:solidFill>
                <a:latin typeface="Consolas" panose="020B0609020204030204" pitchFamily="49" charset="0"/>
                <a:cs typeface="Consolas" panose="020B0609020204030204" pitchFamily="49" charset="0"/>
              </a:rPr>
              <a:t>String</a:t>
            </a:r>
            <a:r>
              <a:rPr lang="en-US" sz="1600">
                <a:latin typeface="Consolas" panose="020B0609020204030204" pitchFamily="49" charset="0"/>
                <a:cs typeface="Consolas" panose="020B0609020204030204" pitchFamily="49" charset="0"/>
              </a:rPr>
              <a:t>&gt; list = new </a:t>
            </a:r>
            <a:r>
              <a:rPr lang="en-US" sz="1600" err="1">
                <a:solidFill>
                  <a:srgbClr val="000080"/>
                </a:solidFill>
                <a:latin typeface="Consolas" panose="020B0609020204030204" pitchFamily="49" charset="0"/>
                <a:cs typeface="Consolas" panose="020B0609020204030204" pitchFamily="49" charset="0"/>
              </a:rPr>
              <a:t>ArrayList</a:t>
            </a:r>
            <a:r>
              <a:rPr lang="en-US" sz="1600">
                <a:latin typeface="Consolas" panose="020B0609020204030204" pitchFamily="49" charset="0"/>
                <a:cs typeface="Consolas" panose="020B0609020204030204" pitchFamily="49" charset="0"/>
              </a:rPr>
              <a:t>&lt;&gt;();</a:t>
            </a:r>
          </a:p>
          <a:p>
            <a:r>
              <a:rPr lang="en-US" sz="1600">
                <a:solidFill>
                  <a:srgbClr val="000080"/>
                </a:solidFill>
                <a:latin typeface="Consolas" panose="020B0609020204030204" pitchFamily="49" charset="0"/>
                <a:cs typeface="Consolas" panose="020B0609020204030204" pitchFamily="49" charset="0"/>
              </a:rPr>
              <a:t>PRINT</a:t>
            </a:r>
            <a:r>
              <a:rPr lang="en-US" sz="1600">
                <a:latin typeface="Consolas" panose="020B0609020204030204" pitchFamily="49" charset="0"/>
                <a:cs typeface="Consolas" panose="020B0609020204030204" pitchFamily="49" charset="0"/>
              </a:rPr>
              <a:t>(list); 			</a:t>
            </a:r>
            <a:endParaRPr lang="en-US" sz="1600">
              <a:solidFill>
                <a:srgbClr val="007B00"/>
              </a:solidFill>
              <a:latin typeface="Consolas" panose="020B0609020204030204" pitchFamily="49" charset="0"/>
              <a:cs typeface="Consolas" panose="020B0609020204030204" pitchFamily="49" charset="0"/>
            </a:endParaRPr>
          </a:p>
          <a:p>
            <a:r>
              <a:rPr lang="en-US" sz="1600" err="1">
                <a:latin typeface="Consolas" panose="020B0609020204030204" pitchFamily="49" charset="0"/>
                <a:cs typeface="Consolas" panose="020B0609020204030204" pitchFamily="49" charset="0"/>
              </a:rPr>
              <a:t>list.add</a:t>
            </a:r>
            <a:r>
              <a:rPr lang="en-US" sz="1600">
                <a:latin typeface="Consolas" panose="020B0609020204030204" pitchFamily="49" charset="0"/>
                <a:cs typeface="Consolas" panose="020B0609020204030204" pitchFamily="49" charset="0"/>
              </a:rPr>
              <a:t>(</a:t>
            </a:r>
            <a:r>
              <a:rPr lang="en-US" sz="1600">
                <a:solidFill>
                  <a:srgbClr val="B60E0E"/>
                </a:solidFill>
                <a:latin typeface="Consolas" panose="020B0609020204030204" pitchFamily="49" charset="0"/>
                <a:cs typeface="Consolas" panose="020B0609020204030204" pitchFamily="49" charset="0"/>
              </a:rPr>
              <a:t>"Hello"</a:t>
            </a:r>
            <a:r>
              <a:rPr lang="en-US" sz="1600">
                <a:latin typeface="Consolas" panose="020B0609020204030204" pitchFamily="49" charset="0"/>
                <a:cs typeface="Consolas" panose="020B0609020204030204" pitchFamily="49" charset="0"/>
              </a:rPr>
              <a:t>);</a:t>
            </a:r>
          </a:p>
          <a:p>
            <a:r>
              <a:rPr lang="en-US" sz="1600" err="1">
                <a:latin typeface="Consolas" panose="020B0609020204030204" pitchFamily="49" charset="0"/>
                <a:cs typeface="Consolas" panose="020B0609020204030204" pitchFamily="49" charset="0"/>
              </a:rPr>
              <a:t>list.add</a:t>
            </a:r>
            <a:r>
              <a:rPr lang="en-US" sz="1600">
                <a:latin typeface="Consolas" panose="020B0609020204030204" pitchFamily="49" charset="0"/>
                <a:cs typeface="Consolas" panose="020B0609020204030204" pitchFamily="49" charset="0"/>
              </a:rPr>
              <a:t>(</a:t>
            </a:r>
            <a:r>
              <a:rPr lang="en-US" sz="1600">
                <a:solidFill>
                  <a:srgbClr val="B60E0E"/>
                </a:solidFill>
                <a:latin typeface="Consolas" panose="020B0609020204030204" pitchFamily="49" charset="0"/>
                <a:cs typeface="Consolas" panose="020B0609020204030204" pitchFamily="49" charset="0"/>
              </a:rPr>
              <a:t>"World"</a:t>
            </a:r>
            <a:r>
              <a:rPr lang="en-US" sz="1600">
                <a:latin typeface="Consolas" panose="020B0609020204030204" pitchFamily="49" charset="0"/>
                <a:cs typeface="Consolas" panose="020B0609020204030204" pitchFamily="49" charset="0"/>
              </a:rPr>
              <a:t>);</a:t>
            </a:r>
          </a:p>
          <a:p>
            <a:r>
              <a:rPr lang="en-US" sz="1600">
                <a:solidFill>
                  <a:srgbClr val="000080"/>
                </a:solidFill>
                <a:latin typeface="Consolas" panose="020B0609020204030204" pitchFamily="49" charset="0"/>
                <a:cs typeface="Consolas" panose="020B0609020204030204" pitchFamily="49" charset="0"/>
              </a:rPr>
              <a:t>PRINT</a:t>
            </a:r>
            <a:r>
              <a:rPr lang="en-US" sz="1600">
                <a:latin typeface="Consolas" panose="020B0609020204030204" pitchFamily="49" charset="0"/>
                <a:cs typeface="Consolas" panose="020B0609020204030204" pitchFamily="49" charset="0"/>
              </a:rPr>
              <a:t>(list); 			</a:t>
            </a:r>
            <a:endParaRPr lang="en-US" sz="1600">
              <a:solidFill>
                <a:srgbClr val="007B00"/>
              </a:solidFill>
              <a:latin typeface="Consolas" panose="020B0609020204030204" pitchFamily="49" charset="0"/>
              <a:cs typeface="Consolas" panose="020B0609020204030204" pitchFamily="49" charset="0"/>
            </a:endParaRPr>
          </a:p>
          <a:p>
            <a:r>
              <a:rPr lang="en-US" sz="1600" err="1">
                <a:latin typeface="Consolas" panose="020B0609020204030204" pitchFamily="49" charset="0"/>
                <a:cs typeface="Consolas" panose="020B0609020204030204" pitchFamily="49" charset="0"/>
              </a:rPr>
              <a:t>list.add</a:t>
            </a:r>
            <a:r>
              <a:rPr lang="en-US" sz="1600">
                <a:latin typeface="Consolas" panose="020B0609020204030204" pitchFamily="49" charset="0"/>
                <a:cs typeface="Consolas" panose="020B0609020204030204" pitchFamily="49" charset="0"/>
              </a:rPr>
              <a:t>(</a:t>
            </a:r>
            <a:r>
              <a:rPr lang="en-US" sz="1600">
                <a:solidFill>
                  <a:srgbClr val="0CB5B5"/>
                </a:solidFill>
                <a:latin typeface="Consolas" panose="020B0609020204030204" pitchFamily="49" charset="0"/>
                <a:cs typeface="Consolas" panose="020B0609020204030204" pitchFamily="49" charset="0"/>
              </a:rPr>
              <a:t>1</a:t>
            </a:r>
            <a:r>
              <a:rPr lang="en-US" sz="1600">
                <a:latin typeface="Consolas" panose="020B0609020204030204" pitchFamily="49" charset="0"/>
                <a:cs typeface="Consolas" panose="020B0609020204030204" pitchFamily="49" charset="0"/>
              </a:rPr>
              <a:t>, </a:t>
            </a:r>
            <a:r>
              <a:rPr lang="en-US" sz="1600">
                <a:solidFill>
                  <a:srgbClr val="B60E0E"/>
                </a:solidFill>
                <a:latin typeface="Consolas" panose="020B0609020204030204" pitchFamily="49" charset="0"/>
                <a:cs typeface="Consolas" panose="020B0609020204030204" pitchFamily="49" charset="0"/>
              </a:rPr>
              <a:t>"Cruel"</a:t>
            </a:r>
            <a:r>
              <a:rPr lang="en-US" sz="1600">
                <a:latin typeface="Consolas" panose="020B0609020204030204" pitchFamily="49" charset="0"/>
                <a:cs typeface="Consolas" panose="020B0609020204030204" pitchFamily="49" charset="0"/>
              </a:rPr>
              <a:t>); </a:t>
            </a:r>
            <a:r>
              <a:rPr lang="en-US" sz="1600">
                <a:solidFill>
                  <a:srgbClr val="007B00"/>
                </a:solidFill>
                <a:latin typeface="Consolas" panose="020B0609020204030204" pitchFamily="49" charset="0"/>
                <a:cs typeface="Consolas" panose="020B0609020204030204" pitchFamily="49" charset="0"/>
              </a:rPr>
              <a:t>// </a:t>
            </a:r>
            <a:r>
              <a:rPr lang="en-US" sz="1600" b="1">
                <a:solidFill>
                  <a:srgbClr val="007B00"/>
                </a:solidFill>
                <a:latin typeface="Consolas" panose="020B0609020204030204" pitchFamily="49" charset="0"/>
                <a:cs typeface="Consolas" panose="020B0609020204030204" pitchFamily="49" charset="0"/>
              </a:rPr>
              <a:t>NOTE: </a:t>
            </a:r>
            <a:r>
              <a:rPr lang="en-US" sz="1600">
                <a:solidFill>
                  <a:srgbClr val="007B00"/>
                </a:solidFill>
                <a:latin typeface="Consolas" panose="020B0609020204030204" pitchFamily="49" charset="0"/>
                <a:cs typeface="Consolas" panose="020B0609020204030204" pitchFamily="49" charset="0"/>
              </a:rPr>
              <a:t>insert so "Cruel" has index 1</a:t>
            </a:r>
          </a:p>
          <a:p>
            <a:r>
              <a:rPr lang="en-US" sz="1600">
                <a:solidFill>
                  <a:srgbClr val="000080"/>
                </a:solidFill>
                <a:latin typeface="Consolas" panose="020B0609020204030204" pitchFamily="49" charset="0"/>
                <a:cs typeface="Consolas" panose="020B0609020204030204" pitchFamily="49" charset="0"/>
              </a:rPr>
              <a:t>PRINT</a:t>
            </a:r>
            <a:r>
              <a:rPr lang="en-US" sz="1600">
                <a:latin typeface="Consolas" panose="020B0609020204030204" pitchFamily="49" charset="0"/>
                <a:cs typeface="Consolas" panose="020B0609020204030204" pitchFamily="49" charset="0"/>
              </a:rPr>
              <a:t>(list); 			</a:t>
            </a:r>
            <a:endParaRPr lang="en-US" sz="1600">
              <a:solidFill>
                <a:srgbClr val="007B00"/>
              </a:solidFill>
              <a:latin typeface="Consolas" panose="020B0609020204030204" pitchFamily="49" charset="0"/>
              <a:cs typeface="Consolas" panose="020B0609020204030204" pitchFamily="49" charset="0"/>
            </a:endParaRPr>
          </a:p>
          <a:p>
            <a:r>
              <a:rPr lang="en-US" sz="1600" err="1">
                <a:solidFill>
                  <a:srgbClr val="000080"/>
                </a:solidFill>
                <a:latin typeface="Consolas" panose="020B0609020204030204" pitchFamily="49" charset="0"/>
                <a:cs typeface="Consolas" panose="020B0609020204030204" pitchFamily="49" charset="0"/>
              </a:rPr>
              <a:t>PRINT</a:t>
            </a:r>
            <a:r>
              <a:rPr lang="en-US" sz="1600">
                <a:latin typeface="Consolas" panose="020B0609020204030204" pitchFamily="49" charset="0"/>
                <a:cs typeface="Consolas" panose="020B0609020204030204" pitchFamily="49" charset="0"/>
              </a:rPr>
              <a:t>(</a:t>
            </a:r>
            <a:r>
              <a:rPr lang="en-US" sz="1600" err="1">
                <a:latin typeface="Consolas" panose="020B0609020204030204" pitchFamily="49" charset="0"/>
                <a:cs typeface="Consolas" panose="020B0609020204030204" pitchFamily="49" charset="0"/>
              </a:rPr>
              <a:t>list.size</a:t>
            </a:r>
            <a:r>
              <a:rPr lang="en-US" sz="1600">
                <a:latin typeface="Consolas" panose="020B0609020204030204" pitchFamily="49" charset="0"/>
                <a:cs typeface="Consolas" panose="020B0609020204030204" pitchFamily="49" charset="0"/>
              </a:rPr>
              <a:t>()); 	</a:t>
            </a:r>
            <a:endParaRPr lang="en-US" sz="1600">
              <a:solidFill>
                <a:srgbClr val="007B00"/>
              </a:solidFill>
              <a:latin typeface="Consolas" panose="020B0609020204030204" pitchFamily="49" charset="0"/>
              <a:cs typeface="Consolas" panose="020B0609020204030204" pitchFamily="49" charset="0"/>
            </a:endParaRPr>
          </a:p>
          <a:p>
            <a:r>
              <a:rPr lang="en-US" sz="1600" err="1">
                <a:solidFill>
                  <a:srgbClr val="000080"/>
                </a:solidFill>
                <a:latin typeface="Consolas" panose="020B0609020204030204" pitchFamily="49" charset="0"/>
                <a:cs typeface="Consolas" panose="020B0609020204030204" pitchFamily="49" charset="0"/>
              </a:rPr>
              <a:t>PRINT</a:t>
            </a:r>
            <a:r>
              <a:rPr lang="en-US" sz="1600">
                <a:latin typeface="Consolas" panose="020B0609020204030204" pitchFamily="49" charset="0"/>
                <a:cs typeface="Consolas" panose="020B0609020204030204" pitchFamily="49" charset="0"/>
              </a:rPr>
              <a:t>(</a:t>
            </a:r>
            <a:r>
              <a:rPr lang="en-US" sz="1600" err="1">
                <a:latin typeface="Consolas" panose="020B0609020204030204" pitchFamily="49" charset="0"/>
                <a:cs typeface="Consolas" panose="020B0609020204030204" pitchFamily="49" charset="0"/>
              </a:rPr>
              <a:t>list.get</a:t>
            </a:r>
            <a:r>
              <a:rPr lang="en-US" sz="1600">
                <a:latin typeface="Consolas" panose="020B0609020204030204" pitchFamily="49" charset="0"/>
                <a:cs typeface="Consolas" panose="020B0609020204030204" pitchFamily="49" charset="0"/>
              </a:rPr>
              <a:t>(</a:t>
            </a:r>
            <a:r>
              <a:rPr lang="en-US" sz="1600">
                <a:solidFill>
                  <a:srgbClr val="0CB5B5"/>
                </a:solidFill>
                <a:latin typeface="Consolas" panose="020B0609020204030204" pitchFamily="49" charset="0"/>
                <a:cs typeface="Consolas" panose="020B0609020204030204" pitchFamily="49" charset="0"/>
              </a:rPr>
              <a:t>1</a:t>
            </a:r>
            <a:r>
              <a:rPr lang="en-US" sz="1600">
                <a:latin typeface="Consolas" panose="020B0609020204030204" pitchFamily="49" charset="0"/>
                <a:cs typeface="Consolas" panose="020B0609020204030204" pitchFamily="49" charset="0"/>
              </a:rPr>
              <a:t>)); 	</a:t>
            </a:r>
            <a:endParaRPr lang="en-US" sz="1600">
              <a:solidFill>
                <a:srgbClr val="007B00"/>
              </a:solidFill>
              <a:latin typeface="Consolas" panose="020B0609020204030204" pitchFamily="49" charset="0"/>
              <a:cs typeface="Consolas" panose="020B0609020204030204" pitchFamily="49" charset="0"/>
            </a:endParaRPr>
          </a:p>
          <a:p>
            <a:r>
              <a:rPr lang="en-US" sz="1600" err="1">
                <a:latin typeface="Consolas" panose="020B0609020204030204" pitchFamily="49" charset="0"/>
                <a:cs typeface="Consolas" panose="020B0609020204030204" pitchFamily="49" charset="0"/>
              </a:rPr>
              <a:t>list.remove</a:t>
            </a:r>
            <a:r>
              <a:rPr lang="en-US" sz="1600">
                <a:latin typeface="Consolas" panose="020B0609020204030204" pitchFamily="49" charset="0"/>
                <a:cs typeface="Consolas" panose="020B0609020204030204" pitchFamily="49" charset="0"/>
              </a:rPr>
              <a:t>(</a:t>
            </a:r>
            <a:r>
              <a:rPr lang="en-US" sz="1600">
                <a:solidFill>
                  <a:srgbClr val="0CB5B5"/>
                </a:solidFill>
                <a:latin typeface="Consolas" panose="020B0609020204030204" pitchFamily="49" charset="0"/>
                <a:cs typeface="Consolas" panose="020B0609020204030204" pitchFamily="49" charset="0"/>
              </a:rPr>
              <a:t>0</a:t>
            </a:r>
            <a:r>
              <a:rPr lang="en-US" sz="1600">
                <a:latin typeface="Consolas" panose="020B0609020204030204" pitchFamily="49" charset="0"/>
                <a:cs typeface="Consolas" panose="020B0609020204030204" pitchFamily="49" charset="0"/>
              </a:rPr>
              <a:t>);</a:t>
            </a:r>
          </a:p>
          <a:p>
            <a:r>
              <a:rPr lang="en-US" sz="1600" err="1">
                <a:solidFill>
                  <a:srgbClr val="000080"/>
                </a:solidFill>
                <a:latin typeface="Consolas" panose="020B0609020204030204" pitchFamily="49" charset="0"/>
                <a:cs typeface="Consolas" panose="020B0609020204030204" pitchFamily="49" charset="0"/>
              </a:rPr>
              <a:t>PRINT</a:t>
            </a:r>
            <a:r>
              <a:rPr lang="en-US" sz="1600">
                <a:latin typeface="Consolas" panose="020B0609020204030204" pitchFamily="49" charset="0"/>
                <a:cs typeface="Consolas" panose="020B0609020204030204" pitchFamily="49" charset="0"/>
              </a:rPr>
              <a:t>(list); 			</a:t>
            </a:r>
            <a:endParaRPr lang="en-US" sz="1600">
              <a:solidFill>
                <a:srgbClr val="007B00"/>
              </a:solidFill>
              <a:latin typeface="Consolas" panose="020B0609020204030204" pitchFamily="49" charset="0"/>
              <a:cs typeface="Consolas" panose="020B0609020204030204" pitchFamily="49" charset="0"/>
            </a:endParaRPr>
          </a:p>
          <a:p>
            <a:r>
              <a:rPr lang="en-US" sz="1600" err="1">
                <a:latin typeface="Consolas" panose="020B0609020204030204" pitchFamily="49" charset="0"/>
                <a:cs typeface="Consolas" panose="020B0609020204030204" pitchFamily="49" charset="0"/>
              </a:rPr>
              <a:t>list.set</a:t>
            </a:r>
            <a:r>
              <a:rPr lang="en-US" sz="1600">
                <a:latin typeface="Consolas" panose="020B0609020204030204" pitchFamily="49" charset="0"/>
                <a:cs typeface="Consolas" panose="020B0609020204030204" pitchFamily="49" charset="0"/>
              </a:rPr>
              <a:t>(</a:t>
            </a:r>
            <a:r>
              <a:rPr lang="en-US" sz="1600">
                <a:solidFill>
                  <a:srgbClr val="0CB5B5"/>
                </a:solidFill>
                <a:latin typeface="Consolas" panose="020B0609020204030204" pitchFamily="49" charset="0"/>
                <a:cs typeface="Consolas" panose="020B0609020204030204" pitchFamily="49" charset="0"/>
              </a:rPr>
              <a:t>1, </a:t>
            </a:r>
            <a:r>
              <a:rPr lang="en-US" sz="1600">
                <a:solidFill>
                  <a:srgbClr val="B60E0E"/>
                </a:solidFill>
                <a:latin typeface="Consolas" panose="020B0609020204030204" pitchFamily="49" charset="0"/>
                <a:cs typeface="Consolas" panose="020B0609020204030204" pitchFamily="49" charset="0"/>
              </a:rPr>
              <a:t>"Summer"</a:t>
            </a:r>
            <a:r>
              <a:rPr lang="en-US" sz="1600">
                <a:latin typeface="Consolas" panose="020B0609020204030204" pitchFamily="49" charset="0"/>
                <a:cs typeface="Consolas" panose="020B0609020204030204" pitchFamily="49" charset="0"/>
              </a:rPr>
              <a:t>); </a:t>
            </a:r>
          </a:p>
          <a:p>
            <a:r>
              <a:rPr lang="en-US" sz="1600" err="1">
                <a:solidFill>
                  <a:srgbClr val="000080"/>
                </a:solidFill>
                <a:latin typeface="Consolas" panose="020B0609020204030204" pitchFamily="49" charset="0"/>
                <a:cs typeface="Consolas" panose="020B0609020204030204" pitchFamily="49" charset="0"/>
              </a:rPr>
              <a:t>PRINT</a:t>
            </a:r>
            <a:r>
              <a:rPr lang="en-US" sz="1600">
                <a:latin typeface="Consolas" panose="020B0609020204030204" pitchFamily="49" charset="0"/>
                <a:cs typeface="Consolas" panose="020B0609020204030204" pitchFamily="49" charset="0"/>
              </a:rPr>
              <a:t>(list); 			</a:t>
            </a:r>
            <a:endParaRPr lang="en-US" sz="1600">
              <a:solidFill>
                <a:srgbClr val="007B00"/>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290449542"/>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22033-189F-45BB-911E-851890CF237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B3A817C-AEAB-8726-4249-0F81EEFA2DCC}"/>
              </a:ext>
            </a:extLst>
          </p:cNvPr>
          <p:cNvSpPr>
            <a:spLocks noGrp="1"/>
          </p:cNvSpPr>
          <p:nvPr>
            <p:ph type="title"/>
          </p:nvPr>
        </p:nvSpPr>
        <p:spPr/>
        <p:txBody>
          <a:bodyPr>
            <a:noAutofit/>
          </a:bodyPr>
          <a:lstStyle/>
          <a:p>
            <a:r>
              <a:rPr lang="en-US" sz="2800"/>
              <a:t>usage code</a:t>
            </a:r>
          </a:p>
        </p:txBody>
      </p:sp>
      <p:sp>
        <p:nvSpPr>
          <p:cNvPr id="4" name="Content Placeholder 3">
            <a:extLst>
              <a:ext uri="{FF2B5EF4-FFF2-40B4-BE49-F238E27FC236}">
                <a16:creationId xmlns:a16="http://schemas.microsoft.com/office/drawing/2014/main" id="{61226AF4-BADB-C3D7-7AB3-4026AB691DFB}"/>
              </a:ext>
            </a:extLst>
          </p:cNvPr>
          <p:cNvSpPr>
            <a:spLocks noGrp="1"/>
          </p:cNvSpPr>
          <p:nvPr>
            <p:ph sz="quarter" idx="10"/>
          </p:nvPr>
        </p:nvSpPr>
        <p:spPr/>
        <p:txBody>
          <a:bodyPr>
            <a:noAutofit/>
          </a:bodyPr>
          <a:lstStyle/>
          <a:p>
            <a:r>
              <a:rPr lang="en-US" sz="1600" err="1">
                <a:solidFill>
                  <a:srgbClr val="000080"/>
                </a:solidFill>
                <a:latin typeface="Consolas" panose="020B0609020204030204" pitchFamily="49" charset="0"/>
                <a:cs typeface="Consolas" panose="020B0609020204030204" pitchFamily="49" charset="0"/>
              </a:rPr>
              <a:t>ArrayList</a:t>
            </a:r>
            <a:r>
              <a:rPr lang="en-US" sz="1600">
                <a:latin typeface="Consolas" panose="020B0609020204030204" pitchFamily="49" charset="0"/>
                <a:cs typeface="Consolas" panose="020B0609020204030204" pitchFamily="49" charset="0"/>
              </a:rPr>
              <a:t>&lt;</a:t>
            </a:r>
            <a:r>
              <a:rPr lang="en-US" sz="1600">
                <a:solidFill>
                  <a:srgbClr val="000080"/>
                </a:solidFill>
                <a:latin typeface="Consolas" panose="020B0609020204030204" pitchFamily="49" charset="0"/>
                <a:cs typeface="Consolas" panose="020B0609020204030204" pitchFamily="49" charset="0"/>
              </a:rPr>
              <a:t>String</a:t>
            </a:r>
            <a:r>
              <a:rPr lang="en-US" sz="1600">
                <a:latin typeface="Consolas" panose="020B0609020204030204" pitchFamily="49" charset="0"/>
                <a:cs typeface="Consolas" panose="020B0609020204030204" pitchFamily="49" charset="0"/>
              </a:rPr>
              <a:t>&gt; list = new </a:t>
            </a:r>
            <a:r>
              <a:rPr lang="en-US" sz="1600" err="1">
                <a:solidFill>
                  <a:srgbClr val="000080"/>
                </a:solidFill>
                <a:latin typeface="Consolas" panose="020B0609020204030204" pitchFamily="49" charset="0"/>
                <a:cs typeface="Consolas" panose="020B0609020204030204" pitchFamily="49" charset="0"/>
              </a:rPr>
              <a:t>ArrayList</a:t>
            </a:r>
            <a:r>
              <a:rPr lang="en-US" sz="1600">
                <a:latin typeface="Consolas" panose="020B0609020204030204" pitchFamily="49" charset="0"/>
                <a:cs typeface="Consolas" panose="020B0609020204030204" pitchFamily="49" charset="0"/>
              </a:rPr>
              <a:t>&lt;&gt;();</a:t>
            </a:r>
          </a:p>
          <a:p>
            <a:r>
              <a:rPr lang="en-US" sz="1600">
                <a:latin typeface="Consolas" panose="020B0609020204030204" pitchFamily="49" charset="0"/>
                <a:cs typeface="Consolas" panose="020B0609020204030204" pitchFamily="49" charset="0"/>
              </a:rPr>
              <a:t>PRINT(list); 			</a:t>
            </a:r>
            <a:r>
              <a:rPr lang="en-US" sz="1600">
                <a:solidFill>
                  <a:srgbClr val="007B00"/>
                </a:solidFill>
                <a:latin typeface="Consolas" panose="020B0609020204030204" pitchFamily="49" charset="0"/>
                <a:cs typeface="Consolas" panose="020B0609020204030204" pitchFamily="49" charset="0"/>
              </a:rPr>
              <a:t>// []</a:t>
            </a:r>
          </a:p>
          <a:p>
            <a:r>
              <a:rPr lang="en-US" sz="1600" err="1">
                <a:latin typeface="Consolas" panose="020B0609020204030204" pitchFamily="49" charset="0"/>
                <a:cs typeface="Consolas" panose="020B0609020204030204" pitchFamily="49" charset="0"/>
              </a:rPr>
              <a:t>list.add</a:t>
            </a:r>
            <a:r>
              <a:rPr lang="en-US" sz="1600">
                <a:latin typeface="Consolas" panose="020B0609020204030204" pitchFamily="49" charset="0"/>
                <a:cs typeface="Consolas" panose="020B0609020204030204" pitchFamily="49" charset="0"/>
              </a:rPr>
              <a:t>(</a:t>
            </a:r>
            <a:r>
              <a:rPr lang="en-US" sz="1600">
                <a:solidFill>
                  <a:srgbClr val="B60E0E"/>
                </a:solidFill>
                <a:latin typeface="Consolas" panose="020B0609020204030204" pitchFamily="49" charset="0"/>
                <a:cs typeface="Consolas" panose="020B0609020204030204" pitchFamily="49" charset="0"/>
              </a:rPr>
              <a:t>"Hello"</a:t>
            </a:r>
            <a:r>
              <a:rPr lang="en-US" sz="1600">
                <a:latin typeface="Consolas" panose="020B0609020204030204" pitchFamily="49" charset="0"/>
                <a:cs typeface="Consolas" panose="020B0609020204030204" pitchFamily="49" charset="0"/>
              </a:rPr>
              <a:t>);</a:t>
            </a:r>
          </a:p>
          <a:p>
            <a:r>
              <a:rPr lang="en-US" sz="1600" err="1">
                <a:latin typeface="Consolas" panose="020B0609020204030204" pitchFamily="49" charset="0"/>
                <a:cs typeface="Consolas" panose="020B0609020204030204" pitchFamily="49" charset="0"/>
              </a:rPr>
              <a:t>list.add</a:t>
            </a:r>
            <a:r>
              <a:rPr lang="en-US" sz="1600">
                <a:latin typeface="Consolas" panose="020B0609020204030204" pitchFamily="49" charset="0"/>
                <a:cs typeface="Consolas" panose="020B0609020204030204" pitchFamily="49" charset="0"/>
              </a:rPr>
              <a:t>(</a:t>
            </a:r>
            <a:r>
              <a:rPr lang="en-US" sz="1600">
                <a:solidFill>
                  <a:srgbClr val="B60E0E"/>
                </a:solidFill>
                <a:latin typeface="Consolas" panose="020B0609020204030204" pitchFamily="49" charset="0"/>
                <a:cs typeface="Consolas" panose="020B0609020204030204" pitchFamily="49" charset="0"/>
              </a:rPr>
              <a:t>"World"</a:t>
            </a:r>
            <a:r>
              <a:rPr lang="en-US" sz="1600">
                <a:latin typeface="Consolas" panose="020B0609020204030204" pitchFamily="49" charset="0"/>
                <a:cs typeface="Consolas" panose="020B0609020204030204" pitchFamily="49" charset="0"/>
              </a:rPr>
              <a:t>);</a:t>
            </a:r>
          </a:p>
          <a:p>
            <a:r>
              <a:rPr lang="en-US" sz="1600" err="1">
                <a:latin typeface="Consolas" panose="020B0609020204030204" pitchFamily="49" charset="0"/>
                <a:cs typeface="Consolas" panose="020B0609020204030204" pitchFamily="49" charset="0"/>
              </a:rPr>
              <a:t>PRINT</a:t>
            </a:r>
            <a:r>
              <a:rPr lang="en-US" sz="1600">
                <a:latin typeface="Consolas" panose="020B0609020204030204" pitchFamily="49" charset="0"/>
                <a:cs typeface="Consolas" panose="020B0609020204030204" pitchFamily="49" charset="0"/>
              </a:rPr>
              <a:t>(list); 			 </a:t>
            </a:r>
            <a:r>
              <a:rPr lang="en-US" sz="1600">
                <a:solidFill>
                  <a:srgbClr val="007B00"/>
                </a:solidFill>
                <a:latin typeface="Consolas" panose="020B0609020204030204" pitchFamily="49" charset="0"/>
                <a:cs typeface="Consolas" panose="020B0609020204030204" pitchFamily="49" charset="0"/>
              </a:rPr>
              <a:t>// [Hello, World]</a:t>
            </a:r>
          </a:p>
          <a:p>
            <a:r>
              <a:rPr lang="en-US" sz="1600" err="1">
                <a:latin typeface="Consolas" panose="020B0609020204030204" pitchFamily="49" charset="0"/>
                <a:cs typeface="Consolas" panose="020B0609020204030204" pitchFamily="49" charset="0"/>
              </a:rPr>
              <a:t>list.add</a:t>
            </a:r>
            <a:r>
              <a:rPr lang="en-US" sz="1600">
                <a:latin typeface="Consolas" panose="020B0609020204030204" pitchFamily="49" charset="0"/>
                <a:cs typeface="Consolas" panose="020B0609020204030204" pitchFamily="49" charset="0"/>
              </a:rPr>
              <a:t>(</a:t>
            </a:r>
            <a:r>
              <a:rPr lang="en-US" sz="1600">
                <a:solidFill>
                  <a:srgbClr val="0CB5B5"/>
                </a:solidFill>
                <a:latin typeface="Consolas" panose="020B0609020204030204" pitchFamily="49" charset="0"/>
                <a:cs typeface="Consolas" panose="020B0609020204030204" pitchFamily="49" charset="0"/>
              </a:rPr>
              <a:t>1</a:t>
            </a:r>
            <a:r>
              <a:rPr lang="en-US" sz="1600">
                <a:latin typeface="Consolas" panose="020B0609020204030204" pitchFamily="49" charset="0"/>
                <a:cs typeface="Consolas" panose="020B0609020204030204" pitchFamily="49" charset="0"/>
              </a:rPr>
              <a:t>, </a:t>
            </a:r>
            <a:r>
              <a:rPr lang="en-US" sz="1600">
                <a:solidFill>
                  <a:srgbClr val="B60E0E"/>
                </a:solidFill>
                <a:latin typeface="Consolas" panose="020B0609020204030204" pitchFamily="49" charset="0"/>
                <a:cs typeface="Consolas" panose="020B0609020204030204" pitchFamily="49" charset="0"/>
              </a:rPr>
              <a:t>"Cruel"</a:t>
            </a:r>
            <a:r>
              <a:rPr lang="en-US" sz="1600">
                <a:latin typeface="Consolas" panose="020B0609020204030204" pitchFamily="49" charset="0"/>
                <a:cs typeface="Consolas" panose="020B0609020204030204" pitchFamily="49" charset="0"/>
              </a:rPr>
              <a:t>);</a:t>
            </a:r>
          </a:p>
          <a:p>
            <a:r>
              <a:rPr lang="en-US" sz="1600">
                <a:solidFill>
                  <a:srgbClr val="000080"/>
                </a:solidFill>
                <a:latin typeface="Consolas" panose="020B0609020204030204" pitchFamily="49" charset="0"/>
                <a:cs typeface="Consolas" panose="020B0609020204030204" pitchFamily="49" charset="0"/>
              </a:rPr>
              <a:t>PRINT</a:t>
            </a:r>
            <a:r>
              <a:rPr lang="en-US" sz="1600">
                <a:latin typeface="Consolas" panose="020B0609020204030204" pitchFamily="49" charset="0"/>
                <a:cs typeface="Consolas" panose="020B0609020204030204" pitchFamily="49" charset="0"/>
              </a:rPr>
              <a:t>(list); 			 </a:t>
            </a:r>
            <a:r>
              <a:rPr lang="en-US" sz="1600">
                <a:solidFill>
                  <a:srgbClr val="007B00"/>
                </a:solidFill>
                <a:latin typeface="Consolas" panose="020B0609020204030204" pitchFamily="49" charset="0"/>
                <a:cs typeface="Consolas" panose="020B0609020204030204" pitchFamily="49" charset="0"/>
              </a:rPr>
              <a:t>// [Hello, Cruel, World]</a:t>
            </a:r>
          </a:p>
          <a:p>
            <a:r>
              <a:rPr lang="en-US" sz="1600" err="1">
                <a:solidFill>
                  <a:srgbClr val="000080"/>
                </a:solidFill>
                <a:latin typeface="Consolas" panose="020B0609020204030204" pitchFamily="49" charset="0"/>
                <a:cs typeface="Consolas" panose="020B0609020204030204" pitchFamily="49" charset="0"/>
              </a:rPr>
              <a:t>PRINT</a:t>
            </a:r>
            <a:r>
              <a:rPr lang="en-US" sz="1600">
                <a:latin typeface="Consolas" panose="020B0609020204030204" pitchFamily="49" charset="0"/>
                <a:cs typeface="Consolas" panose="020B0609020204030204" pitchFamily="49" charset="0"/>
              </a:rPr>
              <a:t>(</a:t>
            </a:r>
            <a:r>
              <a:rPr lang="en-US" sz="1600" err="1">
                <a:latin typeface="Consolas" panose="020B0609020204030204" pitchFamily="49" charset="0"/>
                <a:cs typeface="Consolas" panose="020B0609020204030204" pitchFamily="49" charset="0"/>
              </a:rPr>
              <a:t>list.size</a:t>
            </a:r>
            <a:r>
              <a:rPr lang="en-US" sz="1600">
                <a:latin typeface="Consolas" panose="020B0609020204030204" pitchFamily="49" charset="0"/>
                <a:cs typeface="Consolas" panose="020B0609020204030204" pitchFamily="49" charset="0"/>
              </a:rPr>
              <a:t>()); 	 </a:t>
            </a:r>
            <a:r>
              <a:rPr lang="en-US" sz="1600">
                <a:solidFill>
                  <a:srgbClr val="007B00"/>
                </a:solidFill>
                <a:latin typeface="Consolas" panose="020B0609020204030204" pitchFamily="49" charset="0"/>
                <a:cs typeface="Consolas" panose="020B0609020204030204" pitchFamily="49" charset="0"/>
              </a:rPr>
              <a:t>// 3</a:t>
            </a:r>
          </a:p>
          <a:p>
            <a:r>
              <a:rPr lang="en-US" sz="1600" err="1">
                <a:solidFill>
                  <a:srgbClr val="000080"/>
                </a:solidFill>
                <a:latin typeface="Consolas" panose="020B0609020204030204" pitchFamily="49" charset="0"/>
                <a:cs typeface="Consolas" panose="020B0609020204030204" pitchFamily="49" charset="0"/>
              </a:rPr>
              <a:t>PRINT</a:t>
            </a:r>
            <a:r>
              <a:rPr lang="en-US" sz="1600">
                <a:latin typeface="Consolas" panose="020B0609020204030204" pitchFamily="49" charset="0"/>
                <a:cs typeface="Consolas" panose="020B0609020204030204" pitchFamily="49" charset="0"/>
              </a:rPr>
              <a:t>(</a:t>
            </a:r>
            <a:r>
              <a:rPr lang="en-US" sz="1600" err="1">
                <a:latin typeface="Consolas" panose="020B0609020204030204" pitchFamily="49" charset="0"/>
                <a:cs typeface="Consolas" panose="020B0609020204030204" pitchFamily="49" charset="0"/>
              </a:rPr>
              <a:t>list.get</a:t>
            </a:r>
            <a:r>
              <a:rPr lang="en-US" sz="1600">
                <a:latin typeface="Consolas" panose="020B0609020204030204" pitchFamily="49" charset="0"/>
                <a:cs typeface="Consolas" panose="020B0609020204030204" pitchFamily="49" charset="0"/>
              </a:rPr>
              <a:t>(</a:t>
            </a:r>
            <a:r>
              <a:rPr lang="en-US" sz="1600">
                <a:solidFill>
                  <a:srgbClr val="0CB5B5"/>
                </a:solidFill>
                <a:latin typeface="Consolas" panose="020B0609020204030204" pitchFamily="49" charset="0"/>
                <a:cs typeface="Consolas" panose="020B0609020204030204" pitchFamily="49" charset="0"/>
              </a:rPr>
              <a:t>1</a:t>
            </a:r>
            <a:r>
              <a:rPr lang="en-US" sz="1600">
                <a:latin typeface="Consolas" panose="020B0609020204030204" pitchFamily="49" charset="0"/>
                <a:cs typeface="Consolas" panose="020B0609020204030204" pitchFamily="49" charset="0"/>
              </a:rPr>
              <a:t>)); 	 </a:t>
            </a:r>
            <a:r>
              <a:rPr lang="en-US" sz="1600">
                <a:solidFill>
                  <a:srgbClr val="007B00"/>
                </a:solidFill>
                <a:latin typeface="Consolas" panose="020B0609020204030204" pitchFamily="49" charset="0"/>
                <a:cs typeface="Consolas" panose="020B0609020204030204" pitchFamily="49" charset="0"/>
              </a:rPr>
              <a:t>// Cruel</a:t>
            </a:r>
          </a:p>
          <a:p>
            <a:r>
              <a:rPr lang="en-US" sz="1600" err="1">
                <a:latin typeface="Consolas" panose="020B0609020204030204" pitchFamily="49" charset="0"/>
                <a:cs typeface="Consolas" panose="020B0609020204030204" pitchFamily="49" charset="0"/>
              </a:rPr>
              <a:t>list.remove</a:t>
            </a:r>
            <a:r>
              <a:rPr lang="en-US" sz="1600">
                <a:latin typeface="Consolas" panose="020B0609020204030204" pitchFamily="49" charset="0"/>
                <a:cs typeface="Consolas" panose="020B0609020204030204" pitchFamily="49" charset="0"/>
              </a:rPr>
              <a:t>(</a:t>
            </a:r>
            <a:r>
              <a:rPr lang="en-US" sz="1600">
                <a:solidFill>
                  <a:srgbClr val="0CB5B5"/>
                </a:solidFill>
                <a:latin typeface="Consolas" panose="020B0609020204030204" pitchFamily="49" charset="0"/>
                <a:cs typeface="Consolas" panose="020B0609020204030204" pitchFamily="49" charset="0"/>
              </a:rPr>
              <a:t>0</a:t>
            </a:r>
            <a:r>
              <a:rPr lang="en-US" sz="1600">
                <a:latin typeface="Consolas" panose="020B0609020204030204" pitchFamily="49" charset="0"/>
                <a:cs typeface="Consolas" panose="020B0609020204030204" pitchFamily="49" charset="0"/>
              </a:rPr>
              <a:t>);</a:t>
            </a:r>
          </a:p>
          <a:p>
            <a:r>
              <a:rPr lang="en-US" sz="1600" err="1">
                <a:solidFill>
                  <a:srgbClr val="000080"/>
                </a:solidFill>
                <a:latin typeface="Consolas" panose="020B0609020204030204" pitchFamily="49" charset="0"/>
                <a:cs typeface="Consolas" panose="020B0609020204030204" pitchFamily="49" charset="0"/>
              </a:rPr>
              <a:t>PRINT</a:t>
            </a:r>
            <a:r>
              <a:rPr lang="en-US" sz="1600">
                <a:latin typeface="Consolas" panose="020B0609020204030204" pitchFamily="49" charset="0"/>
                <a:cs typeface="Consolas" panose="020B0609020204030204" pitchFamily="49" charset="0"/>
              </a:rPr>
              <a:t>(list); 			 </a:t>
            </a:r>
            <a:r>
              <a:rPr lang="en-US" sz="1600">
                <a:solidFill>
                  <a:srgbClr val="007B00"/>
                </a:solidFill>
                <a:latin typeface="Consolas" panose="020B0609020204030204" pitchFamily="49" charset="0"/>
                <a:cs typeface="Consolas" panose="020B0609020204030204" pitchFamily="49" charset="0"/>
              </a:rPr>
              <a:t>// [Cruel, World]</a:t>
            </a:r>
          </a:p>
          <a:p>
            <a:r>
              <a:rPr lang="en-US" sz="1600" err="1">
                <a:latin typeface="Consolas" panose="020B0609020204030204" pitchFamily="49" charset="0"/>
                <a:cs typeface="Consolas" panose="020B0609020204030204" pitchFamily="49" charset="0"/>
              </a:rPr>
              <a:t>list.set</a:t>
            </a:r>
            <a:r>
              <a:rPr lang="en-US" sz="1600">
                <a:latin typeface="Consolas" panose="020B0609020204030204" pitchFamily="49" charset="0"/>
                <a:cs typeface="Consolas" panose="020B0609020204030204" pitchFamily="49" charset="0"/>
              </a:rPr>
              <a:t>(</a:t>
            </a:r>
            <a:r>
              <a:rPr lang="en-US" sz="1600">
                <a:solidFill>
                  <a:srgbClr val="0CB5B5"/>
                </a:solidFill>
                <a:latin typeface="Consolas" panose="020B0609020204030204" pitchFamily="49" charset="0"/>
                <a:cs typeface="Consolas" panose="020B0609020204030204" pitchFamily="49" charset="0"/>
              </a:rPr>
              <a:t>1, </a:t>
            </a:r>
            <a:r>
              <a:rPr lang="en-US" sz="1600">
                <a:solidFill>
                  <a:srgbClr val="B60E0E"/>
                </a:solidFill>
                <a:latin typeface="Consolas" panose="020B0609020204030204" pitchFamily="49" charset="0"/>
                <a:cs typeface="Consolas" panose="020B0609020204030204" pitchFamily="49" charset="0"/>
              </a:rPr>
              <a:t>"Summer"</a:t>
            </a:r>
            <a:r>
              <a:rPr lang="en-US" sz="1600">
                <a:latin typeface="Consolas" panose="020B0609020204030204" pitchFamily="49" charset="0"/>
                <a:cs typeface="Consolas" panose="020B0609020204030204" pitchFamily="49" charset="0"/>
              </a:rPr>
              <a:t>);</a:t>
            </a:r>
            <a:endParaRPr lang="en-US" sz="1600">
              <a:solidFill>
                <a:srgbClr val="007B00"/>
              </a:solidFill>
              <a:latin typeface="Consolas" panose="020B0609020204030204" pitchFamily="49" charset="0"/>
              <a:cs typeface="Consolas" panose="020B0609020204030204" pitchFamily="49" charset="0"/>
            </a:endParaRPr>
          </a:p>
          <a:p>
            <a:r>
              <a:rPr lang="en-US" sz="1600" err="1">
                <a:solidFill>
                  <a:srgbClr val="000080"/>
                </a:solidFill>
                <a:latin typeface="Consolas" panose="020B0609020204030204" pitchFamily="49" charset="0"/>
                <a:cs typeface="Consolas" panose="020B0609020204030204" pitchFamily="49" charset="0"/>
              </a:rPr>
              <a:t>PRINT</a:t>
            </a:r>
            <a:r>
              <a:rPr lang="en-US" sz="1600">
                <a:latin typeface="Consolas" panose="020B0609020204030204" pitchFamily="49" charset="0"/>
                <a:cs typeface="Consolas" panose="020B0609020204030204" pitchFamily="49" charset="0"/>
              </a:rPr>
              <a:t>(list); 			 </a:t>
            </a:r>
            <a:r>
              <a:rPr lang="en-US" sz="1600">
                <a:solidFill>
                  <a:srgbClr val="007B00"/>
                </a:solidFill>
                <a:latin typeface="Consolas" panose="020B0609020204030204" pitchFamily="49" charset="0"/>
                <a:cs typeface="Consolas" panose="020B0609020204030204" pitchFamily="49" charset="0"/>
              </a:rPr>
              <a:t>// [Cruel, Summer]</a:t>
            </a:r>
          </a:p>
          <a:p>
            <a:endParaRPr lang="en-US" sz="160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983351792"/>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94CAF-5A49-2C96-8931-4C1B73310E0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664922-CEA1-8722-B74C-8BB218231300}"/>
              </a:ext>
            </a:extLst>
          </p:cNvPr>
          <p:cNvSpPr>
            <a:spLocks noGrp="1"/>
          </p:cNvSpPr>
          <p:nvPr>
            <p:ph type="title"/>
          </p:nvPr>
        </p:nvSpPr>
        <p:spPr/>
        <p:txBody>
          <a:bodyPr/>
          <a:lstStyle/>
          <a:p>
            <a:r>
              <a:rPr lang="en-US"/>
              <a:t>size (length) of the </a:t>
            </a:r>
            <a:r>
              <a:rPr lang="en-US" i="1"/>
              <a:t>list</a:t>
            </a:r>
            <a:br>
              <a:rPr lang="en-US"/>
            </a:br>
            <a:r>
              <a:rPr lang="en-US"/>
              <a:t>vs.</a:t>
            </a:r>
            <a:br>
              <a:rPr lang="en-US"/>
            </a:br>
            <a:r>
              <a:rPr lang="en-US"/>
              <a:t>the </a:t>
            </a:r>
            <a:r>
              <a:rPr lang="en-US" i="1"/>
              <a:t>list's capacity</a:t>
            </a:r>
          </a:p>
        </p:txBody>
      </p:sp>
    </p:spTree>
    <p:extLst>
      <p:ext uri="{BB962C8B-B14F-4D97-AF65-F5344CB8AC3E}">
        <p14:creationId xmlns:p14="http://schemas.microsoft.com/office/powerpoint/2010/main" val="948848996"/>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42F56-A72C-4739-2578-2DD5A4A0AF7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14F8236-C569-0319-0D81-DAF183A55EBF}"/>
              </a:ext>
            </a:extLst>
          </p:cNvPr>
          <p:cNvSpPr txBox="1"/>
          <p:nvPr/>
        </p:nvSpPr>
        <p:spPr>
          <a:xfrm>
            <a:off x="2845965" y="2150703"/>
            <a:ext cx="3030808" cy="1862048"/>
          </a:xfrm>
          <a:prstGeom prst="rect">
            <a:avLst/>
          </a:prstGeom>
          <a:noFill/>
        </p:spPr>
        <p:txBody>
          <a:bodyPr wrap="square">
            <a:spAutoFit/>
          </a:bodyPr>
          <a:lstStyle/>
          <a:p>
            <a:pPr algn="ctr"/>
            <a:r>
              <a:rPr lang="en-US" sz="11500">
                <a:solidFill>
                  <a:srgbClr val="000000"/>
                </a:solidFill>
                <a:latin typeface="Arial"/>
                <a:ea typeface="Segoe UI Emoji" panose="020B0502040204020203" pitchFamily="34" charset="0"/>
                <a:cs typeface="+mj-cs"/>
              </a:rPr>
              <a:t>👩‍🌾</a:t>
            </a:r>
            <a:endParaRPr lang="en-US" sz="8800"/>
          </a:p>
        </p:txBody>
      </p:sp>
      <p:sp>
        <p:nvSpPr>
          <p:cNvPr id="6" name="Rectangle 5">
            <a:extLst>
              <a:ext uri="{FF2B5EF4-FFF2-40B4-BE49-F238E27FC236}">
                <a16:creationId xmlns:a16="http://schemas.microsoft.com/office/drawing/2014/main" id="{A31E16D7-0AE7-C82E-BEE9-FE5F4E1F7FED}"/>
              </a:ext>
            </a:extLst>
          </p:cNvPr>
          <p:cNvSpPr/>
          <p:nvPr/>
        </p:nvSpPr>
        <p:spPr>
          <a:xfrm>
            <a:off x="1844997" y="3820247"/>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10EC0B9-D7CA-148B-B0B1-35A6C81C415B}"/>
              </a:ext>
            </a:extLst>
          </p:cNvPr>
          <p:cNvSpPr txBox="1"/>
          <p:nvPr/>
        </p:nvSpPr>
        <p:spPr>
          <a:xfrm>
            <a:off x="2226356" y="155751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0" name="TextBox 9">
            <a:extLst>
              <a:ext uri="{FF2B5EF4-FFF2-40B4-BE49-F238E27FC236}">
                <a16:creationId xmlns:a16="http://schemas.microsoft.com/office/drawing/2014/main" id="{82AD4B7F-9D67-0E67-9DE1-BA33B0C196FA}"/>
              </a:ext>
            </a:extLst>
          </p:cNvPr>
          <p:cNvSpPr txBox="1"/>
          <p:nvPr/>
        </p:nvSpPr>
        <p:spPr>
          <a:xfrm>
            <a:off x="3018741" y="155751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6" name="TextBox 15">
            <a:extLst>
              <a:ext uri="{FF2B5EF4-FFF2-40B4-BE49-F238E27FC236}">
                <a16:creationId xmlns:a16="http://schemas.microsoft.com/office/drawing/2014/main" id="{17DB1C8B-B31A-F3E3-B5C6-A20451189ECF}"/>
              </a:ext>
            </a:extLst>
          </p:cNvPr>
          <p:cNvSpPr txBox="1"/>
          <p:nvPr/>
        </p:nvSpPr>
        <p:spPr>
          <a:xfrm>
            <a:off x="3796829" y="1548691"/>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grpSp>
        <p:nvGrpSpPr>
          <p:cNvPr id="35" name="Group 34">
            <a:extLst>
              <a:ext uri="{FF2B5EF4-FFF2-40B4-BE49-F238E27FC236}">
                <a16:creationId xmlns:a16="http://schemas.microsoft.com/office/drawing/2014/main" id="{3E118AB8-BA47-BBB8-AF16-33599039567F}"/>
              </a:ext>
            </a:extLst>
          </p:cNvPr>
          <p:cNvGrpSpPr/>
          <p:nvPr/>
        </p:nvGrpSpPr>
        <p:grpSpPr>
          <a:xfrm>
            <a:off x="1303110" y="1353818"/>
            <a:ext cx="6393846" cy="915812"/>
            <a:chOff x="1303110" y="1353818"/>
            <a:chExt cx="6393846" cy="915812"/>
          </a:xfrm>
        </p:grpSpPr>
        <p:grpSp>
          <p:nvGrpSpPr>
            <p:cNvPr id="18" name="Group 17">
              <a:extLst>
                <a:ext uri="{FF2B5EF4-FFF2-40B4-BE49-F238E27FC236}">
                  <a16:creationId xmlns:a16="http://schemas.microsoft.com/office/drawing/2014/main" id="{54B917B3-110B-AABB-F062-4507861E494B}"/>
                </a:ext>
              </a:extLst>
            </p:cNvPr>
            <p:cNvGrpSpPr/>
            <p:nvPr/>
          </p:nvGrpSpPr>
          <p:grpSpPr>
            <a:xfrm>
              <a:off x="1303110" y="1356663"/>
              <a:ext cx="3268890" cy="912967"/>
              <a:chOff x="582919" y="134337"/>
              <a:chExt cx="6886117" cy="1923225"/>
            </a:xfrm>
          </p:grpSpPr>
          <p:sp>
            <p:nvSpPr>
              <p:cNvPr id="19" name="Rectangle 18">
                <a:extLst>
                  <a:ext uri="{FF2B5EF4-FFF2-40B4-BE49-F238E27FC236}">
                    <a16:creationId xmlns:a16="http://schemas.microsoft.com/office/drawing/2014/main" id="{CC76930E-E8F2-F443-E97C-E3E436BD35FC}"/>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0" name="Rectangle 19">
                <a:extLst>
                  <a:ext uri="{FF2B5EF4-FFF2-40B4-BE49-F238E27FC236}">
                    <a16:creationId xmlns:a16="http://schemas.microsoft.com/office/drawing/2014/main" id="{7B9A8F04-2132-F903-2898-2C2E0CB5C52B}"/>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1" name="Rectangle 20">
                <a:extLst>
                  <a:ext uri="{FF2B5EF4-FFF2-40B4-BE49-F238E27FC236}">
                    <a16:creationId xmlns:a16="http://schemas.microsoft.com/office/drawing/2014/main" id="{2C718BB8-9BB4-FA84-B495-11363EC78914}"/>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3" name="Rectangle 22">
                <a:extLst>
                  <a:ext uri="{FF2B5EF4-FFF2-40B4-BE49-F238E27FC236}">
                    <a16:creationId xmlns:a16="http://schemas.microsoft.com/office/drawing/2014/main" id="{67DB1A46-D428-9FE3-D607-539158515260}"/>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4" name="Rectangle 23">
                <a:extLst>
                  <a:ext uri="{FF2B5EF4-FFF2-40B4-BE49-F238E27FC236}">
                    <a16:creationId xmlns:a16="http://schemas.microsoft.com/office/drawing/2014/main" id="{38B22342-FCC8-CD38-CBE1-19176039C480}"/>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5" name="Rectangle 24">
                <a:extLst>
                  <a:ext uri="{FF2B5EF4-FFF2-40B4-BE49-F238E27FC236}">
                    <a16:creationId xmlns:a16="http://schemas.microsoft.com/office/drawing/2014/main" id="{43CD4F8E-1B6A-CAB7-4B3C-60029E9FDF71}"/>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grpSp>
          <p:nvGrpSpPr>
            <p:cNvPr id="27" name="Group 26">
              <a:extLst>
                <a:ext uri="{FF2B5EF4-FFF2-40B4-BE49-F238E27FC236}">
                  <a16:creationId xmlns:a16="http://schemas.microsoft.com/office/drawing/2014/main" id="{165E8BF7-7F2E-B622-1C12-1B8BCD5D463C}"/>
                </a:ext>
              </a:extLst>
            </p:cNvPr>
            <p:cNvGrpSpPr/>
            <p:nvPr/>
          </p:nvGrpSpPr>
          <p:grpSpPr>
            <a:xfrm rot="10800000">
              <a:off x="4428066" y="1353818"/>
              <a:ext cx="3268890" cy="912967"/>
              <a:chOff x="582919" y="134337"/>
              <a:chExt cx="6886117" cy="1923225"/>
            </a:xfrm>
          </p:grpSpPr>
          <p:sp>
            <p:nvSpPr>
              <p:cNvPr id="28" name="Rectangle 27">
                <a:extLst>
                  <a:ext uri="{FF2B5EF4-FFF2-40B4-BE49-F238E27FC236}">
                    <a16:creationId xmlns:a16="http://schemas.microsoft.com/office/drawing/2014/main" id="{9884B733-96F6-9A8C-79B0-355148A318E7}"/>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9" name="Rectangle 28">
                <a:extLst>
                  <a:ext uri="{FF2B5EF4-FFF2-40B4-BE49-F238E27FC236}">
                    <a16:creationId xmlns:a16="http://schemas.microsoft.com/office/drawing/2014/main" id="{06DB0315-8706-FE1D-D90B-C1963AAA5021}"/>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0" name="Rectangle 29">
                <a:extLst>
                  <a:ext uri="{FF2B5EF4-FFF2-40B4-BE49-F238E27FC236}">
                    <a16:creationId xmlns:a16="http://schemas.microsoft.com/office/drawing/2014/main" id="{40019D65-5F00-5BD2-10CE-655A8BB3080A}"/>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1" name="Rectangle 30">
                <a:extLst>
                  <a:ext uri="{FF2B5EF4-FFF2-40B4-BE49-F238E27FC236}">
                    <a16:creationId xmlns:a16="http://schemas.microsoft.com/office/drawing/2014/main" id="{7E8415EF-C4CD-7810-0081-25830CF8B523}"/>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2" name="Rectangle 31">
                <a:extLst>
                  <a:ext uri="{FF2B5EF4-FFF2-40B4-BE49-F238E27FC236}">
                    <a16:creationId xmlns:a16="http://schemas.microsoft.com/office/drawing/2014/main" id="{BBB92C7B-A9FB-8CEB-D31C-15144F450783}"/>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3" name="Rectangle 32">
                <a:extLst>
                  <a:ext uri="{FF2B5EF4-FFF2-40B4-BE49-F238E27FC236}">
                    <a16:creationId xmlns:a16="http://schemas.microsoft.com/office/drawing/2014/main" id="{485E6E36-32A8-C2F6-F08C-1B89E90C46F1}"/>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34" name="Rectangle 33">
              <a:extLst>
                <a:ext uri="{FF2B5EF4-FFF2-40B4-BE49-F238E27FC236}">
                  <a16:creationId xmlns:a16="http://schemas.microsoft.com/office/drawing/2014/main" id="{840F5064-8B97-A428-12B3-FB177C800B0A}"/>
                </a:ext>
              </a:extLst>
            </p:cNvPr>
            <p:cNvSpPr/>
            <p:nvPr/>
          </p:nvSpPr>
          <p:spPr>
            <a:xfrm rot="5400000">
              <a:off x="4032228" y="1777814"/>
              <a:ext cx="912966" cy="64974"/>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26" name="TextBox 25">
            <a:extLst>
              <a:ext uri="{FF2B5EF4-FFF2-40B4-BE49-F238E27FC236}">
                <a16:creationId xmlns:a16="http://schemas.microsoft.com/office/drawing/2014/main" id="{36460A30-2850-DC5C-FE81-52FEB4D5EA88}"/>
              </a:ext>
            </a:extLst>
          </p:cNvPr>
          <p:cNvSpPr txBox="1"/>
          <p:nvPr/>
        </p:nvSpPr>
        <p:spPr>
          <a:xfrm>
            <a:off x="1475101" y="1557520"/>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2" name="TextBox 1">
            <a:extLst>
              <a:ext uri="{FF2B5EF4-FFF2-40B4-BE49-F238E27FC236}">
                <a16:creationId xmlns:a16="http://schemas.microsoft.com/office/drawing/2014/main" id="{08FCCA0E-C859-E329-A563-0FEC46E36755}"/>
              </a:ext>
            </a:extLst>
          </p:cNvPr>
          <p:cNvSpPr txBox="1"/>
          <p:nvPr/>
        </p:nvSpPr>
        <p:spPr>
          <a:xfrm>
            <a:off x="4610281" y="1548691"/>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sz="2000"/>
          </a:p>
        </p:txBody>
      </p:sp>
      <p:grpSp>
        <p:nvGrpSpPr>
          <p:cNvPr id="37" name="Group 36">
            <a:extLst>
              <a:ext uri="{FF2B5EF4-FFF2-40B4-BE49-F238E27FC236}">
                <a16:creationId xmlns:a16="http://schemas.microsoft.com/office/drawing/2014/main" id="{0A37C056-282B-04D1-3E9F-B7F61B3F8132}"/>
              </a:ext>
            </a:extLst>
          </p:cNvPr>
          <p:cNvGrpSpPr/>
          <p:nvPr/>
        </p:nvGrpSpPr>
        <p:grpSpPr>
          <a:xfrm>
            <a:off x="1303110" y="782583"/>
            <a:ext cx="3965558" cy="461665"/>
            <a:chOff x="1303110" y="782583"/>
            <a:chExt cx="3965558" cy="461665"/>
          </a:xfrm>
        </p:grpSpPr>
        <p:cxnSp>
          <p:nvCxnSpPr>
            <p:cNvPr id="9" name="Straight Arrow Connector 8">
              <a:extLst>
                <a:ext uri="{FF2B5EF4-FFF2-40B4-BE49-F238E27FC236}">
                  <a16:creationId xmlns:a16="http://schemas.microsoft.com/office/drawing/2014/main" id="{3681889B-3D3F-4CBD-98D7-017B1B22935E}"/>
                </a:ext>
              </a:extLst>
            </p:cNvPr>
            <p:cNvCxnSpPr>
              <a:cxnSpLocks/>
            </p:cNvCxnSpPr>
            <p:nvPr/>
          </p:nvCxnSpPr>
          <p:spPr>
            <a:xfrm>
              <a:off x="1303110" y="1029606"/>
              <a:ext cx="3965558" cy="0"/>
            </a:xfrm>
            <a:prstGeom prst="straightConnector1">
              <a:avLst/>
            </a:prstGeom>
            <a:ln w="57150">
              <a:headEnd type="triangle"/>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A87408D0-E171-951C-AD51-F4894373F222}"/>
                </a:ext>
              </a:extLst>
            </p:cNvPr>
            <p:cNvSpPr txBox="1"/>
            <p:nvPr/>
          </p:nvSpPr>
          <p:spPr>
            <a:xfrm>
              <a:off x="2602523" y="782583"/>
              <a:ext cx="1396976" cy="461665"/>
            </a:xfrm>
            <a:prstGeom prst="rect">
              <a:avLst/>
            </a:prstGeom>
            <a:solidFill>
              <a:schemeClr val="bg1"/>
            </a:solidFill>
          </p:spPr>
          <p:txBody>
            <a:bodyPr wrap="square" lIns="27432" rIns="27432" rtlCol="0">
              <a:spAutoFit/>
            </a:bodyPr>
            <a:lstStyle/>
            <a:p>
              <a:pPr algn="ctr"/>
              <a:r>
                <a:rPr lang="en-US" sz="2400"/>
                <a:t>length (5)</a:t>
              </a:r>
            </a:p>
          </p:txBody>
        </p:sp>
      </p:grpSp>
      <p:grpSp>
        <p:nvGrpSpPr>
          <p:cNvPr id="38" name="Group 37">
            <a:extLst>
              <a:ext uri="{FF2B5EF4-FFF2-40B4-BE49-F238E27FC236}">
                <a16:creationId xmlns:a16="http://schemas.microsoft.com/office/drawing/2014/main" id="{B02B8665-58DC-62F8-BA14-C5F5EAC9FAA3}"/>
              </a:ext>
            </a:extLst>
          </p:cNvPr>
          <p:cNvGrpSpPr/>
          <p:nvPr/>
        </p:nvGrpSpPr>
        <p:grpSpPr>
          <a:xfrm>
            <a:off x="1292071" y="260918"/>
            <a:ext cx="6400974" cy="461665"/>
            <a:chOff x="1292071" y="260918"/>
            <a:chExt cx="6400974" cy="461665"/>
          </a:xfrm>
        </p:grpSpPr>
        <p:cxnSp>
          <p:nvCxnSpPr>
            <p:cNvPr id="17" name="Straight Arrow Connector 16">
              <a:extLst>
                <a:ext uri="{FF2B5EF4-FFF2-40B4-BE49-F238E27FC236}">
                  <a16:creationId xmlns:a16="http://schemas.microsoft.com/office/drawing/2014/main" id="{31E225AF-E799-9517-496B-BCBD093DDF93}"/>
                </a:ext>
              </a:extLst>
            </p:cNvPr>
            <p:cNvCxnSpPr>
              <a:cxnSpLocks/>
            </p:cNvCxnSpPr>
            <p:nvPr/>
          </p:nvCxnSpPr>
          <p:spPr>
            <a:xfrm>
              <a:off x="1292071" y="507941"/>
              <a:ext cx="6400974" cy="0"/>
            </a:xfrm>
            <a:prstGeom prst="straightConnector1">
              <a:avLst/>
            </a:prstGeom>
            <a:ln w="57150">
              <a:headEnd type="triangle"/>
              <a:tailEnd type="triangle"/>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AA1C2527-EDCB-64AB-0FD8-759C9F1A7D80}"/>
                </a:ext>
              </a:extLst>
            </p:cNvPr>
            <p:cNvSpPr txBox="1"/>
            <p:nvPr/>
          </p:nvSpPr>
          <p:spPr>
            <a:xfrm>
              <a:off x="3487036" y="260918"/>
              <a:ext cx="1748666" cy="461665"/>
            </a:xfrm>
            <a:prstGeom prst="rect">
              <a:avLst/>
            </a:prstGeom>
            <a:solidFill>
              <a:schemeClr val="bg1"/>
            </a:solidFill>
          </p:spPr>
          <p:txBody>
            <a:bodyPr wrap="square" lIns="27432" rIns="27432" rtlCol="0">
              <a:spAutoFit/>
            </a:bodyPr>
            <a:lstStyle/>
            <a:p>
              <a:pPr algn="ctr"/>
              <a:r>
                <a:rPr lang="en-US" sz="2400"/>
                <a:t>capacity (8)</a:t>
              </a:r>
            </a:p>
          </p:txBody>
        </p:sp>
      </p:grpSp>
    </p:spTree>
    <p:extLst>
      <p:ext uri="{BB962C8B-B14F-4D97-AF65-F5344CB8AC3E}">
        <p14:creationId xmlns:p14="http://schemas.microsoft.com/office/powerpoint/2010/main" val="958049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DF206-70C5-E96B-567C-59770D5A7A1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D92672A-CDDC-9DC4-55C0-57D4F6D05DAB}"/>
              </a:ext>
            </a:extLst>
          </p:cNvPr>
          <p:cNvSpPr txBox="1"/>
          <p:nvPr/>
        </p:nvSpPr>
        <p:spPr>
          <a:xfrm>
            <a:off x="2845965" y="2150703"/>
            <a:ext cx="3030808" cy="1862048"/>
          </a:xfrm>
          <a:prstGeom prst="rect">
            <a:avLst/>
          </a:prstGeom>
          <a:noFill/>
        </p:spPr>
        <p:txBody>
          <a:bodyPr wrap="square">
            <a:spAutoFit/>
          </a:bodyPr>
          <a:lstStyle/>
          <a:p>
            <a:pPr algn="ctr"/>
            <a:r>
              <a:rPr lang="en-US" sz="11500">
                <a:solidFill>
                  <a:srgbClr val="000000"/>
                </a:solidFill>
                <a:latin typeface="Arial"/>
                <a:ea typeface="Segoe UI Emoji" panose="020B0502040204020203" pitchFamily="34" charset="0"/>
                <a:cs typeface="+mj-cs"/>
              </a:rPr>
              <a:t>👩‍🌾</a:t>
            </a:r>
            <a:endParaRPr lang="en-US" sz="8800"/>
          </a:p>
        </p:txBody>
      </p:sp>
      <p:sp>
        <p:nvSpPr>
          <p:cNvPr id="6" name="Rectangle 5">
            <a:extLst>
              <a:ext uri="{FF2B5EF4-FFF2-40B4-BE49-F238E27FC236}">
                <a16:creationId xmlns:a16="http://schemas.microsoft.com/office/drawing/2014/main" id="{D0E1E192-B8F8-12B3-ED0A-6766338DCF35}"/>
              </a:ext>
            </a:extLst>
          </p:cNvPr>
          <p:cNvSpPr/>
          <p:nvPr/>
        </p:nvSpPr>
        <p:spPr>
          <a:xfrm>
            <a:off x="1844997" y="3820247"/>
            <a:ext cx="5224130" cy="131134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A2B11E0-495A-FFCA-BEEC-020126229BBC}"/>
              </a:ext>
            </a:extLst>
          </p:cNvPr>
          <p:cNvSpPr txBox="1"/>
          <p:nvPr/>
        </p:nvSpPr>
        <p:spPr>
          <a:xfrm>
            <a:off x="2226356" y="155751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0" name="TextBox 9">
            <a:extLst>
              <a:ext uri="{FF2B5EF4-FFF2-40B4-BE49-F238E27FC236}">
                <a16:creationId xmlns:a16="http://schemas.microsoft.com/office/drawing/2014/main" id="{590A6264-BB96-AF36-C787-24C6191F6BB6}"/>
              </a:ext>
            </a:extLst>
          </p:cNvPr>
          <p:cNvSpPr txBox="1"/>
          <p:nvPr/>
        </p:nvSpPr>
        <p:spPr>
          <a:xfrm>
            <a:off x="3018741" y="155751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6" name="TextBox 15">
            <a:extLst>
              <a:ext uri="{FF2B5EF4-FFF2-40B4-BE49-F238E27FC236}">
                <a16:creationId xmlns:a16="http://schemas.microsoft.com/office/drawing/2014/main" id="{220B74D0-0A45-58F1-68FC-C46386B80452}"/>
              </a:ext>
            </a:extLst>
          </p:cNvPr>
          <p:cNvSpPr txBox="1"/>
          <p:nvPr/>
        </p:nvSpPr>
        <p:spPr>
          <a:xfrm>
            <a:off x="3796829" y="1548691"/>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grpSp>
        <p:nvGrpSpPr>
          <p:cNvPr id="35" name="Group 34">
            <a:extLst>
              <a:ext uri="{FF2B5EF4-FFF2-40B4-BE49-F238E27FC236}">
                <a16:creationId xmlns:a16="http://schemas.microsoft.com/office/drawing/2014/main" id="{3D6CA1BD-1B0B-8406-8F77-0453F429EA74}"/>
              </a:ext>
            </a:extLst>
          </p:cNvPr>
          <p:cNvGrpSpPr/>
          <p:nvPr/>
        </p:nvGrpSpPr>
        <p:grpSpPr>
          <a:xfrm>
            <a:off x="1303110" y="1353818"/>
            <a:ext cx="6393846" cy="915812"/>
            <a:chOff x="1303110" y="1353818"/>
            <a:chExt cx="6393846" cy="915812"/>
          </a:xfrm>
        </p:grpSpPr>
        <p:grpSp>
          <p:nvGrpSpPr>
            <p:cNvPr id="18" name="Group 17">
              <a:extLst>
                <a:ext uri="{FF2B5EF4-FFF2-40B4-BE49-F238E27FC236}">
                  <a16:creationId xmlns:a16="http://schemas.microsoft.com/office/drawing/2014/main" id="{6173D8F9-6E99-0F6E-F967-7E6DD219F242}"/>
                </a:ext>
              </a:extLst>
            </p:cNvPr>
            <p:cNvGrpSpPr/>
            <p:nvPr/>
          </p:nvGrpSpPr>
          <p:grpSpPr>
            <a:xfrm>
              <a:off x="1303110" y="1356663"/>
              <a:ext cx="3268890" cy="912967"/>
              <a:chOff x="582919" y="134337"/>
              <a:chExt cx="6886117" cy="1923225"/>
            </a:xfrm>
          </p:grpSpPr>
          <p:sp>
            <p:nvSpPr>
              <p:cNvPr id="19" name="Rectangle 18">
                <a:extLst>
                  <a:ext uri="{FF2B5EF4-FFF2-40B4-BE49-F238E27FC236}">
                    <a16:creationId xmlns:a16="http://schemas.microsoft.com/office/drawing/2014/main" id="{BC6BB24A-347D-1048-053B-EB11EA99F183}"/>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0" name="Rectangle 19">
                <a:extLst>
                  <a:ext uri="{FF2B5EF4-FFF2-40B4-BE49-F238E27FC236}">
                    <a16:creationId xmlns:a16="http://schemas.microsoft.com/office/drawing/2014/main" id="{FB780EF5-1DE0-545F-FE51-FDC9FA3A6B91}"/>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1" name="Rectangle 20">
                <a:extLst>
                  <a:ext uri="{FF2B5EF4-FFF2-40B4-BE49-F238E27FC236}">
                    <a16:creationId xmlns:a16="http://schemas.microsoft.com/office/drawing/2014/main" id="{899E644A-8476-3056-AFD9-B508EB46BEBD}"/>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3" name="Rectangle 22">
                <a:extLst>
                  <a:ext uri="{FF2B5EF4-FFF2-40B4-BE49-F238E27FC236}">
                    <a16:creationId xmlns:a16="http://schemas.microsoft.com/office/drawing/2014/main" id="{BAED2CE3-5E2E-5683-CDBA-32006AFBED50}"/>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4" name="Rectangle 23">
                <a:extLst>
                  <a:ext uri="{FF2B5EF4-FFF2-40B4-BE49-F238E27FC236}">
                    <a16:creationId xmlns:a16="http://schemas.microsoft.com/office/drawing/2014/main" id="{F36071F1-05F5-912C-247D-33541C4D3C5D}"/>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5" name="Rectangle 24">
                <a:extLst>
                  <a:ext uri="{FF2B5EF4-FFF2-40B4-BE49-F238E27FC236}">
                    <a16:creationId xmlns:a16="http://schemas.microsoft.com/office/drawing/2014/main" id="{E38B70CB-7D93-ACA5-79CC-A68F57537A41}"/>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grpSp>
          <p:nvGrpSpPr>
            <p:cNvPr id="27" name="Group 26">
              <a:extLst>
                <a:ext uri="{FF2B5EF4-FFF2-40B4-BE49-F238E27FC236}">
                  <a16:creationId xmlns:a16="http://schemas.microsoft.com/office/drawing/2014/main" id="{E7F3C2B8-7C8A-3710-32D7-9D744921F0BA}"/>
                </a:ext>
              </a:extLst>
            </p:cNvPr>
            <p:cNvGrpSpPr/>
            <p:nvPr/>
          </p:nvGrpSpPr>
          <p:grpSpPr>
            <a:xfrm rot="10800000">
              <a:off x="4428066" y="1353818"/>
              <a:ext cx="3268890" cy="912967"/>
              <a:chOff x="582919" y="134337"/>
              <a:chExt cx="6886117" cy="1923225"/>
            </a:xfrm>
          </p:grpSpPr>
          <p:sp>
            <p:nvSpPr>
              <p:cNvPr id="28" name="Rectangle 27">
                <a:extLst>
                  <a:ext uri="{FF2B5EF4-FFF2-40B4-BE49-F238E27FC236}">
                    <a16:creationId xmlns:a16="http://schemas.microsoft.com/office/drawing/2014/main" id="{8E8E0D48-FCC3-B3F7-1EEC-F1DE75CBFE3C}"/>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9" name="Rectangle 28">
                <a:extLst>
                  <a:ext uri="{FF2B5EF4-FFF2-40B4-BE49-F238E27FC236}">
                    <a16:creationId xmlns:a16="http://schemas.microsoft.com/office/drawing/2014/main" id="{B24EBC57-CB51-2700-4F08-1AB0C28E1975}"/>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0" name="Rectangle 29">
                <a:extLst>
                  <a:ext uri="{FF2B5EF4-FFF2-40B4-BE49-F238E27FC236}">
                    <a16:creationId xmlns:a16="http://schemas.microsoft.com/office/drawing/2014/main" id="{8A55A019-C7D1-0574-C660-ADB355B66FF5}"/>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1" name="Rectangle 30">
                <a:extLst>
                  <a:ext uri="{FF2B5EF4-FFF2-40B4-BE49-F238E27FC236}">
                    <a16:creationId xmlns:a16="http://schemas.microsoft.com/office/drawing/2014/main" id="{7DA2F1EF-B60B-EFFD-0865-ED6376574FB4}"/>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2" name="Rectangle 31">
                <a:extLst>
                  <a:ext uri="{FF2B5EF4-FFF2-40B4-BE49-F238E27FC236}">
                    <a16:creationId xmlns:a16="http://schemas.microsoft.com/office/drawing/2014/main" id="{544AF84F-AE99-9E13-2834-41985C2AA635}"/>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3" name="Rectangle 32">
                <a:extLst>
                  <a:ext uri="{FF2B5EF4-FFF2-40B4-BE49-F238E27FC236}">
                    <a16:creationId xmlns:a16="http://schemas.microsoft.com/office/drawing/2014/main" id="{117C9CF2-EE34-3205-2B88-EF1581EAA4C8}"/>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34" name="Rectangle 33">
              <a:extLst>
                <a:ext uri="{FF2B5EF4-FFF2-40B4-BE49-F238E27FC236}">
                  <a16:creationId xmlns:a16="http://schemas.microsoft.com/office/drawing/2014/main" id="{C474E45B-B980-14F0-4ED5-702232A5EE08}"/>
                </a:ext>
              </a:extLst>
            </p:cNvPr>
            <p:cNvSpPr/>
            <p:nvPr/>
          </p:nvSpPr>
          <p:spPr>
            <a:xfrm rot="5400000">
              <a:off x="4032228" y="1777814"/>
              <a:ext cx="912966" cy="64974"/>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26" name="TextBox 25">
            <a:extLst>
              <a:ext uri="{FF2B5EF4-FFF2-40B4-BE49-F238E27FC236}">
                <a16:creationId xmlns:a16="http://schemas.microsoft.com/office/drawing/2014/main" id="{020821D3-1113-1D4C-2D1D-C62558AFBC53}"/>
              </a:ext>
            </a:extLst>
          </p:cNvPr>
          <p:cNvSpPr txBox="1"/>
          <p:nvPr/>
        </p:nvSpPr>
        <p:spPr>
          <a:xfrm>
            <a:off x="1475101" y="1557520"/>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2" name="TextBox 1">
            <a:extLst>
              <a:ext uri="{FF2B5EF4-FFF2-40B4-BE49-F238E27FC236}">
                <a16:creationId xmlns:a16="http://schemas.microsoft.com/office/drawing/2014/main" id="{9F045279-EB66-B6C3-AB98-1BBD5972FED8}"/>
              </a:ext>
            </a:extLst>
          </p:cNvPr>
          <p:cNvSpPr txBox="1"/>
          <p:nvPr/>
        </p:nvSpPr>
        <p:spPr>
          <a:xfrm>
            <a:off x="4610281" y="1548691"/>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sz="2000"/>
          </a:p>
        </p:txBody>
      </p:sp>
      <p:grpSp>
        <p:nvGrpSpPr>
          <p:cNvPr id="37" name="Group 36">
            <a:extLst>
              <a:ext uri="{FF2B5EF4-FFF2-40B4-BE49-F238E27FC236}">
                <a16:creationId xmlns:a16="http://schemas.microsoft.com/office/drawing/2014/main" id="{3B52D125-49D3-6FC5-3F14-7A956EEE4E8E}"/>
              </a:ext>
            </a:extLst>
          </p:cNvPr>
          <p:cNvGrpSpPr/>
          <p:nvPr/>
        </p:nvGrpSpPr>
        <p:grpSpPr>
          <a:xfrm>
            <a:off x="1303110" y="782583"/>
            <a:ext cx="3965558" cy="461665"/>
            <a:chOff x="1303110" y="782583"/>
            <a:chExt cx="3965558" cy="461665"/>
          </a:xfrm>
        </p:grpSpPr>
        <p:cxnSp>
          <p:nvCxnSpPr>
            <p:cNvPr id="9" name="Straight Arrow Connector 8">
              <a:extLst>
                <a:ext uri="{FF2B5EF4-FFF2-40B4-BE49-F238E27FC236}">
                  <a16:creationId xmlns:a16="http://schemas.microsoft.com/office/drawing/2014/main" id="{EFA2E6CE-E6DA-11A2-63F2-8D60F21898BF}"/>
                </a:ext>
              </a:extLst>
            </p:cNvPr>
            <p:cNvCxnSpPr>
              <a:cxnSpLocks/>
            </p:cNvCxnSpPr>
            <p:nvPr/>
          </p:nvCxnSpPr>
          <p:spPr>
            <a:xfrm>
              <a:off x="1303110" y="1029606"/>
              <a:ext cx="3965558" cy="0"/>
            </a:xfrm>
            <a:prstGeom prst="straightConnector1">
              <a:avLst/>
            </a:prstGeom>
            <a:ln w="57150">
              <a:headEnd type="triangle"/>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643345EC-78A5-78FC-B505-1CF587F9BE0F}"/>
                </a:ext>
              </a:extLst>
            </p:cNvPr>
            <p:cNvSpPr txBox="1"/>
            <p:nvPr/>
          </p:nvSpPr>
          <p:spPr>
            <a:xfrm>
              <a:off x="2492829" y="782583"/>
              <a:ext cx="1616364" cy="461665"/>
            </a:xfrm>
            <a:prstGeom prst="rect">
              <a:avLst/>
            </a:prstGeom>
            <a:solidFill>
              <a:schemeClr val="bg1"/>
            </a:solidFill>
          </p:spPr>
          <p:txBody>
            <a:bodyPr wrap="square" lIns="27432" rIns="27432" rtlCol="0">
              <a:spAutoFit/>
            </a:bodyPr>
            <a:lstStyle/>
            <a:p>
              <a:pPr algn="ctr"/>
              <a:r>
                <a:rPr lang="en-US" sz="2400">
                  <a:latin typeface="+mj-lt"/>
                </a:rPr>
                <a:t>size()</a:t>
              </a:r>
              <a:r>
                <a:rPr lang="en-US" sz="2400"/>
                <a:t> (5)</a:t>
              </a:r>
            </a:p>
          </p:txBody>
        </p:sp>
      </p:grpSp>
      <p:grpSp>
        <p:nvGrpSpPr>
          <p:cNvPr id="38" name="Group 37">
            <a:extLst>
              <a:ext uri="{FF2B5EF4-FFF2-40B4-BE49-F238E27FC236}">
                <a16:creationId xmlns:a16="http://schemas.microsoft.com/office/drawing/2014/main" id="{A6FC01E5-9D7A-8ADC-D2B2-68B10967679C}"/>
              </a:ext>
            </a:extLst>
          </p:cNvPr>
          <p:cNvGrpSpPr/>
          <p:nvPr/>
        </p:nvGrpSpPr>
        <p:grpSpPr>
          <a:xfrm>
            <a:off x="1292071" y="260918"/>
            <a:ext cx="6400974" cy="461665"/>
            <a:chOff x="1292071" y="260918"/>
            <a:chExt cx="6400974" cy="461665"/>
          </a:xfrm>
        </p:grpSpPr>
        <p:cxnSp>
          <p:nvCxnSpPr>
            <p:cNvPr id="17" name="Straight Arrow Connector 16">
              <a:extLst>
                <a:ext uri="{FF2B5EF4-FFF2-40B4-BE49-F238E27FC236}">
                  <a16:creationId xmlns:a16="http://schemas.microsoft.com/office/drawing/2014/main" id="{A596F845-B680-28E0-65A1-F082A6AC2606}"/>
                </a:ext>
              </a:extLst>
            </p:cNvPr>
            <p:cNvCxnSpPr>
              <a:cxnSpLocks/>
            </p:cNvCxnSpPr>
            <p:nvPr/>
          </p:nvCxnSpPr>
          <p:spPr>
            <a:xfrm>
              <a:off x="1292071" y="507941"/>
              <a:ext cx="6400974" cy="0"/>
            </a:xfrm>
            <a:prstGeom prst="straightConnector1">
              <a:avLst/>
            </a:prstGeom>
            <a:ln w="57150">
              <a:headEnd type="triangle"/>
              <a:tailEnd type="triangle"/>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9783BB5B-DE12-C27E-1B38-FFC7A838044F}"/>
                </a:ext>
              </a:extLst>
            </p:cNvPr>
            <p:cNvSpPr txBox="1"/>
            <p:nvPr/>
          </p:nvSpPr>
          <p:spPr>
            <a:xfrm>
              <a:off x="3487036" y="260918"/>
              <a:ext cx="1748666" cy="461665"/>
            </a:xfrm>
            <a:prstGeom prst="rect">
              <a:avLst/>
            </a:prstGeom>
            <a:solidFill>
              <a:schemeClr val="bg1"/>
            </a:solidFill>
          </p:spPr>
          <p:txBody>
            <a:bodyPr wrap="square" lIns="27432" rIns="27432" rtlCol="0">
              <a:spAutoFit/>
            </a:bodyPr>
            <a:lstStyle/>
            <a:p>
              <a:pPr algn="ctr"/>
              <a:r>
                <a:rPr lang="en-US" sz="2400"/>
                <a:t>capacity (8)</a:t>
              </a:r>
            </a:p>
          </p:txBody>
        </p:sp>
      </p:grpSp>
    </p:spTree>
    <p:extLst>
      <p:ext uri="{BB962C8B-B14F-4D97-AF65-F5344CB8AC3E}">
        <p14:creationId xmlns:p14="http://schemas.microsoft.com/office/powerpoint/2010/main" val="3794397162"/>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CB641-2889-BAD2-C866-DA643BACD2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5DCB2D-E241-D276-48F0-A99EEB36F540}"/>
              </a:ext>
            </a:extLst>
          </p:cNvPr>
          <p:cNvSpPr>
            <a:spLocks noGrp="1"/>
          </p:cNvSpPr>
          <p:nvPr>
            <p:ph type="title"/>
          </p:nvPr>
        </p:nvSpPr>
        <p:spPr>
          <a:xfrm>
            <a:off x="457200" y="254916"/>
            <a:ext cx="8229600" cy="667168"/>
          </a:xfrm>
        </p:spPr>
        <p:txBody>
          <a:bodyPr>
            <a:normAutofit/>
          </a:bodyPr>
          <a:lstStyle/>
          <a:p>
            <a:pPr lvl="0"/>
            <a:r>
              <a:rPr lang="en-US"/>
              <a:t>the internal array</a:t>
            </a:r>
          </a:p>
        </p:txBody>
      </p:sp>
      <p:sp>
        <p:nvSpPr>
          <p:cNvPr id="3" name="Content Placeholder 2">
            <a:extLst>
              <a:ext uri="{FF2B5EF4-FFF2-40B4-BE49-F238E27FC236}">
                <a16:creationId xmlns:a16="http://schemas.microsoft.com/office/drawing/2014/main" id="{337DB337-3B21-1C58-6AAB-B37BD9743646}"/>
              </a:ext>
            </a:extLst>
          </p:cNvPr>
          <p:cNvSpPr>
            <a:spLocks noGrp="1"/>
          </p:cNvSpPr>
          <p:nvPr>
            <p:ph sz="quarter" idx="10"/>
          </p:nvPr>
        </p:nvSpPr>
        <p:spPr>
          <a:xfrm>
            <a:off x="457200" y="963338"/>
            <a:ext cx="8229600" cy="4080271"/>
          </a:xfrm>
        </p:spPr>
        <p:txBody>
          <a:bodyPr>
            <a:noAutofit/>
          </a:bodyPr>
          <a:lstStyle/>
          <a:p>
            <a:r>
              <a:rPr lang="en-US"/>
              <a:t>an array list's </a:t>
            </a:r>
            <a:r>
              <a:rPr lang="en-US" b="1"/>
              <a:t>length</a:t>
            </a:r>
            <a:r>
              <a:rPr lang="en-US"/>
              <a:t> (</a:t>
            </a:r>
            <a:r>
              <a:rPr lang="en-US" b="1"/>
              <a:t>size</a:t>
            </a:r>
            <a:r>
              <a:rPr lang="en-US"/>
              <a:t>) is the number of elements stored in the list</a:t>
            </a:r>
          </a:p>
          <a:p>
            <a:r>
              <a:rPr lang="en-US"/>
              <a:t>an array list stores its elements inside of an internal </a:t>
            </a:r>
            <a:r>
              <a:rPr lang="en-US" b="1"/>
              <a:t>array</a:t>
            </a:r>
          </a:p>
          <a:p>
            <a:pPr lvl="1"/>
            <a:r>
              <a:rPr lang="en-US"/>
              <a:t>an array list's </a:t>
            </a:r>
            <a:r>
              <a:rPr lang="en-US" b="1"/>
              <a:t>capacity</a:t>
            </a:r>
            <a:r>
              <a:rPr lang="en-US"/>
              <a:t> is the length of that internal array</a:t>
            </a:r>
          </a:p>
          <a:p>
            <a:pPr lvl="1"/>
            <a:r>
              <a:rPr lang="en-US" b="1"/>
              <a:t>✅ </a:t>
            </a:r>
            <a:r>
              <a:rPr lang="en-US" b="1">
                <a:solidFill>
                  <a:srgbClr val="00D26A"/>
                </a:solidFill>
              </a:rPr>
              <a:t>length &lt;= capacity</a:t>
            </a:r>
          </a:p>
        </p:txBody>
      </p:sp>
      <p:sp>
        <p:nvSpPr>
          <p:cNvPr id="4" name="TextBox 3">
            <a:extLst>
              <a:ext uri="{FF2B5EF4-FFF2-40B4-BE49-F238E27FC236}">
                <a16:creationId xmlns:a16="http://schemas.microsoft.com/office/drawing/2014/main" id="{53BCF025-7824-CD42-62F4-94C5C1E969A7}"/>
              </a:ext>
            </a:extLst>
          </p:cNvPr>
          <p:cNvSpPr txBox="1"/>
          <p:nvPr/>
        </p:nvSpPr>
        <p:spPr>
          <a:xfrm>
            <a:off x="457200" y="2667520"/>
            <a:ext cx="8229600" cy="2031325"/>
          </a:xfrm>
          <a:prstGeom prst="rect">
            <a:avLst/>
          </a:prstGeom>
          <a:solidFill>
            <a:schemeClr val="bg1"/>
          </a:solid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00FF"/>
                </a:solidFill>
                <a:latin typeface="+mj-lt"/>
                <a:cs typeface="Consolas" panose="020B0609020204030204" pitchFamily="49" charset="0"/>
              </a:rPr>
              <a:t>class</a:t>
            </a:r>
            <a:r>
              <a:rPr lang="en-US">
                <a:latin typeface="+mj-lt"/>
                <a:cs typeface="Consolas" panose="020B0609020204030204" pitchFamily="49" charset="0"/>
              </a:rPr>
              <a:t> </a:t>
            </a:r>
            <a:r>
              <a:rPr lang="en-US" err="1">
                <a:solidFill>
                  <a:srgbClr val="000080"/>
                </a:solidFill>
                <a:latin typeface="+mj-lt"/>
                <a:cs typeface="Consolas" panose="020B0609020204030204" pitchFamily="49" charset="0"/>
              </a:rPr>
              <a:t>ArrayList</a:t>
            </a:r>
            <a:r>
              <a:rPr lang="en-US">
                <a:latin typeface="+mj-lt"/>
                <a:cs typeface="Consolas" panose="020B0609020204030204" pitchFamily="49" charset="0"/>
              </a:rPr>
              <a:t>&lt;</a:t>
            </a:r>
            <a:r>
              <a:rPr lang="en-US" err="1">
                <a:solidFill>
                  <a:srgbClr val="000080"/>
                </a:solidFill>
                <a:latin typeface="+mj-lt"/>
                <a:cs typeface="Consolas" panose="020B0609020204030204" pitchFamily="49" charset="0"/>
              </a:rPr>
              <a:t>ElementType</a:t>
            </a:r>
            <a:r>
              <a:rPr lang="en-US">
                <a:latin typeface="+mj-lt"/>
                <a:cs typeface="Consolas" panose="020B0609020204030204" pitchFamily="49" charset="0"/>
              </a:rPr>
              <a:t>&gt; { </a:t>
            </a:r>
          </a:p>
          <a:p>
            <a:pPr lvl="0" defTabSz="342886">
              <a:spcBef>
                <a:spcPct val="20000"/>
              </a:spcBef>
              <a:buClr>
                <a:srgbClr val="FFFFFF">
                  <a:lumMod val="65000"/>
                </a:srgbClr>
              </a:buClr>
            </a:pPr>
            <a:r>
              <a:rPr lang="en-US">
                <a:solidFill>
                  <a:srgbClr val="0000FF"/>
                </a:solidFill>
                <a:latin typeface="Consolas"/>
              </a:rPr>
              <a:t>    private </a:t>
            </a:r>
            <a:r>
              <a:rPr lang="en-US">
                <a:solidFill>
                  <a:srgbClr val="000080"/>
                </a:solidFill>
                <a:latin typeface="Consolas"/>
              </a:rPr>
              <a:t>int</a:t>
            </a:r>
            <a:r>
              <a:rPr lang="en-US">
                <a:solidFill>
                  <a:srgbClr val="000000"/>
                </a:solidFill>
                <a:latin typeface="Consolas"/>
              </a:rPr>
              <a:t> </a:t>
            </a:r>
            <a:r>
              <a:rPr lang="en-US" err="1">
                <a:solidFill>
                  <a:srgbClr val="000000"/>
                </a:solidFill>
                <a:latin typeface="Consolas"/>
              </a:rPr>
              <a:t>length</a:t>
            </a:r>
            <a:r>
              <a:rPr lang="en-US">
                <a:solidFill>
                  <a:srgbClr val="000000"/>
                </a:solidFill>
                <a:latin typeface="Consolas"/>
              </a:rPr>
              <a:t>; </a:t>
            </a:r>
            <a:r>
              <a:rPr lang="en-US">
                <a:solidFill>
                  <a:srgbClr val="007B00"/>
                </a:solidFill>
                <a:latin typeface="Consolas"/>
              </a:rPr>
              <a:t>//</a:t>
            </a:r>
            <a:r>
              <a:rPr lang="en-US" b="1">
                <a:solidFill>
                  <a:srgbClr val="007B00"/>
                </a:solidFill>
                <a:latin typeface="Consolas"/>
              </a:rPr>
              <a:t> NOTE: </a:t>
            </a:r>
            <a:r>
              <a:rPr lang="en-US">
                <a:solidFill>
                  <a:srgbClr val="007B00"/>
                </a:solidFill>
                <a:latin typeface="Consolas"/>
              </a:rPr>
              <a:t>call</a:t>
            </a:r>
            <a:r>
              <a:rPr lang="en-US" b="1">
                <a:solidFill>
                  <a:srgbClr val="007B00"/>
                </a:solidFill>
                <a:latin typeface="Consolas"/>
              </a:rPr>
              <a:t> </a:t>
            </a:r>
            <a:r>
              <a:rPr lang="en-US">
                <a:solidFill>
                  <a:srgbClr val="007B00"/>
                </a:solidFill>
                <a:latin typeface="Consolas"/>
              </a:rPr>
              <a:t>size() to get this </a:t>
            </a:r>
            <a:r>
              <a:rPr lang="en-US">
                <a:solidFill>
                  <a:srgbClr val="000000"/>
                </a:solidFill>
                <a:latin typeface="Consolas"/>
              </a:rPr>
              <a:t> </a:t>
            </a:r>
            <a:endParaRPr lang="en-US">
              <a:solidFill>
                <a:srgbClr val="0000FF"/>
              </a:solidFill>
              <a:latin typeface="+mj-lt"/>
              <a:cs typeface="Consolas" panose="020B0609020204030204" pitchFamily="49" charset="0"/>
            </a:endParaRPr>
          </a:p>
          <a:p>
            <a:pPr defTabSz="342886">
              <a:spcBef>
                <a:spcPct val="20000"/>
              </a:spcBef>
              <a:buClr>
                <a:srgbClr val="FFFFFF">
                  <a:lumMod val="65000"/>
                </a:srgbClr>
              </a:buClr>
            </a:pPr>
            <a:r>
              <a:rPr lang="en-US">
                <a:solidFill>
                  <a:srgbClr val="0000FF"/>
                </a:solidFill>
                <a:latin typeface="+mj-lt"/>
                <a:cs typeface="Consolas" panose="020B0609020204030204" pitchFamily="49" charset="0"/>
              </a:rPr>
              <a:t>    </a:t>
            </a:r>
          </a:p>
          <a:p>
            <a:pPr defTabSz="342886">
              <a:spcBef>
                <a:spcPct val="20000"/>
              </a:spcBef>
              <a:buClr>
                <a:srgbClr val="FFFFFF">
                  <a:lumMod val="65000"/>
                </a:srgbClr>
              </a:buClr>
            </a:pPr>
            <a:r>
              <a:rPr lang="en-US">
                <a:solidFill>
                  <a:srgbClr val="0000FF"/>
                </a:solidFill>
                <a:latin typeface="+mj-lt"/>
                <a:cs typeface="Consolas" panose="020B0609020204030204" pitchFamily="49" charset="0"/>
              </a:rPr>
              <a:t>    private</a:t>
            </a:r>
            <a:r>
              <a:rPr lang="en-US">
                <a:latin typeface="+mj-lt"/>
                <a:cs typeface="Consolas" panose="020B0609020204030204" pitchFamily="49" charset="0"/>
              </a:rPr>
              <a:t> </a:t>
            </a:r>
            <a:r>
              <a:rPr lang="en-US" err="1">
                <a:solidFill>
                  <a:srgbClr val="000080"/>
                </a:solidFill>
                <a:latin typeface="+mj-lt"/>
                <a:cs typeface="Consolas" panose="020B0609020204030204" pitchFamily="49" charset="0"/>
              </a:rPr>
              <a:t>ElementType</a:t>
            </a:r>
            <a:r>
              <a:rPr lang="en-US">
                <a:latin typeface="+mj-lt"/>
                <a:cs typeface="Consolas" panose="020B0609020204030204" pitchFamily="49" charset="0"/>
              </a:rPr>
              <a:t>[] </a:t>
            </a:r>
            <a:r>
              <a:rPr lang="en-US" err="1">
                <a:latin typeface="+mj-lt"/>
                <a:cs typeface="Consolas" panose="020B0609020204030204" pitchFamily="49" charset="0"/>
              </a:rPr>
              <a:t>internalArray</a:t>
            </a:r>
            <a:r>
              <a:rPr lang="en-US">
                <a:solidFill>
                  <a:srgbClr val="000080"/>
                </a:solidFill>
                <a:latin typeface="+mj-lt"/>
                <a:cs typeface="Consolas" panose="020B0609020204030204" pitchFamily="49" charset="0"/>
              </a:rPr>
              <a:t>;</a:t>
            </a:r>
            <a:endParaRPr lang="en-US">
              <a:solidFill>
                <a:srgbClr val="007B00"/>
              </a:solidFill>
              <a:latin typeface="Consolas"/>
            </a:endParaRPr>
          </a:p>
          <a:p>
            <a:pPr defTabSz="342886">
              <a:spcBef>
                <a:spcPct val="20000"/>
              </a:spcBef>
              <a:buClr>
                <a:srgbClr val="FFFFFF">
                  <a:lumMod val="65000"/>
                </a:srgbClr>
              </a:buClr>
            </a:pPr>
            <a:r>
              <a:rPr lang="en-US">
                <a:solidFill>
                  <a:srgbClr val="007B00"/>
                </a:solidFill>
                <a:latin typeface="Consolas"/>
              </a:rPr>
              <a:t>    //</a:t>
            </a:r>
            <a:r>
              <a:rPr lang="en-US" b="1">
                <a:solidFill>
                  <a:srgbClr val="007B00"/>
                </a:solidFill>
                <a:latin typeface="Consolas"/>
              </a:rPr>
              <a:t> NOTE: </a:t>
            </a:r>
            <a:r>
              <a:rPr lang="en-US">
                <a:solidFill>
                  <a:srgbClr val="007B00"/>
                </a:solidFill>
                <a:latin typeface="Consolas"/>
              </a:rPr>
              <a:t>the list's capacity is </a:t>
            </a:r>
            <a:r>
              <a:rPr lang="en-US" err="1">
                <a:solidFill>
                  <a:srgbClr val="007B00"/>
                </a:solidFill>
                <a:latin typeface="Consolas"/>
              </a:rPr>
              <a:t>internalArray.length</a:t>
            </a:r>
            <a:endParaRPr lang="en-US">
              <a:solidFill>
                <a:srgbClr val="0000FF"/>
              </a:solidFill>
              <a:latin typeface="+mj-lt"/>
            </a:endParaRPr>
          </a:p>
          <a:p>
            <a:pPr lvl="0" defTabSz="342886">
              <a:spcBef>
                <a:spcPct val="20000"/>
              </a:spcBef>
              <a:buClr>
                <a:srgbClr val="FFFFFF">
                  <a:lumMod val="65000"/>
                </a:srgbClr>
              </a:buClr>
            </a:pPr>
            <a:r>
              <a:rPr lang="en-US">
                <a:latin typeface="+mj-lt"/>
                <a:ea typeface="Segoe UI Emoji" panose="020B0502040204020203" pitchFamily="34" charset="0"/>
                <a:cs typeface="Consolas" panose="020B0609020204030204" pitchFamily="49" charset="0"/>
              </a:rPr>
              <a:t>}</a:t>
            </a:r>
          </a:p>
        </p:txBody>
      </p:sp>
    </p:spTree>
    <p:extLst>
      <p:ext uri="{BB962C8B-B14F-4D97-AF65-F5344CB8AC3E}">
        <p14:creationId xmlns:p14="http://schemas.microsoft.com/office/powerpoint/2010/main" val="4226056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D60AE-5483-C98F-84DD-BB850CCF83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2DDB2F-3F0C-6165-B641-8479E482F20F}"/>
              </a:ext>
            </a:extLst>
          </p:cNvPr>
          <p:cNvSpPr>
            <a:spLocks noGrp="1"/>
          </p:cNvSpPr>
          <p:nvPr>
            <p:ph type="title"/>
          </p:nvPr>
        </p:nvSpPr>
        <p:spPr>
          <a:xfrm>
            <a:off x="457200" y="254916"/>
            <a:ext cx="8229600" cy="667168"/>
          </a:xfrm>
        </p:spPr>
        <p:txBody>
          <a:bodyPr>
            <a:noAutofit/>
          </a:bodyPr>
          <a:lstStyle/>
          <a:p>
            <a:pPr lvl="0"/>
            <a:r>
              <a:rPr lang="en-US" sz="2800" b="1">
                <a:solidFill>
                  <a:srgbClr val="00D26A"/>
                </a:solidFill>
              </a:rPr>
              <a:t>✅ length is not the same thing as capacity</a:t>
            </a:r>
          </a:p>
        </p:txBody>
      </p:sp>
      <p:sp>
        <p:nvSpPr>
          <p:cNvPr id="3" name="Content Placeholder 2">
            <a:extLst>
              <a:ext uri="{FF2B5EF4-FFF2-40B4-BE49-F238E27FC236}">
                <a16:creationId xmlns:a16="http://schemas.microsoft.com/office/drawing/2014/main" id="{CDDE3016-C7E7-3578-C0A0-742253DA6EDB}"/>
              </a:ext>
            </a:extLst>
          </p:cNvPr>
          <p:cNvSpPr>
            <a:spLocks noGrp="1"/>
          </p:cNvSpPr>
          <p:nvPr>
            <p:ph sz="quarter" idx="10"/>
          </p:nvPr>
        </p:nvSpPr>
        <p:spPr>
          <a:xfrm>
            <a:off x="457200" y="963338"/>
            <a:ext cx="8229600" cy="4080271"/>
          </a:xfrm>
        </p:spPr>
        <p:txBody>
          <a:bodyPr>
            <a:noAutofit/>
          </a:bodyPr>
          <a:lstStyle/>
          <a:p>
            <a:r>
              <a:rPr lang="en-US"/>
              <a:t>imagine </a:t>
            </a:r>
            <a:r>
              <a:rPr lang="en-US" err="1">
                <a:solidFill>
                  <a:srgbClr val="000080"/>
                </a:solidFill>
                <a:latin typeface="+mj-lt"/>
              </a:rPr>
              <a:t>ArrayList</a:t>
            </a:r>
            <a:r>
              <a:rPr lang="en-US">
                <a:latin typeface="+mj-lt"/>
              </a:rPr>
              <a:t>&lt;</a:t>
            </a:r>
            <a:r>
              <a:rPr lang="en-US">
                <a:solidFill>
                  <a:srgbClr val="000080"/>
                </a:solidFill>
                <a:latin typeface="+mj-lt"/>
              </a:rPr>
              <a:t>String</a:t>
            </a:r>
            <a:r>
              <a:rPr lang="en-US">
                <a:latin typeface="+mj-lt"/>
              </a:rPr>
              <a:t>&gt; </a:t>
            </a:r>
            <a:r>
              <a:rPr lang="en-US" err="1">
                <a:latin typeface="+mj-lt"/>
              </a:rPr>
              <a:t>bestaurants</a:t>
            </a:r>
            <a:r>
              <a:rPr lang="en-US">
                <a:latin typeface="+mj-lt"/>
              </a:rPr>
              <a:t>;</a:t>
            </a:r>
            <a:br>
              <a:rPr lang="en-US">
                <a:latin typeface="+mj-lt"/>
              </a:rPr>
            </a:br>
            <a:r>
              <a:rPr lang="en-US">
                <a:latin typeface="+mj-lt"/>
              </a:rPr>
              <a:t>with </a:t>
            </a:r>
            <a:r>
              <a:rPr lang="en-US"/>
              <a:t>length (size) 3 and capacity 5</a:t>
            </a:r>
            <a:br>
              <a:rPr lang="en-US"/>
            </a:br>
            <a:endParaRPr lang="en-US"/>
          </a:p>
          <a:p>
            <a:r>
              <a:rPr lang="en-US">
                <a:cs typeface="Consolas" panose="020B0609020204030204" pitchFamily="49" charset="0"/>
              </a:rPr>
              <a:t>if we could </a:t>
            </a:r>
            <a:r>
              <a:rPr lang="en-US">
                <a:latin typeface="Consolas" panose="020B0609020204030204" pitchFamily="49" charset="0"/>
                <a:cs typeface="Consolas" panose="020B0609020204030204" pitchFamily="49" charset="0"/>
              </a:rPr>
              <a:t>PRINT(</a:t>
            </a:r>
            <a:r>
              <a:rPr lang="en-US" err="1">
                <a:latin typeface="Consolas" panose="020B0609020204030204" pitchFamily="49" charset="0"/>
                <a:cs typeface="Consolas" panose="020B0609020204030204" pitchFamily="49" charset="0"/>
              </a:rPr>
              <a:t>bestaurants.internalArray)</a:t>
            </a:r>
            <a:r>
              <a:rPr lang="en-US" err="1">
                <a:cs typeface="Consolas" panose="020B0609020204030204" pitchFamily="49" charset="0"/>
              </a:rPr>
              <a:t>...</a:t>
            </a:r>
            <a:br>
              <a:rPr lang="en-US">
                <a:latin typeface="Consolas" panose="020B0609020204030204" pitchFamily="49" charset="0"/>
                <a:cs typeface="Consolas" panose="020B0609020204030204" pitchFamily="49" charset="0"/>
              </a:rPr>
            </a:br>
            <a:r>
              <a:rPr lang="en-US" b="1">
                <a:solidFill>
                  <a:schemeClr val="accent6"/>
                </a:solidFill>
                <a:latin typeface="Consolas" panose="020B0609020204030204" pitchFamily="49" charset="0"/>
                <a:cs typeface="Consolas" panose="020B0609020204030204" pitchFamily="49" charset="0"/>
              </a:rPr>
              <a:t>["</a:t>
            </a:r>
            <a:r>
              <a:rPr lang="en-US" b="1" err="1">
                <a:solidFill>
                  <a:schemeClr val="accent6"/>
                </a:solidFill>
                <a:latin typeface="Consolas" panose="020B0609020204030204" pitchFamily="49" charset="0"/>
                <a:cs typeface="Consolas" panose="020B0609020204030204" pitchFamily="49" charset="0"/>
              </a:rPr>
              <a:t>Blango</a:t>
            </a:r>
            <a:r>
              <a:rPr lang="en-US" b="1">
                <a:solidFill>
                  <a:schemeClr val="accent6"/>
                </a:solidFill>
                <a:latin typeface="Consolas" panose="020B0609020204030204" pitchFamily="49" charset="0"/>
                <a:cs typeface="Consolas" panose="020B0609020204030204" pitchFamily="49" charset="0"/>
              </a:rPr>
              <a:t>", "</a:t>
            </a:r>
            <a:r>
              <a:rPr lang="en-US" b="1" err="1">
                <a:solidFill>
                  <a:schemeClr val="accent6"/>
                </a:solidFill>
                <a:latin typeface="Consolas" panose="020B0609020204030204" pitchFamily="49" charset="0"/>
                <a:cs typeface="Consolas" panose="020B0609020204030204" pitchFamily="49" charset="0"/>
              </a:rPr>
              <a:t>Sproot</a:t>
            </a:r>
            <a:r>
              <a:rPr lang="en-US" b="1">
                <a:solidFill>
                  <a:schemeClr val="accent6"/>
                </a:solidFill>
                <a:latin typeface="Consolas" panose="020B0609020204030204" pitchFamily="49" charset="0"/>
                <a:cs typeface="Consolas" panose="020B0609020204030204" pitchFamily="49" charset="0"/>
              </a:rPr>
              <a:t>", "</a:t>
            </a:r>
            <a:r>
              <a:rPr lang="en-US" b="1" err="1">
                <a:solidFill>
                  <a:schemeClr val="accent6"/>
                </a:solidFill>
                <a:latin typeface="Consolas" panose="020B0609020204030204" pitchFamily="49" charset="0"/>
                <a:cs typeface="Consolas" panose="020B0609020204030204" pitchFamily="49" charset="0"/>
              </a:rPr>
              <a:t>Sparket</a:t>
            </a:r>
            <a:r>
              <a:rPr lang="en-US" b="1">
                <a:solidFill>
                  <a:schemeClr val="accent6"/>
                </a:solidFill>
                <a:latin typeface="Consolas" panose="020B0609020204030204" pitchFamily="49" charset="0"/>
                <a:cs typeface="Consolas" panose="020B0609020204030204" pitchFamily="49" charset="0"/>
              </a:rPr>
              <a:t>", null, null]</a:t>
            </a:r>
            <a:br>
              <a:rPr lang="en-US" b="1">
                <a:solidFill>
                  <a:schemeClr val="accent6"/>
                </a:solidFill>
              </a:rPr>
            </a:br>
            <a:r>
              <a:rPr lang="en-US"/>
              <a:t>...we would see </a:t>
            </a:r>
            <a:r>
              <a:rPr lang="en-US">
                <a:latin typeface="+mj-lt"/>
              </a:rPr>
              <a:t>5 – 3 = 2</a:t>
            </a:r>
            <a:r>
              <a:rPr lang="en-US"/>
              <a:t> "empty slots"</a:t>
            </a:r>
          </a:p>
        </p:txBody>
      </p:sp>
      <p:pic>
        <p:nvPicPr>
          <p:cNvPr id="4" name="Picture 3">
            <a:extLst>
              <a:ext uri="{FF2B5EF4-FFF2-40B4-BE49-F238E27FC236}">
                <a16:creationId xmlns:a16="http://schemas.microsoft.com/office/drawing/2014/main" id="{913FCD10-2375-0FBE-1FB7-C3E63F6DC9CE}"/>
              </a:ext>
            </a:extLst>
          </p:cNvPr>
          <p:cNvPicPr>
            <a:picLocks noChangeAspect="1"/>
          </p:cNvPicPr>
          <p:nvPr/>
        </p:nvPicPr>
        <p:blipFill>
          <a:blip r:embed="rId3"/>
          <a:stretch>
            <a:fillRect/>
          </a:stretch>
        </p:blipFill>
        <p:spPr>
          <a:xfrm>
            <a:off x="457200" y="3003473"/>
            <a:ext cx="6467676" cy="1503126"/>
          </a:xfrm>
          <a:prstGeom prst="rect">
            <a:avLst/>
          </a:prstGeom>
          <a:ln>
            <a:solidFill>
              <a:schemeClr val="tx1"/>
            </a:solidFill>
          </a:ln>
        </p:spPr>
      </p:pic>
    </p:spTree>
    <p:extLst>
      <p:ext uri="{BB962C8B-B14F-4D97-AF65-F5344CB8AC3E}">
        <p14:creationId xmlns:p14="http://schemas.microsoft.com/office/powerpoint/2010/main" val="654197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C6345-958C-2B0E-C44C-3FFC1D9BB3A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EFC5052-99FD-9DE6-DA74-B27A370EB8E8}"/>
              </a:ext>
            </a:extLst>
          </p:cNvPr>
          <p:cNvSpPr>
            <a:spLocks noGrp="1"/>
          </p:cNvSpPr>
          <p:nvPr>
            <p:ph type="title"/>
          </p:nvPr>
        </p:nvSpPr>
        <p:spPr/>
        <p:txBody>
          <a:bodyPr/>
          <a:lstStyle/>
          <a:p>
            <a:r>
              <a:rPr lang="en-US"/>
              <a:t>implementation continued</a:t>
            </a:r>
          </a:p>
        </p:txBody>
      </p:sp>
    </p:spTree>
    <p:extLst>
      <p:ext uri="{BB962C8B-B14F-4D97-AF65-F5344CB8AC3E}">
        <p14:creationId xmlns:p14="http://schemas.microsoft.com/office/powerpoint/2010/main" val="468398018"/>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0BB03-6F10-6A51-0A85-6CBC201B26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889797-499D-5746-2B4E-12039186412C}"/>
              </a:ext>
            </a:extLst>
          </p:cNvPr>
          <p:cNvSpPr>
            <a:spLocks noGrp="1"/>
          </p:cNvSpPr>
          <p:nvPr>
            <p:ph type="title"/>
          </p:nvPr>
        </p:nvSpPr>
        <p:spPr>
          <a:xfrm>
            <a:off x="457200" y="254916"/>
            <a:ext cx="8229600" cy="667168"/>
          </a:xfrm>
        </p:spPr>
        <p:txBody>
          <a:bodyPr>
            <a:normAutofit/>
          </a:bodyPr>
          <a:lstStyle/>
          <a:p>
            <a:pPr lvl="0"/>
            <a:r>
              <a:rPr lang="en-US" err="1">
                <a:latin typeface="Consolas" panose="020B0609020204030204" pitchFamily="49" charset="0"/>
                <a:cs typeface="Consolas" panose="020B0609020204030204" pitchFamily="49" charset="0"/>
              </a:rPr>
              <a:t>ArrayList</a:t>
            </a:r>
            <a:r>
              <a:rPr lang="en-US">
                <a:latin typeface="Consolas" panose="020B0609020204030204" pitchFamily="49" charset="0"/>
                <a:cs typeface="Consolas" panose="020B0609020204030204" pitchFamily="49" charset="0"/>
              </a:rPr>
              <a:t>() </a:t>
            </a:r>
            <a:r>
              <a:rPr lang="en-US" sz="3200">
                <a:latin typeface="Consolas" panose="020B0609020204030204" pitchFamily="49" charset="0"/>
                <a:cs typeface="Consolas" panose="020B0609020204030204" pitchFamily="49" charset="0"/>
              </a:rPr>
              <a:t>{ </a:t>
            </a:r>
            <a:r>
              <a:rPr lang="en-US" sz="3200">
                <a:solidFill>
                  <a:srgbClr val="BFBFBF"/>
                </a:solidFill>
                <a:latin typeface="Consolas" panose="020B0609020204030204" pitchFamily="49" charset="0"/>
                <a:cs typeface="Consolas" panose="020B0609020204030204" pitchFamily="49" charset="0"/>
              </a:rPr>
              <a:t>...</a:t>
            </a:r>
            <a:r>
              <a:rPr lang="en-US" sz="3200">
                <a:latin typeface="Consolas" panose="020B0609020204030204" pitchFamily="49" charset="0"/>
                <a:cs typeface="Consolas" panose="020B0609020204030204" pitchFamily="49" charset="0"/>
              </a:rPr>
              <a:t> }</a:t>
            </a:r>
            <a:r>
              <a:rPr lang="en-US">
                <a:latin typeface="Consolas" panose="020B0609020204030204" pitchFamily="49" charset="0"/>
                <a:cs typeface="Consolas" panose="020B0609020204030204" pitchFamily="49" charset="0"/>
              </a:rPr>
              <a:t> </a:t>
            </a:r>
            <a:r>
              <a:rPr lang="en-US">
                <a:solidFill>
                  <a:srgbClr val="007B00"/>
                </a:solidFill>
                <a:latin typeface="Consolas" panose="020B0609020204030204" pitchFamily="49" charset="0"/>
                <a:cs typeface="Consolas" panose="020B0609020204030204" pitchFamily="49" charset="0"/>
              </a:rPr>
              <a:t>// constructor</a:t>
            </a:r>
          </a:p>
        </p:txBody>
      </p:sp>
      <p:sp>
        <p:nvSpPr>
          <p:cNvPr id="3" name="Content Placeholder 2">
            <a:extLst>
              <a:ext uri="{FF2B5EF4-FFF2-40B4-BE49-F238E27FC236}">
                <a16:creationId xmlns:a16="http://schemas.microsoft.com/office/drawing/2014/main" id="{A1BCBA3A-EB3B-485A-56AC-E012BC00B83A}"/>
              </a:ext>
            </a:extLst>
          </p:cNvPr>
          <p:cNvSpPr>
            <a:spLocks noGrp="1"/>
          </p:cNvSpPr>
          <p:nvPr>
            <p:ph sz="quarter" idx="10"/>
          </p:nvPr>
        </p:nvSpPr>
        <p:spPr>
          <a:xfrm>
            <a:off x="457200" y="963338"/>
            <a:ext cx="8229600" cy="4080271"/>
          </a:xfrm>
        </p:spPr>
        <p:txBody>
          <a:bodyPr>
            <a:noAutofit/>
          </a:bodyPr>
          <a:lstStyle/>
          <a:p>
            <a:r>
              <a:rPr lang="en-US"/>
              <a:t>a new array list should have...</a:t>
            </a:r>
          </a:p>
          <a:p>
            <a:pPr lvl="1"/>
            <a:r>
              <a:rPr lang="en-US" err="1">
                <a:solidFill>
                  <a:srgbClr val="0000FF"/>
                </a:solidFill>
                <a:latin typeface="Consolas"/>
              </a:rPr>
              <a:t>this</a:t>
            </a:r>
            <a:r>
              <a:rPr lang="en-US" err="1">
                <a:solidFill>
                  <a:srgbClr val="000000"/>
                </a:solidFill>
                <a:latin typeface="Consolas"/>
              </a:rPr>
              <a:t>.length</a:t>
            </a:r>
            <a:r>
              <a:rPr lang="en-US">
                <a:solidFill>
                  <a:srgbClr val="000000"/>
                </a:solidFill>
                <a:latin typeface="Consolas"/>
              </a:rPr>
              <a:t> = </a:t>
            </a:r>
            <a:r>
              <a:rPr lang="en-US">
                <a:solidFill>
                  <a:srgbClr val="0CB5B5"/>
                </a:solidFill>
                <a:latin typeface="Consolas"/>
              </a:rPr>
              <a:t>0</a:t>
            </a:r>
            <a:r>
              <a:rPr lang="en-US">
                <a:solidFill>
                  <a:srgbClr val="000000"/>
                </a:solidFill>
                <a:latin typeface="Consolas"/>
              </a:rPr>
              <a:t>;</a:t>
            </a:r>
          </a:p>
          <a:p>
            <a:pPr lvl="1"/>
            <a:r>
              <a:rPr lang="en-US" err="1">
                <a:solidFill>
                  <a:srgbClr val="0000FF"/>
                </a:solidFill>
                <a:latin typeface="Consolas" panose="020B0609020204030204" pitchFamily="49" charset="0"/>
                <a:cs typeface="Consolas" panose="020B0609020204030204" pitchFamily="49" charset="0"/>
              </a:rPr>
              <a:t>this</a:t>
            </a:r>
            <a:r>
              <a:rPr lang="en-US" err="1">
                <a:latin typeface="Consolas" panose="020B0609020204030204" pitchFamily="49" charset="0"/>
                <a:cs typeface="Consolas" panose="020B0609020204030204" pitchFamily="49" charset="0"/>
              </a:rPr>
              <a:t>.internalArray</a:t>
            </a:r>
            <a:r>
              <a:rPr lang="en-US">
                <a:latin typeface="Consolas" panose="020B0609020204030204" pitchFamily="49" charset="0"/>
                <a:cs typeface="Consolas" panose="020B0609020204030204" pitchFamily="49" charset="0"/>
              </a:rPr>
              <a:t> = </a:t>
            </a:r>
            <a:r>
              <a:rPr lang="en-US">
                <a:solidFill>
                  <a:srgbClr val="0000FF"/>
                </a:solidFill>
                <a:latin typeface="Consolas" panose="020B0609020204030204" pitchFamily="49" charset="0"/>
                <a:cs typeface="Consolas" panose="020B0609020204030204" pitchFamily="49" charset="0"/>
              </a:rPr>
              <a:t>new</a:t>
            </a:r>
            <a:r>
              <a:rPr lang="en-US">
                <a:latin typeface="Consolas" panose="020B0609020204030204" pitchFamily="49" charset="0"/>
                <a:cs typeface="Consolas" panose="020B0609020204030204" pitchFamily="49" charset="0"/>
              </a:rPr>
              <a:t> </a:t>
            </a:r>
            <a:r>
              <a:rPr lang="en-US" err="1">
                <a:solidFill>
                  <a:srgbClr val="000080"/>
                </a:solidFill>
                <a:latin typeface="Consolas" panose="020B0609020204030204" pitchFamily="49" charset="0"/>
                <a:cs typeface="Consolas" panose="020B0609020204030204" pitchFamily="49" charset="0"/>
              </a:rPr>
              <a:t>ElementType</a:t>
            </a:r>
            <a:r>
              <a:rPr lang="en-US">
                <a:latin typeface="Consolas" panose="020B0609020204030204" pitchFamily="49" charset="0"/>
                <a:cs typeface="Consolas" panose="020B0609020204030204" pitchFamily="49" charset="0"/>
              </a:rPr>
              <a:t>[</a:t>
            </a:r>
            <a:r>
              <a:rPr lang="en-US">
                <a:solidFill>
                  <a:srgbClr val="000080"/>
                </a:solidFill>
                <a:latin typeface="Consolas" panose="020B0609020204030204" pitchFamily="49" charset="0"/>
                <a:cs typeface="Consolas" panose="020B0609020204030204" pitchFamily="49" charset="0"/>
              </a:rPr>
              <a:t>INITIAL_CAPACITY</a:t>
            </a:r>
            <a:r>
              <a:rPr lang="en-US">
                <a:latin typeface="Consolas" panose="020B0609020204030204" pitchFamily="49" charset="0"/>
                <a:cs typeface="Consolas" panose="020B0609020204030204" pitchFamily="49" charset="0"/>
              </a:rPr>
              <a:t>];</a:t>
            </a:r>
            <a:endParaRPr lang="en-US">
              <a:solidFill>
                <a:srgbClr val="000000"/>
              </a:solidFill>
              <a:latin typeface="Consolas"/>
            </a:endParaRPr>
          </a:p>
          <a:p>
            <a:pPr lvl="1"/>
            <a:endParaRPr lang="en-US">
              <a:solidFill>
                <a:srgbClr val="000000"/>
              </a:solidFill>
              <a:latin typeface="Consolas"/>
            </a:endParaRPr>
          </a:p>
          <a:p>
            <a:pPr lvl="1"/>
            <a:r>
              <a:rPr lang="en-US" b="1">
                <a:solidFill>
                  <a:srgbClr val="000000"/>
                </a:solidFill>
              </a:rPr>
              <a:t>NOTE: </a:t>
            </a:r>
            <a:r>
              <a:rPr lang="en-US">
                <a:solidFill>
                  <a:srgbClr val="000000"/>
                </a:solidFill>
              </a:rPr>
              <a:t>there isn't one right choice for </a:t>
            </a:r>
            <a:r>
              <a:rPr lang="en-US">
                <a:solidFill>
                  <a:srgbClr val="000080"/>
                </a:solidFill>
                <a:latin typeface="Consolas" panose="020B0609020204030204" pitchFamily="49" charset="0"/>
                <a:cs typeface="Consolas" panose="020B0609020204030204" pitchFamily="49" charset="0"/>
              </a:rPr>
              <a:t>INITIAL_CAPACITY</a:t>
            </a:r>
            <a:endParaRPr lang="en-US">
              <a:solidFill>
                <a:srgbClr val="000000"/>
              </a:solidFill>
            </a:endParaRPr>
          </a:p>
          <a:p>
            <a:pPr lvl="2"/>
            <a:r>
              <a:rPr lang="en-US">
                <a:cs typeface="Consolas" panose="020B0609020204030204" pitchFamily="49" charset="0"/>
              </a:rPr>
              <a:t>perhaps...</a:t>
            </a:r>
            <a:r>
              <a:rPr lang="en-US">
                <a:solidFill>
                  <a:srgbClr val="0CB5B5"/>
                </a:solidFill>
                <a:cs typeface="Consolas" panose="020B0609020204030204" pitchFamily="49" charset="0"/>
              </a:rPr>
              <a:t>0</a:t>
            </a:r>
            <a:r>
              <a:rPr lang="en-US">
                <a:cs typeface="Consolas" panose="020B0609020204030204" pitchFamily="49" charset="0"/>
              </a:rPr>
              <a:t>?</a:t>
            </a:r>
            <a:endParaRPr lang="en-US"/>
          </a:p>
          <a:p>
            <a:pPr lvl="2"/>
            <a:r>
              <a:rPr lang="en-US">
                <a:cs typeface="Consolas" panose="020B0609020204030204" pitchFamily="49" charset="0"/>
              </a:rPr>
              <a:t>perhaps </a:t>
            </a:r>
            <a:r>
              <a:rPr lang="en-US">
                <a:solidFill>
                  <a:srgbClr val="0CB5B5"/>
                </a:solidFill>
                <a:cs typeface="Consolas" panose="020B0609020204030204" pitchFamily="49" charset="0"/>
              </a:rPr>
              <a:t>8</a:t>
            </a:r>
            <a:r>
              <a:rPr lang="en-US">
                <a:cs typeface="Consolas" panose="020B0609020204030204" pitchFamily="49" charset="0"/>
              </a:rPr>
              <a:t>?</a:t>
            </a:r>
          </a:p>
          <a:p>
            <a:pPr lvl="2"/>
            <a:r>
              <a:rPr lang="en-US">
                <a:cs typeface="Consolas" panose="020B0609020204030204" pitchFamily="49" charset="0"/>
              </a:rPr>
              <a:t>🤷‍♂️</a:t>
            </a:r>
          </a:p>
        </p:txBody>
      </p:sp>
    </p:spTree>
    <p:extLst>
      <p:ext uri="{BB962C8B-B14F-4D97-AF65-F5344CB8AC3E}">
        <p14:creationId xmlns:p14="http://schemas.microsoft.com/office/powerpoint/2010/main" val="2276981922"/>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BBDF0-D2A3-2AF6-7DE4-8E366B6DA1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A47A18-C191-21C2-898F-5ACC643E5DA7}"/>
              </a:ext>
            </a:extLst>
          </p:cNvPr>
          <p:cNvSpPr>
            <a:spLocks noGrp="1"/>
          </p:cNvSpPr>
          <p:nvPr>
            <p:ph type="title"/>
          </p:nvPr>
        </p:nvSpPr>
        <p:spPr>
          <a:xfrm>
            <a:off x="457200" y="254916"/>
            <a:ext cx="8229600" cy="667168"/>
          </a:xfrm>
        </p:spPr>
        <p:txBody>
          <a:bodyPr>
            <a:noAutofit/>
          </a:bodyPr>
          <a:lstStyle/>
          <a:p>
            <a:pPr lvl="0"/>
            <a:r>
              <a:rPr lang="en-US" sz="2800" err="1">
                <a:solidFill>
                  <a:srgbClr val="000080"/>
                </a:solidFill>
                <a:latin typeface="Consolas" panose="020B0609020204030204" pitchFamily="49" charset="0"/>
                <a:cs typeface="Consolas" panose="020B0609020204030204" pitchFamily="49" charset="0"/>
              </a:rPr>
              <a:t>ElementType</a:t>
            </a:r>
            <a:r>
              <a:rPr lang="en-US" sz="2800">
                <a:latin typeface="Consolas" panose="020B0609020204030204" pitchFamily="49" charset="0"/>
                <a:cs typeface="Consolas" panose="020B0609020204030204" pitchFamily="49" charset="0"/>
              </a:rPr>
              <a:t> get(</a:t>
            </a:r>
            <a:r>
              <a:rPr lang="en-US" sz="2800">
                <a:solidFill>
                  <a:srgbClr val="000080"/>
                </a:solidFill>
                <a:latin typeface="Consolas" panose="020B0609020204030204" pitchFamily="49" charset="0"/>
                <a:cs typeface="Consolas" panose="020B0609020204030204" pitchFamily="49" charset="0"/>
              </a:rPr>
              <a:t>int</a:t>
            </a:r>
            <a:r>
              <a:rPr lang="en-US" sz="2800">
                <a:latin typeface="Consolas" panose="020B0609020204030204" pitchFamily="49" charset="0"/>
                <a:cs typeface="Consolas" panose="020B0609020204030204" pitchFamily="49" charset="0"/>
              </a:rPr>
              <a:t> index) { </a:t>
            </a:r>
            <a:r>
              <a:rPr lang="en-US" sz="2800">
                <a:solidFill>
                  <a:srgbClr val="BFBFBF"/>
                </a:solidFill>
                <a:latin typeface="Consolas" panose="020B0609020204030204" pitchFamily="49" charset="0"/>
                <a:cs typeface="Consolas" panose="020B0609020204030204" pitchFamily="49" charset="0"/>
              </a:rPr>
              <a:t>...</a:t>
            </a:r>
            <a:r>
              <a:rPr lang="en-US" sz="2800">
                <a:latin typeface="Consolas" panose="020B0609020204030204" pitchFamily="49" charset="0"/>
                <a:cs typeface="Consolas" panose="020B0609020204030204" pitchFamily="49" charset="0"/>
              </a:rPr>
              <a:t> }</a:t>
            </a:r>
          </a:p>
        </p:txBody>
      </p:sp>
      <p:sp>
        <p:nvSpPr>
          <p:cNvPr id="3" name="Content Placeholder 2">
            <a:extLst>
              <a:ext uri="{FF2B5EF4-FFF2-40B4-BE49-F238E27FC236}">
                <a16:creationId xmlns:a16="http://schemas.microsoft.com/office/drawing/2014/main" id="{3871DEF9-8CBD-B736-078A-1F08CBF14C81}"/>
              </a:ext>
            </a:extLst>
          </p:cNvPr>
          <p:cNvSpPr>
            <a:spLocks noGrp="1"/>
          </p:cNvSpPr>
          <p:nvPr>
            <p:ph sz="quarter" idx="10"/>
          </p:nvPr>
        </p:nvSpPr>
        <p:spPr>
          <a:xfrm>
            <a:off x="457200" y="963338"/>
            <a:ext cx="8229600" cy="4080271"/>
          </a:xfrm>
        </p:spPr>
        <p:txBody>
          <a:bodyPr>
            <a:noAutofit/>
          </a:bodyPr>
          <a:lstStyle/>
          <a:p>
            <a:r>
              <a:rPr lang="en-US"/>
              <a:t>to </a:t>
            </a:r>
            <a:r>
              <a:rPr lang="en-US" b="1"/>
              <a:t>get</a:t>
            </a:r>
            <a:r>
              <a:rPr lang="en-US"/>
              <a:t> an element with a given </a:t>
            </a:r>
            <a:r>
              <a:rPr lang="en-US">
                <a:latin typeface="+mj-lt"/>
              </a:rPr>
              <a:t>index</a:t>
            </a:r>
            <a:r>
              <a:rPr lang="en-US"/>
              <a:t>...</a:t>
            </a:r>
          </a:p>
          <a:p>
            <a:pPr lvl="1"/>
            <a:r>
              <a:rPr lang="en-US">
                <a:solidFill>
                  <a:srgbClr val="011893"/>
                </a:solidFill>
                <a:latin typeface="Consolas" panose="020B0609020204030204" pitchFamily="49" charset="0"/>
                <a:cs typeface="Consolas" panose="020B0609020204030204" pitchFamily="49" charset="0"/>
              </a:rPr>
              <a:t>ASSERT</a:t>
            </a:r>
            <a:r>
              <a:rPr lang="en-US"/>
              <a:t> the </a:t>
            </a:r>
            <a:r>
              <a:rPr lang="en-US">
                <a:latin typeface="Consolas" panose="020B0609020204030204" pitchFamily="49" charset="0"/>
                <a:cs typeface="Consolas" panose="020B0609020204030204" pitchFamily="49" charset="0"/>
              </a:rPr>
              <a:t>index</a:t>
            </a:r>
            <a:r>
              <a:rPr lang="en-US"/>
              <a:t> is valid. </a:t>
            </a:r>
          </a:p>
          <a:p>
            <a:pPr lvl="1"/>
            <a:r>
              <a:rPr lang="en-US">
                <a:solidFill>
                  <a:srgbClr val="0000FF"/>
                </a:solidFill>
                <a:latin typeface="Consolas"/>
              </a:rPr>
              <a:t>return </a:t>
            </a:r>
            <a:r>
              <a:rPr lang="en-US">
                <a:solidFill>
                  <a:srgbClr val="000000"/>
                </a:solidFill>
                <a:latin typeface="Consolas"/>
              </a:rPr>
              <a:t>internal</a:t>
            </a:r>
            <a:r>
              <a:rPr lang="en-US" err="1">
                <a:solidFill>
                  <a:srgbClr val="000000"/>
                </a:solidFill>
                <a:latin typeface="Consolas"/>
              </a:rPr>
              <a:t>Array</a:t>
            </a:r>
            <a:r>
              <a:rPr lang="en-US">
                <a:solidFill>
                  <a:srgbClr val="000000"/>
                </a:solidFill>
                <a:latin typeface="Consolas"/>
              </a:rPr>
              <a:t>[index];</a:t>
            </a:r>
          </a:p>
          <a:p>
            <a:pPr marL="342886" lvl="1" indent="0">
              <a:buNone/>
            </a:pPr>
            <a:endParaRPr lang="en-US">
              <a:solidFill>
                <a:srgbClr val="000000"/>
              </a:solidFill>
            </a:endParaRPr>
          </a:p>
          <a:p>
            <a:pPr lvl="1"/>
            <a:r>
              <a:rPr lang="en-US">
                <a:solidFill>
                  <a:srgbClr val="000000"/>
                </a:solidFill>
              </a:rPr>
              <a:t>this is a "</a:t>
            </a:r>
            <a:r>
              <a:rPr lang="en-US" b="1">
                <a:solidFill>
                  <a:srgbClr val="000000"/>
                </a:solidFill>
              </a:rPr>
              <a:t>getter</a:t>
            </a:r>
            <a:r>
              <a:rPr lang="en-US">
                <a:solidFill>
                  <a:srgbClr val="000000"/>
                </a:solidFill>
              </a:rPr>
              <a:t>"</a:t>
            </a:r>
          </a:p>
          <a:p>
            <a:pPr lvl="2"/>
            <a:r>
              <a:rPr lang="en-US">
                <a:solidFill>
                  <a:srgbClr val="000000"/>
                </a:solidFill>
              </a:rPr>
              <a:t>we need it because </a:t>
            </a:r>
            <a:r>
              <a:rPr lang="en-US">
                <a:solidFill>
                  <a:srgbClr val="000000"/>
                </a:solidFill>
                <a:latin typeface="Consolas"/>
              </a:rPr>
              <a:t>internal</a:t>
            </a:r>
            <a:r>
              <a:rPr lang="en-US" err="1">
                <a:solidFill>
                  <a:srgbClr val="000000"/>
                </a:solidFill>
                <a:latin typeface="Consolas"/>
              </a:rPr>
              <a:t>Array</a:t>
            </a:r>
            <a:r>
              <a:rPr lang="en-US">
                <a:solidFill>
                  <a:srgbClr val="000000"/>
                </a:solidFill>
              </a:rPr>
              <a:t> is</a:t>
            </a:r>
            <a:r>
              <a:rPr lang="en-US">
                <a:solidFill>
                  <a:srgbClr val="0000FF"/>
                </a:solidFill>
              </a:rPr>
              <a:t> </a:t>
            </a:r>
            <a:r>
              <a:rPr lang="en-US">
                <a:solidFill>
                  <a:srgbClr val="0000FF"/>
                </a:solidFill>
                <a:latin typeface="+mj-lt"/>
              </a:rPr>
              <a:t>private</a:t>
            </a:r>
            <a:r>
              <a:rPr lang="en-US">
                <a:solidFill>
                  <a:srgbClr val="000000"/>
                </a:solidFill>
              </a:rPr>
              <a:t>, which means</a:t>
            </a:r>
            <a:br>
              <a:rPr lang="en-US">
                <a:solidFill>
                  <a:srgbClr val="000000"/>
                </a:solidFill>
              </a:rPr>
            </a:br>
            <a:r>
              <a:rPr lang="en-US">
                <a:solidFill>
                  <a:srgbClr val="000000"/>
                </a:solidFill>
              </a:rPr>
              <a:t>users of Java's </a:t>
            </a:r>
            <a:r>
              <a:rPr lang="en-US">
                <a:solidFill>
                  <a:srgbClr val="000000"/>
                </a:solidFill>
                <a:latin typeface="+mj-lt"/>
              </a:rPr>
              <a:t>ArrayList</a:t>
            </a:r>
            <a:r>
              <a:rPr lang="en-US">
                <a:solidFill>
                  <a:srgbClr val="000000"/>
                </a:solidFill>
              </a:rPr>
              <a:t> never access </a:t>
            </a:r>
            <a:r>
              <a:rPr lang="en-US">
                <a:solidFill>
                  <a:srgbClr val="000000"/>
                </a:solidFill>
                <a:latin typeface="Consolas"/>
              </a:rPr>
              <a:t>internal</a:t>
            </a:r>
            <a:r>
              <a:rPr lang="en-US" err="1">
                <a:solidFill>
                  <a:srgbClr val="000000"/>
                </a:solidFill>
                <a:latin typeface="Consolas"/>
              </a:rPr>
              <a:t>Array</a:t>
            </a:r>
            <a:r>
              <a:rPr lang="en-US">
                <a:solidFill>
                  <a:srgbClr val="000000"/>
                </a:solidFill>
              </a:rPr>
              <a:t> directly </a:t>
            </a:r>
          </a:p>
        </p:txBody>
      </p:sp>
    </p:spTree>
    <p:extLst>
      <p:ext uri="{BB962C8B-B14F-4D97-AF65-F5344CB8AC3E}">
        <p14:creationId xmlns:p14="http://schemas.microsoft.com/office/powerpoint/2010/main" val="3411277881"/>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B7C8F-A188-D3D4-BE36-FB5481ACD1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5B5D9A-FD95-D432-9665-FAA45671A31E}"/>
              </a:ext>
            </a:extLst>
          </p:cNvPr>
          <p:cNvSpPr>
            <a:spLocks noGrp="1"/>
          </p:cNvSpPr>
          <p:nvPr>
            <p:ph type="title"/>
          </p:nvPr>
        </p:nvSpPr>
        <p:spPr>
          <a:xfrm>
            <a:off x="457200" y="254916"/>
            <a:ext cx="8229600" cy="667168"/>
          </a:xfrm>
        </p:spPr>
        <p:txBody>
          <a:bodyPr>
            <a:noAutofit/>
          </a:bodyPr>
          <a:lstStyle/>
          <a:p>
            <a:pPr lvl="0"/>
            <a:r>
              <a:rPr lang="en-US" sz="2800">
                <a:solidFill>
                  <a:srgbClr val="0000FF"/>
                </a:solidFill>
                <a:latin typeface="Consolas" panose="020B0609020204030204" pitchFamily="49" charset="0"/>
                <a:cs typeface="Consolas" panose="020B0609020204030204" pitchFamily="49" charset="0"/>
              </a:rPr>
              <a:t>void</a:t>
            </a:r>
            <a:r>
              <a:rPr lang="en-US" sz="2800">
                <a:latin typeface="Consolas" panose="020B0609020204030204" pitchFamily="49" charset="0"/>
                <a:cs typeface="Consolas" panose="020B0609020204030204" pitchFamily="49" charset="0"/>
              </a:rPr>
              <a:t> add(</a:t>
            </a:r>
            <a:r>
              <a:rPr lang="en-US" sz="2800" err="1">
                <a:solidFill>
                  <a:srgbClr val="000080"/>
                </a:solidFill>
                <a:latin typeface="Consolas" panose="020B0609020204030204" pitchFamily="49" charset="0"/>
                <a:cs typeface="Consolas" panose="020B0609020204030204" pitchFamily="49" charset="0"/>
              </a:rPr>
              <a:t>ElementType</a:t>
            </a:r>
            <a:r>
              <a:rPr lang="en-US" sz="2800">
                <a:latin typeface="Consolas" panose="020B0609020204030204" pitchFamily="49" charset="0"/>
                <a:cs typeface="Consolas" panose="020B0609020204030204" pitchFamily="49" charset="0"/>
              </a:rPr>
              <a:t> element) { </a:t>
            </a:r>
            <a:r>
              <a:rPr lang="en-US" sz="2800">
                <a:solidFill>
                  <a:srgbClr val="BFBFBF"/>
                </a:solidFill>
                <a:latin typeface="Consolas" panose="020B0609020204030204" pitchFamily="49" charset="0"/>
                <a:cs typeface="Consolas" panose="020B0609020204030204" pitchFamily="49" charset="0"/>
              </a:rPr>
              <a:t>...</a:t>
            </a:r>
            <a:r>
              <a:rPr lang="en-US" sz="2800">
                <a:latin typeface="Consolas" panose="020B0609020204030204" pitchFamily="49" charset="0"/>
                <a:cs typeface="Consolas" panose="020B0609020204030204" pitchFamily="49" charset="0"/>
              </a:rPr>
              <a:t> }</a:t>
            </a:r>
          </a:p>
        </p:txBody>
      </p:sp>
      <p:sp>
        <p:nvSpPr>
          <p:cNvPr id="3" name="Content Placeholder 2">
            <a:extLst>
              <a:ext uri="{FF2B5EF4-FFF2-40B4-BE49-F238E27FC236}">
                <a16:creationId xmlns:a16="http://schemas.microsoft.com/office/drawing/2014/main" id="{9F42F942-F359-286D-A5D8-35DA4F50853B}"/>
              </a:ext>
            </a:extLst>
          </p:cNvPr>
          <p:cNvSpPr>
            <a:spLocks noGrp="1"/>
          </p:cNvSpPr>
          <p:nvPr>
            <p:ph sz="quarter" idx="10"/>
          </p:nvPr>
        </p:nvSpPr>
        <p:spPr>
          <a:xfrm>
            <a:off x="457200" y="963338"/>
            <a:ext cx="8229600" cy="4080271"/>
          </a:xfrm>
        </p:spPr>
        <p:txBody>
          <a:bodyPr>
            <a:noAutofit/>
          </a:bodyPr>
          <a:lstStyle/>
          <a:p>
            <a:r>
              <a:rPr lang="en-US"/>
              <a:t>to </a:t>
            </a:r>
            <a:r>
              <a:rPr lang="en-US" b="1"/>
              <a:t>append</a:t>
            </a:r>
            <a:r>
              <a:rPr lang="en-US"/>
              <a:t> (push back) a new element to the back (end) of an array list...</a:t>
            </a:r>
          </a:p>
          <a:p>
            <a:pPr lvl="1"/>
            <a:r>
              <a:rPr lang="en-US"/>
              <a:t>if there are available slots in the internal array...</a:t>
            </a:r>
          </a:p>
          <a:p>
            <a:pPr lvl="2"/>
            <a:r>
              <a:rPr lang="en-US"/>
              <a:t>write the new element to the first available empty slot in </a:t>
            </a:r>
            <a:r>
              <a:rPr lang="en-US" err="1">
                <a:solidFill>
                  <a:srgbClr val="000000"/>
                </a:solidFill>
                <a:latin typeface="Consolas"/>
              </a:rPr>
              <a:t>internalArray</a:t>
            </a:r>
            <a:endParaRPr lang="en-US"/>
          </a:p>
          <a:p>
            <a:pPr lvl="2"/>
            <a:r>
              <a:rPr lang="en-US"/>
              <a:t>increment (add one to) </a:t>
            </a:r>
            <a:r>
              <a:rPr lang="en-US" err="1">
                <a:solidFill>
                  <a:srgbClr val="000000"/>
                </a:solidFill>
                <a:latin typeface="Consolas"/>
              </a:rPr>
              <a:t>length</a:t>
            </a:r>
            <a:endParaRPr lang="en-US">
              <a:solidFill>
                <a:srgbClr val="000000"/>
              </a:solidFill>
              <a:latin typeface="Consolas"/>
            </a:endParaRPr>
          </a:p>
          <a:p>
            <a:pPr marL="342886" lvl="1" indent="0">
              <a:buNone/>
            </a:pPr>
            <a:endParaRPr lang="en-US">
              <a:solidFill>
                <a:srgbClr val="000000"/>
              </a:solidFill>
              <a:latin typeface="Consolas"/>
            </a:endParaRPr>
          </a:p>
          <a:p>
            <a:r>
              <a:rPr lang="en-US">
                <a:solidFill>
                  <a:srgbClr val="000000"/>
                </a:solidFill>
              </a:rPr>
              <a:t>but what if </a:t>
            </a:r>
            <a:r>
              <a:rPr lang="en-US" err="1">
                <a:solidFill>
                  <a:srgbClr val="000000"/>
                </a:solidFill>
                <a:latin typeface="+mj-lt"/>
              </a:rPr>
              <a:t>internalArray</a:t>
            </a:r>
            <a:r>
              <a:rPr lang="en-US">
                <a:solidFill>
                  <a:srgbClr val="000000"/>
                </a:solidFill>
              </a:rPr>
              <a:t> is full (there are no available slots)?</a:t>
            </a:r>
          </a:p>
        </p:txBody>
      </p:sp>
    </p:spTree>
    <p:extLst>
      <p:ext uri="{BB962C8B-B14F-4D97-AF65-F5344CB8AC3E}">
        <p14:creationId xmlns:p14="http://schemas.microsoft.com/office/powerpoint/2010/main" val="3081823031"/>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2ADB93-BCCF-8367-275A-AF45D7A44DC5}"/>
              </a:ext>
            </a:extLst>
          </p:cNvPr>
          <p:cNvSpPr>
            <a:spLocks noGrp="1"/>
          </p:cNvSpPr>
          <p:nvPr>
            <p:ph type="title"/>
          </p:nvPr>
        </p:nvSpPr>
        <p:spPr/>
        <p:txBody>
          <a:bodyPr/>
          <a:lstStyle/>
          <a:p>
            <a:r>
              <a:rPr lang="en-US">
                <a:latin typeface="+mj-lt"/>
              </a:rPr>
              <a:t>add</a:t>
            </a:r>
            <a:r>
              <a:rPr lang="en-US"/>
              <a:t> (details)</a:t>
            </a:r>
          </a:p>
        </p:txBody>
      </p:sp>
    </p:spTree>
    <p:extLst>
      <p:ext uri="{BB962C8B-B14F-4D97-AF65-F5344CB8AC3E}">
        <p14:creationId xmlns:p14="http://schemas.microsoft.com/office/powerpoint/2010/main" val="2031586356"/>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1B520-7065-EC50-59C3-C8D879D9FE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F32BFF-7DB7-4F55-AFE2-4514073F6DE7}"/>
              </a:ext>
            </a:extLst>
          </p:cNvPr>
          <p:cNvSpPr>
            <a:spLocks noGrp="1"/>
          </p:cNvSpPr>
          <p:nvPr>
            <p:ph type="title"/>
          </p:nvPr>
        </p:nvSpPr>
        <p:spPr>
          <a:xfrm>
            <a:off x="457200" y="254916"/>
            <a:ext cx="8229600" cy="667168"/>
          </a:xfrm>
        </p:spPr>
        <p:txBody>
          <a:bodyPr>
            <a:noAutofit/>
          </a:bodyPr>
          <a:lstStyle/>
          <a:p>
            <a:pPr lvl="0"/>
            <a:r>
              <a:rPr lang="en-US" sz="2800">
                <a:solidFill>
                  <a:srgbClr val="0000FF"/>
                </a:solidFill>
                <a:latin typeface="Consolas" panose="020B0609020204030204" pitchFamily="49" charset="0"/>
                <a:cs typeface="Consolas" panose="020B0609020204030204" pitchFamily="49" charset="0"/>
              </a:rPr>
              <a:t>void</a:t>
            </a:r>
            <a:r>
              <a:rPr lang="en-US" sz="2800">
                <a:latin typeface="Consolas" panose="020B0609020204030204" pitchFamily="49" charset="0"/>
                <a:cs typeface="Consolas" panose="020B0609020204030204" pitchFamily="49" charset="0"/>
              </a:rPr>
              <a:t> add(</a:t>
            </a:r>
            <a:r>
              <a:rPr lang="en-US" sz="2800" err="1">
                <a:solidFill>
                  <a:srgbClr val="000080"/>
                </a:solidFill>
                <a:latin typeface="Consolas" panose="020B0609020204030204" pitchFamily="49" charset="0"/>
                <a:cs typeface="Consolas" panose="020B0609020204030204" pitchFamily="49" charset="0"/>
              </a:rPr>
              <a:t>ElementType</a:t>
            </a:r>
            <a:r>
              <a:rPr lang="en-US" sz="2800">
                <a:latin typeface="Consolas" panose="020B0609020204030204" pitchFamily="49" charset="0"/>
                <a:cs typeface="Consolas" panose="020B0609020204030204" pitchFamily="49" charset="0"/>
              </a:rPr>
              <a:t> element) { </a:t>
            </a:r>
            <a:r>
              <a:rPr lang="en-US" sz="2800">
                <a:solidFill>
                  <a:srgbClr val="BFBFBF"/>
                </a:solidFill>
                <a:latin typeface="Consolas" panose="020B0609020204030204" pitchFamily="49" charset="0"/>
                <a:cs typeface="Consolas" panose="020B0609020204030204" pitchFamily="49" charset="0"/>
              </a:rPr>
              <a:t>...</a:t>
            </a:r>
            <a:r>
              <a:rPr lang="en-US" sz="2800">
                <a:latin typeface="Consolas" panose="020B0609020204030204" pitchFamily="49" charset="0"/>
                <a:cs typeface="Consolas" panose="020B0609020204030204" pitchFamily="49" charset="0"/>
              </a:rPr>
              <a:t> }</a:t>
            </a:r>
          </a:p>
        </p:txBody>
      </p:sp>
      <p:sp>
        <p:nvSpPr>
          <p:cNvPr id="3" name="Content Placeholder 2">
            <a:extLst>
              <a:ext uri="{FF2B5EF4-FFF2-40B4-BE49-F238E27FC236}">
                <a16:creationId xmlns:a16="http://schemas.microsoft.com/office/drawing/2014/main" id="{24BEDABD-E49C-5C81-73AC-811FD27FF699}"/>
              </a:ext>
            </a:extLst>
          </p:cNvPr>
          <p:cNvSpPr>
            <a:spLocks noGrp="1"/>
          </p:cNvSpPr>
          <p:nvPr>
            <p:ph sz="quarter" idx="10"/>
          </p:nvPr>
        </p:nvSpPr>
        <p:spPr>
          <a:xfrm>
            <a:off x="457200" y="952187"/>
            <a:ext cx="8229600" cy="4080271"/>
          </a:xfrm>
        </p:spPr>
        <p:txBody>
          <a:bodyPr>
            <a:noAutofit/>
          </a:bodyPr>
          <a:lstStyle/>
          <a:p>
            <a:r>
              <a:rPr lang="en-US"/>
              <a:t>to </a:t>
            </a:r>
            <a:r>
              <a:rPr lang="en-US" b="1"/>
              <a:t>append</a:t>
            </a:r>
            <a:r>
              <a:rPr lang="en-US"/>
              <a:t> (push back) a new element to the back (end) of an array list...</a:t>
            </a:r>
          </a:p>
          <a:p>
            <a:endParaRPr lang="en-US"/>
          </a:p>
          <a:p>
            <a:pPr lvl="1"/>
            <a:r>
              <a:rPr lang="en-US"/>
              <a:t>if </a:t>
            </a:r>
            <a:r>
              <a:rPr lang="en-US" err="1">
                <a:latin typeface="+mj-lt"/>
              </a:rPr>
              <a:t>internalArray</a:t>
            </a:r>
            <a:r>
              <a:rPr lang="en-US"/>
              <a:t> is full...</a:t>
            </a:r>
          </a:p>
          <a:p>
            <a:pPr lvl="2"/>
            <a:r>
              <a:rPr lang="en-US"/>
              <a:t>make a new array two times the length of the current internal array</a:t>
            </a:r>
          </a:p>
          <a:p>
            <a:pPr lvl="2"/>
            <a:r>
              <a:rPr lang="en-US"/>
              <a:t>copy the elements of the current internal array into this new array</a:t>
            </a:r>
            <a:br>
              <a:rPr lang="en-US"/>
            </a:br>
            <a:r>
              <a:rPr lang="en-US"/>
              <a:t>(using a for loop)</a:t>
            </a:r>
          </a:p>
          <a:p>
            <a:pPr lvl="2"/>
            <a:r>
              <a:rPr lang="en-US"/>
              <a:t>update the </a:t>
            </a:r>
            <a:r>
              <a:rPr lang="en-US" err="1">
                <a:solidFill>
                  <a:srgbClr val="000000"/>
                </a:solidFill>
                <a:latin typeface="Consolas"/>
              </a:rPr>
              <a:t>internalArray</a:t>
            </a:r>
            <a:r>
              <a:rPr lang="en-US"/>
              <a:t> reference to refer to this new array </a:t>
            </a:r>
          </a:p>
          <a:p>
            <a:pPr lvl="2"/>
            <a:r>
              <a:rPr lang="en-US">
                <a:solidFill>
                  <a:schemeClr val="bg2"/>
                </a:solidFill>
              </a:rPr>
              <a:t>(old internal array will get garbage collected)</a:t>
            </a:r>
          </a:p>
          <a:p>
            <a:pPr lvl="2"/>
            <a:endParaRPr lang="en-US">
              <a:solidFill>
                <a:schemeClr val="bg2"/>
              </a:solidFill>
            </a:endParaRPr>
          </a:p>
          <a:p>
            <a:pPr lvl="1"/>
            <a:r>
              <a:rPr lang="en-US">
                <a:solidFill>
                  <a:schemeClr val="tx2"/>
                </a:solidFill>
              </a:rPr>
              <a:t>write the new element to the first available empty slot in </a:t>
            </a:r>
            <a:r>
              <a:rPr lang="en-US" err="1">
                <a:solidFill>
                  <a:schemeClr val="tx2"/>
                </a:solidFill>
                <a:latin typeface="Consolas"/>
              </a:rPr>
              <a:t>internalArray</a:t>
            </a:r>
            <a:endParaRPr lang="en-US">
              <a:solidFill>
                <a:schemeClr val="tx2"/>
              </a:solidFill>
            </a:endParaRPr>
          </a:p>
          <a:p>
            <a:pPr lvl="1"/>
            <a:r>
              <a:rPr lang="en-US">
                <a:solidFill>
                  <a:schemeClr val="tx2"/>
                </a:solidFill>
              </a:rPr>
              <a:t>increment </a:t>
            </a:r>
            <a:r>
              <a:rPr lang="en-US" err="1">
                <a:solidFill>
                  <a:schemeClr val="tx2"/>
                </a:solidFill>
                <a:latin typeface="Consolas"/>
              </a:rPr>
              <a:t>length</a:t>
            </a:r>
          </a:p>
          <a:p>
            <a:pPr lvl="1"/>
            <a:endParaRPr lang="en-US"/>
          </a:p>
          <a:p>
            <a:pPr marL="0" indent="0">
              <a:buNone/>
            </a:pPr>
            <a:endParaRPr lang="en-US"/>
          </a:p>
        </p:txBody>
      </p:sp>
    </p:spTree>
    <p:extLst>
      <p:ext uri="{BB962C8B-B14F-4D97-AF65-F5344CB8AC3E}">
        <p14:creationId xmlns:p14="http://schemas.microsoft.com/office/powerpoint/2010/main" val="341446139"/>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F237CAB-6432-7008-72D9-535ACE6966D5}"/>
              </a:ext>
            </a:extLst>
          </p:cNvPr>
          <p:cNvGrpSpPr/>
          <p:nvPr/>
        </p:nvGrpSpPr>
        <p:grpSpPr>
          <a:xfrm>
            <a:off x="2775352" y="1418472"/>
            <a:ext cx="3268890" cy="912967"/>
            <a:chOff x="582919" y="134337"/>
            <a:chExt cx="6886117" cy="1923225"/>
          </a:xfrm>
        </p:grpSpPr>
        <p:sp>
          <p:nvSpPr>
            <p:cNvPr id="5" name="Rectangle 4">
              <a:extLst>
                <a:ext uri="{FF2B5EF4-FFF2-40B4-BE49-F238E27FC236}">
                  <a16:creationId xmlns:a16="http://schemas.microsoft.com/office/drawing/2014/main" id="{CB0BA0ED-CBDE-2E43-4AAA-E44EAF314A02}"/>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6" name="Rectangle 5">
              <a:extLst>
                <a:ext uri="{FF2B5EF4-FFF2-40B4-BE49-F238E27FC236}">
                  <a16:creationId xmlns:a16="http://schemas.microsoft.com/office/drawing/2014/main" id="{8355B1FC-54D5-0E03-377C-E30B74FCA721}"/>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95FD7182-2ED4-A006-3FF3-65927C1922F1}"/>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499E89F4-40C1-ACE4-783B-D8CCBF233E4E}"/>
                </a:ext>
              </a:extLst>
            </p:cNvPr>
            <p:cNvSpPr/>
            <p:nvPr/>
          </p:nvSpPr>
          <p:spPr>
            <a:xfrm rot="5400000">
              <a:off x="6388155"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A4AF7954-A02A-30A3-7A08-175B1346E4A0}"/>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0" name="Rectangle 9">
              <a:extLst>
                <a:ext uri="{FF2B5EF4-FFF2-40B4-BE49-F238E27FC236}">
                  <a16:creationId xmlns:a16="http://schemas.microsoft.com/office/drawing/2014/main" id="{42B28B5C-945A-39FF-BCF9-759848E16289}"/>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1" name="Rectangle 10">
              <a:extLst>
                <a:ext uri="{FF2B5EF4-FFF2-40B4-BE49-F238E27FC236}">
                  <a16:creationId xmlns:a16="http://schemas.microsoft.com/office/drawing/2014/main" id="{13A20209-6E70-2F0D-B7D0-C16DC15CE1C9}"/>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12" name="TextBox 11">
            <a:extLst>
              <a:ext uri="{FF2B5EF4-FFF2-40B4-BE49-F238E27FC236}">
                <a16:creationId xmlns:a16="http://schemas.microsoft.com/office/drawing/2014/main" id="{C5168809-3DB1-DAA0-34C0-D29173A5AD71}"/>
              </a:ext>
            </a:extLst>
          </p:cNvPr>
          <p:cNvSpPr txBox="1"/>
          <p:nvPr/>
        </p:nvSpPr>
        <p:spPr>
          <a:xfrm>
            <a:off x="3698429" y="1613345"/>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3" name="TextBox 12">
            <a:extLst>
              <a:ext uri="{FF2B5EF4-FFF2-40B4-BE49-F238E27FC236}">
                <a16:creationId xmlns:a16="http://schemas.microsoft.com/office/drawing/2014/main" id="{E14A4B76-D507-754C-81B1-D707D46FC6F3}"/>
              </a:ext>
            </a:extLst>
          </p:cNvPr>
          <p:cNvSpPr txBox="1"/>
          <p:nvPr/>
        </p:nvSpPr>
        <p:spPr>
          <a:xfrm>
            <a:off x="4499541" y="1613345"/>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4" name="TextBox 13">
            <a:extLst>
              <a:ext uri="{FF2B5EF4-FFF2-40B4-BE49-F238E27FC236}">
                <a16:creationId xmlns:a16="http://schemas.microsoft.com/office/drawing/2014/main" id="{D2F4D40F-1098-028A-05BF-2EB57F57B337}"/>
              </a:ext>
            </a:extLst>
          </p:cNvPr>
          <p:cNvSpPr txBox="1"/>
          <p:nvPr/>
        </p:nvSpPr>
        <p:spPr>
          <a:xfrm>
            <a:off x="5284468" y="1613345"/>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31" name="TextBox 30">
            <a:extLst>
              <a:ext uri="{FF2B5EF4-FFF2-40B4-BE49-F238E27FC236}">
                <a16:creationId xmlns:a16="http://schemas.microsoft.com/office/drawing/2014/main" id="{36431C9F-AA28-1A3B-20E8-F533BFE7EB44}"/>
              </a:ext>
            </a:extLst>
          </p:cNvPr>
          <p:cNvSpPr txBox="1"/>
          <p:nvPr/>
        </p:nvSpPr>
        <p:spPr>
          <a:xfrm>
            <a:off x="2945869" y="1613345"/>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32" name="TextBox 31">
            <a:extLst>
              <a:ext uri="{FF2B5EF4-FFF2-40B4-BE49-F238E27FC236}">
                <a16:creationId xmlns:a16="http://schemas.microsoft.com/office/drawing/2014/main" id="{CE52E517-C184-1FCD-1402-359E2F7049CC}"/>
              </a:ext>
            </a:extLst>
          </p:cNvPr>
          <p:cNvSpPr txBox="1"/>
          <p:nvPr/>
        </p:nvSpPr>
        <p:spPr>
          <a:xfrm>
            <a:off x="312915" y="1612230"/>
            <a:ext cx="2529501" cy="461665"/>
          </a:xfrm>
          <a:prstGeom prst="rect">
            <a:avLst/>
          </a:prstGeom>
          <a:noFill/>
        </p:spPr>
        <p:txBody>
          <a:bodyPr wrap="square" rtlCol="0">
            <a:spAutoFit/>
          </a:bodyPr>
          <a:lstStyle/>
          <a:p>
            <a:r>
              <a:rPr lang="en-US" sz="2400">
                <a:latin typeface="+mj-lt"/>
              </a:rPr>
              <a:t>internalArray</a:t>
            </a:r>
          </a:p>
        </p:txBody>
      </p:sp>
      <p:sp>
        <p:nvSpPr>
          <p:cNvPr id="33" name="TextBox 32">
            <a:extLst>
              <a:ext uri="{FF2B5EF4-FFF2-40B4-BE49-F238E27FC236}">
                <a16:creationId xmlns:a16="http://schemas.microsoft.com/office/drawing/2014/main" id="{049E0490-ECE0-4E31-7301-D29FCEBB0CB3}"/>
              </a:ext>
            </a:extLst>
          </p:cNvPr>
          <p:cNvSpPr txBox="1"/>
          <p:nvPr/>
        </p:nvSpPr>
        <p:spPr>
          <a:xfrm>
            <a:off x="359087" y="501144"/>
            <a:ext cx="2529501" cy="461665"/>
          </a:xfrm>
          <a:prstGeom prst="rect">
            <a:avLst/>
          </a:prstGeom>
          <a:noFill/>
        </p:spPr>
        <p:txBody>
          <a:bodyPr wrap="square" rtlCol="0">
            <a:spAutoFit/>
          </a:bodyPr>
          <a:lstStyle/>
          <a:p>
            <a:r>
              <a:rPr lang="en-US" sz="2400">
                <a:latin typeface="+mj-lt"/>
              </a:rPr>
              <a:t>length</a:t>
            </a:r>
          </a:p>
        </p:txBody>
      </p:sp>
      <p:sp>
        <p:nvSpPr>
          <p:cNvPr id="34" name="TextBox 33">
            <a:extLst>
              <a:ext uri="{FF2B5EF4-FFF2-40B4-BE49-F238E27FC236}">
                <a16:creationId xmlns:a16="http://schemas.microsoft.com/office/drawing/2014/main" id="{35DDC361-15A9-5C8C-C7D3-D4BA6B8C6072}"/>
              </a:ext>
            </a:extLst>
          </p:cNvPr>
          <p:cNvSpPr txBox="1"/>
          <p:nvPr/>
        </p:nvSpPr>
        <p:spPr>
          <a:xfrm>
            <a:off x="1733469" y="316477"/>
            <a:ext cx="664044" cy="830997"/>
          </a:xfrm>
          <a:prstGeom prst="rect">
            <a:avLst/>
          </a:prstGeom>
          <a:noFill/>
        </p:spPr>
        <p:txBody>
          <a:bodyPr wrap="square" rtlCol="0">
            <a:spAutoFit/>
          </a:bodyPr>
          <a:lstStyle/>
          <a:p>
            <a:r>
              <a:rPr lang="en-US" sz="4800">
                <a:solidFill>
                  <a:schemeClr val="accent5">
                    <a:lumMod val="75000"/>
                  </a:schemeClr>
                </a:solidFill>
                <a:latin typeface="+mj-lt"/>
              </a:rPr>
              <a:t>4</a:t>
            </a:r>
          </a:p>
        </p:txBody>
      </p:sp>
      <p:sp>
        <p:nvSpPr>
          <p:cNvPr id="41" name="Title 34">
            <a:extLst>
              <a:ext uri="{FF2B5EF4-FFF2-40B4-BE49-F238E27FC236}">
                <a16:creationId xmlns:a16="http://schemas.microsoft.com/office/drawing/2014/main" id="{7C83B4B6-B256-29E6-26F5-66DA7D1644D4}"/>
              </a:ext>
            </a:extLst>
          </p:cNvPr>
          <p:cNvSpPr txBox="1">
            <a:spLocks/>
          </p:cNvSpPr>
          <p:nvPr/>
        </p:nvSpPr>
        <p:spPr>
          <a:xfrm>
            <a:off x="6842073" y="320052"/>
            <a:ext cx="1942840" cy="461665"/>
          </a:xfrm>
          <a:prstGeom prst="rect">
            <a:avLst/>
          </a:prstGeom>
          <a:solidFill>
            <a:schemeClr val="accent6">
              <a:lumMod val="20000"/>
              <a:lumOff val="80000"/>
            </a:schemeClr>
          </a:solidFill>
          <a:ln>
            <a:solidFill>
              <a:schemeClr val="tx1"/>
            </a:solidFill>
          </a:ln>
        </p:spPr>
        <p:txBody>
          <a:bodyPr anchor="ctr"/>
          <a:lstStyle>
            <a:lvl1pPr algn="ctr" defTabSz="342886" rtl="0" eaLnBrk="1" latinLnBrk="0" hangingPunct="1">
              <a:spcBef>
                <a:spcPct val="0"/>
              </a:spcBef>
              <a:buNone/>
              <a:defRPr sz="3200" kern="1200">
                <a:solidFill>
                  <a:schemeClr val="tx1"/>
                </a:solidFill>
                <a:latin typeface="+mn-lt"/>
                <a:ea typeface="Segoe UI Emoji" panose="020B0502040204020203" pitchFamily="34" charset="0"/>
                <a:cs typeface="+mj-cs"/>
              </a:defRPr>
            </a:lvl1pPr>
          </a:lstStyle>
          <a:p>
            <a:r>
              <a:rPr lang="en-US" sz="2000" b="1">
                <a:latin typeface="Consolas" panose="020B0609020204030204" pitchFamily="49" charset="0"/>
                <a:cs typeface="Consolas" panose="020B0609020204030204" pitchFamily="49" charset="0"/>
              </a:rPr>
              <a:t>list.add(🍇)</a:t>
            </a:r>
          </a:p>
        </p:txBody>
      </p:sp>
    </p:spTree>
    <p:extLst>
      <p:ext uri="{BB962C8B-B14F-4D97-AF65-F5344CB8AC3E}">
        <p14:creationId xmlns:p14="http://schemas.microsoft.com/office/powerpoint/2010/main" val="263783959"/>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C1861-A612-1E70-6CF2-D9AD72D8617A}"/>
            </a:ext>
          </a:extLst>
        </p:cNvPr>
        <p:cNvGrpSpPr/>
        <p:nvPr/>
      </p:nvGrpSpPr>
      <p:grpSpPr>
        <a:xfrm>
          <a:off x="0" y="0"/>
          <a:ext cx="0" cy="0"/>
          <a:chOff x="0" y="0"/>
          <a:chExt cx="0" cy="0"/>
        </a:xfrm>
      </p:grpSpPr>
      <p:grpSp>
        <p:nvGrpSpPr>
          <p:cNvPr id="45" name="Group 44">
            <a:extLst>
              <a:ext uri="{FF2B5EF4-FFF2-40B4-BE49-F238E27FC236}">
                <a16:creationId xmlns:a16="http://schemas.microsoft.com/office/drawing/2014/main" id="{3061AFDF-79FE-4E64-8408-34281D0A699B}"/>
              </a:ext>
            </a:extLst>
          </p:cNvPr>
          <p:cNvGrpSpPr/>
          <p:nvPr/>
        </p:nvGrpSpPr>
        <p:grpSpPr>
          <a:xfrm>
            <a:off x="2775352" y="1418472"/>
            <a:ext cx="3268890" cy="912967"/>
            <a:chOff x="582919" y="134337"/>
            <a:chExt cx="6886117" cy="1923225"/>
          </a:xfrm>
        </p:grpSpPr>
        <p:sp>
          <p:nvSpPr>
            <p:cNvPr id="46" name="Rectangle 45">
              <a:extLst>
                <a:ext uri="{FF2B5EF4-FFF2-40B4-BE49-F238E27FC236}">
                  <a16:creationId xmlns:a16="http://schemas.microsoft.com/office/drawing/2014/main" id="{B0F721AD-E8BA-1160-0647-1C4DA26C24D0}"/>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47" name="Rectangle 46">
              <a:extLst>
                <a:ext uri="{FF2B5EF4-FFF2-40B4-BE49-F238E27FC236}">
                  <a16:creationId xmlns:a16="http://schemas.microsoft.com/office/drawing/2014/main" id="{1BB6C5AB-B61E-9602-933E-FAF26F45A4EA}"/>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48" name="Rectangle 47">
              <a:extLst>
                <a:ext uri="{FF2B5EF4-FFF2-40B4-BE49-F238E27FC236}">
                  <a16:creationId xmlns:a16="http://schemas.microsoft.com/office/drawing/2014/main" id="{4C8218B4-7F3C-E816-3E58-0C0386F7613A}"/>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49" name="Rectangle 48">
              <a:extLst>
                <a:ext uri="{FF2B5EF4-FFF2-40B4-BE49-F238E27FC236}">
                  <a16:creationId xmlns:a16="http://schemas.microsoft.com/office/drawing/2014/main" id="{ED57A008-C878-464D-7A7B-7A810AF400C7}"/>
                </a:ext>
              </a:extLst>
            </p:cNvPr>
            <p:cNvSpPr/>
            <p:nvPr/>
          </p:nvSpPr>
          <p:spPr>
            <a:xfrm rot="5400000">
              <a:off x="6388155"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50" name="Rectangle 49">
              <a:extLst>
                <a:ext uri="{FF2B5EF4-FFF2-40B4-BE49-F238E27FC236}">
                  <a16:creationId xmlns:a16="http://schemas.microsoft.com/office/drawing/2014/main" id="{DEE11DB7-F6CF-B5AB-ED78-0D6D815D49FD}"/>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51" name="Rectangle 50">
              <a:extLst>
                <a:ext uri="{FF2B5EF4-FFF2-40B4-BE49-F238E27FC236}">
                  <a16:creationId xmlns:a16="http://schemas.microsoft.com/office/drawing/2014/main" id="{E85B3708-A3FB-C73C-F7CD-0C844E97F726}"/>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52" name="Rectangle 51">
              <a:extLst>
                <a:ext uri="{FF2B5EF4-FFF2-40B4-BE49-F238E27FC236}">
                  <a16:creationId xmlns:a16="http://schemas.microsoft.com/office/drawing/2014/main" id="{27841D23-D5B4-1EAF-A79A-A52198826826}"/>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53" name="TextBox 52">
            <a:extLst>
              <a:ext uri="{FF2B5EF4-FFF2-40B4-BE49-F238E27FC236}">
                <a16:creationId xmlns:a16="http://schemas.microsoft.com/office/drawing/2014/main" id="{EBAE2272-5F39-790E-E7C7-68A153910AF2}"/>
              </a:ext>
            </a:extLst>
          </p:cNvPr>
          <p:cNvSpPr txBox="1"/>
          <p:nvPr/>
        </p:nvSpPr>
        <p:spPr>
          <a:xfrm>
            <a:off x="3698429" y="1613345"/>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54" name="TextBox 53">
            <a:extLst>
              <a:ext uri="{FF2B5EF4-FFF2-40B4-BE49-F238E27FC236}">
                <a16:creationId xmlns:a16="http://schemas.microsoft.com/office/drawing/2014/main" id="{E331923E-ABD3-AD09-91A3-A410FF2B916F}"/>
              </a:ext>
            </a:extLst>
          </p:cNvPr>
          <p:cNvSpPr txBox="1"/>
          <p:nvPr/>
        </p:nvSpPr>
        <p:spPr>
          <a:xfrm>
            <a:off x="4499541" y="1613345"/>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55" name="TextBox 54">
            <a:extLst>
              <a:ext uri="{FF2B5EF4-FFF2-40B4-BE49-F238E27FC236}">
                <a16:creationId xmlns:a16="http://schemas.microsoft.com/office/drawing/2014/main" id="{993021A8-D538-DDFA-62B1-97C716FA63C4}"/>
              </a:ext>
            </a:extLst>
          </p:cNvPr>
          <p:cNvSpPr txBox="1"/>
          <p:nvPr/>
        </p:nvSpPr>
        <p:spPr>
          <a:xfrm>
            <a:off x="5284468" y="1613345"/>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56" name="TextBox 55">
            <a:extLst>
              <a:ext uri="{FF2B5EF4-FFF2-40B4-BE49-F238E27FC236}">
                <a16:creationId xmlns:a16="http://schemas.microsoft.com/office/drawing/2014/main" id="{01F851FF-07F3-89C7-7AF5-F6E075DBB2A6}"/>
              </a:ext>
            </a:extLst>
          </p:cNvPr>
          <p:cNvSpPr txBox="1"/>
          <p:nvPr/>
        </p:nvSpPr>
        <p:spPr>
          <a:xfrm>
            <a:off x="2945869" y="1613345"/>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57" name="TextBox 56">
            <a:extLst>
              <a:ext uri="{FF2B5EF4-FFF2-40B4-BE49-F238E27FC236}">
                <a16:creationId xmlns:a16="http://schemas.microsoft.com/office/drawing/2014/main" id="{B4D32598-4DA0-D4CC-CEA4-2C712529BEF8}"/>
              </a:ext>
            </a:extLst>
          </p:cNvPr>
          <p:cNvSpPr txBox="1"/>
          <p:nvPr/>
        </p:nvSpPr>
        <p:spPr>
          <a:xfrm>
            <a:off x="312915" y="1612230"/>
            <a:ext cx="2529501" cy="461665"/>
          </a:xfrm>
          <a:prstGeom prst="rect">
            <a:avLst/>
          </a:prstGeom>
          <a:noFill/>
        </p:spPr>
        <p:txBody>
          <a:bodyPr wrap="square" rtlCol="0">
            <a:spAutoFit/>
          </a:bodyPr>
          <a:lstStyle/>
          <a:p>
            <a:r>
              <a:rPr lang="en-US" sz="2400">
                <a:latin typeface="+mj-lt"/>
              </a:rPr>
              <a:t>internalArray</a:t>
            </a:r>
          </a:p>
        </p:txBody>
      </p:sp>
      <p:sp>
        <p:nvSpPr>
          <p:cNvPr id="58" name="TextBox 57">
            <a:extLst>
              <a:ext uri="{FF2B5EF4-FFF2-40B4-BE49-F238E27FC236}">
                <a16:creationId xmlns:a16="http://schemas.microsoft.com/office/drawing/2014/main" id="{6B82EBBC-A89F-B218-08F3-EAA59D813AC2}"/>
              </a:ext>
            </a:extLst>
          </p:cNvPr>
          <p:cNvSpPr txBox="1"/>
          <p:nvPr/>
        </p:nvSpPr>
        <p:spPr>
          <a:xfrm>
            <a:off x="359087" y="501144"/>
            <a:ext cx="2529501" cy="461665"/>
          </a:xfrm>
          <a:prstGeom prst="rect">
            <a:avLst/>
          </a:prstGeom>
          <a:noFill/>
        </p:spPr>
        <p:txBody>
          <a:bodyPr wrap="square" rtlCol="0">
            <a:spAutoFit/>
          </a:bodyPr>
          <a:lstStyle/>
          <a:p>
            <a:r>
              <a:rPr lang="en-US" sz="2400">
                <a:latin typeface="+mj-lt"/>
              </a:rPr>
              <a:t>length</a:t>
            </a:r>
          </a:p>
        </p:txBody>
      </p:sp>
      <p:sp>
        <p:nvSpPr>
          <p:cNvPr id="59" name="TextBox 58">
            <a:extLst>
              <a:ext uri="{FF2B5EF4-FFF2-40B4-BE49-F238E27FC236}">
                <a16:creationId xmlns:a16="http://schemas.microsoft.com/office/drawing/2014/main" id="{1779637A-F76A-3E8E-9F4E-679239AB7C8C}"/>
              </a:ext>
            </a:extLst>
          </p:cNvPr>
          <p:cNvSpPr txBox="1"/>
          <p:nvPr/>
        </p:nvSpPr>
        <p:spPr>
          <a:xfrm>
            <a:off x="1733469" y="316477"/>
            <a:ext cx="664044" cy="830997"/>
          </a:xfrm>
          <a:prstGeom prst="rect">
            <a:avLst/>
          </a:prstGeom>
          <a:noFill/>
        </p:spPr>
        <p:txBody>
          <a:bodyPr wrap="square" rtlCol="0">
            <a:spAutoFit/>
          </a:bodyPr>
          <a:lstStyle/>
          <a:p>
            <a:r>
              <a:rPr lang="en-US" sz="4800">
                <a:solidFill>
                  <a:schemeClr val="accent5">
                    <a:lumMod val="75000"/>
                  </a:schemeClr>
                </a:solidFill>
                <a:latin typeface="+mj-lt"/>
              </a:rPr>
              <a:t>4</a:t>
            </a:r>
          </a:p>
        </p:txBody>
      </p:sp>
      <p:grpSp>
        <p:nvGrpSpPr>
          <p:cNvPr id="2" name="Group 1">
            <a:extLst>
              <a:ext uri="{FF2B5EF4-FFF2-40B4-BE49-F238E27FC236}">
                <a16:creationId xmlns:a16="http://schemas.microsoft.com/office/drawing/2014/main" id="{196E8E7B-8144-E97E-6950-42F00C99D28F}"/>
              </a:ext>
            </a:extLst>
          </p:cNvPr>
          <p:cNvGrpSpPr/>
          <p:nvPr/>
        </p:nvGrpSpPr>
        <p:grpSpPr>
          <a:xfrm>
            <a:off x="1210918" y="2801165"/>
            <a:ext cx="6393846" cy="915812"/>
            <a:chOff x="1303110" y="1353818"/>
            <a:chExt cx="6393846" cy="915812"/>
          </a:xfrm>
        </p:grpSpPr>
        <p:grpSp>
          <p:nvGrpSpPr>
            <p:cNvPr id="3" name="Group 2">
              <a:extLst>
                <a:ext uri="{FF2B5EF4-FFF2-40B4-BE49-F238E27FC236}">
                  <a16:creationId xmlns:a16="http://schemas.microsoft.com/office/drawing/2014/main" id="{B931B5E1-E1FA-C0B3-4903-E347E329F3F3}"/>
                </a:ext>
              </a:extLst>
            </p:cNvPr>
            <p:cNvGrpSpPr/>
            <p:nvPr/>
          </p:nvGrpSpPr>
          <p:grpSpPr>
            <a:xfrm>
              <a:off x="1303110" y="1356663"/>
              <a:ext cx="3268890" cy="912967"/>
              <a:chOff x="582919" y="134337"/>
              <a:chExt cx="6886117" cy="1923225"/>
            </a:xfrm>
          </p:grpSpPr>
          <p:sp>
            <p:nvSpPr>
              <p:cNvPr id="12" name="Rectangle 11">
                <a:extLst>
                  <a:ext uri="{FF2B5EF4-FFF2-40B4-BE49-F238E27FC236}">
                    <a16:creationId xmlns:a16="http://schemas.microsoft.com/office/drawing/2014/main" id="{19A9B54B-D09E-453C-A087-FCDEAE87EE8F}"/>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3" name="Rectangle 12">
                <a:extLst>
                  <a:ext uri="{FF2B5EF4-FFF2-40B4-BE49-F238E27FC236}">
                    <a16:creationId xmlns:a16="http://schemas.microsoft.com/office/drawing/2014/main" id="{FF2E32B4-F193-9C44-2247-88CB20F5B4BC}"/>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4" name="Rectangle 13">
                <a:extLst>
                  <a:ext uri="{FF2B5EF4-FFF2-40B4-BE49-F238E27FC236}">
                    <a16:creationId xmlns:a16="http://schemas.microsoft.com/office/drawing/2014/main" id="{0EA7CC0F-9F94-6E21-B1FF-1891C5DD2802}"/>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5" name="Rectangle 14">
                <a:extLst>
                  <a:ext uri="{FF2B5EF4-FFF2-40B4-BE49-F238E27FC236}">
                    <a16:creationId xmlns:a16="http://schemas.microsoft.com/office/drawing/2014/main" id="{52FBB1A9-FD22-107B-46F7-888CE6DAB8CB}"/>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B8E02ED7-38B3-1B3C-78D4-414E076BB1A2}"/>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7" name="Rectangle 16">
                <a:extLst>
                  <a:ext uri="{FF2B5EF4-FFF2-40B4-BE49-F238E27FC236}">
                    <a16:creationId xmlns:a16="http://schemas.microsoft.com/office/drawing/2014/main" id="{BB79870D-CFB4-8F5A-45CB-E829D77C2773}"/>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grpSp>
          <p:nvGrpSpPr>
            <p:cNvPr id="4" name="Group 3">
              <a:extLst>
                <a:ext uri="{FF2B5EF4-FFF2-40B4-BE49-F238E27FC236}">
                  <a16:creationId xmlns:a16="http://schemas.microsoft.com/office/drawing/2014/main" id="{0D1DD84F-1802-BE96-05CA-8D96D3DF92F0}"/>
                </a:ext>
              </a:extLst>
            </p:cNvPr>
            <p:cNvGrpSpPr/>
            <p:nvPr/>
          </p:nvGrpSpPr>
          <p:grpSpPr>
            <a:xfrm rot="10800000">
              <a:off x="4428066" y="1353818"/>
              <a:ext cx="3268890" cy="912967"/>
              <a:chOff x="582919" y="134337"/>
              <a:chExt cx="6886117" cy="1923225"/>
            </a:xfrm>
          </p:grpSpPr>
          <p:sp>
            <p:nvSpPr>
              <p:cNvPr id="6" name="Rectangle 5">
                <a:extLst>
                  <a:ext uri="{FF2B5EF4-FFF2-40B4-BE49-F238E27FC236}">
                    <a16:creationId xmlns:a16="http://schemas.microsoft.com/office/drawing/2014/main" id="{4E2094BB-D402-FF8F-70D0-82F9D6228B5B}"/>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14DE173A-F128-9B95-54AD-4326993A0C39}"/>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16903893-99D6-3D43-C721-2AFD166397D1}"/>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C8DCB6AD-B091-346E-6EF9-A5E843364AD0}"/>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0" name="Rectangle 9">
                <a:extLst>
                  <a:ext uri="{FF2B5EF4-FFF2-40B4-BE49-F238E27FC236}">
                    <a16:creationId xmlns:a16="http://schemas.microsoft.com/office/drawing/2014/main" id="{70CFE08A-4E34-48AF-5A7F-146639119087}"/>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1" name="Rectangle 10">
                <a:extLst>
                  <a:ext uri="{FF2B5EF4-FFF2-40B4-BE49-F238E27FC236}">
                    <a16:creationId xmlns:a16="http://schemas.microsoft.com/office/drawing/2014/main" id="{8843B532-83B0-A3C6-8A49-3128610DEE08}"/>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5" name="Rectangle 4">
              <a:extLst>
                <a:ext uri="{FF2B5EF4-FFF2-40B4-BE49-F238E27FC236}">
                  <a16:creationId xmlns:a16="http://schemas.microsoft.com/office/drawing/2014/main" id="{F7411514-393C-2AEA-CB5D-3AC8C758E152}"/>
                </a:ext>
              </a:extLst>
            </p:cNvPr>
            <p:cNvSpPr/>
            <p:nvPr/>
          </p:nvSpPr>
          <p:spPr>
            <a:xfrm rot="5400000">
              <a:off x="4032228" y="1777814"/>
              <a:ext cx="912966" cy="64974"/>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18" name="TextBox 17">
            <a:extLst>
              <a:ext uri="{FF2B5EF4-FFF2-40B4-BE49-F238E27FC236}">
                <a16:creationId xmlns:a16="http://schemas.microsoft.com/office/drawing/2014/main" id="{CBBDA4B6-BBAD-1202-65F9-53272784809D}"/>
              </a:ext>
            </a:extLst>
          </p:cNvPr>
          <p:cNvSpPr txBox="1"/>
          <p:nvPr/>
        </p:nvSpPr>
        <p:spPr>
          <a:xfrm>
            <a:off x="312915" y="3028239"/>
            <a:ext cx="2529501" cy="461665"/>
          </a:xfrm>
          <a:prstGeom prst="rect">
            <a:avLst/>
          </a:prstGeom>
          <a:noFill/>
        </p:spPr>
        <p:txBody>
          <a:bodyPr wrap="square" rtlCol="0">
            <a:spAutoFit/>
          </a:bodyPr>
          <a:lstStyle/>
          <a:p>
            <a:r>
              <a:rPr lang="en-US" sz="2400">
                <a:latin typeface="+mj-lt"/>
              </a:rPr>
              <a:t>tmp</a:t>
            </a:r>
          </a:p>
        </p:txBody>
      </p:sp>
      <p:sp>
        <p:nvSpPr>
          <p:cNvPr id="23" name="Title 34">
            <a:extLst>
              <a:ext uri="{FF2B5EF4-FFF2-40B4-BE49-F238E27FC236}">
                <a16:creationId xmlns:a16="http://schemas.microsoft.com/office/drawing/2014/main" id="{30007191-6B5E-FBE3-4BB6-7DCFB5C0947A}"/>
              </a:ext>
            </a:extLst>
          </p:cNvPr>
          <p:cNvSpPr txBox="1">
            <a:spLocks/>
          </p:cNvSpPr>
          <p:nvPr/>
        </p:nvSpPr>
        <p:spPr>
          <a:xfrm>
            <a:off x="6842073" y="320052"/>
            <a:ext cx="1942840" cy="461665"/>
          </a:xfrm>
          <a:prstGeom prst="rect">
            <a:avLst/>
          </a:prstGeom>
          <a:solidFill>
            <a:schemeClr val="accent6">
              <a:lumMod val="20000"/>
              <a:lumOff val="80000"/>
            </a:schemeClr>
          </a:solidFill>
          <a:ln>
            <a:solidFill>
              <a:schemeClr val="tx1"/>
            </a:solidFill>
          </a:ln>
        </p:spPr>
        <p:txBody>
          <a:bodyPr anchor="ctr"/>
          <a:lstStyle>
            <a:lvl1pPr algn="ctr" defTabSz="342886" rtl="0" eaLnBrk="1" latinLnBrk="0" hangingPunct="1">
              <a:spcBef>
                <a:spcPct val="0"/>
              </a:spcBef>
              <a:buNone/>
              <a:defRPr sz="3200" kern="1200">
                <a:solidFill>
                  <a:schemeClr val="tx1"/>
                </a:solidFill>
                <a:latin typeface="+mn-lt"/>
                <a:ea typeface="Segoe UI Emoji" panose="020B0502040204020203" pitchFamily="34" charset="0"/>
                <a:cs typeface="+mj-cs"/>
              </a:defRPr>
            </a:lvl1pPr>
          </a:lstStyle>
          <a:p>
            <a:r>
              <a:rPr lang="en-US" sz="2000" b="1">
                <a:latin typeface="Consolas" panose="020B0609020204030204" pitchFamily="49" charset="0"/>
                <a:cs typeface="Consolas" panose="020B0609020204030204" pitchFamily="49" charset="0"/>
              </a:rPr>
              <a:t>list.add(🍇)</a:t>
            </a:r>
          </a:p>
        </p:txBody>
      </p:sp>
      <p:sp>
        <p:nvSpPr>
          <p:cNvPr id="19" name="TextBox 18">
            <a:extLst>
              <a:ext uri="{FF2B5EF4-FFF2-40B4-BE49-F238E27FC236}">
                <a16:creationId xmlns:a16="http://schemas.microsoft.com/office/drawing/2014/main" id="{13AFCEDC-5F61-FE7D-5736-0985E0E0B0BA}"/>
              </a:ext>
            </a:extLst>
          </p:cNvPr>
          <p:cNvSpPr txBox="1"/>
          <p:nvPr/>
        </p:nvSpPr>
        <p:spPr>
          <a:xfrm>
            <a:off x="3698429" y="1613345"/>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20" name="TextBox 19">
            <a:extLst>
              <a:ext uri="{FF2B5EF4-FFF2-40B4-BE49-F238E27FC236}">
                <a16:creationId xmlns:a16="http://schemas.microsoft.com/office/drawing/2014/main" id="{4DC04307-9F2E-6B68-AC7C-0BC2EA048CD8}"/>
              </a:ext>
            </a:extLst>
          </p:cNvPr>
          <p:cNvSpPr txBox="1"/>
          <p:nvPr/>
        </p:nvSpPr>
        <p:spPr>
          <a:xfrm>
            <a:off x="4499541" y="1613345"/>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21" name="TextBox 20">
            <a:extLst>
              <a:ext uri="{FF2B5EF4-FFF2-40B4-BE49-F238E27FC236}">
                <a16:creationId xmlns:a16="http://schemas.microsoft.com/office/drawing/2014/main" id="{DA013ABF-E4BE-2498-9136-8E4F0C9C4140}"/>
              </a:ext>
            </a:extLst>
          </p:cNvPr>
          <p:cNvSpPr txBox="1"/>
          <p:nvPr/>
        </p:nvSpPr>
        <p:spPr>
          <a:xfrm>
            <a:off x="5284468" y="1613345"/>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22" name="TextBox 21">
            <a:extLst>
              <a:ext uri="{FF2B5EF4-FFF2-40B4-BE49-F238E27FC236}">
                <a16:creationId xmlns:a16="http://schemas.microsoft.com/office/drawing/2014/main" id="{32B818A9-C366-185B-0D75-8D566104E890}"/>
              </a:ext>
            </a:extLst>
          </p:cNvPr>
          <p:cNvSpPr txBox="1"/>
          <p:nvPr/>
        </p:nvSpPr>
        <p:spPr>
          <a:xfrm>
            <a:off x="2945869" y="1613345"/>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Tree>
    <p:extLst>
      <p:ext uri="{BB962C8B-B14F-4D97-AF65-F5344CB8AC3E}">
        <p14:creationId xmlns:p14="http://schemas.microsoft.com/office/powerpoint/2010/main" val="158393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3D049-979A-A63E-2E31-0A3303A23F87}"/>
            </a:ext>
          </a:extLst>
        </p:cNvPr>
        <p:cNvGrpSpPr/>
        <p:nvPr/>
      </p:nvGrpSpPr>
      <p:grpSpPr>
        <a:xfrm>
          <a:off x="0" y="0"/>
          <a:ext cx="0" cy="0"/>
          <a:chOff x="0" y="0"/>
          <a:chExt cx="0" cy="0"/>
        </a:xfrm>
      </p:grpSpPr>
      <p:grpSp>
        <p:nvGrpSpPr>
          <p:cNvPr id="45" name="Group 44">
            <a:extLst>
              <a:ext uri="{FF2B5EF4-FFF2-40B4-BE49-F238E27FC236}">
                <a16:creationId xmlns:a16="http://schemas.microsoft.com/office/drawing/2014/main" id="{98900159-3F4B-8457-F92B-5FD4FCD3153C}"/>
              </a:ext>
            </a:extLst>
          </p:cNvPr>
          <p:cNvGrpSpPr/>
          <p:nvPr/>
        </p:nvGrpSpPr>
        <p:grpSpPr>
          <a:xfrm>
            <a:off x="2775352" y="1418472"/>
            <a:ext cx="3268890" cy="912967"/>
            <a:chOff x="582919" y="134337"/>
            <a:chExt cx="6886117" cy="1923225"/>
          </a:xfrm>
        </p:grpSpPr>
        <p:sp>
          <p:nvSpPr>
            <p:cNvPr id="46" name="Rectangle 45">
              <a:extLst>
                <a:ext uri="{FF2B5EF4-FFF2-40B4-BE49-F238E27FC236}">
                  <a16:creationId xmlns:a16="http://schemas.microsoft.com/office/drawing/2014/main" id="{318998A8-A351-2241-FC2D-C511ACC2F99D}"/>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47" name="Rectangle 46">
              <a:extLst>
                <a:ext uri="{FF2B5EF4-FFF2-40B4-BE49-F238E27FC236}">
                  <a16:creationId xmlns:a16="http://schemas.microsoft.com/office/drawing/2014/main" id="{1169E2C1-F3BA-7422-35BD-CA0F62F04F74}"/>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48" name="Rectangle 47">
              <a:extLst>
                <a:ext uri="{FF2B5EF4-FFF2-40B4-BE49-F238E27FC236}">
                  <a16:creationId xmlns:a16="http://schemas.microsoft.com/office/drawing/2014/main" id="{03D80D1E-E430-4FDB-11E0-973CE2D7A492}"/>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49" name="Rectangle 48">
              <a:extLst>
                <a:ext uri="{FF2B5EF4-FFF2-40B4-BE49-F238E27FC236}">
                  <a16:creationId xmlns:a16="http://schemas.microsoft.com/office/drawing/2014/main" id="{D6F46A50-15D1-B11C-60D6-1D9D49A0208A}"/>
                </a:ext>
              </a:extLst>
            </p:cNvPr>
            <p:cNvSpPr/>
            <p:nvPr/>
          </p:nvSpPr>
          <p:spPr>
            <a:xfrm rot="5400000">
              <a:off x="6388155"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50" name="Rectangle 49">
              <a:extLst>
                <a:ext uri="{FF2B5EF4-FFF2-40B4-BE49-F238E27FC236}">
                  <a16:creationId xmlns:a16="http://schemas.microsoft.com/office/drawing/2014/main" id="{586A8B80-1E0D-F8F8-7107-72E33D66093A}"/>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51" name="Rectangle 50">
              <a:extLst>
                <a:ext uri="{FF2B5EF4-FFF2-40B4-BE49-F238E27FC236}">
                  <a16:creationId xmlns:a16="http://schemas.microsoft.com/office/drawing/2014/main" id="{DE6967E2-345B-2C22-29DD-247B8D03DE16}"/>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52" name="Rectangle 51">
              <a:extLst>
                <a:ext uri="{FF2B5EF4-FFF2-40B4-BE49-F238E27FC236}">
                  <a16:creationId xmlns:a16="http://schemas.microsoft.com/office/drawing/2014/main" id="{A7A7F749-8D89-FC32-A3C5-D5C4509A6A94}"/>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53" name="TextBox 52">
            <a:extLst>
              <a:ext uri="{FF2B5EF4-FFF2-40B4-BE49-F238E27FC236}">
                <a16:creationId xmlns:a16="http://schemas.microsoft.com/office/drawing/2014/main" id="{DE2D9F9A-662E-EA1B-08A1-0B28C829DCF7}"/>
              </a:ext>
            </a:extLst>
          </p:cNvPr>
          <p:cNvSpPr txBox="1"/>
          <p:nvPr/>
        </p:nvSpPr>
        <p:spPr>
          <a:xfrm>
            <a:off x="2162651" y="297707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54" name="TextBox 53">
            <a:extLst>
              <a:ext uri="{FF2B5EF4-FFF2-40B4-BE49-F238E27FC236}">
                <a16:creationId xmlns:a16="http://schemas.microsoft.com/office/drawing/2014/main" id="{C85A043D-5CC6-FFB9-B2C5-89158DA56B96}"/>
              </a:ext>
            </a:extLst>
          </p:cNvPr>
          <p:cNvSpPr txBox="1"/>
          <p:nvPr/>
        </p:nvSpPr>
        <p:spPr>
          <a:xfrm>
            <a:off x="2963763" y="297707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55" name="TextBox 54">
            <a:extLst>
              <a:ext uri="{FF2B5EF4-FFF2-40B4-BE49-F238E27FC236}">
                <a16:creationId xmlns:a16="http://schemas.microsoft.com/office/drawing/2014/main" id="{BCB5E55F-D9B4-8477-26A9-AF6854F62763}"/>
              </a:ext>
            </a:extLst>
          </p:cNvPr>
          <p:cNvSpPr txBox="1"/>
          <p:nvPr/>
        </p:nvSpPr>
        <p:spPr>
          <a:xfrm>
            <a:off x="3748690" y="297707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56" name="TextBox 55">
            <a:extLst>
              <a:ext uri="{FF2B5EF4-FFF2-40B4-BE49-F238E27FC236}">
                <a16:creationId xmlns:a16="http://schemas.microsoft.com/office/drawing/2014/main" id="{BE27715C-39E4-15A7-F69C-997D897EF302}"/>
              </a:ext>
            </a:extLst>
          </p:cNvPr>
          <p:cNvSpPr txBox="1"/>
          <p:nvPr/>
        </p:nvSpPr>
        <p:spPr>
          <a:xfrm>
            <a:off x="1410091" y="2977074"/>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57" name="TextBox 56">
            <a:extLst>
              <a:ext uri="{FF2B5EF4-FFF2-40B4-BE49-F238E27FC236}">
                <a16:creationId xmlns:a16="http://schemas.microsoft.com/office/drawing/2014/main" id="{56C3372C-098B-D2B0-1CF1-20D4A5ADCF27}"/>
              </a:ext>
            </a:extLst>
          </p:cNvPr>
          <p:cNvSpPr txBox="1"/>
          <p:nvPr/>
        </p:nvSpPr>
        <p:spPr>
          <a:xfrm>
            <a:off x="312915" y="1612230"/>
            <a:ext cx="2529501" cy="461665"/>
          </a:xfrm>
          <a:prstGeom prst="rect">
            <a:avLst/>
          </a:prstGeom>
          <a:noFill/>
        </p:spPr>
        <p:txBody>
          <a:bodyPr wrap="square" rtlCol="0">
            <a:spAutoFit/>
          </a:bodyPr>
          <a:lstStyle/>
          <a:p>
            <a:r>
              <a:rPr lang="en-US" sz="2400">
                <a:latin typeface="+mj-lt"/>
              </a:rPr>
              <a:t>internalArray</a:t>
            </a:r>
          </a:p>
        </p:txBody>
      </p:sp>
      <p:sp>
        <p:nvSpPr>
          <p:cNvPr id="58" name="TextBox 57">
            <a:extLst>
              <a:ext uri="{FF2B5EF4-FFF2-40B4-BE49-F238E27FC236}">
                <a16:creationId xmlns:a16="http://schemas.microsoft.com/office/drawing/2014/main" id="{4D0780FA-9F55-3EFC-A8A4-3CD3115ACBDE}"/>
              </a:ext>
            </a:extLst>
          </p:cNvPr>
          <p:cNvSpPr txBox="1"/>
          <p:nvPr/>
        </p:nvSpPr>
        <p:spPr>
          <a:xfrm>
            <a:off x="359087" y="501144"/>
            <a:ext cx="2529501" cy="461665"/>
          </a:xfrm>
          <a:prstGeom prst="rect">
            <a:avLst/>
          </a:prstGeom>
          <a:noFill/>
        </p:spPr>
        <p:txBody>
          <a:bodyPr wrap="square" rtlCol="0">
            <a:spAutoFit/>
          </a:bodyPr>
          <a:lstStyle/>
          <a:p>
            <a:r>
              <a:rPr lang="en-US" sz="2400">
                <a:latin typeface="+mj-lt"/>
              </a:rPr>
              <a:t>length</a:t>
            </a:r>
          </a:p>
        </p:txBody>
      </p:sp>
      <p:sp>
        <p:nvSpPr>
          <p:cNvPr id="59" name="TextBox 58">
            <a:extLst>
              <a:ext uri="{FF2B5EF4-FFF2-40B4-BE49-F238E27FC236}">
                <a16:creationId xmlns:a16="http://schemas.microsoft.com/office/drawing/2014/main" id="{FE5BB737-0EA8-EA02-960F-3F8191820338}"/>
              </a:ext>
            </a:extLst>
          </p:cNvPr>
          <p:cNvSpPr txBox="1"/>
          <p:nvPr/>
        </p:nvSpPr>
        <p:spPr>
          <a:xfrm>
            <a:off x="1733469" y="316477"/>
            <a:ext cx="664044" cy="830997"/>
          </a:xfrm>
          <a:prstGeom prst="rect">
            <a:avLst/>
          </a:prstGeom>
          <a:noFill/>
        </p:spPr>
        <p:txBody>
          <a:bodyPr wrap="square" rtlCol="0">
            <a:spAutoFit/>
          </a:bodyPr>
          <a:lstStyle/>
          <a:p>
            <a:r>
              <a:rPr lang="en-US" sz="4800">
                <a:solidFill>
                  <a:schemeClr val="accent5">
                    <a:lumMod val="75000"/>
                  </a:schemeClr>
                </a:solidFill>
                <a:latin typeface="+mj-lt"/>
              </a:rPr>
              <a:t>4</a:t>
            </a:r>
          </a:p>
        </p:txBody>
      </p:sp>
      <p:grpSp>
        <p:nvGrpSpPr>
          <p:cNvPr id="2" name="Group 1">
            <a:extLst>
              <a:ext uri="{FF2B5EF4-FFF2-40B4-BE49-F238E27FC236}">
                <a16:creationId xmlns:a16="http://schemas.microsoft.com/office/drawing/2014/main" id="{C667DFAB-9CEF-9D72-E196-625ECFFB723B}"/>
              </a:ext>
            </a:extLst>
          </p:cNvPr>
          <p:cNvGrpSpPr/>
          <p:nvPr/>
        </p:nvGrpSpPr>
        <p:grpSpPr>
          <a:xfrm>
            <a:off x="1210918" y="2801165"/>
            <a:ext cx="6393846" cy="915812"/>
            <a:chOff x="1303110" y="1353818"/>
            <a:chExt cx="6393846" cy="915812"/>
          </a:xfrm>
        </p:grpSpPr>
        <p:grpSp>
          <p:nvGrpSpPr>
            <p:cNvPr id="3" name="Group 2">
              <a:extLst>
                <a:ext uri="{FF2B5EF4-FFF2-40B4-BE49-F238E27FC236}">
                  <a16:creationId xmlns:a16="http://schemas.microsoft.com/office/drawing/2014/main" id="{8E89B4B7-3A7F-2CD8-F7FE-61F71FD23143}"/>
                </a:ext>
              </a:extLst>
            </p:cNvPr>
            <p:cNvGrpSpPr/>
            <p:nvPr/>
          </p:nvGrpSpPr>
          <p:grpSpPr>
            <a:xfrm>
              <a:off x="1303110" y="1356663"/>
              <a:ext cx="3268890" cy="912967"/>
              <a:chOff x="582919" y="134337"/>
              <a:chExt cx="6886117" cy="1923225"/>
            </a:xfrm>
          </p:grpSpPr>
          <p:sp>
            <p:nvSpPr>
              <p:cNvPr id="12" name="Rectangle 11">
                <a:extLst>
                  <a:ext uri="{FF2B5EF4-FFF2-40B4-BE49-F238E27FC236}">
                    <a16:creationId xmlns:a16="http://schemas.microsoft.com/office/drawing/2014/main" id="{B58B75A6-8201-F709-5696-FF8F714E8D21}"/>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3" name="Rectangle 12">
                <a:extLst>
                  <a:ext uri="{FF2B5EF4-FFF2-40B4-BE49-F238E27FC236}">
                    <a16:creationId xmlns:a16="http://schemas.microsoft.com/office/drawing/2014/main" id="{E3C8E362-9A6A-96BF-121A-8DCD4ECD7FD1}"/>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4" name="Rectangle 13">
                <a:extLst>
                  <a:ext uri="{FF2B5EF4-FFF2-40B4-BE49-F238E27FC236}">
                    <a16:creationId xmlns:a16="http://schemas.microsoft.com/office/drawing/2014/main" id="{8CB35FC7-E793-619A-96FC-F218E4701A37}"/>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5" name="Rectangle 14">
                <a:extLst>
                  <a:ext uri="{FF2B5EF4-FFF2-40B4-BE49-F238E27FC236}">
                    <a16:creationId xmlns:a16="http://schemas.microsoft.com/office/drawing/2014/main" id="{CA2B85E7-CFE3-AA59-C357-F661A967477A}"/>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9D0B70CD-C295-F394-C8A4-C3BFE1859B48}"/>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7" name="Rectangle 16">
                <a:extLst>
                  <a:ext uri="{FF2B5EF4-FFF2-40B4-BE49-F238E27FC236}">
                    <a16:creationId xmlns:a16="http://schemas.microsoft.com/office/drawing/2014/main" id="{D1A3EC35-B1EE-D7FB-C6BC-1D2AFB223DAD}"/>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grpSp>
          <p:nvGrpSpPr>
            <p:cNvPr id="4" name="Group 3">
              <a:extLst>
                <a:ext uri="{FF2B5EF4-FFF2-40B4-BE49-F238E27FC236}">
                  <a16:creationId xmlns:a16="http://schemas.microsoft.com/office/drawing/2014/main" id="{AEA85EB7-ABF0-6252-24B2-BFB4DA0FCFB6}"/>
                </a:ext>
              </a:extLst>
            </p:cNvPr>
            <p:cNvGrpSpPr/>
            <p:nvPr/>
          </p:nvGrpSpPr>
          <p:grpSpPr>
            <a:xfrm rot="10800000">
              <a:off x="4428066" y="1353818"/>
              <a:ext cx="3268890" cy="912967"/>
              <a:chOff x="582919" y="134337"/>
              <a:chExt cx="6886117" cy="1923225"/>
            </a:xfrm>
          </p:grpSpPr>
          <p:sp>
            <p:nvSpPr>
              <p:cNvPr id="6" name="Rectangle 5">
                <a:extLst>
                  <a:ext uri="{FF2B5EF4-FFF2-40B4-BE49-F238E27FC236}">
                    <a16:creationId xmlns:a16="http://schemas.microsoft.com/office/drawing/2014/main" id="{7C795C28-11F4-CF31-B9AA-303F8452C42D}"/>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9A943D09-F75F-68A7-1248-23ACD879D037}"/>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3BFDAFA7-7608-A74C-ACAB-6CA390EF7104}"/>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55462185-9370-557C-A029-73BBD31C77F3}"/>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0" name="Rectangle 9">
                <a:extLst>
                  <a:ext uri="{FF2B5EF4-FFF2-40B4-BE49-F238E27FC236}">
                    <a16:creationId xmlns:a16="http://schemas.microsoft.com/office/drawing/2014/main" id="{9ADC8685-6B83-3F7C-1A61-295B9B94D6A5}"/>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1" name="Rectangle 10">
                <a:extLst>
                  <a:ext uri="{FF2B5EF4-FFF2-40B4-BE49-F238E27FC236}">
                    <a16:creationId xmlns:a16="http://schemas.microsoft.com/office/drawing/2014/main" id="{CABFFF12-3C09-2E56-D902-849E706E7B62}"/>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5" name="Rectangle 4">
              <a:extLst>
                <a:ext uri="{FF2B5EF4-FFF2-40B4-BE49-F238E27FC236}">
                  <a16:creationId xmlns:a16="http://schemas.microsoft.com/office/drawing/2014/main" id="{A72D22B7-5FEF-7C2D-041D-900922389B2C}"/>
                </a:ext>
              </a:extLst>
            </p:cNvPr>
            <p:cNvSpPr/>
            <p:nvPr/>
          </p:nvSpPr>
          <p:spPr>
            <a:xfrm rot="5400000">
              <a:off x="4032228" y="1777814"/>
              <a:ext cx="912966" cy="64974"/>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18" name="TextBox 17">
            <a:extLst>
              <a:ext uri="{FF2B5EF4-FFF2-40B4-BE49-F238E27FC236}">
                <a16:creationId xmlns:a16="http://schemas.microsoft.com/office/drawing/2014/main" id="{517C0CC0-B99D-50BE-2D84-BF7461930A96}"/>
              </a:ext>
            </a:extLst>
          </p:cNvPr>
          <p:cNvSpPr txBox="1"/>
          <p:nvPr/>
        </p:nvSpPr>
        <p:spPr>
          <a:xfrm>
            <a:off x="312915" y="3028239"/>
            <a:ext cx="2529501" cy="461665"/>
          </a:xfrm>
          <a:prstGeom prst="rect">
            <a:avLst/>
          </a:prstGeom>
          <a:noFill/>
        </p:spPr>
        <p:txBody>
          <a:bodyPr wrap="square" rtlCol="0">
            <a:spAutoFit/>
          </a:bodyPr>
          <a:lstStyle/>
          <a:p>
            <a:r>
              <a:rPr lang="en-US" sz="2400">
                <a:latin typeface="+mj-lt"/>
              </a:rPr>
              <a:t>tmp</a:t>
            </a:r>
          </a:p>
        </p:txBody>
      </p:sp>
      <p:sp>
        <p:nvSpPr>
          <p:cNvPr id="20" name="Title 34">
            <a:extLst>
              <a:ext uri="{FF2B5EF4-FFF2-40B4-BE49-F238E27FC236}">
                <a16:creationId xmlns:a16="http://schemas.microsoft.com/office/drawing/2014/main" id="{DF108B48-0B7F-EE9D-664B-60A328DE97A7}"/>
              </a:ext>
            </a:extLst>
          </p:cNvPr>
          <p:cNvSpPr txBox="1">
            <a:spLocks/>
          </p:cNvSpPr>
          <p:nvPr/>
        </p:nvSpPr>
        <p:spPr>
          <a:xfrm>
            <a:off x="6842073" y="320052"/>
            <a:ext cx="1942840" cy="461665"/>
          </a:xfrm>
          <a:prstGeom prst="rect">
            <a:avLst/>
          </a:prstGeom>
          <a:solidFill>
            <a:schemeClr val="accent6">
              <a:lumMod val="20000"/>
              <a:lumOff val="80000"/>
            </a:schemeClr>
          </a:solidFill>
          <a:ln>
            <a:solidFill>
              <a:schemeClr val="tx1"/>
            </a:solidFill>
          </a:ln>
        </p:spPr>
        <p:txBody>
          <a:bodyPr anchor="ctr"/>
          <a:lstStyle>
            <a:lvl1pPr algn="ctr" defTabSz="342886" rtl="0" eaLnBrk="1" latinLnBrk="0" hangingPunct="1">
              <a:spcBef>
                <a:spcPct val="0"/>
              </a:spcBef>
              <a:buNone/>
              <a:defRPr sz="3200" kern="1200">
                <a:solidFill>
                  <a:schemeClr val="tx1"/>
                </a:solidFill>
                <a:latin typeface="+mn-lt"/>
                <a:ea typeface="Segoe UI Emoji" panose="020B0502040204020203" pitchFamily="34" charset="0"/>
                <a:cs typeface="+mj-cs"/>
              </a:defRPr>
            </a:lvl1pPr>
          </a:lstStyle>
          <a:p>
            <a:r>
              <a:rPr lang="en-US" sz="2000" b="1">
                <a:latin typeface="Consolas" panose="020B0609020204030204" pitchFamily="49" charset="0"/>
                <a:cs typeface="Consolas" panose="020B0609020204030204" pitchFamily="49" charset="0"/>
              </a:rPr>
              <a:t>list.add(🍇)</a:t>
            </a:r>
          </a:p>
        </p:txBody>
      </p:sp>
      <p:sp>
        <p:nvSpPr>
          <p:cNvPr id="21" name="TextBox 20">
            <a:extLst>
              <a:ext uri="{FF2B5EF4-FFF2-40B4-BE49-F238E27FC236}">
                <a16:creationId xmlns:a16="http://schemas.microsoft.com/office/drawing/2014/main" id="{125B183D-071C-D24F-6647-ED6D7D57A9E5}"/>
              </a:ext>
            </a:extLst>
          </p:cNvPr>
          <p:cNvSpPr txBox="1"/>
          <p:nvPr/>
        </p:nvSpPr>
        <p:spPr>
          <a:xfrm>
            <a:off x="8092953" y="350829"/>
            <a:ext cx="564540" cy="400110"/>
          </a:xfrm>
          <a:prstGeom prst="rect">
            <a:avLst/>
          </a:prstGeom>
          <a:noFill/>
        </p:spPr>
        <p:txBody>
          <a:bodyPr wrap="square">
            <a:spAutoFit/>
          </a:bodyPr>
          <a:lstStyle/>
          <a:p>
            <a:pPr algn="ctr"/>
            <a:r>
              <a:rPr kumimoji="0" lang="en-US" sz="2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2000"/>
          </a:p>
        </p:txBody>
      </p:sp>
      <p:sp>
        <p:nvSpPr>
          <p:cNvPr id="19" name="TextBox 18">
            <a:extLst>
              <a:ext uri="{FF2B5EF4-FFF2-40B4-BE49-F238E27FC236}">
                <a16:creationId xmlns:a16="http://schemas.microsoft.com/office/drawing/2014/main" id="{E55D2047-1251-E940-D48C-FE623B49A1E9}"/>
              </a:ext>
            </a:extLst>
          </p:cNvPr>
          <p:cNvSpPr txBox="1"/>
          <p:nvPr/>
        </p:nvSpPr>
        <p:spPr>
          <a:xfrm>
            <a:off x="3698429" y="1613345"/>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22" name="TextBox 21">
            <a:extLst>
              <a:ext uri="{FF2B5EF4-FFF2-40B4-BE49-F238E27FC236}">
                <a16:creationId xmlns:a16="http://schemas.microsoft.com/office/drawing/2014/main" id="{1F38DDD6-67E5-9C40-23ED-4F3C4EABBA68}"/>
              </a:ext>
            </a:extLst>
          </p:cNvPr>
          <p:cNvSpPr txBox="1"/>
          <p:nvPr/>
        </p:nvSpPr>
        <p:spPr>
          <a:xfrm>
            <a:off x="4499541" y="1613345"/>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23" name="TextBox 22">
            <a:extLst>
              <a:ext uri="{FF2B5EF4-FFF2-40B4-BE49-F238E27FC236}">
                <a16:creationId xmlns:a16="http://schemas.microsoft.com/office/drawing/2014/main" id="{9E12B8B9-AA6D-F15A-D3C4-0BDB4200A05E}"/>
              </a:ext>
            </a:extLst>
          </p:cNvPr>
          <p:cNvSpPr txBox="1"/>
          <p:nvPr/>
        </p:nvSpPr>
        <p:spPr>
          <a:xfrm>
            <a:off x="5284468" y="1613345"/>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24" name="TextBox 23">
            <a:extLst>
              <a:ext uri="{FF2B5EF4-FFF2-40B4-BE49-F238E27FC236}">
                <a16:creationId xmlns:a16="http://schemas.microsoft.com/office/drawing/2014/main" id="{F24CACEB-5256-5916-E90D-F06E0C8EDC37}"/>
              </a:ext>
            </a:extLst>
          </p:cNvPr>
          <p:cNvSpPr txBox="1"/>
          <p:nvPr/>
        </p:nvSpPr>
        <p:spPr>
          <a:xfrm>
            <a:off x="2945869" y="1613345"/>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Tree>
    <p:extLst>
      <p:ext uri="{BB962C8B-B14F-4D97-AF65-F5344CB8AC3E}">
        <p14:creationId xmlns:p14="http://schemas.microsoft.com/office/powerpoint/2010/main" val="249070556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EEB17-E597-2AE7-F482-24C4203F823A}"/>
            </a:ext>
          </a:extLst>
        </p:cNvPr>
        <p:cNvGrpSpPr/>
        <p:nvPr/>
      </p:nvGrpSpPr>
      <p:grpSpPr>
        <a:xfrm>
          <a:off x="0" y="0"/>
          <a:ext cx="0" cy="0"/>
          <a:chOff x="0" y="0"/>
          <a:chExt cx="0" cy="0"/>
        </a:xfrm>
      </p:grpSpPr>
      <p:grpSp>
        <p:nvGrpSpPr>
          <p:cNvPr id="45" name="Group 44">
            <a:extLst>
              <a:ext uri="{FF2B5EF4-FFF2-40B4-BE49-F238E27FC236}">
                <a16:creationId xmlns:a16="http://schemas.microsoft.com/office/drawing/2014/main" id="{16BB59E7-ED23-AF58-ADC4-A3B965AAAAA2}"/>
              </a:ext>
            </a:extLst>
          </p:cNvPr>
          <p:cNvGrpSpPr/>
          <p:nvPr/>
        </p:nvGrpSpPr>
        <p:grpSpPr>
          <a:xfrm>
            <a:off x="2775352" y="1418472"/>
            <a:ext cx="3268890" cy="912967"/>
            <a:chOff x="582919" y="134337"/>
            <a:chExt cx="6886117" cy="1923225"/>
          </a:xfrm>
        </p:grpSpPr>
        <p:sp>
          <p:nvSpPr>
            <p:cNvPr id="46" name="Rectangle 45">
              <a:extLst>
                <a:ext uri="{FF2B5EF4-FFF2-40B4-BE49-F238E27FC236}">
                  <a16:creationId xmlns:a16="http://schemas.microsoft.com/office/drawing/2014/main" id="{51018AA4-C4A2-837A-C450-80AA0FE26498}"/>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47" name="Rectangle 46">
              <a:extLst>
                <a:ext uri="{FF2B5EF4-FFF2-40B4-BE49-F238E27FC236}">
                  <a16:creationId xmlns:a16="http://schemas.microsoft.com/office/drawing/2014/main" id="{1EC1DF1C-1457-F5B3-869D-AA59DD3D6E7F}"/>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48" name="Rectangle 47">
              <a:extLst>
                <a:ext uri="{FF2B5EF4-FFF2-40B4-BE49-F238E27FC236}">
                  <a16:creationId xmlns:a16="http://schemas.microsoft.com/office/drawing/2014/main" id="{BDCCFDE0-4715-FFF7-5D29-B0DBDA04A2AA}"/>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49" name="Rectangle 48">
              <a:extLst>
                <a:ext uri="{FF2B5EF4-FFF2-40B4-BE49-F238E27FC236}">
                  <a16:creationId xmlns:a16="http://schemas.microsoft.com/office/drawing/2014/main" id="{C034B5A7-F8FF-881A-7893-B03C39B9D991}"/>
                </a:ext>
              </a:extLst>
            </p:cNvPr>
            <p:cNvSpPr/>
            <p:nvPr/>
          </p:nvSpPr>
          <p:spPr>
            <a:xfrm rot="5400000">
              <a:off x="6388155"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50" name="Rectangle 49">
              <a:extLst>
                <a:ext uri="{FF2B5EF4-FFF2-40B4-BE49-F238E27FC236}">
                  <a16:creationId xmlns:a16="http://schemas.microsoft.com/office/drawing/2014/main" id="{6A1E2685-9D6D-908F-D242-2C889E0E2F78}"/>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51" name="Rectangle 50">
              <a:extLst>
                <a:ext uri="{FF2B5EF4-FFF2-40B4-BE49-F238E27FC236}">
                  <a16:creationId xmlns:a16="http://schemas.microsoft.com/office/drawing/2014/main" id="{DBA344AF-3D13-371B-C96F-BD8D929DF1CA}"/>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52" name="Rectangle 51">
              <a:extLst>
                <a:ext uri="{FF2B5EF4-FFF2-40B4-BE49-F238E27FC236}">
                  <a16:creationId xmlns:a16="http://schemas.microsoft.com/office/drawing/2014/main" id="{AB097158-3755-E0C7-7C3D-C45613BDB8A1}"/>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53" name="TextBox 52">
            <a:extLst>
              <a:ext uri="{FF2B5EF4-FFF2-40B4-BE49-F238E27FC236}">
                <a16:creationId xmlns:a16="http://schemas.microsoft.com/office/drawing/2014/main" id="{D590C4E1-B759-3C5F-A885-1EC94D8D7505}"/>
              </a:ext>
            </a:extLst>
          </p:cNvPr>
          <p:cNvSpPr txBox="1"/>
          <p:nvPr/>
        </p:nvSpPr>
        <p:spPr>
          <a:xfrm>
            <a:off x="2162651" y="297707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54" name="TextBox 53">
            <a:extLst>
              <a:ext uri="{FF2B5EF4-FFF2-40B4-BE49-F238E27FC236}">
                <a16:creationId xmlns:a16="http://schemas.microsoft.com/office/drawing/2014/main" id="{21A7C3A2-3DC3-51A4-E8AA-DB42B2F7E009}"/>
              </a:ext>
            </a:extLst>
          </p:cNvPr>
          <p:cNvSpPr txBox="1"/>
          <p:nvPr/>
        </p:nvSpPr>
        <p:spPr>
          <a:xfrm>
            <a:off x="2963763" y="297707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55" name="TextBox 54">
            <a:extLst>
              <a:ext uri="{FF2B5EF4-FFF2-40B4-BE49-F238E27FC236}">
                <a16:creationId xmlns:a16="http://schemas.microsoft.com/office/drawing/2014/main" id="{FE6947E0-043F-EBB7-1CD0-87891F429E0B}"/>
              </a:ext>
            </a:extLst>
          </p:cNvPr>
          <p:cNvSpPr txBox="1"/>
          <p:nvPr/>
        </p:nvSpPr>
        <p:spPr>
          <a:xfrm>
            <a:off x="3748690" y="297707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56" name="TextBox 55">
            <a:extLst>
              <a:ext uri="{FF2B5EF4-FFF2-40B4-BE49-F238E27FC236}">
                <a16:creationId xmlns:a16="http://schemas.microsoft.com/office/drawing/2014/main" id="{7C9D593C-18B9-618B-562F-668A16029795}"/>
              </a:ext>
            </a:extLst>
          </p:cNvPr>
          <p:cNvSpPr txBox="1"/>
          <p:nvPr/>
        </p:nvSpPr>
        <p:spPr>
          <a:xfrm>
            <a:off x="1410091" y="2977074"/>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57" name="TextBox 56">
            <a:extLst>
              <a:ext uri="{FF2B5EF4-FFF2-40B4-BE49-F238E27FC236}">
                <a16:creationId xmlns:a16="http://schemas.microsoft.com/office/drawing/2014/main" id="{2D9404A0-6BED-21C2-A53E-3B04CA368218}"/>
              </a:ext>
            </a:extLst>
          </p:cNvPr>
          <p:cNvSpPr txBox="1"/>
          <p:nvPr/>
        </p:nvSpPr>
        <p:spPr>
          <a:xfrm>
            <a:off x="312915" y="1612230"/>
            <a:ext cx="2529501" cy="461665"/>
          </a:xfrm>
          <a:prstGeom prst="rect">
            <a:avLst/>
          </a:prstGeom>
          <a:noFill/>
        </p:spPr>
        <p:txBody>
          <a:bodyPr wrap="square" rtlCol="0">
            <a:spAutoFit/>
          </a:bodyPr>
          <a:lstStyle/>
          <a:p>
            <a:r>
              <a:rPr lang="en-US" sz="2400">
                <a:latin typeface="+mj-lt"/>
              </a:rPr>
              <a:t>internalArray</a:t>
            </a:r>
          </a:p>
        </p:txBody>
      </p:sp>
      <p:sp>
        <p:nvSpPr>
          <p:cNvPr id="58" name="TextBox 57">
            <a:extLst>
              <a:ext uri="{FF2B5EF4-FFF2-40B4-BE49-F238E27FC236}">
                <a16:creationId xmlns:a16="http://schemas.microsoft.com/office/drawing/2014/main" id="{D2460D26-C545-0033-5147-4209A662E490}"/>
              </a:ext>
            </a:extLst>
          </p:cNvPr>
          <p:cNvSpPr txBox="1"/>
          <p:nvPr/>
        </p:nvSpPr>
        <p:spPr>
          <a:xfrm>
            <a:off x="359087" y="501144"/>
            <a:ext cx="2529501" cy="461665"/>
          </a:xfrm>
          <a:prstGeom prst="rect">
            <a:avLst/>
          </a:prstGeom>
          <a:noFill/>
        </p:spPr>
        <p:txBody>
          <a:bodyPr wrap="square" rtlCol="0">
            <a:spAutoFit/>
          </a:bodyPr>
          <a:lstStyle/>
          <a:p>
            <a:r>
              <a:rPr lang="en-US" sz="2400">
                <a:latin typeface="+mj-lt"/>
              </a:rPr>
              <a:t>length</a:t>
            </a:r>
          </a:p>
        </p:txBody>
      </p:sp>
      <p:sp>
        <p:nvSpPr>
          <p:cNvPr id="59" name="TextBox 58">
            <a:extLst>
              <a:ext uri="{FF2B5EF4-FFF2-40B4-BE49-F238E27FC236}">
                <a16:creationId xmlns:a16="http://schemas.microsoft.com/office/drawing/2014/main" id="{5DA74D0A-0552-C601-D32E-889D7ADBA3D4}"/>
              </a:ext>
            </a:extLst>
          </p:cNvPr>
          <p:cNvSpPr txBox="1"/>
          <p:nvPr/>
        </p:nvSpPr>
        <p:spPr>
          <a:xfrm>
            <a:off x="1733469" y="316477"/>
            <a:ext cx="664044" cy="830997"/>
          </a:xfrm>
          <a:prstGeom prst="rect">
            <a:avLst/>
          </a:prstGeom>
          <a:noFill/>
        </p:spPr>
        <p:txBody>
          <a:bodyPr wrap="square" rtlCol="0">
            <a:spAutoFit/>
          </a:bodyPr>
          <a:lstStyle/>
          <a:p>
            <a:r>
              <a:rPr lang="en-US" sz="4800">
                <a:solidFill>
                  <a:schemeClr val="accent5">
                    <a:lumMod val="75000"/>
                  </a:schemeClr>
                </a:solidFill>
                <a:latin typeface="+mj-lt"/>
              </a:rPr>
              <a:t>4</a:t>
            </a:r>
          </a:p>
        </p:txBody>
      </p:sp>
      <p:grpSp>
        <p:nvGrpSpPr>
          <p:cNvPr id="2" name="Group 1">
            <a:extLst>
              <a:ext uri="{FF2B5EF4-FFF2-40B4-BE49-F238E27FC236}">
                <a16:creationId xmlns:a16="http://schemas.microsoft.com/office/drawing/2014/main" id="{CA557CF6-D980-251E-9C42-A24FD2F95920}"/>
              </a:ext>
            </a:extLst>
          </p:cNvPr>
          <p:cNvGrpSpPr/>
          <p:nvPr/>
        </p:nvGrpSpPr>
        <p:grpSpPr>
          <a:xfrm>
            <a:off x="1210918" y="2801165"/>
            <a:ext cx="6393846" cy="915812"/>
            <a:chOff x="1303110" y="1353818"/>
            <a:chExt cx="6393846" cy="915812"/>
          </a:xfrm>
        </p:grpSpPr>
        <p:grpSp>
          <p:nvGrpSpPr>
            <p:cNvPr id="3" name="Group 2">
              <a:extLst>
                <a:ext uri="{FF2B5EF4-FFF2-40B4-BE49-F238E27FC236}">
                  <a16:creationId xmlns:a16="http://schemas.microsoft.com/office/drawing/2014/main" id="{098E353E-4374-C5F8-529F-EAF588CADFE3}"/>
                </a:ext>
              </a:extLst>
            </p:cNvPr>
            <p:cNvGrpSpPr/>
            <p:nvPr/>
          </p:nvGrpSpPr>
          <p:grpSpPr>
            <a:xfrm>
              <a:off x="1303110" y="1356663"/>
              <a:ext cx="3268890" cy="912967"/>
              <a:chOff x="582919" y="134337"/>
              <a:chExt cx="6886117" cy="1923225"/>
            </a:xfrm>
          </p:grpSpPr>
          <p:sp>
            <p:nvSpPr>
              <p:cNvPr id="12" name="Rectangle 11">
                <a:extLst>
                  <a:ext uri="{FF2B5EF4-FFF2-40B4-BE49-F238E27FC236}">
                    <a16:creationId xmlns:a16="http://schemas.microsoft.com/office/drawing/2014/main" id="{78D82B4A-EC1C-4E42-AB80-10188CB42E98}"/>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3" name="Rectangle 12">
                <a:extLst>
                  <a:ext uri="{FF2B5EF4-FFF2-40B4-BE49-F238E27FC236}">
                    <a16:creationId xmlns:a16="http://schemas.microsoft.com/office/drawing/2014/main" id="{9AEAFC7F-0203-6C59-8A30-6523BC68B5EF}"/>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4" name="Rectangle 13">
                <a:extLst>
                  <a:ext uri="{FF2B5EF4-FFF2-40B4-BE49-F238E27FC236}">
                    <a16:creationId xmlns:a16="http://schemas.microsoft.com/office/drawing/2014/main" id="{93D6FFBE-99C2-D019-3E5E-43EB58365BED}"/>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5" name="Rectangle 14">
                <a:extLst>
                  <a:ext uri="{FF2B5EF4-FFF2-40B4-BE49-F238E27FC236}">
                    <a16:creationId xmlns:a16="http://schemas.microsoft.com/office/drawing/2014/main" id="{9D5A72E1-6440-AD65-F255-220384399238}"/>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8F6A682E-7A69-6A25-6BF1-5C6889C16AD1}"/>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7" name="Rectangle 16">
                <a:extLst>
                  <a:ext uri="{FF2B5EF4-FFF2-40B4-BE49-F238E27FC236}">
                    <a16:creationId xmlns:a16="http://schemas.microsoft.com/office/drawing/2014/main" id="{0D711E59-5A88-CF6C-0DBE-8DA7399F48A9}"/>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grpSp>
          <p:nvGrpSpPr>
            <p:cNvPr id="4" name="Group 3">
              <a:extLst>
                <a:ext uri="{FF2B5EF4-FFF2-40B4-BE49-F238E27FC236}">
                  <a16:creationId xmlns:a16="http://schemas.microsoft.com/office/drawing/2014/main" id="{D10ECC45-08E5-DF61-A0FE-91E418F7B5B9}"/>
                </a:ext>
              </a:extLst>
            </p:cNvPr>
            <p:cNvGrpSpPr/>
            <p:nvPr/>
          </p:nvGrpSpPr>
          <p:grpSpPr>
            <a:xfrm rot="10800000">
              <a:off x="4428066" y="1353818"/>
              <a:ext cx="3268890" cy="912967"/>
              <a:chOff x="582919" y="134337"/>
              <a:chExt cx="6886117" cy="1923225"/>
            </a:xfrm>
          </p:grpSpPr>
          <p:sp>
            <p:nvSpPr>
              <p:cNvPr id="6" name="Rectangle 5">
                <a:extLst>
                  <a:ext uri="{FF2B5EF4-FFF2-40B4-BE49-F238E27FC236}">
                    <a16:creationId xmlns:a16="http://schemas.microsoft.com/office/drawing/2014/main" id="{22075EE6-203F-C0AE-9AE2-BCF20483A027}"/>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D2675510-CE8B-28C2-2D02-FA628E02D686}"/>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2A5DA2F9-CF96-D6CE-75A1-2883B0047302}"/>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EB5D1A31-4B1A-217D-FBAC-504AA9FD581A}"/>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0" name="Rectangle 9">
                <a:extLst>
                  <a:ext uri="{FF2B5EF4-FFF2-40B4-BE49-F238E27FC236}">
                    <a16:creationId xmlns:a16="http://schemas.microsoft.com/office/drawing/2014/main" id="{B90EA940-B020-5A02-B53E-378F68463A87}"/>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1" name="Rectangle 10">
                <a:extLst>
                  <a:ext uri="{FF2B5EF4-FFF2-40B4-BE49-F238E27FC236}">
                    <a16:creationId xmlns:a16="http://schemas.microsoft.com/office/drawing/2014/main" id="{36D8016D-768E-39C2-0B31-FC38E9EEF436}"/>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5" name="Rectangle 4">
              <a:extLst>
                <a:ext uri="{FF2B5EF4-FFF2-40B4-BE49-F238E27FC236}">
                  <a16:creationId xmlns:a16="http://schemas.microsoft.com/office/drawing/2014/main" id="{73EEE9E5-4178-9FFB-54B7-875B0DA3FD6E}"/>
                </a:ext>
              </a:extLst>
            </p:cNvPr>
            <p:cNvSpPr/>
            <p:nvPr/>
          </p:nvSpPr>
          <p:spPr>
            <a:xfrm rot="5400000">
              <a:off x="4032228" y="1777814"/>
              <a:ext cx="912966" cy="64974"/>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18" name="TextBox 17">
            <a:extLst>
              <a:ext uri="{FF2B5EF4-FFF2-40B4-BE49-F238E27FC236}">
                <a16:creationId xmlns:a16="http://schemas.microsoft.com/office/drawing/2014/main" id="{91380F57-F4B1-3074-3D1B-9BD488B1537E}"/>
              </a:ext>
            </a:extLst>
          </p:cNvPr>
          <p:cNvSpPr txBox="1"/>
          <p:nvPr/>
        </p:nvSpPr>
        <p:spPr>
          <a:xfrm>
            <a:off x="312915" y="3028239"/>
            <a:ext cx="2529501" cy="461665"/>
          </a:xfrm>
          <a:prstGeom prst="rect">
            <a:avLst/>
          </a:prstGeom>
          <a:noFill/>
        </p:spPr>
        <p:txBody>
          <a:bodyPr wrap="square" rtlCol="0">
            <a:spAutoFit/>
          </a:bodyPr>
          <a:lstStyle/>
          <a:p>
            <a:r>
              <a:rPr lang="en-US" sz="2400">
                <a:latin typeface="+mj-lt"/>
              </a:rPr>
              <a:t>tmp</a:t>
            </a:r>
          </a:p>
        </p:txBody>
      </p:sp>
      <p:sp>
        <p:nvSpPr>
          <p:cNvPr id="20" name="Title 34">
            <a:extLst>
              <a:ext uri="{FF2B5EF4-FFF2-40B4-BE49-F238E27FC236}">
                <a16:creationId xmlns:a16="http://schemas.microsoft.com/office/drawing/2014/main" id="{D3005B07-49C0-B8D0-775C-4A4B69AB60E7}"/>
              </a:ext>
            </a:extLst>
          </p:cNvPr>
          <p:cNvSpPr txBox="1">
            <a:spLocks/>
          </p:cNvSpPr>
          <p:nvPr/>
        </p:nvSpPr>
        <p:spPr>
          <a:xfrm>
            <a:off x="6842073" y="320052"/>
            <a:ext cx="1942840" cy="461665"/>
          </a:xfrm>
          <a:prstGeom prst="rect">
            <a:avLst/>
          </a:prstGeom>
          <a:solidFill>
            <a:schemeClr val="accent6">
              <a:lumMod val="20000"/>
              <a:lumOff val="80000"/>
            </a:schemeClr>
          </a:solidFill>
          <a:ln>
            <a:solidFill>
              <a:schemeClr val="tx1"/>
            </a:solidFill>
          </a:ln>
        </p:spPr>
        <p:txBody>
          <a:bodyPr anchor="ctr"/>
          <a:lstStyle>
            <a:lvl1pPr algn="ctr" defTabSz="342886" rtl="0" eaLnBrk="1" latinLnBrk="0" hangingPunct="1">
              <a:spcBef>
                <a:spcPct val="0"/>
              </a:spcBef>
              <a:buNone/>
              <a:defRPr sz="3200" kern="1200">
                <a:solidFill>
                  <a:schemeClr val="tx1"/>
                </a:solidFill>
                <a:latin typeface="+mn-lt"/>
                <a:ea typeface="Segoe UI Emoji" panose="020B0502040204020203" pitchFamily="34" charset="0"/>
                <a:cs typeface="+mj-cs"/>
              </a:defRPr>
            </a:lvl1pPr>
          </a:lstStyle>
          <a:p>
            <a:r>
              <a:rPr lang="en-US" sz="2000" b="1">
                <a:latin typeface="Consolas" panose="020B0609020204030204" pitchFamily="49" charset="0"/>
                <a:cs typeface="Consolas" panose="020B0609020204030204" pitchFamily="49" charset="0"/>
              </a:rPr>
              <a:t>list.add(🍇)</a:t>
            </a:r>
          </a:p>
        </p:txBody>
      </p:sp>
      <p:sp>
        <p:nvSpPr>
          <p:cNvPr id="21" name="TextBox 20">
            <a:extLst>
              <a:ext uri="{FF2B5EF4-FFF2-40B4-BE49-F238E27FC236}">
                <a16:creationId xmlns:a16="http://schemas.microsoft.com/office/drawing/2014/main" id="{D99223D5-6E2D-6E45-AD94-030C926B73C0}"/>
              </a:ext>
            </a:extLst>
          </p:cNvPr>
          <p:cNvSpPr txBox="1"/>
          <p:nvPr/>
        </p:nvSpPr>
        <p:spPr>
          <a:xfrm>
            <a:off x="8092953" y="350829"/>
            <a:ext cx="564540" cy="400110"/>
          </a:xfrm>
          <a:prstGeom prst="rect">
            <a:avLst/>
          </a:prstGeom>
          <a:noFill/>
        </p:spPr>
        <p:txBody>
          <a:bodyPr wrap="square">
            <a:spAutoFit/>
          </a:bodyPr>
          <a:lstStyle/>
          <a:p>
            <a:pPr algn="ctr"/>
            <a:r>
              <a:rPr kumimoji="0" lang="en-US" sz="2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2000"/>
          </a:p>
        </p:txBody>
      </p:sp>
      <p:grpSp>
        <p:nvGrpSpPr>
          <p:cNvPr id="25" name="Group 24">
            <a:extLst>
              <a:ext uri="{FF2B5EF4-FFF2-40B4-BE49-F238E27FC236}">
                <a16:creationId xmlns:a16="http://schemas.microsoft.com/office/drawing/2014/main" id="{74352F66-C139-0EB1-4627-758B7FC2BDF7}"/>
              </a:ext>
            </a:extLst>
          </p:cNvPr>
          <p:cNvGrpSpPr/>
          <p:nvPr/>
        </p:nvGrpSpPr>
        <p:grpSpPr>
          <a:xfrm>
            <a:off x="2945869" y="1613345"/>
            <a:ext cx="2903139" cy="523220"/>
            <a:chOff x="2945869" y="1613345"/>
            <a:chExt cx="2903139" cy="523220"/>
          </a:xfrm>
        </p:grpSpPr>
        <p:sp>
          <p:nvSpPr>
            <p:cNvPr id="19" name="TextBox 18">
              <a:extLst>
                <a:ext uri="{FF2B5EF4-FFF2-40B4-BE49-F238E27FC236}">
                  <a16:creationId xmlns:a16="http://schemas.microsoft.com/office/drawing/2014/main" id="{FE175B49-59EE-52C3-AB40-1F209F2E472F}"/>
                </a:ext>
              </a:extLst>
            </p:cNvPr>
            <p:cNvSpPr txBox="1"/>
            <p:nvPr/>
          </p:nvSpPr>
          <p:spPr>
            <a:xfrm>
              <a:off x="3698429" y="1613345"/>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22" name="TextBox 21">
              <a:extLst>
                <a:ext uri="{FF2B5EF4-FFF2-40B4-BE49-F238E27FC236}">
                  <a16:creationId xmlns:a16="http://schemas.microsoft.com/office/drawing/2014/main" id="{1D7E3708-04EE-4844-073A-9581E99ED123}"/>
                </a:ext>
              </a:extLst>
            </p:cNvPr>
            <p:cNvSpPr txBox="1"/>
            <p:nvPr/>
          </p:nvSpPr>
          <p:spPr>
            <a:xfrm>
              <a:off x="4499541" y="1613345"/>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23" name="TextBox 22">
              <a:extLst>
                <a:ext uri="{FF2B5EF4-FFF2-40B4-BE49-F238E27FC236}">
                  <a16:creationId xmlns:a16="http://schemas.microsoft.com/office/drawing/2014/main" id="{76D7C53E-860F-7135-E20F-55F30D16366E}"/>
                </a:ext>
              </a:extLst>
            </p:cNvPr>
            <p:cNvSpPr txBox="1"/>
            <p:nvPr/>
          </p:nvSpPr>
          <p:spPr>
            <a:xfrm>
              <a:off x="5284468" y="1613345"/>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24" name="TextBox 23">
              <a:extLst>
                <a:ext uri="{FF2B5EF4-FFF2-40B4-BE49-F238E27FC236}">
                  <a16:creationId xmlns:a16="http://schemas.microsoft.com/office/drawing/2014/main" id="{BD598803-5EAC-1078-3395-6281254DA02A}"/>
                </a:ext>
              </a:extLst>
            </p:cNvPr>
            <p:cNvSpPr txBox="1"/>
            <p:nvPr/>
          </p:nvSpPr>
          <p:spPr>
            <a:xfrm>
              <a:off x="2945869" y="1613345"/>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grpSp>
    </p:spTree>
    <p:extLst>
      <p:ext uri="{BB962C8B-B14F-4D97-AF65-F5344CB8AC3E}">
        <p14:creationId xmlns:p14="http://schemas.microsoft.com/office/powerpoint/2010/main" val="472996834"/>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5CF37-DB5A-55B7-4D9E-68BEF4D3954C}"/>
            </a:ext>
          </a:extLst>
        </p:cNvPr>
        <p:cNvGrpSpPr/>
        <p:nvPr/>
      </p:nvGrpSpPr>
      <p:grpSpPr>
        <a:xfrm>
          <a:off x="0" y="0"/>
          <a:ext cx="0" cy="0"/>
          <a:chOff x="0" y="0"/>
          <a:chExt cx="0" cy="0"/>
        </a:xfrm>
      </p:grpSpPr>
      <p:sp>
        <p:nvSpPr>
          <p:cNvPr id="57" name="TextBox 56">
            <a:extLst>
              <a:ext uri="{FF2B5EF4-FFF2-40B4-BE49-F238E27FC236}">
                <a16:creationId xmlns:a16="http://schemas.microsoft.com/office/drawing/2014/main" id="{E9F8B201-5D40-1AEA-B791-E3215A53BD3E}"/>
              </a:ext>
            </a:extLst>
          </p:cNvPr>
          <p:cNvSpPr txBox="1"/>
          <p:nvPr/>
        </p:nvSpPr>
        <p:spPr>
          <a:xfrm>
            <a:off x="312915" y="1612230"/>
            <a:ext cx="2529501" cy="461665"/>
          </a:xfrm>
          <a:prstGeom prst="rect">
            <a:avLst/>
          </a:prstGeom>
          <a:noFill/>
        </p:spPr>
        <p:txBody>
          <a:bodyPr wrap="square" rtlCol="0">
            <a:spAutoFit/>
          </a:bodyPr>
          <a:lstStyle/>
          <a:p>
            <a:r>
              <a:rPr lang="en-US" sz="2400">
                <a:latin typeface="+mj-lt"/>
              </a:rPr>
              <a:t>internalArray</a:t>
            </a:r>
          </a:p>
        </p:txBody>
      </p:sp>
      <p:sp>
        <p:nvSpPr>
          <p:cNvPr id="58" name="TextBox 57">
            <a:extLst>
              <a:ext uri="{FF2B5EF4-FFF2-40B4-BE49-F238E27FC236}">
                <a16:creationId xmlns:a16="http://schemas.microsoft.com/office/drawing/2014/main" id="{2EBA0EB6-00F2-B972-D763-9CF01D017FE0}"/>
              </a:ext>
            </a:extLst>
          </p:cNvPr>
          <p:cNvSpPr txBox="1"/>
          <p:nvPr/>
        </p:nvSpPr>
        <p:spPr>
          <a:xfrm>
            <a:off x="359087" y="501144"/>
            <a:ext cx="2529501" cy="461665"/>
          </a:xfrm>
          <a:prstGeom prst="rect">
            <a:avLst/>
          </a:prstGeom>
          <a:noFill/>
        </p:spPr>
        <p:txBody>
          <a:bodyPr wrap="square" rtlCol="0">
            <a:spAutoFit/>
          </a:bodyPr>
          <a:lstStyle/>
          <a:p>
            <a:r>
              <a:rPr lang="en-US" sz="2400">
                <a:latin typeface="+mj-lt"/>
              </a:rPr>
              <a:t>length</a:t>
            </a:r>
          </a:p>
        </p:txBody>
      </p:sp>
      <p:sp>
        <p:nvSpPr>
          <p:cNvPr id="59" name="TextBox 58">
            <a:extLst>
              <a:ext uri="{FF2B5EF4-FFF2-40B4-BE49-F238E27FC236}">
                <a16:creationId xmlns:a16="http://schemas.microsoft.com/office/drawing/2014/main" id="{099DEE2A-AEF7-0FA6-A428-4B507468E82F}"/>
              </a:ext>
            </a:extLst>
          </p:cNvPr>
          <p:cNvSpPr txBox="1"/>
          <p:nvPr/>
        </p:nvSpPr>
        <p:spPr>
          <a:xfrm>
            <a:off x="1733469" y="316477"/>
            <a:ext cx="664044" cy="830997"/>
          </a:xfrm>
          <a:prstGeom prst="rect">
            <a:avLst/>
          </a:prstGeom>
          <a:noFill/>
        </p:spPr>
        <p:txBody>
          <a:bodyPr wrap="square" rtlCol="0">
            <a:spAutoFit/>
          </a:bodyPr>
          <a:lstStyle/>
          <a:p>
            <a:r>
              <a:rPr lang="en-US" sz="4800">
                <a:solidFill>
                  <a:schemeClr val="accent5">
                    <a:lumMod val="75000"/>
                  </a:schemeClr>
                </a:solidFill>
                <a:latin typeface="+mj-lt"/>
              </a:rPr>
              <a:t>4</a:t>
            </a:r>
          </a:p>
        </p:txBody>
      </p:sp>
      <p:sp>
        <p:nvSpPr>
          <p:cNvPr id="20" name="Title 34">
            <a:extLst>
              <a:ext uri="{FF2B5EF4-FFF2-40B4-BE49-F238E27FC236}">
                <a16:creationId xmlns:a16="http://schemas.microsoft.com/office/drawing/2014/main" id="{CF688262-3BC9-D2F9-120B-B3F9417A778A}"/>
              </a:ext>
            </a:extLst>
          </p:cNvPr>
          <p:cNvSpPr txBox="1">
            <a:spLocks/>
          </p:cNvSpPr>
          <p:nvPr/>
        </p:nvSpPr>
        <p:spPr>
          <a:xfrm>
            <a:off x="6842073" y="320052"/>
            <a:ext cx="1942840" cy="461665"/>
          </a:xfrm>
          <a:prstGeom prst="rect">
            <a:avLst/>
          </a:prstGeom>
          <a:solidFill>
            <a:schemeClr val="accent6">
              <a:lumMod val="20000"/>
              <a:lumOff val="80000"/>
            </a:schemeClr>
          </a:solidFill>
          <a:ln>
            <a:solidFill>
              <a:schemeClr val="tx1"/>
            </a:solidFill>
          </a:ln>
        </p:spPr>
        <p:txBody>
          <a:bodyPr anchor="ctr"/>
          <a:lstStyle>
            <a:lvl1pPr algn="ctr" defTabSz="342886" rtl="0" eaLnBrk="1" latinLnBrk="0" hangingPunct="1">
              <a:spcBef>
                <a:spcPct val="0"/>
              </a:spcBef>
              <a:buNone/>
              <a:defRPr sz="3200" kern="1200">
                <a:solidFill>
                  <a:schemeClr val="tx1"/>
                </a:solidFill>
                <a:latin typeface="+mn-lt"/>
                <a:ea typeface="Segoe UI Emoji" panose="020B0502040204020203" pitchFamily="34" charset="0"/>
                <a:cs typeface="+mj-cs"/>
              </a:defRPr>
            </a:lvl1pPr>
          </a:lstStyle>
          <a:p>
            <a:r>
              <a:rPr lang="en-US" sz="2000" b="1">
                <a:latin typeface="Consolas" panose="020B0609020204030204" pitchFamily="49" charset="0"/>
                <a:cs typeface="Consolas" panose="020B0609020204030204" pitchFamily="49" charset="0"/>
              </a:rPr>
              <a:t>list.add(🍇)</a:t>
            </a:r>
          </a:p>
        </p:txBody>
      </p:sp>
      <p:sp>
        <p:nvSpPr>
          <p:cNvPr id="21" name="TextBox 20">
            <a:extLst>
              <a:ext uri="{FF2B5EF4-FFF2-40B4-BE49-F238E27FC236}">
                <a16:creationId xmlns:a16="http://schemas.microsoft.com/office/drawing/2014/main" id="{3A04D630-F321-5F0C-D300-9513F7083C62}"/>
              </a:ext>
            </a:extLst>
          </p:cNvPr>
          <p:cNvSpPr txBox="1"/>
          <p:nvPr/>
        </p:nvSpPr>
        <p:spPr>
          <a:xfrm>
            <a:off x="8092953" y="350829"/>
            <a:ext cx="564540" cy="400110"/>
          </a:xfrm>
          <a:prstGeom prst="rect">
            <a:avLst/>
          </a:prstGeom>
          <a:noFill/>
        </p:spPr>
        <p:txBody>
          <a:bodyPr wrap="square">
            <a:spAutoFit/>
          </a:bodyPr>
          <a:lstStyle/>
          <a:p>
            <a:pPr algn="ctr"/>
            <a:r>
              <a:rPr kumimoji="0" lang="en-US" sz="2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2000"/>
          </a:p>
        </p:txBody>
      </p:sp>
      <p:sp>
        <p:nvSpPr>
          <p:cNvPr id="19" name="TextBox 18">
            <a:extLst>
              <a:ext uri="{FF2B5EF4-FFF2-40B4-BE49-F238E27FC236}">
                <a16:creationId xmlns:a16="http://schemas.microsoft.com/office/drawing/2014/main" id="{D60F83BB-9448-6827-9054-8D8A87F37D74}"/>
              </a:ext>
            </a:extLst>
          </p:cNvPr>
          <p:cNvSpPr txBox="1"/>
          <p:nvPr/>
        </p:nvSpPr>
        <p:spPr>
          <a:xfrm>
            <a:off x="3623829" y="1579400"/>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22" name="TextBox 21">
            <a:extLst>
              <a:ext uri="{FF2B5EF4-FFF2-40B4-BE49-F238E27FC236}">
                <a16:creationId xmlns:a16="http://schemas.microsoft.com/office/drawing/2014/main" id="{2C15DAB3-6D73-A3CF-A4B2-E207323398F0}"/>
              </a:ext>
            </a:extLst>
          </p:cNvPr>
          <p:cNvSpPr txBox="1"/>
          <p:nvPr/>
        </p:nvSpPr>
        <p:spPr>
          <a:xfrm>
            <a:off x="4424941" y="1579400"/>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23" name="TextBox 22">
            <a:extLst>
              <a:ext uri="{FF2B5EF4-FFF2-40B4-BE49-F238E27FC236}">
                <a16:creationId xmlns:a16="http://schemas.microsoft.com/office/drawing/2014/main" id="{5BCD369E-3A73-2954-1748-ACDCD765294C}"/>
              </a:ext>
            </a:extLst>
          </p:cNvPr>
          <p:cNvSpPr txBox="1"/>
          <p:nvPr/>
        </p:nvSpPr>
        <p:spPr>
          <a:xfrm>
            <a:off x="5209868" y="1579400"/>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24" name="TextBox 23">
            <a:extLst>
              <a:ext uri="{FF2B5EF4-FFF2-40B4-BE49-F238E27FC236}">
                <a16:creationId xmlns:a16="http://schemas.microsoft.com/office/drawing/2014/main" id="{C7CEDB57-9FEC-2563-FF88-C18F539E86D6}"/>
              </a:ext>
            </a:extLst>
          </p:cNvPr>
          <p:cNvSpPr txBox="1"/>
          <p:nvPr/>
        </p:nvSpPr>
        <p:spPr>
          <a:xfrm>
            <a:off x="2871269" y="1579400"/>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grpSp>
        <p:nvGrpSpPr>
          <p:cNvPr id="25" name="Group 24">
            <a:extLst>
              <a:ext uri="{FF2B5EF4-FFF2-40B4-BE49-F238E27FC236}">
                <a16:creationId xmlns:a16="http://schemas.microsoft.com/office/drawing/2014/main" id="{B930911A-2A03-1A9C-62B7-1828CED09B35}"/>
              </a:ext>
            </a:extLst>
          </p:cNvPr>
          <p:cNvGrpSpPr/>
          <p:nvPr/>
        </p:nvGrpSpPr>
        <p:grpSpPr>
          <a:xfrm>
            <a:off x="2672096" y="1403491"/>
            <a:ext cx="6393846" cy="915812"/>
            <a:chOff x="1303110" y="1353818"/>
            <a:chExt cx="6393846" cy="915812"/>
          </a:xfrm>
        </p:grpSpPr>
        <p:grpSp>
          <p:nvGrpSpPr>
            <p:cNvPr id="26" name="Group 25">
              <a:extLst>
                <a:ext uri="{FF2B5EF4-FFF2-40B4-BE49-F238E27FC236}">
                  <a16:creationId xmlns:a16="http://schemas.microsoft.com/office/drawing/2014/main" id="{622601DB-FAC8-753F-021A-4202E70347E7}"/>
                </a:ext>
              </a:extLst>
            </p:cNvPr>
            <p:cNvGrpSpPr/>
            <p:nvPr/>
          </p:nvGrpSpPr>
          <p:grpSpPr>
            <a:xfrm>
              <a:off x="1303110" y="1356663"/>
              <a:ext cx="3268890" cy="912967"/>
              <a:chOff x="582919" y="134337"/>
              <a:chExt cx="6886117" cy="1923225"/>
            </a:xfrm>
          </p:grpSpPr>
          <p:sp>
            <p:nvSpPr>
              <p:cNvPr id="35" name="Rectangle 34">
                <a:extLst>
                  <a:ext uri="{FF2B5EF4-FFF2-40B4-BE49-F238E27FC236}">
                    <a16:creationId xmlns:a16="http://schemas.microsoft.com/office/drawing/2014/main" id="{CF6CFC91-F7BC-2922-4247-2C50D4C775C5}"/>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6" name="Rectangle 35">
                <a:extLst>
                  <a:ext uri="{FF2B5EF4-FFF2-40B4-BE49-F238E27FC236}">
                    <a16:creationId xmlns:a16="http://schemas.microsoft.com/office/drawing/2014/main" id="{8BC88859-FF32-A9EB-D8C6-3501CE602525}"/>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7" name="Rectangle 36">
                <a:extLst>
                  <a:ext uri="{FF2B5EF4-FFF2-40B4-BE49-F238E27FC236}">
                    <a16:creationId xmlns:a16="http://schemas.microsoft.com/office/drawing/2014/main" id="{BD47D0A8-A392-DE44-9F07-279C70F5A05F}"/>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8" name="Rectangle 37">
                <a:extLst>
                  <a:ext uri="{FF2B5EF4-FFF2-40B4-BE49-F238E27FC236}">
                    <a16:creationId xmlns:a16="http://schemas.microsoft.com/office/drawing/2014/main" id="{DA287C31-EA0C-4E16-B5FE-EE3BFB61D4AB}"/>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9" name="Rectangle 38">
                <a:extLst>
                  <a:ext uri="{FF2B5EF4-FFF2-40B4-BE49-F238E27FC236}">
                    <a16:creationId xmlns:a16="http://schemas.microsoft.com/office/drawing/2014/main" id="{0CB97788-FD14-1178-94A6-C0634D1A0E3C}"/>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40" name="Rectangle 39">
                <a:extLst>
                  <a:ext uri="{FF2B5EF4-FFF2-40B4-BE49-F238E27FC236}">
                    <a16:creationId xmlns:a16="http://schemas.microsoft.com/office/drawing/2014/main" id="{A986DAD6-8D87-5584-95EE-7D143A902B1B}"/>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grpSp>
          <p:nvGrpSpPr>
            <p:cNvPr id="27" name="Group 26">
              <a:extLst>
                <a:ext uri="{FF2B5EF4-FFF2-40B4-BE49-F238E27FC236}">
                  <a16:creationId xmlns:a16="http://schemas.microsoft.com/office/drawing/2014/main" id="{50D14395-1BD4-C18F-024B-141F10BD7C2D}"/>
                </a:ext>
              </a:extLst>
            </p:cNvPr>
            <p:cNvGrpSpPr/>
            <p:nvPr/>
          </p:nvGrpSpPr>
          <p:grpSpPr>
            <a:xfrm rot="10800000">
              <a:off x="4428066" y="1353818"/>
              <a:ext cx="3268890" cy="912967"/>
              <a:chOff x="582919" y="134337"/>
              <a:chExt cx="6886117" cy="1923225"/>
            </a:xfrm>
          </p:grpSpPr>
          <p:sp>
            <p:nvSpPr>
              <p:cNvPr id="29" name="Rectangle 28">
                <a:extLst>
                  <a:ext uri="{FF2B5EF4-FFF2-40B4-BE49-F238E27FC236}">
                    <a16:creationId xmlns:a16="http://schemas.microsoft.com/office/drawing/2014/main" id="{FE8AB4B1-F04E-11CB-3D72-CABA99F14BE1}"/>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0" name="Rectangle 29">
                <a:extLst>
                  <a:ext uri="{FF2B5EF4-FFF2-40B4-BE49-F238E27FC236}">
                    <a16:creationId xmlns:a16="http://schemas.microsoft.com/office/drawing/2014/main" id="{98C6C233-2578-6242-4C3A-B02885957928}"/>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1" name="Rectangle 30">
                <a:extLst>
                  <a:ext uri="{FF2B5EF4-FFF2-40B4-BE49-F238E27FC236}">
                    <a16:creationId xmlns:a16="http://schemas.microsoft.com/office/drawing/2014/main" id="{485A8FA8-4DDA-C069-B2DB-EBEC54B0873B}"/>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2" name="Rectangle 31">
                <a:extLst>
                  <a:ext uri="{FF2B5EF4-FFF2-40B4-BE49-F238E27FC236}">
                    <a16:creationId xmlns:a16="http://schemas.microsoft.com/office/drawing/2014/main" id="{C4258E41-9145-7557-A0DB-8C70E1E2184B}"/>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3" name="Rectangle 32">
                <a:extLst>
                  <a:ext uri="{FF2B5EF4-FFF2-40B4-BE49-F238E27FC236}">
                    <a16:creationId xmlns:a16="http://schemas.microsoft.com/office/drawing/2014/main" id="{2D18E4E8-4A4E-9BC0-C39C-F1C131E37D19}"/>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34" name="Rectangle 33">
                <a:extLst>
                  <a:ext uri="{FF2B5EF4-FFF2-40B4-BE49-F238E27FC236}">
                    <a16:creationId xmlns:a16="http://schemas.microsoft.com/office/drawing/2014/main" id="{9DF9C472-7CF8-2CB0-20DF-7341B2A71EF0}"/>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28" name="Rectangle 27">
              <a:extLst>
                <a:ext uri="{FF2B5EF4-FFF2-40B4-BE49-F238E27FC236}">
                  <a16:creationId xmlns:a16="http://schemas.microsoft.com/office/drawing/2014/main" id="{2E3D3674-90FC-5B17-77BA-C457E9B665C3}"/>
                </a:ext>
              </a:extLst>
            </p:cNvPr>
            <p:cNvSpPr/>
            <p:nvPr/>
          </p:nvSpPr>
          <p:spPr>
            <a:xfrm rot="5400000">
              <a:off x="4032228" y="1777814"/>
              <a:ext cx="912966" cy="64974"/>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42" name="TextBox 41">
            <a:extLst>
              <a:ext uri="{FF2B5EF4-FFF2-40B4-BE49-F238E27FC236}">
                <a16:creationId xmlns:a16="http://schemas.microsoft.com/office/drawing/2014/main" id="{55BF6E63-F6FE-1CE1-C8D3-ACEA9F0343F9}"/>
              </a:ext>
            </a:extLst>
          </p:cNvPr>
          <p:cNvSpPr txBox="1"/>
          <p:nvPr/>
        </p:nvSpPr>
        <p:spPr>
          <a:xfrm>
            <a:off x="8093253" y="351294"/>
            <a:ext cx="564540" cy="400110"/>
          </a:xfrm>
          <a:prstGeom prst="rect">
            <a:avLst/>
          </a:prstGeom>
          <a:noFill/>
        </p:spPr>
        <p:txBody>
          <a:bodyPr wrap="square">
            <a:spAutoFit/>
          </a:bodyPr>
          <a:lstStyle/>
          <a:p>
            <a:pPr algn="ctr"/>
            <a:r>
              <a:rPr kumimoji="0" lang="en-US" sz="2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2000"/>
          </a:p>
        </p:txBody>
      </p:sp>
    </p:spTree>
    <p:extLst>
      <p:ext uri="{BB962C8B-B14F-4D97-AF65-F5344CB8AC3E}">
        <p14:creationId xmlns:p14="http://schemas.microsoft.com/office/powerpoint/2010/main" val="33946398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C14FB-FC97-EFFB-A490-88E8CC7C25B7}"/>
            </a:ext>
          </a:extLst>
        </p:cNvPr>
        <p:cNvGrpSpPr/>
        <p:nvPr/>
      </p:nvGrpSpPr>
      <p:grpSpPr>
        <a:xfrm>
          <a:off x="0" y="0"/>
          <a:ext cx="0" cy="0"/>
          <a:chOff x="0" y="0"/>
          <a:chExt cx="0" cy="0"/>
        </a:xfrm>
      </p:grpSpPr>
      <p:sp>
        <p:nvSpPr>
          <p:cNvPr id="53" name="TextBox 52">
            <a:extLst>
              <a:ext uri="{FF2B5EF4-FFF2-40B4-BE49-F238E27FC236}">
                <a16:creationId xmlns:a16="http://schemas.microsoft.com/office/drawing/2014/main" id="{15253A91-7D9B-310A-F1D6-83F0493C4C21}"/>
              </a:ext>
            </a:extLst>
          </p:cNvPr>
          <p:cNvSpPr txBox="1"/>
          <p:nvPr/>
        </p:nvSpPr>
        <p:spPr>
          <a:xfrm>
            <a:off x="3623829" y="1579400"/>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54" name="TextBox 53">
            <a:extLst>
              <a:ext uri="{FF2B5EF4-FFF2-40B4-BE49-F238E27FC236}">
                <a16:creationId xmlns:a16="http://schemas.microsoft.com/office/drawing/2014/main" id="{C9E7CB23-8204-1238-D1C4-313B518C81D8}"/>
              </a:ext>
            </a:extLst>
          </p:cNvPr>
          <p:cNvSpPr txBox="1"/>
          <p:nvPr/>
        </p:nvSpPr>
        <p:spPr>
          <a:xfrm>
            <a:off x="4424941" y="1579400"/>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55" name="TextBox 54">
            <a:extLst>
              <a:ext uri="{FF2B5EF4-FFF2-40B4-BE49-F238E27FC236}">
                <a16:creationId xmlns:a16="http://schemas.microsoft.com/office/drawing/2014/main" id="{2A269208-3407-A9F2-D842-D44C8088E071}"/>
              </a:ext>
            </a:extLst>
          </p:cNvPr>
          <p:cNvSpPr txBox="1"/>
          <p:nvPr/>
        </p:nvSpPr>
        <p:spPr>
          <a:xfrm>
            <a:off x="5209868" y="1579400"/>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56" name="TextBox 55">
            <a:extLst>
              <a:ext uri="{FF2B5EF4-FFF2-40B4-BE49-F238E27FC236}">
                <a16:creationId xmlns:a16="http://schemas.microsoft.com/office/drawing/2014/main" id="{A45D6429-79EA-6A57-4B92-645019B1DCDB}"/>
              </a:ext>
            </a:extLst>
          </p:cNvPr>
          <p:cNvSpPr txBox="1"/>
          <p:nvPr/>
        </p:nvSpPr>
        <p:spPr>
          <a:xfrm>
            <a:off x="2871269" y="1579400"/>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57" name="TextBox 56">
            <a:extLst>
              <a:ext uri="{FF2B5EF4-FFF2-40B4-BE49-F238E27FC236}">
                <a16:creationId xmlns:a16="http://schemas.microsoft.com/office/drawing/2014/main" id="{3F9F422B-0A59-E2A0-EBF0-C6A7C99B1C7B}"/>
              </a:ext>
            </a:extLst>
          </p:cNvPr>
          <p:cNvSpPr txBox="1"/>
          <p:nvPr/>
        </p:nvSpPr>
        <p:spPr>
          <a:xfrm>
            <a:off x="312915" y="1612230"/>
            <a:ext cx="2529501" cy="461665"/>
          </a:xfrm>
          <a:prstGeom prst="rect">
            <a:avLst/>
          </a:prstGeom>
          <a:noFill/>
        </p:spPr>
        <p:txBody>
          <a:bodyPr wrap="square" rtlCol="0">
            <a:spAutoFit/>
          </a:bodyPr>
          <a:lstStyle/>
          <a:p>
            <a:r>
              <a:rPr lang="en-US" sz="2400">
                <a:latin typeface="+mj-lt"/>
              </a:rPr>
              <a:t>internalArray</a:t>
            </a:r>
          </a:p>
        </p:txBody>
      </p:sp>
      <p:sp>
        <p:nvSpPr>
          <p:cNvPr id="58" name="TextBox 57">
            <a:extLst>
              <a:ext uri="{FF2B5EF4-FFF2-40B4-BE49-F238E27FC236}">
                <a16:creationId xmlns:a16="http://schemas.microsoft.com/office/drawing/2014/main" id="{E5588EAF-58A4-70E0-8985-67A53A5AB8D0}"/>
              </a:ext>
            </a:extLst>
          </p:cNvPr>
          <p:cNvSpPr txBox="1"/>
          <p:nvPr/>
        </p:nvSpPr>
        <p:spPr>
          <a:xfrm>
            <a:off x="359087" y="501144"/>
            <a:ext cx="2529501" cy="461665"/>
          </a:xfrm>
          <a:prstGeom prst="rect">
            <a:avLst/>
          </a:prstGeom>
          <a:noFill/>
        </p:spPr>
        <p:txBody>
          <a:bodyPr wrap="square" rtlCol="0">
            <a:spAutoFit/>
          </a:bodyPr>
          <a:lstStyle/>
          <a:p>
            <a:r>
              <a:rPr lang="en-US" sz="2400">
                <a:latin typeface="+mj-lt"/>
              </a:rPr>
              <a:t>length</a:t>
            </a:r>
          </a:p>
        </p:txBody>
      </p:sp>
      <p:sp>
        <p:nvSpPr>
          <p:cNvPr id="59" name="TextBox 58">
            <a:extLst>
              <a:ext uri="{FF2B5EF4-FFF2-40B4-BE49-F238E27FC236}">
                <a16:creationId xmlns:a16="http://schemas.microsoft.com/office/drawing/2014/main" id="{598B1C30-3366-E904-D60F-07BCBDC89753}"/>
              </a:ext>
            </a:extLst>
          </p:cNvPr>
          <p:cNvSpPr txBox="1"/>
          <p:nvPr/>
        </p:nvSpPr>
        <p:spPr>
          <a:xfrm>
            <a:off x="1733469" y="316477"/>
            <a:ext cx="664044" cy="830997"/>
          </a:xfrm>
          <a:prstGeom prst="rect">
            <a:avLst/>
          </a:prstGeom>
          <a:noFill/>
        </p:spPr>
        <p:txBody>
          <a:bodyPr wrap="square" rtlCol="0">
            <a:spAutoFit/>
          </a:bodyPr>
          <a:lstStyle/>
          <a:p>
            <a:r>
              <a:rPr lang="en-US" sz="4800">
                <a:solidFill>
                  <a:schemeClr val="accent5">
                    <a:lumMod val="75000"/>
                  </a:schemeClr>
                </a:solidFill>
                <a:latin typeface="+mj-lt"/>
              </a:rPr>
              <a:t>5</a:t>
            </a:r>
          </a:p>
        </p:txBody>
      </p:sp>
      <p:grpSp>
        <p:nvGrpSpPr>
          <p:cNvPr id="2" name="Group 1">
            <a:extLst>
              <a:ext uri="{FF2B5EF4-FFF2-40B4-BE49-F238E27FC236}">
                <a16:creationId xmlns:a16="http://schemas.microsoft.com/office/drawing/2014/main" id="{06D31934-56D6-E607-C555-893536507C66}"/>
              </a:ext>
            </a:extLst>
          </p:cNvPr>
          <p:cNvGrpSpPr/>
          <p:nvPr/>
        </p:nvGrpSpPr>
        <p:grpSpPr>
          <a:xfrm>
            <a:off x="2672096" y="1403491"/>
            <a:ext cx="6393846" cy="915812"/>
            <a:chOff x="1303110" y="1353818"/>
            <a:chExt cx="6393846" cy="915812"/>
          </a:xfrm>
        </p:grpSpPr>
        <p:grpSp>
          <p:nvGrpSpPr>
            <p:cNvPr id="3" name="Group 2">
              <a:extLst>
                <a:ext uri="{FF2B5EF4-FFF2-40B4-BE49-F238E27FC236}">
                  <a16:creationId xmlns:a16="http://schemas.microsoft.com/office/drawing/2014/main" id="{BEB04B2A-59EA-76AC-00D9-AF470D27D97D}"/>
                </a:ext>
              </a:extLst>
            </p:cNvPr>
            <p:cNvGrpSpPr/>
            <p:nvPr/>
          </p:nvGrpSpPr>
          <p:grpSpPr>
            <a:xfrm>
              <a:off x="1303110" y="1356663"/>
              <a:ext cx="3268890" cy="912967"/>
              <a:chOff x="582919" y="134337"/>
              <a:chExt cx="6886117" cy="1923225"/>
            </a:xfrm>
          </p:grpSpPr>
          <p:sp>
            <p:nvSpPr>
              <p:cNvPr id="12" name="Rectangle 11">
                <a:extLst>
                  <a:ext uri="{FF2B5EF4-FFF2-40B4-BE49-F238E27FC236}">
                    <a16:creationId xmlns:a16="http://schemas.microsoft.com/office/drawing/2014/main" id="{BC5B131E-F754-4CFB-F72D-00615D3814DC}"/>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3" name="Rectangle 12">
                <a:extLst>
                  <a:ext uri="{FF2B5EF4-FFF2-40B4-BE49-F238E27FC236}">
                    <a16:creationId xmlns:a16="http://schemas.microsoft.com/office/drawing/2014/main" id="{015D69AA-494C-1494-120A-2CFF90F0B4FB}"/>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4" name="Rectangle 13">
                <a:extLst>
                  <a:ext uri="{FF2B5EF4-FFF2-40B4-BE49-F238E27FC236}">
                    <a16:creationId xmlns:a16="http://schemas.microsoft.com/office/drawing/2014/main" id="{74A4054C-D064-706E-202C-BDEC45947600}"/>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5" name="Rectangle 14">
                <a:extLst>
                  <a:ext uri="{FF2B5EF4-FFF2-40B4-BE49-F238E27FC236}">
                    <a16:creationId xmlns:a16="http://schemas.microsoft.com/office/drawing/2014/main" id="{EE3A5FE2-A4AE-8B07-5805-8BB6E3DBD1BB}"/>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A00ED34A-E80B-DA71-DF25-00A44D1D194E}"/>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7" name="Rectangle 16">
                <a:extLst>
                  <a:ext uri="{FF2B5EF4-FFF2-40B4-BE49-F238E27FC236}">
                    <a16:creationId xmlns:a16="http://schemas.microsoft.com/office/drawing/2014/main" id="{62475F70-C183-C47C-67DD-502AA314B5A9}"/>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grpSp>
          <p:nvGrpSpPr>
            <p:cNvPr id="4" name="Group 3">
              <a:extLst>
                <a:ext uri="{FF2B5EF4-FFF2-40B4-BE49-F238E27FC236}">
                  <a16:creationId xmlns:a16="http://schemas.microsoft.com/office/drawing/2014/main" id="{4E9ADE8E-9D48-BF2F-2D91-4B17A75CCB31}"/>
                </a:ext>
              </a:extLst>
            </p:cNvPr>
            <p:cNvGrpSpPr/>
            <p:nvPr/>
          </p:nvGrpSpPr>
          <p:grpSpPr>
            <a:xfrm rot="10800000">
              <a:off x="4428066" y="1353818"/>
              <a:ext cx="3268890" cy="912967"/>
              <a:chOff x="582919" y="134337"/>
              <a:chExt cx="6886117" cy="1923225"/>
            </a:xfrm>
          </p:grpSpPr>
          <p:sp>
            <p:nvSpPr>
              <p:cNvPr id="6" name="Rectangle 5">
                <a:extLst>
                  <a:ext uri="{FF2B5EF4-FFF2-40B4-BE49-F238E27FC236}">
                    <a16:creationId xmlns:a16="http://schemas.microsoft.com/office/drawing/2014/main" id="{F9A5C6DE-86D3-FDCD-2F13-E28550EF2307}"/>
                  </a:ext>
                </a:extLst>
              </p:cNvPr>
              <p:cNvSpPr/>
              <p:nvPr/>
            </p:nvSpPr>
            <p:spPr>
              <a:xfrm>
                <a:off x="591158" y="134338"/>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2687B82A-8DF4-1EE3-0C31-A132AFCA0D84}"/>
                  </a:ext>
                </a:extLst>
              </p:cNvPr>
              <p:cNvSpPr/>
              <p:nvPr/>
            </p:nvSpPr>
            <p:spPr>
              <a:xfrm>
                <a:off x="591158" y="1819022"/>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C40BD8A2-AB45-CD95-95AB-61A328DD9A86}"/>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15A6F7CF-519F-1BC1-41B5-209A8978883C}"/>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0" name="Rectangle 9">
                <a:extLst>
                  <a:ext uri="{FF2B5EF4-FFF2-40B4-BE49-F238E27FC236}">
                    <a16:creationId xmlns:a16="http://schemas.microsoft.com/office/drawing/2014/main" id="{BD4E670B-7730-F67E-FE87-EA2E94BB7487}"/>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1" name="Rectangle 10">
                <a:extLst>
                  <a:ext uri="{FF2B5EF4-FFF2-40B4-BE49-F238E27FC236}">
                    <a16:creationId xmlns:a16="http://schemas.microsoft.com/office/drawing/2014/main" id="{96383310-C395-6E5F-D59F-CEDEA29A7696}"/>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5" name="Rectangle 4">
              <a:extLst>
                <a:ext uri="{FF2B5EF4-FFF2-40B4-BE49-F238E27FC236}">
                  <a16:creationId xmlns:a16="http://schemas.microsoft.com/office/drawing/2014/main" id="{65485820-916E-CC04-263A-71B4438FFD38}"/>
                </a:ext>
              </a:extLst>
            </p:cNvPr>
            <p:cNvSpPr/>
            <p:nvPr/>
          </p:nvSpPr>
          <p:spPr>
            <a:xfrm rot="5400000">
              <a:off x="4032228" y="1777814"/>
              <a:ext cx="912966" cy="64974"/>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19" name="TextBox 18">
            <a:extLst>
              <a:ext uri="{FF2B5EF4-FFF2-40B4-BE49-F238E27FC236}">
                <a16:creationId xmlns:a16="http://schemas.microsoft.com/office/drawing/2014/main" id="{0880207E-4CF3-076D-91F5-8EEA1CBB2A49}"/>
              </a:ext>
            </a:extLst>
          </p:cNvPr>
          <p:cNvSpPr txBox="1"/>
          <p:nvPr/>
        </p:nvSpPr>
        <p:spPr>
          <a:xfrm>
            <a:off x="5967217" y="161741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22" name="Title 34">
            <a:extLst>
              <a:ext uri="{FF2B5EF4-FFF2-40B4-BE49-F238E27FC236}">
                <a16:creationId xmlns:a16="http://schemas.microsoft.com/office/drawing/2014/main" id="{30EFBA51-8B23-3387-8D58-5C8B769CC775}"/>
              </a:ext>
            </a:extLst>
          </p:cNvPr>
          <p:cNvSpPr txBox="1">
            <a:spLocks/>
          </p:cNvSpPr>
          <p:nvPr/>
        </p:nvSpPr>
        <p:spPr>
          <a:xfrm>
            <a:off x="6842073" y="320052"/>
            <a:ext cx="1942840" cy="461665"/>
          </a:xfrm>
          <a:prstGeom prst="rect">
            <a:avLst/>
          </a:prstGeom>
          <a:solidFill>
            <a:schemeClr val="accent6">
              <a:lumMod val="20000"/>
              <a:lumOff val="80000"/>
            </a:schemeClr>
          </a:solidFill>
          <a:ln>
            <a:solidFill>
              <a:schemeClr val="tx1"/>
            </a:solidFill>
          </a:ln>
        </p:spPr>
        <p:txBody>
          <a:bodyPr anchor="ctr"/>
          <a:lstStyle>
            <a:lvl1pPr algn="ctr" defTabSz="342886" rtl="0" eaLnBrk="1" latinLnBrk="0" hangingPunct="1">
              <a:spcBef>
                <a:spcPct val="0"/>
              </a:spcBef>
              <a:buNone/>
              <a:defRPr sz="3200" kern="1200">
                <a:solidFill>
                  <a:schemeClr val="tx1"/>
                </a:solidFill>
                <a:latin typeface="+mn-lt"/>
                <a:ea typeface="Segoe UI Emoji" panose="020B0502040204020203" pitchFamily="34" charset="0"/>
                <a:cs typeface="+mj-cs"/>
              </a:defRPr>
            </a:lvl1pPr>
          </a:lstStyle>
          <a:p>
            <a:r>
              <a:rPr lang="en-US" sz="2000" b="1">
                <a:latin typeface="Consolas" panose="020B0609020204030204" pitchFamily="49" charset="0"/>
                <a:cs typeface="Consolas" panose="020B0609020204030204" pitchFamily="49" charset="0"/>
              </a:rPr>
              <a:t>list.add(🍇)</a:t>
            </a:r>
          </a:p>
        </p:txBody>
      </p:sp>
    </p:spTree>
    <p:extLst>
      <p:ext uri="{BB962C8B-B14F-4D97-AF65-F5344CB8AC3E}">
        <p14:creationId xmlns:p14="http://schemas.microsoft.com/office/powerpoint/2010/main" val="14432736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E7C55-821E-E88C-8F76-818A63877C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E34BA2-C10C-2AE7-549F-DC87081F0E0A}"/>
              </a:ext>
            </a:extLst>
          </p:cNvPr>
          <p:cNvSpPr>
            <a:spLocks noGrp="1"/>
          </p:cNvSpPr>
          <p:nvPr>
            <p:ph type="title"/>
          </p:nvPr>
        </p:nvSpPr>
        <p:spPr>
          <a:xfrm>
            <a:off x="457200" y="254916"/>
            <a:ext cx="8229600" cy="667168"/>
          </a:xfrm>
        </p:spPr>
        <p:txBody>
          <a:bodyPr>
            <a:noAutofit/>
          </a:bodyPr>
          <a:lstStyle/>
          <a:p>
            <a:pPr lvl="0"/>
            <a:r>
              <a:rPr lang="en-US" sz="2800">
                <a:solidFill>
                  <a:srgbClr val="0000FF"/>
                </a:solidFill>
                <a:latin typeface="Consolas" panose="020B0609020204030204" pitchFamily="49" charset="0"/>
                <a:cs typeface="Consolas" panose="020B0609020204030204" pitchFamily="49" charset="0"/>
              </a:rPr>
              <a:t>void</a:t>
            </a:r>
            <a:r>
              <a:rPr lang="en-US" sz="2800">
                <a:latin typeface="Consolas" panose="020B0609020204030204" pitchFamily="49" charset="0"/>
                <a:cs typeface="Consolas" panose="020B0609020204030204" pitchFamily="49" charset="0"/>
              </a:rPr>
              <a:t> add(</a:t>
            </a:r>
            <a:r>
              <a:rPr lang="en-US" sz="2800">
                <a:solidFill>
                  <a:srgbClr val="000080"/>
                </a:solidFill>
                <a:latin typeface="Consolas" panose="020B0609020204030204" pitchFamily="49" charset="0"/>
                <a:cs typeface="Consolas" panose="020B0609020204030204" pitchFamily="49" charset="0"/>
              </a:rPr>
              <a:t>int </a:t>
            </a:r>
            <a:r>
              <a:rPr lang="en-US" sz="2800">
                <a:latin typeface="Consolas" panose="020B0609020204030204" pitchFamily="49" charset="0"/>
                <a:cs typeface="Consolas" panose="020B0609020204030204" pitchFamily="49" charset="0"/>
              </a:rPr>
              <a:t>index, </a:t>
            </a:r>
            <a:r>
              <a:rPr lang="en-US" sz="2800" err="1">
                <a:solidFill>
                  <a:srgbClr val="000080"/>
                </a:solidFill>
                <a:latin typeface="Consolas" panose="020B0609020204030204" pitchFamily="49" charset="0"/>
                <a:cs typeface="Consolas" panose="020B0609020204030204" pitchFamily="49" charset="0"/>
              </a:rPr>
              <a:t>ElementType</a:t>
            </a:r>
            <a:r>
              <a:rPr lang="en-US" sz="2800">
                <a:latin typeface="Consolas" panose="020B0609020204030204" pitchFamily="49" charset="0"/>
                <a:cs typeface="Consolas" panose="020B0609020204030204" pitchFamily="49" charset="0"/>
              </a:rPr>
              <a:t> element)</a:t>
            </a:r>
          </a:p>
        </p:txBody>
      </p:sp>
      <p:sp>
        <p:nvSpPr>
          <p:cNvPr id="3" name="Content Placeholder 2">
            <a:extLst>
              <a:ext uri="{FF2B5EF4-FFF2-40B4-BE49-F238E27FC236}">
                <a16:creationId xmlns:a16="http://schemas.microsoft.com/office/drawing/2014/main" id="{E9086E76-6617-83C0-4E21-4C4EE4C79015}"/>
              </a:ext>
            </a:extLst>
          </p:cNvPr>
          <p:cNvSpPr>
            <a:spLocks noGrp="1"/>
          </p:cNvSpPr>
          <p:nvPr>
            <p:ph sz="quarter" idx="10"/>
          </p:nvPr>
        </p:nvSpPr>
        <p:spPr>
          <a:xfrm>
            <a:off x="457200" y="849042"/>
            <a:ext cx="8229600" cy="4080271"/>
          </a:xfrm>
        </p:spPr>
        <p:txBody>
          <a:bodyPr>
            <a:noAutofit/>
          </a:bodyPr>
          <a:lstStyle/>
          <a:p>
            <a:r>
              <a:rPr lang="en-US"/>
              <a:t>to </a:t>
            </a:r>
            <a:r>
              <a:rPr lang="en-US" b="1"/>
              <a:t>insert</a:t>
            </a:r>
            <a:r>
              <a:rPr lang="en-US"/>
              <a:t> a new element so it has a given </a:t>
            </a:r>
            <a:r>
              <a:rPr lang="en-US">
                <a:latin typeface="+mj-lt"/>
              </a:rPr>
              <a:t>index</a:t>
            </a:r>
            <a:r>
              <a:rPr lang="en-US"/>
              <a:t>...</a:t>
            </a:r>
          </a:p>
          <a:p>
            <a:pPr lvl="1"/>
            <a:r>
              <a:rPr lang="en-US">
                <a:latin typeface="+mj-lt"/>
              </a:rPr>
              <a:t>ASSERT</a:t>
            </a:r>
            <a:r>
              <a:rPr lang="en-US"/>
              <a:t> that the given </a:t>
            </a:r>
            <a:r>
              <a:rPr lang="en-US">
                <a:latin typeface="+mj-lt"/>
              </a:rPr>
              <a:t>index</a:t>
            </a:r>
            <a:r>
              <a:rPr lang="en-US"/>
              <a:t> is valid!</a:t>
            </a:r>
          </a:p>
          <a:p>
            <a:pPr lvl="2"/>
            <a:r>
              <a:rPr lang="en-US" b="1"/>
              <a:t>NOTE: </a:t>
            </a:r>
            <a:r>
              <a:rPr lang="en-US">
                <a:solidFill>
                  <a:srgbClr val="0CB5B5"/>
                </a:solidFill>
                <a:latin typeface="+mj-lt"/>
              </a:rPr>
              <a:t>0</a:t>
            </a:r>
            <a:r>
              <a:rPr lang="en-US"/>
              <a:t> is OK ("</a:t>
            </a:r>
            <a:r>
              <a:rPr lang="en-US" b="1"/>
              <a:t>prepend</a:t>
            </a:r>
            <a:r>
              <a:rPr lang="en-US"/>
              <a:t>")</a:t>
            </a:r>
          </a:p>
          <a:p>
            <a:pPr lvl="2"/>
            <a:r>
              <a:rPr lang="en-US" b="1"/>
              <a:t>NOTE: </a:t>
            </a:r>
            <a:r>
              <a:rPr lang="en-US" err="1">
                <a:solidFill>
                  <a:srgbClr val="000000"/>
                </a:solidFill>
                <a:latin typeface="Consolas"/>
              </a:rPr>
              <a:t>length</a:t>
            </a:r>
            <a:r>
              <a:rPr lang="en-US"/>
              <a:t> is OK (</a:t>
            </a:r>
            <a:r>
              <a:rPr lang="en-US" b="1"/>
              <a:t>append</a:t>
            </a:r>
            <a:r>
              <a:rPr lang="en-US"/>
              <a:t>)</a:t>
            </a:r>
          </a:p>
          <a:p>
            <a:pPr lvl="2"/>
            <a:r>
              <a:rPr lang="en-US" b="1"/>
              <a:t>NOTE: </a:t>
            </a:r>
            <a:r>
              <a:rPr lang="en-US">
                <a:solidFill>
                  <a:srgbClr val="0CB5B5"/>
                </a:solidFill>
                <a:latin typeface="+mj-lt"/>
              </a:rPr>
              <a:t>-1</a:t>
            </a:r>
            <a:r>
              <a:rPr lang="en-US"/>
              <a:t>  is BAD BAD VERY BAD (</a:t>
            </a:r>
            <a:r>
              <a:rPr lang="en-US" b="1"/>
              <a:t>out of bounds</a:t>
            </a:r>
            <a:r>
              <a:rPr lang="en-US"/>
              <a:t>)</a:t>
            </a:r>
          </a:p>
          <a:p>
            <a:pPr lvl="2"/>
            <a:r>
              <a:rPr lang="en-US" b="1"/>
              <a:t>NOTE: </a:t>
            </a:r>
            <a:r>
              <a:rPr lang="en-US" err="1">
                <a:solidFill>
                  <a:srgbClr val="000000"/>
                </a:solidFill>
                <a:latin typeface="Consolas"/>
              </a:rPr>
              <a:t>(length + </a:t>
            </a:r>
            <a:r>
              <a:rPr lang="en-US">
                <a:solidFill>
                  <a:srgbClr val="0CB5B5"/>
                </a:solidFill>
                <a:latin typeface="+mj-lt"/>
              </a:rPr>
              <a:t>1</a:t>
            </a:r>
            <a:r>
              <a:rPr lang="en-US">
                <a:latin typeface="+mj-lt"/>
              </a:rPr>
              <a:t>)</a:t>
            </a:r>
            <a:r>
              <a:rPr lang="en-US"/>
              <a:t>  is BAD BAD VERY BAD (</a:t>
            </a:r>
            <a:r>
              <a:rPr lang="en-US" b="1"/>
              <a:t>out of bounds</a:t>
            </a:r>
            <a:r>
              <a:rPr lang="en-US"/>
              <a:t>)</a:t>
            </a:r>
          </a:p>
          <a:p>
            <a:pPr lvl="1"/>
            <a:r>
              <a:rPr lang="en-US"/>
              <a:t>if internal array is full, resize (see previous slide)</a:t>
            </a:r>
          </a:p>
          <a:p>
            <a:pPr lvl="1"/>
            <a:r>
              <a:rPr lang="en-US"/>
              <a:t>make room for the new element</a:t>
            </a:r>
          </a:p>
          <a:p>
            <a:pPr lvl="2"/>
            <a:r>
              <a:rPr lang="en-US"/>
              <a:t>move elements with indices greater than or equal to index</a:t>
            </a:r>
            <a:br>
              <a:rPr lang="en-US"/>
            </a:br>
            <a:r>
              <a:rPr lang="en-US"/>
              <a:t>one slot to the right</a:t>
            </a:r>
            <a:br>
              <a:rPr lang="en-US"/>
            </a:br>
            <a:r>
              <a:rPr lang="en-US" b="1">
                <a:solidFill>
                  <a:schemeClr val="accent6">
                    <a:lumMod val="50000"/>
                  </a:schemeClr>
                </a:solidFill>
              </a:rPr>
              <a:t>☠️ like inserting in HW02 (text box), need to iterate backwards</a:t>
            </a:r>
          </a:p>
          <a:p>
            <a:pPr lvl="1"/>
            <a:r>
              <a:rPr lang="en-US"/>
              <a:t>write new element and increment length</a:t>
            </a:r>
          </a:p>
        </p:txBody>
      </p:sp>
    </p:spTree>
    <p:extLst>
      <p:ext uri="{BB962C8B-B14F-4D97-AF65-F5344CB8AC3E}">
        <p14:creationId xmlns:p14="http://schemas.microsoft.com/office/powerpoint/2010/main" val="2265876125"/>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A47BB-5BD6-F038-15C4-4DF557D8573E}"/>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BF12574E-5E3C-6BE0-C266-B2DCD3E787BE}"/>
              </a:ext>
            </a:extLst>
          </p:cNvPr>
          <p:cNvGrpSpPr/>
          <p:nvPr/>
        </p:nvGrpSpPr>
        <p:grpSpPr>
          <a:xfrm>
            <a:off x="2775352" y="1418472"/>
            <a:ext cx="4112951" cy="912967"/>
            <a:chOff x="582919" y="134337"/>
            <a:chExt cx="8664183" cy="1923225"/>
          </a:xfrm>
        </p:grpSpPr>
        <p:sp>
          <p:nvSpPr>
            <p:cNvPr id="5" name="Rectangle 4">
              <a:extLst>
                <a:ext uri="{FF2B5EF4-FFF2-40B4-BE49-F238E27FC236}">
                  <a16:creationId xmlns:a16="http://schemas.microsoft.com/office/drawing/2014/main" id="{4F712B3D-9E63-A331-8BF0-0458C0A624AB}"/>
                </a:ext>
              </a:extLst>
            </p:cNvPr>
            <p:cNvSpPr/>
            <p:nvPr/>
          </p:nvSpPr>
          <p:spPr>
            <a:xfrm>
              <a:off x="591158" y="134337"/>
              <a:ext cx="8492774"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6" name="Rectangle 5">
              <a:extLst>
                <a:ext uri="{FF2B5EF4-FFF2-40B4-BE49-F238E27FC236}">
                  <a16:creationId xmlns:a16="http://schemas.microsoft.com/office/drawing/2014/main" id="{9D7855A8-0580-A444-FDED-53080A318A7A}"/>
                </a:ext>
              </a:extLst>
            </p:cNvPr>
            <p:cNvSpPr/>
            <p:nvPr/>
          </p:nvSpPr>
          <p:spPr>
            <a:xfrm>
              <a:off x="591156" y="1819023"/>
              <a:ext cx="8492772"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410A6424-F814-7609-8867-B7CBD210DB67}"/>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80C0CB84-09F1-D387-B5FE-DA08C42D08CC}"/>
                </a:ext>
              </a:extLst>
            </p:cNvPr>
            <p:cNvSpPr/>
            <p:nvPr/>
          </p:nvSpPr>
          <p:spPr>
            <a:xfrm rot="5400000">
              <a:off x="8166221"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E4E02B6A-D9E5-4A3D-C893-A8F3C7906F29}"/>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0" name="Rectangle 9">
              <a:extLst>
                <a:ext uri="{FF2B5EF4-FFF2-40B4-BE49-F238E27FC236}">
                  <a16:creationId xmlns:a16="http://schemas.microsoft.com/office/drawing/2014/main" id="{E6F9B77B-ED31-0DFF-31BD-9EFE612BECB9}"/>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1" name="Rectangle 10">
              <a:extLst>
                <a:ext uri="{FF2B5EF4-FFF2-40B4-BE49-F238E27FC236}">
                  <a16:creationId xmlns:a16="http://schemas.microsoft.com/office/drawing/2014/main" id="{E612D849-7506-2F62-A6C6-2A20EF3D0695}"/>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12" name="TextBox 11">
            <a:extLst>
              <a:ext uri="{FF2B5EF4-FFF2-40B4-BE49-F238E27FC236}">
                <a16:creationId xmlns:a16="http://schemas.microsoft.com/office/drawing/2014/main" id="{8E9F074B-3E7C-F238-62E7-05FB63E95CBC}"/>
              </a:ext>
            </a:extLst>
          </p:cNvPr>
          <p:cNvSpPr txBox="1"/>
          <p:nvPr/>
        </p:nvSpPr>
        <p:spPr>
          <a:xfrm>
            <a:off x="2969416" y="160618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3" name="TextBox 12">
            <a:extLst>
              <a:ext uri="{FF2B5EF4-FFF2-40B4-BE49-F238E27FC236}">
                <a16:creationId xmlns:a16="http://schemas.microsoft.com/office/drawing/2014/main" id="{8327FC75-4602-7AA6-0016-F12A0CB84C86}"/>
              </a:ext>
            </a:extLst>
          </p:cNvPr>
          <p:cNvSpPr txBox="1"/>
          <p:nvPr/>
        </p:nvSpPr>
        <p:spPr>
          <a:xfrm>
            <a:off x="4489254" y="162282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31" name="TextBox 30">
            <a:extLst>
              <a:ext uri="{FF2B5EF4-FFF2-40B4-BE49-F238E27FC236}">
                <a16:creationId xmlns:a16="http://schemas.microsoft.com/office/drawing/2014/main" id="{72C7D9A4-FA4E-EE11-889C-B924B4D27A68}"/>
              </a:ext>
            </a:extLst>
          </p:cNvPr>
          <p:cNvSpPr txBox="1"/>
          <p:nvPr/>
        </p:nvSpPr>
        <p:spPr>
          <a:xfrm>
            <a:off x="3692431" y="1613345"/>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32" name="TextBox 31">
            <a:extLst>
              <a:ext uri="{FF2B5EF4-FFF2-40B4-BE49-F238E27FC236}">
                <a16:creationId xmlns:a16="http://schemas.microsoft.com/office/drawing/2014/main" id="{1FC090EE-1FC5-6CF6-7BC1-9A175ABC782A}"/>
              </a:ext>
            </a:extLst>
          </p:cNvPr>
          <p:cNvSpPr txBox="1"/>
          <p:nvPr/>
        </p:nvSpPr>
        <p:spPr>
          <a:xfrm>
            <a:off x="312915" y="1612230"/>
            <a:ext cx="2529501" cy="461665"/>
          </a:xfrm>
          <a:prstGeom prst="rect">
            <a:avLst/>
          </a:prstGeom>
          <a:noFill/>
        </p:spPr>
        <p:txBody>
          <a:bodyPr wrap="square" rtlCol="0">
            <a:spAutoFit/>
          </a:bodyPr>
          <a:lstStyle/>
          <a:p>
            <a:r>
              <a:rPr lang="en-US" sz="2400">
                <a:latin typeface="+mj-lt"/>
              </a:rPr>
              <a:t>internalArray</a:t>
            </a:r>
          </a:p>
        </p:txBody>
      </p:sp>
      <p:sp>
        <p:nvSpPr>
          <p:cNvPr id="33" name="TextBox 32">
            <a:extLst>
              <a:ext uri="{FF2B5EF4-FFF2-40B4-BE49-F238E27FC236}">
                <a16:creationId xmlns:a16="http://schemas.microsoft.com/office/drawing/2014/main" id="{43D9F598-62E0-18DE-9535-45FBB9FFBAA9}"/>
              </a:ext>
            </a:extLst>
          </p:cNvPr>
          <p:cNvSpPr txBox="1"/>
          <p:nvPr/>
        </p:nvSpPr>
        <p:spPr>
          <a:xfrm>
            <a:off x="359087" y="501144"/>
            <a:ext cx="2529501" cy="461665"/>
          </a:xfrm>
          <a:prstGeom prst="rect">
            <a:avLst/>
          </a:prstGeom>
          <a:noFill/>
        </p:spPr>
        <p:txBody>
          <a:bodyPr wrap="square" rtlCol="0">
            <a:spAutoFit/>
          </a:bodyPr>
          <a:lstStyle/>
          <a:p>
            <a:r>
              <a:rPr lang="en-US" sz="2400">
                <a:latin typeface="+mj-lt"/>
              </a:rPr>
              <a:t>length</a:t>
            </a:r>
          </a:p>
        </p:txBody>
      </p:sp>
      <p:sp>
        <p:nvSpPr>
          <p:cNvPr id="34" name="TextBox 33">
            <a:extLst>
              <a:ext uri="{FF2B5EF4-FFF2-40B4-BE49-F238E27FC236}">
                <a16:creationId xmlns:a16="http://schemas.microsoft.com/office/drawing/2014/main" id="{00B9FEF7-AEEA-D2DA-459D-A63A975F0234}"/>
              </a:ext>
            </a:extLst>
          </p:cNvPr>
          <p:cNvSpPr txBox="1"/>
          <p:nvPr/>
        </p:nvSpPr>
        <p:spPr>
          <a:xfrm>
            <a:off x="1733469" y="316477"/>
            <a:ext cx="664044" cy="830997"/>
          </a:xfrm>
          <a:prstGeom prst="rect">
            <a:avLst/>
          </a:prstGeom>
          <a:noFill/>
        </p:spPr>
        <p:txBody>
          <a:bodyPr wrap="square" rtlCol="0">
            <a:spAutoFit/>
          </a:bodyPr>
          <a:lstStyle/>
          <a:p>
            <a:r>
              <a:rPr lang="en-US" sz="4800">
                <a:solidFill>
                  <a:schemeClr val="accent5">
                    <a:lumMod val="75000"/>
                  </a:schemeClr>
                </a:solidFill>
                <a:latin typeface="+mj-lt"/>
              </a:rPr>
              <a:t>4</a:t>
            </a:r>
          </a:p>
        </p:txBody>
      </p:sp>
      <p:sp>
        <p:nvSpPr>
          <p:cNvPr id="41" name="Title 34">
            <a:extLst>
              <a:ext uri="{FF2B5EF4-FFF2-40B4-BE49-F238E27FC236}">
                <a16:creationId xmlns:a16="http://schemas.microsoft.com/office/drawing/2014/main" id="{5D301CE0-CDF1-C9DC-47D9-875C7279D778}"/>
              </a:ext>
            </a:extLst>
          </p:cNvPr>
          <p:cNvSpPr txBox="1">
            <a:spLocks/>
          </p:cNvSpPr>
          <p:nvPr/>
        </p:nvSpPr>
        <p:spPr>
          <a:xfrm>
            <a:off x="6255412" y="320052"/>
            <a:ext cx="2529501" cy="461665"/>
          </a:xfrm>
          <a:prstGeom prst="rect">
            <a:avLst/>
          </a:prstGeom>
          <a:solidFill>
            <a:schemeClr val="accent3">
              <a:lumMod val="20000"/>
              <a:lumOff val="80000"/>
            </a:schemeClr>
          </a:solidFill>
          <a:ln>
            <a:solidFill>
              <a:schemeClr val="tx1"/>
            </a:solidFill>
          </a:ln>
        </p:spPr>
        <p:txBody>
          <a:bodyPr anchor="ctr"/>
          <a:lstStyle>
            <a:lvl1pPr algn="ctr" defTabSz="342886" rtl="0" eaLnBrk="1" latinLnBrk="0" hangingPunct="1">
              <a:spcBef>
                <a:spcPct val="0"/>
              </a:spcBef>
              <a:buNone/>
              <a:defRPr sz="3200" kern="1200">
                <a:solidFill>
                  <a:schemeClr val="tx1"/>
                </a:solidFill>
                <a:latin typeface="+mn-lt"/>
                <a:ea typeface="Segoe UI Emoji" panose="020B0502040204020203" pitchFamily="34" charset="0"/>
                <a:cs typeface="+mj-cs"/>
              </a:defRPr>
            </a:lvl1pPr>
          </a:lstStyle>
          <a:p>
            <a:r>
              <a:rPr lang="en-US" sz="2000" b="1">
                <a:latin typeface="Consolas" panose="020B0609020204030204" pitchFamily="49" charset="0"/>
                <a:cs typeface="Consolas" panose="020B0609020204030204" pitchFamily="49" charset="0"/>
              </a:rPr>
              <a:t>list.add(</a:t>
            </a:r>
            <a:r>
              <a:rPr kumimoji="0" lang="en-US" sz="2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r>
              <a:rPr lang="en-US" sz="2000" b="1">
                <a:latin typeface="Consolas" panose="020B0609020204030204" pitchFamily="49" charset="0"/>
                <a:cs typeface="Consolas" panose="020B0609020204030204" pitchFamily="49" charset="0"/>
              </a:rPr>
              <a:t>, 2)</a:t>
            </a:r>
          </a:p>
        </p:txBody>
      </p:sp>
      <p:sp>
        <p:nvSpPr>
          <p:cNvPr id="3" name="Rectangle 2">
            <a:extLst>
              <a:ext uri="{FF2B5EF4-FFF2-40B4-BE49-F238E27FC236}">
                <a16:creationId xmlns:a16="http://schemas.microsoft.com/office/drawing/2014/main" id="{D57D3220-F6C2-0ECA-C262-9FDE3CBBA918}"/>
              </a:ext>
            </a:extLst>
          </p:cNvPr>
          <p:cNvSpPr/>
          <p:nvPr/>
        </p:nvSpPr>
        <p:spPr>
          <a:xfrm rot="5400000">
            <a:off x="5510543" y="1842468"/>
            <a:ext cx="912966" cy="64974"/>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5" name="TextBox 14">
            <a:extLst>
              <a:ext uri="{FF2B5EF4-FFF2-40B4-BE49-F238E27FC236}">
                <a16:creationId xmlns:a16="http://schemas.microsoft.com/office/drawing/2014/main" id="{20AC4A5B-EF9F-545C-3F48-7AC5A401E6F4}"/>
              </a:ext>
            </a:extLst>
          </p:cNvPr>
          <p:cNvSpPr txBox="1"/>
          <p:nvPr/>
        </p:nvSpPr>
        <p:spPr>
          <a:xfrm>
            <a:off x="5249098" y="1603862"/>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6" name="TextBox 15">
            <a:extLst>
              <a:ext uri="{FF2B5EF4-FFF2-40B4-BE49-F238E27FC236}">
                <a16:creationId xmlns:a16="http://schemas.microsoft.com/office/drawing/2014/main" id="{3B8E7C21-8AD3-0A44-AEB6-D88557F7CC77}"/>
              </a:ext>
            </a:extLst>
          </p:cNvPr>
          <p:cNvSpPr txBox="1"/>
          <p:nvPr/>
        </p:nvSpPr>
        <p:spPr>
          <a:xfrm>
            <a:off x="5249098" y="161334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Tree>
    <p:extLst>
      <p:ext uri="{BB962C8B-B14F-4D97-AF65-F5344CB8AC3E}">
        <p14:creationId xmlns:p14="http://schemas.microsoft.com/office/powerpoint/2010/main" val="3898437216"/>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2B2C0-CEA9-E087-4BF6-F2AA03D7D40F}"/>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3AC862F7-CAD7-8738-47F0-9A16BD4FDBD9}"/>
              </a:ext>
            </a:extLst>
          </p:cNvPr>
          <p:cNvGrpSpPr/>
          <p:nvPr/>
        </p:nvGrpSpPr>
        <p:grpSpPr>
          <a:xfrm>
            <a:off x="2775352" y="1418472"/>
            <a:ext cx="4112951" cy="912967"/>
            <a:chOff x="582919" y="134337"/>
            <a:chExt cx="8664183" cy="1923225"/>
          </a:xfrm>
        </p:grpSpPr>
        <p:sp>
          <p:nvSpPr>
            <p:cNvPr id="5" name="Rectangle 4">
              <a:extLst>
                <a:ext uri="{FF2B5EF4-FFF2-40B4-BE49-F238E27FC236}">
                  <a16:creationId xmlns:a16="http://schemas.microsoft.com/office/drawing/2014/main" id="{7F9A0117-5FD7-92A6-58AB-1843A200B42B}"/>
                </a:ext>
              </a:extLst>
            </p:cNvPr>
            <p:cNvSpPr/>
            <p:nvPr/>
          </p:nvSpPr>
          <p:spPr>
            <a:xfrm>
              <a:off x="591158" y="134337"/>
              <a:ext cx="8492774"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6" name="Rectangle 5">
              <a:extLst>
                <a:ext uri="{FF2B5EF4-FFF2-40B4-BE49-F238E27FC236}">
                  <a16:creationId xmlns:a16="http://schemas.microsoft.com/office/drawing/2014/main" id="{D079FE23-5D26-6B16-3026-41083767D9CA}"/>
                </a:ext>
              </a:extLst>
            </p:cNvPr>
            <p:cNvSpPr/>
            <p:nvPr/>
          </p:nvSpPr>
          <p:spPr>
            <a:xfrm>
              <a:off x="591156" y="1819023"/>
              <a:ext cx="8492772"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7E8906B7-C27A-707E-FA77-9152275C7B88}"/>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35CD7F6C-31AA-EB84-8C2B-0A755BAC69AE}"/>
                </a:ext>
              </a:extLst>
            </p:cNvPr>
            <p:cNvSpPr/>
            <p:nvPr/>
          </p:nvSpPr>
          <p:spPr>
            <a:xfrm rot="5400000">
              <a:off x="8166221"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1271E253-FC07-BD13-3C7C-6E4F0976B0BF}"/>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0" name="Rectangle 9">
              <a:extLst>
                <a:ext uri="{FF2B5EF4-FFF2-40B4-BE49-F238E27FC236}">
                  <a16:creationId xmlns:a16="http://schemas.microsoft.com/office/drawing/2014/main" id="{1512BF7F-6462-F698-069D-D3BE8DB6C18C}"/>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1" name="Rectangle 10">
              <a:extLst>
                <a:ext uri="{FF2B5EF4-FFF2-40B4-BE49-F238E27FC236}">
                  <a16:creationId xmlns:a16="http://schemas.microsoft.com/office/drawing/2014/main" id="{5AB5DCF1-3793-BEF4-D055-E77F3A56A73E}"/>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12" name="TextBox 11">
            <a:extLst>
              <a:ext uri="{FF2B5EF4-FFF2-40B4-BE49-F238E27FC236}">
                <a16:creationId xmlns:a16="http://schemas.microsoft.com/office/drawing/2014/main" id="{199D6CDE-3398-73AF-2251-B2B358A58A31}"/>
              </a:ext>
            </a:extLst>
          </p:cNvPr>
          <p:cNvSpPr txBox="1"/>
          <p:nvPr/>
        </p:nvSpPr>
        <p:spPr>
          <a:xfrm>
            <a:off x="2969416" y="160618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3" name="TextBox 12">
            <a:extLst>
              <a:ext uri="{FF2B5EF4-FFF2-40B4-BE49-F238E27FC236}">
                <a16:creationId xmlns:a16="http://schemas.microsoft.com/office/drawing/2014/main" id="{BE7B450D-7ECF-7BD3-EB61-9CE251BBE7AD}"/>
              </a:ext>
            </a:extLst>
          </p:cNvPr>
          <p:cNvSpPr txBox="1"/>
          <p:nvPr/>
        </p:nvSpPr>
        <p:spPr>
          <a:xfrm>
            <a:off x="4489254" y="162282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31" name="TextBox 30">
            <a:extLst>
              <a:ext uri="{FF2B5EF4-FFF2-40B4-BE49-F238E27FC236}">
                <a16:creationId xmlns:a16="http://schemas.microsoft.com/office/drawing/2014/main" id="{84C78145-FCE9-DF5A-A209-9BD9544E7053}"/>
              </a:ext>
            </a:extLst>
          </p:cNvPr>
          <p:cNvSpPr txBox="1"/>
          <p:nvPr/>
        </p:nvSpPr>
        <p:spPr>
          <a:xfrm>
            <a:off x="3692431" y="1613345"/>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32" name="TextBox 31">
            <a:extLst>
              <a:ext uri="{FF2B5EF4-FFF2-40B4-BE49-F238E27FC236}">
                <a16:creationId xmlns:a16="http://schemas.microsoft.com/office/drawing/2014/main" id="{FBEEFE0B-BFBE-D78F-5B15-946507CCC173}"/>
              </a:ext>
            </a:extLst>
          </p:cNvPr>
          <p:cNvSpPr txBox="1"/>
          <p:nvPr/>
        </p:nvSpPr>
        <p:spPr>
          <a:xfrm>
            <a:off x="312915" y="1612230"/>
            <a:ext cx="2529501" cy="461665"/>
          </a:xfrm>
          <a:prstGeom prst="rect">
            <a:avLst/>
          </a:prstGeom>
          <a:noFill/>
        </p:spPr>
        <p:txBody>
          <a:bodyPr wrap="square" rtlCol="0">
            <a:spAutoFit/>
          </a:bodyPr>
          <a:lstStyle/>
          <a:p>
            <a:r>
              <a:rPr lang="en-US" sz="2400">
                <a:latin typeface="+mj-lt"/>
              </a:rPr>
              <a:t>internalArray</a:t>
            </a:r>
          </a:p>
        </p:txBody>
      </p:sp>
      <p:sp>
        <p:nvSpPr>
          <p:cNvPr id="33" name="TextBox 32">
            <a:extLst>
              <a:ext uri="{FF2B5EF4-FFF2-40B4-BE49-F238E27FC236}">
                <a16:creationId xmlns:a16="http://schemas.microsoft.com/office/drawing/2014/main" id="{65233557-3A2E-5BD6-901B-C5697FC442A4}"/>
              </a:ext>
            </a:extLst>
          </p:cNvPr>
          <p:cNvSpPr txBox="1"/>
          <p:nvPr/>
        </p:nvSpPr>
        <p:spPr>
          <a:xfrm>
            <a:off x="359087" y="501144"/>
            <a:ext cx="2529501" cy="461665"/>
          </a:xfrm>
          <a:prstGeom prst="rect">
            <a:avLst/>
          </a:prstGeom>
          <a:noFill/>
        </p:spPr>
        <p:txBody>
          <a:bodyPr wrap="square" rtlCol="0">
            <a:spAutoFit/>
          </a:bodyPr>
          <a:lstStyle/>
          <a:p>
            <a:r>
              <a:rPr lang="en-US" sz="2400">
                <a:latin typeface="+mj-lt"/>
              </a:rPr>
              <a:t>length</a:t>
            </a:r>
          </a:p>
        </p:txBody>
      </p:sp>
      <p:sp>
        <p:nvSpPr>
          <p:cNvPr id="34" name="TextBox 33">
            <a:extLst>
              <a:ext uri="{FF2B5EF4-FFF2-40B4-BE49-F238E27FC236}">
                <a16:creationId xmlns:a16="http://schemas.microsoft.com/office/drawing/2014/main" id="{EAEA3CB6-D4F4-DECB-A7AD-C70AF3EE78C2}"/>
              </a:ext>
            </a:extLst>
          </p:cNvPr>
          <p:cNvSpPr txBox="1"/>
          <p:nvPr/>
        </p:nvSpPr>
        <p:spPr>
          <a:xfrm>
            <a:off x="1733469" y="316477"/>
            <a:ext cx="664044" cy="830997"/>
          </a:xfrm>
          <a:prstGeom prst="rect">
            <a:avLst/>
          </a:prstGeom>
          <a:noFill/>
        </p:spPr>
        <p:txBody>
          <a:bodyPr wrap="square" rtlCol="0">
            <a:spAutoFit/>
          </a:bodyPr>
          <a:lstStyle/>
          <a:p>
            <a:r>
              <a:rPr lang="en-US" sz="4800">
                <a:solidFill>
                  <a:schemeClr val="accent5">
                    <a:lumMod val="75000"/>
                  </a:schemeClr>
                </a:solidFill>
                <a:latin typeface="+mj-lt"/>
              </a:rPr>
              <a:t>4</a:t>
            </a:r>
          </a:p>
        </p:txBody>
      </p:sp>
      <p:sp>
        <p:nvSpPr>
          <p:cNvPr id="41" name="Title 34">
            <a:extLst>
              <a:ext uri="{FF2B5EF4-FFF2-40B4-BE49-F238E27FC236}">
                <a16:creationId xmlns:a16="http://schemas.microsoft.com/office/drawing/2014/main" id="{98C1DEF5-2ECA-35AF-64BA-C0A517C9601D}"/>
              </a:ext>
            </a:extLst>
          </p:cNvPr>
          <p:cNvSpPr txBox="1">
            <a:spLocks/>
          </p:cNvSpPr>
          <p:nvPr/>
        </p:nvSpPr>
        <p:spPr>
          <a:xfrm>
            <a:off x="6255412" y="320052"/>
            <a:ext cx="2529501" cy="461665"/>
          </a:xfrm>
          <a:prstGeom prst="rect">
            <a:avLst/>
          </a:prstGeom>
          <a:solidFill>
            <a:schemeClr val="accent3">
              <a:lumMod val="20000"/>
              <a:lumOff val="80000"/>
            </a:schemeClr>
          </a:solidFill>
          <a:ln>
            <a:solidFill>
              <a:schemeClr val="tx1"/>
            </a:solidFill>
          </a:ln>
        </p:spPr>
        <p:txBody>
          <a:bodyPr anchor="ctr"/>
          <a:lstStyle>
            <a:lvl1pPr algn="ctr" defTabSz="342886" rtl="0" eaLnBrk="1" latinLnBrk="0" hangingPunct="1">
              <a:spcBef>
                <a:spcPct val="0"/>
              </a:spcBef>
              <a:buNone/>
              <a:defRPr sz="3200" kern="1200">
                <a:solidFill>
                  <a:schemeClr val="tx1"/>
                </a:solidFill>
                <a:latin typeface="+mn-lt"/>
                <a:ea typeface="Segoe UI Emoji" panose="020B0502040204020203" pitchFamily="34" charset="0"/>
                <a:cs typeface="+mj-cs"/>
              </a:defRPr>
            </a:lvl1pPr>
          </a:lstStyle>
          <a:p>
            <a:r>
              <a:rPr lang="en-US" sz="2000" b="1">
                <a:latin typeface="Consolas" panose="020B0609020204030204" pitchFamily="49" charset="0"/>
                <a:cs typeface="Consolas" panose="020B0609020204030204" pitchFamily="49" charset="0"/>
              </a:rPr>
              <a:t>list.add(</a:t>
            </a:r>
            <a:r>
              <a:rPr kumimoji="0" lang="en-US" sz="2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r>
              <a:rPr lang="en-US" sz="2000" b="1">
                <a:latin typeface="Consolas" panose="020B0609020204030204" pitchFamily="49" charset="0"/>
                <a:cs typeface="Consolas" panose="020B0609020204030204" pitchFamily="49" charset="0"/>
              </a:rPr>
              <a:t>, 2)</a:t>
            </a:r>
          </a:p>
        </p:txBody>
      </p:sp>
      <p:sp>
        <p:nvSpPr>
          <p:cNvPr id="3" name="Rectangle 2">
            <a:extLst>
              <a:ext uri="{FF2B5EF4-FFF2-40B4-BE49-F238E27FC236}">
                <a16:creationId xmlns:a16="http://schemas.microsoft.com/office/drawing/2014/main" id="{F2420065-6887-9AA8-567D-6116C4B5E40A}"/>
              </a:ext>
            </a:extLst>
          </p:cNvPr>
          <p:cNvSpPr/>
          <p:nvPr/>
        </p:nvSpPr>
        <p:spPr>
          <a:xfrm rot="5400000">
            <a:off x="5510543" y="1842468"/>
            <a:ext cx="912966" cy="64974"/>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4" name="TextBox 13">
            <a:extLst>
              <a:ext uri="{FF2B5EF4-FFF2-40B4-BE49-F238E27FC236}">
                <a16:creationId xmlns:a16="http://schemas.microsoft.com/office/drawing/2014/main" id="{F220F908-D771-B41F-48E7-34208A201E11}"/>
              </a:ext>
            </a:extLst>
          </p:cNvPr>
          <p:cNvSpPr txBox="1"/>
          <p:nvPr/>
        </p:nvSpPr>
        <p:spPr>
          <a:xfrm>
            <a:off x="6105020" y="1603862"/>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7" name="TextBox 16">
            <a:extLst>
              <a:ext uri="{FF2B5EF4-FFF2-40B4-BE49-F238E27FC236}">
                <a16:creationId xmlns:a16="http://schemas.microsoft.com/office/drawing/2014/main" id="{DC1FCFEB-3ECC-4F67-0089-5A9054F0A4C0}"/>
              </a:ext>
            </a:extLst>
          </p:cNvPr>
          <p:cNvSpPr txBox="1"/>
          <p:nvPr/>
        </p:nvSpPr>
        <p:spPr>
          <a:xfrm>
            <a:off x="5249098" y="1603862"/>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21" name="TextBox 20">
            <a:extLst>
              <a:ext uri="{FF2B5EF4-FFF2-40B4-BE49-F238E27FC236}">
                <a16:creationId xmlns:a16="http://schemas.microsoft.com/office/drawing/2014/main" id="{457CF06F-19B2-61EE-A762-44C6BDBBEB33}"/>
              </a:ext>
            </a:extLst>
          </p:cNvPr>
          <p:cNvSpPr txBox="1"/>
          <p:nvPr/>
        </p:nvSpPr>
        <p:spPr>
          <a:xfrm>
            <a:off x="4489254" y="162282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Tree>
    <p:extLst>
      <p:ext uri="{BB962C8B-B14F-4D97-AF65-F5344CB8AC3E}">
        <p14:creationId xmlns:p14="http://schemas.microsoft.com/office/powerpoint/2010/main" val="83892564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D341E-0483-A24C-6B95-4FBFB8CE84F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85724E7-B823-3E9B-0354-1037A6C52DBC}"/>
              </a:ext>
            </a:extLst>
          </p:cNvPr>
          <p:cNvSpPr/>
          <p:nvPr/>
        </p:nvSpPr>
        <p:spPr>
          <a:xfrm rot="5400000">
            <a:off x="5510543" y="1842468"/>
            <a:ext cx="912966" cy="64974"/>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nvGrpSpPr>
          <p:cNvPr id="4" name="Group 3">
            <a:extLst>
              <a:ext uri="{FF2B5EF4-FFF2-40B4-BE49-F238E27FC236}">
                <a16:creationId xmlns:a16="http://schemas.microsoft.com/office/drawing/2014/main" id="{2A8CAAB9-EEDB-419A-A4DF-65F11FEF6EB0}"/>
              </a:ext>
            </a:extLst>
          </p:cNvPr>
          <p:cNvGrpSpPr/>
          <p:nvPr/>
        </p:nvGrpSpPr>
        <p:grpSpPr>
          <a:xfrm>
            <a:off x="2775352" y="1418472"/>
            <a:ext cx="4112951" cy="912967"/>
            <a:chOff x="582919" y="134337"/>
            <a:chExt cx="8664183" cy="1923225"/>
          </a:xfrm>
        </p:grpSpPr>
        <p:sp>
          <p:nvSpPr>
            <p:cNvPr id="5" name="Rectangle 4">
              <a:extLst>
                <a:ext uri="{FF2B5EF4-FFF2-40B4-BE49-F238E27FC236}">
                  <a16:creationId xmlns:a16="http://schemas.microsoft.com/office/drawing/2014/main" id="{E7C1C8FD-E378-7C64-C7B7-7A8FF8F09795}"/>
                </a:ext>
              </a:extLst>
            </p:cNvPr>
            <p:cNvSpPr/>
            <p:nvPr/>
          </p:nvSpPr>
          <p:spPr>
            <a:xfrm>
              <a:off x="591158" y="134337"/>
              <a:ext cx="8492774"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6" name="Rectangle 5">
              <a:extLst>
                <a:ext uri="{FF2B5EF4-FFF2-40B4-BE49-F238E27FC236}">
                  <a16:creationId xmlns:a16="http://schemas.microsoft.com/office/drawing/2014/main" id="{1D491594-3542-6D06-4FC8-9D5D20C20A30}"/>
                </a:ext>
              </a:extLst>
            </p:cNvPr>
            <p:cNvSpPr/>
            <p:nvPr/>
          </p:nvSpPr>
          <p:spPr>
            <a:xfrm>
              <a:off x="591156" y="1819023"/>
              <a:ext cx="8492772"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0A5FDC0A-26E2-7D11-6E7C-ED5A15563BB6}"/>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99BDFB9B-8245-3C1A-1271-2661AB69D180}"/>
                </a:ext>
              </a:extLst>
            </p:cNvPr>
            <p:cNvSpPr/>
            <p:nvPr/>
          </p:nvSpPr>
          <p:spPr>
            <a:xfrm rot="5400000">
              <a:off x="8166221"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D8F05CD7-59B3-EA91-2AB0-D78C7718C4C3}"/>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0" name="Rectangle 9">
              <a:extLst>
                <a:ext uri="{FF2B5EF4-FFF2-40B4-BE49-F238E27FC236}">
                  <a16:creationId xmlns:a16="http://schemas.microsoft.com/office/drawing/2014/main" id="{7F07F70A-6D10-F861-7D6B-A961E4A2BE75}"/>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1" name="Rectangle 10">
              <a:extLst>
                <a:ext uri="{FF2B5EF4-FFF2-40B4-BE49-F238E27FC236}">
                  <a16:creationId xmlns:a16="http://schemas.microsoft.com/office/drawing/2014/main" id="{CCB719D7-427A-40EF-42AE-E57B3CCC93FE}"/>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12" name="TextBox 11">
            <a:extLst>
              <a:ext uri="{FF2B5EF4-FFF2-40B4-BE49-F238E27FC236}">
                <a16:creationId xmlns:a16="http://schemas.microsoft.com/office/drawing/2014/main" id="{581C738C-4085-03AD-E949-BDB70D696A72}"/>
              </a:ext>
            </a:extLst>
          </p:cNvPr>
          <p:cNvSpPr txBox="1"/>
          <p:nvPr/>
        </p:nvSpPr>
        <p:spPr>
          <a:xfrm>
            <a:off x="2969416" y="160618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3" name="TextBox 12">
            <a:extLst>
              <a:ext uri="{FF2B5EF4-FFF2-40B4-BE49-F238E27FC236}">
                <a16:creationId xmlns:a16="http://schemas.microsoft.com/office/drawing/2014/main" id="{4344C502-3192-AC4C-EC3D-9C77D5498BE6}"/>
              </a:ext>
            </a:extLst>
          </p:cNvPr>
          <p:cNvSpPr txBox="1"/>
          <p:nvPr/>
        </p:nvSpPr>
        <p:spPr>
          <a:xfrm>
            <a:off x="5312214" y="162282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31" name="TextBox 30">
            <a:extLst>
              <a:ext uri="{FF2B5EF4-FFF2-40B4-BE49-F238E27FC236}">
                <a16:creationId xmlns:a16="http://schemas.microsoft.com/office/drawing/2014/main" id="{A75C2C07-9CD9-BFDB-0912-E1EF69643B9C}"/>
              </a:ext>
            </a:extLst>
          </p:cNvPr>
          <p:cNvSpPr txBox="1"/>
          <p:nvPr/>
        </p:nvSpPr>
        <p:spPr>
          <a:xfrm>
            <a:off x="3692431" y="1613345"/>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32" name="TextBox 31">
            <a:extLst>
              <a:ext uri="{FF2B5EF4-FFF2-40B4-BE49-F238E27FC236}">
                <a16:creationId xmlns:a16="http://schemas.microsoft.com/office/drawing/2014/main" id="{3147DEFF-38A6-E1B1-1623-4AC51702B781}"/>
              </a:ext>
            </a:extLst>
          </p:cNvPr>
          <p:cNvSpPr txBox="1"/>
          <p:nvPr/>
        </p:nvSpPr>
        <p:spPr>
          <a:xfrm>
            <a:off x="312915" y="1612230"/>
            <a:ext cx="2529501" cy="461665"/>
          </a:xfrm>
          <a:prstGeom prst="rect">
            <a:avLst/>
          </a:prstGeom>
          <a:noFill/>
        </p:spPr>
        <p:txBody>
          <a:bodyPr wrap="square" rtlCol="0">
            <a:spAutoFit/>
          </a:bodyPr>
          <a:lstStyle/>
          <a:p>
            <a:r>
              <a:rPr lang="en-US" sz="2400">
                <a:latin typeface="+mj-lt"/>
              </a:rPr>
              <a:t>internalArray</a:t>
            </a:r>
          </a:p>
        </p:txBody>
      </p:sp>
      <p:sp>
        <p:nvSpPr>
          <p:cNvPr id="33" name="TextBox 32">
            <a:extLst>
              <a:ext uri="{FF2B5EF4-FFF2-40B4-BE49-F238E27FC236}">
                <a16:creationId xmlns:a16="http://schemas.microsoft.com/office/drawing/2014/main" id="{8781B7E9-8546-EE34-35F2-A19164A68EC5}"/>
              </a:ext>
            </a:extLst>
          </p:cNvPr>
          <p:cNvSpPr txBox="1"/>
          <p:nvPr/>
        </p:nvSpPr>
        <p:spPr>
          <a:xfrm>
            <a:off x="359087" y="501144"/>
            <a:ext cx="2529501" cy="461665"/>
          </a:xfrm>
          <a:prstGeom prst="rect">
            <a:avLst/>
          </a:prstGeom>
          <a:noFill/>
        </p:spPr>
        <p:txBody>
          <a:bodyPr wrap="square" rtlCol="0">
            <a:spAutoFit/>
          </a:bodyPr>
          <a:lstStyle/>
          <a:p>
            <a:r>
              <a:rPr lang="en-US" sz="2400">
                <a:latin typeface="+mj-lt"/>
              </a:rPr>
              <a:t>length</a:t>
            </a:r>
          </a:p>
        </p:txBody>
      </p:sp>
      <p:sp>
        <p:nvSpPr>
          <p:cNvPr id="34" name="TextBox 33">
            <a:extLst>
              <a:ext uri="{FF2B5EF4-FFF2-40B4-BE49-F238E27FC236}">
                <a16:creationId xmlns:a16="http://schemas.microsoft.com/office/drawing/2014/main" id="{91FC9491-436D-9844-97F5-1554953E7E92}"/>
              </a:ext>
            </a:extLst>
          </p:cNvPr>
          <p:cNvSpPr txBox="1"/>
          <p:nvPr/>
        </p:nvSpPr>
        <p:spPr>
          <a:xfrm>
            <a:off x="1733469" y="316477"/>
            <a:ext cx="664044" cy="830997"/>
          </a:xfrm>
          <a:prstGeom prst="rect">
            <a:avLst/>
          </a:prstGeom>
          <a:noFill/>
        </p:spPr>
        <p:txBody>
          <a:bodyPr wrap="square" rtlCol="0">
            <a:spAutoFit/>
          </a:bodyPr>
          <a:lstStyle/>
          <a:p>
            <a:r>
              <a:rPr lang="en-US" sz="4800">
                <a:solidFill>
                  <a:schemeClr val="accent5">
                    <a:lumMod val="75000"/>
                  </a:schemeClr>
                </a:solidFill>
                <a:latin typeface="+mj-lt"/>
              </a:rPr>
              <a:t>4</a:t>
            </a:r>
          </a:p>
        </p:txBody>
      </p:sp>
      <p:sp>
        <p:nvSpPr>
          <p:cNvPr id="41" name="Title 34">
            <a:extLst>
              <a:ext uri="{FF2B5EF4-FFF2-40B4-BE49-F238E27FC236}">
                <a16:creationId xmlns:a16="http://schemas.microsoft.com/office/drawing/2014/main" id="{92407905-CDAB-93AB-61CA-50B8F3433D8E}"/>
              </a:ext>
            </a:extLst>
          </p:cNvPr>
          <p:cNvSpPr txBox="1">
            <a:spLocks/>
          </p:cNvSpPr>
          <p:nvPr/>
        </p:nvSpPr>
        <p:spPr>
          <a:xfrm>
            <a:off x="6255412" y="320052"/>
            <a:ext cx="2529501" cy="461665"/>
          </a:xfrm>
          <a:prstGeom prst="rect">
            <a:avLst/>
          </a:prstGeom>
          <a:solidFill>
            <a:schemeClr val="accent3">
              <a:lumMod val="20000"/>
              <a:lumOff val="80000"/>
            </a:schemeClr>
          </a:solidFill>
          <a:ln>
            <a:solidFill>
              <a:schemeClr val="tx1"/>
            </a:solidFill>
          </a:ln>
        </p:spPr>
        <p:txBody>
          <a:bodyPr anchor="ctr"/>
          <a:lstStyle>
            <a:lvl1pPr algn="ctr" defTabSz="342886" rtl="0" eaLnBrk="1" latinLnBrk="0" hangingPunct="1">
              <a:spcBef>
                <a:spcPct val="0"/>
              </a:spcBef>
              <a:buNone/>
              <a:defRPr sz="3200" kern="1200">
                <a:solidFill>
                  <a:schemeClr val="tx1"/>
                </a:solidFill>
                <a:latin typeface="+mn-lt"/>
                <a:ea typeface="Segoe UI Emoji" panose="020B0502040204020203" pitchFamily="34" charset="0"/>
                <a:cs typeface="+mj-cs"/>
              </a:defRPr>
            </a:lvl1pPr>
          </a:lstStyle>
          <a:p>
            <a:r>
              <a:rPr lang="en-US" sz="2000" b="1">
                <a:latin typeface="Consolas" panose="020B0609020204030204" pitchFamily="49" charset="0"/>
                <a:cs typeface="Consolas" panose="020B0609020204030204" pitchFamily="49" charset="0"/>
              </a:rPr>
              <a:t>list.add(</a:t>
            </a:r>
            <a:r>
              <a:rPr kumimoji="0" lang="en-US" sz="2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r>
              <a:rPr lang="en-US" sz="2000" b="1">
                <a:latin typeface="Consolas" panose="020B0609020204030204" pitchFamily="49" charset="0"/>
                <a:cs typeface="Consolas" panose="020B0609020204030204" pitchFamily="49" charset="0"/>
              </a:rPr>
              <a:t>, 2)</a:t>
            </a:r>
          </a:p>
        </p:txBody>
      </p:sp>
      <p:sp>
        <p:nvSpPr>
          <p:cNvPr id="14" name="TextBox 13">
            <a:extLst>
              <a:ext uri="{FF2B5EF4-FFF2-40B4-BE49-F238E27FC236}">
                <a16:creationId xmlns:a16="http://schemas.microsoft.com/office/drawing/2014/main" id="{9E08778B-7C70-EFA1-F964-90FC513BEB89}"/>
              </a:ext>
            </a:extLst>
          </p:cNvPr>
          <p:cNvSpPr txBox="1"/>
          <p:nvPr/>
        </p:nvSpPr>
        <p:spPr>
          <a:xfrm>
            <a:off x="6105020" y="1603862"/>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5" name="TextBox 14">
            <a:extLst>
              <a:ext uri="{FF2B5EF4-FFF2-40B4-BE49-F238E27FC236}">
                <a16:creationId xmlns:a16="http://schemas.microsoft.com/office/drawing/2014/main" id="{89D89E93-36EF-06A7-112C-2CE956B6A712}"/>
              </a:ext>
            </a:extLst>
          </p:cNvPr>
          <p:cNvSpPr txBox="1"/>
          <p:nvPr/>
        </p:nvSpPr>
        <p:spPr>
          <a:xfrm>
            <a:off x="4489254" y="162282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7" name="TextBox 16">
            <a:extLst>
              <a:ext uri="{FF2B5EF4-FFF2-40B4-BE49-F238E27FC236}">
                <a16:creationId xmlns:a16="http://schemas.microsoft.com/office/drawing/2014/main" id="{5FF695C4-F8C0-D782-1920-608A307DD0D8}"/>
              </a:ext>
            </a:extLst>
          </p:cNvPr>
          <p:cNvSpPr txBox="1"/>
          <p:nvPr/>
        </p:nvSpPr>
        <p:spPr>
          <a:xfrm>
            <a:off x="7602232" y="348456"/>
            <a:ext cx="528320" cy="400110"/>
          </a:xfrm>
          <a:prstGeom prst="rect">
            <a:avLst/>
          </a:prstGeom>
          <a:noFill/>
        </p:spPr>
        <p:txBody>
          <a:bodyPr wrap="square">
            <a:spAutoFit/>
          </a:bodyPr>
          <a:lstStyle/>
          <a:p>
            <a:r>
              <a:rPr kumimoji="0" lang="en-US" sz="2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2000"/>
          </a:p>
        </p:txBody>
      </p:sp>
    </p:spTree>
    <p:extLst>
      <p:ext uri="{BB962C8B-B14F-4D97-AF65-F5344CB8AC3E}">
        <p14:creationId xmlns:p14="http://schemas.microsoft.com/office/powerpoint/2010/main" val="228446110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436CD-128A-7407-DB03-4E6151BCDBA6}"/>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5CAC6780-4D28-6D4B-1818-BC5B94276852}"/>
              </a:ext>
            </a:extLst>
          </p:cNvPr>
          <p:cNvGrpSpPr/>
          <p:nvPr/>
        </p:nvGrpSpPr>
        <p:grpSpPr>
          <a:xfrm>
            <a:off x="2775352" y="1418472"/>
            <a:ext cx="4112951" cy="912967"/>
            <a:chOff x="582919" y="134337"/>
            <a:chExt cx="8664183" cy="1923225"/>
          </a:xfrm>
        </p:grpSpPr>
        <p:sp>
          <p:nvSpPr>
            <p:cNvPr id="5" name="Rectangle 4">
              <a:extLst>
                <a:ext uri="{FF2B5EF4-FFF2-40B4-BE49-F238E27FC236}">
                  <a16:creationId xmlns:a16="http://schemas.microsoft.com/office/drawing/2014/main" id="{8BFC1AF5-F74E-1B18-4834-811E26DDDACD}"/>
                </a:ext>
              </a:extLst>
            </p:cNvPr>
            <p:cNvSpPr/>
            <p:nvPr/>
          </p:nvSpPr>
          <p:spPr>
            <a:xfrm>
              <a:off x="591158" y="134337"/>
              <a:ext cx="8492774"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6" name="Rectangle 5">
              <a:extLst>
                <a:ext uri="{FF2B5EF4-FFF2-40B4-BE49-F238E27FC236}">
                  <a16:creationId xmlns:a16="http://schemas.microsoft.com/office/drawing/2014/main" id="{678EAA3E-29C1-6CF7-2E8E-E8C582B1B85A}"/>
                </a:ext>
              </a:extLst>
            </p:cNvPr>
            <p:cNvSpPr/>
            <p:nvPr/>
          </p:nvSpPr>
          <p:spPr>
            <a:xfrm>
              <a:off x="591156" y="1819023"/>
              <a:ext cx="8492772"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D43BD7A6-D188-A3E9-37ED-CDF1EAC7169A}"/>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F3D7C4E0-1782-8B0A-91F9-53344875132E}"/>
                </a:ext>
              </a:extLst>
            </p:cNvPr>
            <p:cNvSpPr/>
            <p:nvPr/>
          </p:nvSpPr>
          <p:spPr>
            <a:xfrm rot="5400000">
              <a:off x="8166221"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7C40153B-C826-4252-EC1B-C6022D0FD8E8}"/>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0" name="Rectangle 9">
              <a:extLst>
                <a:ext uri="{FF2B5EF4-FFF2-40B4-BE49-F238E27FC236}">
                  <a16:creationId xmlns:a16="http://schemas.microsoft.com/office/drawing/2014/main" id="{0FA899A4-2203-64EB-DF26-F82C0361668C}"/>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1" name="Rectangle 10">
              <a:extLst>
                <a:ext uri="{FF2B5EF4-FFF2-40B4-BE49-F238E27FC236}">
                  <a16:creationId xmlns:a16="http://schemas.microsoft.com/office/drawing/2014/main" id="{07DDD291-F814-02AD-F0B3-7FAEB094FBAD}"/>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12" name="TextBox 11">
            <a:extLst>
              <a:ext uri="{FF2B5EF4-FFF2-40B4-BE49-F238E27FC236}">
                <a16:creationId xmlns:a16="http://schemas.microsoft.com/office/drawing/2014/main" id="{74299CC4-7C7E-3F22-E397-14C78F119261}"/>
              </a:ext>
            </a:extLst>
          </p:cNvPr>
          <p:cNvSpPr txBox="1"/>
          <p:nvPr/>
        </p:nvSpPr>
        <p:spPr>
          <a:xfrm>
            <a:off x="2969416" y="160618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3" name="TextBox 12">
            <a:extLst>
              <a:ext uri="{FF2B5EF4-FFF2-40B4-BE49-F238E27FC236}">
                <a16:creationId xmlns:a16="http://schemas.microsoft.com/office/drawing/2014/main" id="{20EE96DE-4C0A-8896-9E7A-A92F00A28B25}"/>
              </a:ext>
            </a:extLst>
          </p:cNvPr>
          <p:cNvSpPr txBox="1"/>
          <p:nvPr/>
        </p:nvSpPr>
        <p:spPr>
          <a:xfrm>
            <a:off x="5312214" y="162282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31" name="TextBox 30">
            <a:extLst>
              <a:ext uri="{FF2B5EF4-FFF2-40B4-BE49-F238E27FC236}">
                <a16:creationId xmlns:a16="http://schemas.microsoft.com/office/drawing/2014/main" id="{3C707084-94AD-C220-0495-BF3DE8DE5B34}"/>
              </a:ext>
            </a:extLst>
          </p:cNvPr>
          <p:cNvSpPr txBox="1"/>
          <p:nvPr/>
        </p:nvSpPr>
        <p:spPr>
          <a:xfrm>
            <a:off x="3692431" y="1613345"/>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32" name="TextBox 31">
            <a:extLst>
              <a:ext uri="{FF2B5EF4-FFF2-40B4-BE49-F238E27FC236}">
                <a16:creationId xmlns:a16="http://schemas.microsoft.com/office/drawing/2014/main" id="{95C6BEAA-D88F-DA6D-2288-B5C991E00130}"/>
              </a:ext>
            </a:extLst>
          </p:cNvPr>
          <p:cNvSpPr txBox="1"/>
          <p:nvPr/>
        </p:nvSpPr>
        <p:spPr>
          <a:xfrm>
            <a:off x="312915" y="1612230"/>
            <a:ext cx="2529501" cy="461665"/>
          </a:xfrm>
          <a:prstGeom prst="rect">
            <a:avLst/>
          </a:prstGeom>
          <a:noFill/>
        </p:spPr>
        <p:txBody>
          <a:bodyPr wrap="square" rtlCol="0">
            <a:spAutoFit/>
          </a:bodyPr>
          <a:lstStyle/>
          <a:p>
            <a:r>
              <a:rPr lang="en-US" sz="2400">
                <a:latin typeface="+mj-lt"/>
              </a:rPr>
              <a:t>internalArray</a:t>
            </a:r>
          </a:p>
        </p:txBody>
      </p:sp>
      <p:sp>
        <p:nvSpPr>
          <p:cNvPr id="33" name="TextBox 32">
            <a:extLst>
              <a:ext uri="{FF2B5EF4-FFF2-40B4-BE49-F238E27FC236}">
                <a16:creationId xmlns:a16="http://schemas.microsoft.com/office/drawing/2014/main" id="{0CA242D1-060D-F991-61A0-ED6189C6FF61}"/>
              </a:ext>
            </a:extLst>
          </p:cNvPr>
          <p:cNvSpPr txBox="1"/>
          <p:nvPr/>
        </p:nvSpPr>
        <p:spPr>
          <a:xfrm>
            <a:off x="359087" y="501144"/>
            <a:ext cx="2529501" cy="461665"/>
          </a:xfrm>
          <a:prstGeom prst="rect">
            <a:avLst/>
          </a:prstGeom>
          <a:noFill/>
        </p:spPr>
        <p:txBody>
          <a:bodyPr wrap="square" rtlCol="0">
            <a:spAutoFit/>
          </a:bodyPr>
          <a:lstStyle/>
          <a:p>
            <a:r>
              <a:rPr lang="en-US" sz="2400">
                <a:latin typeface="+mj-lt"/>
              </a:rPr>
              <a:t>length</a:t>
            </a:r>
          </a:p>
        </p:txBody>
      </p:sp>
      <p:sp>
        <p:nvSpPr>
          <p:cNvPr id="34" name="TextBox 33">
            <a:extLst>
              <a:ext uri="{FF2B5EF4-FFF2-40B4-BE49-F238E27FC236}">
                <a16:creationId xmlns:a16="http://schemas.microsoft.com/office/drawing/2014/main" id="{719F0F9A-FE01-57E3-D9F1-8FAD06307BE6}"/>
              </a:ext>
            </a:extLst>
          </p:cNvPr>
          <p:cNvSpPr txBox="1"/>
          <p:nvPr/>
        </p:nvSpPr>
        <p:spPr>
          <a:xfrm>
            <a:off x="1733469" y="316477"/>
            <a:ext cx="664044" cy="830997"/>
          </a:xfrm>
          <a:prstGeom prst="rect">
            <a:avLst/>
          </a:prstGeom>
          <a:noFill/>
        </p:spPr>
        <p:txBody>
          <a:bodyPr wrap="square" rtlCol="0">
            <a:spAutoFit/>
          </a:bodyPr>
          <a:lstStyle/>
          <a:p>
            <a:r>
              <a:rPr lang="en-US" sz="4800">
                <a:solidFill>
                  <a:schemeClr val="accent5">
                    <a:lumMod val="75000"/>
                  </a:schemeClr>
                </a:solidFill>
                <a:latin typeface="+mj-lt"/>
              </a:rPr>
              <a:t>5</a:t>
            </a:r>
          </a:p>
        </p:txBody>
      </p:sp>
      <p:sp>
        <p:nvSpPr>
          <p:cNvPr id="41" name="Title 34">
            <a:extLst>
              <a:ext uri="{FF2B5EF4-FFF2-40B4-BE49-F238E27FC236}">
                <a16:creationId xmlns:a16="http://schemas.microsoft.com/office/drawing/2014/main" id="{9A3C14F9-996E-C1B2-5ED3-631D81367D1C}"/>
              </a:ext>
            </a:extLst>
          </p:cNvPr>
          <p:cNvSpPr txBox="1">
            <a:spLocks/>
          </p:cNvSpPr>
          <p:nvPr/>
        </p:nvSpPr>
        <p:spPr>
          <a:xfrm>
            <a:off x="6255412" y="320052"/>
            <a:ext cx="2529501" cy="461665"/>
          </a:xfrm>
          <a:prstGeom prst="rect">
            <a:avLst/>
          </a:prstGeom>
          <a:solidFill>
            <a:schemeClr val="accent3">
              <a:lumMod val="20000"/>
              <a:lumOff val="80000"/>
            </a:schemeClr>
          </a:solidFill>
          <a:ln>
            <a:solidFill>
              <a:schemeClr val="tx1"/>
            </a:solidFill>
          </a:ln>
        </p:spPr>
        <p:txBody>
          <a:bodyPr anchor="ctr"/>
          <a:lstStyle>
            <a:lvl1pPr algn="ctr" defTabSz="342886" rtl="0" eaLnBrk="1" latinLnBrk="0" hangingPunct="1">
              <a:spcBef>
                <a:spcPct val="0"/>
              </a:spcBef>
              <a:buNone/>
              <a:defRPr sz="3200" kern="1200">
                <a:solidFill>
                  <a:schemeClr val="tx1"/>
                </a:solidFill>
                <a:latin typeface="+mn-lt"/>
                <a:ea typeface="Segoe UI Emoji" panose="020B0502040204020203" pitchFamily="34" charset="0"/>
                <a:cs typeface="+mj-cs"/>
              </a:defRPr>
            </a:lvl1pPr>
          </a:lstStyle>
          <a:p>
            <a:r>
              <a:rPr lang="en-US" sz="2000" b="1">
                <a:latin typeface="Consolas" panose="020B0609020204030204" pitchFamily="49" charset="0"/>
                <a:cs typeface="Consolas" panose="020B0609020204030204" pitchFamily="49" charset="0"/>
              </a:rPr>
              <a:t>list.add(</a:t>
            </a:r>
            <a:r>
              <a:rPr kumimoji="0" lang="en-US" sz="2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r>
              <a:rPr lang="en-US" sz="2000" b="1">
                <a:latin typeface="Consolas" panose="020B0609020204030204" pitchFamily="49" charset="0"/>
                <a:cs typeface="Consolas" panose="020B0609020204030204" pitchFamily="49" charset="0"/>
              </a:rPr>
              <a:t>, 2)</a:t>
            </a:r>
          </a:p>
        </p:txBody>
      </p:sp>
      <p:sp>
        <p:nvSpPr>
          <p:cNvPr id="2" name="TextBox 1">
            <a:extLst>
              <a:ext uri="{FF2B5EF4-FFF2-40B4-BE49-F238E27FC236}">
                <a16:creationId xmlns:a16="http://schemas.microsoft.com/office/drawing/2014/main" id="{D9FDA2DD-E9D5-DC58-84D5-5761B9D8C19B}"/>
              </a:ext>
            </a:extLst>
          </p:cNvPr>
          <p:cNvSpPr txBox="1"/>
          <p:nvPr/>
        </p:nvSpPr>
        <p:spPr>
          <a:xfrm>
            <a:off x="6072058" y="1603862"/>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3" name="Rectangle 2">
            <a:extLst>
              <a:ext uri="{FF2B5EF4-FFF2-40B4-BE49-F238E27FC236}">
                <a16:creationId xmlns:a16="http://schemas.microsoft.com/office/drawing/2014/main" id="{92021C7F-1A8B-FA5D-E2A6-2A07A50B4849}"/>
              </a:ext>
            </a:extLst>
          </p:cNvPr>
          <p:cNvSpPr/>
          <p:nvPr/>
        </p:nvSpPr>
        <p:spPr>
          <a:xfrm rot="5400000">
            <a:off x="5510543" y="1842468"/>
            <a:ext cx="912966" cy="64974"/>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5" name="TextBox 14">
            <a:extLst>
              <a:ext uri="{FF2B5EF4-FFF2-40B4-BE49-F238E27FC236}">
                <a16:creationId xmlns:a16="http://schemas.microsoft.com/office/drawing/2014/main" id="{6FAFD223-02F4-05A2-CBC5-C8086EEB9D92}"/>
              </a:ext>
            </a:extLst>
          </p:cNvPr>
          <p:cNvSpPr txBox="1"/>
          <p:nvPr/>
        </p:nvSpPr>
        <p:spPr>
          <a:xfrm>
            <a:off x="4480386" y="1613345"/>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Tree>
    <p:extLst>
      <p:ext uri="{BB962C8B-B14F-4D97-AF65-F5344CB8AC3E}">
        <p14:creationId xmlns:p14="http://schemas.microsoft.com/office/powerpoint/2010/main" val="244654760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382FD-1D6A-7905-09AF-79FA009ED181}"/>
              </a:ext>
            </a:extLst>
          </p:cNvPr>
          <p:cNvSpPr>
            <a:spLocks noGrp="1"/>
          </p:cNvSpPr>
          <p:nvPr>
            <p:ph type="title"/>
          </p:nvPr>
        </p:nvSpPr>
        <p:spPr/>
        <p:txBody>
          <a:bodyPr/>
          <a:lstStyle/>
          <a:p>
            <a:r>
              <a:rPr lang="en-US" sz="4800" b="1"/>
              <a:t>☠️ like in HW02 (text box), need to iterate backwards</a:t>
            </a:r>
            <a:endParaRPr lang="en-US" sz="4800"/>
          </a:p>
        </p:txBody>
      </p:sp>
    </p:spTree>
    <p:extLst>
      <p:ext uri="{BB962C8B-B14F-4D97-AF65-F5344CB8AC3E}">
        <p14:creationId xmlns:p14="http://schemas.microsoft.com/office/powerpoint/2010/main" val="1236967116"/>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5FE3C-BF96-BE65-8F25-F4DF51F607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9CF8B2-91C5-07C7-6414-D6DF1E11059F}"/>
              </a:ext>
            </a:extLst>
          </p:cNvPr>
          <p:cNvSpPr>
            <a:spLocks noGrp="1"/>
          </p:cNvSpPr>
          <p:nvPr>
            <p:ph type="title"/>
          </p:nvPr>
        </p:nvSpPr>
        <p:spPr/>
        <p:txBody>
          <a:bodyPr/>
          <a:lstStyle/>
          <a:p>
            <a:pPr algn="l"/>
            <a:r>
              <a:rPr lang="en-US" sz="9600">
                <a:latin typeface="Consolas" panose="020B0609020204030204" pitchFamily="49" charset="0"/>
                <a:cs typeface="Consolas" panose="020B0609020204030204" pitchFamily="49" charset="0"/>
              </a:rPr>
              <a:t>epelia</a:t>
            </a:r>
          </a:p>
        </p:txBody>
      </p:sp>
      <p:sp>
        <p:nvSpPr>
          <p:cNvPr id="8" name="Title 1">
            <a:extLst>
              <a:ext uri="{FF2B5EF4-FFF2-40B4-BE49-F238E27FC236}">
                <a16:creationId xmlns:a16="http://schemas.microsoft.com/office/drawing/2014/main" id="{BDE383D1-DAFA-3FF1-0B29-817EBE90E2F0}"/>
              </a:ext>
            </a:extLst>
          </p:cNvPr>
          <p:cNvSpPr txBox="1">
            <a:spLocks/>
          </p:cNvSpPr>
          <p:nvPr/>
        </p:nvSpPr>
        <p:spPr>
          <a:xfrm>
            <a:off x="-2218494" y="2222904"/>
            <a:ext cx="8229600" cy="857250"/>
          </a:xfrm>
          <a:prstGeom prst="rect">
            <a:avLst/>
          </a:prstGeom>
        </p:spPr>
        <p:txBody>
          <a:bodyPr vert="horz" lIns="91440" tIns="45720" rIns="91440" bIns="45720" rtlCol="0" anchor="ctr">
            <a:noAutofit/>
          </a:bodyPr>
          <a:lstStyle>
            <a:lvl1pPr algn="ctr" defTabSz="342886" rtl="0" eaLnBrk="1" latinLnBrk="0" hangingPunct="1">
              <a:spcBef>
                <a:spcPct val="0"/>
              </a:spcBef>
              <a:buNone/>
              <a:defRPr sz="4400" kern="1200">
                <a:solidFill>
                  <a:schemeClr val="tx1"/>
                </a:solidFill>
                <a:latin typeface="+mn-lt"/>
                <a:ea typeface="Segoe UI Emoji" panose="020B0502040204020203" pitchFamily="34" charset="0"/>
                <a:cs typeface="+mj-cs"/>
              </a:defRPr>
            </a:lvl1pPr>
          </a:lstStyle>
          <a:p>
            <a:r>
              <a:rPr lang="en-US" sz="8800">
                <a:solidFill>
                  <a:schemeClr val="accent6">
                    <a:lumMod val="75000"/>
                  </a:schemeClr>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2209732894"/>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746C6-73B1-220A-EABC-3227D1D28D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5E95EC-6193-81CB-DFFB-07F2D19F8CD4}"/>
              </a:ext>
            </a:extLst>
          </p:cNvPr>
          <p:cNvSpPr>
            <a:spLocks noGrp="1"/>
          </p:cNvSpPr>
          <p:nvPr>
            <p:ph type="title"/>
          </p:nvPr>
        </p:nvSpPr>
        <p:spPr/>
        <p:txBody>
          <a:bodyPr/>
          <a:lstStyle/>
          <a:p>
            <a:pPr algn="l"/>
            <a:r>
              <a:rPr lang="en-US" sz="9600">
                <a:latin typeface="Consolas" panose="020B0609020204030204" pitchFamily="49" charset="0"/>
                <a:cs typeface="Consolas" panose="020B0609020204030204" pitchFamily="49" charset="0"/>
              </a:rPr>
              <a:t>epheeee</a:t>
            </a:r>
          </a:p>
        </p:txBody>
      </p:sp>
      <p:sp>
        <p:nvSpPr>
          <p:cNvPr id="8" name="Title 1">
            <a:extLst>
              <a:ext uri="{FF2B5EF4-FFF2-40B4-BE49-F238E27FC236}">
                <a16:creationId xmlns:a16="http://schemas.microsoft.com/office/drawing/2014/main" id="{3BDEF528-E399-81CB-346D-A08C639EB650}"/>
              </a:ext>
            </a:extLst>
          </p:cNvPr>
          <p:cNvSpPr txBox="1">
            <a:spLocks/>
          </p:cNvSpPr>
          <p:nvPr/>
        </p:nvSpPr>
        <p:spPr>
          <a:xfrm>
            <a:off x="-1561845" y="2222904"/>
            <a:ext cx="8229600" cy="857250"/>
          </a:xfrm>
          <a:prstGeom prst="rect">
            <a:avLst/>
          </a:prstGeom>
        </p:spPr>
        <p:txBody>
          <a:bodyPr vert="horz" lIns="91440" tIns="45720" rIns="91440" bIns="45720" rtlCol="0" anchor="ctr">
            <a:noAutofit/>
          </a:bodyPr>
          <a:lstStyle>
            <a:lvl1pPr algn="ctr" defTabSz="342886" rtl="0" eaLnBrk="1" latinLnBrk="0" hangingPunct="1">
              <a:spcBef>
                <a:spcPct val="0"/>
              </a:spcBef>
              <a:buNone/>
              <a:defRPr sz="4400" kern="1200">
                <a:solidFill>
                  <a:schemeClr val="tx1"/>
                </a:solidFill>
                <a:latin typeface="+mn-lt"/>
                <a:ea typeface="Segoe UI Emoji" panose="020B0502040204020203" pitchFamily="34" charset="0"/>
                <a:cs typeface="+mj-cs"/>
              </a:defRPr>
            </a:lvl1pPr>
          </a:lstStyle>
          <a:p>
            <a:r>
              <a:rPr lang="en-US" sz="8800">
                <a:solidFill>
                  <a:schemeClr val="accent6">
                    <a:lumMod val="75000"/>
                  </a:schemeClr>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1017146390"/>
      </p:ext>
    </p:extLst>
  </p:cSld>
  <p:clrMapOvr>
    <a:masterClrMapping/>
  </p:clrMapOvr>
  <mc:AlternateContent xmlns:mc="http://schemas.openxmlformats.org/markup-compatibility/2006" xmlns:p159="http://schemas.microsoft.com/office/powerpoint/2015/09/main">
    <mc:Choice Requires="p159">
      <p:transition>
        <p159:morph option="byChar"/>
      </p:transition>
    </mc:Choice>
    <mc:Fallback xmlns="">
      <p:transition>
        <p:fade/>
      </p:transition>
    </mc:Fallback>
  </mc:AlternateContent>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55BB8-E4B8-1AA8-8968-6484F760512E}"/>
            </a:ext>
          </a:extLst>
        </p:cNvPr>
        <p:cNvGrpSpPr/>
        <p:nvPr/>
      </p:nvGrpSpPr>
      <p:grpSpPr>
        <a:xfrm>
          <a:off x="0" y="0"/>
          <a:ext cx="0" cy="0"/>
          <a:chOff x="0" y="0"/>
          <a:chExt cx="0" cy="0"/>
        </a:xfrm>
      </p:grpSpPr>
      <p:pic>
        <p:nvPicPr>
          <p:cNvPr id="1026" name="Picture 2" descr="ICv2: 'Oh No!' Creator of 'Webcomic Name' Raises Almost ...">
            <a:extLst>
              <a:ext uri="{FF2B5EF4-FFF2-40B4-BE49-F238E27FC236}">
                <a16:creationId xmlns:a16="http://schemas.microsoft.com/office/drawing/2014/main" id="{A62FF46B-B3B5-F82B-D1D9-0549E103DF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3600" y="1466850"/>
            <a:ext cx="2336800" cy="220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7098661"/>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DE64B83-0ACB-F0D7-9533-00A82F4D89FE}"/>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4DD1C07F-D1F2-411A-F297-018B7D810DEA}"/>
              </a:ext>
            </a:extLst>
          </p:cNvPr>
          <p:cNvGrpSpPr/>
          <p:nvPr/>
        </p:nvGrpSpPr>
        <p:grpSpPr>
          <a:xfrm>
            <a:off x="2775352" y="1418472"/>
            <a:ext cx="4112951" cy="912967"/>
            <a:chOff x="582919" y="134337"/>
            <a:chExt cx="8664183" cy="1923225"/>
          </a:xfrm>
        </p:grpSpPr>
        <p:sp>
          <p:nvSpPr>
            <p:cNvPr id="5" name="Rectangle 4">
              <a:extLst>
                <a:ext uri="{FF2B5EF4-FFF2-40B4-BE49-F238E27FC236}">
                  <a16:creationId xmlns:a16="http://schemas.microsoft.com/office/drawing/2014/main" id="{54FBB256-4B30-3B03-3AC8-AB1301188517}"/>
                </a:ext>
              </a:extLst>
            </p:cNvPr>
            <p:cNvSpPr/>
            <p:nvPr/>
          </p:nvSpPr>
          <p:spPr>
            <a:xfrm>
              <a:off x="591158" y="134337"/>
              <a:ext cx="8492774"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6" name="Rectangle 5">
              <a:extLst>
                <a:ext uri="{FF2B5EF4-FFF2-40B4-BE49-F238E27FC236}">
                  <a16:creationId xmlns:a16="http://schemas.microsoft.com/office/drawing/2014/main" id="{73198D11-37B5-6510-2DC5-C3176353ED8D}"/>
                </a:ext>
              </a:extLst>
            </p:cNvPr>
            <p:cNvSpPr/>
            <p:nvPr/>
          </p:nvSpPr>
          <p:spPr>
            <a:xfrm>
              <a:off x="591156" y="1819023"/>
              <a:ext cx="8492772"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C6D25CC4-5CE3-211C-95D0-0ED66C9FA69A}"/>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66B50584-28FB-BACC-8F71-C0F2D26CB6B9}"/>
                </a:ext>
              </a:extLst>
            </p:cNvPr>
            <p:cNvSpPr/>
            <p:nvPr/>
          </p:nvSpPr>
          <p:spPr>
            <a:xfrm rot="5400000">
              <a:off x="8166221"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E84BFE54-E620-C013-CC82-5FE243BA8315}"/>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0" name="Rectangle 9">
              <a:extLst>
                <a:ext uri="{FF2B5EF4-FFF2-40B4-BE49-F238E27FC236}">
                  <a16:creationId xmlns:a16="http://schemas.microsoft.com/office/drawing/2014/main" id="{EBFEF8B8-5755-EB97-4E77-6A4CF601E5E0}"/>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1" name="Rectangle 10">
              <a:extLst>
                <a:ext uri="{FF2B5EF4-FFF2-40B4-BE49-F238E27FC236}">
                  <a16:creationId xmlns:a16="http://schemas.microsoft.com/office/drawing/2014/main" id="{E2BAA5C9-6131-8E51-D67E-E640B9165FC1}"/>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12" name="TextBox 11">
            <a:extLst>
              <a:ext uri="{FF2B5EF4-FFF2-40B4-BE49-F238E27FC236}">
                <a16:creationId xmlns:a16="http://schemas.microsoft.com/office/drawing/2014/main" id="{3594DE02-7A5E-668F-E2C7-7C12F90A30E3}"/>
              </a:ext>
            </a:extLst>
          </p:cNvPr>
          <p:cNvSpPr txBox="1"/>
          <p:nvPr/>
        </p:nvSpPr>
        <p:spPr>
          <a:xfrm>
            <a:off x="2969416" y="160618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3" name="TextBox 12">
            <a:extLst>
              <a:ext uri="{FF2B5EF4-FFF2-40B4-BE49-F238E27FC236}">
                <a16:creationId xmlns:a16="http://schemas.microsoft.com/office/drawing/2014/main" id="{960B3ADC-45AB-8C50-C5B7-1FC2574B7297}"/>
              </a:ext>
            </a:extLst>
          </p:cNvPr>
          <p:cNvSpPr txBox="1"/>
          <p:nvPr/>
        </p:nvSpPr>
        <p:spPr>
          <a:xfrm>
            <a:off x="4489254" y="162282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31" name="TextBox 30">
            <a:extLst>
              <a:ext uri="{FF2B5EF4-FFF2-40B4-BE49-F238E27FC236}">
                <a16:creationId xmlns:a16="http://schemas.microsoft.com/office/drawing/2014/main" id="{0E51FD43-29A2-E8C5-73A7-4BD0D881D88E}"/>
              </a:ext>
            </a:extLst>
          </p:cNvPr>
          <p:cNvSpPr txBox="1"/>
          <p:nvPr/>
        </p:nvSpPr>
        <p:spPr>
          <a:xfrm>
            <a:off x="3692431" y="1613345"/>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32" name="TextBox 31">
            <a:extLst>
              <a:ext uri="{FF2B5EF4-FFF2-40B4-BE49-F238E27FC236}">
                <a16:creationId xmlns:a16="http://schemas.microsoft.com/office/drawing/2014/main" id="{3A5076F6-C66A-776C-44A4-9C1658950B81}"/>
              </a:ext>
            </a:extLst>
          </p:cNvPr>
          <p:cNvSpPr txBox="1"/>
          <p:nvPr/>
        </p:nvSpPr>
        <p:spPr>
          <a:xfrm>
            <a:off x="312915" y="1612230"/>
            <a:ext cx="2529501" cy="461665"/>
          </a:xfrm>
          <a:prstGeom prst="rect">
            <a:avLst/>
          </a:prstGeom>
          <a:noFill/>
        </p:spPr>
        <p:txBody>
          <a:bodyPr wrap="square" rtlCol="0">
            <a:spAutoFit/>
          </a:bodyPr>
          <a:lstStyle/>
          <a:p>
            <a:r>
              <a:rPr lang="en-US" sz="2400">
                <a:solidFill>
                  <a:schemeClr val="bg1"/>
                </a:solidFill>
                <a:latin typeface="+mj-lt"/>
              </a:rPr>
              <a:t>internalArray</a:t>
            </a:r>
          </a:p>
        </p:txBody>
      </p:sp>
      <p:sp>
        <p:nvSpPr>
          <p:cNvPr id="33" name="TextBox 32">
            <a:extLst>
              <a:ext uri="{FF2B5EF4-FFF2-40B4-BE49-F238E27FC236}">
                <a16:creationId xmlns:a16="http://schemas.microsoft.com/office/drawing/2014/main" id="{4081D9CB-63D9-A300-DAB6-E817C351A08E}"/>
              </a:ext>
            </a:extLst>
          </p:cNvPr>
          <p:cNvSpPr txBox="1"/>
          <p:nvPr/>
        </p:nvSpPr>
        <p:spPr>
          <a:xfrm>
            <a:off x="359087" y="501144"/>
            <a:ext cx="2529501" cy="461665"/>
          </a:xfrm>
          <a:prstGeom prst="rect">
            <a:avLst/>
          </a:prstGeom>
          <a:noFill/>
        </p:spPr>
        <p:txBody>
          <a:bodyPr wrap="square" rtlCol="0">
            <a:spAutoFit/>
          </a:bodyPr>
          <a:lstStyle/>
          <a:p>
            <a:r>
              <a:rPr lang="en-US" sz="2400">
                <a:solidFill>
                  <a:schemeClr val="bg1"/>
                </a:solidFill>
                <a:latin typeface="+mj-lt"/>
              </a:rPr>
              <a:t>length</a:t>
            </a:r>
          </a:p>
        </p:txBody>
      </p:sp>
      <p:sp>
        <p:nvSpPr>
          <p:cNvPr id="34" name="TextBox 33">
            <a:extLst>
              <a:ext uri="{FF2B5EF4-FFF2-40B4-BE49-F238E27FC236}">
                <a16:creationId xmlns:a16="http://schemas.microsoft.com/office/drawing/2014/main" id="{A7F5A596-E918-C32C-EE0A-40F2934E10CD}"/>
              </a:ext>
            </a:extLst>
          </p:cNvPr>
          <p:cNvSpPr txBox="1"/>
          <p:nvPr/>
        </p:nvSpPr>
        <p:spPr>
          <a:xfrm>
            <a:off x="1733469" y="316477"/>
            <a:ext cx="664044" cy="830997"/>
          </a:xfrm>
          <a:prstGeom prst="rect">
            <a:avLst/>
          </a:prstGeom>
          <a:noFill/>
        </p:spPr>
        <p:txBody>
          <a:bodyPr wrap="square" rtlCol="0">
            <a:spAutoFit/>
          </a:bodyPr>
          <a:lstStyle/>
          <a:p>
            <a:r>
              <a:rPr lang="en-US" sz="4800">
                <a:solidFill>
                  <a:schemeClr val="accent5">
                    <a:lumMod val="75000"/>
                  </a:schemeClr>
                </a:solidFill>
                <a:latin typeface="+mj-lt"/>
              </a:rPr>
              <a:t>4</a:t>
            </a:r>
          </a:p>
        </p:txBody>
      </p:sp>
      <p:sp>
        <p:nvSpPr>
          <p:cNvPr id="41" name="Title 34">
            <a:extLst>
              <a:ext uri="{FF2B5EF4-FFF2-40B4-BE49-F238E27FC236}">
                <a16:creationId xmlns:a16="http://schemas.microsoft.com/office/drawing/2014/main" id="{3384652A-695D-4D99-7FB0-ADA45CE14055}"/>
              </a:ext>
            </a:extLst>
          </p:cNvPr>
          <p:cNvSpPr txBox="1">
            <a:spLocks/>
          </p:cNvSpPr>
          <p:nvPr/>
        </p:nvSpPr>
        <p:spPr>
          <a:xfrm>
            <a:off x="6255412" y="320052"/>
            <a:ext cx="2529501" cy="461665"/>
          </a:xfrm>
          <a:prstGeom prst="rect">
            <a:avLst/>
          </a:prstGeom>
          <a:solidFill>
            <a:schemeClr val="accent1">
              <a:lumMod val="20000"/>
              <a:lumOff val="80000"/>
            </a:schemeClr>
          </a:solidFill>
          <a:ln>
            <a:solidFill>
              <a:schemeClr val="tx1"/>
            </a:solidFill>
          </a:ln>
        </p:spPr>
        <p:txBody>
          <a:bodyPr anchor="ctr"/>
          <a:lstStyle>
            <a:lvl1pPr algn="ctr" defTabSz="342886" rtl="0" eaLnBrk="1" latinLnBrk="0" hangingPunct="1">
              <a:spcBef>
                <a:spcPct val="0"/>
              </a:spcBef>
              <a:buNone/>
              <a:defRPr sz="3200" kern="1200">
                <a:solidFill>
                  <a:schemeClr val="tx1"/>
                </a:solidFill>
                <a:latin typeface="+mn-lt"/>
                <a:ea typeface="Segoe UI Emoji" panose="020B0502040204020203" pitchFamily="34" charset="0"/>
                <a:cs typeface="+mj-cs"/>
              </a:defRPr>
            </a:lvl1pPr>
          </a:lstStyle>
          <a:p>
            <a:r>
              <a:rPr lang="en-US" sz="2000" b="1">
                <a:latin typeface="Consolas" panose="020B0609020204030204" pitchFamily="49" charset="0"/>
                <a:cs typeface="Consolas" panose="020B0609020204030204" pitchFamily="49" charset="0"/>
              </a:rPr>
              <a:t>list.add(</a:t>
            </a:r>
            <a:r>
              <a:rPr kumimoji="0" lang="en-US" sz="2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r>
              <a:rPr lang="en-US" sz="2000" b="1">
                <a:latin typeface="Consolas" panose="020B0609020204030204" pitchFamily="49" charset="0"/>
                <a:cs typeface="Consolas" panose="020B0609020204030204" pitchFamily="49" charset="0"/>
              </a:rPr>
              <a:t>, 2)</a:t>
            </a:r>
          </a:p>
        </p:txBody>
      </p:sp>
      <p:sp>
        <p:nvSpPr>
          <p:cNvPr id="3" name="Rectangle 2">
            <a:extLst>
              <a:ext uri="{FF2B5EF4-FFF2-40B4-BE49-F238E27FC236}">
                <a16:creationId xmlns:a16="http://schemas.microsoft.com/office/drawing/2014/main" id="{146BCD59-153B-DF9F-04F0-3B146C166093}"/>
              </a:ext>
            </a:extLst>
          </p:cNvPr>
          <p:cNvSpPr/>
          <p:nvPr/>
        </p:nvSpPr>
        <p:spPr>
          <a:xfrm rot="5400000">
            <a:off x="5510543" y="1842468"/>
            <a:ext cx="912966" cy="64974"/>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5" name="TextBox 14">
            <a:extLst>
              <a:ext uri="{FF2B5EF4-FFF2-40B4-BE49-F238E27FC236}">
                <a16:creationId xmlns:a16="http://schemas.microsoft.com/office/drawing/2014/main" id="{D6654058-14C6-2E11-8998-18D2B9E13E9F}"/>
              </a:ext>
            </a:extLst>
          </p:cNvPr>
          <p:cNvSpPr txBox="1"/>
          <p:nvPr/>
        </p:nvSpPr>
        <p:spPr>
          <a:xfrm>
            <a:off x="5249098" y="1603862"/>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2" name="TextBox 1">
            <a:extLst>
              <a:ext uri="{FF2B5EF4-FFF2-40B4-BE49-F238E27FC236}">
                <a16:creationId xmlns:a16="http://schemas.microsoft.com/office/drawing/2014/main" id="{D927E33D-E96B-FAC9-0B09-ECD94291325A}"/>
              </a:ext>
            </a:extLst>
          </p:cNvPr>
          <p:cNvSpPr txBox="1"/>
          <p:nvPr/>
        </p:nvSpPr>
        <p:spPr>
          <a:xfrm>
            <a:off x="4489254" y="162282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Tree>
    <p:extLst>
      <p:ext uri="{BB962C8B-B14F-4D97-AF65-F5344CB8AC3E}">
        <p14:creationId xmlns:p14="http://schemas.microsoft.com/office/powerpoint/2010/main" val="486056163"/>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71687CF-C73B-2383-1C87-8CF6CEF5A3EC}"/>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3A76130E-2620-580C-20D2-439866418927}"/>
              </a:ext>
            </a:extLst>
          </p:cNvPr>
          <p:cNvGrpSpPr/>
          <p:nvPr/>
        </p:nvGrpSpPr>
        <p:grpSpPr>
          <a:xfrm>
            <a:off x="2775352" y="1418472"/>
            <a:ext cx="4112951" cy="912967"/>
            <a:chOff x="582919" y="134337"/>
            <a:chExt cx="8664183" cy="1923225"/>
          </a:xfrm>
        </p:grpSpPr>
        <p:sp>
          <p:nvSpPr>
            <p:cNvPr id="5" name="Rectangle 4">
              <a:extLst>
                <a:ext uri="{FF2B5EF4-FFF2-40B4-BE49-F238E27FC236}">
                  <a16:creationId xmlns:a16="http://schemas.microsoft.com/office/drawing/2014/main" id="{4BBFDFA5-3630-B4E3-43F3-759A589B415D}"/>
                </a:ext>
              </a:extLst>
            </p:cNvPr>
            <p:cNvSpPr/>
            <p:nvPr/>
          </p:nvSpPr>
          <p:spPr>
            <a:xfrm>
              <a:off x="591158" y="134337"/>
              <a:ext cx="8492774"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6" name="Rectangle 5">
              <a:extLst>
                <a:ext uri="{FF2B5EF4-FFF2-40B4-BE49-F238E27FC236}">
                  <a16:creationId xmlns:a16="http://schemas.microsoft.com/office/drawing/2014/main" id="{0B077A56-68B3-E778-4471-94942996FBB2}"/>
                </a:ext>
              </a:extLst>
            </p:cNvPr>
            <p:cNvSpPr/>
            <p:nvPr/>
          </p:nvSpPr>
          <p:spPr>
            <a:xfrm>
              <a:off x="591156" y="1819023"/>
              <a:ext cx="8492772"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C03D4978-8FA4-37C8-1AE2-D73B4A54FB08}"/>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B2386602-F6DA-90B0-2A0F-13BA9F262EAB}"/>
                </a:ext>
              </a:extLst>
            </p:cNvPr>
            <p:cNvSpPr/>
            <p:nvPr/>
          </p:nvSpPr>
          <p:spPr>
            <a:xfrm rot="5400000">
              <a:off x="8166221"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4A3E7B53-E5B5-8AE2-B1F9-E496F117C304}"/>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0" name="Rectangle 9">
              <a:extLst>
                <a:ext uri="{FF2B5EF4-FFF2-40B4-BE49-F238E27FC236}">
                  <a16:creationId xmlns:a16="http://schemas.microsoft.com/office/drawing/2014/main" id="{8F509C03-9A23-50C8-B726-9DB6404F359C}"/>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1" name="Rectangle 10">
              <a:extLst>
                <a:ext uri="{FF2B5EF4-FFF2-40B4-BE49-F238E27FC236}">
                  <a16:creationId xmlns:a16="http://schemas.microsoft.com/office/drawing/2014/main" id="{85175F88-BB26-59A4-5F42-D4D76CE9E953}"/>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12" name="TextBox 11">
            <a:extLst>
              <a:ext uri="{FF2B5EF4-FFF2-40B4-BE49-F238E27FC236}">
                <a16:creationId xmlns:a16="http://schemas.microsoft.com/office/drawing/2014/main" id="{D6965790-9A5F-8756-FFE8-4268882336B2}"/>
              </a:ext>
            </a:extLst>
          </p:cNvPr>
          <p:cNvSpPr txBox="1"/>
          <p:nvPr/>
        </p:nvSpPr>
        <p:spPr>
          <a:xfrm>
            <a:off x="2969416" y="160618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3" name="TextBox 12">
            <a:extLst>
              <a:ext uri="{FF2B5EF4-FFF2-40B4-BE49-F238E27FC236}">
                <a16:creationId xmlns:a16="http://schemas.microsoft.com/office/drawing/2014/main" id="{7C33AC45-30FC-C429-37A6-1BE0C7BE195B}"/>
              </a:ext>
            </a:extLst>
          </p:cNvPr>
          <p:cNvSpPr txBox="1"/>
          <p:nvPr/>
        </p:nvSpPr>
        <p:spPr>
          <a:xfrm>
            <a:off x="4489254" y="162282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31" name="TextBox 30">
            <a:extLst>
              <a:ext uri="{FF2B5EF4-FFF2-40B4-BE49-F238E27FC236}">
                <a16:creationId xmlns:a16="http://schemas.microsoft.com/office/drawing/2014/main" id="{A61F6DC3-890E-8986-63C9-600E1136A30E}"/>
              </a:ext>
            </a:extLst>
          </p:cNvPr>
          <p:cNvSpPr txBox="1"/>
          <p:nvPr/>
        </p:nvSpPr>
        <p:spPr>
          <a:xfrm>
            <a:off x="3692431" y="1613345"/>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32" name="TextBox 31">
            <a:extLst>
              <a:ext uri="{FF2B5EF4-FFF2-40B4-BE49-F238E27FC236}">
                <a16:creationId xmlns:a16="http://schemas.microsoft.com/office/drawing/2014/main" id="{0F073CFA-5B2D-9D52-BECE-473E5BDA89EA}"/>
              </a:ext>
            </a:extLst>
          </p:cNvPr>
          <p:cNvSpPr txBox="1"/>
          <p:nvPr/>
        </p:nvSpPr>
        <p:spPr>
          <a:xfrm>
            <a:off x="312915" y="1612230"/>
            <a:ext cx="2529501" cy="461665"/>
          </a:xfrm>
          <a:prstGeom prst="rect">
            <a:avLst/>
          </a:prstGeom>
          <a:noFill/>
        </p:spPr>
        <p:txBody>
          <a:bodyPr wrap="square" rtlCol="0">
            <a:spAutoFit/>
          </a:bodyPr>
          <a:lstStyle/>
          <a:p>
            <a:r>
              <a:rPr lang="en-US" sz="2400">
                <a:solidFill>
                  <a:schemeClr val="bg1"/>
                </a:solidFill>
                <a:latin typeface="+mj-lt"/>
              </a:rPr>
              <a:t>internalArray</a:t>
            </a:r>
          </a:p>
        </p:txBody>
      </p:sp>
      <p:sp>
        <p:nvSpPr>
          <p:cNvPr id="33" name="TextBox 32">
            <a:extLst>
              <a:ext uri="{FF2B5EF4-FFF2-40B4-BE49-F238E27FC236}">
                <a16:creationId xmlns:a16="http://schemas.microsoft.com/office/drawing/2014/main" id="{6FAA0E4A-30F2-0E8C-7E79-F0F8BA31FF4C}"/>
              </a:ext>
            </a:extLst>
          </p:cNvPr>
          <p:cNvSpPr txBox="1"/>
          <p:nvPr/>
        </p:nvSpPr>
        <p:spPr>
          <a:xfrm>
            <a:off x="359087" y="501144"/>
            <a:ext cx="2529501" cy="461665"/>
          </a:xfrm>
          <a:prstGeom prst="rect">
            <a:avLst/>
          </a:prstGeom>
          <a:noFill/>
        </p:spPr>
        <p:txBody>
          <a:bodyPr wrap="square" rtlCol="0">
            <a:spAutoFit/>
          </a:bodyPr>
          <a:lstStyle/>
          <a:p>
            <a:r>
              <a:rPr lang="en-US" sz="2400">
                <a:solidFill>
                  <a:schemeClr val="bg1"/>
                </a:solidFill>
                <a:latin typeface="+mj-lt"/>
              </a:rPr>
              <a:t>length</a:t>
            </a:r>
          </a:p>
        </p:txBody>
      </p:sp>
      <p:sp>
        <p:nvSpPr>
          <p:cNvPr id="34" name="TextBox 33">
            <a:extLst>
              <a:ext uri="{FF2B5EF4-FFF2-40B4-BE49-F238E27FC236}">
                <a16:creationId xmlns:a16="http://schemas.microsoft.com/office/drawing/2014/main" id="{194E789F-8E57-5885-B6D1-772E191E2270}"/>
              </a:ext>
            </a:extLst>
          </p:cNvPr>
          <p:cNvSpPr txBox="1"/>
          <p:nvPr/>
        </p:nvSpPr>
        <p:spPr>
          <a:xfrm>
            <a:off x="1733469" y="316477"/>
            <a:ext cx="664044" cy="830997"/>
          </a:xfrm>
          <a:prstGeom prst="rect">
            <a:avLst/>
          </a:prstGeom>
          <a:noFill/>
        </p:spPr>
        <p:txBody>
          <a:bodyPr wrap="square" rtlCol="0">
            <a:spAutoFit/>
          </a:bodyPr>
          <a:lstStyle/>
          <a:p>
            <a:r>
              <a:rPr lang="en-US" sz="4800">
                <a:solidFill>
                  <a:schemeClr val="accent5">
                    <a:lumMod val="75000"/>
                  </a:schemeClr>
                </a:solidFill>
                <a:latin typeface="+mj-lt"/>
              </a:rPr>
              <a:t>4</a:t>
            </a:r>
          </a:p>
        </p:txBody>
      </p:sp>
      <p:sp>
        <p:nvSpPr>
          <p:cNvPr id="3" name="Rectangle 2">
            <a:extLst>
              <a:ext uri="{FF2B5EF4-FFF2-40B4-BE49-F238E27FC236}">
                <a16:creationId xmlns:a16="http://schemas.microsoft.com/office/drawing/2014/main" id="{426A2A74-9892-DF3D-4E00-5F9CD4FC1423}"/>
              </a:ext>
            </a:extLst>
          </p:cNvPr>
          <p:cNvSpPr/>
          <p:nvPr/>
        </p:nvSpPr>
        <p:spPr>
          <a:xfrm rot="5400000">
            <a:off x="5510543" y="1842468"/>
            <a:ext cx="912966" cy="64974"/>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2" name="TextBox 1">
            <a:extLst>
              <a:ext uri="{FF2B5EF4-FFF2-40B4-BE49-F238E27FC236}">
                <a16:creationId xmlns:a16="http://schemas.microsoft.com/office/drawing/2014/main" id="{9E0DE9CC-1065-F8D8-A0A8-FE7AD07EEC39}"/>
              </a:ext>
            </a:extLst>
          </p:cNvPr>
          <p:cNvSpPr txBox="1"/>
          <p:nvPr/>
        </p:nvSpPr>
        <p:spPr>
          <a:xfrm>
            <a:off x="5279288" y="1603862"/>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8" name="Title 34">
            <a:extLst>
              <a:ext uri="{FF2B5EF4-FFF2-40B4-BE49-F238E27FC236}">
                <a16:creationId xmlns:a16="http://schemas.microsoft.com/office/drawing/2014/main" id="{90F79270-DE0A-F7AB-C336-7C13BD786EE2}"/>
              </a:ext>
            </a:extLst>
          </p:cNvPr>
          <p:cNvSpPr txBox="1">
            <a:spLocks/>
          </p:cNvSpPr>
          <p:nvPr/>
        </p:nvSpPr>
        <p:spPr>
          <a:xfrm>
            <a:off x="6255412" y="320052"/>
            <a:ext cx="2529501" cy="461665"/>
          </a:xfrm>
          <a:prstGeom prst="rect">
            <a:avLst/>
          </a:prstGeom>
          <a:solidFill>
            <a:schemeClr val="accent1">
              <a:lumMod val="20000"/>
              <a:lumOff val="80000"/>
            </a:schemeClr>
          </a:solidFill>
          <a:ln>
            <a:solidFill>
              <a:schemeClr val="tx1"/>
            </a:solidFill>
          </a:ln>
        </p:spPr>
        <p:txBody>
          <a:bodyPr anchor="ctr"/>
          <a:lstStyle>
            <a:lvl1pPr algn="ctr" defTabSz="342886" rtl="0" eaLnBrk="1" latinLnBrk="0" hangingPunct="1">
              <a:spcBef>
                <a:spcPct val="0"/>
              </a:spcBef>
              <a:buNone/>
              <a:defRPr sz="3200" kern="1200">
                <a:solidFill>
                  <a:schemeClr val="tx1"/>
                </a:solidFill>
                <a:latin typeface="+mn-lt"/>
                <a:ea typeface="Segoe UI Emoji" panose="020B0502040204020203" pitchFamily="34" charset="0"/>
                <a:cs typeface="+mj-cs"/>
              </a:defRPr>
            </a:lvl1pPr>
          </a:lstStyle>
          <a:p>
            <a:r>
              <a:rPr lang="en-US" sz="2000" b="1">
                <a:latin typeface="Consolas" panose="020B0609020204030204" pitchFamily="49" charset="0"/>
                <a:cs typeface="Consolas" panose="020B0609020204030204" pitchFamily="49" charset="0"/>
              </a:rPr>
              <a:t>list.add(</a:t>
            </a:r>
            <a:r>
              <a:rPr kumimoji="0" lang="en-US" sz="2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r>
              <a:rPr lang="en-US" sz="2000" b="1">
                <a:latin typeface="Consolas" panose="020B0609020204030204" pitchFamily="49" charset="0"/>
                <a:cs typeface="Consolas" panose="020B0609020204030204" pitchFamily="49" charset="0"/>
              </a:rPr>
              <a:t>, 2)</a:t>
            </a:r>
          </a:p>
        </p:txBody>
      </p:sp>
    </p:spTree>
    <p:extLst>
      <p:ext uri="{BB962C8B-B14F-4D97-AF65-F5344CB8AC3E}">
        <p14:creationId xmlns:p14="http://schemas.microsoft.com/office/powerpoint/2010/main" val="91698346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591EBC2-8091-1AF4-A7C2-05A2A9502237}"/>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39C7FC93-2FC2-56A2-4C61-E6D303F9AE4F}"/>
              </a:ext>
            </a:extLst>
          </p:cNvPr>
          <p:cNvGrpSpPr/>
          <p:nvPr/>
        </p:nvGrpSpPr>
        <p:grpSpPr>
          <a:xfrm>
            <a:off x="2775352" y="1418472"/>
            <a:ext cx="4112951" cy="912967"/>
            <a:chOff x="582919" y="134337"/>
            <a:chExt cx="8664183" cy="1923225"/>
          </a:xfrm>
        </p:grpSpPr>
        <p:sp>
          <p:nvSpPr>
            <p:cNvPr id="5" name="Rectangle 4">
              <a:extLst>
                <a:ext uri="{FF2B5EF4-FFF2-40B4-BE49-F238E27FC236}">
                  <a16:creationId xmlns:a16="http://schemas.microsoft.com/office/drawing/2014/main" id="{4622F3C7-DC8A-ED62-43EB-39032627B13D}"/>
                </a:ext>
              </a:extLst>
            </p:cNvPr>
            <p:cNvSpPr/>
            <p:nvPr/>
          </p:nvSpPr>
          <p:spPr>
            <a:xfrm>
              <a:off x="591158" y="134337"/>
              <a:ext cx="8492774"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rial"/>
                <a:ea typeface="+mn-ea"/>
                <a:cs typeface="+mn-cs"/>
              </a:endParaRPr>
            </a:p>
          </p:txBody>
        </p:sp>
        <p:sp>
          <p:nvSpPr>
            <p:cNvPr id="6" name="Rectangle 5">
              <a:extLst>
                <a:ext uri="{FF2B5EF4-FFF2-40B4-BE49-F238E27FC236}">
                  <a16:creationId xmlns:a16="http://schemas.microsoft.com/office/drawing/2014/main" id="{9356C656-8EF9-84F6-2B84-66A709389015}"/>
                </a:ext>
              </a:extLst>
            </p:cNvPr>
            <p:cNvSpPr/>
            <p:nvPr/>
          </p:nvSpPr>
          <p:spPr>
            <a:xfrm>
              <a:off x="591156" y="1819023"/>
              <a:ext cx="8492772"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rial"/>
                <a:ea typeface="+mn-ea"/>
                <a:cs typeface="+mn-cs"/>
              </a:endParaRPr>
            </a:p>
          </p:txBody>
        </p:sp>
        <p:sp>
          <p:nvSpPr>
            <p:cNvPr id="7" name="Rectangle 6">
              <a:extLst>
                <a:ext uri="{FF2B5EF4-FFF2-40B4-BE49-F238E27FC236}">
                  <a16:creationId xmlns:a16="http://schemas.microsoft.com/office/drawing/2014/main" id="{2B14DD23-4FEE-CBC2-BCA9-3BB72E079FCC}"/>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rial"/>
                <a:ea typeface="+mn-ea"/>
                <a:cs typeface="+mn-cs"/>
              </a:endParaRPr>
            </a:p>
          </p:txBody>
        </p:sp>
        <p:sp>
          <p:nvSpPr>
            <p:cNvPr id="8" name="Rectangle 7">
              <a:extLst>
                <a:ext uri="{FF2B5EF4-FFF2-40B4-BE49-F238E27FC236}">
                  <a16:creationId xmlns:a16="http://schemas.microsoft.com/office/drawing/2014/main" id="{EF22D90D-5A02-BED5-596F-0A89B2323B65}"/>
                </a:ext>
              </a:extLst>
            </p:cNvPr>
            <p:cNvSpPr/>
            <p:nvPr/>
          </p:nvSpPr>
          <p:spPr>
            <a:xfrm rot="5400000">
              <a:off x="8166221"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rial"/>
                <a:ea typeface="+mn-ea"/>
                <a:cs typeface="+mn-cs"/>
              </a:endParaRPr>
            </a:p>
          </p:txBody>
        </p:sp>
        <p:sp>
          <p:nvSpPr>
            <p:cNvPr id="9" name="Rectangle 8">
              <a:extLst>
                <a:ext uri="{FF2B5EF4-FFF2-40B4-BE49-F238E27FC236}">
                  <a16:creationId xmlns:a16="http://schemas.microsoft.com/office/drawing/2014/main" id="{57087D03-4DAD-6AE3-969F-405273496CFD}"/>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rial"/>
                <a:ea typeface="+mn-ea"/>
                <a:cs typeface="+mn-cs"/>
              </a:endParaRPr>
            </a:p>
          </p:txBody>
        </p:sp>
        <p:sp>
          <p:nvSpPr>
            <p:cNvPr id="10" name="Rectangle 9">
              <a:extLst>
                <a:ext uri="{FF2B5EF4-FFF2-40B4-BE49-F238E27FC236}">
                  <a16:creationId xmlns:a16="http://schemas.microsoft.com/office/drawing/2014/main" id="{39D51595-CC1C-AEC9-E994-5F7CD1E9FCC3}"/>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E517CB15-C26A-60E9-FB2D-E6E7CB2EB071}"/>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rial"/>
                <a:ea typeface="+mn-ea"/>
                <a:cs typeface="+mn-cs"/>
              </a:endParaRPr>
            </a:p>
          </p:txBody>
        </p:sp>
      </p:grpSp>
      <p:sp>
        <p:nvSpPr>
          <p:cNvPr id="12" name="TextBox 11">
            <a:extLst>
              <a:ext uri="{FF2B5EF4-FFF2-40B4-BE49-F238E27FC236}">
                <a16:creationId xmlns:a16="http://schemas.microsoft.com/office/drawing/2014/main" id="{2D424E4C-B41A-CC43-723D-BB24486F9D5E}"/>
              </a:ext>
            </a:extLst>
          </p:cNvPr>
          <p:cNvSpPr txBox="1"/>
          <p:nvPr/>
        </p:nvSpPr>
        <p:spPr>
          <a:xfrm>
            <a:off x="2969416" y="1606184"/>
            <a:ext cx="564540" cy="52322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1100" b="0" i="0" u="none" strike="noStrike" kern="1200" cap="none" spc="0" normalizeH="0" baseline="0" noProof="0">
              <a:ln>
                <a:noFill/>
              </a:ln>
              <a:solidFill>
                <a:srgbClr val="000000"/>
              </a:solidFill>
              <a:effectLst/>
              <a:uLnTx/>
              <a:uFillTx/>
              <a:latin typeface="Arial"/>
              <a:ea typeface="+mn-ea"/>
              <a:cs typeface="+mn-cs"/>
            </a:endParaRPr>
          </a:p>
        </p:txBody>
      </p:sp>
      <p:sp>
        <p:nvSpPr>
          <p:cNvPr id="13" name="TextBox 12">
            <a:extLst>
              <a:ext uri="{FF2B5EF4-FFF2-40B4-BE49-F238E27FC236}">
                <a16:creationId xmlns:a16="http://schemas.microsoft.com/office/drawing/2014/main" id="{05EB86EF-CD0F-B191-3E57-26E1572DBB4D}"/>
              </a:ext>
            </a:extLst>
          </p:cNvPr>
          <p:cNvSpPr txBox="1"/>
          <p:nvPr/>
        </p:nvSpPr>
        <p:spPr>
          <a:xfrm>
            <a:off x="4489254" y="1622829"/>
            <a:ext cx="564540" cy="52322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1100" b="0" i="0" u="none" strike="noStrike" kern="1200" cap="none" spc="0" normalizeH="0" baseline="0" noProof="0">
              <a:ln>
                <a:noFill/>
              </a:ln>
              <a:solidFill>
                <a:srgbClr val="000000"/>
              </a:solidFill>
              <a:effectLst/>
              <a:uLnTx/>
              <a:uFillTx/>
              <a:latin typeface="Arial"/>
              <a:ea typeface="+mn-ea"/>
              <a:cs typeface="+mn-cs"/>
            </a:endParaRPr>
          </a:p>
        </p:txBody>
      </p:sp>
      <p:sp>
        <p:nvSpPr>
          <p:cNvPr id="31" name="TextBox 30">
            <a:extLst>
              <a:ext uri="{FF2B5EF4-FFF2-40B4-BE49-F238E27FC236}">
                <a16:creationId xmlns:a16="http://schemas.microsoft.com/office/drawing/2014/main" id="{F81FD962-B5B7-9944-7C47-6D52F4708838}"/>
              </a:ext>
            </a:extLst>
          </p:cNvPr>
          <p:cNvSpPr txBox="1"/>
          <p:nvPr/>
        </p:nvSpPr>
        <p:spPr>
          <a:xfrm>
            <a:off x="3692431" y="1613345"/>
            <a:ext cx="564540" cy="52321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1100" b="0" i="0" u="none" strike="noStrike" kern="1200" cap="none" spc="0" normalizeH="0" baseline="0" noProof="0">
              <a:ln>
                <a:noFill/>
              </a:ln>
              <a:solidFill>
                <a:srgbClr val="000000"/>
              </a:solidFill>
              <a:effectLst/>
              <a:uLnTx/>
              <a:uFillTx/>
              <a:latin typeface="Arial"/>
              <a:ea typeface="+mn-ea"/>
              <a:cs typeface="+mn-cs"/>
            </a:endParaRPr>
          </a:p>
        </p:txBody>
      </p:sp>
      <p:sp>
        <p:nvSpPr>
          <p:cNvPr id="32" name="TextBox 31">
            <a:extLst>
              <a:ext uri="{FF2B5EF4-FFF2-40B4-BE49-F238E27FC236}">
                <a16:creationId xmlns:a16="http://schemas.microsoft.com/office/drawing/2014/main" id="{7D7AE3A0-A7C8-80F2-FF35-F34EE0A11207}"/>
              </a:ext>
            </a:extLst>
          </p:cNvPr>
          <p:cNvSpPr txBox="1"/>
          <p:nvPr/>
        </p:nvSpPr>
        <p:spPr>
          <a:xfrm>
            <a:off x="312915" y="1612230"/>
            <a:ext cx="252950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Consolas"/>
                <a:ea typeface="+mn-ea"/>
                <a:cs typeface="+mn-cs"/>
              </a:rPr>
              <a:t>internalArray</a:t>
            </a:r>
          </a:p>
        </p:txBody>
      </p:sp>
      <p:sp>
        <p:nvSpPr>
          <p:cNvPr id="33" name="TextBox 32">
            <a:extLst>
              <a:ext uri="{FF2B5EF4-FFF2-40B4-BE49-F238E27FC236}">
                <a16:creationId xmlns:a16="http://schemas.microsoft.com/office/drawing/2014/main" id="{CDA01C44-690B-C85D-2AEA-514DBFE7963C}"/>
              </a:ext>
            </a:extLst>
          </p:cNvPr>
          <p:cNvSpPr txBox="1"/>
          <p:nvPr/>
        </p:nvSpPr>
        <p:spPr>
          <a:xfrm>
            <a:off x="359087" y="501144"/>
            <a:ext cx="252950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Consolas"/>
                <a:ea typeface="+mn-ea"/>
                <a:cs typeface="+mn-cs"/>
              </a:rPr>
              <a:t>length</a:t>
            </a:r>
          </a:p>
        </p:txBody>
      </p:sp>
      <p:sp>
        <p:nvSpPr>
          <p:cNvPr id="34" name="TextBox 33">
            <a:extLst>
              <a:ext uri="{FF2B5EF4-FFF2-40B4-BE49-F238E27FC236}">
                <a16:creationId xmlns:a16="http://schemas.microsoft.com/office/drawing/2014/main" id="{C259F50A-F623-CE95-375D-178F9B25E194}"/>
              </a:ext>
            </a:extLst>
          </p:cNvPr>
          <p:cNvSpPr txBox="1"/>
          <p:nvPr/>
        </p:nvSpPr>
        <p:spPr>
          <a:xfrm>
            <a:off x="1733469" y="316477"/>
            <a:ext cx="664044"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a:ln>
                  <a:noFill/>
                </a:ln>
                <a:solidFill>
                  <a:srgbClr val="66D9ED">
                    <a:lumMod val="75000"/>
                  </a:srgbClr>
                </a:solidFill>
                <a:effectLst/>
                <a:uLnTx/>
                <a:uFillTx/>
                <a:latin typeface="Consolas"/>
                <a:ea typeface="+mn-ea"/>
                <a:cs typeface="+mn-cs"/>
              </a:rPr>
              <a:t>4</a:t>
            </a:r>
          </a:p>
        </p:txBody>
      </p:sp>
      <p:sp>
        <p:nvSpPr>
          <p:cNvPr id="41" name="Title 34">
            <a:extLst>
              <a:ext uri="{FF2B5EF4-FFF2-40B4-BE49-F238E27FC236}">
                <a16:creationId xmlns:a16="http://schemas.microsoft.com/office/drawing/2014/main" id="{EE43403A-76C6-801F-57FC-6A728C284778}"/>
              </a:ext>
            </a:extLst>
          </p:cNvPr>
          <p:cNvSpPr txBox="1">
            <a:spLocks/>
          </p:cNvSpPr>
          <p:nvPr/>
        </p:nvSpPr>
        <p:spPr>
          <a:xfrm>
            <a:off x="6255412" y="320052"/>
            <a:ext cx="2529501" cy="461665"/>
          </a:xfrm>
          <a:prstGeom prst="rect">
            <a:avLst/>
          </a:prstGeom>
          <a:solidFill>
            <a:schemeClr val="accent1">
              <a:lumMod val="20000"/>
              <a:lumOff val="80000"/>
            </a:schemeClr>
          </a:solidFill>
          <a:ln>
            <a:solidFill>
              <a:schemeClr val="tx1"/>
            </a:solidFill>
          </a:ln>
        </p:spPr>
        <p:txBody>
          <a:bodyPr anchor="ctr"/>
          <a:lstStyle>
            <a:lvl1pPr algn="ctr" defTabSz="342886" rtl="0" eaLnBrk="1" latinLnBrk="0" hangingPunct="1">
              <a:spcBef>
                <a:spcPct val="0"/>
              </a:spcBef>
              <a:buNone/>
              <a:defRPr sz="3200" kern="1200">
                <a:solidFill>
                  <a:schemeClr val="tx1"/>
                </a:solidFill>
                <a:latin typeface="+mn-lt"/>
                <a:ea typeface="Segoe UI Emoji" panose="020B0502040204020203" pitchFamily="34" charset="0"/>
                <a:cs typeface="+mj-cs"/>
              </a:defRPr>
            </a:lvl1pPr>
          </a:lstStyle>
          <a:p>
            <a:pPr marL="0" marR="0" lvl="0" indent="0" algn="ctr" defTabSz="342886"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a:ln>
                  <a:noFill/>
                </a:ln>
                <a:solidFill>
                  <a:srgbClr val="000000"/>
                </a:solidFill>
                <a:effectLst/>
                <a:uLnTx/>
                <a:uFillTx/>
                <a:latin typeface="Consolas" panose="020B0609020204030204" pitchFamily="49" charset="0"/>
                <a:ea typeface="Segoe UI Emoji" panose="020B0502040204020203" pitchFamily="34" charset="0"/>
                <a:cs typeface="Consolas" panose="020B0609020204030204" pitchFamily="49" charset="0"/>
              </a:rPr>
              <a:t>list.add(</a:t>
            </a:r>
            <a:r>
              <a:rPr kumimoji="0" lang="en-US" sz="2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r>
              <a:rPr kumimoji="0" lang="en-US" sz="2000" b="1" i="0" u="none" strike="noStrike" kern="1200" cap="none" spc="0" normalizeH="0" baseline="0" noProof="0">
                <a:ln>
                  <a:noFill/>
                </a:ln>
                <a:solidFill>
                  <a:srgbClr val="000000"/>
                </a:solidFill>
                <a:effectLst/>
                <a:uLnTx/>
                <a:uFillTx/>
                <a:latin typeface="Consolas" panose="020B0609020204030204" pitchFamily="49" charset="0"/>
                <a:ea typeface="Segoe UI Emoji" panose="020B0502040204020203" pitchFamily="34" charset="0"/>
                <a:cs typeface="Consolas" panose="020B0609020204030204" pitchFamily="49" charset="0"/>
              </a:rPr>
              <a:t>, 2)</a:t>
            </a:r>
          </a:p>
        </p:txBody>
      </p:sp>
      <p:sp>
        <p:nvSpPr>
          <p:cNvPr id="3" name="Rectangle 2">
            <a:extLst>
              <a:ext uri="{FF2B5EF4-FFF2-40B4-BE49-F238E27FC236}">
                <a16:creationId xmlns:a16="http://schemas.microsoft.com/office/drawing/2014/main" id="{4F665888-79FD-1A0D-2919-97620E794331}"/>
              </a:ext>
            </a:extLst>
          </p:cNvPr>
          <p:cNvSpPr/>
          <p:nvPr/>
        </p:nvSpPr>
        <p:spPr>
          <a:xfrm rot="5400000">
            <a:off x="5510543" y="1842468"/>
            <a:ext cx="912966" cy="64974"/>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rial"/>
              <a:ea typeface="+mn-ea"/>
              <a:cs typeface="+mn-cs"/>
            </a:endParaRPr>
          </a:p>
        </p:txBody>
      </p:sp>
      <p:sp>
        <p:nvSpPr>
          <p:cNvPr id="2" name="TextBox 1">
            <a:extLst>
              <a:ext uri="{FF2B5EF4-FFF2-40B4-BE49-F238E27FC236}">
                <a16:creationId xmlns:a16="http://schemas.microsoft.com/office/drawing/2014/main" id="{27796D10-E3A4-A39D-8696-975ED21EDA3B}"/>
              </a:ext>
            </a:extLst>
          </p:cNvPr>
          <p:cNvSpPr txBox="1"/>
          <p:nvPr/>
        </p:nvSpPr>
        <p:spPr>
          <a:xfrm>
            <a:off x="5279288" y="1603862"/>
            <a:ext cx="564540" cy="52322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1100" b="0" i="0" u="none" strike="noStrike" kern="1200" cap="none" spc="0" normalizeH="0" baseline="0" noProof="0">
              <a:ln>
                <a:noFill/>
              </a:ln>
              <a:solidFill>
                <a:srgbClr val="000000"/>
              </a:solidFill>
              <a:effectLst/>
              <a:uLnTx/>
              <a:uFillTx/>
              <a:latin typeface="Arial"/>
              <a:ea typeface="+mn-ea"/>
              <a:cs typeface="+mn-cs"/>
            </a:endParaRPr>
          </a:p>
        </p:txBody>
      </p:sp>
      <p:sp>
        <p:nvSpPr>
          <p:cNvPr id="14" name="TextBox 13">
            <a:extLst>
              <a:ext uri="{FF2B5EF4-FFF2-40B4-BE49-F238E27FC236}">
                <a16:creationId xmlns:a16="http://schemas.microsoft.com/office/drawing/2014/main" id="{5C50D5D7-9EC8-DE51-8BF5-EFD2DD2F9C86}"/>
              </a:ext>
            </a:extLst>
          </p:cNvPr>
          <p:cNvSpPr txBox="1"/>
          <p:nvPr/>
        </p:nvSpPr>
        <p:spPr>
          <a:xfrm>
            <a:off x="5279288" y="1603862"/>
            <a:ext cx="564540" cy="52322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11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94660023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4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35D124B-5837-3CA6-EEAA-211F3CFAF5E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314B87E-3FF0-608D-A752-07949F329137}"/>
              </a:ext>
            </a:extLst>
          </p:cNvPr>
          <p:cNvSpPr/>
          <p:nvPr/>
        </p:nvSpPr>
        <p:spPr>
          <a:xfrm rot="5400000">
            <a:off x="5510543" y="1842468"/>
            <a:ext cx="912966" cy="64974"/>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nvGrpSpPr>
          <p:cNvPr id="4" name="Group 3">
            <a:extLst>
              <a:ext uri="{FF2B5EF4-FFF2-40B4-BE49-F238E27FC236}">
                <a16:creationId xmlns:a16="http://schemas.microsoft.com/office/drawing/2014/main" id="{FBC25AAD-88A4-AC62-F873-9865E8B5F6ED}"/>
              </a:ext>
            </a:extLst>
          </p:cNvPr>
          <p:cNvGrpSpPr/>
          <p:nvPr/>
        </p:nvGrpSpPr>
        <p:grpSpPr>
          <a:xfrm>
            <a:off x="2775352" y="1418472"/>
            <a:ext cx="4112951" cy="912967"/>
            <a:chOff x="582919" y="134337"/>
            <a:chExt cx="8664183" cy="1923225"/>
          </a:xfrm>
        </p:grpSpPr>
        <p:sp>
          <p:nvSpPr>
            <p:cNvPr id="5" name="Rectangle 4">
              <a:extLst>
                <a:ext uri="{FF2B5EF4-FFF2-40B4-BE49-F238E27FC236}">
                  <a16:creationId xmlns:a16="http://schemas.microsoft.com/office/drawing/2014/main" id="{6CB0DD55-6488-DE04-BD9D-88B61F76FF88}"/>
                </a:ext>
              </a:extLst>
            </p:cNvPr>
            <p:cNvSpPr/>
            <p:nvPr/>
          </p:nvSpPr>
          <p:spPr>
            <a:xfrm>
              <a:off x="591158" y="134337"/>
              <a:ext cx="8492774"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6" name="Rectangle 5">
              <a:extLst>
                <a:ext uri="{FF2B5EF4-FFF2-40B4-BE49-F238E27FC236}">
                  <a16:creationId xmlns:a16="http://schemas.microsoft.com/office/drawing/2014/main" id="{30D4E84B-DD71-7B38-D805-2E6AEA3E99BC}"/>
                </a:ext>
              </a:extLst>
            </p:cNvPr>
            <p:cNvSpPr/>
            <p:nvPr/>
          </p:nvSpPr>
          <p:spPr>
            <a:xfrm>
              <a:off x="591156" y="1819023"/>
              <a:ext cx="8492772"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1D207382-9687-5231-D2D0-49A62BFA052D}"/>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BBC881F3-766E-4AB0-0203-3B8AF0237E1E}"/>
                </a:ext>
              </a:extLst>
            </p:cNvPr>
            <p:cNvSpPr/>
            <p:nvPr/>
          </p:nvSpPr>
          <p:spPr>
            <a:xfrm rot="5400000">
              <a:off x="8166221"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D0767A63-04AA-3EDC-5475-C73D10806379}"/>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0" name="Rectangle 9">
              <a:extLst>
                <a:ext uri="{FF2B5EF4-FFF2-40B4-BE49-F238E27FC236}">
                  <a16:creationId xmlns:a16="http://schemas.microsoft.com/office/drawing/2014/main" id="{D063D4EF-4A5F-9DAB-E45B-247EAA6312E3}"/>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1" name="Rectangle 10">
              <a:extLst>
                <a:ext uri="{FF2B5EF4-FFF2-40B4-BE49-F238E27FC236}">
                  <a16:creationId xmlns:a16="http://schemas.microsoft.com/office/drawing/2014/main" id="{ED6DD05F-4AFE-3AF2-2D15-50B999A075ED}"/>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12" name="TextBox 11">
            <a:extLst>
              <a:ext uri="{FF2B5EF4-FFF2-40B4-BE49-F238E27FC236}">
                <a16:creationId xmlns:a16="http://schemas.microsoft.com/office/drawing/2014/main" id="{66D10827-B6B7-0073-85B3-EB875323CED8}"/>
              </a:ext>
            </a:extLst>
          </p:cNvPr>
          <p:cNvSpPr txBox="1"/>
          <p:nvPr/>
        </p:nvSpPr>
        <p:spPr>
          <a:xfrm>
            <a:off x="2969416" y="160618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31" name="TextBox 30">
            <a:extLst>
              <a:ext uri="{FF2B5EF4-FFF2-40B4-BE49-F238E27FC236}">
                <a16:creationId xmlns:a16="http://schemas.microsoft.com/office/drawing/2014/main" id="{C9E6C617-B1AA-52EE-C1DD-3B1B65E032E4}"/>
              </a:ext>
            </a:extLst>
          </p:cNvPr>
          <p:cNvSpPr txBox="1"/>
          <p:nvPr/>
        </p:nvSpPr>
        <p:spPr>
          <a:xfrm>
            <a:off x="3692431" y="1613345"/>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32" name="TextBox 31">
            <a:extLst>
              <a:ext uri="{FF2B5EF4-FFF2-40B4-BE49-F238E27FC236}">
                <a16:creationId xmlns:a16="http://schemas.microsoft.com/office/drawing/2014/main" id="{8F827F11-3A11-9A6D-FFFA-AA2562E48991}"/>
              </a:ext>
            </a:extLst>
          </p:cNvPr>
          <p:cNvSpPr txBox="1"/>
          <p:nvPr/>
        </p:nvSpPr>
        <p:spPr>
          <a:xfrm>
            <a:off x="312915" y="1612230"/>
            <a:ext cx="2529501" cy="461665"/>
          </a:xfrm>
          <a:prstGeom prst="rect">
            <a:avLst/>
          </a:prstGeom>
          <a:noFill/>
        </p:spPr>
        <p:txBody>
          <a:bodyPr wrap="square" rtlCol="0">
            <a:spAutoFit/>
          </a:bodyPr>
          <a:lstStyle/>
          <a:p>
            <a:r>
              <a:rPr lang="en-US" sz="2400">
                <a:solidFill>
                  <a:schemeClr val="bg1"/>
                </a:solidFill>
                <a:latin typeface="+mj-lt"/>
              </a:rPr>
              <a:t>internalArray</a:t>
            </a:r>
          </a:p>
        </p:txBody>
      </p:sp>
      <p:sp>
        <p:nvSpPr>
          <p:cNvPr id="33" name="TextBox 32">
            <a:extLst>
              <a:ext uri="{FF2B5EF4-FFF2-40B4-BE49-F238E27FC236}">
                <a16:creationId xmlns:a16="http://schemas.microsoft.com/office/drawing/2014/main" id="{CF897D03-A203-50B9-7BCD-41A012F764D3}"/>
              </a:ext>
            </a:extLst>
          </p:cNvPr>
          <p:cNvSpPr txBox="1"/>
          <p:nvPr/>
        </p:nvSpPr>
        <p:spPr>
          <a:xfrm>
            <a:off x="359087" y="501144"/>
            <a:ext cx="2529501" cy="461665"/>
          </a:xfrm>
          <a:prstGeom prst="rect">
            <a:avLst/>
          </a:prstGeom>
          <a:noFill/>
        </p:spPr>
        <p:txBody>
          <a:bodyPr wrap="square" rtlCol="0">
            <a:spAutoFit/>
          </a:bodyPr>
          <a:lstStyle/>
          <a:p>
            <a:r>
              <a:rPr lang="en-US" sz="2400">
                <a:solidFill>
                  <a:schemeClr val="bg1"/>
                </a:solidFill>
                <a:latin typeface="+mj-lt"/>
              </a:rPr>
              <a:t>length</a:t>
            </a:r>
          </a:p>
        </p:txBody>
      </p:sp>
      <p:sp>
        <p:nvSpPr>
          <p:cNvPr id="34" name="TextBox 33">
            <a:extLst>
              <a:ext uri="{FF2B5EF4-FFF2-40B4-BE49-F238E27FC236}">
                <a16:creationId xmlns:a16="http://schemas.microsoft.com/office/drawing/2014/main" id="{9A2A9257-E8C1-838A-FA85-F3E63D6F4B1D}"/>
              </a:ext>
            </a:extLst>
          </p:cNvPr>
          <p:cNvSpPr txBox="1"/>
          <p:nvPr/>
        </p:nvSpPr>
        <p:spPr>
          <a:xfrm>
            <a:off x="1733469" y="316477"/>
            <a:ext cx="664044" cy="830997"/>
          </a:xfrm>
          <a:prstGeom prst="rect">
            <a:avLst/>
          </a:prstGeom>
          <a:noFill/>
        </p:spPr>
        <p:txBody>
          <a:bodyPr wrap="square" rtlCol="0">
            <a:spAutoFit/>
          </a:bodyPr>
          <a:lstStyle/>
          <a:p>
            <a:r>
              <a:rPr lang="en-US" sz="4800">
                <a:solidFill>
                  <a:schemeClr val="accent5">
                    <a:lumMod val="75000"/>
                  </a:schemeClr>
                </a:solidFill>
                <a:latin typeface="+mj-lt"/>
              </a:rPr>
              <a:t>4</a:t>
            </a:r>
          </a:p>
        </p:txBody>
      </p:sp>
      <p:sp>
        <p:nvSpPr>
          <p:cNvPr id="41" name="Title 34">
            <a:extLst>
              <a:ext uri="{FF2B5EF4-FFF2-40B4-BE49-F238E27FC236}">
                <a16:creationId xmlns:a16="http://schemas.microsoft.com/office/drawing/2014/main" id="{9C4F7C73-0D22-CF0C-E804-DDAF1A9A8689}"/>
              </a:ext>
            </a:extLst>
          </p:cNvPr>
          <p:cNvSpPr txBox="1">
            <a:spLocks/>
          </p:cNvSpPr>
          <p:nvPr/>
        </p:nvSpPr>
        <p:spPr>
          <a:xfrm>
            <a:off x="6255412" y="320052"/>
            <a:ext cx="2529501" cy="461665"/>
          </a:xfrm>
          <a:prstGeom prst="rect">
            <a:avLst/>
          </a:prstGeom>
          <a:solidFill>
            <a:schemeClr val="accent1">
              <a:lumMod val="20000"/>
              <a:lumOff val="80000"/>
            </a:schemeClr>
          </a:solidFill>
          <a:ln>
            <a:solidFill>
              <a:schemeClr val="tx1"/>
            </a:solidFill>
          </a:ln>
        </p:spPr>
        <p:txBody>
          <a:bodyPr anchor="ctr"/>
          <a:lstStyle>
            <a:lvl1pPr algn="ctr" defTabSz="342886" rtl="0" eaLnBrk="1" latinLnBrk="0" hangingPunct="1">
              <a:spcBef>
                <a:spcPct val="0"/>
              </a:spcBef>
              <a:buNone/>
              <a:defRPr sz="3200" kern="1200">
                <a:solidFill>
                  <a:schemeClr val="tx1"/>
                </a:solidFill>
                <a:latin typeface="+mn-lt"/>
                <a:ea typeface="Segoe UI Emoji" panose="020B0502040204020203" pitchFamily="34" charset="0"/>
                <a:cs typeface="+mj-cs"/>
              </a:defRPr>
            </a:lvl1pPr>
          </a:lstStyle>
          <a:p>
            <a:r>
              <a:rPr lang="en-US" sz="2000" b="1">
                <a:latin typeface="Consolas" panose="020B0609020204030204" pitchFamily="49" charset="0"/>
                <a:cs typeface="Consolas" panose="020B0609020204030204" pitchFamily="49" charset="0"/>
              </a:rPr>
              <a:t>list.add(</a:t>
            </a:r>
            <a:r>
              <a:rPr kumimoji="0" lang="en-US" sz="2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r>
              <a:rPr lang="en-US" sz="2000" b="1">
                <a:latin typeface="Consolas" panose="020B0609020204030204" pitchFamily="49" charset="0"/>
                <a:cs typeface="Consolas" panose="020B0609020204030204" pitchFamily="49" charset="0"/>
              </a:rPr>
              <a:t>, 2)</a:t>
            </a:r>
          </a:p>
        </p:txBody>
      </p:sp>
      <p:sp>
        <p:nvSpPr>
          <p:cNvPr id="14" name="TextBox 13">
            <a:extLst>
              <a:ext uri="{FF2B5EF4-FFF2-40B4-BE49-F238E27FC236}">
                <a16:creationId xmlns:a16="http://schemas.microsoft.com/office/drawing/2014/main" id="{DA361397-F84F-BAAB-76DB-EE40507946B0}"/>
              </a:ext>
            </a:extLst>
          </p:cNvPr>
          <p:cNvSpPr txBox="1"/>
          <p:nvPr/>
        </p:nvSpPr>
        <p:spPr>
          <a:xfrm>
            <a:off x="6105020" y="1603862"/>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5" name="TextBox 14">
            <a:extLst>
              <a:ext uri="{FF2B5EF4-FFF2-40B4-BE49-F238E27FC236}">
                <a16:creationId xmlns:a16="http://schemas.microsoft.com/office/drawing/2014/main" id="{47EA6435-704A-3783-B425-C660FB8A2732}"/>
              </a:ext>
            </a:extLst>
          </p:cNvPr>
          <p:cNvSpPr txBox="1"/>
          <p:nvPr/>
        </p:nvSpPr>
        <p:spPr>
          <a:xfrm>
            <a:off x="4489254" y="1622829"/>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7" name="TextBox 16">
            <a:extLst>
              <a:ext uri="{FF2B5EF4-FFF2-40B4-BE49-F238E27FC236}">
                <a16:creationId xmlns:a16="http://schemas.microsoft.com/office/drawing/2014/main" id="{FD28362F-D786-32BE-240C-B45C67B75F24}"/>
              </a:ext>
            </a:extLst>
          </p:cNvPr>
          <p:cNvSpPr txBox="1"/>
          <p:nvPr/>
        </p:nvSpPr>
        <p:spPr>
          <a:xfrm>
            <a:off x="7602232" y="348456"/>
            <a:ext cx="528320" cy="400110"/>
          </a:xfrm>
          <a:prstGeom prst="rect">
            <a:avLst/>
          </a:prstGeom>
          <a:noFill/>
        </p:spPr>
        <p:txBody>
          <a:bodyPr wrap="square">
            <a:spAutoFit/>
          </a:bodyPr>
          <a:lstStyle/>
          <a:p>
            <a:r>
              <a:rPr kumimoji="0" lang="en-US" sz="2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2000"/>
          </a:p>
        </p:txBody>
      </p:sp>
      <p:sp>
        <p:nvSpPr>
          <p:cNvPr id="18" name="TextBox 17">
            <a:extLst>
              <a:ext uri="{FF2B5EF4-FFF2-40B4-BE49-F238E27FC236}">
                <a16:creationId xmlns:a16="http://schemas.microsoft.com/office/drawing/2014/main" id="{9943C1A2-5517-C5A1-3EF7-7824E882DE78}"/>
              </a:ext>
            </a:extLst>
          </p:cNvPr>
          <p:cNvSpPr txBox="1"/>
          <p:nvPr/>
        </p:nvSpPr>
        <p:spPr>
          <a:xfrm>
            <a:off x="5279288" y="1603862"/>
            <a:ext cx="564540" cy="52322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11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7277915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0A05176-D6CA-A736-B859-1119092A8157}"/>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8BF6AF92-BEC1-FBBE-0DFA-8E76A11741BC}"/>
              </a:ext>
            </a:extLst>
          </p:cNvPr>
          <p:cNvGrpSpPr/>
          <p:nvPr/>
        </p:nvGrpSpPr>
        <p:grpSpPr>
          <a:xfrm>
            <a:off x="2775352" y="1418472"/>
            <a:ext cx="4112951" cy="912967"/>
            <a:chOff x="582919" y="134337"/>
            <a:chExt cx="8664183" cy="1923225"/>
          </a:xfrm>
        </p:grpSpPr>
        <p:sp>
          <p:nvSpPr>
            <p:cNvPr id="5" name="Rectangle 4">
              <a:extLst>
                <a:ext uri="{FF2B5EF4-FFF2-40B4-BE49-F238E27FC236}">
                  <a16:creationId xmlns:a16="http://schemas.microsoft.com/office/drawing/2014/main" id="{45D65ED5-5705-D5BE-3591-E906BCDF0FE0}"/>
                </a:ext>
              </a:extLst>
            </p:cNvPr>
            <p:cNvSpPr/>
            <p:nvPr/>
          </p:nvSpPr>
          <p:spPr>
            <a:xfrm>
              <a:off x="591158" y="134337"/>
              <a:ext cx="8492774"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6" name="Rectangle 5">
              <a:extLst>
                <a:ext uri="{FF2B5EF4-FFF2-40B4-BE49-F238E27FC236}">
                  <a16:creationId xmlns:a16="http://schemas.microsoft.com/office/drawing/2014/main" id="{D53F304B-8668-F34B-5B30-B8CB4565DDCB}"/>
                </a:ext>
              </a:extLst>
            </p:cNvPr>
            <p:cNvSpPr/>
            <p:nvPr/>
          </p:nvSpPr>
          <p:spPr>
            <a:xfrm>
              <a:off x="591156" y="1819023"/>
              <a:ext cx="8492772"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B22104C0-E9A5-7682-7DA5-3690E4603BC9}"/>
                </a:ext>
              </a:extLst>
            </p:cNvPr>
            <p:cNvSpPr/>
            <p:nvPr/>
          </p:nvSpPr>
          <p:spPr>
            <a:xfrm rot="5400000">
              <a:off x="-259423" y="9766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C014EC1E-37DE-CBCF-AC31-830F876ED214}"/>
                </a:ext>
              </a:extLst>
            </p:cNvPr>
            <p:cNvSpPr/>
            <p:nvPr/>
          </p:nvSpPr>
          <p:spPr>
            <a:xfrm rot="5400000">
              <a:off x="8166221" y="976679"/>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6188CD2A-183C-9349-F57D-743629B28C55}"/>
                </a:ext>
              </a:extLst>
            </p:cNvPr>
            <p:cNvSpPr/>
            <p:nvPr/>
          </p:nvSpPr>
          <p:spPr>
            <a:xfrm rot="5400000">
              <a:off x="1366209" y="1027513"/>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0" name="Rectangle 9">
              <a:extLst>
                <a:ext uri="{FF2B5EF4-FFF2-40B4-BE49-F238E27FC236}">
                  <a16:creationId xmlns:a16="http://schemas.microsoft.com/office/drawing/2014/main" id="{8CCDF743-7E13-50E6-00FD-EC25B3E91FD0}"/>
                </a:ext>
              </a:extLst>
            </p:cNvPr>
            <p:cNvSpPr/>
            <p:nvPr/>
          </p:nvSpPr>
          <p:spPr>
            <a:xfrm rot="5400000">
              <a:off x="2991809" y="10275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1" name="Rectangle 10">
              <a:extLst>
                <a:ext uri="{FF2B5EF4-FFF2-40B4-BE49-F238E27FC236}">
                  <a16:creationId xmlns:a16="http://schemas.microsoft.com/office/drawing/2014/main" id="{2540B670-C5EE-B69F-80BB-8FBCDB274AA5}"/>
                </a:ext>
              </a:extLst>
            </p:cNvPr>
            <p:cNvSpPr/>
            <p:nvPr/>
          </p:nvSpPr>
          <p:spPr>
            <a:xfrm rot="5400000">
              <a:off x="4668209" y="10275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grpSp>
      <p:sp>
        <p:nvSpPr>
          <p:cNvPr id="12" name="TextBox 11">
            <a:extLst>
              <a:ext uri="{FF2B5EF4-FFF2-40B4-BE49-F238E27FC236}">
                <a16:creationId xmlns:a16="http://schemas.microsoft.com/office/drawing/2014/main" id="{246DFC1B-11F1-09A2-D867-54EB92B6C4F8}"/>
              </a:ext>
            </a:extLst>
          </p:cNvPr>
          <p:cNvSpPr txBox="1"/>
          <p:nvPr/>
        </p:nvSpPr>
        <p:spPr>
          <a:xfrm>
            <a:off x="2969416" y="1606184"/>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31" name="TextBox 30">
            <a:extLst>
              <a:ext uri="{FF2B5EF4-FFF2-40B4-BE49-F238E27FC236}">
                <a16:creationId xmlns:a16="http://schemas.microsoft.com/office/drawing/2014/main" id="{161D5E5D-FE20-D8F4-F295-7816CBC347A6}"/>
              </a:ext>
            </a:extLst>
          </p:cNvPr>
          <p:cNvSpPr txBox="1"/>
          <p:nvPr/>
        </p:nvSpPr>
        <p:spPr>
          <a:xfrm>
            <a:off x="3692431" y="1613345"/>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32" name="TextBox 31">
            <a:extLst>
              <a:ext uri="{FF2B5EF4-FFF2-40B4-BE49-F238E27FC236}">
                <a16:creationId xmlns:a16="http://schemas.microsoft.com/office/drawing/2014/main" id="{198237DC-A38D-678F-0A5A-17281019ED03}"/>
              </a:ext>
            </a:extLst>
          </p:cNvPr>
          <p:cNvSpPr txBox="1"/>
          <p:nvPr/>
        </p:nvSpPr>
        <p:spPr>
          <a:xfrm>
            <a:off x="312915" y="1612230"/>
            <a:ext cx="2529501" cy="461665"/>
          </a:xfrm>
          <a:prstGeom prst="rect">
            <a:avLst/>
          </a:prstGeom>
          <a:noFill/>
        </p:spPr>
        <p:txBody>
          <a:bodyPr wrap="square" rtlCol="0">
            <a:spAutoFit/>
          </a:bodyPr>
          <a:lstStyle/>
          <a:p>
            <a:r>
              <a:rPr lang="en-US" sz="2400">
                <a:solidFill>
                  <a:schemeClr val="bg1"/>
                </a:solidFill>
                <a:latin typeface="+mj-lt"/>
              </a:rPr>
              <a:t>internalArray</a:t>
            </a:r>
          </a:p>
        </p:txBody>
      </p:sp>
      <p:sp>
        <p:nvSpPr>
          <p:cNvPr id="33" name="TextBox 32">
            <a:extLst>
              <a:ext uri="{FF2B5EF4-FFF2-40B4-BE49-F238E27FC236}">
                <a16:creationId xmlns:a16="http://schemas.microsoft.com/office/drawing/2014/main" id="{85625B81-3632-8ED2-C83C-83D9696CFB55}"/>
              </a:ext>
            </a:extLst>
          </p:cNvPr>
          <p:cNvSpPr txBox="1"/>
          <p:nvPr/>
        </p:nvSpPr>
        <p:spPr>
          <a:xfrm>
            <a:off x="359087" y="501144"/>
            <a:ext cx="2529501" cy="461665"/>
          </a:xfrm>
          <a:prstGeom prst="rect">
            <a:avLst/>
          </a:prstGeom>
          <a:noFill/>
        </p:spPr>
        <p:txBody>
          <a:bodyPr wrap="square" rtlCol="0">
            <a:spAutoFit/>
          </a:bodyPr>
          <a:lstStyle/>
          <a:p>
            <a:r>
              <a:rPr lang="en-US" sz="2400">
                <a:solidFill>
                  <a:schemeClr val="bg1"/>
                </a:solidFill>
                <a:latin typeface="+mj-lt"/>
              </a:rPr>
              <a:t>length</a:t>
            </a:r>
          </a:p>
        </p:txBody>
      </p:sp>
      <p:sp>
        <p:nvSpPr>
          <p:cNvPr id="34" name="TextBox 33">
            <a:extLst>
              <a:ext uri="{FF2B5EF4-FFF2-40B4-BE49-F238E27FC236}">
                <a16:creationId xmlns:a16="http://schemas.microsoft.com/office/drawing/2014/main" id="{35A6DE27-B2F9-FC04-E11B-22FCDB62F7E6}"/>
              </a:ext>
            </a:extLst>
          </p:cNvPr>
          <p:cNvSpPr txBox="1"/>
          <p:nvPr/>
        </p:nvSpPr>
        <p:spPr>
          <a:xfrm>
            <a:off x="1733469" y="316477"/>
            <a:ext cx="664044" cy="830997"/>
          </a:xfrm>
          <a:prstGeom prst="rect">
            <a:avLst/>
          </a:prstGeom>
          <a:noFill/>
        </p:spPr>
        <p:txBody>
          <a:bodyPr wrap="square" rtlCol="0">
            <a:spAutoFit/>
          </a:bodyPr>
          <a:lstStyle/>
          <a:p>
            <a:r>
              <a:rPr lang="en-US" sz="4800">
                <a:solidFill>
                  <a:schemeClr val="accent5">
                    <a:lumMod val="75000"/>
                  </a:schemeClr>
                </a:solidFill>
                <a:latin typeface="+mj-lt"/>
              </a:rPr>
              <a:t>5</a:t>
            </a:r>
          </a:p>
        </p:txBody>
      </p:sp>
      <p:sp>
        <p:nvSpPr>
          <p:cNvPr id="41" name="Title 34">
            <a:extLst>
              <a:ext uri="{FF2B5EF4-FFF2-40B4-BE49-F238E27FC236}">
                <a16:creationId xmlns:a16="http://schemas.microsoft.com/office/drawing/2014/main" id="{04D576D2-4EC8-75ED-1F05-26161569C991}"/>
              </a:ext>
            </a:extLst>
          </p:cNvPr>
          <p:cNvSpPr txBox="1">
            <a:spLocks/>
          </p:cNvSpPr>
          <p:nvPr/>
        </p:nvSpPr>
        <p:spPr>
          <a:xfrm>
            <a:off x="6255412" y="320052"/>
            <a:ext cx="2529501" cy="461665"/>
          </a:xfrm>
          <a:prstGeom prst="rect">
            <a:avLst/>
          </a:prstGeom>
          <a:solidFill>
            <a:schemeClr val="accent1">
              <a:lumMod val="20000"/>
              <a:lumOff val="80000"/>
            </a:schemeClr>
          </a:solidFill>
          <a:ln>
            <a:solidFill>
              <a:schemeClr val="tx1"/>
            </a:solidFill>
          </a:ln>
        </p:spPr>
        <p:txBody>
          <a:bodyPr anchor="ctr"/>
          <a:lstStyle>
            <a:lvl1pPr algn="ctr" defTabSz="342886" rtl="0" eaLnBrk="1" latinLnBrk="0" hangingPunct="1">
              <a:spcBef>
                <a:spcPct val="0"/>
              </a:spcBef>
              <a:buNone/>
              <a:defRPr sz="3200" kern="1200">
                <a:solidFill>
                  <a:schemeClr val="tx1"/>
                </a:solidFill>
                <a:latin typeface="+mn-lt"/>
                <a:ea typeface="Segoe UI Emoji" panose="020B0502040204020203" pitchFamily="34" charset="0"/>
                <a:cs typeface="+mj-cs"/>
              </a:defRPr>
            </a:lvl1pPr>
          </a:lstStyle>
          <a:p>
            <a:r>
              <a:rPr lang="en-US" sz="2000" b="1">
                <a:latin typeface="Consolas" panose="020B0609020204030204" pitchFamily="49" charset="0"/>
                <a:cs typeface="Consolas" panose="020B0609020204030204" pitchFamily="49" charset="0"/>
              </a:rPr>
              <a:t>list.add(</a:t>
            </a:r>
            <a:r>
              <a:rPr kumimoji="0" lang="en-US" sz="2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r>
              <a:rPr lang="en-US" sz="2000" b="1">
                <a:latin typeface="Consolas" panose="020B0609020204030204" pitchFamily="49" charset="0"/>
                <a:cs typeface="Consolas" panose="020B0609020204030204" pitchFamily="49" charset="0"/>
              </a:rPr>
              <a:t>, 2)</a:t>
            </a:r>
          </a:p>
        </p:txBody>
      </p:sp>
      <p:sp>
        <p:nvSpPr>
          <p:cNvPr id="3" name="Rectangle 2">
            <a:extLst>
              <a:ext uri="{FF2B5EF4-FFF2-40B4-BE49-F238E27FC236}">
                <a16:creationId xmlns:a16="http://schemas.microsoft.com/office/drawing/2014/main" id="{059BAC19-2628-754C-69DF-43537F7036CC}"/>
              </a:ext>
            </a:extLst>
          </p:cNvPr>
          <p:cNvSpPr/>
          <p:nvPr/>
        </p:nvSpPr>
        <p:spPr>
          <a:xfrm rot="5400000">
            <a:off x="5510543" y="1842468"/>
            <a:ext cx="912966" cy="64974"/>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900"/>
          </a:p>
        </p:txBody>
      </p:sp>
      <p:sp>
        <p:nvSpPr>
          <p:cNvPr id="15" name="TextBox 14">
            <a:extLst>
              <a:ext uri="{FF2B5EF4-FFF2-40B4-BE49-F238E27FC236}">
                <a16:creationId xmlns:a16="http://schemas.microsoft.com/office/drawing/2014/main" id="{87730960-C7F6-5CB5-D3DA-365600383A40}"/>
              </a:ext>
            </a:extLst>
          </p:cNvPr>
          <p:cNvSpPr txBox="1"/>
          <p:nvPr/>
        </p:nvSpPr>
        <p:spPr>
          <a:xfrm>
            <a:off x="4480386" y="1613345"/>
            <a:ext cx="564540" cy="523219"/>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4" name="TextBox 13">
            <a:extLst>
              <a:ext uri="{FF2B5EF4-FFF2-40B4-BE49-F238E27FC236}">
                <a16:creationId xmlns:a16="http://schemas.microsoft.com/office/drawing/2014/main" id="{1E8FF3B5-F15D-19A8-1CC4-A7F4718719DD}"/>
              </a:ext>
            </a:extLst>
          </p:cNvPr>
          <p:cNvSpPr txBox="1"/>
          <p:nvPr/>
        </p:nvSpPr>
        <p:spPr>
          <a:xfrm>
            <a:off x="6105020" y="1603862"/>
            <a:ext cx="564540"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100"/>
          </a:p>
        </p:txBody>
      </p:sp>
      <p:sp>
        <p:nvSpPr>
          <p:cNvPr id="16" name="TextBox 15">
            <a:extLst>
              <a:ext uri="{FF2B5EF4-FFF2-40B4-BE49-F238E27FC236}">
                <a16:creationId xmlns:a16="http://schemas.microsoft.com/office/drawing/2014/main" id="{0034EB9E-C1E2-2402-C52E-E6AA84EAB367}"/>
              </a:ext>
            </a:extLst>
          </p:cNvPr>
          <p:cNvSpPr txBox="1"/>
          <p:nvPr/>
        </p:nvSpPr>
        <p:spPr>
          <a:xfrm>
            <a:off x="5279288" y="1603862"/>
            <a:ext cx="564540" cy="52322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kumimoji="0" lang="en-US" sz="1100" b="0" i="0" u="none" strike="noStrike" kern="1200" cap="none" spc="0" normalizeH="0" baseline="0" noProof="0">
              <a:ln>
                <a:noFill/>
              </a:ln>
              <a:solidFill>
                <a:srgbClr val="000000"/>
              </a:solidFill>
              <a:effectLst/>
              <a:uLnTx/>
              <a:uFillTx/>
              <a:latin typeface="Arial"/>
              <a:ea typeface="+mn-ea"/>
              <a:cs typeface="+mn-cs"/>
            </a:endParaRPr>
          </a:p>
        </p:txBody>
      </p:sp>
      <p:cxnSp>
        <p:nvCxnSpPr>
          <p:cNvPr id="18" name="Straight Connector 17">
            <a:extLst>
              <a:ext uri="{FF2B5EF4-FFF2-40B4-BE49-F238E27FC236}">
                <a16:creationId xmlns:a16="http://schemas.microsoft.com/office/drawing/2014/main" id="{3DBC068F-B4E2-EB24-06BF-17243FF48D54}"/>
              </a:ext>
            </a:extLst>
          </p:cNvPr>
          <p:cNvCxnSpPr/>
          <p:nvPr/>
        </p:nvCxnSpPr>
        <p:spPr>
          <a:xfrm>
            <a:off x="1076960" y="172720"/>
            <a:ext cx="6786880" cy="407416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0F2AF669-888A-E415-3778-562712128D22}"/>
              </a:ext>
            </a:extLst>
          </p:cNvPr>
          <p:cNvCxnSpPr>
            <a:cxnSpLocks/>
          </p:cNvCxnSpPr>
          <p:nvPr/>
        </p:nvCxnSpPr>
        <p:spPr>
          <a:xfrm flipV="1">
            <a:off x="1076960" y="325120"/>
            <a:ext cx="6990080" cy="3769360"/>
          </a:xfrm>
          <a:prstGeom prst="line">
            <a:avLst/>
          </a:prstGeom>
          <a:ln w="762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798619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5B411-F922-5097-6159-A5A14A840A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0BF55F-DE3D-C8E0-1ECA-243A5285E374}"/>
              </a:ext>
            </a:extLst>
          </p:cNvPr>
          <p:cNvSpPr>
            <a:spLocks noGrp="1"/>
          </p:cNvSpPr>
          <p:nvPr>
            <p:ph type="title"/>
          </p:nvPr>
        </p:nvSpPr>
        <p:spPr/>
        <p:txBody>
          <a:bodyPr/>
          <a:lstStyle/>
          <a:p>
            <a:r>
              <a:rPr lang="en-US"/>
              <a:t>final note on </a:t>
            </a:r>
            <a:r>
              <a:rPr lang="en-US">
                <a:latin typeface="+mj-lt"/>
              </a:rPr>
              <a:t>add</a:t>
            </a:r>
            <a:endParaRPr lang="en-US" sz="8800"/>
          </a:p>
        </p:txBody>
      </p:sp>
    </p:spTree>
    <p:extLst>
      <p:ext uri="{BB962C8B-B14F-4D97-AF65-F5344CB8AC3E}">
        <p14:creationId xmlns:p14="http://schemas.microsoft.com/office/powerpoint/2010/main" val="1689112509"/>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50202-9094-20B4-FEA7-7E7AECE33CF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4087A74-FC92-A756-9FBF-D509DC20974A}"/>
              </a:ext>
            </a:extLst>
          </p:cNvPr>
          <p:cNvSpPr>
            <a:spLocks noGrp="1"/>
          </p:cNvSpPr>
          <p:nvPr>
            <p:ph type="title"/>
          </p:nvPr>
        </p:nvSpPr>
        <p:spPr/>
        <p:txBody>
          <a:bodyPr/>
          <a:lstStyle/>
          <a:p>
            <a:r>
              <a:rPr lang="en-US"/>
              <a:t>final note on </a:t>
            </a:r>
            <a:r>
              <a:rPr lang="en-US">
                <a:latin typeface="+mj-lt"/>
              </a:rPr>
              <a:t>add</a:t>
            </a:r>
          </a:p>
        </p:txBody>
      </p:sp>
      <p:sp>
        <p:nvSpPr>
          <p:cNvPr id="6" name="Content Placeholder 5">
            <a:extLst>
              <a:ext uri="{FF2B5EF4-FFF2-40B4-BE49-F238E27FC236}">
                <a16:creationId xmlns:a16="http://schemas.microsoft.com/office/drawing/2014/main" id="{CAE6582D-13C8-8E1C-4B89-E3CEF32D97F5}"/>
              </a:ext>
            </a:extLst>
          </p:cNvPr>
          <p:cNvSpPr>
            <a:spLocks noGrp="1"/>
          </p:cNvSpPr>
          <p:nvPr>
            <p:ph sz="quarter" idx="10"/>
          </p:nvPr>
        </p:nvSpPr>
        <p:spPr/>
        <p:txBody>
          <a:bodyPr/>
          <a:lstStyle/>
          <a:p>
            <a:r>
              <a:rPr lang="en-US">
                <a:cs typeface="Consolas" panose="020B0609020204030204" pitchFamily="49" charset="0"/>
              </a:rPr>
              <a:t>the special-case </a:t>
            </a:r>
            <a:r>
              <a:rPr lang="en-US" sz="1800">
                <a:latin typeface="Consolas" panose="020B0609020204030204" pitchFamily="49" charset="0"/>
                <a:cs typeface="Consolas" panose="020B0609020204030204" pitchFamily="49" charset="0"/>
              </a:rPr>
              <a:t>add</a:t>
            </a:r>
            <a:r>
              <a:rPr lang="en-US" sz="1800">
                <a:cs typeface="Consolas" panose="020B0609020204030204" pitchFamily="49" charset="0"/>
              </a:rPr>
              <a:t> to end</a:t>
            </a:r>
            <a:r>
              <a:rPr lang="en-US">
                <a:cs typeface="Consolas" panose="020B0609020204030204" pitchFamily="49" charset="0"/>
              </a:rPr>
              <a:t> (append)</a:t>
            </a:r>
            <a:br>
              <a:rPr lang="en-US">
                <a:cs typeface="Consolas" panose="020B0609020204030204" pitchFamily="49" charset="0"/>
              </a:rPr>
            </a:br>
            <a:r>
              <a:rPr lang="en-US">
                <a:cs typeface="Consolas" panose="020B0609020204030204" pitchFamily="49" charset="0"/>
              </a:rPr>
              <a:t>can be implemented using the general-purpose </a:t>
            </a:r>
            <a:r>
              <a:rPr lang="en-US" sz="1800">
                <a:latin typeface="Consolas" panose="020B0609020204030204" pitchFamily="49" charset="0"/>
                <a:cs typeface="Consolas" panose="020B0609020204030204" pitchFamily="49" charset="0"/>
              </a:rPr>
              <a:t>add</a:t>
            </a:r>
            <a:r>
              <a:rPr lang="en-US">
                <a:cs typeface="Consolas" panose="020B0609020204030204" pitchFamily="49" charset="0"/>
              </a:rPr>
              <a:t> (insert)</a:t>
            </a:r>
          </a:p>
          <a:p>
            <a:endParaRPr lang="en-US">
              <a:solidFill>
                <a:srgbClr val="0000FF"/>
              </a:solidFill>
              <a:latin typeface="Consolas" panose="020B0609020204030204" pitchFamily="49" charset="0"/>
              <a:cs typeface="Consolas" panose="020B0609020204030204" pitchFamily="49" charset="0"/>
            </a:endParaRPr>
          </a:p>
          <a:p>
            <a:pPr marL="342886" lvl="1" indent="0">
              <a:buNone/>
            </a:pPr>
            <a:r>
              <a:rPr lang="en-US">
                <a:solidFill>
                  <a:srgbClr val="0000FF"/>
                </a:solidFill>
                <a:latin typeface="Consolas" panose="020B0609020204030204" pitchFamily="49" charset="0"/>
                <a:cs typeface="Consolas" panose="020B0609020204030204" pitchFamily="49" charset="0"/>
              </a:rPr>
              <a:t>void</a:t>
            </a:r>
            <a:r>
              <a:rPr lang="en-US">
                <a:latin typeface="Consolas" panose="020B0609020204030204" pitchFamily="49" charset="0"/>
                <a:cs typeface="Consolas" panose="020B0609020204030204" pitchFamily="49" charset="0"/>
              </a:rPr>
              <a:t> add(</a:t>
            </a:r>
            <a:r>
              <a:rPr lang="en-US" err="1">
                <a:solidFill>
                  <a:srgbClr val="000080"/>
                </a:solidFill>
                <a:latin typeface="Consolas" panose="020B0609020204030204" pitchFamily="49" charset="0"/>
                <a:cs typeface="Consolas" panose="020B0609020204030204" pitchFamily="49" charset="0"/>
              </a:rPr>
              <a:t>ElementType</a:t>
            </a:r>
            <a:r>
              <a:rPr lang="en-US">
                <a:latin typeface="Consolas" panose="020B0609020204030204" pitchFamily="49" charset="0"/>
                <a:cs typeface="Consolas" panose="020B0609020204030204" pitchFamily="49" charset="0"/>
              </a:rPr>
              <a:t> element) {</a:t>
            </a:r>
            <a:br>
              <a:rPr lang="en-US">
                <a:latin typeface="Consolas" panose="020B0609020204030204" pitchFamily="49" charset="0"/>
                <a:cs typeface="Consolas" panose="020B0609020204030204" pitchFamily="49" charset="0"/>
              </a:rPr>
            </a:br>
            <a:r>
              <a:rPr lang="en-US">
                <a:latin typeface="Consolas" panose="020B0609020204030204" pitchFamily="49" charset="0"/>
                <a:cs typeface="Consolas" panose="020B0609020204030204" pitchFamily="49" charset="0"/>
              </a:rPr>
              <a:t>    add(this.</a:t>
            </a:r>
            <a:r>
              <a:rPr lang="en-US" err="1">
                <a:solidFill>
                  <a:srgbClr val="000000"/>
                </a:solidFill>
                <a:latin typeface="Consolas"/>
              </a:rPr>
              <a:t>length</a:t>
            </a:r>
            <a:r>
              <a:rPr lang="en-US">
                <a:latin typeface="Consolas" panose="020B0609020204030204" pitchFamily="49" charset="0"/>
                <a:cs typeface="Consolas" panose="020B0609020204030204" pitchFamily="49" charset="0"/>
              </a:rPr>
              <a:t>, element);</a:t>
            </a:r>
            <a:br>
              <a:rPr lang="en-US">
                <a:latin typeface="Consolas" panose="020B0609020204030204" pitchFamily="49" charset="0"/>
                <a:cs typeface="Consolas" panose="020B0609020204030204" pitchFamily="49" charset="0"/>
              </a:rPr>
            </a:br>
            <a:r>
              <a:rPr lang="en-US">
                <a:latin typeface="Consolas" panose="020B0609020204030204" pitchFamily="49" charset="0"/>
                <a:cs typeface="Consolas" panose="020B0609020204030204" pitchFamily="49" charset="0"/>
              </a:rPr>
              <a:t>}</a:t>
            </a:r>
          </a:p>
          <a:p>
            <a:pPr lvl="1"/>
            <a:endParaRPr lang="en-US">
              <a:latin typeface="Consolas" panose="020B0609020204030204" pitchFamily="49" charset="0"/>
              <a:cs typeface="Consolas" panose="020B0609020204030204" pitchFamily="49" charset="0"/>
            </a:endParaRPr>
          </a:p>
          <a:p>
            <a:r>
              <a:rPr lang="en-US" b="1">
                <a:cs typeface="Consolas" panose="020B0609020204030204" pitchFamily="49" charset="0"/>
              </a:rPr>
              <a:t>☠️ however, if </a:t>
            </a:r>
            <a:r>
              <a:rPr lang="en-US" b="1" err="1">
                <a:cs typeface="Consolas" panose="020B0609020204030204" pitchFamily="49" charset="0"/>
              </a:rPr>
              <a:t>i</a:t>
            </a:r>
            <a:r>
              <a:rPr lang="en-US" b="1">
                <a:cs typeface="Consolas" panose="020B0609020204030204" pitchFamily="49" charset="0"/>
              </a:rPr>
              <a:t> were implementing an array list from scratch,</a:t>
            </a:r>
            <a:br>
              <a:rPr lang="en-US" b="1">
                <a:cs typeface="Consolas" panose="020B0609020204030204" pitchFamily="49" charset="0"/>
              </a:rPr>
            </a:br>
            <a:r>
              <a:rPr lang="en-US" b="1" err="1">
                <a:cs typeface="Consolas" panose="020B0609020204030204" pitchFamily="49" charset="0"/>
              </a:rPr>
              <a:t>i</a:t>
            </a:r>
            <a:r>
              <a:rPr lang="en-US" b="1">
                <a:cs typeface="Consolas" panose="020B0609020204030204" pitchFamily="49" charset="0"/>
              </a:rPr>
              <a:t> would still implement the less general version first!</a:t>
            </a:r>
            <a:br>
              <a:rPr lang="en-US" b="1">
                <a:cs typeface="Consolas" panose="020B0609020204030204" pitchFamily="49" charset="0"/>
              </a:rPr>
            </a:br>
            <a:r>
              <a:rPr lang="en-US" b="1">
                <a:cs typeface="Consolas" panose="020B0609020204030204" pitchFamily="49" charset="0"/>
              </a:rPr>
              <a:t>(it is simpler, and i will learn stuff by implementing it)</a:t>
            </a:r>
          </a:p>
          <a:p>
            <a:pPr lvl="1"/>
            <a:r>
              <a:rPr lang="en-US" b="1">
                <a:solidFill>
                  <a:schemeClr val="accent2">
                    <a:lumMod val="60000"/>
                    <a:lumOff val="40000"/>
                  </a:schemeClr>
                </a:solidFill>
                <a:cs typeface="Consolas" panose="020B0609020204030204" pitchFamily="49" charset="0"/>
              </a:rPr>
              <a:t>(🐣 baby steps)</a:t>
            </a:r>
            <a:endParaRPr lang="en-US" b="1">
              <a:solidFill>
                <a:schemeClr val="accent2">
                  <a:lumMod val="60000"/>
                  <a:lumOff val="40000"/>
                </a:schemeClr>
              </a:solidFill>
            </a:endParaRPr>
          </a:p>
        </p:txBody>
      </p:sp>
    </p:spTree>
    <p:extLst>
      <p:ext uri="{BB962C8B-B14F-4D97-AF65-F5344CB8AC3E}">
        <p14:creationId xmlns:p14="http://schemas.microsoft.com/office/powerpoint/2010/main" val="460192337"/>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8C37B-94ED-ACEF-064D-67C5E741DE6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68FAE31-4B8D-1C20-2C28-F4C0D414693F}"/>
              </a:ext>
            </a:extLst>
          </p:cNvPr>
          <p:cNvSpPr>
            <a:spLocks noGrp="1"/>
          </p:cNvSpPr>
          <p:nvPr>
            <p:ph type="title"/>
          </p:nvPr>
        </p:nvSpPr>
        <p:spPr>
          <a:xfrm>
            <a:off x="228717" y="22324"/>
            <a:ext cx="8229600" cy="1893924"/>
          </a:xfrm>
        </p:spPr>
        <p:txBody>
          <a:bodyPr/>
          <a:lstStyle/>
          <a:p>
            <a:r>
              <a:rPr lang="en-US" sz="8000"/>
              <a:t>Week04b</a:t>
            </a:r>
          </a:p>
        </p:txBody>
      </p:sp>
      <p:sp>
        <p:nvSpPr>
          <p:cNvPr id="6" name="Content Placeholder 5">
            <a:extLst>
              <a:ext uri="{FF2B5EF4-FFF2-40B4-BE49-F238E27FC236}">
                <a16:creationId xmlns:a16="http://schemas.microsoft.com/office/drawing/2014/main" id="{957B759C-7CE2-6163-929B-148486A30C6C}"/>
              </a:ext>
            </a:extLst>
          </p:cNvPr>
          <p:cNvSpPr>
            <a:spLocks noGrp="1"/>
          </p:cNvSpPr>
          <p:nvPr>
            <p:ph sz="quarter" idx="10"/>
          </p:nvPr>
        </p:nvSpPr>
        <p:spPr>
          <a:xfrm>
            <a:off x="228717" y="1424986"/>
            <a:ext cx="3717641" cy="2894013"/>
          </a:xfrm>
        </p:spPr>
        <p:txBody>
          <a:bodyPr>
            <a:noAutofit/>
          </a:bodyPr>
          <a:lstStyle/>
          <a:p>
            <a:r>
              <a:rPr lang="en-US" sz="3600"/>
              <a:t>array list tutorial</a:t>
            </a:r>
          </a:p>
        </p:txBody>
      </p:sp>
      <p:sp>
        <p:nvSpPr>
          <p:cNvPr id="3" name="TextBox 2">
            <a:extLst>
              <a:ext uri="{FF2B5EF4-FFF2-40B4-BE49-F238E27FC236}">
                <a16:creationId xmlns:a16="http://schemas.microsoft.com/office/drawing/2014/main" id="{A9A4A0A9-BF96-FBF6-5880-D676F4210B38}"/>
              </a:ext>
            </a:extLst>
          </p:cNvPr>
          <p:cNvSpPr txBox="1"/>
          <p:nvPr/>
        </p:nvSpPr>
        <p:spPr>
          <a:xfrm>
            <a:off x="4985656" y="2440185"/>
            <a:ext cx="3302139" cy="769441"/>
          </a:xfrm>
          <a:prstGeom prst="rect">
            <a:avLst/>
          </a:prstGeom>
          <a:noFill/>
        </p:spPr>
        <p:txBody>
          <a:bodyPr wrap="square">
            <a:spAutoFit/>
          </a:bodyPr>
          <a:lstStyle/>
          <a:p>
            <a:pPr algn="ctr"/>
            <a:r>
              <a:rPr lang="en-US" sz="4400">
                <a:solidFill>
                  <a:srgbClr val="000000"/>
                </a:solidFill>
                <a:ea typeface="Segoe UI Emoji" panose="020B0502040204020203" pitchFamily="34" charset="0"/>
              </a:rPr>
              <a:t>🦜🦜🦜🦜</a:t>
            </a:r>
            <a:endParaRPr kumimoji="0" lang="en-US" sz="44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endParaRPr>
          </a:p>
        </p:txBody>
      </p:sp>
      <p:sp>
        <p:nvSpPr>
          <p:cNvPr id="7" name="TextBox 6">
            <a:extLst>
              <a:ext uri="{FF2B5EF4-FFF2-40B4-BE49-F238E27FC236}">
                <a16:creationId xmlns:a16="http://schemas.microsoft.com/office/drawing/2014/main" id="{8C4DFF6C-265F-452F-C7C3-EFC1704A141F}"/>
              </a:ext>
            </a:extLst>
          </p:cNvPr>
          <p:cNvSpPr txBox="1"/>
          <p:nvPr/>
        </p:nvSpPr>
        <p:spPr>
          <a:xfrm>
            <a:off x="4152323" y="3101642"/>
            <a:ext cx="4808973" cy="1384995"/>
          </a:xfrm>
          <a:prstGeom prst="rect">
            <a:avLst/>
          </a:prstGeom>
          <a:solidFill>
            <a:schemeClr val="accent3">
              <a:lumMod val="40000"/>
              <a:lumOff val="60000"/>
            </a:schemeClr>
          </a:solidFill>
          <a:ln>
            <a:solidFill>
              <a:schemeClr val="tx1"/>
            </a:solidFill>
          </a:ln>
        </p:spPr>
        <p:txBody>
          <a:bodyPr wrap="square" rtlCol="0">
            <a:spAutoFit/>
          </a:bodyPr>
          <a:lstStyle/>
          <a:p>
            <a:pPr algn="ctr"/>
            <a:r>
              <a:rPr lang="en-US" sz="2800" b="1"/>
              <a:t>WARMUP</a:t>
            </a:r>
          </a:p>
          <a:p>
            <a:pPr algn="ctr"/>
            <a:r>
              <a:rPr lang="en-US" sz="2800"/>
              <a:t>get the Tut04 starter code running on your laptop</a:t>
            </a:r>
          </a:p>
        </p:txBody>
      </p:sp>
      <p:sp>
        <p:nvSpPr>
          <p:cNvPr id="13" name="TextBox 12">
            <a:extLst>
              <a:ext uri="{FF2B5EF4-FFF2-40B4-BE49-F238E27FC236}">
                <a16:creationId xmlns:a16="http://schemas.microsoft.com/office/drawing/2014/main" id="{ADF8F43A-E4C6-EF6D-5126-17A2FBE676F3}"/>
              </a:ext>
            </a:extLst>
          </p:cNvPr>
          <p:cNvSpPr txBox="1"/>
          <p:nvPr/>
        </p:nvSpPr>
        <p:spPr>
          <a:xfrm>
            <a:off x="3761763" y="978069"/>
            <a:ext cx="5587504" cy="1015663"/>
          </a:xfrm>
          <a:prstGeom prst="rect">
            <a:avLst/>
          </a:prstGeom>
          <a:noFill/>
        </p:spPr>
        <p:txBody>
          <a:bodyPr wrap="square" rtlCol="0">
            <a:spAutoFit/>
          </a:bodyPr>
          <a:lstStyle/>
          <a:p>
            <a:pPr algn="ctr"/>
            <a:r>
              <a:rPr lang="en-US" sz="2800" b="1">
                <a:solidFill>
                  <a:srgbClr val="F80B8D"/>
                </a:solidFill>
              </a:rPr>
              <a:t>Today is...</a:t>
            </a:r>
          </a:p>
          <a:p>
            <a:pPr algn="ctr"/>
            <a:r>
              <a:rPr lang="en-US" sz="2800" b="1">
                <a:solidFill>
                  <a:srgbClr val="F80B8D"/>
                </a:solidFill>
              </a:rPr>
              <a:t> </a:t>
            </a:r>
            <a:r>
              <a:rPr lang="en-US" sz="3200">
                <a:solidFill>
                  <a:srgbClr val="000000"/>
                </a:solidFill>
                <a:ea typeface="Segoe UI Emoji" panose="020B0502040204020203" pitchFamily="34" charset="0"/>
              </a:rPr>
              <a:t>✨</a:t>
            </a:r>
            <a:r>
              <a:rPr lang="en-US" sz="3200" b="1">
                <a:solidFill>
                  <a:srgbClr val="F80B8D"/>
                </a:solidFill>
              </a:rPr>
              <a:t>Laptop Wednesday!</a:t>
            </a:r>
            <a:r>
              <a:rPr lang="en-US" sz="3200">
                <a:solidFill>
                  <a:srgbClr val="000000"/>
                </a:solidFill>
                <a:ea typeface="Segoe UI Emoji" panose="020B0502040204020203" pitchFamily="34" charset="0"/>
              </a:rPr>
              <a:t>✨</a:t>
            </a:r>
            <a:endParaRPr lang="en-US" sz="2800">
              <a:solidFill>
                <a:srgbClr val="F80B8D"/>
              </a:solidFill>
            </a:endParaRPr>
          </a:p>
        </p:txBody>
      </p:sp>
      <p:sp>
        <p:nvSpPr>
          <p:cNvPr id="4" name="TextBox 3">
            <a:extLst>
              <a:ext uri="{FF2B5EF4-FFF2-40B4-BE49-F238E27FC236}">
                <a16:creationId xmlns:a16="http://schemas.microsoft.com/office/drawing/2014/main" id="{3A86BBE7-A373-7641-D87A-AE8E8CB19CAF}"/>
              </a:ext>
            </a:extLst>
          </p:cNvPr>
          <p:cNvSpPr txBox="1"/>
          <p:nvPr/>
        </p:nvSpPr>
        <p:spPr>
          <a:xfrm>
            <a:off x="4343517" y="2002515"/>
            <a:ext cx="4586416" cy="523220"/>
          </a:xfrm>
          <a:prstGeom prst="rect">
            <a:avLst/>
          </a:prstGeom>
          <a:noFill/>
        </p:spPr>
        <p:txBody>
          <a:bodyPr wrap="square" rtlCol="0">
            <a:spAutoFit/>
          </a:bodyPr>
          <a:lstStyle/>
          <a:p>
            <a:pPr algn="ctr"/>
            <a:r>
              <a:rPr lang="en-US" sz="1400" b="1">
                <a:solidFill>
                  <a:srgbClr val="F80B8D"/>
                </a:solidFill>
              </a:rPr>
              <a:t>🎵 2024 Midterm and Final on website</a:t>
            </a:r>
          </a:p>
          <a:p>
            <a:pPr algn="ctr"/>
            <a:r>
              <a:rPr lang="en-US" sz="1400" b="1">
                <a:solidFill>
                  <a:srgbClr val="F80B8D"/>
                </a:solidFill>
              </a:rPr>
              <a:t>2026 Midterm and Final dates on website 🎵</a:t>
            </a:r>
            <a:endParaRPr lang="en-US" sz="1400">
              <a:solidFill>
                <a:srgbClr val="F80B8D"/>
              </a:solidFill>
            </a:endParaRPr>
          </a:p>
        </p:txBody>
      </p:sp>
      <p:pic>
        <p:nvPicPr>
          <p:cNvPr id="2" name="Picture 1">
            <a:extLst>
              <a:ext uri="{FF2B5EF4-FFF2-40B4-BE49-F238E27FC236}">
                <a16:creationId xmlns:a16="http://schemas.microsoft.com/office/drawing/2014/main" id="{4F189C1B-A22E-24CC-AAD1-C23309557F4C}"/>
              </a:ext>
            </a:extLst>
          </p:cNvPr>
          <p:cNvPicPr>
            <a:picLocks noChangeAspect="1"/>
          </p:cNvPicPr>
          <p:nvPr/>
        </p:nvPicPr>
        <p:blipFill>
          <a:blip r:embed="rId2"/>
          <a:stretch>
            <a:fillRect/>
          </a:stretch>
        </p:blipFill>
        <p:spPr>
          <a:xfrm>
            <a:off x="322780" y="3013490"/>
            <a:ext cx="3529514" cy="1814062"/>
          </a:xfrm>
          <a:prstGeom prst="rect">
            <a:avLst/>
          </a:prstGeom>
          <a:ln>
            <a:solidFill>
              <a:schemeClr val="tx1"/>
            </a:solidFill>
          </a:ln>
        </p:spPr>
      </p:pic>
      <p:sp>
        <p:nvSpPr>
          <p:cNvPr id="9" name="TextBox 8">
            <a:extLst>
              <a:ext uri="{FF2B5EF4-FFF2-40B4-BE49-F238E27FC236}">
                <a16:creationId xmlns:a16="http://schemas.microsoft.com/office/drawing/2014/main" id="{5AA87ABE-60F9-5FBC-75A7-F5705E1C558A}"/>
              </a:ext>
            </a:extLst>
          </p:cNvPr>
          <p:cNvSpPr txBox="1"/>
          <p:nvPr/>
        </p:nvSpPr>
        <p:spPr>
          <a:xfrm>
            <a:off x="709999" y="2623057"/>
            <a:ext cx="2755075" cy="369332"/>
          </a:xfrm>
          <a:prstGeom prst="rect">
            <a:avLst/>
          </a:prstGeom>
          <a:noFill/>
        </p:spPr>
        <p:txBody>
          <a:bodyPr wrap="square" rtlCol="0">
            <a:spAutoFit/>
          </a:bodyPr>
          <a:lstStyle/>
          <a:p>
            <a:r>
              <a:rPr lang="en-US"/>
              <a:t>*Discussion* next class</a:t>
            </a:r>
          </a:p>
        </p:txBody>
      </p:sp>
    </p:spTree>
    <p:extLst>
      <p:ext uri="{BB962C8B-B14F-4D97-AF65-F5344CB8AC3E}">
        <p14:creationId xmlns:p14="http://schemas.microsoft.com/office/powerpoint/2010/main" val="104745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4" grpId="0"/>
    </p:bldLst>
  </p:timing>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ECC9F7-8366-8330-3198-3A50F5FD5F34}"/>
              </a:ext>
            </a:extLst>
          </p:cNvPr>
          <p:cNvSpPr>
            <a:spLocks noGrp="1"/>
          </p:cNvSpPr>
          <p:nvPr>
            <p:ph type="title"/>
          </p:nvPr>
        </p:nvSpPr>
        <p:spPr/>
        <p:txBody>
          <a:bodyPr/>
          <a:lstStyle/>
          <a:p>
            <a:r>
              <a:rPr lang="en-US" sz="3200"/>
              <a:t>[HW04 preview]</a:t>
            </a:r>
            <a:br>
              <a:rPr lang="en-US"/>
            </a:br>
            <a:r>
              <a:rPr lang="en-US"/>
              <a:t>👻</a:t>
            </a:r>
          </a:p>
        </p:txBody>
      </p:sp>
    </p:spTree>
    <p:extLst>
      <p:ext uri="{BB962C8B-B14F-4D97-AF65-F5344CB8AC3E}">
        <p14:creationId xmlns:p14="http://schemas.microsoft.com/office/powerpoint/2010/main" val="1475778530"/>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F1560ED-A015-430D-4A5C-BEA72884BBC9}"/>
              </a:ext>
            </a:extLst>
          </p:cNvPr>
          <p:cNvSpPr>
            <a:spLocks noGrp="1"/>
          </p:cNvSpPr>
          <p:nvPr>
            <p:ph type="title"/>
          </p:nvPr>
        </p:nvSpPr>
        <p:spPr/>
        <p:txBody>
          <a:bodyPr/>
          <a:lstStyle/>
          <a:p>
            <a:r>
              <a:rPr lang="en-US"/>
              <a:t>review array list animations from Week04a</a:t>
            </a:r>
          </a:p>
        </p:txBody>
      </p:sp>
    </p:spTree>
    <p:extLst>
      <p:ext uri="{BB962C8B-B14F-4D97-AF65-F5344CB8AC3E}">
        <p14:creationId xmlns:p14="http://schemas.microsoft.com/office/powerpoint/2010/main" val="3206040412"/>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E3463-F3BF-806C-B09F-CD50E4D3B74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D7ABD01-C909-1BE7-295B-6A4D576037B5}"/>
              </a:ext>
            </a:extLst>
          </p:cNvPr>
          <p:cNvSpPr>
            <a:spLocks noGrp="1"/>
          </p:cNvSpPr>
          <p:nvPr>
            <p:ph type="title"/>
          </p:nvPr>
        </p:nvSpPr>
        <p:spPr/>
        <p:txBody>
          <a:bodyPr/>
          <a:lstStyle/>
          <a:p>
            <a:r>
              <a:rPr lang="en-US"/>
              <a:t>Tut04</a:t>
            </a:r>
          </a:p>
        </p:txBody>
      </p:sp>
    </p:spTree>
    <p:extLst>
      <p:ext uri="{BB962C8B-B14F-4D97-AF65-F5344CB8AC3E}">
        <p14:creationId xmlns:p14="http://schemas.microsoft.com/office/powerpoint/2010/main" val="710052959"/>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65C27-7791-BB9E-C5D9-8837D90655D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1EEFAE8-2FBE-DDCF-9418-1E5EA4D836D6}"/>
              </a:ext>
            </a:extLst>
          </p:cNvPr>
          <p:cNvSpPr>
            <a:spLocks noGrp="1"/>
          </p:cNvSpPr>
          <p:nvPr>
            <p:ph type="title"/>
          </p:nvPr>
        </p:nvSpPr>
        <p:spPr>
          <a:xfrm>
            <a:off x="457200" y="254916"/>
            <a:ext cx="8229600" cy="1371116"/>
          </a:xfrm>
        </p:spPr>
        <p:txBody>
          <a:bodyPr/>
          <a:lstStyle/>
          <a:p>
            <a:r>
              <a:rPr lang="en-US" sz="7200"/>
              <a:t>Week04c</a:t>
            </a:r>
          </a:p>
        </p:txBody>
      </p:sp>
      <p:sp>
        <p:nvSpPr>
          <p:cNvPr id="6" name="Content Placeholder 5">
            <a:extLst>
              <a:ext uri="{FF2B5EF4-FFF2-40B4-BE49-F238E27FC236}">
                <a16:creationId xmlns:a16="http://schemas.microsoft.com/office/drawing/2014/main" id="{537123F3-9591-C533-A05A-661F63105B8F}"/>
              </a:ext>
            </a:extLst>
          </p:cNvPr>
          <p:cNvSpPr>
            <a:spLocks noGrp="1"/>
          </p:cNvSpPr>
          <p:nvPr>
            <p:ph sz="quarter" idx="10"/>
          </p:nvPr>
        </p:nvSpPr>
        <p:spPr>
          <a:xfrm>
            <a:off x="533993" y="1505915"/>
            <a:ext cx="8229600" cy="2894013"/>
          </a:xfrm>
        </p:spPr>
        <p:txBody>
          <a:bodyPr>
            <a:noAutofit/>
          </a:bodyPr>
          <a:lstStyle/>
          <a:p>
            <a:r>
              <a:rPr lang="en-US" sz="3600" strike="sngStrike"/>
              <a:t>array list</a:t>
            </a:r>
          </a:p>
          <a:p>
            <a:r>
              <a:rPr lang="en-US" sz="3600" strike="sngStrike"/>
              <a:t>array list tutorial</a:t>
            </a:r>
          </a:p>
          <a:p>
            <a:r>
              <a:rPr lang="en-US" sz="3600"/>
              <a:t>array list runtime</a:t>
            </a:r>
          </a:p>
        </p:txBody>
      </p:sp>
      <p:sp>
        <p:nvSpPr>
          <p:cNvPr id="2" name="TextBox 1">
            <a:extLst>
              <a:ext uri="{FF2B5EF4-FFF2-40B4-BE49-F238E27FC236}">
                <a16:creationId xmlns:a16="http://schemas.microsoft.com/office/drawing/2014/main" id="{0A6DE20E-9071-62CF-3E81-2315DCE94DB3}"/>
              </a:ext>
            </a:extLst>
          </p:cNvPr>
          <p:cNvSpPr txBox="1"/>
          <p:nvPr/>
        </p:nvSpPr>
        <p:spPr>
          <a:xfrm>
            <a:off x="5685657" y="4519252"/>
            <a:ext cx="3077936" cy="369332"/>
          </a:xfrm>
          <a:prstGeom prst="rect">
            <a:avLst/>
          </a:prstGeom>
          <a:noFill/>
        </p:spPr>
        <p:txBody>
          <a:bodyPr wrap="square" rtlCol="0">
            <a:spAutoFit/>
          </a:bodyPr>
          <a:lstStyle/>
          <a:p>
            <a:pPr algn="r"/>
            <a:r>
              <a:rPr lang="en-US" b="1">
                <a:solidFill>
                  <a:srgbClr val="F80B8D"/>
                </a:solidFill>
              </a:rPr>
              <a:t>TODO:</a:t>
            </a:r>
            <a:r>
              <a:rPr lang="en-US">
                <a:solidFill>
                  <a:srgbClr val="F80B8D"/>
                </a:solidFill>
              </a:rPr>
              <a:t> record lecture</a:t>
            </a:r>
          </a:p>
        </p:txBody>
      </p:sp>
      <p:sp>
        <p:nvSpPr>
          <p:cNvPr id="7" name="TextBox 6">
            <a:extLst>
              <a:ext uri="{FF2B5EF4-FFF2-40B4-BE49-F238E27FC236}">
                <a16:creationId xmlns:a16="http://schemas.microsoft.com/office/drawing/2014/main" id="{25BB4131-47C2-2D68-3BDE-121993296E6D}"/>
              </a:ext>
            </a:extLst>
          </p:cNvPr>
          <p:cNvSpPr txBox="1"/>
          <p:nvPr/>
        </p:nvSpPr>
        <p:spPr>
          <a:xfrm>
            <a:off x="4501015" y="1627984"/>
            <a:ext cx="4324423" cy="2492990"/>
          </a:xfrm>
          <a:prstGeom prst="rect">
            <a:avLst/>
          </a:prstGeom>
          <a:solidFill>
            <a:schemeClr val="accent3">
              <a:lumMod val="40000"/>
              <a:lumOff val="60000"/>
            </a:schemeClr>
          </a:solidFill>
          <a:ln>
            <a:solidFill>
              <a:schemeClr val="tx1"/>
            </a:solidFill>
          </a:ln>
        </p:spPr>
        <p:txBody>
          <a:bodyPr wrap="square" rtlCol="0">
            <a:spAutoFit/>
          </a:bodyPr>
          <a:lstStyle/>
          <a:p>
            <a:pPr algn="r"/>
            <a:r>
              <a:rPr lang="en-US" sz="2800" b="1"/>
              <a:t>WARMUP</a:t>
            </a:r>
          </a:p>
          <a:p>
            <a:pPr algn="r"/>
            <a:r>
              <a:rPr lang="en-US" sz="2800"/>
              <a:t>what does this code print? why?</a:t>
            </a:r>
          </a:p>
          <a:p>
            <a:r>
              <a:rPr lang="en-US" sz="2400">
                <a:latin typeface="Consolas" panose="020B0609020204030204" pitchFamily="49" charset="0"/>
                <a:cs typeface="Consolas" panose="020B0609020204030204" pitchFamily="49" charset="0"/>
              </a:rPr>
              <a:t>if (2 + 2 == 5); {</a:t>
            </a:r>
          </a:p>
          <a:p>
            <a:r>
              <a:rPr lang="en-US" sz="2400">
                <a:latin typeface="Consolas" panose="020B0609020204030204" pitchFamily="49" charset="0"/>
                <a:cs typeface="Consolas" panose="020B0609020204030204" pitchFamily="49" charset="0"/>
              </a:rPr>
              <a:t>    PRINT("hmm...");</a:t>
            </a:r>
          </a:p>
          <a:p>
            <a:r>
              <a:rPr lang="en-US" sz="2400">
                <a:latin typeface="Consolas" panose="020B0609020204030204" pitchFamily="49" charset="0"/>
                <a:cs typeface="Consolas" panose="020B0609020204030204" pitchFamily="49" charset="0"/>
              </a:rPr>
              <a:t>}</a:t>
            </a:r>
          </a:p>
        </p:txBody>
      </p:sp>
      <p:sp>
        <p:nvSpPr>
          <p:cNvPr id="13" name="TextBox 12">
            <a:extLst>
              <a:ext uri="{FF2B5EF4-FFF2-40B4-BE49-F238E27FC236}">
                <a16:creationId xmlns:a16="http://schemas.microsoft.com/office/drawing/2014/main" id="{283D732E-2029-BB25-11A3-BE9548F95C5C}"/>
              </a:ext>
            </a:extLst>
          </p:cNvPr>
          <p:cNvSpPr txBox="1"/>
          <p:nvPr/>
        </p:nvSpPr>
        <p:spPr>
          <a:xfrm>
            <a:off x="4834566" y="452979"/>
            <a:ext cx="3852234" cy="1015663"/>
          </a:xfrm>
          <a:prstGeom prst="rect">
            <a:avLst/>
          </a:prstGeom>
          <a:noFill/>
        </p:spPr>
        <p:txBody>
          <a:bodyPr wrap="square" rtlCol="0">
            <a:spAutoFit/>
          </a:bodyPr>
          <a:lstStyle/>
          <a:p>
            <a:pPr algn="ctr"/>
            <a:r>
              <a:rPr lang="en-US" sz="2800" b="1">
                <a:solidFill>
                  <a:srgbClr val="F80B8D"/>
                </a:solidFill>
              </a:rPr>
              <a:t>Today is...</a:t>
            </a:r>
          </a:p>
          <a:p>
            <a:pPr algn="ctr"/>
            <a:r>
              <a:rPr lang="en-US" sz="2800" b="1">
                <a:solidFill>
                  <a:srgbClr val="F80B8D"/>
                </a:solidFill>
              </a:rPr>
              <a:t> </a:t>
            </a:r>
            <a:r>
              <a:rPr lang="en-US" sz="3200">
                <a:solidFill>
                  <a:srgbClr val="000000"/>
                </a:solidFill>
                <a:ea typeface="Segoe UI Emoji" panose="020B0502040204020203" pitchFamily="34" charset="0"/>
              </a:rPr>
              <a:t>✨</a:t>
            </a:r>
            <a:r>
              <a:rPr lang="en-US" sz="3200" b="1">
                <a:solidFill>
                  <a:srgbClr val="F80B8D"/>
                </a:solidFill>
              </a:rPr>
              <a:t>Fun Friday!</a:t>
            </a:r>
            <a:r>
              <a:rPr lang="en-US" sz="3200">
                <a:solidFill>
                  <a:srgbClr val="000000"/>
                </a:solidFill>
                <a:ea typeface="Segoe UI Emoji" panose="020B0502040204020203" pitchFamily="34" charset="0"/>
              </a:rPr>
              <a:t> ✨</a:t>
            </a:r>
            <a:endParaRPr lang="en-US" sz="2800">
              <a:solidFill>
                <a:srgbClr val="F80B8D"/>
              </a:solidFill>
            </a:endParaRPr>
          </a:p>
        </p:txBody>
      </p:sp>
      <p:sp>
        <p:nvSpPr>
          <p:cNvPr id="9" name="TextBox 8">
            <a:extLst>
              <a:ext uri="{FF2B5EF4-FFF2-40B4-BE49-F238E27FC236}">
                <a16:creationId xmlns:a16="http://schemas.microsoft.com/office/drawing/2014/main" id="{54F8E15E-ED22-A4EB-0EB2-D271E18CDE24}"/>
              </a:ext>
            </a:extLst>
          </p:cNvPr>
          <p:cNvSpPr txBox="1"/>
          <p:nvPr/>
        </p:nvSpPr>
        <p:spPr>
          <a:xfrm>
            <a:off x="-282707" y="4087027"/>
            <a:ext cx="4675694" cy="1200329"/>
          </a:xfrm>
          <a:prstGeom prst="rect">
            <a:avLst/>
          </a:prstGeom>
          <a:noFill/>
        </p:spPr>
        <p:txBody>
          <a:bodyPr wrap="square">
            <a:spAutoFit/>
          </a:bodyPr>
          <a:lstStyle/>
          <a:p>
            <a:r>
              <a:rPr lang="en-US" sz="7200" b="1">
                <a:solidFill>
                  <a:srgbClr val="F80B8D"/>
                </a:solidFill>
                <a:latin typeface="Arial" panose="020B0604020202020204" pitchFamily="34" charset="0"/>
                <a:ea typeface="Segoe UI Emoji" panose="020B0502040204020203" pitchFamily="34" charset="0"/>
                <a:cs typeface="Arial" panose="020B0604020202020204" pitchFamily="34" charset="0"/>
              </a:rPr>
              <a:t>⛰️🥲</a:t>
            </a:r>
            <a:endParaRPr lang="en-US" sz="7200"/>
          </a:p>
        </p:txBody>
      </p:sp>
      <p:sp>
        <p:nvSpPr>
          <p:cNvPr id="10" name="TextBox 9">
            <a:extLst>
              <a:ext uri="{FF2B5EF4-FFF2-40B4-BE49-F238E27FC236}">
                <a16:creationId xmlns:a16="http://schemas.microsoft.com/office/drawing/2014/main" id="{2A2E7033-D5D0-462B-7F16-31CA88FBE872}"/>
              </a:ext>
            </a:extLst>
          </p:cNvPr>
          <p:cNvSpPr txBox="1"/>
          <p:nvPr/>
        </p:nvSpPr>
        <p:spPr>
          <a:xfrm>
            <a:off x="380407" y="4111330"/>
            <a:ext cx="247854" cy="261610"/>
          </a:xfrm>
          <a:prstGeom prst="rect">
            <a:avLst/>
          </a:prstGeom>
          <a:noFill/>
        </p:spPr>
        <p:txBody>
          <a:bodyPr wrap="square">
            <a:spAutoFit/>
          </a:bodyPr>
          <a:lstStyle/>
          <a:p>
            <a:pPr algn="ctr"/>
            <a:r>
              <a:rPr lang="en-US" sz="1100">
                <a:solidFill>
                  <a:srgbClr val="000000"/>
                </a:solidFill>
                <a:ea typeface="Segoe UI Emoji" panose="020B0502040204020203" pitchFamily="34" charset="0"/>
              </a:rPr>
              <a:t>🦜</a:t>
            </a:r>
            <a:endParaRPr kumimoji="0" lang="en-US" sz="11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endParaRPr>
          </a:p>
        </p:txBody>
      </p:sp>
      <p:sp>
        <p:nvSpPr>
          <p:cNvPr id="11" name="TextBox 10">
            <a:extLst>
              <a:ext uri="{FF2B5EF4-FFF2-40B4-BE49-F238E27FC236}">
                <a16:creationId xmlns:a16="http://schemas.microsoft.com/office/drawing/2014/main" id="{21CD3F2A-743B-F334-89ED-CCCD50EB0CFF}"/>
              </a:ext>
            </a:extLst>
          </p:cNvPr>
          <p:cNvSpPr txBox="1"/>
          <p:nvPr/>
        </p:nvSpPr>
        <p:spPr>
          <a:xfrm rot="2752168">
            <a:off x="545870" y="4211480"/>
            <a:ext cx="247854" cy="261610"/>
          </a:xfrm>
          <a:prstGeom prst="rect">
            <a:avLst/>
          </a:prstGeom>
          <a:noFill/>
        </p:spPr>
        <p:txBody>
          <a:bodyPr wrap="square">
            <a:spAutoFit/>
          </a:bodyPr>
          <a:lstStyle/>
          <a:p>
            <a:pPr algn="ctr"/>
            <a:r>
              <a:rPr lang="en-US" sz="1100">
                <a:solidFill>
                  <a:srgbClr val="000000"/>
                </a:solidFill>
                <a:ea typeface="Segoe UI Emoji" panose="020B0502040204020203" pitchFamily="34" charset="0"/>
              </a:rPr>
              <a:t>🦜</a:t>
            </a:r>
            <a:endParaRPr kumimoji="0" lang="en-US" sz="11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endParaRPr>
          </a:p>
        </p:txBody>
      </p:sp>
      <p:sp>
        <p:nvSpPr>
          <p:cNvPr id="12" name="TextBox 11">
            <a:extLst>
              <a:ext uri="{FF2B5EF4-FFF2-40B4-BE49-F238E27FC236}">
                <a16:creationId xmlns:a16="http://schemas.microsoft.com/office/drawing/2014/main" id="{6B307ABB-55A1-7DE7-E938-3C7AD72C9AC2}"/>
              </a:ext>
            </a:extLst>
          </p:cNvPr>
          <p:cNvSpPr txBox="1"/>
          <p:nvPr/>
        </p:nvSpPr>
        <p:spPr>
          <a:xfrm rot="2752168">
            <a:off x="698270" y="4363880"/>
            <a:ext cx="247854" cy="261610"/>
          </a:xfrm>
          <a:prstGeom prst="rect">
            <a:avLst/>
          </a:prstGeom>
          <a:noFill/>
        </p:spPr>
        <p:txBody>
          <a:bodyPr wrap="square">
            <a:spAutoFit/>
          </a:bodyPr>
          <a:lstStyle/>
          <a:p>
            <a:pPr algn="ctr"/>
            <a:r>
              <a:rPr lang="en-US" sz="1100">
                <a:solidFill>
                  <a:srgbClr val="000000"/>
                </a:solidFill>
                <a:ea typeface="Segoe UI Emoji" panose="020B0502040204020203" pitchFamily="34" charset="0"/>
              </a:rPr>
              <a:t>🦜</a:t>
            </a:r>
            <a:endParaRPr kumimoji="0" lang="en-US" sz="11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endParaRPr>
          </a:p>
        </p:txBody>
      </p:sp>
      <p:sp>
        <p:nvSpPr>
          <p:cNvPr id="14" name="TextBox 13">
            <a:extLst>
              <a:ext uri="{FF2B5EF4-FFF2-40B4-BE49-F238E27FC236}">
                <a16:creationId xmlns:a16="http://schemas.microsoft.com/office/drawing/2014/main" id="{B48863A6-CE00-AD83-1ACC-A2D1E5E47E04}"/>
              </a:ext>
            </a:extLst>
          </p:cNvPr>
          <p:cNvSpPr txBox="1"/>
          <p:nvPr/>
        </p:nvSpPr>
        <p:spPr>
          <a:xfrm rot="18810643">
            <a:off x="184466" y="4209304"/>
            <a:ext cx="247854" cy="261610"/>
          </a:xfrm>
          <a:prstGeom prst="rect">
            <a:avLst/>
          </a:prstGeom>
          <a:noFill/>
        </p:spPr>
        <p:txBody>
          <a:bodyPr wrap="square">
            <a:spAutoFit/>
          </a:bodyPr>
          <a:lstStyle/>
          <a:p>
            <a:pPr algn="ctr"/>
            <a:r>
              <a:rPr lang="en-US" sz="1100">
                <a:solidFill>
                  <a:srgbClr val="000000"/>
                </a:solidFill>
                <a:ea typeface="Segoe UI Emoji" panose="020B0502040204020203" pitchFamily="34" charset="0"/>
              </a:rPr>
              <a:t>🦜</a:t>
            </a:r>
            <a:endParaRPr kumimoji="0" lang="en-US" sz="11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endParaRPr>
          </a:p>
        </p:txBody>
      </p:sp>
    </p:spTree>
    <p:extLst>
      <p:ext uri="{BB962C8B-B14F-4D97-AF65-F5344CB8AC3E}">
        <p14:creationId xmlns:p14="http://schemas.microsoft.com/office/powerpoint/2010/main" val="485718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p:bldLst>
  </p:timing>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880BE-743F-02B8-FA96-8AD4E0C1DC6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3AAB71F-1BC5-0A57-23B6-5F2DCE113118}"/>
              </a:ext>
            </a:extLst>
          </p:cNvPr>
          <p:cNvSpPr>
            <a:spLocks noGrp="1"/>
          </p:cNvSpPr>
          <p:nvPr>
            <p:ph type="title"/>
          </p:nvPr>
        </p:nvSpPr>
        <p:spPr/>
        <p:txBody>
          <a:bodyPr/>
          <a:lstStyle/>
          <a:p>
            <a:pPr>
              <a:tabLst>
                <a:tab pos="5994400" algn="l"/>
              </a:tabLst>
            </a:pPr>
            <a:r>
              <a:rPr lang="en-US" sz="6600"/>
              <a:t>deleting while iterating backwards,</a:t>
            </a:r>
            <a:br>
              <a:rPr lang="en-US" sz="6600"/>
            </a:br>
            <a:r>
              <a:rPr lang="en-US" sz="6600"/>
              <a:t>grugbrain, comments </a:t>
            </a:r>
            <a:r>
              <a:rPr lang="en-US" sz="1200"/>
              <a:t>(including stb)</a:t>
            </a:r>
            <a:r>
              <a:rPr lang="en-US" sz="6600"/>
              <a:t>,</a:t>
            </a:r>
            <a:r>
              <a:rPr lang="en-US" sz="3200"/>
              <a:t> </a:t>
            </a:r>
            <a:r>
              <a:rPr lang="en-US" sz="6600"/>
              <a:t>Vim, Kahoot!</a:t>
            </a:r>
            <a:r>
              <a:rPr lang="en-US" sz="2800"/>
              <a:t> </a:t>
            </a:r>
            <a:r>
              <a:rPr lang="en-US" sz="700"/>
              <a:t>(including Jim's unpublished Kahoot! op-ed) </a:t>
            </a:r>
            <a:endParaRPr lang="en-US" sz="6600"/>
          </a:p>
        </p:txBody>
      </p:sp>
      <p:sp>
        <p:nvSpPr>
          <p:cNvPr id="2" name="TextBox 1">
            <a:extLst>
              <a:ext uri="{FF2B5EF4-FFF2-40B4-BE49-F238E27FC236}">
                <a16:creationId xmlns:a16="http://schemas.microsoft.com/office/drawing/2014/main" id="{8FC7C0BB-4212-5ABF-5124-E59ACF3CA5EE}"/>
              </a:ext>
            </a:extLst>
          </p:cNvPr>
          <p:cNvSpPr txBox="1"/>
          <p:nvPr/>
        </p:nvSpPr>
        <p:spPr>
          <a:xfrm>
            <a:off x="276447" y="340241"/>
            <a:ext cx="1509823" cy="923330"/>
          </a:xfrm>
          <a:prstGeom prst="rect">
            <a:avLst/>
          </a:prstGeom>
          <a:noFill/>
        </p:spPr>
        <p:txBody>
          <a:bodyPr wrap="square" rtlCol="0">
            <a:spAutoFit/>
          </a:bodyPr>
          <a:lstStyle/>
          <a:p>
            <a:pPr algn="ctr"/>
            <a:r>
              <a:rPr lang="en-US" b="1">
                <a:solidFill>
                  <a:schemeClr val="bg1"/>
                </a:solidFill>
              </a:rPr>
              <a:t>choose your own adventure!</a:t>
            </a:r>
          </a:p>
        </p:txBody>
      </p:sp>
    </p:spTree>
    <p:extLst>
      <p:ext uri="{BB962C8B-B14F-4D97-AF65-F5344CB8AC3E}">
        <p14:creationId xmlns:p14="http://schemas.microsoft.com/office/powerpoint/2010/main" val="2751663090"/>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47BFD04-6D50-1DCC-DCC9-DB1082D516A6}"/>
              </a:ext>
            </a:extLst>
          </p:cNvPr>
          <p:cNvSpPr>
            <a:spLocks noGrp="1"/>
          </p:cNvSpPr>
          <p:nvPr>
            <p:ph type="title"/>
          </p:nvPr>
        </p:nvSpPr>
        <p:spPr/>
        <p:txBody>
          <a:bodyPr/>
          <a:lstStyle/>
          <a:p>
            <a:r>
              <a:rPr lang="en-US">
                <a:hlinkClick r:id="rId2"/>
              </a:rPr>
              <a:t>https://grugbrain.dev</a:t>
            </a:r>
            <a:endParaRPr lang="en-US"/>
          </a:p>
        </p:txBody>
      </p:sp>
    </p:spTree>
    <p:extLst>
      <p:ext uri="{BB962C8B-B14F-4D97-AF65-F5344CB8AC3E}">
        <p14:creationId xmlns:p14="http://schemas.microsoft.com/office/powerpoint/2010/main" val="1884303974"/>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41304-232A-C14C-5579-35162C3EB98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8AB0688-B976-67FB-3C32-5B689408B693}"/>
              </a:ext>
            </a:extLst>
          </p:cNvPr>
          <p:cNvSpPr>
            <a:spLocks noGrp="1"/>
          </p:cNvSpPr>
          <p:nvPr>
            <p:ph type="title"/>
          </p:nvPr>
        </p:nvSpPr>
        <p:spPr>
          <a:xfrm>
            <a:off x="457200" y="254916"/>
            <a:ext cx="8229600" cy="1893924"/>
          </a:xfrm>
        </p:spPr>
        <p:txBody>
          <a:bodyPr/>
          <a:lstStyle/>
          <a:p>
            <a:r>
              <a:rPr lang="en-US" sz="8800"/>
              <a:t>Week03</a:t>
            </a:r>
          </a:p>
        </p:txBody>
      </p:sp>
      <p:sp>
        <p:nvSpPr>
          <p:cNvPr id="6" name="Content Placeholder 5">
            <a:extLst>
              <a:ext uri="{FF2B5EF4-FFF2-40B4-BE49-F238E27FC236}">
                <a16:creationId xmlns:a16="http://schemas.microsoft.com/office/drawing/2014/main" id="{A4882E63-AF20-45AF-8F9E-6FA9BDCD166C}"/>
              </a:ext>
            </a:extLst>
          </p:cNvPr>
          <p:cNvSpPr>
            <a:spLocks noGrp="1"/>
          </p:cNvSpPr>
          <p:nvPr>
            <p:ph sz="quarter" idx="10"/>
          </p:nvPr>
        </p:nvSpPr>
        <p:spPr>
          <a:xfrm>
            <a:off x="457200" y="1993732"/>
            <a:ext cx="8229600" cy="2894013"/>
          </a:xfrm>
        </p:spPr>
        <p:txBody>
          <a:bodyPr>
            <a:noAutofit/>
          </a:bodyPr>
          <a:lstStyle/>
          <a:p>
            <a:r>
              <a:rPr lang="en-US"/>
              <a:t>HW03 preview</a:t>
            </a:r>
          </a:p>
          <a:p>
            <a:r>
              <a:rPr lang="en-US"/>
              <a:t>functions</a:t>
            </a:r>
          </a:p>
          <a:p>
            <a:r>
              <a:rPr lang="en-US"/>
              <a:t>classes</a:t>
            </a:r>
          </a:p>
          <a:p>
            <a:r>
              <a:rPr lang="en-US"/>
              <a:t>HW03 behind the scenes</a:t>
            </a:r>
          </a:p>
          <a:p>
            <a:r>
              <a:rPr lang="en-US"/>
              <a:t>references</a:t>
            </a:r>
          </a:p>
        </p:txBody>
      </p:sp>
      <p:sp>
        <p:nvSpPr>
          <p:cNvPr id="2" name="TextBox 1">
            <a:extLst>
              <a:ext uri="{FF2B5EF4-FFF2-40B4-BE49-F238E27FC236}">
                <a16:creationId xmlns:a16="http://schemas.microsoft.com/office/drawing/2014/main" id="{5942674B-D8F6-C01E-7F69-0BD06C7CB05B}"/>
              </a:ext>
            </a:extLst>
          </p:cNvPr>
          <p:cNvSpPr txBox="1"/>
          <p:nvPr/>
        </p:nvSpPr>
        <p:spPr>
          <a:xfrm>
            <a:off x="-282610" y="341453"/>
            <a:ext cx="3077936" cy="369332"/>
          </a:xfrm>
          <a:prstGeom prst="rect">
            <a:avLst/>
          </a:prstGeom>
          <a:noFill/>
        </p:spPr>
        <p:txBody>
          <a:bodyPr wrap="square" rtlCol="0">
            <a:spAutoFit/>
          </a:bodyPr>
          <a:lstStyle/>
          <a:p>
            <a:pPr algn="r"/>
            <a:r>
              <a:rPr lang="en-US" b="1">
                <a:solidFill>
                  <a:srgbClr val="F80B8D"/>
                </a:solidFill>
              </a:rPr>
              <a:t>TODO:</a:t>
            </a:r>
            <a:r>
              <a:rPr lang="en-US">
                <a:solidFill>
                  <a:srgbClr val="F80B8D"/>
                </a:solidFill>
              </a:rPr>
              <a:t> record lecture</a:t>
            </a:r>
          </a:p>
        </p:txBody>
      </p:sp>
      <p:sp>
        <p:nvSpPr>
          <p:cNvPr id="3" name="TextBox 2">
            <a:extLst>
              <a:ext uri="{FF2B5EF4-FFF2-40B4-BE49-F238E27FC236}">
                <a16:creationId xmlns:a16="http://schemas.microsoft.com/office/drawing/2014/main" id="{4A807F8A-5624-5489-505A-86BF31D7C987}"/>
              </a:ext>
            </a:extLst>
          </p:cNvPr>
          <p:cNvSpPr txBox="1"/>
          <p:nvPr/>
        </p:nvSpPr>
        <p:spPr>
          <a:xfrm>
            <a:off x="4572000" y="856178"/>
            <a:ext cx="2051437" cy="1292662"/>
          </a:xfrm>
          <a:prstGeom prst="rect">
            <a:avLst/>
          </a:prstGeom>
          <a:noFill/>
        </p:spPr>
        <p:txBody>
          <a:bodyPr wrap="square">
            <a:spAutoFit/>
          </a:bodyPr>
          <a:lstStyle/>
          <a:p>
            <a:pPr algn="r"/>
            <a:r>
              <a:rPr kumimoji="0" lang="en-US" sz="54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r>
              <a:rPr kumimoji="0" lang="en-US" sz="24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050"/>
          </a:p>
          <a:p>
            <a:pPr algn="r"/>
            <a:endParaRPr lang="en-US" sz="2400"/>
          </a:p>
        </p:txBody>
      </p:sp>
      <p:sp>
        <p:nvSpPr>
          <p:cNvPr id="7" name="TextBox 6">
            <a:extLst>
              <a:ext uri="{FF2B5EF4-FFF2-40B4-BE49-F238E27FC236}">
                <a16:creationId xmlns:a16="http://schemas.microsoft.com/office/drawing/2014/main" id="{74B3B605-C0C1-5877-607A-613F98987356}"/>
              </a:ext>
            </a:extLst>
          </p:cNvPr>
          <p:cNvSpPr txBox="1"/>
          <p:nvPr/>
        </p:nvSpPr>
        <p:spPr>
          <a:xfrm>
            <a:off x="4572000" y="2631826"/>
            <a:ext cx="4122374" cy="830997"/>
          </a:xfrm>
          <a:prstGeom prst="rect">
            <a:avLst/>
          </a:prstGeom>
          <a:solidFill>
            <a:schemeClr val="accent3">
              <a:lumMod val="40000"/>
              <a:lumOff val="60000"/>
            </a:schemeClr>
          </a:solidFill>
          <a:ln>
            <a:solidFill>
              <a:schemeClr val="tx1"/>
            </a:solidFill>
          </a:ln>
        </p:spPr>
        <p:txBody>
          <a:bodyPr wrap="square" rtlCol="0">
            <a:spAutoFit/>
          </a:bodyPr>
          <a:lstStyle/>
          <a:p>
            <a:r>
              <a:rPr lang="en-US" sz="1600" b="1"/>
              <a:t>BONUS</a:t>
            </a:r>
          </a:p>
          <a:p>
            <a:r>
              <a:rPr lang="en-US" sz="1600"/>
              <a:t>Who wrote the game Everyday Shooter?</a:t>
            </a:r>
          </a:p>
          <a:p>
            <a:r>
              <a:rPr lang="en-US" sz="1600"/>
              <a:t>What is she working on now?</a:t>
            </a:r>
          </a:p>
        </p:txBody>
      </p:sp>
      <p:sp>
        <p:nvSpPr>
          <p:cNvPr id="11" name="TextBox 10">
            <a:extLst>
              <a:ext uri="{FF2B5EF4-FFF2-40B4-BE49-F238E27FC236}">
                <a16:creationId xmlns:a16="http://schemas.microsoft.com/office/drawing/2014/main" id="{187CB514-50D4-92FB-A43B-566C27254AEB}"/>
              </a:ext>
            </a:extLst>
          </p:cNvPr>
          <p:cNvSpPr txBox="1"/>
          <p:nvPr/>
        </p:nvSpPr>
        <p:spPr>
          <a:xfrm>
            <a:off x="5595068" y="3604105"/>
            <a:ext cx="3091732" cy="1077218"/>
          </a:xfrm>
          <a:prstGeom prst="rect">
            <a:avLst/>
          </a:prstGeom>
          <a:solidFill>
            <a:schemeClr val="accent3">
              <a:lumMod val="40000"/>
              <a:lumOff val="60000"/>
            </a:schemeClr>
          </a:solidFill>
          <a:ln>
            <a:solidFill>
              <a:schemeClr val="tx1"/>
            </a:solidFill>
          </a:ln>
        </p:spPr>
        <p:txBody>
          <a:bodyPr wrap="square" rtlCol="0">
            <a:spAutoFit/>
          </a:bodyPr>
          <a:lstStyle/>
          <a:p>
            <a:r>
              <a:rPr lang="en-US" sz="1600" b="1"/>
              <a:t>BONUS</a:t>
            </a:r>
          </a:p>
          <a:p>
            <a:r>
              <a:rPr lang="en-US" sz="1600"/>
              <a:t>What does Touhou 7: Perfect Cherry Blossom's Extra Stage look like? Who wrote this? </a:t>
            </a:r>
            <a:endParaRPr lang="en-US" sz="1200"/>
          </a:p>
        </p:txBody>
      </p:sp>
      <p:sp>
        <p:nvSpPr>
          <p:cNvPr id="13" name="TextBox 12">
            <a:extLst>
              <a:ext uri="{FF2B5EF4-FFF2-40B4-BE49-F238E27FC236}">
                <a16:creationId xmlns:a16="http://schemas.microsoft.com/office/drawing/2014/main" id="{E80E0868-910C-192F-B7F7-BD892018E60E}"/>
              </a:ext>
            </a:extLst>
          </p:cNvPr>
          <p:cNvSpPr txBox="1"/>
          <p:nvPr/>
        </p:nvSpPr>
        <p:spPr>
          <a:xfrm>
            <a:off x="5280107" y="618832"/>
            <a:ext cx="3673061" cy="646331"/>
          </a:xfrm>
          <a:prstGeom prst="rect">
            <a:avLst/>
          </a:prstGeom>
          <a:noFill/>
        </p:spPr>
        <p:txBody>
          <a:bodyPr wrap="square" rtlCol="0">
            <a:spAutoFit/>
          </a:bodyPr>
          <a:lstStyle/>
          <a:p>
            <a:r>
              <a:rPr lang="en-US" b="1">
                <a:solidFill>
                  <a:srgbClr val="F80B8D"/>
                </a:solidFill>
              </a:rPr>
              <a:t>Today is...</a:t>
            </a:r>
          </a:p>
          <a:p>
            <a:r>
              <a:rPr lang="en-US" b="1">
                <a:solidFill>
                  <a:srgbClr val="F80B8D"/>
                </a:solidFill>
              </a:rPr>
              <a:t> </a:t>
            </a:r>
            <a:r>
              <a:rPr lang="en-US">
                <a:solidFill>
                  <a:srgbClr val="000000"/>
                </a:solidFill>
                <a:ea typeface="Segoe UI Emoji" panose="020B0502040204020203" pitchFamily="34" charset="0"/>
              </a:rPr>
              <a:t>✨</a:t>
            </a:r>
            <a:r>
              <a:rPr lang="en-US" b="1">
                <a:solidFill>
                  <a:srgbClr val="F80B8D"/>
                </a:solidFill>
              </a:rPr>
              <a:t>No-Laptop Monday!</a:t>
            </a:r>
            <a:r>
              <a:rPr lang="en-US">
                <a:solidFill>
                  <a:srgbClr val="000000"/>
                </a:solidFill>
                <a:ea typeface="Segoe UI Emoji" panose="020B0502040204020203" pitchFamily="34" charset="0"/>
              </a:rPr>
              <a:t> ✨</a:t>
            </a:r>
            <a:endParaRPr lang="en-US">
              <a:solidFill>
                <a:srgbClr val="F80B8D"/>
              </a:solidFill>
            </a:endParaRPr>
          </a:p>
        </p:txBody>
      </p:sp>
      <p:sp>
        <p:nvSpPr>
          <p:cNvPr id="14" name="TextBox 13">
            <a:extLst>
              <a:ext uri="{FF2B5EF4-FFF2-40B4-BE49-F238E27FC236}">
                <a16:creationId xmlns:a16="http://schemas.microsoft.com/office/drawing/2014/main" id="{C602AAB3-9706-901A-6359-5700CDCFF64C}"/>
              </a:ext>
            </a:extLst>
          </p:cNvPr>
          <p:cNvSpPr txBox="1"/>
          <p:nvPr/>
        </p:nvSpPr>
        <p:spPr>
          <a:xfrm>
            <a:off x="4572000" y="1903257"/>
            <a:ext cx="2126596" cy="584775"/>
          </a:xfrm>
          <a:prstGeom prst="rect">
            <a:avLst/>
          </a:prstGeom>
          <a:solidFill>
            <a:schemeClr val="accent3">
              <a:lumMod val="40000"/>
              <a:lumOff val="60000"/>
            </a:schemeClr>
          </a:solidFill>
          <a:ln>
            <a:solidFill>
              <a:schemeClr val="tx1"/>
            </a:solidFill>
          </a:ln>
        </p:spPr>
        <p:txBody>
          <a:bodyPr wrap="square" rtlCol="0">
            <a:spAutoFit/>
          </a:bodyPr>
          <a:lstStyle/>
          <a:p>
            <a:r>
              <a:rPr lang="en-US" sz="1600" b="1"/>
              <a:t>WARMUP</a:t>
            </a:r>
          </a:p>
          <a:p>
            <a:r>
              <a:rPr lang="en-US" sz="1600"/>
              <a:t>What is a bullet hell?</a:t>
            </a:r>
          </a:p>
        </p:txBody>
      </p:sp>
    </p:spTree>
    <p:extLst>
      <p:ext uri="{BB962C8B-B14F-4D97-AF65-F5344CB8AC3E}">
        <p14:creationId xmlns:p14="http://schemas.microsoft.com/office/powerpoint/2010/main" val="2220981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p:bldLst>
  </p:timing>
</p:sld>
</file>

<file path=ppt/slides/slide3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D6E315A-6BC8-FA07-1476-3EFE596327AA}"/>
              </a:ext>
            </a:extLst>
          </p:cNvPr>
          <p:cNvSpPr>
            <a:spLocks noGrp="1"/>
          </p:cNvSpPr>
          <p:nvPr>
            <p:ph type="title"/>
          </p:nvPr>
        </p:nvSpPr>
        <p:spPr/>
        <p:txBody>
          <a:bodyPr/>
          <a:lstStyle/>
          <a:p>
            <a:r>
              <a:rPr lang="en-US" sz="5400"/>
              <a:t>but first, something nice</a:t>
            </a:r>
          </a:p>
        </p:txBody>
      </p:sp>
    </p:spTree>
    <p:extLst>
      <p:ext uri="{BB962C8B-B14F-4D97-AF65-F5344CB8AC3E}">
        <p14:creationId xmlns:p14="http://schemas.microsoft.com/office/powerpoint/2010/main" val="310306891"/>
      </p:ext>
    </p:extLst>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C888B0C-1D73-2397-8AC4-788B387987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2214DD-BF95-8926-4A6C-5E8E44690545}"/>
              </a:ext>
            </a:extLst>
          </p:cNvPr>
          <p:cNvSpPr>
            <a:spLocks noGrp="1"/>
          </p:cNvSpPr>
          <p:nvPr>
            <p:ph type="title"/>
          </p:nvPr>
        </p:nvSpPr>
        <p:spPr/>
        <p:txBody>
          <a:bodyPr/>
          <a:lstStyle/>
          <a:p>
            <a:r>
              <a:rPr lang="en-US"/>
              <a:t>🦉</a:t>
            </a:r>
            <a:br>
              <a:rPr lang="en-US"/>
            </a:br>
            <a:r>
              <a:rPr lang="en-US" sz="4000"/>
              <a:t>secret agent owl</a:t>
            </a:r>
            <a:endParaRPr lang="en-US"/>
          </a:p>
        </p:txBody>
      </p:sp>
    </p:spTree>
    <p:extLst>
      <p:ext uri="{BB962C8B-B14F-4D97-AF65-F5344CB8AC3E}">
        <p14:creationId xmlns:p14="http://schemas.microsoft.com/office/powerpoint/2010/main" val="2086334380"/>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D74A28C-6BB0-9276-DDDD-3CF22CBA7E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00B869-DB4D-9382-B75E-D8D0C48B60EE}"/>
              </a:ext>
            </a:extLst>
          </p:cNvPr>
          <p:cNvSpPr>
            <a:spLocks noGrp="1"/>
          </p:cNvSpPr>
          <p:nvPr>
            <p:ph type="title"/>
          </p:nvPr>
        </p:nvSpPr>
        <p:spPr/>
        <p:txBody>
          <a:bodyPr/>
          <a:lstStyle/>
          <a:p>
            <a:r>
              <a:rPr lang="en-US"/>
              <a:t>🦉</a:t>
            </a:r>
            <a:br>
              <a:rPr lang="en-US"/>
            </a:br>
            <a:r>
              <a:rPr lang="en-US" sz="4000"/>
              <a:t>secret agent owl</a:t>
            </a:r>
            <a:endParaRPr lang="en-US"/>
          </a:p>
        </p:txBody>
      </p:sp>
    </p:spTree>
    <p:extLst>
      <p:ext uri="{BB962C8B-B14F-4D97-AF65-F5344CB8AC3E}">
        <p14:creationId xmlns:p14="http://schemas.microsoft.com/office/powerpoint/2010/main" val="97541520"/>
      </p:ext>
    </p:extLst>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0BA5CE9-5063-379C-BCE0-F1BBA0831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F38FEA-6CF2-F9CD-BBFF-C34A34BA775F}"/>
              </a:ext>
            </a:extLst>
          </p:cNvPr>
          <p:cNvSpPr>
            <a:spLocks noGrp="1"/>
          </p:cNvSpPr>
          <p:nvPr>
            <p:ph type="title"/>
          </p:nvPr>
        </p:nvSpPr>
        <p:spPr/>
        <p:txBody>
          <a:bodyPr/>
          <a:lstStyle/>
          <a:p>
            <a:r>
              <a:rPr lang="en-US"/>
              <a:t>🦉</a:t>
            </a:r>
            <a:br>
              <a:rPr lang="en-US"/>
            </a:br>
            <a:r>
              <a:rPr lang="en-US" sz="4000"/>
              <a:t>secret agent owl</a:t>
            </a:r>
            <a:endParaRPr lang="en-US"/>
          </a:p>
        </p:txBody>
      </p:sp>
    </p:spTree>
    <p:extLst>
      <p:ext uri="{BB962C8B-B14F-4D97-AF65-F5344CB8AC3E}">
        <p14:creationId xmlns:p14="http://schemas.microsoft.com/office/powerpoint/2010/main" val="481795768"/>
      </p:ext>
    </p:extLst>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87510-0488-36C5-30CF-8A67050B49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9C0EE7-596A-04D2-FDFD-D5FCC1B871E3}"/>
              </a:ext>
            </a:extLst>
          </p:cNvPr>
          <p:cNvSpPr>
            <a:spLocks noGrp="1"/>
          </p:cNvSpPr>
          <p:nvPr>
            <p:ph type="title"/>
          </p:nvPr>
        </p:nvSpPr>
        <p:spPr/>
        <p:txBody>
          <a:bodyPr/>
          <a:lstStyle/>
          <a:p>
            <a:r>
              <a:rPr lang="en-US"/>
              <a:t>functions</a:t>
            </a:r>
          </a:p>
        </p:txBody>
      </p:sp>
    </p:spTree>
    <p:extLst>
      <p:ext uri="{BB962C8B-B14F-4D97-AF65-F5344CB8AC3E}">
        <p14:creationId xmlns:p14="http://schemas.microsoft.com/office/powerpoint/2010/main" val="809193992"/>
      </p:ext>
    </p:extLst>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56A60-A1DE-AB2C-5605-D09A4C47EF0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FFE82B0-52A2-5B51-EFFA-D24E2EEECD4A}"/>
              </a:ext>
            </a:extLst>
          </p:cNvPr>
          <p:cNvSpPr>
            <a:spLocks noGrp="1"/>
          </p:cNvSpPr>
          <p:nvPr>
            <p:ph type="title"/>
          </p:nvPr>
        </p:nvSpPr>
        <p:spPr/>
        <p:txBody>
          <a:bodyPr/>
          <a:lstStyle/>
          <a:p>
            <a:r>
              <a:rPr lang="en-US"/>
              <a:t>anatomy of a function</a:t>
            </a:r>
          </a:p>
        </p:txBody>
      </p:sp>
    </p:spTree>
    <p:extLst>
      <p:ext uri="{BB962C8B-B14F-4D97-AF65-F5344CB8AC3E}">
        <p14:creationId xmlns:p14="http://schemas.microsoft.com/office/powerpoint/2010/main" val="2005111662"/>
      </p:ext>
    </p:extLst>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205F9-EB39-4664-07A3-3B92BDC3BBE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7E7D3F-5C29-8EF0-E8D5-D76327328933}"/>
              </a:ext>
            </a:extLst>
          </p:cNvPr>
          <p:cNvSpPr>
            <a:spLocks noGrp="1"/>
          </p:cNvSpPr>
          <p:nvPr>
            <p:ph type="title"/>
          </p:nvPr>
        </p:nvSpPr>
        <p:spPr/>
        <p:txBody>
          <a:bodyPr/>
          <a:lstStyle/>
          <a:p>
            <a:r>
              <a:rPr lang="en-US"/>
              <a:t>anatomy of a function (1/2)</a:t>
            </a:r>
          </a:p>
        </p:txBody>
      </p:sp>
      <p:sp>
        <p:nvSpPr>
          <p:cNvPr id="6" name="Content Placeholder 5">
            <a:extLst>
              <a:ext uri="{FF2B5EF4-FFF2-40B4-BE49-F238E27FC236}">
                <a16:creationId xmlns:a16="http://schemas.microsoft.com/office/drawing/2014/main" id="{44D8595B-9A03-96C7-AD16-121798B39866}"/>
              </a:ext>
            </a:extLst>
          </p:cNvPr>
          <p:cNvSpPr>
            <a:spLocks noGrp="1"/>
          </p:cNvSpPr>
          <p:nvPr>
            <p:ph sz="quarter" idx="10"/>
          </p:nvPr>
        </p:nvSpPr>
        <p:spPr/>
        <p:txBody>
          <a:bodyPr/>
          <a:lstStyle/>
          <a:p>
            <a:endParaRPr lang="en-US"/>
          </a:p>
          <a:p>
            <a:pPr marL="0" indent="0">
              <a:buNone/>
            </a:pPr>
            <a:endParaRPr lang="en-US"/>
          </a:p>
          <a:p>
            <a:endParaRPr lang="en-US"/>
          </a:p>
          <a:p>
            <a:endParaRPr lang="en-US"/>
          </a:p>
          <a:p>
            <a:r>
              <a:rPr lang="en-US"/>
              <a:t>a </a:t>
            </a:r>
            <a:r>
              <a:rPr lang="en-US" b="1"/>
              <a:t>function</a:t>
            </a:r>
            <a:r>
              <a:rPr lang="en-US"/>
              <a:t> is a </a:t>
            </a:r>
            <a:r>
              <a:rPr lang="en-US" err="1"/>
              <a:t>lil</a:t>
            </a:r>
            <a:r>
              <a:rPr lang="en-US"/>
              <a:t> chunk of code you can call from elsewhere</a:t>
            </a:r>
          </a:p>
          <a:p>
            <a:pPr lvl="1"/>
            <a:r>
              <a:rPr lang="en-US"/>
              <a:t>a function takes any number of </a:t>
            </a:r>
            <a:r>
              <a:rPr lang="en-US" b="1"/>
              <a:t>arguments</a:t>
            </a:r>
          </a:p>
          <a:p>
            <a:pPr lvl="2"/>
            <a:r>
              <a:rPr lang="en-US">
                <a:solidFill>
                  <a:srgbClr val="BFBFBF"/>
                </a:solidFill>
                <a:latin typeface="+mj-lt"/>
              </a:rPr>
              <a:t>...</a:t>
            </a:r>
            <a:r>
              <a:rPr lang="en-US">
                <a:latin typeface="+mj-lt"/>
              </a:rPr>
              <a:t> foo(</a:t>
            </a:r>
            <a:r>
              <a:rPr lang="en-US">
                <a:solidFill>
                  <a:srgbClr val="000080"/>
                </a:solidFill>
                <a:latin typeface="+mj-lt"/>
              </a:rPr>
              <a:t>int</a:t>
            </a:r>
            <a:r>
              <a:rPr lang="en-US">
                <a:latin typeface="+mj-lt"/>
              </a:rPr>
              <a:t> </a:t>
            </a:r>
            <a:r>
              <a:rPr lang="en-US" err="1">
                <a:latin typeface="+mj-lt"/>
              </a:rPr>
              <a:t>arg</a:t>
            </a:r>
            <a:r>
              <a:rPr lang="en-US">
                <a:latin typeface="+mj-lt"/>
              </a:rPr>
              <a:t>) { </a:t>
            </a:r>
            <a:r>
              <a:rPr lang="en-US">
                <a:solidFill>
                  <a:srgbClr val="BFBFBF"/>
                </a:solidFill>
                <a:latin typeface="+mj-lt"/>
              </a:rPr>
              <a:t>...</a:t>
            </a:r>
            <a:r>
              <a:rPr lang="en-US">
                <a:latin typeface="+mj-lt"/>
              </a:rPr>
              <a:t> } </a:t>
            </a:r>
            <a:r>
              <a:rPr lang="en-US">
                <a:solidFill>
                  <a:srgbClr val="007B00"/>
                </a:solidFill>
                <a:latin typeface="+mj-lt"/>
              </a:rPr>
              <a:t>// function foo takes an int</a:t>
            </a:r>
            <a:endParaRPr lang="en-US"/>
          </a:p>
          <a:p>
            <a:pPr lvl="1"/>
            <a:r>
              <a:rPr lang="en-US"/>
              <a:t>a function with a non-void </a:t>
            </a:r>
            <a:r>
              <a:rPr lang="en-US" b="1"/>
              <a:t>return type</a:t>
            </a:r>
            <a:r>
              <a:rPr lang="en-US"/>
              <a:t> </a:t>
            </a:r>
            <a:r>
              <a:rPr lang="en-US" u="sng"/>
              <a:t>must</a:t>
            </a:r>
            <a:r>
              <a:rPr lang="en-US"/>
              <a:t> </a:t>
            </a:r>
            <a:r>
              <a:rPr lang="en-US" b="1"/>
              <a:t>return</a:t>
            </a:r>
            <a:r>
              <a:rPr lang="en-US"/>
              <a:t> a value of that type</a:t>
            </a:r>
          </a:p>
          <a:p>
            <a:pPr lvl="2"/>
            <a:r>
              <a:rPr lang="en-US">
                <a:solidFill>
                  <a:srgbClr val="000080"/>
                </a:solidFill>
                <a:latin typeface="+mj-lt"/>
              </a:rPr>
              <a:t>int</a:t>
            </a:r>
            <a:r>
              <a:rPr lang="en-US">
                <a:latin typeface="+mj-lt"/>
              </a:rPr>
              <a:t> bar(</a:t>
            </a:r>
            <a:r>
              <a:rPr lang="en-US">
                <a:solidFill>
                  <a:srgbClr val="BFBFBF"/>
                </a:solidFill>
                <a:latin typeface="+mj-lt"/>
              </a:rPr>
              <a:t>...</a:t>
            </a:r>
            <a:r>
              <a:rPr lang="en-US">
                <a:latin typeface="+mj-lt"/>
              </a:rPr>
              <a:t>) { </a:t>
            </a:r>
            <a:r>
              <a:rPr lang="en-US">
                <a:solidFill>
                  <a:srgbClr val="BFBFBF"/>
                </a:solidFill>
                <a:latin typeface="+mj-lt"/>
              </a:rPr>
              <a:t>...</a:t>
            </a:r>
            <a:r>
              <a:rPr lang="en-US">
                <a:latin typeface="+mj-lt"/>
              </a:rPr>
              <a:t> } </a:t>
            </a:r>
            <a:r>
              <a:rPr lang="en-US">
                <a:solidFill>
                  <a:srgbClr val="007B00"/>
                </a:solidFill>
                <a:latin typeface="+mj-lt"/>
              </a:rPr>
              <a:t>// bar returns an int</a:t>
            </a:r>
          </a:p>
          <a:p>
            <a:pPr lvl="2"/>
            <a:r>
              <a:rPr lang="en-US">
                <a:solidFill>
                  <a:srgbClr val="000080"/>
                </a:solidFill>
                <a:latin typeface="+mj-lt"/>
              </a:rPr>
              <a:t>void</a:t>
            </a:r>
            <a:r>
              <a:rPr lang="en-US">
                <a:latin typeface="+mj-lt"/>
              </a:rPr>
              <a:t> </a:t>
            </a:r>
            <a:r>
              <a:rPr lang="en-US" err="1">
                <a:latin typeface="+mj-lt"/>
              </a:rPr>
              <a:t>baz</a:t>
            </a:r>
            <a:r>
              <a:rPr lang="en-US">
                <a:latin typeface="+mj-lt"/>
              </a:rPr>
              <a:t>(</a:t>
            </a:r>
            <a:r>
              <a:rPr lang="en-US">
                <a:solidFill>
                  <a:srgbClr val="BFBFBF"/>
                </a:solidFill>
                <a:latin typeface="+mj-lt"/>
              </a:rPr>
              <a:t>...</a:t>
            </a:r>
            <a:r>
              <a:rPr lang="en-US">
                <a:latin typeface="+mj-lt"/>
              </a:rPr>
              <a:t>) { </a:t>
            </a:r>
            <a:r>
              <a:rPr lang="en-US">
                <a:solidFill>
                  <a:srgbClr val="BFBFBF"/>
                </a:solidFill>
                <a:latin typeface="+mj-lt"/>
              </a:rPr>
              <a:t>...</a:t>
            </a:r>
            <a:r>
              <a:rPr lang="en-US">
                <a:latin typeface="+mj-lt"/>
              </a:rPr>
              <a:t> } </a:t>
            </a:r>
            <a:r>
              <a:rPr lang="en-US">
                <a:solidFill>
                  <a:srgbClr val="007B00"/>
                </a:solidFill>
                <a:latin typeface="+mj-lt"/>
              </a:rPr>
              <a:t>// </a:t>
            </a:r>
            <a:r>
              <a:rPr lang="en-US" err="1">
                <a:solidFill>
                  <a:srgbClr val="007B00"/>
                </a:solidFill>
                <a:latin typeface="+mj-lt"/>
              </a:rPr>
              <a:t>baz</a:t>
            </a:r>
            <a:r>
              <a:rPr lang="en-US">
                <a:solidFill>
                  <a:srgbClr val="007B00"/>
                </a:solidFill>
                <a:latin typeface="+mj-lt"/>
              </a:rPr>
              <a:t> doesn't return anything</a:t>
            </a:r>
          </a:p>
        </p:txBody>
      </p:sp>
      <p:sp>
        <p:nvSpPr>
          <p:cNvPr id="5" name="TextBox 4">
            <a:extLst>
              <a:ext uri="{FF2B5EF4-FFF2-40B4-BE49-F238E27FC236}">
                <a16:creationId xmlns:a16="http://schemas.microsoft.com/office/drawing/2014/main" id="{BA331AD6-925E-E692-40DD-6E1EB24A4052}"/>
              </a:ext>
            </a:extLst>
          </p:cNvPr>
          <p:cNvSpPr txBox="1"/>
          <p:nvPr/>
        </p:nvSpPr>
        <p:spPr>
          <a:xfrm>
            <a:off x="457200" y="1060543"/>
            <a:ext cx="8229600" cy="1034129"/>
          </a:xfrm>
          <a:prstGeom prst="rect">
            <a:avLst/>
          </a:prstGeom>
          <a:solidFill>
            <a:schemeClr val="bg1"/>
          </a:solid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0080"/>
                </a:solidFill>
                <a:effectLst/>
                <a:latin typeface="Consolas" panose="020B0609020204030204" pitchFamily="49" charset="0"/>
                <a:cs typeface="Consolas" panose="020B0609020204030204" pitchFamily="49" charset="0"/>
              </a:rPr>
              <a:t>ReturnType</a:t>
            </a:r>
            <a:r>
              <a:rPr lang="en-US">
                <a:effectLst/>
                <a:latin typeface="Consolas" panose="020B0609020204030204" pitchFamily="49" charset="0"/>
                <a:cs typeface="Consolas" panose="020B0609020204030204" pitchFamily="49" charset="0"/>
              </a:rPr>
              <a:t> functionName(</a:t>
            </a:r>
            <a:r>
              <a:rPr lang="en-US">
                <a:solidFill>
                  <a:srgbClr val="000080"/>
                </a:solidFill>
                <a:effectLst/>
                <a:latin typeface="Consolas" panose="020B0609020204030204" pitchFamily="49" charset="0"/>
                <a:cs typeface="Consolas" panose="020B0609020204030204" pitchFamily="49" charset="0"/>
              </a:rPr>
              <a:t>ArgumentOneType</a:t>
            </a:r>
            <a:r>
              <a:rPr lang="en-US">
                <a:effectLst/>
                <a:latin typeface="Consolas" panose="020B0609020204030204" pitchFamily="49" charset="0"/>
                <a:cs typeface="Consolas" panose="020B0609020204030204" pitchFamily="49" charset="0"/>
              </a:rPr>
              <a:t> argumentOne, </a:t>
            </a:r>
            <a:r>
              <a:rPr lang="en-US">
                <a:solidFill>
                  <a:srgbClr val="BFBFBF"/>
                </a:solidFill>
                <a:effectLst/>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    </a:t>
            </a:r>
            <a:r>
              <a:rPr lang="en-US">
                <a:solidFill>
                  <a:srgbClr val="BFBFBF"/>
                </a:solidFill>
                <a:latin typeface="Consolas" panose="020B0609020204030204" pitchFamily="49" charset="0"/>
                <a:cs typeface="Consolas" panose="020B0609020204030204" pitchFamily="49" charset="0"/>
              </a:rPr>
              <a:t>...</a:t>
            </a:r>
            <a:endParaRPr lang="en-US">
              <a:solidFill>
                <a:srgbClr val="BFBFBF"/>
              </a:solidFill>
              <a:effectLst/>
              <a:latin typeface="Consolas" panose="020B0609020204030204" pitchFamily="49" charset="0"/>
              <a:cs typeface="Consolas" panose="020B0609020204030204" pitchFamily="49" charset="0"/>
            </a:endParaRPr>
          </a:p>
          <a:p>
            <a:pPr lvl="0" defTabSz="342886">
              <a:spcBef>
                <a:spcPct val="20000"/>
              </a:spcBef>
              <a:buClr>
                <a:srgbClr val="FFFFFF">
                  <a:lumMod val="65000"/>
                </a:srgbClr>
              </a:buClr>
            </a:pPr>
            <a:r>
              <a:rPr lang="en-US">
                <a:latin typeface="Consolas" panose="020B0609020204030204" pitchFamily="49" charset="0"/>
                <a:ea typeface="Segoe UI Emoji" panose="020B0502040204020203" pitchFamily="34" charset="0"/>
                <a:cs typeface="Consolas" panose="020B0609020204030204" pitchFamily="49" charset="0"/>
              </a:rPr>
              <a:t>}</a:t>
            </a:r>
          </a:p>
        </p:txBody>
      </p:sp>
    </p:spTree>
    <p:extLst>
      <p:ext uri="{BB962C8B-B14F-4D97-AF65-F5344CB8AC3E}">
        <p14:creationId xmlns:p14="http://schemas.microsoft.com/office/powerpoint/2010/main" val="3091064234"/>
      </p:ext>
    </p:extLst>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6D998-82E5-D0C1-D82D-8A48AD3284E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13D43D-3FF8-E4E3-4A70-CC81F96D5ABA}"/>
              </a:ext>
            </a:extLst>
          </p:cNvPr>
          <p:cNvSpPr>
            <a:spLocks noGrp="1"/>
          </p:cNvSpPr>
          <p:nvPr>
            <p:ph type="title"/>
          </p:nvPr>
        </p:nvSpPr>
        <p:spPr/>
        <p:txBody>
          <a:bodyPr/>
          <a:lstStyle/>
          <a:p>
            <a:r>
              <a:rPr lang="en-US"/>
              <a:t>anatomy of a function (2/2)</a:t>
            </a:r>
          </a:p>
        </p:txBody>
      </p:sp>
      <p:sp>
        <p:nvSpPr>
          <p:cNvPr id="5" name="TextBox 4">
            <a:extLst>
              <a:ext uri="{FF2B5EF4-FFF2-40B4-BE49-F238E27FC236}">
                <a16:creationId xmlns:a16="http://schemas.microsoft.com/office/drawing/2014/main" id="{E97E5665-3B23-3496-AA8C-02C1CD7DD91C}"/>
              </a:ext>
            </a:extLst>
          </p:cNvPr>
          <p:cNvSpPr txBox="1"/>
          <p:nvPr/>
        </p:nvSpPr>
        <p:spPr>
          <a:xfrm>
            <a:off x="457200" y="1080782"/>
            <a:ext cx="8229600" cy="3028521"/>
          </a:xfrm>
          <a:prstGeom prst="rect">
            <a:avLst/>
          </a:prstGeom>
          <a:solidFill>
            <a:schemeClr val="bg1"/>
          </a:solid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00FF"/>
                </a:solidFill>
                <a:latin typeface="Consolas" panose="020B0609020204030204" pitchFamily="49" charset="0"/>
                <a:cs typeface="Consolas" panose="020B0609020204030204" pitchFamily="49" charset="0"/>
              </a:rPr>
              <a:t>void</a:t>
            </a:r>
            <a:r>
              <a:rPr lang="en-US">
                <a:latin typeface="Consolas" panose="020B0609020204030204" pitchFamily="49" charset="0"/>
                <a:cs typeface="Consolas" panose="020B0609020204030204" pitchFamily="49" charset="0"/>
              </a:rPr>
              <a:t> drawLine(</a:t>
            </a:r>
          </a:p>
          <a:p>
            <a:pPr lvl="0" defTabSz="342886">
              <a:spcBef>
                <a:spcPct val="20000"/>
              </a:spcBef>
              <a:buClr>
                <a:srgbClr val="FFFFFF">
                  <a:lumMod val="65000"/>
                </a:srgbClr>
              </a:buClr>
            </a:pPr>
            <a:r>
              <a:rPr lang="en-US">
                <a:solidFill>
                  <a:srgbClr val="000080"/>
                </a:solidFill>
                <a:latin typeface="Consolas" panose="020B0609020204030204" pitchFamily="49" charset="0"/>
                <a:cs typeface="Consolas" panose="020B0609020204030204" pitchFamily="49" charset="0"/>
              </a:rPr>
              <a:t>        double</a:t>
            </a:r>
            <a:r>
              <a:rPr lang="en-US">
                <a:latin typeface="Consolas" panose="020B0609020204030204" pitchFamily="49" charset="0"/>
                <a:cs typeface="Consolas" panose="020B0609020204030204" pitchFamily="49" charset="0"/>
              </a:rPr>
              <a:t> a_x,</a:t>
            </a:r>
          </a:p>
          <a:p>
            <a:pPr lvl="0" defTabSz="342886">
              <a:spcBef>
                <a:spcPct val="20000"/>
              </a:spcBef>
              <a:buClr>
                <a:srgbClr val="FFFFFF">
                  <a:lumMod val="65000"/>
                </a:srgbClr>
              </a:buClr>
            </a:pPr>
            <a:r>
              <a:rPr lang="en-US">
                <a:solidFill>
                  <a:srgbClr val="000080"/>
                </a:solidFill>
                <a:latin typeface="Consolas" panose="020B0609020204030204" pitchFamily="49" charset="0"/>
                <a:cs typeface="Consolas" panose="020B0609020204030204" pitchFamily="49" charset="0"/>
              </a:rPr>
              <a:t>        double</a:t>
            </a:r>
            <a:r>
              <a:rPr lang="en-US">
                <a:latin typeface="Consolas" panose="020B0609020204030204" pitchFamily="49" charset="0"/>
                <a:cs typeface="Consolas" panose="020B0609020204030204" pitchFamily="49" charset="0"/>
              </a:rPr>
              <a:t> a_y,</a:t>
            </a:r>
          </a:p>
          <a:p>
            <a:pPr lvl="0" defTabSz="342886">
              <a:spcBef>
                <a:spcPct val="20000"/>
              </a:spcBef>
              <a:buClr>
                <a:srgbClr val="FFFFFF">
                  <a:lumMod val="65000"/>
                </a:srgbClr>
              </a:buClr>
            </a:pPr>
            <a:r>
              <a:rPr lang="en-US">
                <a:solidFill>
                  <a:srgbClr val="000080"/>
                </a:solidFill>
                <a:latin typeface="Consolas" panose="020B0609020204030204" pitchFamily="49" charset="0"/>
                <a:cs typeface="Consolas" panose="020B0609020204030204" pitchFamily="49" charset="0"/>
              </a:rPr>
              <a:t>        double</a:t>
            </a:r>
            <a:r>
              <a:rPr lang="en-US">
                <a:latin typeface="Consolas" panose="020B0609020204030204" pitchFamily="49" charset="0"/>
                <a:cs typeface="Consolas" panose="020B0609020204030204" pitchFamily="49" charset="0"/>
              </a:rPr>
              <a:t> b_x,</a:t>
            </a:r>
          </a:p>
          <a:p>
            <a:pPr lvl="0" defTabSz="342886">
              <a:spcBef>
                <a:spcPct val="20000"/>
              </a:spcBef>
              <a:buClr>
                <a:srgbClr val="FFFFFF">
                  <a:lumMod val="65000"/>
                </a:srgbClr>
              </a:buClr>
            </a:pPr>
            <a:r>
              <a:rPr lang="en-US">
                <a:solidFill>
                  <a:srgbClr val="000080"/>
                </a:solidFill>
                <a:latin typeface="Consolas" panose="020B0609020204030204" pitchFamily="49" charset="0"/>
                <a:cs typeface="Consolas" panose="020B0609020204030204" pitchFamily="49" charset="0"/>
              </a:rPr>
              <a:t>        double</a:t>
            </a:r>
            <a:r>
              <a:rPr lang="en-US">
                <a:latin typeface="Consolas" panose="020B0609020204030204" pitchFamily="49" charset="0"/>
                <a:cs typeface="Consolas" panose="020B0609020204030204" pitchFamily="49" charset="0"/>
              </a:rPr>
              <a:t> b_y,</a:t>
            </a:r>
          </a:p>
          <a:p>
            <a:pPr lvl="0" defTabSz="342886">
              <a:spcBef>
                <a:spcPct val="20000"/>
              </a:spcBef>
              <a:buClr>
                <a:srgbClr val="FFFFFF">
                  <a:lumMod val="65000"/>
                </a:srgbClr>
              </a:buClr>
            </a:pPr>
            <a:r>
              <a:rPr lang="en-US">
                <a:solidFill>
                  <a:srgbClr val="000080"/>
                </a:solidFill>
                <a:latin typeface="Consolas" panose="020B0609020204030204" pitchFamily="49" charset="0"/>
                <a:cs typeface="Consolas" panose="020B0609020204030204" pitchFamily="49" charset="0"/>
              </a:rPr>
              <a:t>        Color</a:t>
            </a:r>
            <a:r>
              <a:rPr lang="en-US">
                <a:latin typeface="Consolas" panose="020B0609020204030204" pitchFamily="49" charset="0"/>
                <a:cs typeface="Consolas" panose="020B0609020204030204" pitchFamily="49" charset="0"/>
              </a:rPr>
              <a:t> color</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 {</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    </a:t>
            </a:r>
            <a:r>
              <a:rPr lang="en-US">
                <a:solidFill>
                  <a:srgbClr val="BFBFBF"/>
                </a:solidFill>
                <a:latin typeface="Consolas" panose="020B0609020204030204" pitchFamily="49" charset="0"/>
                <a:cs typeface="Consolas" panose="020B0609020204030204" pitchFamily="49" charset="0"/>
              </a:rPr>
              <a:t>...</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1529113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3C009-AC06-F305-FD97-E528C052589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51DA616-6588-B74C-DDB4-4170A8F8A0C2}"/>
              </a:ext>
            </a:extLst>
          </p:cNvPr>
          <p:cNvSpPr>
            <a:spLocks noGrp="1"/>
          </p:cNvSpPr>
          <p:nvPr>
            <p:ph type="title"/>
          </p:nvPr>
        </p:nvSpPr>
        <p:spPr/>
        <p:txBody>
          <a:bodyPr/>
          <a:lstStyle/>
          <a:p>
            <a:r>
              <a:rPr lang="en-US"/>
              <a:t>return</a:t>
            </a:r>
          </a:p>
        </p:txBody>
      </p:sp>
    </p:spTree>
    <p:extLst>
      <p:ext uri="{BB962C8B-B14F-4D97-AF65-F5344CB8AC3E}">
        <p14:creationId xmlns:p14="http://schemas.microsoft.com/office/powerpoint/2010/main" val="1083376119"/>
      </p:ext>
    </p:extLst>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FAB81-C7D5-F745-2EC7-811A662110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DBFBA0-2138-3FB1-2188-CEE8C8729751}"/>
              </a:ext>
            </a:extLst>
          </p:cNvPr>
          <p:cNvSpPr>
            <a:spLocks noGrp="1"/>
          </p:cNvSpPr>
          <p:nvPr>
            <p:ph type="title"/>
          </p:nvPr>
        </p:nvSpPr>
        <p:spPr/>
        <p:txBody>
          <a:bodyPr/>
          <a:lstStyle/>
          <a:p>
            <a:r>
              <a:rPr lang="en-US"/>
              <a:t>return (1/2)</a:t>
            </a:r>
          </a:p>
        </p:txBody>
      </p:sp>
      <p:sp>
        <p:nvSpPr>
          <p:cNvPr id="3" name="Content Placeholder 2">
            <a:extLst>
              <a:ext uri="{FF2B5EF4-FFF2-40B4-BE49-F238E27FC236}">
                <a16:creationId xmlns:a16="http://schemas.microsoft.com/office/drawing/2014/main" id="{0B16A8FA-12D3-005F-5D1A-1716697886F4}"/>
              </a:ext>
            </a:extLst>
          </p:cNvPr>
          <p:cNvSpPr>
            <a:spLocks noGrp="1"/>
          </p:cNvSpPr>
          <p:nvPr>
            <p:ph sz="quarter" idx="10"/>
          </p:nvPr>
        </p:nvSpPr>
        <p:spPr/>
        <p:txBody>
          <a:bodyPr/>
          <a:lstStyle/>
          <a:p>
            <a:r>
              <a:rPr lang="en-US"/>
              <a:t>a </a:t>
            </a:r>
            <a:r>
              <a:rPr lang="en-US" b="1"/>
              <a:t>return</a:t>
            </a:r>
            <a:r>
              <a:rPr lang="en-US"/>
              <a:t> statement stops execution of a function and returns the program to where the function was called</a:t>
            </a:r>
          </a:p>
          <a:p>
            <a:pPr lvl="1"/>
            <a:r>
              <a:rPr lang="en-US"/>
              <a:t>some return statements return a value</a:t>
            </a:r>
          </a:p>
          <a:p>
            <a:pPr lvl="2"/>
            <a:r>
              <a:rPr lang="en-US">
                <a:solidFill>
                  <a:srgbClr val="0000FF"/>
                </a:solidFill>
                <a:latin typeface="+mj-lt"/>
              </a:rPr>
              <a:t>return</a:t>
            </a:r>
            <a:r>
              <a:rPr lang="en-US">
                <a:latin typeface="+mj-lt"/>
              </a:rPr>
              <a:t> </a:t>
            </a:r>
            <a:r>
              <a:rPr lang="en-US">
                <a:solidFill>
                  <a:srgbClr val="0CB5B5"/>
                </a:solidFill>
                <a:latin typeface="+mj-lt"/>
              </a:rPr>
              <a:t>123</a:t>
            </a:r>
            <a:r>
              <a:rPr lang="en-US">
                <a:latin typeface="+mj-lt"/>
              </a:rPr>
              <a:t>;</a:t>
            </a:r>
            <a:endParaRPr lang="en-US"/>
          </a:p>
          <a:p>
            <a:pPr lvl="1"/>
            <a:r>
              <a:rPr lang="en-US"/>
              <a:t>others do not (they "return void")</a:t>
            </a:r>
          </a:p>
          <a:p>
            <a:pPr lvl="2"/>
            <a:r>
              <a:rPr lang="en-US">
                <a:solidFill>
                  <a:srgbClr val="0000FF"/>
                </a:solidFill>
                <a:latin typeface="+mj-lt"/>
              </a:rPr>
              <a:t>return</a:t>
            </a:r>
            <a:r>
              <a:rPr lang="en-US">
                <a:latin typeface="+mj-lt"/>
              </a:rPr>
              <a:t>;</a:t>
            </a:r>
          </a:p>
          <a:p>
            <a:pPr lvl="3"/>
            <a:r>
              <a:rPr lang="en-US" b="1"/>
              <a:t>✨ </a:t>
            </a:r>
            <a:r>
              <a:rPr lang="en-US"/>
              <a:t>this can be used to stop running a void-returning function in the middle </a:t>
            </a:r>
            <a:endParaRPr lang="en-US" b="1"/>
          </a:p>
          <a:p>
            <a:pPr lvl="1"/>
            <a:endParaRPr lang="en-US">
              <a:latin typeface="+mj-lt"/>
            </a:endParaRPr>
          </a:p>
        </p:txBody>
      </p:sp>
    </p:spTree>
    <p:extLst>
      <p:ext uri="{BB962C8B-B14F-4D97-AF65-F5344CB8AC3E}">
        <p14:creationId xmlns:p14="http://schemas.microsoft.com/office/powerpoint/2010/main" val="3351422692"/>
      </p:ext>
    </p:extLst>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41238-7873-515C-FD5F-D6CFD17F56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2D3C8C-695C-8B7C-765F-5BB6F5DA66DA}"/>
              </a:ext>
            </a:extLst>
          </p:cNvPr>
          <p:cNvSpPr>
            <a:spLocks noGrp="1"/>
          </p:cNvSpPr>
          <p:nvPr>
            <p:ph type="title"/>
          </p:nvPr>
        </p:nvSpPr>
        <p:spPr/>
        <p:txBody>
          <a:bodyPr/>
          <a:lstStyle/>
          <a:p>
            <a:r>
              <a:rPr lang="en-US"/>
              <a:t>return (2/2)</a:t>
            </a:r>
          </a:p>
        </p:txBody>
      </p:sp>
      <p:sp>
        <p:nvSpPr>
          <p:cNvPr id="3" name="Content Placeholder 2">
            <a:extLst>
              <a:ext uri="{FF2B5EF4-FFF2-40B4-BE49-F238E27FC236}">
                <a16:creationId xmlns:a16="http://schemas.microsoft.com/office/drawing/2014/main" id="{99110A79-A658-135D-E354-B1D0775C8263}"/>
              </a:ext>
            </a:extLst>
          </p:cNvPr>
          <p:cNvSpPr>
            <a:spLocks noGrp="1"/>
          </p:cNvSpPr>
          <p:nvPr>
            <p:ph sz="quarter" idx="10"/>
          </p:nvPr>
        </p:nvSpPr>
        <p:spPr/>
        <p:txBody>
          <a:bodyPr/>
          <a:lstStyle/>
          <a:p>
            <a:r>
              <a:rPr lang="en-US"/>
              <a:t>a function with a non-void </a:t>
            </a:r>
            <a:r>
              <a:rPr lang="en-US" b="1"/>
              <a:t>return type</a:t>
            </a:r>
            <a:r>
              <a:rPr lang="en-US"/>
              <a:t> must </a:t>
            </a:r>
            <a:r>
              <a:rPr lang="en-US" b="1"/>
              <a:t>return</a:t>
            </a:r>
            <a:r>
              <a:rPr lang="en-US"/>
              <a:t> a value of that type, regardless of the path taken through the function</a:t>
            </a:r>
            <a:endParaRPr lang="en-US">
              <a:latin typeface="+mj-lt"/>
            </a:endParaRPr>
          </a:p>
        </p:txBody>
      </p:sp>
      <p:sp>
        <p:nvSpPr>
          <p:cNvPr id="4" name="TextBox 3">
            <a:extLst>
              <a:ext uri="{FF2B5EF4-FFF2-40B4-BE49-F238E27FC236}">
                <a16:creationId xmlns:a16="http://schemas.microsoft.com/office/drawing/2014/main" id="{BC02E775-8189-00AD-08A7-798144E3F4AB}"/>
              </a:ext>
            </a:extLst>
          </p:cNvPr>
          <p:cNvSpPr txBox="1"/>
          <p:nvPr/>
        </p:nvSpPr>
        <p:spPr>
          <a:xfrm>
            <a:off x="457200" y="1675131"/>
            <a:ext cx="8229600" cy="2363724"/>
          </a:xfrm>
          <a:prstGeom prst="rect">
            <a:avLst/>
          </a:prstGeom>
          <a:solidFill>
            <a:schemeClr val="bg1"/>
          </a:solidFill>
          <a:ln>
            <a:solidFill>
              <a:schemeClr val="tx1"/>
            </a:solidFill>
          </a:ln>
        </p:spPr>
        <p:txBody>
          <a:bodyPr wrap="square" rtlCol="0">
            <a:spAutoFit/>
          </a:bodyPr>
          <a:lstStyle/>
          <a:p>
            <a:pPr lvl="0" defTabSz="342886">
              <a:spcBef>
                <a:spcPct val="20000"/>
              </a:spcBef>
              <a:buClr>
                <a:srgbClr val="FFFFFF">
                  <a:lumMod val="65000"/>
                </a:srgbClr>
              </a:buClr>
            </a:pPr>
            <a:r>
              <a:rPr lang="en-US" b="1">
                <a:highlight>
                  <a:srgbClr val="FFFF00"/>
                </a:highlight>
                <a:latin typeface="Consolas" panose="020B0609020204030204" pitchFamily="49" charset="0"/>
                <a:cs typeface="Consolas" panose="020B0609020204030204" pitchFamily="49" charset="0"/>
              </a:rPr>
              <a:t>Error:</a:t>
            </a:r>
            <a:r>
              <a:rPr lang="en-US">
                <a:highlight>
                  <a:srgbClr val="FFFF00"/>
                </a:highlight>
                <a:latin typeface="Consolas" panose="020B0609020204030204" pitchFamily="49" charset="0"/>
                <a:cs typeface="Consolas" panose="020B0609020204030204" pitchFamily="49" charset="0"/>
              </a:rPr>
              <a:t> missing return statement</a:t>
            </a:r>
          </a:p>
          <a:p>
            <a:pPr lvl="0" defTabSz="342886">
              <a:spcBef>
                <a:spcPct val="20000"/>
              </a:spcBef>
              <a:buClr>
                <a:srgbClr val="FFFFFF">
                  <a:lumMod val="65000"/>
                </a:srgbClr>
              </a:buClr>
            </a:pPr>
            <a:endParaRPr lang="en-US">
              <a:latin typeface="Consolas" panose="020B0609020204030204" pitchFamily="49" charset="0"/>
              <a:cs typeface="Consolas" panose="020B0609020204030204" pitchFamily="49" charset="0"/>
            </a:endParaRPr>
          </a:p>
          <a:p>
            <a:pPr lvl="0" defTabSz="342886">
              <a:spcBef>
                <a:spcPct val="20000"/>
              </a:spcBef>
              <a:buClr>
                <a:srgbClr val="FFFFFF">
                  <a:lumMod val="65000"/>
                </a:srgbClr>
              </a:buClr>
            </a:pPr>
            <a:r>
              <a:rPr lang="en-US">
                <a:solidFill>
                  <a:srgbClr val="0000FF"/>
                </a:solidFill>
                <a:latin typeface="Consolas" panose="020B0609020204030204" pitchFamily="49" charset="0"/>
                <a:cs typeface="Consolas" panose="020B0609020204030204" pitchFamily="49" charset="0"/>
              </a:rPr>
              <a:t>static</a:t>
            </a:r>
            <a:r>
              <a:rPr lang="en-US">
                <a:latin typeface="Consolas" panose="020B0609020204030204" pitchFamily="49" charset="0"/>
                <a:cs typeface="Consolas" panose="020B0609020204030204" pitchFamily="49" charset="0"/>
              </a:rPr>
              <a:t> </a:t>
            </a:r>
            <a:r>
              <a:rPr lang="en-US">
                <a:solidFill>
                  <a:srgbClr val="000080"/>
                </a:solidFill>
                <a:latin typeface="Consolas" panose="020B0609020204030204" pitchFamily="49" charset="0"/>
                <a:cs typeface="Consolas" panose="020B0609020204030204" pitchFamily="49" charset="0"/>
              </a:rPr>
              <a:t>boolean</a:t>
            </a:r>
            <a:r>
              <a:rPr lang="en-US">
                <a:latin typeface="Consolas" panose="020B0609020204030204" pitchFamily="49" charset="0"/>
                <a:cs typeface="Consolas" panose="020B0609020204030204" pitchFamily="49" charset="0"/>
              </a:rPr>
              <a:t> isEven(</a:t>
            </a:r>
            <a:r>
              <a:rPr lang="en-US">
                <a:solidFill>
                  <a:srgbClr val="0000FF"/>
                </a:solidFill>
                <a:latin typeface="Consolas" panose="020B0609020204030204" pitchFamily="49" charset="0"/>
                <a:cs typeface="Consolas" panose="020B0609020204030204" pitchFamily="49" charset="0"/>
              </a:rPr>
              <a:t>int</a:t>
            </a:r>
            <a:r>
              <a:rPr lang="en-US">
                <a:latin typeface="Consolas" panose="020B0609020204030204" pitchFamily="49" charset="0"/>
                <a:cs typeface="Consolas" panose="020B0609020204030204" pitchFamily="49" charset="0"/>
              </a:rPr>
              <a:t> n) {</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    </a:t>
            </a:r>
            <a:r>
              <a:rPr lang="en-US">
                <a:solidFill>
                  <a:srgbClr val="0000FF"/>
                </a:solidFill>
                <a:latin typeface="Consolas" panose="020B0609020204030204" pitchFamily="49" charset="0"/>
                <a:cs typeface="Consolas" panose="020B0609020204030204" pitchFamily="49" charset="0"/>
              </a:rPr>
              <a:t>if</a:t>
            </a:r>
            <a:r>
              <a:rPr lang="en-US">
                <a:latin typeface="Consolas" panose="020B0609020204030204" pitchFamily="49" charset="0"/>
                <a:cs typeface="Consolas" panose="020B0609020204030204" pitchFamily="49" charset="0"/>
              </a:rPr>
              <a:t> (n % 2  == 0) {</a:t>
            </a:r>
          </a:p>
          <a:p>
            <a:pPr lvl="0" defTabSz="342886">
              <a:spcBef>
                <a:spcPct val="20000"/>
              </a:spcBef>
              <a:buClr>
                <a:srgbClr val="FFFFFF">
                  <a:lumMod val="65000"/>
                </a:srgbClr>
              </a:buClr>
            </a:pPr>
            <a:r>
              <a:rPr lang="en-US">
                <a:solidFill>
                  <a:srgbClr val="0000FF"/>
                </a:solidFill>
                <a:latin typeface="Consolas" panose="020B0609020204030204" pitchFamily="49" charset="0"/>
                <a:cs typeface="Consolas" panose="020B0609020204030204" pitchFamily="49" charset="0"/>
              </a:rPr>
              <a:t>        return</a:t>
            </a:r>
            <a:r>
              <a:rPr lang="en-US">
                <a:latin typeface="Consolas" panose="020B0609020204030204" pitchFamily="49" charset="0"/>
                <a:cs typeface="Consolas" panose="020B0609020204030204" pitchFamily="49" charset="0"/>
              </a:rPr>
              <a:t> </a:t>
            </a:r>
            <a:r>
              <a:rPr lang="en-US">
                <a:solidFill>
                  <a:srgbClr val="0000FF"/>
                </a:solidFill>
                <a:latin typeface="Consolas" panose="020B0609020204030204" pitchFamily="49" charset="0"/>
                <a:cs typeface="Consolas" panose="020B0609020204030204" pitchFamily="49" charset="0"/>
              </a:rPr>
              <a:t>true</a:t>
            </a:r>
            <a:r>
              <a:rPr lang="en-US">
                <a:latin typeface="Consolas" panose="020B0609020204030204" pitchFamily="49" charset="0"/>
                <a:cs typeface="Consolas" panose="020B0609020204030204" pitchFamily="49" charset="0"/>
              </a:rPr>
              <a:t>;</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    }</a:t>
            </a:r>
          </a:p>
          <a:p>
            <a:pPr lvl="0" defTabSz="342886">
              <a:spcBef>
                <a:spcPct val="20000"/>
              </a:spcBef>
              <a:buClr>
                <a:srgbClr val="FFFFFF">
                  <a:lumMod val="65000"/>
                </a:srgbClr>
              </a:buClr>
            </a:pPr>
            <a:r>
              <a:rPr lang="en-US">
                <a:highlight>
                  <a:srgbClr val="FFFF00"/>
                </a:highlight>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342063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0AD69-CB7E-EC28-9E81-7A1E5C211C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BCA206-8A1B-3B86-68D1-29ECF8AE58D9}"/>
              </a:ext>
            </a:extLst>
          </p:cNvPr>
          <p:cNvSpPr>
            <a:spLocks noGrp="1"/>
          </p:cNvSpPr>
          <p:nvPr>
            <p:ph type="title"/>
          </p:nvPr>
        </p:nvSpPr>
        <p:spPr/>
        <p:txBody>
          <a:bodyPr/>
          <a:lstStyle/>
          <a:p>
            <a:r>
              <a:rPr lang="en-US"/>
              <a:t>return (2/2)</a:t>
            </a:r>
          </a:p>
        </p:txBody>
      </p:sp>
      <p:sp>
        <p:nvSpPr>
          <p:cNvPr id="3" name="Content Placeholder 2">
            <a:extLst>
              <a:ext uri="{FF2B5EF4-FFF2-40B4-BE49-F238E27FC236}">
                <a16:creationId xmlns:a16="http://schemas.microsoft.com/office/drawing/2014/main" id="{2CD01E4B-7BFC-4824-B371-4E6BDCB33914}"/>
              </a:ext>
            </a:extLst>
          </p:cNvPr>
          <p:cNvSpPr>
            <a:spLocks noGrp="1"/>
          </p:cNvSpPr>
          <p:nvPr>
            <p:ph sz="quarter" idx="10"/>
          </p:nvPr>
        </p:nvSpPr>
        <p:spPr/>
        <p:txBody>
          <a:bodyPr/>
          <a:lstStyle/>
          <a:p>
            <a:r>
              <a:rPr lang="en-US"/>
              <a:t>a function with a non-void </a:t>
            </a:r>
            <a:r>
              <a:rPr lang="en-US" b="1"/>
              <a:t>return type</a:t>
            </a:r>
            <a:r>
              <a:rPr lang="en-US"/>
              <a:t> must </a:t>
            </a:r>
            <a:r>
              <a:rPr lang="en-US" b="1"/>
              <a:t>return</a:t>
            </a:r>
            <a:r>
              <a:rPr lang="en-US"/>
              <a:t> a value of that type, regardless of the path taken through the function</a:t>
            </a:r>
            <a:endParaRPr lang="en-US">
              <a:latin typeface="+mj-lt"/>
            </a:endParaRPr>
          </a:p>
        </p:txBody>
      </p:sp>
      <p:sp>
        <p:nvSpPr>
          <p:cNvPr id="5" name="TextBox 4">
            <a:extLst>
              <a:ext uri="{FF2B5EF4-FFF2-40B4-BE49-F238E27FC236}">
                <a16:creationId xmlns:a16="http://schemas.microsoft.com/office/drawing/2014/main" id="{10DE97D7-AA24-7056-3E7F-38E6DD56C0E6}"/>
              </a:ext>
            </a:extLst>
          </p:cNvPr>
          <p:cNvSpPr txBox="1"/>
          <p:nvPr/>
        </p:nvSpPr>
        <p:spPr>
          <a:xfrm>
            <a:off x="457200" y="2334638"/>
            <a:ext cx="8229600" cy="1975926"/>
          </a:xfrm>
          <a:prstGeom prst="rect">
            <a:avLst/>
          </a:prstGeom>
          <a:solidFill>
            <a:schemeClr val="bg1"/>
          </a:solid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00FF"/>
                </a:solidFill>
                <a:latin typeface="Consolas" panose="020B0609020204030204" pitchFamily="49" charset="0"/>
                <a:cs typeface="Consolas" panose="020B0609020204030204" pitchFamily="49" charset="0"/>
              </a:rPr>
              <a:t>static</a:t>
            </a:r>
            <a:r>
              <a:rPr lang="en-US">
                <a:latin typeface="Consolas" panose="020B0609020204030204" pitchFamily="49" charset="0"/>
                <a:cs typeface="Consolas" panose="020B0609020204030204" pitchFamily="49" charset="0"/>
              </a:rPr>
              <a:t> </a:t>
            </a:r>
            <a:r>
              <a:rPr lang="en-US">
                <a:solidFill>
                  <a:srgbClr val="000080"/>
                </a:solidFill>
                <a:latin typeface="Consolas" panose="020B0609020204030204" pitchFamily="49" charset="0"/>
                <a:cs typeface="Consolas" panose="020B0609020204030204" pitchFamily="49" charset="0"/>
              </a:rPr>
              <a:t>boolean</a:t>
            </a:r>
            <a:r>
              <a:rPr lang="en-US">
                <a:latin typeface="Consolas" panose="020B0609020204030204" pitchFamily="49" charset="0"/>
                <a:cs typeface="Consolas" panose="020B0609020204030204" pitchFamily="49" charset="0"/>
              </a:rPr>
              <a:t> isEven(</a:t>
            </a:r>
            <a:r>
              <a:rPr lang="en-US">
                <a:solidFill>
                  <a:srgbClr val="0000FF"/>
                </a:solidFill>
                <a:latin typeface="Consolas" panose="020B0609020204030204" pitchFamily="49" charset="0"/>
                <a:cs typeface="Consolas" panose="020B0609020204030204" pitchFamily="49" charset="0"/>
              </a:rPr>
              <a:t>int</a:t>
            </a:r>
            <a:r>
              <a:rPr lang="en-US">
                <a:latin typeface="Consolas" panose="020B0609020204030204" pitchFamily="49" charset="0"/>
                <a:cs typeface="Consolas" panose="020B0609020204030204" pitchFamily="49" charset="0"/>
              </a:rPr>
              <a:t> n) {</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    </a:t>
            </a:r>
            <a:r>
              <a:rPr lang="en-US">
                <a:solidFill>
                  <a:srgbClr val="0000FF"/>
                </a:solidFill>
                <a:latin typeface="Consolas" panose="020B0609020204030204" pitchFamily="49" charset="0"/>
                <a:cs typeface="Consolas" panose="020B0609020204030204" pitchFamily="49" charset="0"/>
              </a:rPr>
              <a:t>if</a:t>
            </a:r>
            <a:r>
              <a:rPr lang="en-US">
                <a:latin typeface="Consolas" panose="020B0609020204030204" pitchFamily="49" charset="0"/>
                <a:cs typeface="Consolas" panose="020B0609020204030204" pitchFamily="49" charset="0"/>
              </a:rPr>
              <a:t> (n % 2  == 0) {</a:t>
            </a:r>
          </a:p>
          <a:p>
            <a:pPr lvl="0" defTabSz="342886">
              <a:spcBef>
                <a:spcPct val="20000"/>
              </a:spcBef>
              <a:buClr>
                <a:srgbClr val="FFFFFF">
                  <a:lumMod val="65000"/>
                </a:srgbClr>
              </a:buClr>
            </a:pPr>
            <a:r>
              <a:rPr lang="en-US">
                <a:solidFill>
                  <a:srgbClr val="0000FF"/>
                </a:solidFill>
                <a:latin typeface="Consolas" panose="020B0609020204030204" pitchFamily="49" charset="0"/>
                <a:cs typeface="Consolas" panose="020B0609020204030204" pitchFamily="49" charset="0"/>
              </a:rPr>
              <a:t>        return</a:t>
            </a:r>
            <a:r>
              <a:rPr lang="en-US">
                <a:latin typeface="Consolas" panose="020B0609020204030204" pitchFamily="49" charset="0"/>
                <a:cs typeface="Consolas" panose="020B0609020204030204" pitchFamily="49" charset="0"/>
              </a:rPr>
              <a:t> </a:t>
            </a:r>
            <a:r>
              <a:rPr lang="en-US">
                <a:solidFill>
                  <a:srgbClr val="0000FF"/>
                </a:solidFill>
                <a:latin typeface="Consolas" panose="020B0609020204030204" pitchFamily="49" charset="0"/>
                <a:cs typeface="Consolas" panose="020B0609020204030204" pitchFamily="49" charset="0"/>
              </a:rPr>
              <a:t>true</a:t>
            </a:r>
            <a:r>
              <a:rPr lang="en-US">
                <a:latin typeface="Consolas" panose="020B0609020204030204" pitchFamily="49" charset="0"/>
                <a:cs typeface="Consolas" panose="020B0609020204030204" pitchFamily="49" charset="0"/>
              </a:rPr>
              <a:t>;</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    }</a:t>
            </a:r>
            <a:br>
              <a:rPr lang="en-US">
                <a:latin typeface="Consolas" panose="020B0609020204030204" pitchFamily="49" charset="0"/>
                <a:cs typeface="Consolas" panose="020B0609020204030204" pitchFamily="49" charset="0"/>
              </a:rPr>
            </a:br>
            <a:r>
              <a:rPr lang="en-US">
                <a:solidFill>
                  <a:srgbClr val="0000FF"/>
                </a:solidFill>
                <a:latin typeface="Consolas" panose="020B0609020204030204" pitchFamily="49" charset="0"/>
                <a:cs typeface="Consolas" panose="020B0609020204030204" pitchFamily="49" charset="0"/>
              </a:rPr>
              <a:t>    return</a:t>
            </a:r>
            <a:r>
              <a:rPr lang="en-US">
                <a:latin typeface="Consolas" panose="020B0609020204030204" pitchFamily="49" charset="0"/>
                <a:cs typeface="Consolas" panose="020B0609020204030204" pitchFamily="49" charset="0"/>
              </a:rPr>
              <a:t> </a:t>
            </a:r>
            <a:r>
              <a:rPr lang="en-US">
                <a:solidFill>
                  <a:srgbClr val="0000FF"/>
                </a:solidFill>
                <a:latin typeface="Consolas" panose="020B0609020204030204" pitchFamily="49" charset="0"/>
                <a:cs typeface="Consolas" panose="020B0609020204030204" pitchFamily="49" charset="0"/>
              </a:rPr>
              <a:t>false</a:t>
            </a:r>
            <a:r>
              <a:rPr lang="en-US">
                <a:latin typeface="Consolas" panose="020B0609020204030204" pitchFamily="49" charset="0"/>
                <a:cs typeface="Consolas" panose="020B0609020204030204" pitchFamily="49" charset="0"/>
              </a:rPr>
              <a:t>;</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1799597833"/>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F3201-B11C-A43D-A7BB-5587F1B8CF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E2E2E7-C844-580A-F4F5-C21CEEA41796}"/>
              </a:ext>
            </a:extLst>
          </p:cNvPr>
          <p:cNvSpPr>
            <a:spLocks noGrp="1"/>
          </p:cNvSpPr>
          <p:nvPr>
            <p:ph type="title"/>
          </p:nvPr>
        </p:nvSpPr>
        <p:spPr/>
        <p:txBody>
          <a:bodyPr/>
          <a:lstStyle/>
          <a:p>
            <a:r>
              <a:rPr lang="en-US"/>
              <a:t>return (3/2)</a:t>
            </a:r>
          </a:p>
        </p:txBody>
      </p:sp>
      <p:sp>
        <p:nvSpPr>
          <p:cNvPr id="3" name="Content Placeholder 2">
            <a:extLst>
              <a:ext uri="{FF2B5EF4-FFF2-40B4-BE49-F238E27FC236}">
                <a16:creationId xmlns:a16="http://schemas.microsoft.com/office/drawing/2014/main" id="{545AFFF1-D389-85B0-B9D1-8BA4326DA6C9}"/>
              </a:ext>
            </a:extLst>
          </p:cNvPr>
          <p:cNvSpPr>
            <a:spLocks noGrp="1"/>
          </p:cNvSpPr>
          <p:nvPr>
            <p:ph sz="quarter" idx="10"/>
          </p:nvPr>
        </p:nvSpPr>
        <p:spPr/>
        <p:txBody>
          <a:bodyPr/>
          <a:lstStyle/>
          <a:p>
            <a:r>
              <a:rPr lang="en-US"/>
              <a:t>a function with a non-void </a:t>
            </a:r>
            <a:r>
              <a:rPr lang="en-US" b="1"/>
              <a:t>return type</a:t>
            </a:r>
            <a:r>
              <a:rPr lang="en-US"/>
              <a:t> must </a:t>
            </a:r>
            <a:r>
              <a:rPr lang="en-US" b="1"/>
              <a:t>return</a:t>
            </a:r>
            <a:r>
              <a:rPr lang="en-US"/>
              <a:t> a value of that type, regardless of the path taken through the function</a:t>
            </a:r>
            <a:endParaRPr lang="en-US">
              <a:latin typeface="+mj-lt"/>
            </a:endParaRPr>
          </a:p>
        </p:txBody>
      </p:sp>
      <p:sp>
        <p:nvSpPr>
          <p:cNvPr id="5" name="TextBox 4">
            <a:extLst>
              <a:ext uri="{FF2B5EF4-FFF2-40B4-BE49-F238E27FC236}">
                <a16:creationId xmlns:a16="http://schemas.microsoft.com/office/drawing/2014/main" id="{5173A75A-DA69-3110-D639-9930DEAC0C6D}"/>
              </a:ext>
            </a:extLst>
          </p:cNvPr>
          <p:cNvSpPr txBox="1"/>
          <p:nvPr/>
        </p:nvSpPr>
        <p:spPr>
          <a:xfrm>
            <a:off x="457200" y="2334638"/>
            <a:ext cx="8229600" cy="1034129"/>
          </a:xfrm>
          <a:prstGeom prst="rect">
            <a:avLst/>
          </a:prstGeom>
          <a:solidFill>
            <a:schemeClr val="bg1"/>
          </a:solid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00FF"/>
                </a:solidFill>
                <a:latin typeface="Consolas" panose="020B0609020204030204" pitchFamily="49" charset="0"/>
                <a:cs typeface="Consolas" panose="020B0609020204030204" pitchFamily="49" charset="0"/>
              </a:rPr>
              <a:t>static</a:t>
            </a:r>
            <a:r>
              <a:rPr lang="en-US">
                <a:latin typeface="Consolas" panose="020B0609020204030204" pitchFamily="49" charset="0"/>
                <a:cs typeface="Consolas" panose="020B0609020204030204" pitchFamily="49" charset="0"/>
              </a:rPr>
              <a:t> </a:t>
            </a:r>
            <a:r>
              <a:rPr lang="en-US">
                <a:solidFill>
                  <a:srgbClr val="000080"/>
                </a:solidFill>
                <a:latin typeface="Consolas" panose="020B0609020204030204" pitchFamily="49" charset="0"/>
                <a:cs typeface="Consolas" panose="020B0609020204030204" pitchFamily="49" charset="0"/>
              </a:rPr>
              <a:t>boolean</a:t>
            </a:r>
            <a:r>
              <a:rPr lang="en-US">
                <a:latin typeface="Consolas" panose="020B0609020204030204" pitchFamily="49" charset="0"/>
                <a:cs typeface="Consolas" panose="020B0609020204030204" pitchFamily="49" charset="0"/>
              </a:rPr>
              <a:t> isEven(</a:t>
            </a:r>
            <a:r>
              <a:rPr lang="en-US">
                <a:solidFill>
                  <a:srgbClr val="0000FF"/>
                </a:solidFill>
                <a:latin typeface="Consolas" panose="020B0609020204030204" pitchFamily="49" charset="0"/>
                <a:cs typeface="Consolas" panose="020B0609020204030204" pitchFamily="49" charset="0"/>
              </a:rPr>
              <a:t>int</a:t>
            </a:r>
            <a:r>
              <a:rPr lang="en-US">
                <a:latin typeface="Consolas" panose="020B0609020204030204" pitchFamily="49" charset="0"/>
                <a:cs typeface="Consolas" panose="020B0609020204030204" pitchFamily="49" charset="0"/>
              </a:rPr>
              <a:t> n) {</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    </a:t>
            </a:r>
            <a:r>
              <a:rPr lang="en-US">
                <a:solidFill>
                  <a:srgbClr val="0000FF"/>
                </a:solidFill>
                <a:latin typeface="Consolas" panose="020B0609020204030204" pitchFamily="49" charset="0"/>
                <a:cs typeface="Consolas" panose="020B0609020204030204" pitchFamily="49" charset="0"/>
              </a:rPr>
              <a:t>return </a:t>
            </a:r>
            <a:r>
              <a:rPr lang="en-US">
                <a:latin typeface="Consolas" panose="020B0609020204030204" pitchFamily="49" charset="0"/>
                <a:cs typeface="Consolas" panose="020B0609020204030204" pitchFamily="49" charset="0"/>
              </a:rPr>
              <a:t>(n % 2  == 0);</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547837185"/>
      </p:ext>
    </p:extLst>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E80F4-6598-9FE3-378D-C2F371D99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C74A42-9FE8-1FD2-55FC-C4F6964EDEB1}"/>
              </a:ext>
            </a:extLst>
          </p:cNvPr>
          <p:cNvSpPr>
            <a:spLocks noGrp="1"/>
          </p:cNvSpPr>
          <p:nvPr>
            <p:ph type="title"/>
          </p:nvPr>
        </p:nvSpPr>
        <p:spPr/>
        <p:txBody>
          <a:bodyPr/>
          <a:lstStyle/>
          <a:p>
            <a:r>
              <a:rPr lang="en-US"/>
              <a:t>return (3/2)</a:t>
            </a:r>
          </a:p>
        </p:txBody>
      </p:sp>
      <p:sp>
        <p:nvSpPr>
          <p:cNvPr id="3" name="Content Placeholder 2">
            <a:extLst>
              <a:ext uri="{FF2B5EF4-FFF2-40B4-BE49-F238E27FC236}">
                <a16:creationId xmlns:a16="http://schemas.microsoft.com/office/drawing/2014/main" id="{CC4E5010-34F2-DA36-A3E1-33DBA66BC2DC}"/>
              </a:ext>
            </a:extLst>
          </p:cNvPr>
          <p:cNvSpPr>
            <a:spLocks noGrp="1"/>
          </p:cNvSpPr>
          <p:nvPr>
            <p:ph sz="quarter" idx="10"/>
          </p:nvPr>
        </p:nvSpPr>
        <p:spPr/>
        <p:txBody>
          <a:bodyPr/>
          <a:lstStyle/>
          <a:p>
            <a:r>
              <a:rPr lang="en-US"/>
              <a:t>a function with a non-void </a:t>
            </a:r>
            <a:r>
              <a:rPr lang="en-US" b="1"/>
              <a:t>return type</a:t>
            </a:r>
            <a:r>
              <a:rPr lang="en-US"/>
              <a:t> must </a:t>
            </a:r>
            <a:r>
              <a:rPr lang="en-US" b="1"/>
              <a:t>return</a:t>
            </a:r>
            <a:r>
              <a:rPr lang="en-US"/>
              <a:t> a value of that type, regardless of the path taken through the function</a:t>
            </a:r>
            <a:endParaRPr lang="en-US">
              <a:latin typeface="+mj-lt"/>
            </a:endParaRPr>
          </a:p>
        </p:txBody>
      </p:sp>
    </p:spTree>
    <p:extLst>
      <p:ext uri="{BB962C8B-B14F-4D97-AF65-F5344CB8AC3E}">
        <p14:creationId xmlns:p14="http://schemas.microsoft.com/office/powerpoint/2010/main" val="1092870643"/>
      </p:ext>
    </p:extLst>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EF27027-3EF4-DD85-9B15-97BD8553D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6D39ED-3437-C42F-D06E-B618A53A7C3B}"/>
              </a:ext>
            </a:extLst>
          </p:cNvPr>
          <p:cNvSpPr>
            <a:spLocks noGrp="1"/>
          </p:cNvSpPr>
          <p:nvPr>
            <p:ph type="title"/>
          </p:nvPr>
        </p:nvSpPr>
        <p:spPr/>
        <p:txBody>
          <a:bodyPr/>
          <a:lstStyle/>
          <a:p>
            <a:r>
              <a:rPr lang="en-US"/>
              <a:t>return (2/2)</a:t>
            </a:r>
          </a:p>
        </p:txBody>
      </p:sp>
      <p:sp>
        <p:nvSpPr>
          <p:cNvPr id="3" name="Content Placeholder 2">
            <a:extLst>
              <a:ext uri="{FF2B5EF4-FFF2-40B4-BE49-F238E27FC236}">
                <a16:creationId xmlns:a16="http://schemas.microsoft.com/office/drawing/2014/main" id="{06271321-AD04-06DB-DADC-BF4B83E8D13A}"/>
              </a:ext>
            </a:extLst>
          </p:cNvPr>
          <p:cNvSpPr>
            <a:spLocks noGrp="1"/>
          </p:cNvSpPr>
          <p:nvPr>
            <p:ph sz="quarter" idx="10"/>
          </p:nvPr>
        </p:nvSpPr>
        <p:spPr/>
        <p:txBody>
          <a:bodyPr/>
          <a:lstStyle/>
          <a:p>
            <a:r>
              <a:rPr lang="en-US"/>
              <a:t>a function with a non-void </a:t>
            </a:r>
            <a:r>
              <a:rPr lang="en-US" b="1"/>
              <a:t>return type</a:t>
            </a:r>
            <a:r>
              <a:rPr lang="en-US"/>
              <a:t> must </a:t>
            </a:r>
            <a:r>
              <a:rPr lang="en-US" b="1"/>
              <a:t>return</a:t>
            </a:r>
            <a:r>
              <a:rPr lang="en-US"/>
              <a:t> a value of that type, regardless of the path taken through the function</a:t>
            </a:r>
            <a:endParaRPr lang="en-US">
              <a:latin typeface="+mj-lt"/>
            </a:endParaRPr>
          </a:p>
        </p:txBody>
      </p:sp>
      <p:sp>
        <p:nvSpPr>
          <p:cNvPr id="4" name="TextBox 3">
            <a:extLst>
              <a:ext uri="{FF2B5EF4-FFF2-40B4-BE49-F238E27FC236}">
                <a16:creationId xmlns:a16="http://schemas.microsoft.com/office/drawing/2014/main" id="{C499C1B2-517E-4B84-54AF-896DD07DE19E}"/>
              </a:ext>
            </a:extLst>
          </p:cNvPr>
          <p:cNvSpPr txBox="1"/>
          <p:nvPr/>
        </p:nvSpPr>
        <p:spPr>
          <a:xfrm>
            <a:off x="457200" y="1675131"/>
            <a:ext cx="8229600" cy="2696123"/>
          </a:xfrm>
          <a:prstGeom prst="rect">
            <a:avLst/>
          </a:prstGeom>
          <a:solidFill>
            <a:schemeClr val="bg1"/>
          </a:solidFill>
          <a:ln>
            <a:solidFill>
              <a:schemeClr val="tx1"/>
            </a:solidFill>
          </a:ln>
        </p:spPr>
        <p:txBody>
          <a:bodyPr wrap="square" rtlCol="0">
            <a:spAutoFit/>
          </a:bodyPr>
          <a:lstStyle/>
          <a:p>
            <a:pPr lvl="0" defTabSz="342886">
              <a:spcBef>
                <a:spcPct val="20000"/>
              </a:spcBef>
              <a:buClr>
                <a:srgbClr val="FFFFFF">
                  <a:lumMod val="65000"/>
                </a:srgbClr>
              </a:buClr>
            </a:pPr>
            <a:r>
              <a:rPr lang="en-US" b="1">
                <a:highlight>
                  <a:srgbClr val="FFFF00"/>
                </a:highlight>
                <a:latin typeface="Consolas" panose="020B0609020204030204" pitchFamily="49" charset="0"/>
                <a:cs typeface="Consolas" panose="020B0609020204030204" pitchFamily="49" charset="0"/>
              </a:rPr>
              <a:t>Error:</a:t>
            </a:r>
            <a:r>
              <a:rPr lang="en-US">
                <a:highlight>
                  <a:srgbClr val="FFFF00"/>
                </a:highlight>
                <a:latin typeface="Consolas" panose="020B0609020204030204" pitchFamily="49" charset="0"/>
                <a:cs typeface="Consolas" panose="020B0609020204030204" pitchFamily="49" charset="0"/>
              </a:rPr>
              <a:t> missing return statement</a:t>
            </a:r>
          </a:p>
          <a:p>
            <a:pPr lvl="0" defTabSz="342886">
              <a:spcBef>
                <a:spcPct val="20000"/>
              </a:spcBef>
              <a:buClr>
                <a:srgbClr val="FFFFFF">
                  <a:lumMod val="65000"/>
                </a:srgbClr>
              </a:buClr>
            </a:pPr>
            <a:endParaRPr lang="en-US">
              <a:latin typeface="Consolas" panose="020B0609020204030204" pitchFamily="49" charset="0"/>
              <a:cs typeface="Consolas" panose="020B0609020204030204" pitchFamily="49" charset="0"/>
            </a:endParaRPr>
          </a:p>
          <a:p>
            <a:pPr lvl="0" defTabSz="342886">
              <a:spcBef>
                <a:spcPct val="20000"/>
              </a:spcBef>
              <a:buClr>
                <a:srgbClr val="FFFFFF">
                  <a:lumMod val="65000"/>
                </a:srgbClr>
              </a:buClr>
            </a:pPr>
            <a:r>
              <a:rPr lang="en-US">
                <a:solidFill>
                  <a:srgbClr val="0000FF"/>
                </a:solidFill>
                <a:latin typeface="Consolas" panose="020B0609020204030204" pitchFamily="49" charset="0"/>
                <a:cs typeface="Consolas" panose="020B0609020204030204" pitchFamily="49" charset="0"/>
              </a:rPr>
              <a:t>static</a:t>
            </a:r>
            <a:r>
              <a:rPr lang="en-US">
                <a:latin typeface="Consolas" panose="020B0609020204030204" pitchFamily="49" charset="0"/>
                <a:cs typeface="Consolas" panose="020B0609020204030204" pitchFamily="49" charset="0"/>
              </a:rPr>
              <a:t> </a:t>
            </a:r>
            <a:r>
              <a:rPr lang="en-US">
                <a:solidFill>
                  <a:srgbClr val="000080"/>
                </a:solidFill>
                <a:latin typeface="Consolas" panose="020B0609020204030204" pitchFamily="49" charset="0"/>
                <a:cs typeface="Consolas" panose="020B0609020204030204" pitchFamily="49" charset="0"/>
              </a:rPr>
              <a:t>boolean</a:t>
            </a:r>
            <a:r>
              <a:rPr lang="en-US">
                <a:latin typeface="Consolas" panose="020B0609020204030204" pitchFamily="49" charset="0"/>
                <a:cs typeface="Consolas" panose="020B0609020204030204" pitchFamily="49" charset="0"/>
              </a:rPr>
              <a:t> isPrime(</a:t>
            </a:r>
            <a:r>
              <a:rPr lang="en-US">
                <a:solidFill>
                  <a:srgbClr val="0000FF"/>
                </a:solidFill>
                <a:latin typeface="Consolas" panose="020B0609020204030204" pitchFamily="49" charset="0"/>
                <a:cs typeface="Consolas" panose="020B0609020204030204" pitchFamily="49" charset="0"/>
              </a:rPr>
              <a:t>int</a:t>
            </a:r>
            <a:r>
              <a:rPr lang="en-US">
                <a:latin typeface="Consolas" panose="020B0609020204030204" pitchFamily="49" charset="0"/>
                <a:cs typeface="Consolas" panose="020B0609020204030204" pitchFamily="49" charset="0"/>
              </a:rPr>
              <a:t> n) {</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    </a:t>
            </a:r>
            <a:r>
              <a:rPr lang="en-US">
                <a:solidFill>
                  <a:srgbClr val="0000FF"/>
                </a:solidFill>
                <a:latin typeface="Consolas" panose="020B0609020204030204" pitchFamily="49" charset="0"/>
                <a:cs typeface="Consolas" panose="020B0609020204030204" pitchFamily="49" charset="0"/>
              </a:rPr>
              <a:t>if</a:t>
            </a:r>
            <a:r>
              <a:rPr lang="en-US">
                <a:latin typeface="Consolas" panose="020B0609020204030204" pitchFamily="49" charset="0"/>
                <a:cs typeface="Consolas" panose="020B0609020204030204" pitchFamily="49" charset="0"/>
              </a:rPr>
              <a:t> (n &lt;= 1) { </a:t>
            </a:r>
            <a:r>
              <a:rPr lang="en-US">
                <a:solidFill>
                  <a:srgbClr val="0000FF"/>
                </a:solidFill>
                <a:latin typeface="Consolas" panose="020B0609020204030204" pitchFamily="49" charset="0"/>
                <a:cs typeface="Consolas" panose="020B0609020204030204" pitchFamily="49" charset="0"/>
              </a:rPr>
              <a:t>return</a:t>
            </a:r>
            <a:r>
              <a:rPr lang="en-US">
                <a:latin typeface="Consolas" panose="020B0609020204030204" pitchFamily="49" charset="0"/>
                <a:cs typeface="Consolas" panose="020B0609020204030204" pitchFamily="49" charset="0"/>
              </a:rPr>
              <a:t> </a:t>
            </a:r>
            <a:r>
              <a:rPr lang="en-US">
                <a:solidFill>
                  <a:srgbClr val="0000FF"/>
                </a:solidFill>
                <a:latin typeface="Consolas" panose="020B0609020204030204" pitchFamily="49" charset="0"/>
                <a:cs typeface="Consolas" panose="020B0609020204030204" pitchFamily="49" charset="0"/>
              </a:rPr>
              <a:t>false</a:t>
            </a:r>
            <a:r>
              <a:rPr lang="en-US">
                <a:latin typeface="Consolas" panose="020B0609020204030204" pitchFamily="49" charset="0"/>
                <a:cs typeface="Consolas" panose="020B0609020204030204" pitchFamily="49" charset="0"/>
              </a:rPr>
              <a:t>; }</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    </a:t>
            </a:r>
            <a:r>
              <a:rPr lang="en-US">
                <a:solidFill>
                  <a:srgbClr val="0000FF"/>
                </a:solidFill>
                <a:latin typeface="Consolas" panose="020B0609020204030204" pitchFamily="49" charset="0"/>
                <a:cs typeface="Consolas" panose="020B0609020204030204" pitchFamily="49" charset="0"/>
              </a:rPr>
              <a:t>for</a:t>
            </a:r>
            <a:r>
              <a:rPr lang="en-US">
                <a:latin typeface="Consolas" panose="020B0609020204030204" pitchFamily="49" charset="0"/>
                <a:cs typeface="Consolas" panose="020B0609020204030204" pitchFamily="49" charset="0"/>
              </a:rPr>
              <a:t> (</a:t>
            </a:r>
            <a:r>
              <a:rPr lang="en-US">
                <a:solidFill>
                  <a:srgbClr val="0000FF"/>
                </a:solidFill>
                <a:latin typeface="Consolas" panose="020B0609020204030204" pitchFamily="49" charset="0"/>
                <a:cs typeface="Consolas" panose="020B0609020204030204" pitchFamily="49" charset="0"/>
              </a:rPr>
              <a:t>int</a:t>
            </a:r>
            <a:r>
              <a:rPr lang="en-US">
                <a:latin typeface="Consolas" panose="020B0609020204030204" pitchFamily="49" charset="0"/>
                <a:cs typeface="Consolas" panose="020B0609020204030204" pitchFamily="49" charset="0"/>
              </a:rPr>
              <a:t> i = 2; i &lt;= </a:t>
            </a:r>
            <a:r>
              <a:rPr lang="en-US">
                <a:solidFill>
                  <a:srgbClr val="000080"/>
                </a:solidFill>
                <a:latin typeface="Consolas" panose="020B0609020204030204" pitchFamily="49" charset="0"/>
                <a:cs typeface="Consolas" panose="020B0609020204030204" pitchFamily="49" charset="0"/>
              </a:rPr>
              <a:t>SQRT</a:t>
            </a:r>
            <a:r>
              <a:rPr lang="en-US">
                <a:latin typeface="Consolas" panose="020B0609020204030204" pitchFamily="49" charset="0"/>
                <a:cs typeface="Consolas" panose="020B0609020204030204" pitchFamily="49" charset="0"/>
              </a:rPr>
              <a:t>(n); ++i) {</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        </a:t>
            </a:r>
            <a:r>
              <a:rPr lang="en-US">
                <a:solidFill>
                  <a:srgbClr val="0000FF"/>
                </a:solidFill>
                <a:latin typeface="Consolas" panose="020B0609020204030204" pitchFamily="49" charset="0"/>
                <a:cs typeface="Consolas" panose="020B0609020204030204" pitchFamily="49" charset="0"/>
              </a:rPr>
              <a:t>if</a:t>
            </a:r>
            <a:r>
              <a:rPr lang="en-US">
                <a:latin typeface="Consolas" panose="020B0609020204030204" pitchFamily="49" charset="0"/>
                <a:cs typeface="Consolas" panose="020B0609020204030204" pitchFamily="49" charset="0"/>
              </a:rPr>
              <a:t> (n % i == 0) { </a:t>
            </a:r>
            <a:r>
              <a:rPr lang="en-US">
                <a:solidFill>
                  <a:srgbClr val="0000FF"/>
                </a:solidFill>
                <a:latin typeface="Consolas" panose="020B0609020204030204" pitchFamily="49" charset="0"/>
                <a:cs typeface="Consolas" panose="020B0609020204030204" pitchFamily="49" charset="0"/>
              </a:rPr>
              <a:t>return</a:t>
            </a:r>
            <a:r>
              <a:rPr lang="en-US">
                <a:latin typeface="Consolas" panose="020B0609020204030204" pitchFamily="49" charset="0"/>
                <a:cs typeface="Consolas" panose="020B0609020204030204" pitchFamily="49" charset="0"/>
              </a:rPr>
              <a:t> </a:t>
            </a:r>
            <a:r>
              <a:rPr lang="en-US">
                <a:solidFill>
                  <a:srgbClr val="0000FF"/>
                </a:solidFill>
                <a:latin typeface="Consolas" panose="020B0609020204030204" pitchFamily="49" charset="0"/>
                <a:cs typeface="Consolas" panose="020B0609020204030204" pitchFamily="49" charset="0"/>
              </a:rPr>
              <a:t>false</a:t>
            </a:r>
            <a:r>
              <a:rPr lang="en-US">
                <a:latin typeface="Consolas" panose="020B0609020204030204" pitchFamily="49" charset="0"/>
                <a:cs typeface="Consolas" panose="020B0609020204030204" pitchFamily="49" charset="0"/>
              </a:rPr>
              <a:t>; }</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    }</a:t>
            </a:r>
          </a:p>
          <a:p>
            <a:pPr lvl="0" defTabSz="342886">
              <a:spcBef>
                <a:spcPct val="20000"/>
              </a:spcBef>
              <a:buClr>
                <a:srgbClr val="FFFFFF">
                  <a:lumMod val="65000"/>
                </a:srgbClr>
              </a:buClr>
            </a:pPr>
            <a:r>
              <a:rPr lang="en-US">
                <a:highlight>
                  <a:srgbClr val="FFFF00"/>
                </a:highlight>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2458981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6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9A28E55-461E-CEE3-8EA8-7006EE425E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389EB4-3856-F8C9-3FF4-3E43A3ED1845}"/>
              </a:ext>
            </a:extLst>
          </p:cNvPr>
          <p:cNvSpPr>
            <a:spLocks noGrp="1"/>
          </p:cNvSpPr>
          <p:nvPr>
            <p:ph type="title"/>
          </p:nvPr>
        </p:nvSpPr>
        <p:spPr/>
        <p:txBody>
          <a:bodyPr/>
          <a:lstStyle/>
          <a:p>
            <a:r>
              <a:rPr lang="en-US"/>
              <a:t>return (2/2)</a:t>
            </a:r>
          </a:p>
        </p:txBody>
      </p:sp>
      <p:sp>
        <p:nvSpPr>
          <p:cNvPr id="3" name="Content Placeholder 2">
            <a:extLst>
              <a:ext uri="{FF2B5EF4-FFF2-40B4-BE49-F238E27FC236}">
                <a16:creationId xmlns:a16="http://schemas.microsoft.com/office/drawing/2014/main" id="{A0266B41-410C-3BF5-D122-337CD3CD403B}"/>
              </a:ext>
            </a:extLst>
          </p:cNvPr>
          <p:cNvSpPr>
            <a:spLocks noGrp="1"/>
          </p:cNvSpPr>
          <p:nvPr>
            <p:ph sz="quarter" idx="10"/>
          </p:nvPr>
        </p:nvSpPr>
        <p:spPr/>
        <p:txBody>
          <a:bodyPr/>
          <a:lstStyle/>
          <a:p>
            <a:r>
              <a:rPr lang="en-US"/>
              <a:t>a function with a non-void </a:t>
            </a:r>
            <a:r>
              <a:rPr lang="en-US" b="1"/>
              <a:t>return type</a:t>
            </a:r>
            <a:r>
              <a:rPr lang="en-US"/>
              <a:t> must </a:t>
            </a:r>
            <a:r>
              <a:rPr lang="en-US" b="1"/>
              <a:t>return</a:t>
            </a:r>
            <a:r>
              <a:rPr lang="en-US"/>
              <a:t> a value of that type, regardless of the path taken through the function</a:t>
            </a:r>
            <a:endParaRPr lang="en-US">
              <a:latin typeface="+mj-lt"/>
            </a:endParaRPr>
          </a:p>
        </p:txBody>
      </p:sp>
      <p:sp>
        <p:nvSpPr>
          <p:cNvPr id="5" name="TextBox 4">
            <a:extLst>
              <a:ext uri="{FF2B5EF4-FFF2-40B4-BE49-F238E27FC236}">
                <a16:creationId xmlns:a16="http://schemas.microsoft.com/office/drawing/2014/main" id="{9546C4F3-E182-5031-0278-267F1D464887}"/>
              </a:ext>
            </a:extLst>
          </p:cNvPr>
          <p:cNvSpPr txBox="1"/>
          <p:nvPr/>
        </p:nvSpPr>
        <p:spPr>
          <a:xfrm>
            <a:off x="457200" y="2334638"/>
            <a:ext cx="8229600" cy="2363724"/>
          </a:xfrm>
          <a:prstGeom prst="rect">
            <a:avLst/>
          </a:prstGeom>
          <a:solidFill>
            <a:schemeClr val="bg1"/>
          </a:solid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00FF"/>
                </a:solidFill>
                <a:latin typeface="Consolas" panose="020B0609020204030204" pitchFamily="49" charset="0"/>
                <a:cs typeface="Consolas" panose="020B0609020204030204" pitchFamily="49" charset="0"/>
              </a:rPr>
              <a:t>static</a:t>
            </a:r>
            <a:r>
              <a:rPr lang="en-US">
                <a:latin typeface="Consolas" panose="020B0609020204030204" pitchFamily="49" charset="0"/>
                <a:cs typeface="Consolas" panose="020B0609020204030204" pitchFamily="49" charset="0"/>
              </a:rPr>
              <a:t> </a:t>
            </a:r>
            <a:r>
              <a:rPr lang="en-US">
                <a:solidFill>
                  <a:srgbClr val="000080"/>
                </a:solidFill>
                <a:latin typeface="Consolas" panose="020B0609020204030204" pitchFamily="49" charset="0"/>
                <a:cs typeface="Consolas" panose="020B0609020204030204" pitchFamily="49" charset="0"/>
              </a:rPr>
              <a:t>boolean</a:t>
            </a:r>
            <a:r>
              <a:rPr lang="en-US">
                <a:latin typeface="Consolas" panose="020B0609020204030204" pitchFamily="49" charset="0"/>
                <a:cs typeface="Consolas" panose="020B0609020204030204" pitchFamily="49" charset="0"/>
              </a:rPr>
              <a:t> isPrime(</a:t>
            </a:r>
            <a:r>
              <a:rPr lang="en-US">
                <a:solidFill>
                  <a:srgbClr val="0000FF"/>
                </a:solidFill>
                <a:latin typeface="Consolas" panose="020B0609020204030204" pitchFamily="49" charset="0"/>
                <a:cs typeface="Consolas" panose="020B0609020204030204" pitchFamily="49" charset="0"/>
              </a:rPr>
              <a:t>int</a:t>
            </a:r>
            <a:r>
              <a:rPr lang="en-US">
                <a:latin typeface="Consolas" panose="020B0609020204030204" pitchFamily="49" charset="0"/>
                <a:cs typeface="Consolas" panose="020B0609020204030204" pitchFamily="49" charset="0"/>
              </a:rPr>
              <a:t> n) {</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    </a:t>
            </a:r>
            <a:r>
              <a:rPr lang="en-US">
                <a:solidFill>
                  <a:srgbClr val="0000FF"/>
                </a:solidFill>
                <a:latin typeface="Consolas" panose="020B0609020204030204" pitchFamily="49" charset="0"/>
                <a:cs typeface="Consolas" panose="020B0609020204030204" pitchFamily="49" charset="0"/>
              </a:rPr>
              <a:t>if</a:t>
            </a:r>
            <a:r>
              <a:rPr lang="en-US">
                <a:latin typeface="Consolas" panose="020B0609020204030204" pitchFamily="49" charset="0"/>
                <a:cs typeface="Consolas" panose="020B0609020204030204" pitchFamily="49" charset="0"/>
              </a:rPr>
              <a:t> (n &lt;= 1) { </a:t>
            </a:r>
            <a:r>
              <a:rPr lang="en-US">
                <a:solidFill>
                  <a:srgbClr val="0000FF"/>
                </a:solidFill>
                <a:latin typeface="Consolas" panose="020B0609020204030204" pitchFamily="49" charset="0"/>
                <a:cs typeface="Consolas" panose="020B0609020204030204" pitchFamily="49" charset="0"/>
              </a:rPr>
              <a:t>return</a:t>
            </a:r>
            <a:r>
              <a:rPr lang="en-US">
                <a:latin typeface="Consolas" panose="020B0609020204030204" pitchFamily="49" charset="0"/>
                <a:cs typeface="Consolas" panose="020B0609020204030204" pitchFamily="49" charset="0"/>
              </a:rPr>
              <a:t> </a:t>
            </a:r>
            <a:r>
              <a:rPr lang="en-US">
                <a:solidFill>
                  <a:srgbClr val="0000FF"/>
                </a:solidFill>
                <a:latin typeface="Consolas" panose="020B0609020204030204" pitchFamily="49" charset="0"/>
                <a:cs typeface="Consolas" panose="020B0609020204030204" pitchFamily="49" charset="0"/>
              </a:rPr>
              <a:t>false</a:t>
            </a:r>
            <a:r>
              <a:rPr lang="en-US">
                <a:latin typeface="Consolas" panose="020B0609020204030204" pitchFamily="49" charset="0"/>
                <a:cs typeface="Consolas" panose="020B0609020204030204" pitchFamily="49" charset="0"/>
              </a:rPr>
              <a:t>; }</a:t>
            </a:r>
          </a:p>
          <a:p>
            <a:pPr lvl="0" defTabSz="342886">
              <a:spcBef>
                <a:spcPct val="20000"/>
              </a:spcBef>
              <a:buClr>
                <a:srgbClr val="FFFFFF">
                  <a:lumMod val="65000"/>
                </a:srgbClr>
              </a:buClr>
              <a:tabLst>
                <a:tab pos="1143000" algn="l"/>
              </a:tabLst>
            </a:pPr>
            <a:r>
              <a:rPr lang="en-US">
                <a:latin typeface="Consolas" panose="020B0609020204030204" pitchFamily="49" charset="0"/>
                <a:cs typeface="Consolas" panose="020B0609020204030204" pitchFamily="49" charset="0"/>
              </a:rPr>
              <a:t>    </a:t>
            </a:r>
            <a:r>
              <a:rPr lang="en-US">
                <a:solidFill>
                  <a:srgbClr val="0000FF"/>
                </a:solidFill>
                <a:latin typeface="Consolas" panose="020B0609020204030204" pitchFamily="49" charset="0"/>
                <a:cs typeface="Consolas" panose="020B0609020204030204" pitchFamily="49" charset="0"/>
              </a:rPr>
              <a:t>for</a:t>
            </a:r>
            <a:r>
              <a:rPr lang="en-US">
                <a:latin typeface="Consolas" panose="020B0609020204030204" pitchFamily="49" charset="0"/>
                <a:cs typeface="Consolas" panose="020B0609020204030204" pitchFamily="49" charset="0"/>
              </a:rPr>
              <a:t> (</a:t>
            </a:r>
            <a:r>
              <a:rPr lang="en-US">
                <a:solidFill>
                  <a:srgbClr val="0000FF"/>
                </a:solidFill>
                <a:latin typeface="Consolas" panose="020B0609020204030204" pitchFamily="49" charset="0"/>
                <a:cs typeface="Consolas" panose="020B0609020204030204" pitchFamily="49" charset="0"/>
              </a:rPr>
              <a:t>int</a:t>
            </a:r>
            <a:r>
              <a:rPr lang="en-US">
                <a:latin typeface="Consolas" panose="020B0609020204030204" pitchFamily="49" charset="0"/>
                <a:cs typeface="Consolas" panose="020B0609020204030204" pitchFamily="49" charset="0"/>
              </a:rPr>
              <a:t> i = 2; i &lt;= </a:t>
            </a:r>
            <a:r>
              <a:rPr lang="en-US">
                <a:solidFill>
                  <a:srgbClr val="000080"/>
                </a:solidFill>
                <a:latin typeface="Consolas" panose="020B0609020204030204" pitchFamily="49" charset="0"/>
                <a:cs typeface="Consolas" panose="020B0609020204030204" pitchFamily="49" charset="0"/>
              </a:rPr>
              <a:t>SQRT</a:t>
            </a:r>
            <a:r>
              <a:rPr lang="en-US">
                <a:latin typeface="Consolas" panose="020B0609020204030204" pitchFamily="49" charset="0"/>
                <a:cs typeface="Consolas" panose="020B0609020204030204" pitchFamily="49" charset="0"/>
              </a:rPr>
              <a:t>(n); ++i) {</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        </a:t>
            </a:r>
            <a:r>
              <a:rPr lang="en-US">
                <a:solidFill>
                  <a:srgbClr val="0000FF"/>
                </a:solidFill>
                <a:latin typeface="Consolas" panose="020B0609020204030204" pitchFamily="49" charset="0"/>
                <a:cs typeface="Consolas" panose="020B0609020204030204" pitchFamily="49" charset="0"/>
              </a:rPr>
              <a:t>if</a:t>
            </a:r>
            <a:r>
              <a:rPr lang="en-US">
                <a:latin typeface="Consolas" panose="020B0609020204030204" pitchFamily="49" charset="0"/>
                <a:cs typeface="Consolas" panose="020B0609020204030204" pitchFamily="49" charset="0"/>
              </a:rPr>
              <a:t> (n % i == 0) { </a:t>
            </a:r>
            <a:r>
              <a:rPr lang="en-US">
                <a:solidFill>
                  <a:srgbClr val="0000FF"/>
                </a:solidFill>
                <a:latin typeface="Consolas" panose="020B0609020204030204" pitchFamily="49" charset="0"/>
                <a:cs typeface="Consolas" panose="020B0609020204030204" pitchFamily="49" charset="0"/>
              </a:rPr>
              <a:t>return</a:t>
            </a:r>
            <a:r>
              <a:rPr lang="en-US">
                <a:latin typeface="Consolas" panose="020B0609020204030204" pitchFamily="49" charset="0"/>
                <a:cs typeface="Consolas" panose="020B0609020204030204" pitchFamily="49" charset="0"/>
              </a:rPr>
              <a:t> </a:t>
            </a:r>
            <a:r>
              <a:rPr lang="en-US">
                <a:solidFill>
                  <a:srgbClr val="0000FF"/>
                </a:solidFill>
                <a:latin typeface="Consolas" panose="020B0609020204030204" pitchFamily="49" charset="0"/>
                <a:cs typeface="Consolas" panose="020B0609020204030204" pitchFamily="49" charset="0"/>
              </a:rPr>
              <a:t>false</a:t>
            </a:r>
            <a:r>
              <a:rPr lang="en-US">
                <a:latin typeface="Consolas" panose="020B0609020204030204" pitchFamily="49" charset="0"/>
                <a:cs typeface="Consolas" panose="020B0609020204030204" pitchFamily="49" charset="0"/>
              </a:rPr>
              <a:t>; }</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    }</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    </a:t>
            </a:r>
            <a:r>
              <a:rPr lang="en-US">
                <a:solidFill>
                  <a:srgbClr val="0000FF"/>
                </a:solidFill>
                <a:latin typeface="Consolas" panose="020B0609020204030204" pitchFamily="49" charset="0"/>
                <a:cs typeface="Consolas" panose="020B0609020204030204" pitchFamily="49" charset="0"/>
              </a:rPr>
              <a:t>return</a:t>
            </a:r>
            <a:r>
              <a:rPr lang="en-US">
                <a:latin typeface="Consolas" panose="020B0609020204030204" pitchFamily="49" charset="0"/>
                <a:cs typeface="Consolas" panose="020B0609020204030204" pitchFamily="49" charset="0"/>
              </a:rPr>
              <a:t> </a:t>
            </a:r>
            <a:r>
              <a:rPr lang="en-US">
                <a:solidFill>
                  <a:srgbClr val="0000FF"/>
                </a:solidFill>
                <a:latin typeface="Consolas" panose="020B0609020204030204" pitchFamily="49" charset="0"/>
                <a:cs typeface="Consolas" panose="020B0609020204030204" pitchFamily="49" charset="0"/>
              </a:rPr>
              <a:t>true</a:t>
            </a:r>
            <a:r>
              <a:rPr lang="en-US">
                <a:latin typeface="Consolas" panose="020B0609020204030204" pitchFamily="49" charset="0"/>
                <a:cs typeface="Consolas" panose="020B0609020204030204" pitchFamily="49" charset="0"/>
              </a:rPr>
              <a:t>;</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2131046587"/>
      </p:ext>
    </p:extLst>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91BBE-B849-DA1D-6D1F-25F5ED69AA2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9794A31-DE34-DF5E-B193-0ECA3066E1A4}"/>
              </a:ext>
            </a:extLst>
          </p:cNvPr>
          <p:cNvSpPr>
            <a:spLocks noGrp="1"/>
          </p:cNvSpPr>
          <p:nvPr>
            <p:ph type="title"/>
          </p:nvPr>
        </p:nvSpPr>
        <p:spPr/>
        <p:txBody>
          <a:bodyPr/>
          <a:lstStyle/>
          <a:p>
            <a:r>
              <a:rPr lang="en-US"/>
              <a:t>void</a:t>
            </a:r>
          </a:p>
        </p:txBody>
      </p:sp>
    </p:spTree>
    <p:extLst>
      <p:ext uri="{BB962C8B-B14F-4D97-AF65-F5344CB8AC3E}">
        <p14:creationId xmlns:p14="http://schemas.microsoft.com/office/powerpoint/2010/main" val="658469995"/>
      </p:ext>
    </p:extLst>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F2D38-813F-9696-F5E9-EE01CF08C0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8620E7-F2BE-F380-4807-4AFD974EF7B6}"/>
              </a:ext>
            </a:extLst>
          </p:cNvPr>
          <p:cNvSpPr>
            <a:spLocks noGrp="1"/>
          </p:cNvSpPr>
          <p:nvPr>
            <p:ph type="title"/>
          </p:nvPr>
        </p:nvSpPr>
        <p:spPr/>
        <p:txBody>
          <a:bodyPr/>
          <a:lstStyle/>
          <a:p>
            <a:r>
              <a:rPr lang="en-US"/>
              <a:t>void</a:t>
            </a:r>
          </a:p>
        </p:txBody>
      </p:sp>
      <p:sp>
        <p:nvSpPr>
          <p:cNvPr id="3" name="Content Placeholder 2">
            <a:extLst>
              <a:ext uri="{FF2B5EF4-FFF2-40B4-BE49-F238E27FC236}">
                <a16:creationId xmlns:a16="http://schemas.microsoft.com/office/drawing/2014/main" id="{2D8CEEBB-EAD8-CCCB-E39D-BB51C90FBC86}"/>
              </a:ext>
            </a:extLst>
          </p:cNvPr>
          <p:cNvSpPr>
            <a:spLocks noGrp="1"/>
          </p:cNvSpPr>
          <p:nvPr>
            <p:ph sz="quarter" idx="10"/>
          </p:nvPr>
        </p:nvSpPr>
        <p:spPr/>
        <p:txBody>
          <a:bodyPr/>
          <a:lstStyle/>
          <a:p>
            <a:r>
              <a:rPr lang="en-US" b="1"/>
              <a:t>void</a:t>
            </a:r>
            <a:r>
              <a:rPr lang="en-US"/>
              <a:t> is a special return type meaning a function does not return a value</a:t>
            </a:r>
          </a:p>
          <a:p>
            <a:pPr lvl="1"/>
            <a:r>
              <a:rPr lang="en-US"/>
              <a:t>void functions often modify (the objects referenced by) their arguments</a:t>
            </a:r>
          </a:p>
          <a:p>
            <a:pPr lvl="2"/>
            <a:r>
              <a:rPr lang="en-US">
                <a:solidFill>
                  <a:srgbClr val="0000FF"/>
                </a:solidFill>
                <a:latin typeface="+mj-lt"/>
              </a:rPr>
              <a:t>static </a:t>
            </a:r>
            <a:r>
              <a:rPr lang="en-US">
                <a:solidFill>
                  <a:srgbClr val="000080"/>
                </a:solidFill>
                <a:latin typeface="+mj-lt"/>
              </a:rPr>
              <a:t>void </a:t>
            </a:r>
            <a:r>
              <a:rPr lang="en-US">
                <a:latin typeface="+mj-lt"/>
              </a:rPr>
              <a:t>inPlaceReverse(</a:t>
            </a:r>
            <a:r>
              <a:rPr lang="en-US">
                <a:solidFill>
                  <a:srgbClr val="0000FF"/>
                </a:solidFill>
                <a:latin typeface="+mj-lt"/>
              </a:rPr>
              <a:t>int</a:t>
            </a:r>
            <a:r>
              <a:rPr lang="en-US">
                <a:latin typeface="+mj-lt"/>
              </a:rPr>
              <a:t>[] array) { </a:t>
            </a:r>
            <a:r>
              <a:rPr lang="en-US">
                <a:solidFill>
                  <a:srgbClr val="BFBFBF"/>
                </a:solidFill>
                <a:latin typeface="+mj-lt"/>
              </a:rPr>
              <a:t>...</a:t>
            </a:r>
            <a:r>
              <a:rPr lang="en-US">
                <a:latin typeface="+mj-lt"/>
              </a:rPr>
              <a:t> }</a:t>
            </a:r>
          </a:p>
          <a:p>
            <a:pPr lvl="3"/>
            <a:r>
              <a:rPr lang="en-US">
                <a:solidFill>
                  <a:srgbClr val="007B00"/>
                </a:solidFill>
                <a:latin typeface="+mj-lt"/>
              </a:rPr>
              <a:t>// no need to return a reference to array</a:t>
            </a:r>
            <a:br>
              <a:rPr lang="en-US">
                <a:solidFill>
                  <a:srgbClr val="007B00"/>
                </a:solidFill>
                <a:latin typeface="+mj-lt"/>
              </a:rPr>
            </a:br>
            <a:r>
              <a:rPr lang="en-US">
                <a:solidFill>
                  <a:srgbClr val="007B00"/>
                </a:solidFill>
                <a:latin typeface="+mj-lt"/>
              </a:rPr>
              <a:t>// (user of the function already has one)</a:t>
            </a:r>
            <a:endParaRPr lang="en-US"/>
          </a:p>
          <a:p>
            <a:pPr lvl="1"/>
            <a:r>
              <a:rPr lang="en-US"/>
              <a:t>in Java, the </a:t>
            </a:r>
            <a:r>
              <a:rPr lang="en-US" b="1"/>
              <a:t>main method</a:t>
            </a:r>
            <a:r>
              <a:rPr lang="en-US"/>
              <a:t> is a void function (it doesn't return anything)</a:t>
            </a:r>
          </a:p>
          <a:p>
            <a:pPr lvl="2"/>
            <a:r>
              <a:rPr lang="en-US">
                <a:solidFill>
                  <a:srgbClr val="0000FF"/>
                </a:solidFill>
                <a:latin typeface="+mj-lt"/>
              </a:rPr>
              <a:t>public static</a:t>
            </a:r>
            <a:r>
              <a:rPr lang="en-US">
                <a:latin typeface="+mj-lt"/>
              </a:rPr>
              <a:t> </a:t>
            </a:r>
            <a:r>
              <a:rPr lang="en-US">
                <a:solidFill>
                  <a:srgbClr val="000080"/>
                </a:solidFill>
                <a:latin typeface="+mj-lt"/>
              </a:rPr>
              <a:t>void</a:t>
            </a:r>
            <a:r>
              <a:rPr lang="en-US">
                <a:latin typeface="+mj-lt"/>
              </a:rPr>
              <a:t> main(</a:t>
            </a:r>
            <a:r>
              <a:rPr lang="en-US">
                <a:solidFill>
                  <a:srgbClr val="000080"/>
                </a:solidFill>
                <a:latin typeface="+mj-lt"/>
              </a:rPr>
              <a:t>String</a:t>
            </a:r>
            <a:r>
              <a:rPr lang="en-US">
                <a:latin typeface="+mj-lt"/>
              </a:rPr>
              <a:t>[] arguments) { </a:t>
            </a:r>
            <a:r>
              <a:rPr lang="en-US">
                <a:solidFill>
                  <a:srgbClr val="BFBFBF"/>
                </a:solidFill>
                <a:latin typeface="+mj-lt"/>
              </a:rPr>
              <a:t>...</a:t>
            </a:r>
            <a:r>
              <a:rPr lang="en-US">
                <a:latin typeface="+mj-lt"/>
              </a:rPr>
              <a:t> }</a:t>
            </a:r>
            <a:endParaRPr lang="en-US"/>
          </a:p>
          <a:p>
            <a:pPr lvl="1"/>
            <a:endParaRPr lang="en-US">
              <a:latin typeface="+mj-lt"/>
            </a:endParaRPr>
          </a:p>
        </p:txBody>
      </p:sp>
    </p:spTree>
    <p:extLst>
      <p:ext uri="{BB962C8B-B14F-4D97-AF65-F5344CB8AC3E}">
        <p14:creationId xmlns:p14="http://schemas.microsoft.com/office/powerpoint/2010/main" val="2257106560"/>
      </p:ext>
    </p:extLst>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83E1D-9C5C-57A1-490B-BB94BC1A9C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B4EAF86-3838-2AF7-07F5-C9999FD3E2D3}"/>
              </a:ext>
            </a:extLst>
          </p:cNvPr>
          <p:cNvSpPr>
            <a:spLocks noGrp="1"/>
          </p:cNvSpPr>
          <p:nvPr>
            <p:ph type="title"/>
          </p:nvPr>
        </p:nvSpPr>
        <p:spPr/>
        <p:txBody>
          <a:bodyPr/>
          <a:lstStyle/>
          <a:p>
            <a:r>
              <a:rPr lang="en-US"/>
              <a:t>the call stack</a:t>
            </a:r>
          </a:p>
        </p:txBody>
      </p:sp>
    </p:spTree>
    <p:extLst>
      <p:ext uri="{BB962C8B-B14F-4D97-AF65-F5344CB8AC3E}">
        <p14:creationId xmlns:p14="http://schemas.microsoft.com/office/powerpoint/2010/main" val="2545767711"/>
      </p:ext>
    </p:extLst>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1A6D0-E468-9565-9FFF-5B6427241E8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7787E53-13D7-E7F2-DA5B-D690B66D4E77}"/>
              </a:ext>
            </a:extLst>
          </p:cNvPr>
          <p:cNvSpPr>
            <a:spLocks noGrp="1"/>
          </p:cNvSpPr>
          <p:nvPr>
            <p:ph type="title"/>
          </p:nvPr>
        </p:nvSpPr>
        <p:spPr/>
        <p:txBody>
          <a:bodyPr/>
          <a:lstStyle/>
          <a:p>
            <a:r>
              <a:rPr lang="en-US"/>
              <a:t>the call stack</a:t>
            </a:r>
          </a:p>
        </p:txBody>
      </p:sp>
      <p:sp>
        <p:nvSpPr>
          <p:cNvPr id="4" name="Content Placeholder 3">
            <a:extLst>
              <a:ext uri="{FF2B5EF4-FFF2-40B4-BE49-F238E27FC236}">
                <a16:creationId xmlns:a16="http://schemas.microsoft.com/office/drawing/2014/main" id="{317D9298-7A52-D8AC-8A95-0B6ED1BC0E13}"/>
              </a:ext>
            </a:extLst>
          </p:cNvPr>
          <p:cNvSpPr>
            <a:spLocks noGrp="1"/>
          </p:cNvSpPr>
          <p:nvPr>
            <p:ph sz="quarter" idx="10"/>
          </p:nvPr>
        </p:nvSpPr>
        <p:spPr>
          <a:xfrm>
            <a:off x="457200" y="963337"/>
            <a:ext cx="4500208" cy="4080271"/>
          </a:xfrm>
        </p:spPr>
        <p:txBody>
          <a:bodyPr/>
          <a:lstStyle/>
          <a:p>
            <a:r>
              <a:rPr lang="en-US"/>
              <a:t>functions can call other functions</a:t>
            </a:r>
          </a:p>
          <a:p>
            <a:pPr lvl="1"/>
            <a:r>
              <a:rPr lang="en-US"/>
              <a:t>the resulting "stack" of function calls is called the </a:t>
            </a:r>
            <a:r>
              <a:rPr lang="en-US" b="1"/>
              <a:t>call stack</a:t>
            </a:r>
            <a:endParaRPr lang="en-US"/>
          </a:p>
        </p:txBody>
      </p:sp>
      <p:sp>
        <p:nvSpPr>
          <p:cNvPr id="7" name="TextBox 6">
            <a:extLst>
              <a:ext uri="{FF2B5EF4-FFF2-40B4-BE49-F238E27FC236}">
                <a16:creationId xmlns:a16="http://schemas.microsoft.com/office/drawing/2014/main" id="{479B57DF-AEB7-463F-9B24-4975C5862818}"/>
              </a:ext>
            </a:extLst>
          </p:cNvPr>
          <p:cNvSpPr txBox="1"/>
          <p:nvPr/>
        </p:nvSpPr>
        <p:spPr>
          <a:xfrm>
            <a:off x="457200" y="1945540"/>
            <a:ext cx="4235712" cy="3139321"/>
          </a:xfrm>
          <a:prstGeom prst="rect">
            <a:avLst/>
          </a:prstGeom>
          <a:solidFill>
            <a:schemeClr val="bg1"/>
          </a:solidFill>
          <a:ln>
            <a:solidFill>
              <a:schemeClr val="tx1"/>
            </a:solidFill>
          </a:ln>
        </p:spPr>
        <p:txBody>
          <a:bodyPr wrap="square" rtlCol="0">
            <a:spAutoFit/>
          </a:bodyPr>
          <a:lstStyle/>
          <a:p>
            <a:r>
              <a:rPr lang="en-US" sz="1100">
                <a:latin typeface="+mj-lt"/>
              </a:rPr>
              <a:t>class Main {</a:t>
            </a:r>
          </a:p>
          <a:p>
            <a:r>
              <a:rPr lang="en-US" sz="1100">
                <a:latin typeface="+mj-lt"/>
              </a:rPr>
              <a:t>    </a:t>
            </a:r>
          </a:p>
          <a:p>
            <a:r>
              <a:rPr lang="en-US" sz="1100">
                <a:latin typeface="+mj-lt"/>
              </a:rPr>
              <a:t>    static void snap() {</a:t>
            </a:r>
          </a:p>
          <a:p>
            <a:r>
              <a:rPr lang="en-US" sz="1100">
                <a:latin typeface="+mj-lt"/>
              </a:rPr>
              <a:t>        crackle();</a:t>
            </a:r>
          </a:p>
          <a:p>
            <a:r>
              <a:rPr lang="en-US" sz="1100">
                <a:latin typeface="+mj-lt"/>
              </a:rPr>
              <a:t>    }</a:t>
            </a:r>
          </a:p>
          <a:p>
            <a:r>
              <a:rPr lang="en-US" sz="1100">
                <a:latin typeface="+mj-lt"/>
              </a:rPr>
              <a:t>    </a:t>
            </a:r>
          </a:p>
          <a:p>
            <a:r>
              <a:rPr lang="en-US" sz="1100">
                <a:latin typeface="+mj-lt"/>
              </a:rPr>
              <a:t>    static void crackle() {</a:t>
            </a:r>
          </a:p>
          <a:p>
            <a:r>
              <a:rPr lang="en-US" sz="1100">
                <a:latin typeface="+mj-lt"/>
              </a:rPr>
              <a:t>        pop();</a:t>
            </a:r>
          </a:p>
          <a:p>
            <a:r>
              <a:rPr lang="en-US" sz="1100">
                <a:latin typeface="+mj-lt"/>
              </a:rPr>
              <a:t>    }</a:t>
            </a:r>
          </a:p>
          <a:p>
            <a:r>
              <a:rPr lang="en-US" sz="1100">
                <a:latin typeface="+mj-lt"/>
              </a:rPr>
              <a:t>    </a:t>
            </a:r>
          </a:p>
          <a:p>
            <a:r>
              <a:rPr lang="en-US" sz="1100">
                <a:latin typeface="+mj-lt"/>
              </a:rPr>
              <a:t>    static void pop() {</a:t>
            </a:r>
          </a:p>
          <a:p>
            <a:r>
              <a:rPr lang="en-US" sz="1100">
                <a:highlight>
                  <a:srgbClr val="00FFFF"/>
                </a:highlight>
                <a:latin typeface="+mj-lt"/>
              </a:rPr>
              <a:t>        return;</a:t>
            </a:r>
          </a:p>
          <a:p>
            <a:r>
              <a:rPr lang="en-US" sz="1100">
                <a:latin typeface="+mj-lt"/>
              </a:rPr>
              <a:t>    }</a:t>
            </a:r>
          </a:p>
          <a:p>
            <a:r>
              <a:rPr lang="en-US" sz="1100">
                <a:latin typeface="+mj-lt"/>
              </a:rPr>
              <a:t>    </a:t>
            </a:r>
          </a:p>
          <a:p>
            <a:r>
              <a:rPr lang="en-US" sz="1100">
                <a:latin typeface="+mj-lt"/>
              </a:rPr>
              <a:t>    public static void main(String[] arguments) {</a:t>
            </a:r>
          </a:p>
          <a:p>
            <a:r>
              <a:rPr lang="en-US" sz="1100">
                <a:latin typeface="+mj-lt"/>
              </a:rPr>
              <a:t>        snap();</a:t>
            </a:r>
          </a:p>
          <a:p>
            <a:r>
              <a:rPr lang="en-US" sz="1100">
                <a:latin typeface="+mj-lt"/>
              </a:rPr>
              <a:t>    }</a:t>
            </a:r>
          </a:p>
          <a:p>
            <a:r>
              <a:rPr lang="en-US" sz="1100">
                <a:latin typeface="+mj-lt"/>
              </a:rPr>
              <a:t>}</a:t>
            </a:r>
          </a:p>
        </p:txBody>
      </p:sp>
      <p:pic>
        <p:nvPicPr>
          <p:cNvPr id="6" name="Picture 5">
            <a:extLst>
              <a:ext uri="{FF2B5EF4-FFF2-40B4-BE49-F238E27FC236}">
                <a16:creationId xmlns:a16="http://schemas.microsoft.com/office/drawing/2014/main" id="{898ACF12-59A1-5417-A08F-0B7EDE33DF0C}"/>
              </a:ext>
            </a:extLst>
          </p:cNvPr>
          <p:cNvPicPr>
            <a:picLocks noChangeAspect="1"/>
          </p:cNvPicPr>
          <p:nvPr/>
        </p:nvPicPr>
        <p:blipFill>
          <a:blip r:embed="rId2"/>
          <a:stretch>
            <a:fillRect/>
          </a:stretch>
        </p:blipFill>
        <p:spPr>
          <a:xfrm>
            <a:off x="4957408" y="1057517"/>
            <a:ext cx="3960140" cy="4025060"/>
          </a:xfrm>
          <a:prstGeom prst="rect">
            <a:avLst/>
          </a:prstGeom>
          <a:ln>
            <a:solidFill>
              <a:schemeClr val="tx1"/>
            </a:solidFill>
          </a:ln>
        </p:spPr>
      </p:pic>
    </p:spTree>
    <p:extLst>
      <p:ext uri="{BB962C8B-B14F-4D97-AF65-F5344CB8AC3E}">
        <p14:creationId xmlns:p14="http://schemas.microsoft.com/office/powerpoint/2010/main" val="2342777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395D2-9189-CEA3-25E1-4D7DA337AC6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79F450C-A189-9A9B-C592-62B864649D3B}"/>
              </a:ext>
            </a:extLst>
          </p:cNvPr>
          <p:cNvSpPr>
            <a:spLocks noGrp="1"/>
          </p:cNvSpPr>
          <p:nvPr>
            <p:ph type="title"/>
          </p:nvPr>
        </p:nvSpPr>
        <p:spPr/>
        <p:txBody>
          <a:bodyPr/>
          <a:lstStyle/>
          <a:p>
            <a:r>
              <a:rPr lang="en-US"/>
              <a:t>🤔</a:t>
            </a:r>
          </a:p>
        </p:txBody>
      </p:sp>
      <p:pic>
        <p:nvPicPr>
          <p:cNvPr id="6" name="Picture 5">
            <a:extLst>
              <a:ext uri="{FF2B5EF4-FFF2-40B4-BE49-F238E27FC236}">
                <a16:creationId xmlns:a16="http://schemas.microsoft.com/office/drawing/2014/main" id="{88D36A6C-56A5-111F-C7D8-F290AA3F78E2}"/>
              </a:ext>
            </a:extLst>
          </p:cNvPr>
          <p:cNvPicPr>
            <a:picLocks noChangeAspect="1"/>
          </p:cNvPicPr>
          <p:nvPr/>
        </p:nvPicPr>
        <p:blipFill rotWithShape="1">
          <a:blip r:embed="rId2"/>
          <a:srcRect l="3817" t="30051" r="9166" b="3109"/>
          <a:stretch/>
        </p:blipFill>
        <p:spPr>
          <a:xfrm>
            <a:off x="5108549" y="2267107"/>
            <a:ext cx="3446004" cy="2690301"/>
          </a:xfrm>
          <a:prstGeom prst="rect">
            <a:avLst/>
          </a:prstGeom>
          <a:ln>
            <a:solidFill>
              <a:schemeClr val="tx1"/>
            </a:solidFill>
          </a:ln>
        </p:spPr>
      </p:pic>
    </p:spTree>
    <p:extLst>
      <p:ext uri="{BB962C8B-B14F-4D97-AF65-F5344CB8AC3E}">
        <p14:creationId xmlns:p14="http://schemas.microsoft.com/office/powerpoint/2010/main" val="3550453569"/>
      </p:ext>
    </p:extLst>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E8FE36-0427-133C-9BA2-2A58FE796092}"/>
              </a:ext>
            </a:extLst>
          </p:cNvPr>
          <p:cNvSpPr>
            <a:spLocks noGrp="1"/>
          </p:cNvSpPr>
          <p:nvPr>
            <p:ph type="title"/>
          </p:nvPr>
        </p:nvSpPr>
        <p:spPr/>
        <p:txBody>
          <a:bodyPr/>
          <a:lstStyle/>
          <a:p>
            <a:r>
              <a:rPr lang="en-US"/>
              <a:t>[let's see what DrJava does]</a:t>
            </a:r>
          </a:p>
        </p:txBody>
      </p:sp>
    </p:spTree>
    <p:extLst>
      <p:ext uri="{BB962C8B-B14F-4D97-AF65-F5344CB8AC3E}">
        <p14:creationId xmlns:p14="http://schemas.microsoft.com/office/powerpoint/2010/main" val="3434165614"/>
      </p:ext>
    </p:extLst>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DC892-100B-D789-DD58-A3AD2954075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5CD0CF2-6E6A-F993-61CD-95BF0DD8064D}"/>
              </a:ext>
            </a:extLst>
          </p:cNvPr>
          <p:cNvSpPr>
            <a:spLocks noGrp="1"/>
          </p:cNvSpPr>
          <p:nvPr>
            <p:ph type="title"/>
          </p:nvPr>
        </p:nvSpPr>
        <p:spPr/>
        <p:txBody>
          <a:bodyPr/>
          <a:lstStyle/>
          <a:p>
            <a:r>
              <a:rPr lang="en-US"/>
              <a:t>recursive functions</a:t>
            </a:r>
          </a:p>
        </p:txBody>
      </p:sp>
    </p:spTree>
    <p:extLst>
      <p:ext uri="{BB962C8B-B14F-4D97-AF65-F5344CB8AC3E}">
        <p14:creationId xmlns:p14="http://schemas.microsoft.com/office/powerpoint/2010/main" val="1197878509"/>
      </p:ext>
    </p:extLst>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8590A-3510-8EAA-52A7-66AF0F5D6F4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228B300-53C5-720F-909B-0405D8D77ED6}"/>
              </a:ext>
            </a:extLst>
          </p:cNvPr>
          <p:cNvSpPr>
            <a:spLocks noGrp="1"/>
          </p:cNvSpPr>
          <p:nvPr>
            <p:ph type="title"/>
          </p:nvPr>
        </p:nvSpPr>
        <p:spPr/>
        <p:txBody>
          <a:bodyPr/>
          <a:lstStyle/>
          <a:p>
            <a:r>
              <a:rPr lang="en-US"/>
              <a:t>recursive functions (1/2)</a:t>
            </a:r>
          </a:p>
        </p:txBody>
      </p:sp>
      <p:sp>
        <p:nvSpPr>
          <p:cNvPr id="4" name="Content Placeholder 3">
            <a:extLst>
              <a:ext uri="{FF2B5EF4-FFF2-40B4-BE49-F238E27FC236}">
                <a16:creationId xmlns:a16="http://schemas.microsoft.com/office/drawing/2014/main" id="{C74631F7-F19B-7D11-D89C-AA836DC67761}"/>
              </a:ext>
            </a:extLst>
          </p:cNvPr>
          <p:cNvSpPr>
            <a:spLocks noGrp="1"/>
          </p:cNvSpPr>
          <p:nvPr>
            <p:ph sz="quarter" idx="10"/>
          </p:nvPr>
        </p:nvSpPr>
        <p:spPr/>
        <p:txBody>
          <a:bodyPr/>
          <a:lstStyle/>
          <a:p>
            <a:r>
              <a:rPr lang="en-US"/>
              <a:t>a </a:t>
            </a:r>
            <a:r>
              <a:rPr lang="en-US" b="1"/>
              <a:t>recursive function</a:t>
            </a:r>
            <a:r>
              <a:rPr lang="en-US"/>
              <a:t> is a function that calls itself</a:t>
            </a:r>
          </a:p>
          <a:p>
            <a:pPr lvl="1"/>
            <a:r>
              <a:rPr lang="en-US"/>
              <a:t>each call must make progress towards a </a:t>
            </a:r>
            <a:r>
              <a:rPr lang="en-US" b="1"/>
              <a:t>base case</a:t>
            </a:r>
            <a:br>
              <a:rPr lang="en-US"/>
            </a:br>
            <a:r>
              <a:rPr lang="en-US"/>
              <a:t>(when the function finally returns without calling itself)</a:t>
            </a:r>
          </a:p>
          <a:p>
            <a:pPr lvl="2"/>
            <a:r>
              <a:rPr lang="en-US"/>
              <a:t>✨ when in doubt, try something like zero for your base case</a:t>
            </a:r>
          </a:p>
        </p:txBody>
      </p:sp>
      <p:sp>
        <p:nvSpPr>
          <p:cNvPr id="7" name="TextBox 6">
            <a:extLst>
              <a:ext uri="{FF2B5EF4-FFF2-40B4-BE49-F238E27FC236}">
                <a16:creationId xmlns:a16="http://schemas.microsoft.com/office/drawing/2014/main" id="{DA36E1EA-BD3C-87E4-0B73-A90FF953FDB6}"/>
              </a:ext>
            </a:extLst>
          </p:cNvPr>
          <p:cNvSpPr txBox="1"/>
          <p:nvPr/>
        </p:nvSpPr>
        <p:spPr>
          <a:xfrm>
            <a:off x="457200" y="2365952"/>
            <a:ext cx="8229600" cy="2677656"/>
          </a:xfrm>
          <a:prstGeom prst="rect">
            <a:avLst/>
          </a:prstGeom>
          <a:solidFill>
            <a:schemeClr val="bg1"/>
          </a:solidFill>
          <a:ln>
            <a:solidFill>
              <a:schemeClr val="tx1"/>
            </a:solidFill>
          </a:ln>
        </p:spPr>
        <p:txBody>
          <a:bodyPr wrap="square" rtlCol="0">
            <a:spAutoFit/>
          </a:bodyPr>
          <a:lstStyle/>
          <a:p>
            <a:r>
              <a:rPr lang="en-US" sz="1400">
                <a:solidFill>
                  <a:srgbClr val="0000FF"/>
                </a:solidFill>
                <a:latin typeface="+mj-lt"/>
              </a:rPr>
              <a:t>class</a:t>
            </a:r>
            <a:r>
              <a:rPr lang="en-US" sz="1400">
                <a:latin typeface="+mj-lt"/>
              </a:rPr>
              <a:t> </a:t>
            </a:r>
            <a:r>
              <a:rPr lang="en-US" sz="1400">
                <a:solidFill>
                  <a:srgbClr val="000080"/>
                </a:solidFill>
                <a:latin typeface="+mj-lt"/>
              </a:rPr>
              <a:t>Main</a:t>
            </a:r>
            <a:r>
              <a:rPr lang="en-US" sz="1400">
                <a:latin typeface="+mj-lt"/>
              </a:rPr>
              <a:t> extends Cow {</a:t>
            </a:r>
          </a:p>
          <a:p>
            <a:r>
              <a:rPr lang="en-US" sz="1400">
                <a:latin typeface="+mj-lt"/>
              </a:rPr>
              <a:t>    </a:t>
            </a:r>
            <a:r>
              <a:rPr lang="en-US" sz="1400">
                <a:solidFill>
                  <a:srgbClr val="0000FF"/>
                </a:solidFill>
                <a:latin typeface="+mj-lt"/>
              </a:rPr>
              <a:t>static</a:t>
            </a:r>
            <a:r>
              <a:rPr lang="en-US" sz="1400">
                <a:latin typeface="+mj-lt"/>
              </a:rPr>
              <a:t> </a:t>
            </a:r>
            <a:r>
              <a:rPr lang="en-US" sz="1400">
                <a:solidFill>
                  <a:srgbClr val="000080"/>
                </a:solidFill>
                <a:latin typeface="+mj-lt"/>
              </a:rPr>
              <a:t>int</a:t>
            </a:r>
            <a:r>
              <a:rPr lang="en-US" sz="1400">
                <a:latin typeface="+mj-lt"/>
              </a:rPr>
              <a:t> digitSum(</a:t>
            </a:r>
            <a:r>
              <a:rPr lang="en-US" sz="1400">
                <a:solidFill>
                  <a:srgbClr val="000080"/>
                </a:solidFill>
                <a:latin typeface="+mj-lt"/>
              </a:rPr>
              <a:t>int</a:t>
            </a:r>
            <a:r>
              <a:rPr lang="en-US" sz="1400">
                <a:latin typeface="+mj-lt"/>
              </a:rPr>
              <a:t> n) {</a:t>
            </a:r>
          </a:p>
          <a:p>
            <a:r>
              <a:rPr lang="en-US" sz="1400">
                <a:latin typeface="+mj-lt"/>
              </a:rPr>
              <a:t>        </a:t>
            </a:r>
            <a:r>
              <a:rPr lang="en-US" sz="1400">
                <a:solidFill>
                  <a:srgbClr val="0000FF"/>
                </a:solidFill>
                <a:latin typeface="+mj-lt"/>
              </a:rPr>
              <a:t>if</a:t>
            </a:r>
            <a:r>
              <a:rPr lang="en-US" sz="1400">
                <a:latin typeface="+mj-lt"/>
              </a:rPr>
              <a:t> (n == </a:t>
            </a:r>
            <a:r>
              <a:rPr lang="en-US" sz="1400">
                <a:solidFill>
                  <a:srgbClr val="0CB5B5"/>
                </a:solidFill>
                <a:latin typeface="+mj-lt"/>
              </a:rPr>
              <a:t>0</a:t>
            </a:r>
            <a:r>
              <a:rPr lang="en-US" sz="1400">
                <a:latin typeface="+mj-lt"/>
              </a:rPr>
              <a:t>) {</a:t>
            </a:r>
          </a:p>
          <a:p>
            <a:r>
              <a:rPr lang="en-US" sz="1400">
                <a:latin typeface="+mj-lt"/>
              </a:rPr>
              <a:t>            </a:t>
            </a:r>
            <a:r>
              <a:rPr lang="en-US" sz="1400">
                <a:solidFill>
                  <a:srgbClr val="0000FF"/>
                </a:solidFill>
                <a:latin typeface="+mj-lt"/>
              </a:rPr>
              <a:t>return</a:t>
            </a:r>
            <a:r>
              <a:rPr lang="en-US" sz="1400">
                <a:latin typeface="+mj-lt"/>
              </a:rPr>
              <a:t> </a:t>
            </a:r>
            <a:r>
              <a:rPr lang="en-US" sz="1400">
                <a:solidFill>
                  <a:srgbClr val="0CB5B5"/>
                </a:solidFill>
                <a:latin typeface="+mj-lt"/>
              </a:rPr>
              <a:t>0</a:t>
            </a:r>
            <a:r>
              <a:rPr lang="en-US" sz="1400">
                <a:latin typeface="+mj-lt"/>
              </a:rPr>
              <a:t>;</a:t>
            </a:r>
          </a:p>
          <a:p>
            <a:r>
              <a:rPr lang="en-US" sz="1400">
                <a:latin typeface="+mj-lt"/>
              </a:rPr>
              <a:t>        }</a:t>
            </a:r>
          </a:p>
          <a:p>
            <a:r>
              <a:rPr lang="en-US" sz="1400">
                <a:latin typeface="+mj-lt"/>
              </a:rPr>
              <a:t>        </a:t>
            </a:r>
            <a:r>
              <a:rPr lang="en-US" sz="1400">
                <a:solidFill>
                  <a:srgbClr val="0000FF"/>
                </a:solidFill>
                <a:latin typeface="+mj-lt"/>
              </a:rPr>
              <a:t>return</a:t>
            </a:r>
            <a:r>
              <a:rPr lang="en-US" sz="1400">
                <a:latin typeface="+mj-lt"/>
              </a:rPr>
              <a:t> digitSum(n / </a:t>
            </a:r>
            <a:r>
              <a:rPr lang="en-US" sz="1400">
                <a:solidFill>
                  <a:srgbClr val="0CB5B5"/>
                </a:solidFill>
                <a:latin typeface="+mj-lt"/>
              </a:rPr>
              <a:t>10</a:t>
            </a:r>
            <a:r>
              <a:rPr lang="en-US" sz="1400">
                <a:latin typeface="+mj-lt"/>
              </a:rPr>
              <a:t>) + (n % </a:t>
            </a:r>
            <a:r>
              <a:rPr lang="en-US" sz="1400">
                <a:solidFill>
                  <a:srgbClr val="0CB5B5"/>
                </a:solidFill>
                <a:latin typeface="+mj-lt"/>
              </a:rPr>
              <a:t>10</a:t>
            </a:r>
            <a:r>
              <a:rPr lang="en-US" sz="1400">
                <a:latin typeface="+mj-lt"/>
              </a:rPr>
              <a:t>);</a:t>
            </a:r>
          </a:p>
          <a:p>
            <a:r>
              <a:rPr lang="en-US" sz="1400">
                <a:latin typeface="+mj-lt"/>
              </a:rPr>
              <a:t>    }</a:t>
            </a:r>
          </a:p>
          <a:p>
            <a:r>
              <a:rPr lang="en-US" sz="1400">
                <a:latin typeface="+mj-lt"/>
              </a:rPr>
              <a:t>    </a:t>
            </a:r>
          </a:p>
          <a:p>
            <a:r>
              <a:rPr lang="en-US" sz="1400">
                <a:latin typeface="+mj-lt"/>
              </a:rPr>
              <a:t>    </a:t>
            </a:r>
            <a:r>
              <a:rPr lang="en-US" sz="1400">
                <a:solidFill>
                  <a:srgbClr val="0000FF"/>
                </a:solidFill>
                <a:latin typeface="+mj-lt"/>
              </a:rPr>
              <a:t>public</a:t>
            </a:r>
            <a:r>
              <a:rPr lang="en-US" sz="1400">
                <a:latin typeface="+mj-lt"/>
              </a:rPr>
              <a:t> </a:t>
            </a:r>
            <a:r>
              <a:rPr lang="en-US" sz="1400">
                <a:solidFill>
                  <a:srgbClr val="0000FF"/>
                </a:solidFill>
                <a:latin typeface="+mj-lt"/>
              </a:rPr>
              <a:t>static</a:t>
            </a:r>
            <a:r>
              <a:rPr lang="en-US" sz="1400">
                <a:latin typeface="+mj-lt"/>
              </a:rPr>
              <a:t> </a:t>
            </a:r>
            <a:r>
              <a:rPr lang="en-US" sz="1400">
                <a:solidFill>
                  <a:srgbClr val="000080"/>
                </a:solidFill>
                <a:latin typeface="+mj-lt"/>
              </a:rPr>
              <a:t>void</a:t>
            </a:r>
            <a:r>
              <a:rPr lang="en-US" sz="1400">
                <a:latin typeface="+mj-lt"/>
              </a:rPr>
              <a:t> main(</a:t>
            </a:r>
            <a:r>
              <a:rPr lang="en-US" sz="1400">
                <a:solidFill>
                  <a:srgbClr val="000080"/>
                </a:solidFill>
                <a:latin typeface="+mj-lt"/>
              </a:rPr>
              <a:t>String</a:t>
            </a:r>
            <a:r>
              <a:rPr lang="en-US" sz="1400">
                <a:latin typeface="+mj-lt"/>
              </a:rPr>
              <a:t>[] arguments) {</a:t>
            </a:r>
          </a:p>
          <a:p>
            <a:r>
              <a:rPr lang="en-US" sz="1400">
                <a:latin typeface="+mj-lt"/>
              </a:rPr>
              <a:t>        </a:t>
            </a:r>
            <a:r>
              <a:rPr lang="en-US" sz="1400">
                <a:solidFill>
                  <a:srgbClr val="000080"/>
                </a:solidFill>
                <a:latin typeface="+mj-lt"/>
              </a:rPr>
              <a:t>PRINT</a:t>
            </a:r>
            <a:r>
              <a:rPr lang="en-US" sz="1400">
                <a:latin typeface="+mj-lt"/>
              </a:rPr>
              <a:t>(digitSum(</a:t>
            </a:r>
            <a:r>
              <a:rPr lang="en-US" sz="1400">
                <a:solidFill>
                  <a:srgbClr val="0CB5B5"/>
                </a:solidFill>
                <a:latin typeface="+mj-lt"/>
              </a:rPr>
              <a:t>256</a:t>
            </a:r>
            <a:r>
              <a:rPr lang="en-US" sz="1400">
                <a:latin typeface="+mj-lt"/>
              </a:rPr>
              <a:t>)); </a:t>
            </a:r>
            <a:r>
              <a:rPr lang="en-US" sz="1400">
                <a:solidFill>
                  <a:srgbClr val="007B00"/>
                </a:solidFill>
                <a:latin typeface="+mj-lt"/>
              </a:rPr>
              <a:t>// 13</a:t>
            </a:r>
          </a:p>
          <a:p>
            <a:r>
              <a:rPr lang="en-US" sz="1400">
                <a:latin typeface="+mj-lt"/>
              </a:rPr>
              <a:t>    }</a:t>
            </a:r>
          </a:p>
          <a:p>
            <a:r>
              <a:rPr lang="en-US" sz="1400">
                <a:latin typeface="+mj-lt"/>
              </a:rPr>
              <a:t>}</a:t>
            </a:r>
          </a:p>
        </p:txBody>
      </p:sp>
    </p:spTree>
    <p:extLst>
      <p:ext uri="{BB962C8B-B14F-4D97-AF65-F5344CB8AC3E}">
        <p14:creationId xmlns:p14="http://schemas.microsoft.com/office/powerpoint/2010/main" val="3150520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528B4-B13D-85C9-68F0-78D0A6D8C6D3}"/>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0572AD3A-255D-D7FE-693D-539B028885D8}"/>
              </a:ext>
            </a:extLst>
          </p:cNvPr>
          <p:cNvSpPr txBox="1"/>
          <p:nvPr/>
        </p:nvSpPr>
        <p:spPr>
          <a:xfrm>
            <a:off x="411404" y="225596"/>
            <a:ext cx="4767888" cy="1569660"/>
          </a:xfrm>
          <a:prstGeom prst="rect">
            <a:avLst/>
          </a:prstGeom>
          <a:solidFill>
            <a:schemeClr val="bg1"/>
          </a:solidFill>
          <a:ln>
            <a:solidFill>
              <a:schemeClr val="tx1"/>
            </a:solidFill>
          </a:ln>
        </p:spPr>
        <p:txBody>
          <a:bodyPr wrap="square" rtlCol="0">
            <a:spAutoFit/>
          </a:bodyPr>
          <a:lstStyle/>
          <a:p>
            <a:r>
              <a:rPr lang="en-US" sz="1600">
                <a:latin typeface="+mj-lt"/>
              </a:rPr>
              <a:t>static int digitSum(int n) {</a:t>
            </a:r>
          </a:p>
          <a:p>
            <a:r>
              <a:rPr lang="en-US" sz="1600">
                <a:latin typeface="+mj-lt"/>
              </a:rPr>
              <a:t>    if (n == 0) {</a:t>
            </a:r>
          </a:p>
          <a:p>
            <a:r>
              <a:rPr lang="en-US" sz="1600">
                <a:latin typeface="+mj-lt"/>
              </a:rPr>
              <a:t>        return 0;</a:t>
            </a:r>
          </a:p>
          <a:p>
            <a:r>
              <a:rPr lang="en-US" sz="1600">
                <a:latin typeface="+mj-lt"/>
              </a:rPr>
              <a:t>    }</a:t>
            </a:r>
          </a:p>
          <a:p>
            <a:r>
              <a:rPr lang="en-US" sz="1600">
                <a:latin typeface="+mj-lt"/>
              </a:rPr>
              <a:t>    return digitSum(n / 10) + (n % 10);</a:t>
            </a:r>
          </a:p>
          <a:p>
            <a:r>
              <a:rPr lang="en-US" sz="1600">
                <a:latin typeface="+mj-lt"/>
              </a:rPr>
              <a:t>}</a:t>
            </a:r>
            <a:endParaRPr lang="en-US" sz="1500">
              <a:latin typeface="Consolas" panose="020B0609020204030204" pitchFamily="49" charset="0"/>
            </a:endParaRPr>
          </a:p>
        </p:txBody>
      </p:sp>
      <p:sp>
        <p:nvSpPr>
          <p:cNvPr id="31" name="TextBox 30">
            <a:extLst>
              <a:ext uri="{FF2B5EF4-FFF2-40B4-BE49-F238E27FC236}">
                <a16:creationId xmlns:a16="http://schemas.microsoft.com/office/drawing/2014/main" id="{F199DC8A-6ACB-D00E-3CBF-88860EF06465}"/>
              </a:ext>
            </a:extLst>
          </p:cNvPr>
          <p:cNvSpPr txBox="1"/>
          <p:nvPr/>
        </p:nvSpPr>
        <p:spPr>
          <a:xfrm>
            <a:off x="2982678" y="4571145"/>
            <a:ext cx="2942372" cy="323165"/>
          </a:xfrm>
          <a:prstGeom prst="rect">
            <a:avLst/>
          </a:prstGeom>
          <a:noFill/>
        </p:spPr>
        <p:txBody>
          <a:bodyPr wrap="square" rtlCol="0">
            <a:spAutoFit/>
          </a:bodyPr>
          <a:lstStyle/>
          <a:p>
            <a:pPr algn="l"/>
            <a:r>
              <a:rPr lang="en-US" sz="1500">
                <a:latin typeface="Consolas" panose="020B0609020204030204" pitchFamily="49" charset="0"/>
              </a:rPr>
              <a:t>int a = </a:t>
            </a:r>
            <a:r>
              <a:rPr lang="en-US" sz="1500" err="1">
                <a:latin typeface="Consolas" panose="020B0609020204030204" pitchFamily="49" charset="0"/>
              </a:rPr>
              <a:t>digitSum</a:t>
            </a:r>
            <a:r>
              <a:rPr lang="en-US" sz="1500">
                <a:latin typeface="Consolas" panose="020B0609020204030204" pitchFamily="49" charset="0"/>
              </a:rPr>
              <a:t>(256);</a:t>
            </a:r>
          </a:p>
        </p:txBody>
      </p:sp>
      <p:sp>
        <p:nvSpPr>
          <p:cNvPr id="32" name="Arrow: Right 31">
            <a:extLst>
              <a:ext uri="{FF2B5EF4-FFF2-40B4-BE49-F238E27FC236}">
                <a16:creationId xmlns:a16="http://schemas.microsoft.com/office/drawing/2014/main" id="{6019D9AC-742B-EDC6-720B-AA4D31543B3D}"/>
              </a:ext>
            </a:extLst>
          </p:cNvPr>
          <p:cNvSpPr/>
          <p:nvPr/>
        </p:nvSpPr>
        <p:spPr>
          <a:xfrm rot="16944028">
            <a:off x="4163382" y="4179898"/>
            <a:ext cx="580966" cy="163811"/>
          </a:xfrm>
          <a:prstGeom prst="rightArrow">
            <a:avLst/>
          </a:prstGeom>
          <a:solidFill>
            <a:srgbClr val="00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33" name="TextBox 32">
            <a:extLst>
              <a:ext uri="{FF2B5EF4-FFF2-40B4-BE49-F238E27FC236}">
                <a16:creationId xmlns:a16="http://schemas.microsoft.com/office/drawing/2014/main" id="{13205E63-F0EC-58AA-D7D4-BED2ECDDC8CA}"/>
              </a:ext>
            </a:extLst>
          </p:cNvPr>
          <p:cNvSpPr txBox="1"/>
          <p:nvPr/>
        </p:nvSpPr>
        <p:spPr>
          <a:xfrm>
            <a:off x="4164304" y="3637290"/>
            <a:ext cx="2942372" cy="323165"/>
          </a:xfrm>
          <a:prstGeom prst="rect">
            <a:avLst/>
          </a:prstGeom>
          <a:noFill/>
        </p:spPr>
        <p:txBody>
          <a:bodyPr wrap="square" rtlCol="0">
            <a:spAutoFit/>
          </a:bodyPr>
          <a:lstStyle/>
          <a:p>
            <a:pPr algn="l"/>
            <a:r>
              <a:rPr lang="en-US" sz="1500">
                <a:latin typeface="Consolas" panose="020B0609020204030204" pitchFamily="49" charset="0"/>
              </a:rPr>
              <a:t>return </a:t>
            </a:r>
            <a:r>
              <a:rPr lang="en-US" sz="1500" err="1">
                <a:latin typeface="Consolas" panose="020B0609020204030204" pitchFamily="49" charset="0"/>
              </a:rPr>
              <a:t>digitSum</a:t>
            </a:r>
            <a:r>
              <a:rPr lang="en-US" sz="1500">
                <a:latin typeface="Consolas" panose="020B0609020204030204" pitchFamily="49" charset="0"/>
              </a:rPr>
              <a:t>(25) + 6;</a:t>
            </a:r>
          </a:p>
        </p:txBody>
      </p:sp>
      <p:sp>
        <p:nvSpPr>
          <p:cNvPr id="36" name="TextBox 35">
            <a:extLst>
              <a:ext uri="{FF2B5EF4-FFF2-40B4-BE49-F238E27FC236}">
                <a16:creationId xmlns:a16="http://schemas.microsoft.com/office/drawing/2014/main" id="{EC7CE5AF-0377-7CA5-1979-B4FE6A9B8772}"/>
              </a:ext>
            </a:extLst>
          </p:cNvPr>
          <p:cNvSpPr txBox="1"/>
          <p:nvPr/>
        </p:nvSpPr>
        <p:spPr>
          <a:xfrm>
            <a:off x="5179292" y="2703436"/>
            <a:ext cx="2942372" cy="323165"/>
          </a:xfrm>
          <a:prstGeom prst="rect">
            <a:avLst/>
          </a:prstGeom>
          <a:noFill/>
        </p:spPr>
        <p:txBody>
          <a:bodyPr wrap="square" rtlCol="0">
            <a:spAutoFit/>
          </a:bodyPr>
          <a:lstStyle/>
          <a:p>
            <a:pPr algn="l"/>
            <a:r>
              <a:rPr lang="en-US" sz="1500">
                <a:latin typeface="Consolas" panose="020B0609020204030204" pitchFamily="49" charset="0"/>
              </a:rPr>
              <a:t>return </a:t>
            </a:r>
            <a:r>
              <a:rPr lang="en-US" sz="1500" err="1">
                <a:latin typeface="Consolas" panose="020B0609020204030204" pitchFamily="49" charset="0"/>
              </a:rPr>
              <a:t>digitSum</a:t>
            </a:r>
            <a:r>
              <a:rPr lang="en-US" sz="1500">
                <a:latin typeface="Consolas" panose="020B0609020204030204" pitchFamily="49" charset="0"/>
              </a:rPr>
              <a:t>(2) + 5;</a:t>
            </a:r>
          </a:p>
        </p:txBody>
      </p:sp>
      <p:sp>
        <p:nvSpPr>
          <p:cNvPr id="37" name="TextBox 36">
            <a:extLst>
              <a:ext uri="{FF2B5EF4-FFF2-40B4-BE49-F238E27FC236}">
                <a16:creationId xmlns:a16="http://schemas.microsoft.com/office/drawing/2014/main" id="{A28FA4D3-9F74-4A28-FB0F-D6AC98B5AF4D}"/>
              </a:ext>
            </a:extLst>
          </p:cNvPr>
          <p:cNvSpPr txBox="1"/>
          <p:nvPr/>
        </p:nvSpPr>
        <p:spPr>
          <a:xfrm>
            <a:off x="6201628" y="1790425"/>
            <a:ext cx="2942372" cy="323165"/>
          </a:xfrm>
          <a:prstGeom prst="rect">
            <a:avLst/>
          </a:prstGeom>
          <a:noFill/>
        </p:spPr>
        <p:txBody>
          <a:bodyPr wrap="square" rtlCol="0">
            <a:spAutoFit/>
          </a:bodyPr>
          <a:lstStyle/>
          <a:p>
            <a:pPr algn="l"/>
            <a:r>
              <a:rPr lang="en-US" sz="1500">
                <a:latin typeface="Consolas" panose="020B0609020204030204" pitchFamily="49" charset="0"/>
              </a:rPr>
              <a:t>return </a:t>
            </a:r>
            <a:r>
              <a:rPr lang="en-US" sz="1500" err="1">
                <a:latin typeface="Consolas" panose="020B0609020204030204" pitchFamily="49" charset="0"/>
              </a:rPr>
              <a:t>digitSum</a:t>
            </a:r>
            <a:r>
              <a:rPr lang="en-US" sz="1500">
                <a:latin typeface="Consolas" panose="020B0609020204030204" pitchFamily="49" charset="0"/>
              </a:rPr>
              <a:t>(0) + 2;</a:t>
            </a:r>
          </a:p>
        </p:txBody>
      </p:sp>
      <p:sp>
        <p:nvSpPr>
          <p:cNvPr id="41" name="Arrow: Right 40">
            <a:extLst>
              <a:ext uri="{FF2B5EF4-FFF2-40B4-BE49-F238E27FC236}">
                <a16:creationId xmlns:a16="http://schemas.microsoft.com/office/drawing/2014/main" id="{0E899A84-8F1B-F392-62B6-F491975D9ECA}"/>
              </a:ext>
            </a:extLst>
          </p:cNvPr>
          <p:cNvSpPr/>
          <p:nvPr/>
        </p:nvSpPr>
        <p:spPr>
          <a:xfrm rot="16944028">
            <a:off x="5174058" y="3233413"/>
            <a:ext cx="580966" cy="163811"/>
          </a:xfrm>
          <a:prstGeom prst="rightArrow">
            <a:avLst/>
          </a:prstGeom>
          <a:solidFill>
            <a:srgbClr val="00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42" name="Arrow: Right 41">
            <a:extLst>
              <a:ext uri="{FF2B5EF4-FFF2-40B4-BE49-F238E27FC236}">
                <a16:creationId xmlns:a16="http://schemas.microsoft.com/office/drawing/2014/main" id="{CD9BEA2D-D9B8-9E62-8311-BFAC3B4EA24D}"/>
              </a:ext>
            </a:extLst>
          </p:cNvPr>
          <p:cNvSpPr/>
          <p:nvPr/>
        </p:nvSpPr>
        <p:spPr>
          <a:xfrm rot="16944028">
            <a:off x="6198571" y="2320236"/>
            <a:ext cx="580966" cy="163811"/>
          </a:xfrm>
          <a:prstGeom prst="rightArrow">
            <a:avLst/>
          </a:prstGeom>
          <a:solidFill>
            <a:srgbClr val="00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43" name="Arrow: Right 42">
            <a:extLst>
              <a:ext uri="{FF2B5EF4-FFF2-40B4-BE49-F238E27FC236}">
                <a16:creationId xmlns:a16="http://schemas.microsoft.com/office/drawing/2014/main" id="{3159BE1D-911A-44B4-B62A-78884FB2E4C5}"/>
              </a:ext>
            </a:extLst>
          </p:cNvPr>
          <p:cNvSpPr/>
          <p:nvPr/>
        </p:nvSpPr>
        <p:spPr>
          <a:xfrm rot="16944028">
            <a:off x="7289386" y="1416027"/>
            <a:ext cx="580966" cy="163811"/>
          </a:xfrm>
          <a:prstGeom prst="rightArrow">
            <a:avLst/>
          </a:prstGeom>
          <a:solidFill>
            <a:srgbClr val="00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44" name="TextBox 43">
            <a:extLst>
              <a:ext uri="{FF2B5EF4-FFF2-40B4-BE49-F238E27FC236}">
                <a16:creationId xmlns:a16="http://schemas.microsoft.com/office/drawing/2014/main" id="{299A0024-297C-3BD2-E98E-88B14F0C6F09}"/>
              </a:ext>
            </a:extLst>
          </p:cNvPr>
          <p:cNvSpPr txBox="1"/>
          <p:nvPr/>
        </p:nvSpPr>
        <p:spPr>
          <a:xfrm>
            <a:off x="7336981" y="886050"/>
            <a:ext cx="1406816" cy="323165"/>
          </a:xfrm>
          <a:prstGeom prst="rect">
            <a:avLst/>
          </a:prstGeom>
          <a:noFill/>
        </p:spPr>
        <p:txBody>
          <a:bodyPr wrap="square" rtlCol="0">
            <a:spAutoFit/>
          </a:bodyPr>
          <a:lstStyle/>
          <a:p>
            <a:pPr algn="l"/>
            <a:r>
              <a:rPr lang="en-US" sz="1500">
                <a:latin typeface="Consolas" panose="020B0609020204030204" pitchFamily="49" charset="0"/>
              </a:rPr>
              <a:t>return 0;</a:t>
            </a:r>
          </a:p>
        </p:txBody>
      </p:sp>
    </p:spTree>
    <p:extLst>
      <p:ext uri="{BB962C8B-B14F-4D97-AF65-F5344CB8AC3E}">
        <p14:creationId xmlns:p14="http://schemas.microsoft.com/office/powerpoint/2010/main" val="1249563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animBg="1"/>
      <p:bldP spid="33" grpId="0"/>
      <p:bldP spid="36" grpId="0"/>
      <p:bldP spid="37" grpId="0"/>
      <p:bldP spid="41" grpId="0" animBg="1"/>
      <p:bldP spid="42" grpId="0" animBg="1"/>
      <p:bldP spid="43" grpId="0" animBg="1"/>
      <p:bldP spid="44" grpId="0"/>
    </p:bldLst>
  </p:timing>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2B115-B831-0EBC-FF5C-DBA317593E4A}"/>
            </a:ext>
          </a:extLst>
        </p:cNvPr>
        <p:cNvGrpSpPr/>
        <p:nvPr/>
      </p:nvGrpSpPr>
      <p:grpSpPr>
        <a:xfrm>
          <a:off x="0" y="0"/>
          <a:ext cx="0" cy="0"/>
          <a:chOff x="0" y="0"/>
          <a:chExt cx="0" cy="0"/>
        </a:xfrm>
      </p:grpSpPr>
      <p:sp>
        <p:nvSpPr>
          <p:cNvPr id="32" name="Arrow: Right 31">
            <a:extLst>
              <a:ext uri="{FF2B5EF4-FFF2-40B4-BE49-F238E27FC236}">
                <a16:creationId xmlns:a16="http://schemas.microsoft.com/office/drawing/2014/main" id="{C3460DBC-F814-91EF-6791-CD21E1EAF753}"/>
              </a:ext>
            </a:extLst>
          </p:cNvPr>
          <p:cNvSpPr/>
          <p:nvPr/>
        </p:nvSpPr>
        <p:spPr>
          <a:xfrm rot="16944028">
            <a:off x="4163382" y="4179898"/>
            <a:ext cx="580966" cy="163811"/>
          </a:xfrm>
          <a:prstGeom prst="rightArrow">
            <a:avLst/>
          </a:prstGeom>
          <a:solidFill>
            <a:srgbClr val="00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33" name="TextBox 32">
            <a:extLst>
              <a:ext uri="{FF2B5EF4-FFF2-40B4-BE49-F238E27FC236}">
                <a16:creationId xmlns:a16="http://schemas.microsoft.com/office/drawing/2014/main" id="{FB9008FA-FAB9-2D5E-4AB0-7F0B10483FD8}"/>
              </a:ext>
            </a:extLst>
          </p:cNvPr>
          <p:cNvSpPr txBox="1"/>
          <p:nvPr/>
        </p:nvSpPr>
        <p:spPr>
          <a:xfrm>
            <a:off x="4164304" y="3637290"/>
            <a:ext cx="2942372" cy="323165"/>
          </a:xfrm>
          <a:prstGeom prst="rect">
            <a:avLst/>
          </a:prstGeom>
          <a:noFill/>
        </p:spPr>
        <p:txBody>
          <a:bodyPr wrap="square" rtlCol="0">
            <a:spAutoFit/>
          </a:bodyPr>
          <a:lstStyle/>
          <a:p>
            <a:pPr algn="l"/>
            <a:r>
              <a:rPr lang="en-US" sz="1500">
                <a:latin typeface="Consolas" panose="020B0609020204030204" pitchFamily="49" charset="0"/>
              </a:rPr>
              <a:t>return </a:t>
            </a:r>
            <a:r>
              <a:rPr lang="en-US" sz="1500" err="1">
                <a:latin typeface="Consolas" panose="020B0609020204030204" pitchFamily="49" charset="0"/>
              </a:rPr>
              <a:t>digitSum</a:t>
            </a:r>
            <a:r>
              <a:rPr lang="en-US" sz="1500">
                <a:latin typeface="Consolas" panose="020B0609020204030204" pitchFamily="49" charset="0"/>
              </a:rPr>
              <a:t>(25) + 6;</a:t>
            </a:r>
          </a:p>
        </p:txBody>
      </p:sp>
      <p:sp>
        <p:nvSpPr>
          <p:cNvPr id="36" name="TextBox 35">
            <a:extLst>
              <a:ext uri="{FF2B5EF4-FFF2-40B4-BE49-F238E27FC236}">
                <a16:creationId xmlns:a16="http://schemas.microsoft.com/office/drawing/2014/main" id="{6F8F9CBE-5325-8094-D10A-78F4A3B241C6}"/>
              </a:ext>
            </a:extLst>
          </p:cNvPr>
          <p:cNvSpPr txBox="1"/>
          <p:nvPr/>
        </p:nvSpPr>
        <p:spPr>
          <a:xfrm>
            <a:off x="5179292" y="2703436"/>
            <a:ext cx="2942372" cy="323165"/>
          </a:xfrm>
          <a:prstGeom prst="rect">
            <a:avLst/>
          </a:prstGeom>
          <a:noFill/>
        </p:spPr>
        <p:txBody>
          <a:bodyPr wrap="square" rtlCol="0">
            <a:spAutoFit/>
          </a:bodyPr>
          <a:lstStyle/>
          <a:p>
            <a:pPr algn="l"/>
            <a:r>
              <a:rPr lang="en-US" sz="1500">
                <a:latin typeface="Consolas" panose="020B0609020204030204" pitchFamily="49" charset="0"/>
              </a:rPr>
              <a:t>return </a:t>
            </a:r>
            <a:r>
              <a:rPr lang="en-US" sz="1500" err="1">
                <a:latin typeface="Consolas" panose="020B0609020204030204" pitchFamily="49" charset="0"/>
              </a:rPr>
              <a:t>digitSum</a:t>
            </a:r>
            <a:r>
              <a:rPr lang="en-US" sz="1500">
                <a:latin typeface="Consolas" panose="020B0609020204030204" pitchFamily="49" charset="0"/>
              </a:rPr>
              <a:t>(2) + 5;</a:t>
            </a:r>
          </a:p>
        </p:txBody>
      </p:sp>
      <p:sp>
        <p:nvSpPr>
          <p:cNvPr id="37" name="TextBox 36">
            <a:extLst>
              <a:ext uri="{FF2B5EF4-FFF2-40B4-BE49-F238E27FC236}">
                <a16:creationId xmlns:a16="http://schemas.microsoft.com/office/drawing/2014/main" id="{4A9E94FF-C33F-3D0A-5A68-02EAD5D5B64C}"/>
              </a:ext>
            </a:extLst>
          </p:cNvPr>
          <p:cNvSpPr txBox="1"/>
          <p:nvPr/>
        </p:nvSpPr>
        <p:spPr>
          <a:xfrm>
            <a:off x="6201628" y="1790425"/>
            <a:ext cx="2942372" cy="323165"/>
          </a:xfrm>
          <a:prstGeom prst="rect">
            <a:avLst/>
          </a:prstGeom>
          <a:noFill/>
        </p:spPr>
        <p:txBody>
          <a:bodyPr wrap="square" rtlCol="0">
            <a:spAutoFit/>
          </a:bodyPr>
          <a:lstStyle/>
          <a:p>
            <a:pPr algn="l"/>
            <a:r>
              <a:rPr lang="en-US" sz="1500">
                <a:latin typeface="Consolas" panose="020B0609020204030204" pitchFamily="49" charset="0"/>
              </a:rPr>
              <a:t>return </a:t>
            </a:r>
            <a:r>
              <a:rPr lang="en-US" sz="1500" err="1">
                <a:latin typeface="Consolas" panose="020B0609020204030204" pitchFamily="49" charset="0"/>
              </a:rPr>
              <a:t>digitSum</a:t>
            </a:r>
            <a:r>
              <a:rPr lang="en-US" sz="1500">
                <a:latin typeface="Consolas" panose="020B0609020204030204" pitchFamily="49" charset="0"/>
              </a:rPr>
              <a:t>(0) + 2;</a:t>
            </a:r>
          </a:p>
        </p:txBody>
      </p:sp>
      <p:sp>
        <p:nvSpPr>
          <p:cNvPr id="41" name="Arrow: Right 40">
            <a:extLst>
              <a:ext uri="{FF2B5EF4-FFF2-40B4-BE49-F238E27FC236}">
                <a16:creationId xmlns:a16="http://schemas.microsoft.com/office/drawing/2014/main" id="{0549B575-1499-32FE-E2D2-E40990C8D0FF}"/>
              </a:ext>
            </a:extLst>
          </p:cNvPr>
          <p:cNvSpPr/>
          <p:nvPr/>
        </p:nvSpPr>
        <p:spPr>
          <a:xfrm rot="16944028">
            <a:off x="5174058" y="3233413"/>
            <a:ext cx="580966" cy="163811"/>
          </a:xfrm>
          <a:prstGeom prst="rightArrow">
            <a:avLst/>
          </a:prstGeom>
          <a:solidFill>
            <a:srgbClr val="00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42" name="Arrow: Right 41">
            <a:extLst>
              <a:ext uri="{FF2B5EF4-FFF2-40B4-BE49-F238E27FC236}">
                <a16:creationId xmlns:a16="http://schemas.microsoft.com/office/drawing/2014/main" id="{CEF76BB8-FF06-D9D5-C252-5957ABFD64A3}"/>
              </a:ext>
            </a:extLst>
          </p:cNvPr>
          <p:cNvSpPr/>
          <p:nvPr/>
        </p:nvSpPr>
        <p:spPr>
          <a:xfrm rot="16944028">
            <a:off x="6198571" y="2320236"/>
            <a:ext cx="580966" cy="163811"/>
          </a:xfrm>
          <a:prstGeom prst="rightArrow">
            <a:avLst/>
          </a:prstGeom>
          <a:solidFill>
            <a:srgbClr val="00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43" name="Arrow: Right 42">
            <a:extLst>
              <a:ext uri="{FF2B5EF4-FFF2-40B4-BE49-F238E27FC236}">
                <a16:creationId xmlns:a16="http://schemas.microsoft.com/office/drawing/2014/main" id="{CA9F6921-A4EB-5459-AF8B-57703CA1F0E8}"/>
              </a:ext>
            </a:extLst>
          </p:cNvPr>
          <p:cNvSpPr/>
          <p:nvPr/>
        </p:nvSpPr>
        <p:spPr>
          <a:xfrm rot="6300000">
            <a:off x="7289386" y="1416027"/>
            <a:ext cx="580966" cy="163811"/>
          </a:xfrm>
          <a:prstGeom prst="rightArrow">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44" name="TextBox 43">
            <a:extLst>
              <a:ext uri="{FF2B5EF4-FFF2-40B4-BE49-F238E27FC236}">
                <a16:creationId xmlns:a16="http://schemas.microsoft.com/office/drawing/2014/main" id="{71A01FC0-7AD3-9D2D-34DA-D26098EA9C7E}"/>
              </a:ext>
            </a:extLst>
          </p:cNvPr>
          <p:cNvSpPr txBox="1"/>
          <p:nvPr/>
        </p:nvSpPr>
        <p:spPr>
          <a:xfrm>
            <a:off x="7336981" y="886050"/>
            <a:ext cx="1935607" cy="323165"/>
          </a:xfrm>
          <a:prstGeom prst="rect">
            <a:avLst/>
          </a:prstGeom>
          <a:noFill/>
        </p:spPr>
        <p:txBody>
          <a:bodyPr wrap="square" rtlCol="0">
            <a:spAutoFit/>
          </a:bodyPr>
          <a:lstStyle/>
          <a:p>
            <a:pPr algn="l"/>
            <a:r>
              <a:rPr lang="en-US" sz="1500">
                <a:latin typeface="Consolas" panose="020B0609020204030204" pitchFamily="49" charset="0"/>
              </a:rPr>
              <a:t>return 0;</a:t>
            </a:r>
          </a:p>
        </p:txBody>
      </p:sp>
      <p:sp>
        <p:nvSpPr>
          <p:cNvPr id="2" name="TextBox 1">
            <a:extLst>
              <a:ext uri="{FF2B5EF4-FFF2-40B4-BE49-F238E27FC236}">
                <a16:creationId xmlns:a16="http://schemas.microsoft.com/office/drawing/2014/main" id="{4DF74325-B0D3-9123-4FF9-3487FFE80FF6}"/>
              </a:ext>
            </a:extLst>
          </p:cNvPr>
          <p:cNvSpPr txBox="1"/>
          <p:nvPr/>
        </p:nvSpPr>
        <p:spPr>
          <a:xfrm>
            <a:off x="2982678" y="4571145"/>
            <a:ext cx="2942372" cy="323165"/>
          </a:xfrm>
          <a:prstGeom prst="rect">
            <a:avLst/>
          </a:prstGeom>
          <a:noFill/>
        </p:spPr>
        <p:txBody>
          <a:bodyPr wrap="square" rtlCol="0">
            <a:spAutoFit/>
          </a:bodyPr>
          <a:lstStyle/>
          <a:p>
            <a:pPr algn="l"/>
            <a:r>
              <a:rPr lang="en-US" sz="1500">
                <a:latin typeface="Consolas" panose="020B0609020204030204" pitchFamily="49" charset="0"/>
              </a:rPr>
              <a:t>int a = </a:t>
            </a:r>
            <a:r>
              <a:rPr lang="en-US" sz="1500" err="1">
                <a:latin typeface="Consolas" panose="020B0609020204030204" pitchFamily="49" charset="0"/>
              </a:rPr>
              <a:t>digitSum</a:t>
            </a:r>
            <a:r>
              <a:rPr lang="en-US" sz="1500">
                <a:latin typeface="Consolas" panose="020B0609020204030204" pitchFamily="49" charset="0"/>
              </a:rPr>
              <a:t>(256);</a:t>
            </a:r>
          </a:p>
        </p:txBody>
      </p:sp>
      <p:sp>
        <p:nvSpPr>
          <p:cNvPr id="3" name="TextBox 2">
            <a:extLst>
              <a:ext uri="{FF2B5EF4-FFF2-40B4-BE49-F238E27FC236}">
                <a16:creationId xmlns:a16="http://schemas.microsoft.com/office/drawing/2014/main" id="{18DE7A07-DDD5-F893-624D-585599645259}"/>
              </a:ext>
            </a:extLst>
          </p:cNvPr>
          <p:cNvSpPr txBox="1"/>
          <p:nvPr/>
        </p:nvSpPr>
        <p:spPr>
          <a:xfrm>
            <a:off x="411404" y="225596"/>
            <a:ext cx="4767888" cy="1569660"/>
          </a:xfrm>
          <a:prstGeom prst="rect">
            <a:avLst/>
          </a:prstGeom>
          <a:solidFill>
            <a:schemeClr val="bg1"/>
          </a:solidFill>
          <a:ln>
            <a:solidFill>
              <a:schemeClr val="tx1"/>
            </a:solidFill>
          </a:ln>
        </p:spPr>
        <p:txBody>
          <a:bodyPr wrap="square" rtlCol="0">
            <a:spAutoFit/>
          </a:bodyPr>
          <a:lstStyle/>
          <a:p>
            <a:r>
              <a:rPr lang="en-US" sz="1600">
                <a:latin typeface="+mj-lt"/>
              </a:rPr>
              <a:t>static int digitSum(int n) {</a:t>
            </a:r>
          </a:p>
          <a:p>
            <a:r>
              <a:rPr lang="en-US" sz="1600">
                <a:latin typeface="+mj-lt"/>
              </a:rPr>
              <a:t>    if (n == 0) {</a:t>
            </a:r>
          </a:p>
          <a:p>
            <a:r>
              <a:rPr lang="en-US" sz="1600">
                <a:latin typeface="+mj-lt"/>
              </a:rPr>
              <a:t>        return 0;</a:t>
            </a:r>
          </a:p>
          <a:p>
            <a:r>
              <a:rPr lang="en-US" sz="1600">
                <a:latin typeface="+mj-lt"/>
              </a:rPr>
              <a:t>    }</a:t>
            </a:r>
          </a:p>
          <a:p>
            <a:r>
              <a:rPr lang="en-US" sz="1600">
                <a:latin typeface="+mj-lt"/>
              </a:rPr>
              <a:t>    return digitSum(n / 10) + (n % 10);</a:t>
            </a:r>
          </a:p>
          <a:p>
            <a:r>
              <a:rPr lang="en-US" sz="1600">
                <a:latin typeface="+mj-lt"/>
              </a:rPr>
              <a:t>}</a:t>
            </a:r>
            <a:endParaRPr lang="en-US" sz="1500">
              <a:latin typeface="Consolas" panose="020B0609020204030204" pitchFamily="49" charset="0"/>
            </a:endParaRPr>
          </a:p>
        </p:txBody>
      </p:sp>
    </p:spTree>
    <p:extLst>
      <p:ext uri="{BB962C8B-B14F-4D97-AF65-F5344CB8AC3E}">
        <p14:creationId xmlns:p14="http://schemas.microsoft.com/office/powerpoint/2010/main" val="115327061"/>
      </p:ext>
    </p:extLst>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6DD03-04BE-CE99-837F-11697CFFDBD6}"/>
            </a:ext>
          </a:extLst>
        </p:cNvPr>
        <p:cNvGrpSpPr/>
        <p:nvPr/>
      </p:nvGrpSpPr>
      <p:grpSpPr>
        <a:xfrm>
          <a:off x="0" y="0"/>
          <a:ext cx="0" cy="0"/>
          <a:chOff x="0" y="0"/>
          <a:chExt cx="0" cy="0"/>
        </a:xfrm>
      </p:grpSpPr>
      <p:sp>
        <p:nvSpPr>
          <p:cNvPr id="32" name="Arrow: Right 31">
            <a:extLst>
              <a:ext uri="{FF2B5EF4-FFF2-40B4-BE49-F238E27FC236}">
                <a16:creationId xmlns:a16="http://schemas.microsoft.com/office/drawing/2014/main" id="{5E4026F6-CBE8-B61C-F33F-3899BC27D457}"/>
              </a:ext>
            </a:extLst>
          </p:cNvPr>
          <p:cNvSpPr/>
          <p:nvPr/>
        </p:nvSpPr>
        <p:spPr>
          <a:xfrm rot="16944028">
            <a:off x="4163382" y="4179898"/>
            <a:ext cx="580966" cy="163811"/>
          </a:xfrm>
          <a:prstGeom prst="rightArrow">
            <a:avLst/>
          </a:prstGeom>
          <a:solidFill>
            <a:srgbClr val="00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33" name="TextBox 32">
            <a:extLst>
              <a:ext uri="{FF2B5EF4-FFF2-40B4-BE49-F238E27FC236}">
                <a16:creationId xmlns:a16="http://schemas.microsoft.com/office/drawing/2014/main" id="{51197A2C-9273-0977-C953-8E33CE38F55F}"/>
              </a:ext>
            </a:extLst>
          </p:cNvPr>
          <p:cNvSpPr txBox="1"/>
          <p:nvPr/>
        </p:nvSpPr>
        <p:spPr>
          <a:xfrm>
            <a:off x="4164304" y="3637290"/>
            <a:ext cx="2942372" cy="323165"/>
          </a:xfrm>
          <a:prstGeom prst="rect">
            <a:avLst/>
          </a:prstGeom>
          <a:noFill/>
        </p:spPr>
        <p:txBody>
          <a:bodyPr wrap="square" rtlCol="0">
            <a:spAutoFit/>
          </a:bodyPr>
          <a:lstStyle/>
          <a:p>
            <a:pPr algn="l"/>
            <a:r>
              <a:rPr lang="en-US" sz="1500">
                <a:latin typeface="Consolas" panose="020B0609020204030204" pitchFamily="49" charset="0"/>
              </a:rPr>
              <a:t>return </a:t>
            </a:r>
            <a:r>
              <a:rPr lang="en-US" sz="1500" err="1">
                <a:latin typeface="Consolas" panose="020B0609020204030204" pitchFamily="49" charset="0"/>
              </a:rPr>
              <a:t>digitSum</a:t>
            </a:r>
            <a:r>
              <a:rPr lang="en-US" sz="1500">
                <a:latin typeface="Consolas" panose="020B0609020204030204" pitchFamily="49" charset="0"/>
              </a:rPr>
              <a:t>(25) + 6;</a:t>
            </a:r>
          </a:p>
        </p:txBody>
      </p:sp>
      <p:sp>
        <p:nvSpPr>
          <p:cNvPr id="36" name="TextBox 35">
            <a:extLst>
              <a:ext uri="{FF2B5EF4-FFF2-40B4-BE49-F238E27FC236}">
                <a16:creationId xmlns:a16="http://schemas.microsoft.com/office/drawing/2014/main" id="{5891006B-CE90-EC97-0232-DDD9CF5AB658}"/>
              </a:ext>
            </a:extLst>
          </p:cNvPr>
          <p:cNvSpPr txBox="1"/>
          <p:nvPr/>
        </p:nvSpPr>
        <p:spPr>
          <a:xfrm>
            <a:off x="5179292" y="2703436"/>
            <a:ext cx="2942372" cy="323165"/>
          </a:xfrm>
          <a:prstGeom prst="rect">
            <a:avLst/>
          </a:prstGeom>
          <a:noFill/>
        </p:spPr>
        <p:txBody>
          <a:bodyPr wrap="square" rtlCol="0">
            <a:spAutoFit/>
          </a:bodyPr>
          <a:lstStyle/>
          <a:p>
            <a:pPr algn="l"/>
            <a:r>
              <a:rPr lang="en-US" sz="1500">
                <a:latin typeface="Consolas" panose="020B0609020204030204" pitchFamily="49" charset="0"/>
              </a:rPr>
              <a:t>return </a:t>
            </a:r>
            <a:r>
              <a:rPr lang="en-US" sz="1500" err="1">
                <a:latin typeface="Consolas" panose="020B0609020204030204" pitchFamily="49" charset="0"/>
              </a:rPr>
              <a:t>digitSum</a:t>
            </a:r>
            <a:r>
              <a:rPr lang="en-US" sz="1500">
                <a:latin typeface="Consolas" panose="020B0609020204030204" pitchFamily="49" charset="0"/>
              </a:rPr>
              <a:t>(2) + 5;</a:t>
            </a:r>
          </a:p>
        </p:txBody>
      </p:sp>
      <p:sp>
        <p:nvSpPr>
          <p:cNvPr id="37" name="TextBox 36">
            <a:extLst>
              <a:ext uri="{FF2B5EF4-FFF2-40B4-BE49-F238E27FC236}">
                <a16:creationId xmlns:a16="http://schemas.microsoft.com/office/drawing/2014/main" id="{71154BB5-67E3-E199-5CD1-B3B8AB4CB490}"/>
              </a:ext>
            </a:extLst>
          </p:cNvPr>
          <p:cNvSpPr txBox="1"/>
          <p:nvPr/>
        </p:nvSpPr>
        <p:spPr>
          <a:xfrm>
            <a:off x="6201628" y="1790425"/>
            <a:ext cx="2942372" cy="323165"/>
          </a:xfrm>
          <a:prstGeom prst="rect">
            <a:avLst/>
          </a:prstGeom>
          <a:noFill/>
        </p:spPr>
        <p:txBody>
          <a:bodyPr wrap="square" rtlCol="0">
            <a:spAutoFit/>
          </a:bodyPr>
          <a:lstStyle/>
          <a:p>
            <a:pPr algn="l"/>
            <a:r>
              <a:rPr lang="en-US" sz="1500">
                <a:latin typeface="Consolas" panose="020B0609020204030204" pitchFamily="49" charset="0"/>
              </a:rPr>
              <a:t>return 0 + 2;</a:t>
            </a:r>
          </a:p>
        </p:txBody>
      </p:sp>
      <p:sp>
        <p:nvSpPr>
          <p:cNvPr id="41" name="Arrow: Right 40">
            <a:extLst>
              <a:ext uri="{FF2B5EF4-FFF2-40B4-BE49-F238E27FC236}">
                <a16:creationId xmlns:a16="http://schemas.microsoft.com/office/drawing/2014/main" id="{553A6C72-DFB0-3BE2-E3D2-2AEFFC9E8B73}"/>
              </a:ext>
            </a:extLst>
          </p:cNvPr>
          <p:cNvSpPr/>
          <p:nvPr/>
        </p:nvSpPr>
        <p:spPr>
          <a:xfrm rot="16944028">
            <a:off x="5174058" y="3233413"/>
            <a:ext cx="580966" cy="163811"/>
          </a:xfrm>
          <a:prstGeom prst="rightArrow">
            <a:avLst/>
          </a:prstGeom>
          <a:solidFill>
            <a:srgbClr val="00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42" name="Arrow: Right 41">
            <a:extLst>
              <a:ext uri="{FF2B5EF4-FFF2-40B4-BE49-F238E27FC236}">
                <a16:creationId xmlns:a16="http://schemas.microsoft.com/office/drawing/2014/main" id="{68201290-8A68-4400-62F4-6E67202ADFF3}"/>
              </a:ext>
            </a:extLst>
          </p:cNvPr>
          <p:cNvSpPr/>
          <p:nvPr/>
        </p:nvSpPr>
        <p:spPr>
          <a:xfrm rot="16944028">
            <a:off x="6198571" y="2320236"/>
            <a:ext cx="580966" cy="163811"/>
          </a:xfrm>
          <a:prstGeom prst="rightArrow">
            <a:avLst/>
          </a:prstGeom>
          <a:solidFill>
            <a:srgbClr val="00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2" name="TextBox 1">
            <a:extLst>
              <a:ext uri="{FF2B5EF4-FFF2-40B4-BE49-F238E27FC236}">
                <a16:creationId xmlns:a16="http://schemas.microsoft.com/office/drawing/2014/main" id="{D686A35D-FD3F-6654-7F56-3AD7DC0553D9}"/>
              </a:ext>
            </a:extLst>
          </p:cNvPr>
          <p:cNvSpPr txBox="1"/>
          <p:nvPr/>
        </p:nvSpPr>
        <p:spPr>
          <a:xfrm>
            <a:off x="2982678" y="4571145"/>
            <a:ext cx="2942372" cy="323165"/>
          </a:xfrm>
          <a:prstGeom prst="rect">
            <a:avLst/>
          </a:prstGeom>
          <a:noFill/>
        </p:spPr>
        <p:txBody>
          <a:bodyPr wrap="square" rtlCol="0">
            <a:spAutoFit/>
          </a:bodyPr>
          <a:lstStyle/>
          <a:p>
            <a:pPr algn="l"/>
            <a:r>
              <a:rPr lang="en-US" sz="1500">
                <a:latin typeface="Consolas" panose="020B0609020204030204" pitchFamily="49" charset="0"/>
              </a:rPr>
              <a:t>int a = </a:t>
            </a:r>
            <a:r>
              <a:rPr lang="en-US" sz="1500" err="1">
                <a:latin typeface="Consolas" panose="020B0609020204030204" pitchFamily="49" charset="0"/>
              </a:rPr>
              <a:t>digitSum</a:t>
            </a:r>
            <a:r>
              <a:rPr lang="en-US" sz="1500">
                <a:latin typeface="Consolas" panose="020B0609020204030204" pitchFamily="49" charset="0"/>
              </a:rPr>
              <a:t>(256);</a:t>
            </a:r>
          </a:p>
        </p:txBody>
      </p:sp>
      <p:sp>
        <p:nvSpPr>
          <p:cNvPr id="3" name="TextBox 2">
            <a:extLst>
              <a:ext uri="{FF2B5EF4-FFF2-40B4-BE49-F238E27FC236}">
                <a16:creationId xmlns:a16="http://schemas.microsoft.com/office/drawing/2014/main" id="{236ADAB7-D640-4D7D-DB5F-5A3674189102}"/>
              </a:ext>
            </a:extLst>
          </p:cNvPr>
          <p:cNvSpPr txBox="1"/>
          <p:nvPr/>
        </p:nvSpPr>
        <p:spPr>
          <a:xfrm>
            <a:off x="411404" y="225596"/>
            <a:ext cx="4767888" cy="1569660"/>
          </a:xfrm>
          <a:prstGeom prst="rect">
            <a:avLst/>
          </a:prstGeom>
          <a:solidFill>
            <a:schemeClr val="bg1"/>
          </a:solidFill>
          <a:ln>
            <a:solidFill>
              <a:schemeClr val="tx1"/>
            </a:solidFill>
          </a:ln>
        </p:spPr>
        <p:txBody>
          <a:bodyPr wrap="square" rtlCol="0">
            <a:spAutoFit/>
          </a:bodyPr>
          <a:lstStyle/>
          <a:p>
            <a:r>
              <a:rPr lang="en-US" sz="1600">
                <a:latin typeface="+mj-lt"/>
              </a:rPr>
              <a:t>static int digitSum(int n) {</a:t>
            </a:r>
          </a:p>
          <a:p>
            <a:r>
              <a:rPr lang="en-US" sz="1600">
                <a:latin typeface="+mj-lt"/>
              </a:rPr>
              <a:t>    if (n == 0) {</a:t>
            </a:r>
          </a:p>
          <a:p>
            <a:r>
              <a:rPr lang="en-US" sz="1600">
                <a:latin typeface="+mj-lt"/>
              </a:rPr>
              <a:t>        return 0;</a:t>
            </a:r>
          </a:p>
          <a:p>
            <a:r>
              <a:rPr lang="en-US" sz="1600">
                <a:latin typeface="+mj-lt"/>
              </a:rPr>
              <a:t>    }</a:t>
            </a:r>
          </a:p>
          <a:p>
            <a:r>
              <a:rPr lang="en-US" sz="1600">
                <a:latin typeface="+mj-lt"/>
              </a:rPr>
              <a:t>    return digitSum(n / 10) + (n % 10);</a:t>
            </a:r>
          </a:p>
          <a:p>
            <a:r>
              <a:rPr lang="en-US" sz="1600">
                <a:latin typeface="+mj-lt"/>
              </a:rPr>
              <a:t>}</a:t>
            </a:r>
            <a:endParaRPr lang="en-US" sz="1500">
              <a:latin typeface="Consolas" panose="020B0609020204030204" pitchFamily="49" charset="0"/>
            </a:endParaRPr>
          </a:p>
        </p:txBody>
      </p:sp>
    </p:spTree>
    <p:extLst>
      <p:ext uri="{BB962C8B-B14F-4D97-AF65-F5344CB8AC3E}">
        <p14:creationId xmlns:p14="http://schemas.microsoft.com/office/powerpoint/2010/main" val="2014336888"/>
      </p:ext>
    </p:extLst>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3E6DF-5D31-CF9F-A642-5E4B153DF6BF}"/>
            </a:ext>
          </a:extLst>
        </p:cNvPr>
        <p:cNvGrpSpPr/>
        <p:nvPr/>
      </p:nvGrpSpPr>
      <p:grpSpPr>
        <a:xfrm>
          <a:off x="0" y="0"/>
          <a:ext cx="0" cy="0"/>
          <a:chOff x="0" y="0"/>
          <a:chExt cx="0" cy="0"/>
        </a:xfrm>
      </p:grpSpPr>
      <p:sp>
        <p:nvSpPr>
          <p:cNvPr id="32" name="Arrow: Right 31">
            <a:extLst>
              <a:ext uri="{FF2B5EF4-FFF2-40B4-BE49-F238E27FC236}">
                <a16:creationId xmlns:a16="http://schemas.microsoft.com/office/drawing/2014/main" id="{DC592C63-E87B-6D61-4B18-C7E2294D3B86}"/>
              </a:ext>
            </a:extLst>
          </p:cNvPr>
          <p:cNvSpPr/>
          <p:nvPr/>
        </p:nvSpPr>
        <p:spPr>
          <a:xfrm rot="16944028">
            <a:off x="4163382" y="4179898"/>
            <a:ext cx="580966" cy="163811"/>
          </a:xfrm>
          <a:prstGeom prst="rightArrow">
            <a:avLst/>
          </a:prstGeom>
          <a:solidFill>
            <a:srgbClr val="00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33" name="TextBox 32">
            <a:extLst>
              <a:ext uri="{FF2B5EF4-FFF2-40B4-BE49-F238E27FC236}">
                <a16:creationId xmlns:a16="http://schemas.microsoft.com/office/drawing/2014/main" id="{2CF31601-D59A-DFD8-4018-108979411254}"/>
              </a:ext>
            </a:extLst>
          </p:cNvPr>
          <p:cNvSpPr txBox="1"/>
          <p:nvPr/>
        </p:nvSpPr>
        <p:spPr>
          <a:xfrm>
            <a:off x="4164304" y="3637290"/>
            <a:ext cx="2942372" cy="323165"/>
          </a:xfrm>
          <a:prstGeom prst="rect">
            <a:avLst/>
          </a:prstGeom>
          <a:noFill/>
        </p:spPr>
        <p:txBody>
          <a:bodyPr wrap="square" rtlCol="0">
            <a:spAutoFit/>
          </a:bodyPr>
          <a:lstStyle/>
          <a:p>
            <a:pPr algn="l"/>
            <a:r>
              <a:rPr lang="en-US" sz="1500">
                <a:latin typeface="Consolas" panose="020B0609020204030204" pitchFamily="49" charset="0"/>
              </a:rPr>
              <a:t>return </a:t>
            </a:r>
            <a:r>
              <a:rPr lang="en-US" sz="1500" err="1">
                <a:latin typeface="Consolas" panose="020B0609020204030204" pitchFamily="49" charset="0"/>
              </a:rPr>
              <a:t>digitSum</a:t>
            </a:r>
            <a:r>
              <a:rPr lang="en-US" sz="1500">
                <a:latin typeface="Consolas" panose="020B0609020204030204" pitchFamily="49" charset="0"/>
              </a:rPr>
              <a:t>(25) + 6;</a:t>
            </a:r>
          </a:p>
        </p:txBody>
      </p:sp>
      <p:sp>
        <p:nvSpPr>
          <p:cNvPr id="36" name="TextBox 35">
            <a:extLst>
              <a:ext uri="{FF2B5EF4-FFF2-40B4-BE49-F238E27FC236}">
                <a16:creationId xmlns:a16="http://schemas.microsoft.com/office/drawing/2014/main" id="{000EC223-BEEB-7261-29D7-2892D146065F}"/>
              </a:ext>
            </a:extLst>
          </p:cNvPr>
          <p:cNvSpPr txBox="1"/>
          <p:nvPr/>
        </p:nvSpPr>
        <p:spPr>
          <a:xfrm>
            <a:off x="5179292" y="2703436"/>
            <a:ext cx="2942372" cy="323165"/>
          </a:xfrm>
          <a:prstGeom prst="rect">
            <a:avLst/>
          </a:prstGeom>
          <a:noFill/>
        </p:spPr>
        <p:txBody>
          <a:bodyPr wrap="square" rtlCol="0">
            <a:spAutoFit/>
          </a:bodyPr>
          <a:lstStyle/>
          <a:p>
            <a:pPr algn="l"/>
            <a:r>
              <a:rPr lang="en-US" sz="1500">
                <a:latin typeface="Consolas" panose="020B0609020204030204" pitchFamily="49" charset="0"/>
              </a:rPr>
              <a:t>return </a:t>
            </a:r>
            <a:r>
              <a:rPr lang="en-US" sz="1500" err="1">
                <a:latin typeface="Consolas" panose="020B0609020204030204" pitchFamily="49" charset="0"/>
              </a:rPr>
              <a:t>digitSum</a:t>
            </a:r>
            <a:r>
              <a:rPr lang="en-US" sz="1500">
                <a:latin typeface="Consolas" panose="020B0609020204030204" pitchFamily="49" charset="0"/>
              </a:rPr>
              <a:t>(2) + 5;</a:t>
            </a:r>
          </a:p>
        </p:txBody>
      </p:sp>
      <p:sp>
        <p:nvSpPr>
          <p:cNvPr id="37" name="TextBox 36">
            <a:extLst>
              <a:ext uri="{FF2B5EF4-FFF2-40B4-BE49-F238E27FC236}">
                <a16:creationId xmlns:a16="http://schemas.microsoft.com/office/drawing/2014/main" id="{8E9BD2C9-C71D-3680-DF20-F2CA2AD5F2CF}"/>
              </a:ext>
            </a:extLst>
          </p:cNvPr>
          <p:cNvSpPr txBox="1"/>
          <p:nvPr/>
        </p:nvSpPr>
        <p:spPr>
          <a:xfrm>
            <a:off x="6201628" y="1790425"/>
            <a:ext cx="2942372" cy="323165"/>
          </a:xfrm>
          <a:prstGeom prst="rect">
            <a:avLst/>
          </a:prstGeom>
          <a:noFill/>
        </p:spPr>
        <p:txBody>
          <a:bodyPr wrap="square" rtlCol="0">
            <a:spAutoFit/>
          </a:bodyPr>
          <a:lstStyle/>
          <a:p>
            <a:pPr algn="l"/>
            <a:r>
              <a:rPr lang="en-US" sz="1500">
                <a:latin typeface="Consolas" panose="020B0609020204030204" pitchFamily="49" charset="0"/>
              </a:rPr>
              <a:t>return 2;</a:t>
            </a:r>
          </a:p>
        </p:txBody>
      </p:sp>
      <p:sp>
        <p:nvSpPr>
          <p:cNvPr id="41" name="Arrow: Right 40">
            <a:extLst>
              <a:ext uri="{FF2B5EF4-FFF2-40B4-BE49-F238E27FC236}">
                <a16:creationId xmlns:a16="http://schemas.microsoft.com/office/drawing/2014/main" id="{9E3629BD-0C3C-F658-0CA5-C6B0983F173A}"/>
              </a:ext>
            </a:extLst>
          </p:cNvPr>
          <p:cNvSpPr/>
          <p:nvPr/>
        </p:nvSpPr>
        <p:spPr>
          <a:xfrm rot="16944028">
            <a:off x="5174058" y="3233413"/>
            <a:ext cx="580966" cy="163811"/>
          </a:xfrm>
          <a:prstGeom prst="rightArrow">
            <a:avLst/>
          </a:prstGeom>
          <a:solidFill>
            <a:srgbClr val="00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42" name="Arrow: Right 41">
            <a:extLst>
              <a:ext uri="{FF2B5EF4-FFF2-40B4-BE49-F238E27FC236}">
                <a16:creationId xmlns:a16="http://schemas.microsoft.com/office/drawing/2014/main" id="{DDDBF6E2-A6E5-E811-3057-1C882EF537F0}"/>
              </a:ext>
            </a:extLst>
          </p:cNvPr>
          <p:cNvSpPr/>
          <p:nvPr/>
        </p:nvSpPr>
        <p:spPr>
          <a:xfrm rot="16944028">
            <a:off x="6198571" y="2320236"/>
            <a:ext cx="580966" cy="163811"/>
          </a:xfrm>
          <a:prstGeom prst="rightArrow">
            <a:avLst/>
          </a:prstGeom>
          <a:solidFill>
            <a:srgbClr val="00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2" name="TextBox 1">
            <a:extLst>
              <a:ext uri="{FF2B5EF4-FFF2-40B4-BE49-F238E27FC236}">
                <a16:creationId xmlns:a16="http://schemas.microsoft.com/office/drawing/2014/main" id="{3CA046FA-F5F7-22FC-F992-65E8B174885C}"/>
              </a:ext>
            </a:extLst>
          </p:cNvPr>
          <p:cNvSpPr txBox="1"/>
          <p:nvPr/>
        </p:nvSpPr>
        <p:spPr>
          <a:xfrm>
            <a:off x="2982678" y="4571145"/>
            <a:ext cx="2942372" cy="323165"/>
          </a:xfrm>
          <a:prstGeom prst="rect">
            <a:avLst/>
          </a:prstGeom>
          <a:noFill/>
        </p:spPr>
        <p:txBody>
          <a:bodyPr wrap="square" rtlCol="0">
            <a:spAutoFit/>
          </a:bodyPr>
          <a:lstStyle/>
          <a:p>
            <a:pPr algn="l"/>
            <a:r>
              <a:rPr lang="en-US" sz="1500">
                <a:latin typeface="Consolas" panose="020B0609020204030204" pitchFamily="49" charset="0"/>
              </a:rPr>
              <a:t>int a = </a:t>
            </a:r>
            <a:r>
              <a:rPr lang="en-US" sz="1500" err="1">
                <a:latin typeface="Consolas" panose="020B0609020204030204" pitchFamily="49" charset="0"/>
              </a:rPr>
              <a:t>digitSum</a:t>
            </a:r>
            <a:r>
              <a:rPr lang="en-US" sz="1500">
                <a:latin typeface="Consolas" panose="020B0609020204030204" pitchFamily="49" charset="0"/>
              </a:rPr>
              <a:t>(256);</a:t>
            </a:r>
          </a:p>
        </p:txBody>
      </p:sp>
      <p:sp>
        <p:nvSpPr>
          <p:cNvPr id="3" name="TextBox 2">
            <a:extLst>
              <a:ext uri="{FF2B5EF4-FFF2-40B4-BE49-F238E27FC236}">
                <a16:creationId xmlns:a16="http://schemas.microsoft.com/office/drawing/2014/main" id="{607954CF-207C-AC11-D75F-56C0248CC274}"/>
              </a:ext>
            </a:extLst>
          </p:cNvPr>
          <p:cNvSpPr txBox="1"/>
          <p:nvPr/>
        </p:nvSpPr>
        <p:spPr>
          <a:xfrm>
            <a:off x="411404" y="225596"/>
            <a:ext cx="4767888" cy="1569660"/>
          </a:xfrm>
          <a:prstGeom prst="rect">
            <a:avLst/>
          </a:prstGeom>
          <a:solidFill>
            <a:schemeClr val="bg1"/>
          </a:solidFill>
          <a:ln>
            <a:solidFill>
              <a:schemeClr val="tx1"/>
            </a:solidFill>
          </a:ln>
        </p:spPr>
        <p:txBody>
          <a:bodyPr wrap="square" rtlCol="0">
            <a:spAutoFit/>
          </a:bodyPr>
          <a:lstStyle/>
          <a:p>
            <a:r>
              <a:rPr lang="en-US" sz="1600">
                <a:latin typeface="+mj-lt"/>
              </a:rPr>
              <a:t>static int digitSum(int n) {</a:t>
            </a:r>
          </a:p>
          <a:p>
            <a:r>
              <a:rPr lang="en-US" sz="1600">
                <a:latin typeface="+mj-lt"/>
              </a:rPr>
              <a:t>    if (n == 0) {</a:t>
            </a:r>
          </a:p>
          <a:p>
            <a:r>
              <a:rPr lang="en-US" sz="1600">
                <a:latin typeface="+mj-lt"/>
              </a:rPr>
              <a:t>        return 0;</a:t>
            </a:r>
          </a:p>
          <a:p>
            <a:r>
              <a:rPr lang="en-US" sz="1600">
                <a:latin typeface="+mj-lt"/>
              </a:rPr>
              <a:t>    }</a:t>
            </a:r>
          </a:p>
          <a:p>
            <a:r>
              <a:rPr lang="en-US" sz="1600">
                <a:latin typeface="+mj-lt"/>
              </a:rPr>
              <a:t>    return digitSum(n / 10) + (n % 10);</a:t>
            </a:r>
          </a:p>
          <a:p>
            <a:r>
              <a:rPr lang="en-US" sz="1600">
                <a:latin typeface="+mj-lt"/>
              </a:rPr>
              <a:t>}</a:t>
            </a:r>
            <a:endParaRPr lang="en-US" sz="1500">
              <a:latin typeface="Consolas" panose="020B0609020204030204" pitchFamily="49" charset="0"/>
            </a:endParaRPr>
          </a:p>
        </p:txBody>
      </p:sp>
    </p:spTree>
    <p:extLst>
      <p:ext uri="{BB962C8B-B14F-4D97-AF65-F5344CB8AC3E}">
        <p14:creationId xmlns:p14="http://schemas.microsoft.com/office/powerpoint/2010/main" val="155515457"/>
      </p:ext>
    </p:extLst>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78CF2-A008-1456-5C7E-65F0C52CCE5C}"/>
            </a:ext>
          </a:extLst>
        </p:cNvPr>
        <p:cNvGrpSpPr/>
        <p:nvPr/>
      </p:nvGrpSpPr>
      <p:grpSpPr>
        <a:xfrm>
          <a:off x="0" y="0"/>
          <a:ext cx="0" cy="0"/>
          <a:chOff x="0" y="0"/>
          <a:chExt cx="0" cy="0"/>
        </a:xfrm>
      </p:grpSpPr>
      <p:sp>
        <p:nvSpPr>
          <p:cNvPr id="32" name="Arrow: Right 31">
            <a:extLst>
              <a:ext uri="{FF2B5EF4-FFF2-40B4-BE49-F238E27FC236}">
                <a16:creationId xmlns:a16="http://schemas.microsoft.com/office/drawing/2014/main" id="{D443829A-1D17-80D4-54F3-B297109467A6}"/>
              </a:ext>
            </a:extLst>
          </p:cNvPr>
          <p:cNvSpPr/>
          <p:nvPr/>
        </p:nvSpPr>
        <p:spPr>
          <a:xfrm rot="16944028">
            <a:off x="4163382" y="4179898"/>
            <a:ext cx="580966" cy="163811"/>
          </a:xfrm>
          <a:prstGeom prst="rightArrow">
            <a:avLst/>
          </a:prstGeom>
          <a:solidFill>
            <a:srgbClr val="00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33" name="TextBox 32">
            <a:extLst>
              <a:ext uri="{FF2B5EF4-FFF2-40B4-BE49-F238E27FC236}">
                <a16:creationId xmlns:a16="http://schemas.microsoft.com/office/drawing/2014/main" id="{9C698D4E-CACE-9B9B-328A-18ABD6E0CBE4}"/>
              </a:ext>
            </a:extLst>
          </p:cNvPr>
          <p:cNvSpPr txBox="1"/>
          <p:nvPr/>
        </p:nvSpPr>
        <p:spPr>
          <a:xfrm>
            <a:off x="4164304" y="3637290"/>
            <a:ext cx="2942372" cy="323165"/>
          </a:xfrm>
          <a:prstGeom prst="rect">
            <a:avLst/>
          </a:prstGeom>
          <a:noFill/>
        </p:spPr>
        <p:txBody>
          <a:bodyPr wrap="square" rtlCol="0">
            <a:spAutoFit/>
          </a:bodyPr>
          <a:lstStyle/>
          <a:p>
            <a:pPr algn="l"/>
            <a:r>
              <a:rPr lang="en-US" sz="1500">
                <a:latin typeface="Consolas" panose="020B0609020204030204" pitchFamily="49" charset="0"/>
              </a:rPr>
              <a:t>return </a:t>
            </a:r>
            <a:r>
              <a:rPr lang="en-US" sz="1500" err="1">
                <a:latin typeface="Consolas" panose="020B0609020204030204" pitchFamily="49" charset="0"/>
              </a:rPr>
              <a:t>digitSum</a:t>
            </a:r>
            <a:r>
              <a:rPr lang="en-US" sz="1500">
                <a:latin typeface="Consolas" panose="020B0609020204030204" pitchFamily="49" charset="0"/>
              </a:rPr>
              <a:t>(25) + 6;</a:t>
            </a:r>
          </a:p>
        </p:txBody>
      </p:sp>
      <p:sp>
        <p:nvSpPr>
          <p:cNvPr id="36" name="TextBox 35">
            <a:extLst>
              <a:ext uri="{FF2B5EF4-FFF2-40B4-BE49-F238E27FC236}">
                <a16:creationId xmlns:a16="http://schemas.microsoft.com/office/drawing/2014/main" id="{C4A61CBC-0543-E877-2635-A4CB322EAC3D}"/>
              </a:ext>
            </a:extLst>
          </p:cNvPr>
          <p:cNvSpPr txBox="1"/>
          <p:nvPr/>
        </p:nvSpPr>
        <p:spPr>
          <a:xfrm>
            <a:off x="5179292" y="2703436"/>
            <a:ext cx="2942372" cy="323165"/>
          </a:xfrm>
          <a:prstGeom prst="rect">
            <a:avLst/>
          </a:prstGeom>
          <a:noFill/>
        </p:spPr>
        <p:txBody>
          <a:bodyPr wrap="square" rtlCol="0">
            <a:spAutoFit/>
          </a:bodyPr>
          <a:lstStyle/>
          <a:p>
            <a:pPr algn="l"/>
            <a:r>
              <a:rPr lang="en-US" sz="1500">
                <a:latin typeface="Consolas" panose="020B0609020204030204" pitchFamily="49" charset="0"/>
              </a:rPr>
              <a:t>return </a:t>
            </a:r>
            <a:r>
              <a:rPr lang="en-US" sz="1500" err="1">
                <a:latin typeface="Consolas" panose="020B0609020204030204" pitchFamily="49" charset="0"/>
              </a:rPr>
              <a:t>digitSum</a:t>
            </a:r>
            <a:r>
              <a:rPr lang="en-US" sz="1500">
                <a:latin typeface="Consolas" panose="020B0609020204030204" pitchFamily="49" charset="0"/>
              </a:rPr>
              <a:t>(2) + 5;</a:t>
            </a:r>
          </a:p>
        </p:txBody>
      </p:sp>
      <p:sp>
        <p:nvSpPr>
          <p:cNvPr id="37" name="TextBox 36">
            <a:extLst>
              <a:ext uri="{FF2B5EF4-FFF2-40B4-BE49-F238E27FC236}">
                <a16:creationId xmlns:a16="http://schemas.microsoft.com/office/drawing/2014/main" id="{389A7124-4DF7-2CF0-842E-18435B33456A}"/>
              </a:ext>
            </a:extLst>
          </p:cNvPr>
          <p:cNvSpPr txBox="1"/>
          <p:nvPr/>
        </p:nvSpPr>
        <p:spPr>
          <a:xfrm>
            <a:off x="6201628" y="1790425"/>
            <a:ext cx="2942372" cy="323165"/>
          </a:xfrm>
          <a:prstGeom prst="rect">
            <a:avLst/>
          </a:prstGeom>
          <a:noFill/>
        </p:spPr>
        <p:txBody>
          <a:bodyPr wrap="square" rtlCol="0">
            <a:spAutoFit/>
          </a:bodyPr>
          <a:lstStyle/>
          <a:p>
            <a:pPr algn="l"/>
            <a:r>
              <a:rPr lang="en-US" sz="1500">
                <a:latin typeface="Consolas" panose="020B0609020204030204" pitchFamily="49" charset="0"/>
              </a:rPr>
              <a:t>return 2;</a:t>
            </a:r>
          </a:p>
        </p:txBody>
      </p:sp>
      <p:sp>
        <p:nvSpPr>
          <p:cNvPr id="41" name="Arrow: Right 40">
            <a:extLst>
              <a:ext uri="{FF2B5EF4-FFF2-40B4-BE49-F238E27FC236}">
                <a16:creationId xmlns:a16="http://schemas.microsoft.com/office/drawing/2014/main" id="{F7177E42-20C9-A15E-942E-6030535CA170}"/>
              </a:ext>
            </a:extLst>
          </p:cNvPr>
          <p:cNvSpPr/>
          <p:nvPr/>
        </p:nvSpPr>
        <p:spPr>
          <a:xfrm rot="16944028">
            <a:off x="5174058" y="3233413"/>
            <a:ext cx="580966" cy="163811"/>
          </a:xfrm>
          <a:prstGeom prst="rightArrow">
            <a:avLst/>
          </a:prstGeom>
          <a:solidFill>
            <a:srgbClr val="00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42" name="Arrow: Right 41">
            <a:extLst>
              <a:ext uri="{FF2B5EF4-FFF2-40B4-BE49-F238E27FC236}">
                <a16:creationId xmlns:a16="http://schemas.microsoft.com/office/drawing/2014/main" id="{702E7B91-F4E9-5FDF-833C-44B9FEAE0382}"/>
              </a:ext>
            </a:extLst>
          </p:cNvPr>
          <p:cNvSpPr/>
          <p:nvPr/>
        </p:nvSpPr>
        <p:spPr>
          <a:xfrm rot="6300000">
            <a:off x="6198571" y="2320236"/>
            <a:ext cx="580966" cy="163811"/>
          </a:xfrm>
          <a:prstGeom prst="rightArrow">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2" name="TextBox 1">
            <a:extLst>
              <a:ext uri="{FF2B5EF4-FFF2-40B4-BE49-F238E27FC236}">
                <a16:creationId xmlns:a16="http://schemas.microsoft.com/office/drawing/2014/main" id="{795AC538-1B07-68B9-7167-EA1F2AACFCED}"/>
              </a:ext>
            </a:extLst>
          </p:cNvPr>
          <p:cNvSpPr txBox="1"/>
          <p:nvPr/>
        </p:nvSpPr>
        <p:spPr>
          <a:xfrm>
            <a:off x="2982678" y="4571145"/>
            <a:ext cx="2942372" cy="323165"/>
          </a:xfrm>
          <a:prstGeom prst="rect">
            <a:avLst/>
          </a:prstGeom>
          <a:noFill/>
        </p:spPr>
        <p:txBody>
          <a:bodyPr wrap="square" rtlCol="0">
            <a:spAutoFit/>
          </a:bodyPr>
          <a:lstStyle/>
          <a:p>
            <a:pPr algn="l"/>
            <a:r>
              <a:rPr lang="en-US" sz="1500">
                <a:latin typeface="Consolas" panose="020B0609020204030204" pitchFamily="49" charset="0"/>
              </a:rPr>
              <a:t>int a = </a:t>
            </a:r>
            <a:r>
              <a:rPr lang="en-US" sz="1500" err="1">
                <a:latin typeface="Consolas" panose="020B0609020204030204" pitchFamily="49" charset="0"/>
              </a:rPr>
              <a:t>digitSum</a:t>
            </a:r>
            <a:r>
              <a:rPr lang="en-US" sz="1500">
                <a:latin typeface="Consolas" panose="020B0609020204030204" pitchFamily="49" charset="0"/>
              </a:rPr>
              <a:t>(256);</a:t>
            </a:r>
          </a:p>
        </p:txBody>
      </p:sp>
      <p:sp>
        <p:nvSpPr>
          <p:cNvPr id="3" name="TextBox 2">
            <a:extLst>
              <a:ext uri="{FF2B5EF4-FFF2-40B4-BE49-F238E27FC236}">
                <a16:creationId xmlns:a16="http://schemas.microsoft.com/office/drawing/2014/main" id="{5135FD09-4382-D21A-4090-E8DE89E10115}"/>
              </a:ext>
            </a:extLst>
          </p:cNvPr>
          <p:cNvSpPr txBox="1"/>
          <p:nvPr/>
        </p:nvSpPr>
        <p:spPr>
          <a:xfrm>
            <a:off x="411404" y="225596"/>
            <a:ext cx="4767888" cy="1569660"/>
          </a:xfrm>
          <a:prstGeom prst="rect">
            <a:avLst/>
          </a:prstGeom>
          <a:solidFill>
            <a:schemeClr val="bg1"/>
          </a:solidFill>
          <a:ln>
            <a:solidFill>
              <a:schemeClr val="tx1"/>
            </a:solidFill>
          </a:ln>
        </p:spPr>
        <p:txBody>
          <a:bodyPr wrap="square" rtlCol="0">
            <a:spAutoFit/>
          </a:bodyPr>
          <a:lstStyle/>
          <a:p>
            <a:r>
              <a:rPr lang="en-US" sz="1600">
                <a:latin typeface="+mj-lt"/>
              </a:rPr>
              <a:t>static int digitSum(int n) {</a:t>
            </a:r>
          </a:p>
          <a:p>
            <a:r>
              <a:rPr lang="en-US" sz="1600">
                <a:latin typeface="+mj-lt"/>
              </a:rPr>
              <a:t>    if (n == 0) {</a:t>
            </a:r>
          </a:p>
          <a:p>
            <a:r>
              <a:rPr lang="en-US" sz="1600">
                <a:latin typeface="+mj-lt"/>
              </a:rPr>
              <a:t>        return 0;</a:t>
            </a:r>
          </a:p>
          <a:p>
            <a:r>
              <a:rPr lang="en-US" sz="1600">
                <a:latin typeface="+mj-lt"/>
              </a:rPr>
              <a:t>    }</a:t>
            </a:r>
          </a:p>
          <a:p>
            <a:r>
              <a:rPr lang="en-US" sz="1600">
                <a:latin typeface="+mj-lt"/>
              </a:rPr>
              <a:t>    return digitSum(n / 10) + (n % 10);</a:t>
            </a:r>
          </a:p>
          <a:p>
            <a:r>
              <a:rPr lang="en-US" sz="1600">
                <a:latin typeface="+mj-lt"/>
              </a:rPr>
              <a:t>}</a:t>
            </a:r>
            <a:endParaRPr lang="en-US" sz="1500">
              <a:latin typeface="Consolas" panose="020B0609020204030204" pitchFamily="49" charset="0"/>
            </a:endParaRPr>
          </a:p>
        </p:txBody>
      </p:sp>
    </p:spTree>
    <p:extLst>
      <p:ext uri="{BB962C8B-B14F-4D97-AF65-F5344CB8AC3E}">
        <p14:creationId xmlns:p14="http://schemas.microsoft.com/office/powerpoint/2010/main" val="4029196558"/>
      </p:ext>
    </p:extLst>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11F52-7335-8ABE-A2F7-C4EE6AE13108}"/>
            </a:ext>
          </a:extLst>
        </p:cNvPr>
        <p:cNvGrpSpPr/>
        <p:nvPr/>
      </p:nvGrpSpPr>
      <p:grpSpPr>
        <a:xfrm>
          <a:off x="0" y="0"/>
          <a:ext cx="0" cy="0"/>
          <a:chOff x="0" y="0"/>
          <a:chExt cx="0" cy="0"/>
        </a:xfrm>
      </p:grpSpPr>
      <p:sp>
        <p:nvSpPr>
          <p:cNvPr id="32" name="Arrow: Right 31">
            <a:extLst>
              <a:ext uri="{FF2B5EF4-FFF2-40B4-BE49-F238E27FC236}">
                <a16:creationId xmlns:a16="http://schemas.microsoft.com/office/drawing/2014/main" id="{76A366E7-666A-87BE-EA29-B177A498B9A9}"/>
              </a:ext>
            </a:extLst>
          </p:cNvPr>
          <p:cNvSpPr/>
          <p:nvPr/>
        </p:nvSpPr>
        <p:spPr>
          <a:xfrm rot="16944028">
            <a:off x="4163382" y="4179898"/>
            <a:ext cx="580966" cy="163811"/>
          </a:xfrm>
          <a:prstGeom prst="rightArrow">
            <a:avLst/>
          </a:prstGeom>
          <a:solidFill>
            <a:srgbClr val="00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33" name="TextBox 32">
            <a:extLst>
              <a:ext uri="{FF2B5EF4-FFF2-40B4-BE49-F238E27FC236}">
                <a16:creationId xmlns:a16="http://schemas.microsoft.com/office/drawing/2014/main" id="{CF08C284-365E-60CB-CD33-EBFAC343942E}"/>
              </a:ext>
            </a:extLst>
          </p:cNvPr>
          <p:cNvSpPr txBox="1"/>
          <p:nvPr/>
        </p:nvSpPr>
        <p:spPr>
          <a:xfrm>
            <a:off x="4164304" y="3637290"/>
            <a:ext cx="2942372" cy="323165"/>
          </a:xfrm>
          <a:prstGeom prst="rect">
            <a:avLst/>
          </a:prstGeom>
          <a:noFill/>
        </p:spPr>
        <p:txBody>
          <a:bodyPr wrap="square" rtlCol="0">
            <a:spAutoFit/>
          </a:bodyPr>
          <a:lstStyle/>
          <a:p>
            <a:pPr algn="l"/>
            <a:r>
              <a:rPr lang="en-US" sz="1500">
                <a:latin typeface="Consolas" panose="020B0609020204030204" pitchFamily="49" charset="0"/>
              </a:rPr>
              <a:t>return </a:t>
            </a:r>
            <a:r>
              <a:rPr lang="en-US" sz="1500" err="1">
                <a:latin typeface="Consolas" panose="020B0609020204030204" pitchFamily="49" charset="0"/>
              </a:rPr>
              <a:t>digitSum</a:t>
            </a:r>
            <a:r>
              <a:rPr lang="en-US" sz="1500">
                <a:latin typeface="Consolas" panose="020B0609020204030204" pitchFamily="49" charset="0"/>
              </a:rPr>
              <a:t>(25) + 6;</a:t>
            </a:r>
          </a:p>
        </p:txBody>
      </p:sp>
      <p:sp>
        <p:nvSpPr>
          <p:cNvPr id="36" name="TextBox 35">
            <a:extLst>
              <a:ext uri="{FF2B5EF4-FFF2-40B4-BE49-F238E27FC236}">
                <a16:creationId xmlns:a16="http://schemas.microsoft.com/office/drawing/2014/main" id="{D48C9892-34F2-9C5B-ACB4-708893A6C977}"/>
              </a:ext>
            </a:extLst>
          </p:cNvPr>
          <p:cNvSpPr txBox="1"/>
          <p:nvPr/>
        </p:nvSpPr>
        <p:spPr>
          <a:xfrm>
            <a:off x="5179292" y="2703436"/>
            <a:ext cx="2942372" cy="323165"/>
          </a:xfrm>
          <a:prstGeom prst="rect">
            <a:avLst/>
          </a:prstGeom>
          <a:noFill/>
        </p:spPr>
        <p:txBody>
          <a:bodyPr wrap="square" rtlCol="0">
            <a:spAutoFit/>
          </a:bodyPr>
          <a:lstStyle/>
          <a:p>
            <a:pPr algn="l"/>
            <a:r>
              <a:rPr lang="en-US" sz="1500">
                <a:latin typeface="Consolas" panose="020B0609020204030204" pitchFamily="49" charset="0"/>
              </a:rPr>
              <a:t>return 2 + 5;</a:t>
            </a:r>
          </a:p>
        </p:txBody>
      </p:sp>
      <p:sp>
        <p:nvSpPr>
          <p:cNvPr id="41" name="Arrow: Right 40">
            <a:extLst>
              <a:ext uri="{FF2B5EF4-FFF2-40B4-BE49-F238E27FC236}">
                <a16:creationId xmlns:a16="http://schemas.microsoft.com/office/drawing/2014/main" id="{65E084FC-4EC0-7907-944B-DC350BCF7A27}"/>
              </a:ext>
            </a:extLst>
          </p:cNvPr>
          <p:cNvSpPr/>
          <p:nvPr/>
        </p:nvSpPr>
        <p:spPr>
          <a:xfrm rot="16944028">
            <a:off x="5174058" y="3233413"/>
            <a:ext cx="580966" cy="163811"/>
          </a:xfrm>
          <a:prstGeom prst="rightArrow">
            <a:avLst/>
          </a:prstGeom>
          <a:solidFill>
            <a:srgbClr val="00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3" name="TextBox 2">
            <a:extLst>
              <a:ext uri="{FF2B5EF4-FFF2-40B4-BE49-F238E27FC236}">
                <a16:creationId xmlns:a16="http://schemas.microsoft.com/office/drawing/2014/main" id="{1371D3D7-B74D-CE64-2DEB-EC550BB0CE45}"/>
              </a:ext>
            </a:extLst>
          </p:cNvPr>
          <p:cNvSpPr txBox="1"/>
          <p:nvPr/>
        </p:nvSpPr>
        <p:spPr>
          <a:xfrm>
            <a:off x="2982678" y="4571145"/>
            <a:ext cx="2942372" cy="323165"/>
          </a:xfrm>
          <a:prstGeom prst="rect">
            <a:avLst/>
          </a:prstGeom>
          <a:noFill/>
        </p:spPr>
        <p:txBody>
          <a:bodyPr wrap="square" rtlCol="0">
            <a:spAutoFit/>
          </a:bodyPr>
          <a:lstStyle/>
          <a:p>
            <a:pPr algn="l"/>
            <a:r>
              <a:rPr lang="en-US" sz="1500">
                <a:latin typeface="Consolas" panose="020B0609020204030204" pitchFamily="49" charset="0"/>
              </a:rPr>
              <a:t>int a = </a:t>
            </a:r>
            <a:r>
              <a:rPr lang="en-US" sz="1500" err="1">
                <a:latin typeface="Consolas" panose="020B0609020204030204" pitchFamily="49" charset="0"/>
              </a:rPr>
              <a:t>digitSum</a:t>
            </a:r>
            <a:r>
              <a:rPr lang="en-US" sz="1500">
                <a:latin typeface="Consolas" panose="020B0609020204030204" pitchFamily="49" charset="0"/>
              </a:rPr>
              <a:t>(256);</a:t>
            </a:r>
          </a:p>
        </p:txBody>
      </p:sp>
      <p:sp>
        <p:nvSpPr>
          <p:cNvPr id="2" name="TextBox 1">
            <a:extLst>
              <a:ext uri="{FF2B5EF4-FFF2-40B4-BE49-F238E27FC236}">
                <a16:creationId xmlns:a16="http://schemas.microsoft.com/office/drawing/2014/main" id="{0EF624AE-C314-6FBC-BF88-F889A010D2CF}"/>
              </a:ext>
            </a:extLst>
          </p:cNvPr>
          <p:cNvSpPr txBox="1"/>
          <p:nvPr/>
        </p:nvSpPr>
        <p:spPr>
          <a:xfrm>
            <a:off x="411404" y="225596"/>
            <a:ext cx="4767888" cy="1569660"/>
          </a:xfrm>
          <a:prstGeom prst="rect">
            <a:avLst/>
          </a:prstGeom>
          <a:solidFill>
            <a:schemeClr val="bg1"/>
          </a:solidFill>
          <a:ln>
            <a:solidFill>
              <a:schemeClr val="tx1"/>
            </a:solidFill>
          </a:ln>
        </p:spPr>
        <p:txBody>
          <a:bodyPr wrap="square" rtlCol="0">
            <a:spAutoFit/>
          </a:bodyPr>
          <a:lstStyle/>
          <a:p>
            <a:r>
              <a:rPr lang="en-US" sz="1600">
                <a:latin typeface="+mj-lt"/>
              </a:rPr>
              <a:t>static int digitSum(int n) {</a:t>
            </a:r>
          </a:p>
          <a:p>
            <a:r>
              <a:rPr lang="en-US" sz="1600">
                <a:latin typeface="+mj-lt"/>
              </a:rPr>
              <a:t>    if (n == 0) {</a:t>
            </a:r>
          </a:p>
          <a:p>
            <a:r>
              <a:rPr lang="en-US" sz="1600">
                <a:latin typeface="+mj-lt"/>
              </a:rPr>
              <a:t>        return 0;</a:t>
            </a:r>
          </a:p>
          <a:p>
            <a:r>
              <a:rPr lang="en-US" sz="1600">
                <a:latin typeface="+mj-lt"/>
              </a:rPr>
              <a:t>    }</a:t>
            </a:r>
          </a:p>
          <a:p>
            <a:r>
              <a:rPr lang="en-US" sz="1600">
                <a:latin typeface="+mj-lt"/>
              </a:rPr>
              <a:t>    return digitSum(n / 10) + (n % 10);</a:t>
            </a:r>
          </a:p>
          <a:p>
            <a:r>
              <a:rPr lang="en-US" sz="1600">
                <a:latin typeface="+mj-lt"/>
              </a:rPr>
              <a:t>}</a:t>
            </a:r>
            <a:endParaRPr lang="en-US" sz="1500">
              <a:latin typeface="Consolas" panose="020B0609020204030204" pitchFamily="49" charset="0"/>
            </a:endParaRPr>
          </a:p>
        </p:txBody>
      </p:sp>
    </p:spTree>
    <p:extLst>
      <p:ext uri="{BB962C8B-B14F-4D97-AF65-F5344CB8AC3E}">
        <p14:creationId xmlns:p14="http://schemas.microsoft.com/office/powerpoint/2010/main" val="279281235"/>
      </p:ext>
    </p:extLst>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908D9-49C4-DD37-BE81-1031C66C811B}"/>
            </a:ext>
          </a:extLst>
        </p:cNvPr>
        <p:cNvGrpSpPr/>
        <p:nvPr/>
      </p:nvGrpSpPr>
      <p:grpSpPr>
        <a:xfrm>
          <a:off x="0" y="0"/>
          <a:ext cx="0" cy="0"/>
          <a:chOff x="0" y="0"/>
          <a:chExt cx="0" cy="0"/>
        </a:xfrm>
      </p:grpSpPr>
      <p:sp>
        <p:nvSpPr>
          <p:cNvPr id="32" name="Arrow: Right 31">
            <a:extLst>
              <a:ext uri="{FF2B5EF4-FFF2-40B4-BE49-F238E27FC236}">
                <a16:creationId xmlns:a16="http://schemas.microsoft.com/office/drawing/2014/main" id="{7BC5E733-B92F-BAB5-8724-A068EDA88785}"/>
              </a:ext>
            </a:extLst>
          </p:cNvPr>
          <p:cNvSpPr/>
          <p:nvPr/>
        </p:nvSpPr>
        <p:spPr>
          <a:xfrm rot="16944028">
            <a:off x="4163382" y="4179898"/>
            <a:ext cx="580966" cy="163811"/>
          </a:xfrm>
          <a:prstGeom prst="rightArrow">
            <a:avLst/>
          </a:prstGeom>
          <a:solidFill>
            <a:srgbClr val="00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33" name="TextBox 32">
            <a:extLst>
              <a:ext uri="{FF2B5EF4-FFF2-40B4-BE49-F238E27FC236}">
                <a16:creationId xmlns:a16="http://schemas.microsoft.com/office/drawing/2014/main" id="{6AD5CE15-99BA-160D-5777-D776D0A756D4}"/>
              </a:ext>
            </a:extLst>
          </p:cNvPr>
          <p:cNvSpPr txBox="1"/>
          <p:nvPr/>
        </p:nvSpPr>
        <p:spPr>
          <a:xfrm>
            <a:off x="4164304" y="3637290"/>
            <a:ext cx="2942372" cy="323165"/>
          </a:xfrm>
          <a:prstGeom prst="rect">
            <a:avLst/>
          </a:prstGeom>
          <a:noFill/>
        </p:spPr>
        <p:txBody>
          <a:bodyPr wrap="square" rtlCol="0">
            <a:spAutoFit/>
          </a:bodyPr>
          <a:lstStyle/>
          <a:p>
            <a:pPr algn="l"/>
            <a:r>
              <a:rPr lang="en-US" sz="1500">
                <a:latin typeface="Consolas" panose="020B0609020204030204" pitchFamily="49" charset="0"/>
              </a:rPr>
              <a:t>return </a:t>
            </a:r>
            <a:r>
              <a:rPr lang="en-US" sz="1500" err="1">
                <a:latin typeface="Consolas" panose="020B0609020204030204" pitchFamily="49" charset="0"/>
              </a:rPr>
              <a:t>digitSum</a:t>
            </a:r>
            <a:r>
              <a:rPr lang="en-US" sz="1500">
                <a:latin typeface="Consolas" panose="020B0609020204030204" pitchFamily="49" charset="0"/>
              </a:rPr>
              <a:t>(25) + 6;</a:t>
            </a:r>
          </a:p>
        </p:txBody>
      </p:sp>
      <p:sp>
        <p:nvSpPr>
          <p:cNvPr id="36" name="TextBox 35">
            <a:extLst>
              <a:ext uri="{FF2B5EF4-FFF2-40B4-BE49-F238E27FC236}">
                <a16:creationId xmlns:a16="http://schemas.microsoft.com/office/drawing/2014/main" id="{56C5A566-9B3B-6D70-A805-516C5A9B6851}"/>
              </a:ext>
            </a:extLst>
          </p:cNvPr>
          <p:cNvSpPr txBox="1"/>
          <p:nvPr/>
        </p:nvSpPr>
        <p:spPr>
          <a:xfrm>
            <a:off x="5179292" y="2703436"/>
            <a:ext cx="2942372" cy="323165"/>
          </a:xfrm>
          <a:prstGeom prst="rect">
            <a:avLst/>
          </a:prstGeom>
          <a:noFill/>
        </p:spPr>
        <p:txBody>
          <a:bodyPr wrap="square" rtlCol="0">
            <a:spAutoFit/>
          </a:bodyPr>
          <a:lstStyle/>
          <a:p>
            <a:pPr algn="l"/>
            <a:r>
              <a:rPr lang="en-US" sz="1500">
                <a:latin typeface="Consolas" panose="020B0609020204030204" pitchFamily="49" charset="0"/>
              </a:rPr>
              <a:t>return 7;</a:t>
            </a:r>
          </a:p>
        </p:txBody>
      </p:sp>
      <p:sp>
        <p:nvSpPr>
          <p:cNvPr id="41" name="Arrow: Right 40">
            <a:extLst>
              <a:ext uri="{FF2B5EF4-FFF2-40B4-BE49-F238E27FC236}">
                <a16:creationId xmlns:a16="http://schemas.microsoft.com/office/drawing/2014/main" id="{003BD655-04AD-E031-68E7-2E19839D3C3C}"/>
              </a:ext>
            </a:extLst>
          </p:cNvPr>
          <p:cNvSpPr/>
          <p:nvPr/>
        </p:nvSpPr>
        <p:spPr>
          <a:xfrm rot="16944028">
            <a:off x="5174058" y="3233413"/>
            <a:ext cx="580966" cy="163811"/>
          </a:xfrm>
          <a:prstGeom prst="rightArrow">
            <a:avLst/>
          </a:prstGeom>
          <a:solidFill>
            <a:srgbClr val="00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3" name="TextBox 2">
            <a:extLst>
              <a:ext uri="{FF2B5EF4-FFF2-40B4-BE49-F238E27FC236}">
                <a16:creationId xmlns:a16="http://schemas.microsoft.com/office/drawing/2014/main" id="{565FC9DF-43C6-A702-52FD-E3C0535682B4}"/>
              </a:ext>
            </a:extLst>
          </p:cNvPr>
          <p:cNvSpPr txBox="1"/>
          <p:nvPr/>
        </p:nvSpPr>
        <p:spPr>
          <a:xfrm>
            <a:off x="2982678" y="4571145"/>
            <a:ext cx="2942372" cy="323165"/>
          </a:xfrm>
          <a:prstGeom prst="rect">
            <a:avLst/>
          </a:prstGeom>
          <a:noFill/>
        </p:spPr>
        <p:txBody>
          <a:bodyPr wrap="square" rtlCol="0">
            <a:spAutoFit/>
          </a:bodyPr>
          <a:lstStyle/>
          <a:p>
            <a:pPr algn="l"/>
            <a:r>
              <a:rPr lang="en-US" sz="1500">
                <a:latin typeface="Consolas" panose="020B0609020204030204" pitchFamily="49" charset="0"/>
              </a:rPr>
              <a:t>int a = </a:t>
            </a:r>
            <a:r>
              <a:rPr lang="en-US" sz="1500" err="1">
                <a:latin typeface="Consolas" panose="020B0609020204030204" pitchFamily="49" charset="0"/>
              </a:rPr>
              <a:t>digitSum</a:t>
            </a:r>
            <a:r>
              <a:rPr lang="en-US" sz="1500">
                <a:latin typeface="Consolas" panose="020B0609020204030204" pitchFamily="49" charset="0"/>
              </a:rPr>
              <a:t>(256);</a:t>
            </a:r>
          </a:p>
        </p:txBody>
      </p:sp>
      <p:sp>
        <p:nvSpPr>
          <p:cNvPr id="2" name="TextBox 1">
            <a:extLst>
              <a:ext uri="{FF2B5EF4-FFF2-40B4-BE49-F238E27FC236}">
                <a16:creationId xmlns:a16="http://schemas.microsoft.com/office/drawing/2014/main" id="{B3F1BEFA-314A-3D4D-205F-46857884C470}"/>
              </a:ext>
            </a:extLst>
          </p:cNvPr>
          <p:cNvSpPr txBox="1"/>
          <p:nvPr/>
        </p:nvSpPr>
        <p:spPr>
          <a:xfrm>
            <a:off x="411404" y="225596"/>
            <a:ext cx="4767888" cy="1569660"/>
          </a:xfrm>
          <a:prstGeom prst="rect">
            <a:avLst/>
          </a:prstGeom>
          <a:solidFill>
            <a:schemeClr val="bg1"/>
          </a:solidFill>
          <a:ln>
            <a:solidFill>
              <a:schemeClr val="tx1"/>
            </a:solidFill>
          </a:ln>
        </p:spPr>
        <p:txBody>
          <a:bodyPr wrap="square" rtlCol="0">
            <a:spAutoFit/>
          </a:bodyPr>
          <a:lstStyle/>
          <a:p>
            <a:r>
              <a:rPr lang="en-US" sz="1600">
                <a:latin typeface="+mj-lt"/>
              </a:rPr>
              <a:t>static int digitSum(int n) {</a:t>
            </a:r>
          </a:p>
          <a:p>
            <a:r>
              <a:rPr lang="en-US" sz="1600">
                <a:latin typeface="+mj-lt"/>
              </a:rPr>
              <a:t>    if (n == 0) {</a:t>
            </a:r>
          </a:p>
          <a:p>
            <a:r>
              <a:rPr lang="en-US" sz="1600">
                <a:latin typeface="+mj-lt"/>
              </a:rPr>
              <a:t>        return 0;</a:t>
            </a:r>
          </a:p>
          <a:p>
            <a:r>
              <a:rPr lang="en-US" sz="1600">
                <a:latin typeface="+mj-lt"/>
              </a:rPr>
              <a:t>    }</a:t>
            </a:r>
          </a:p>
          <a:p>
            <a:r>
              <a:rPr lang="en-US" sz="1600">
                <a:latin typeface="+mj-lt"/>
              </a:rPr>
              <a:t>    return digitSum(n / 10) + (n % 10);</a:t>
            </a:r>
          </a:p>
          <a:p>
            <a:r>
              <a:rPr lang="en-US" sz="1600">
                <a:latin typeface="+mj-lt"/>
              </a:rPr>
              <a:t>}</a:t>
            </a:r>
            <a:endParaRPr lang="en-US" sz="1500">
              <a:latin typeface="Consolas" panose="020B0609020204030204" pitchFamily="49" charset="0"/>
            </a:endParaRPr>
          </a:p>
        </p:txBody>
      </p:sp>
    </p:spTree>
    <p:extLst>
      <p:ext uri="{BB962C8B-B14F-4D97-AF65-F5344CB8AC3E}">
        <p14:creationId xmlns:p14="http://schemas.microsoft.com/office/powerpoint/2010/main" val="3378502180"/>
      </p:ext>
    </p:extLst>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65E56-26F7-7E89-4A1E-6E731FEC0508}"/>
            </a:ext>
          </a:extLst>
        </p:cNvPr>
        <p:cNvGrpSpPr/>
        <p:nvPr/>
      </p:nvGrpSpPr>
      <p:grpSpPr>
        <a:xfrm>
          <a:off x="0" y="0"/>
          <a:ext cx="0" cy="0"/>
          <a:chOff x="0" y="0"/>
          <a:chExt cx="0" cy="0"/>
        </a:xfrm>
      </p:grpSpPr>
      <p:sp>
        <p:nvSpPr>
          <p:cNvPr id="32" name="Arrow: Right 31">
            <a:extLst>
              <a:ext uri="{FF2B5EF4-FFF2-40B4-BE49-F238E27FC236}">
                <a16:creationId xmlns:a16="http://schemas.microsoft.com/office/drawing/2014/main" id="{B2E8791E-E4F1-7418-2B9A-865F5DFBEA6B}"/>
              </a:ext>
            </a:extLst>
          </p:cNvPr>
          <p:cNvSpPr/>
          <p:nvPr/>
        </p:nvSpPr>
        <p:spPr>
          <a:xfrm rot="16944028">
            <a:off x="4163382" y="4179898"/>
            <a:ext cx="580966" cy="163811"/>
          </a:xfrm>
          <a:prstGeom prst="rightArrow">
            <a:avLst/>
          </a:prstGeom>
          <a:solidFill>
            <a:srgbClr val="00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33" name="TextBox 32">
            <a:extLst>
              <a:ext uri="{FF2B5EF4-FFF2-40B4-BE49-F238E27FC236}">
                <a16:creationId xmlns:a16="http://schemas.microsoft.com/office/drawing/2014/main" id="{B8A1AFBD-1683-0D41-412D-4966649421DE}"/>
              </a:ext>
            </a:extLst>
          </p:cNvPr>
          <p:cNvSpPr txBox="1"/>
          <p:nvPr/>
        </p:nvSpPr>
        <p:spPr>
          <a:xfrm>
            <a:off x="4164304" y="3637290"/>
            <a:ext cx="2942372" cy="323165"/>
          </a:xfrm>
          <a:prstGeom prst="rect">
            <a:avLst/>
          </a:prstGeom>
          <a:noFill/>
        </p:spPr>
        <p:txBody>
          <a:bodyPr wrap="square" rtlCol="0">
            <a:spAutoFit/>
          </a:bodyPr>
          <a:lstStyle/>
          <a:p>
            <a:pPr algn="l"/>
            <a:r>
              <a:rPr lang="en-US" sz="1500">
                <a:latin typeface="Consolas" panose="020B0609020204030204" pitchFamily="49" charset="0"/>
              </a:rPr>
              <a:t>return </a:t>
            </a:r>
            <a:r>
              <a:rPr lang="en-US" sz="1500" err="1">
                <a:latin typeface="Consolas" panose="020B0609020204030204" pitchFamily="49" charset="0"/>
              </a:rPr>
              <a:t>digitSum</a:t>
            </a:r>
            <a:r>
              <a:rPr lang="en-US" sz="1500">
                <a:latin typeface="Consolas" panose="020B0609020204030204" pitchFamily="49" charset="0"/>
              </a:rPr>
              <a:t>(25) + 6;</a:t>
            </a:r>
          </a:p>
        </p:txBody>
      </p:sp>
      <p:sp>
        <p:nvSpPr>
          <p:cNvPr id="36" name="TextBox 35">
            <a:extLst>
              <a:ext uri="{FF2B5EF4-FFF2-40B4-BE49-F238E27FC236}">
                <a16:creationId xmlns:a16="http://schemas.microsoft.com/office/drawing/2014/main" id="{24EC5776-9F3F-9F05-C68B-4067A07EB9D1}"/>
              </a:ext>
            </a:extLst>
          </p:cNvPr>
          <p:cNvSpPr txBox="1"/>
          <p:nvPr/>
        </p:nvSpPr>
        <p:spPr>
          <a:xfrm>
            <a:off x="5179292" y="2703436"/>
            <a:ext cx="2942372" cy="323165"/>
          </a:xfrm>
          <a:prstGeom prst="rect">
            <a:avLst/>
          </a:prstGeom>
          <a:noFill/>
        </p:spPr>
        <p:txBody>
          <a:bodyPr wrap="square" rtlCol="0">
            <a:spAutoFit/>
          </a:bodyPr>
          <a:lstStyle/>
          <a:p>
            <a:pPr algn="l"/>
            <a:r>
              <a:rPr lang="en-US" sz="1500">
                <a:latin typeface="Consolas" panose="020B0609020204030204" pitchFamily="49" charset="0"/>
              </a:rPr>
              <a:t>return 7;</a:t>
            </a:r>
          </a:p>
        </p:txBody>
      </p:sp>
      <p:sp>
        <p:nvSpPr>
          <p:cNvPr id="41" name="Arrow: Right 40">
            <a:extLst>
              <a:ext uri="{FF2B5EF4-FFF2-40B4-BE49-F238E27FC236}">
                <a16:creationId xmlns:a16="http://schemas.microsoft.com/office/drawing/2014/main" id="{D4BCC18D-E418-0FE7-9243-0603D8B7D033}"/>
              </a:ext>
            </a:extLst>
          </p:cNvPr>
          <p:cNvSpPr/>
          <p:nvPr/>
        </p:nvSpPr>
        <p:spPr>
          <a:xfrm rot="6300000">
            <a:off x="5174058" y="3233413"/>
            <a:ext cx="580966" cy="163811"/>
          </a:xfrm>
          <a:prstGeom prst="rightArrow">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2" name="TextBox 1">
            <a:extLst>
              <a:ext uri="{FF2B5EF4-FFF2-40B4-BE49-F238E27FC236}">
                <a16:creationId xmlns:a16="http://schemas.microsoft.com/office/drawing/2014/main" id="{F3140148-E36E-AFC1-058F-4933E3CEFB5E}"/>
              </a:ext>
            </a:extLst>
          </p:cNvPr>
          <p:cNvSpPr txBox="1"/>
          <p:nvPr/>
        </p:nvSpPr>
        <p:spPr>
          <a:xfrm>
            <a:off x="2982678" y="4571145"/>
            <a:ext cx="2942372" cy="323165"/>
          </a:xfrm>
          <a:prstGeom prst="rect">
            <a:avLst/>
          </a:prstGeom>
          <a:noFill/>
        </p:spPr>
        <p:txBody>
          <a:bodyPr wrap="square" rtlCol="0">
            <a:spAutoFit/>
          </a:bodyPr>
          <a:lstStyle/>
          <a:p>
            <a:pPr algn="l"/>
            <a:r>
              <a:rPr lang="en-US" sz="1500">
                <a:latin typeface="Consolas" panose="020B0609020204030204" pitchFamily="49" charset="0"/>
              </a:rPr>
              <a:t>int a = </a:t>
            </a:r>
            <a:r>
              <a:rPr lang="en-US" sz="1500" err="1">
                <a:latin typeface="Consolas" panose="020B0609020204030204" pitchFamily="49" charset="0"/>
              </a:rPr>
              <a:t>digitSum</a:t>
            </a:r>
            <a:r>
              <a:rPr lang="en-US" sz="1500">
                <a:latin typeface="Consolas" panose="020B0609020204030204" pitchFamily="49" charset="0"/>
              </a:rPr>
              <a:t>(256);</a:t>
            </a:r>
          </a:p>
        </p:txBody>
      </p:sp>
      <p:sp>
        <p:nvSpPr>
          <p:cNvPr id="3" name="TextBox 2">
            <a:extLst>
              <a:ext uri="{FF2B5EF4-FFF2-40B4-BE49-F238E27FC236}">
                <a16:creationId xmlns:a16="http://schemas.microsoft.com/office/drawing/2014/main" id="{A72914C8-CAA8-AF3C-9754-8A67C6F0E437}"/>
              </a:ext>
            </a:extLst>
          </p:cNvPr>
          <p:cNvSpPr txBox="1"/>
          <p:nvPr/>
        </p:nvSpPr>
        <p:spPr>
          <a:xfrm>
            <a:off x="411404" y="225596"/>
            <a:ext cx="4767888" cy="1569660"/>
          </a:xfrm>
          <a:prstGeom prst="rect">
            <a:avLst/>
          </a:prstGeom>
          <a:solidFill>
            <a:schemeClr val="bg1"/>
          </a:solidFill>
          <a:ln>
            <a:solidFill>
              <a:schemeClr val="tx1"/>
            </a:solidFill>
          </a:ln>
        </p:spPr>
        <p:txBody>
          <a:bodyPr wrap="square" rtlCol="0">
            <a:spAutoFit/>
          </a:bodyPr>
          <a:lstStyle/>
          <a:p>
            <a:r>
              <a:rPr lang="en-US" sz="1600">
                <a:latin typeface="+mj-lt"/>
              </a:rPr>
              <a:t>static int digitSum(int n) {</a:t>
            </a:r>
          </a:p>
          <a:p>
            <a:r>
              <a:rPr lang="en-US" sz="1600">
                <a:latin typeface="+mj-lt"/>
              </a:rPr>
              <a:t>    if (n == 0) {</a:t>
            </a:r>
          </a:p>
          <a:p>
            <a:r>
              <a:rPr lang="en-US" sz="1600">
                <a:latin typeface="+mj-lt"/>
              </a:rPr>
              <a:t>        return 0;</a:t>
            </a:r>
          </a:p>
          <a:p>
            <a:r>
              <a:rPr lang="en-US" sz="1600">
                <a:latin typeface="+mj-lt"/>
              </a:rPr>
              <a:t>    }</a:t>
            </a:r>
          </a:p>
          <a:p>
            <a:r>
              <a:rPr lang="en-US" sz="1600">
                <a:latin typeface="+mj-lt"/>
              </a:rPr>
              <a:t>    return digitSum(n / 10) + (n % 10);</a:t>
            </a:r>
          </a:p>
          <a:p>
            <a:r>
              <a:rPr lang="en-US" sz="1600">
                <a:latin typeface="+mj-lt"/>
              </a:rPr>
              <a:t>}</a:t>
            </a:r>
            <a:endParaRPr lang="en-US" sz="1500">
              <a:latin typeface="Consolas" panose="020B0609020204030204" pitchFamily="49" charset="0"/>
            </a:endParaRPr>
          </a:p>
        </p:txBody>
      </p:sp>
    </p:spTree>
    <p:extLst>
      <p:ext uri="{BB962C8B-B14F-4D97-AF65-F5344CB8AC3E}">
        <p14:creationId xmlns:p14="http://schemas.microsoft.com/office/powerpoint/2010/main" val="1883188315"/>
      </p:ext>
    </p:extLst>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0AE6A-6B1A-A663-E064-CB7FC5BEABAB}"/>
            </a:ext>
          </a:extLst>
        </p:cNvPr>
        <p:cNvGrpSpPr/>
        <p:nvPr/>
      </p:nvGrpSpPr>
      <p:grpSpPr>
        <a:xfrm>
          <a:off x="0" y="0"/>
          <a:ext cx="0" cy="0"/>
          <a:chOff x="0" y="0"/>
          <a:chExt cx="0" cy="0"/>
        </a:xfrm>
      </p:grpSpPr>
      <p:sp>
        <p:nvSpPr>
          <p:cNvPr id="32" name="Arrow: Right 31">
            <a:extLst>
              <a:ext uri="{FF2B5EF4-FFF2-40B4-BE49-F238E27FC236}">
                <a16:creationId xmlns:a16="http://schemas.microsoft.com/office/drawing/2014/main" id="{7B87E3E7-630F-933B-2D0D-4B19CB85D8B0}"/>
              </a:ext>
            </a:extLst>
          </p:cNvPr>
          <p:cNvSpPr/>
          <p:nvPr/>
        </p:nvSpPr>
        <p:spPr>
          <a:xfrm rot="16944028">
            <a:off x="4163382" y="4179898"/>
            <a:ext cx="580966" cy="163811"/>
          </a:xfrm>
          <a:prstGeom prst="rightArrow">
            <a:avLst/>
          </a:prstGeom>
          <a:solidFill>
            <a:srgbClr val="00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33" name="TextBox 32">
            <a:extLst>
              <a:ext uri="{FF2B5EF4-FFF2-40B4-BE49-F238E27FC236}">
                <a16:creationId xmlns:a16="http://schemas.microsoft.com/office/drawing/2014/main" id="{3A9F12C7-0F7D-0B37-A8E3-2BD620F620E2}"/>
              </a:ext>
            </a:extLst>
          </p:cNvPr>
          <p:cNvSpPr txBox="1"/>
          <p:nvPr/>
        </p:nvSpPr>
        <p:spPr>
          <a:xfrm>
            <a:off x="4164304" y="3637290"/>
            <a:ext cx="2942372" cy="323165"/>
          </a:xfrm>
          <a:prstGeom prst="rect">
            <a:avLst/>
          </a:prstGeom>
          <a:noFill/>
        </p:spPr>
        <p:txBody>
          <a:bodyPr wrap="square" rtlCol="0">
            <a:spAutoFit/>
          </a:bodyPr>
          <a:lstStyle/>
          <a:p>
            <a:pPr algn="l"/>
            <a:r>
              <a:rPr lang="en-US" sz="1500">
                <a:latin typeface="Consolas" panose="020B0609020204030204" pitchFamily="49" charset="0"/>
              </a:rPr>
              <a:t>return 7 + 6;</a:t>
            </a:r>
          </a:p>
        </p:txBody>
      </p:sp>
      <p:sp>
        <p:nvSpPr>
          <p:cNvPr id="3" name="TextBox 2">
            <a:extLst>
              <a:ext uri="{FF2B5EF4-FFF2-40B4-BE49-F238E27FC236}">
                <a16:creationId xmlns:a16="http://schemas.microsoft.com/office/drawing/2014/main" id="{77D7D714-A760-5B32-6955-60A6CB53DFDB}"/>
              </a:ext>
            </a:extLst>
          </p:cNvPr>
          <p:cNvSpPr txBox="1"/>
          <p:nvPr/>
        </p:nvSpPr>
        <p:spPr>
          <a:xfrm>
            <a:off x="2982678" y="4571145"/>
            <a:ext cx="2942372" cy="323165"/>
          </a:xfrm>
          <a:prstGeom prst="rect">
            <a:avLst/>
          </a:prstGeom>
          <a:noFill/>
        </p:spPr>
        <p:txBody>
          <a:bodyPr wrap="square" rtlCol="0">
            <a:spAutoFit/>
          </a:bodyPr>
          <a:lstStyle/>
          <a:p>
            <a:pPr algn="l"/>
            <a:r>
              <a:rPr lang="en-US" sz="1500">
                <a:latin typeface="Consolas" panose="020B0609020204030204" pitchFamily="49" charset="0"/>
              </a:rPr>
              <a:t>int a = </a:t>
            </a:r>
            <a:r>
              <a:rPr lang="en-US" sz="1500" err="1">
                <a:latin typeface="Consolas" panose="020B0609020204030204" pitchFamily="49" charset="0"/>
              </a:rPr>
              <a:t>digitSum</a:t>
            </a:r>
            <a:r>
              <a:rPr lang="en-US" sz="1500">
                <a:latin typeface="Consolas" panose="020B0609020204030204" pitchFamily="49" charset="0"/>
              </a:rPr>
              <a:t>(256);</a:t>
            </a:r>
          </a:p>
        </p:txBody>
      </p:sp>
      <p:sp>
        <p:nvSpPr>
          <p:cNvPr id="2" name="TextBox 1">
            <a:extLst>
              <a:ext uri="{FF2B5EF4-FFF2-40B4-BE49-F238E27FC236}">
                <a16:creationId xmlns:a16="http://schemas.microsoft.com/office/drawing/2014/main" id="{CFB4F23A-49C1-4180-DA65-CEE6B7A46720}"/>
              </a:ext>
            </a:extLst>
          </p:cNvPr>
          <p:cNvSpPr txBox="1"/>
          <p:nvPr/>
        </p:nvSpPr>
        <p:spPr>
          <a:xfrm>
            <a:off x="411404" y="225596"/>
            <a:ext cx="4767888" cy="1569660"/>
          </a:xfrm>
          <a:prstGeom prst="rect">
            <a:avLst/>
          </a:prstGeom>
          <a:solidFill>
            <a:schemeClr val="bg1"/>
          </a:solidFill>
          <a:ln>
            <a:solidFill>
              <a:schemeClr val="tx1"/>
            </a:solidFill>
          </a:ln>
        </p:spPr>
        <p:txBody>
          <a:bodyPr wrap="square" rtlCol="0">
            <a:spAutoFit/>
          </a:bodyPr>
          <a:lstStyle/>
          <a:p>
            <a:r>
              <a:rPr lang="en-US" sz="1600">
                <a:latin typeface="+mj-lt"/>
              </a:rPr>
              <a:t>static int digitSum(int n) {</a:t>
            </a:r>
          </a:p>
          <a:p>
            <a:r>
              <a:rPr lang="en-US" sz="1600">
                <a:latin typeface="+mj-lt"/>
              </a:rPr>
              <a:t>    if (n == 0) {</a:t>
            </a:r>
          </a:p>
          <a:p>
            <a:r>
              <a:rPr lang="en-US" sz="1600">
                <a:latin typeface="+mj-lt"/>
              </a:rPr>
              <a:t>        return 0;</a:t>
            </a:r>
          </a:p>
          <a:p>
            <a:r>
              <a:rPr lang="en-US" sz="1600">
                <a:latin typeface="+mj-lt"/>
              </a:rPr>
              <a:t>    }</a:t>
            </a:r>
          </a:p>
          <a:p>
            <a:r>
              <a:rPr lang="en-US" sz="1600">
                <a:latin typeface="+mj-lt"/>
              </a:rPr>
              <a:t>    return digitSum(n / 10) + (n % 10);</a:t>
            </a:r>
          </a:p>
          <a:p>
            <a:r>
              <a:rPr lang="en-US" sz="1600">
                <a:latin typeface="+mj-lt"/>
              </a:rPr>
              <a:t>}</a:t>
            </a:r>
            <a:endParaRPr lang="en-US" sz="1500">
              <a:latin typeface="Consolas" panose="020B0609020204030204" pitchFamily="49" charset="0"/>
            </a:endParaRPr>
          </a:p>
        </p:txBody>
      </p:sp>
    </p:spTree>
    <p:extLst>
      <p:ext uri="{BB962C8B-B14F-4D97-AF65-F5344CB8AC3E}">
        <p14:creationId xmlns:p14="http://schemas.microsoft.com/office/powerpoint/2010/main" val="682061244"/>
      </p:ext>
    </p:extLst>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F3149-00DB-49B3-6743-59136A8F7B2F}"/>
            </a:ext>
          </a:extLst>
        </p:cNvPr>
        <p:cNvGrpSpPr/>
        <p:nvPr/>
      </p:nvGrpSpPr>
      <p:grpSpPr>
        <a:xfrm>
          <a:off x="0" y="0"/>
          <a:ext cx="0" cy="0"/>
          <a:chOff x="0" y="0"/>
          <a:chExt cx="0" cy="0"/>
        </a:xfrm>
      </p:grpSpPr>
      <p:sp>
        <p:nvSpPr>
          <p:cNvPr id="32" name="Arrow: Right 31">
            <a:extLst>
              <a:ext uri="{FF2B5EF4-FFF2-40B4-BE49-F238E27FC236}">
                <a16:creationId xmlns:a16="http://schemas.microsoft.com/office/drawing/2014/main" id="{35AEAA61-72F9-EE0D-CA6B-2E53A3849373}"/>
              </a:ext>
            </a:extLst>
          </p:cNvPr>
          <p:cNvSpPr/>
          <p:nvPr/>
        </p:nvSpPr>
        <p:spPr>
          <a:xfrm rot="16944028">
            <a:off x="4163382" y="4179898"/>
            <a:ext cx="580966" cy="163811"/>
          </a:xfrm>
          <a:prstGeom prst="rightArrow">
            <a:avLst/>
          </a:prstGeom>
          <a:solidFill>
            <a:srgbClr val="00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33" name="TextBox 32">
            <a:extLst>
              <a:ext uri="{FF2B5EF4-FFF2-40B4-BE49-F238E27FC236}">
                <a16:creationId xmlns:a16="http://schemas.microsoft.com/office/drawing/2014/main" id="{1FA66BFD-34E8-72A6-5AD8-17E8D189C449}"/>
              </a:ext>
            </a:extLst>
          </p:cNvPr>
          <p:cNvSpPr txBox="1"/>
          <p:nvPr/>
        </p:nvSpPr>
        <p:spPr>
          <a:xfrm>
            <a:off x="4164304" y="3637290"/>
            <a:ext cx="2942372" cy="323165"/>
          </a:xfrm>
          <a:prstGeom prst="rect">
            <a:avLst/>
          </a:prstGeom>
          <a:noFill/>
        </p:spPr>
        <p:txBody>
          <a:bodyPr wrap="square" rtlCol="0">
            <a:spAutoFit/>
          </a:bodyPr>
          <a:lstStyle/>
          <a:p>
            <a:pPr algn="l"/>
            <a:r>
              <a:rPr lang="en-US" sz="1500">
                <a:latin typeface="Consolas" panose="020B0609020204030204" pitchFamily="49" charset="0"/>
              </a:rPr>
              <a:t>return 13;</a:t>
            </a:r>
          </a:p>
        </p:txBody>
      </p:sp>
      <p:sp>
        <p:nvSpPr>
          <p:cNvPr id="3" name="TextBox 2">
            <a:extLst>
              <a:ext uri="{FF2B5EF4-FFF2-40B4-BE49-F238E27FC236}">
                <a16:creationId xmlns:a16="http://schemas.microsoft.com/office/drawing/2014/main" id="{A37186DC-578E-9835-367A-2FF726A4FB8E}"/>
              </a:ext>
            </a:extLst>
          </p:cNvPr>
          <p:cNvSpPr txBox="1"/>
          <p:nvPr/>
        </p:nvSpPr>
        <p:spPr>
          <a:xfrm>
            <a:off x="2982678" y="4571145"/>
            <a:ext cx="2942372" cy="323165"/>
          </a:xfrm>
          <a:prstGeom prst="rect">
            <a:avLst/>
          </a:prstGeom>
          <a:noFill/>
        </p:spPr>
        <p:txBody>
          <a:bodyPr wrap="square" rtlCol="0">
            <a:spAutoFit/>
          </a:bodyPr>
          <a:lstStyle/>
          <a:p>
            <a:pPr algn="l"/>
            <a:r>
              <a:rPr lang="en-US" sz="1500">
                <a:latin typeface="Consolas" panose="020B0609020204030204" pitchFamily="49" charset="0"/>
              </a:rPr>
              <a:t>int a = </a:t>
            </a:r>
            <a:r>
              <a:rPr lang="en-US" sz="1500" err="1">
                <a:latin typeface="Consolas" panose="020B0609020204030204" pitchFamily="49" charset="0"/>
              </a:rPr>
              <a:t>digitSum</a:t>
            </a:r>
            <a:r>
              <a:rPr lang="en-US" sz="1500">
                <a:latin typeface="Consolas" panose="020B0609020204030204" pitchFamily="49" charset="0"/>
              </a:rPr>
              <a:t>(256);</a:t>
            </a:r>
          </a:p>
        </p:txBody>
      </p:sp>
      <p:sp>
        <p:nvSpPr>
          <p:cNvPr id="2" name="TextBox 1">
            <a:extLst>
              <a:ext uri="{FF2B5EF4-FFF2-40B4-BE49-F238E27FC236}">
                <a16:creationId xmlns:a16="http://schemas.microsoft.com/office/drawing/2014/main" id="{0EBCA8B1-1769-CC68-FD6B-4F75038EFC71}"/>
              </a:ext>
            </a:extLst>
          </p:cNvPr>
          <p:cNvSpPr txBox="1"/>
          <p:nvPr/>
        </p:nvSpPr>
        <p:spPr>
          <a:xfrm>
            <a:off x="411404" y="225596"/>
            <a:ext cx="4767888" cy="1569660"/>
          </a:xfrm>
          <a:prstGeom prst="rect">
            <a:avLst/>
          </a:prstGeom>
          <a:solidFill>
            <a:schemeClr val="bg1"/>
          </a:solidFill>
          <a:ln>
            <a:solidFill>
              <a:schemeClr val="tx1"/>
            </a:solidFill>
          </a:ln>
        </p:spPr>
        <p:txBody>
          <a:bodyPr wrap="square" rtlCol="0">
            <a:spAutoFit/>
          </a:bodyPr>
          <a:lstStyle/>
          <a:p>
            <a:r>
              <a:rPr lang="en-US" sz="1600">
                <a:latin typeface="+mj-lt"/>
              </a:rPr>
              <a:t>static int digitSum(int n) {</a:t>
            </a:r>
          </a:p>
          <a:p>
            <a:r>
              <a:rPr lang="en-US" sz="1600">
                <a:latin typeface="+mj-lt"/>
              </a:rPr>
              <a:t>    if (n == 0) {</a:t>
            </a:r>
          </a:p>
          <a:p>
            <a:r>
              <a:rPr lang="en-US" sz="1600">
                <a:latin typeface="+mj-lt"/>
              </a:rPr>
              <a:t>        return 0;</a:t>
            </a:r>
          </a:p>
          <a:p>
            <a:r>
              <a:rPr lang="en-US" sz="1600">
                <a:latin typeface="+mj-lt"/>
              </a:rPr>
              <a:t>    }</a:t>
            </a:r>
          </a:p>
          <a:p>
            <a:r>
              <a:rPr lang="en-US" sz="1600">
                <a:latin typeface="+mj-lt"/>
              </a:rPr>
              <a:t>    return digitSum(n / 10) + (n % 10);</a:t>
            </a:r>
          </a:p>
          <a:p>
            <a:r>
              <a:rPr lang="en-US" sz="1600">
                <a:latin typeface="+mj-lt"/>
              </a:rPr>
              <a:t>}</a:t>
            </a:r>
            <a:endParaRPr lang="en-US" sz="1500">
              <a:latin typeface="Consolas" panose="020B0609020204030204" pitchFamily="49" charset="0"/>
            </a:endParaRPr>
          </a:p>
        </p:txBody>
      </p:sp>
    </p:spTree>
    <p:extLst>
      <p:ext uri="{BB962C8B-B14F-4D97-AF65-F5344CB8AC3E}">
        <p14:creationId xmlns:p14="http://schemas.microsoft.com/office/powerpoint/2010/main" val="2047981834"/>
      </p:ext>
    </p:extLst>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E111D-4F13-CF3B-CAA7-ACAD9D931421}"/>
            </a:ext>
          </a:extLst>
        </p:cNvPr>
        <p:cNvGrpSpPr/>
        <p:nvPr/>
      </p:nvGrpSpPr>
      <p:grpSpPr>
        <a:xfrm>
          <a:off x="0" y="0"/>
          <a:ext cx="0" cy="0"/>
          <a:chOff x="0" y="0"/>
          <a:chExt cx="0" cy="0"/>
        </a:xfrm>
      </p:grpSpPr>
      <p:sp>
        <p:nvSpPr>
          <p:cNvPr id="32" name="Arrow: Right 31">
            <a:extLst>
              <a:ext uri="{FF2B5EF4-FFF2-40B4-BE49-F238E27FC236}">
                <a16:creationId xmlns:a16="http://schemas.microsoft.com/office/drawing/2014/main" id="{AB83D948-8DD2-AB1D-E311-FF160E0C18DF}"/>
              </a:ext>
            </a:extLst>
          </p:cNvPr>
          <p:cNvSpPr/>
          <p:nvPr/>
        </p:nvSpPr>
        <p:spPr>
          <a:xfrm rot="6300000">
            <a:off x="4163382" y="4179898"/>
            <a:ext cx="580966" cy="163811"/>
          </a:xfrm>
          <a:prstGeom prst="rightArrow">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33" name="TextBox 32">
            <a:extLst>
              <a:ext uri="{FF2B5EF4-FFF2-40B4-BE49-F238E27FC236}">
                <a16:creationId xmlns:a16="http://schemas.microsoft.com/office/drawing/2014/main" id="{309CDA3A-6AC0-207C-9E12-DED6C7A2763A}"/>
              </a:ext>
            </a:extLst>
          </p:cNvPr>
          <p:cNvSpPr txBox="1"/>
          <p:nvPr/>
        </p:nvSpPr>
        <p:spPr>
          <a:xfrm>
            <a:off x="4164304" y="3637290"/>
            <a:ext cx="2942372" cy="323165"/>
          </a:xfrm>
          <a:prstGeom prst="rect">
            <a:avLst/>
          </a:prstGeom>
          <a:noFill/>
        </p:spPr>
        <p:txBody>
          <a:bodyPr wrap="square" rtlCol="0">
            <a:spAutoFit/>
          </a:bodyPr>
          <a:lstStyle/>
          <a:p>
            <a:pPr algn="l"/>
            <a:r>
              <a:rPr lang="en-US" sz="1500">
                <a:latin typeface="Consolas" panose="020B0609020204030204" pitchFamily="49" charset="0"/>
              </a:rPr>
              <a:t>return 13;</a:t>
            </a:r>
          </a:p>
        </p:txBody>
      </p:sp>
      <p:sp>
        <p:nvSpPr>
          <p:cNvPr id="2" name="TextBox 1">
            <a:extLst>
              <a:ext uri="{FF2B5EF4-FFF2-40B4-BE49-F238E27FC236}">
                <a16:creationId xmlns:a16="http://schemas.microsoft.com/office/drawing/2014/main" id="{B9558065-0EC1-1465-4D39-B9BC1479DC47}"/>
              </a:ext>
            </a:extLst>
          </p:cNvPr>
          <p:cNvSpPr txBox="1"/>
          <p:nvPr/>
        </p:nvSpPr>
        <p:spPr>
          <a:xfrm>
            <a:off x="2982678" y="4571145"/>
            <a:ext cx="2942372" cy="323165"/>
          </a:xfrm>
          <a:prstGeom prst="rect">
            <a:avLst/>
          </a:prstGeom>
          <a:noFill/>
        </p:spPr>
        <p:txBody>
          <a:bodyPr wrap="square" rtlCol="0">
            <a:spAutoFit/>
          </a:bodyPr>
          <a:lstStyle/>
          <a:p>
            <a:pPr algn="l"/>
            <a:r>
              <a:rPr lang="en-US" sz="1500">
                <a:latin typeface="Consolas" panose="020B0609020204030204" pitchFamily="49" charset="0"/>
              </a:rPr>
              <a:t>int a = </a:t>
            </a:r>
            <a:r>
              <a:rPr lang="en-US" sz="1500" err="1">
                <a:latin typeface="Consolas" panose="020B0609020204030204" pitchFamily="49" charset="0"/>
              </a:rPr>
              <a:t>digitSum</a:t>
            </a:r>
            <a:r>
              <a:rPr lang="en-US" sz="1500">
                <a:latin typeface="Consolas" panose="020B0609020204030204" pitchFamily="49" charset="0"/>
              </a:rPr>
              <a:t>(256);</a:t>
            </a:r>
          </a:p>
        </p:txBody>
      </p:sp>
      <p:sp>
        <p:nvSpPr>
          <p:cNvPr id="3" name="TextBox 2">
            <a:extLst>
              <a:ext uri="{FF2B5EF4-FFF2-40B4-BE49-F238E27FC236}">
                <a16:creationId xmlns:a16="http://schemas.microsoft.com/office/drawing/2014/main" id="{0B7CABF3-1FE5-1359-DF0D-07EB1E61C402}"/>
              </a:ext>
            </a:extLst>
          </p:cNvPr>
          <p:cNvSpPr txBox="1"/>
          <p:nvPr/>
        </p:nvSpPr>
        <p:spPr>
          <a:xfrm>
            <a:off x="411404" y="225596"/>
            <a:ext cx="4767888" cy="1569660"/>
          </a:xfrm>
          <a:prstGeom prst="rect">
            <a:avLst/>
          </a:prstGeom>
          <a:solidFill>
            <a:schemeClr val="bg1"/>
          </a:solidFill>
          <a:ln>
            <a:solidFill>
              <a:schemeClr val="tx1"/>
            </a:solidFill>
          </a:ln>
        </p:spPr>
        <p:txBody>
          <a:bodyPr wrap="square" rtlCol="0">
            <a:spAutoFit/>
          </a:bodyPr>
          <a:lstStyle/>
          <a:p>
            <a:r>
              <a:rPr lang="en-US" sz="1600">
                <a:latin typeface="+mj-lt"/>
              </a:rPr>
              <a:t>static int digitSum(int n) {</a:t>
            </a:r>
          </a:p>
          <a:p>
            <a:r>
              <a:rPr lang="en-US" sz="1600">
                <a:latin typeface="+mj-lt"/>
              </a:rPr>
              <a:t>    if (n == 0) {</a:t>
            </a:r>
          </a:p>
          <a:p>
            <a:r>
              <a:rPr lang="en-US" sz="1600">
                <a:latin typeface="+mj-lt"/>
              </a:rPr>
              <a:t>        return 0;</a:t>
            </a:r>
          </a:p>
          <a:p>
            <a:r>
              <a:rPr lang="en-US" sz="1600">
                <a:latin typeface="+mj-lt"/>
              </a:rPr>
              <a:t>    }</a:t>
            </a:r>
          </a:p>
          <a:p>
            <a:r>
              <a:rPr lang="en-US" sz="1600">
                <a:latin typeface="+mj-lt"/>
              </a:rPr>
              <a:t>    return digitSum(n / 10) + (n % 10);</a:t>
            </a:r>
          </a:p>
          <a:p>
            <a:r>
              <a:rPr lang="en-US" sz="1600">
                <a:latin typeface="+mj-lt"/>
              </a:rPr>
              <a:t>}</a:t>
            </a:r>
            <a:endParaRPr lang="en-US" sz="1500">
              <a:latin typeface="Consolas" panose="020B0609020204030204" pitchFamily="49" charset="0"/>
            </a:endParaRPr>
          </a:p>
        </p:txBody>
      </p:sp>
    </p:spTree>
    <p:extLst>
      <p:ext uri="{BB962C8B-B14F-4D97-AF65-F5344CB8AC3E}">
        <p14:creationId xmlns:p14="http://schemas.microsoft.com/office/powerpoint/2010/main" val="559788182"/>
      </p:ext>
    </p:extLst>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D8CCC-DE7D-F7D5-B0FC-A7EDA83020C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1922EEA-841E-1223-7511-813A5599C6E9}"/>
              </a:ext>
            </a:extLst>
          </p:cNvPr>
          <p:cNvSpPr txBox="1"/>
          <p:nvPr/>
        </p:nvSpPr>
        <p:spPr>
          <a:xfrm>
            <a:off x="2982678" y="4571145"/>
            <a:ext cx="2942372" cy="323165"/>
          </a:xfrm>
          <a:prstGeom prst="rect">
            <a:avLst/>
          </a:prstGeom>
          <a:noFill/>
        </p:spPr>
        <p:txBody>
          <a:bodyPr wrap="square" rtlCol="0">
            <a:spAutoFit/>
          </a:bodyPr>
          <a:lstStyle/>
          <a:p>
            <a:pPr algn="l"/>
            <a:r>
              <a:rPr lang="en-US" sz="1500">
                <a:latin typeface="Consolas" panose="020B0609020204030204" pitchFamily="49" charset="0"/>
              </a:rPr>
              <a:t>int a = 13;</a:t>
            </a:r>
          </a:p>
        </p:txBody>
      </p:sp>
      <p:sp>
        <p:nvSpPr>
          <p:cNvPr id="3" name="TextBox 2">
            <a:extLst>
              <a:ext uri="{FF2B5EF4-FFF2-40B4-BE49-F238E27FC236}">
                <a16:creationId xmlns:a16="http://schemas.microsoft.com/office/drawing/2014/main" id="{9CCBF4BF-A249-3BD7-95A6-6579CFF64AC8}"/>
              </a:ext>
            </a:extLst>
          </p:cNvPr>
          <p:cNvSpPr txBox="1"/>
          <p:nvPr/>
        </p:nvSpPr>
        <p:spPr>
          <a:xfrm>
            <a:off x="411404" y="225596"/>
            <a:ext cx="4767888" cy="1569660"/>
          </a:xfrm>
          <a:prstGeom prst="rect">
            <a:avLst/>
          </a:prstGeom>
          <a:solidFill>
            <a:schemeClr val="bg1"/>
          </a:solidFill>
          <a:ln>
            <a:solidFill>
              <a:schemeClr val="tx1"/>
            </a:solidFill>
          </a:ln>
        </p:spPr>
        <p:txBody>
          <a:bodyPr wrap="square" rtlCol="0">
            <a:spAutoFit/>
          </a:bodyPr>
          <a:lstStyle/>
          <a:p>
            <a:r>
              <a:rPr lang="en-US" sz="1600">
                <a:latin typeface="+mj-lt"/>
              </a:rPr>
              <a:t>static int digitSum(int n) {</a:t>
            </a:r>
          </a:p>
          <a:p>
            <a:r>
              <a:rPr lang="en-US" sz="1600">
                <a:latin typeface="+mj-lt"/>
              </a:rPr>
              <a:t>    if (n == 0) {</a:t>
            </a:r>
          </a:p>
          <a:p>
            <a:r>
              <a:rPr lang="en-US" sz="1600">
                <a:latin typeface="+mj-lt"/>
              </a:rPr>
              <a:t>        return 0;</a:t>
            </a:r>
          </a:p>
          <a:p>
            <a:r>
              <a:rPr lang="en-US" sz="1600">
                <a:latin typeface="+mj-lt"/>
              </a:rPr>
              <a:t>    }</a:t>
            </a:r>
          </a:p>
          <a:p>
            <a:r>
              <a:rPr lang="en-US" sz="1600">
                <a:latin typeface="+mj-lt"/>
              </a:rPr>
              <a:t>    return digitSum(n / 10) + (n % 10);</a:t>
            </a:r>
          </a:p>
          <a:p>
            <a:r>
              <a:rPr lang="en-US" sz="1600">
                <a:latin typeface="+mj-lt"/>
              </a:rPr>
              <a:t>}</a:t>
            </a:r>
            <a:endParaRPr lang="en-US" sz="1500">
              <a:latin typeface="Consolas" panose="020B0609020204030204" pitchFamily="49" charset="0"/>
            </a:endParaRPr>
          </a:p>
        </p:txBody>
      </p:sp>
    </p:spTree>
    <p:extLst>
      <p:ext uri="{BB962C8B-B14F-4D97-AF65-F5344CB8AC3E}">
        <p14:creationId xmlns:p14="http://schemas.microsoft.com/office/powerpoint/2010/main" val="3136785522"/>
      </p:ext>
    </p:extLst>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10CD5-97B6-FFC3-AF4B-7714F7635C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5597F3-DA41-667F-E5EA-72B5EEA190B5}"/>
              </a:ext>
            </a:extLst>
          </p:cNvPr>
          <p:cNvSpPr>
            <a:spLocks noGrp="1"/>
          </p:cNvSpPr>
          <p:nvPr>
            <p:ph type="title"/>
          </p:nvPr>
        </p:nvSpPr>
        <p:spPr/>
        <p:txBody>
          <a:bodyPr/>
          <a:lstStyle/>
          <a:p>
            <a:r>
              <a:rPr lang="en-US">
                <a:latin typeface="Zapfino" panose="03030300040707070C03" pitchFamily="66" charset="77"/>
              </a:rPr>
              <a:t>fin.</a:t>
            </a:r>
          </a:p>
        </p:txBody>
      </p:sp>
    </p:spTree>
    <p:extLst>
      <p:ext uri="{BB962C8B-B14F-4D97-AF65-F5344CB8AC3E}">
        <p14:creationId xmlns:p14="http://schemas.microsoft.com/office/powerpoint/2010/main" val="724245562"/>
      </p:ext>
    </p:extLst>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74612-BCD4-5356-85FC-691189210BA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7346760-836D-A17B-9424-02F64249AFEE}"/>
              </a:ext>
            </a:extLst>
          </p:cNvPr>
          <p:cNvSpPr>
            <a:spLocks noGrp="1"/>
          </p:cNvSpPr>
          <p:nvPr>
            <p:ph type="title"/>
          </p:nvPr>
        </p:nvSpPr>
        <p:spPr/>
        <p:txBody>
          <a:bodyPr/>
          <a:lstStyle/>
          <a:p>
            <a:r>
              <a:rPr lang="en-US"/>
              <a:t>recursive functions (2/2)</a:t>
            </a:r>
          </a:p>
        </p:txBody>
      </p:sp>
      <p:sp>
        <p:nvSpPr>
          <p:cNvPr id="2" name="Content Placeholder 1">
            <a:extLst>
              <a:ext uri="{FF2B5EF4-FFF2-40B4-BE49-F238E27FC236}">
                <a16:creationId xmlns:a16="http://schemas.microsoft.com/office/drawing/2014/main" id="{3D4C5979-FF32-A2A3-9F7E-D736FF0A555B}"/>
              </a:ext>
            </a:extLst>
          </p:cNvPr>
          <p:cNvSpPr>
            <a:spLocks noGrp="1"/>
          </p:cNvSpPr>
          <p:nvPr>
            <p:ph sz="quarter" idx="10"/>
          </p:nvPr>
        </p:nvSpPr>
        <p:spPr/>
        <p:txBody>
          <a:bodyPr/>
          <a:lstStyle/>
          <a:p>
            <a:r>
              <a:rPr lang="en-US"/>
              <a:t>a </a:t>
            </a:r>
            <a:r>
              <a:rPr lang="en-US" b="1"/>
              <a:t>stack overflow</a:t>
            </a:r>
            <a:r>
              <a:rPr lang="en-US"/>
              <a:t> error happens when functions call too many functions without returning; these errors are usually caused by broken recursive code</a:t>
            </a:r>
          </a:p>
        </p:txBody>
      </p:sp>
      <p:sp>
        <p:nvSpPr>
          <p:cNvPr id="7" name="TextBox 6">
            <a:extLst>
              <a:ext uri="{FF2B5EF4-FFF2-40B4-BE49-F238E27FC236}">
                <a16:creationId xmlns:a16="http://schemas.microsoft.com/office/drawing/2014/main" id="{2989ECF0-E4C3-8548-AEA5-9226243CE180}"/>
              </a:ext>
            </a:extLst>
          </p:cNvPr>
          <p:cNvSpPr txBox="1"/>
          <p:nvPr/>
        </p:nvSpPr>
        <p:spPr>
          <a:xfrm>
            <a:off x="457200" y="1694587"/>
            <a:ext cx="4341511" cy="1754326"/>
          </a:xfrm>
          <a:prstGeom prst="rect">
            <a:avLst/>
          </a:prstGeom>
          <a:solidFill>
            <a:schemeClr val="accent1">
              <a:lumMod val="20000"/>
              <a:lumOff val="80000"/>
            </a:schemeClr>
          </a:solidFill>
          <a:ln>
            <a:solidFill>
              <a:schemeClr val="tx1"/>
            </a:solidFill>
          </a:ln>
        </p:spPr>
        <p:txBody>
          <a:bodyPr wrap="square" rtlCol="0">
            <a:spAutoFit/>
          </a:bodyPr>
          <a:lstStyle/>
          <a:p>
            <a:r>
              <a:rPr lang="en-US" sz="1200">
                <a:latin typeface="+mj-lt"/>
              </a:rPr>
              <a:t>class Main {</a:t>
            </a:r>
          </a:p>
          <a:p>
            <a:r>
              <a:rPr lang="en-US" sz="1200">
                <a:latin typeface="+mj-lt"/>
              </a:rPr>
              <a:t>    static void stackOverflow() {</a:t>
            </a:r>
          </a:p>
          <a:p>
            <a:r>
              <a:rPr lang="en-US" sz="1200">
                <a:latin typeface="+mj-lt"/>
              </a:rPr>
              <a:t>        stackOverflow();</a:t>
            </a:r>
          </a:p>
          <a:p>
            <a:r>
              <a:rPr lang="en-US" sz="1200">
                <a:latin typeface="+mj-lt"/>
              </a:rPr>
              <a:t>    }</a:t>
            </a:r>
          </a:p>
          <a:p>
            <a:r>
              <a:rPr lang="en-US" sz="1200">
                <a:latin typeface="+mj-lt"/>
              </a:rPr>
              <a:t>    </a:t>
            </a:r>
          </a:p>
          <a:p>
            <a:r>
              <a:rPr lang="en-US" sz="1200">
                <a:latin typeface="+mj-lt"/>
              </a:rPr>
              <a:t>    public static void main(String[] arguments) {</a:t>
            </a:r>
          </a:p>
          <a:p>
            <a:r>
              <a:rPr lang="en-US" sz="1200">
                <a:latin typeface="+mj-lt"/>
              </a:rPr>
              <a:t>        stackOverflow();</a:t>
            </a:r>
          </a:p>
          <a:p>
            <a:r>
              <a:rPr lang="en-US" sz="1200">
                <a:latin typeface="+mj-lt"/>
              </a:rPr>
              <a:t>    }</a:t>
            </a:r>
          </a:p>
          <a:p>
            <a:r>
              <a:rPr lang="en-US" sz="1200">
                <a:latin typeface="+mj-lt"/>
              </a:rPr>
              <a:t>}</a:t>
            </a:r>
          </a:p>
        </p:txBody>
      </p:sp>
      <p:sp>
        <p:nvSpPr>
          <p:cNvPr id="10" name="TextBox 9">
            <a:extLst>
              <a:ext uri="{FF2B5EF4-FFF2-40B4-BE49-F238E27FC236}">
                <a16:creationId xmlns:a16="http://schemas.microsoft.com/office/drawing/2014/main" id="{94C77AC0-9413-F3F2-ECFA-91924DB18653}"/>
              </a:ext>
            </a:extLst>
          </p:cNvPr>
          <p:cNvSpPr txBox="1"/>
          <p:nvPr/>
        </p:nvSpPr>
        <p:spPr>
          <a:xfrm>
            <a:off x="4861686" y="1694587"/>
            <a:ext cx="3825114" cy="12464951"/>
          </a:xfrm>
          <a:prstGeom prst="rect">
            <a:avLst/>
          </a:prstGeom>
          <a:solidFill>
            <a:schemeClr val="bg1"/>
          </a:solidFill>
          <a:ln>
            <a:solidFill>
              <a:schemeClr val="tx1"/>
            </a:solidFill>
          </a:ln>
        </p:spPr>
        <p:txBody>
          <a:bodyPr wrap="square" rtlCol="0">
            <a:spAutoFit/>
          </a:bodyPr>
          <a:lstStyle/>
          <a:p>
            <a:r>
              <a:rPr lang="en-US" sz="1200" b="1">
                <a:solidFill>
                  <a:srgbClr val="C00000"/>
                </a:solidFill>
                <a:latin typeface="+mj-lt"/>
              </a:rPr>
              <a:t>java.lang.StackOverflowError</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a:p>
            <a:r>
              <a:rPr lang="en-US" sz="1200" b="1">
                <a:solidFill>
                  <a:srgbClr val="C00000"/>
                </a:solidFill>
                <a:latin typeface="+mj-lt"/>
              </a:rPr>
              <a:t>	at Main.stackOverflow(Tmp.java:3)</a:t>
            </a:r>
          </a:p>
        </p:txBody>
      </p:sp>
    </p:spTree>
    <p:extLst>
      <p:ext uri="{BB962C8B-B14F-4D97-AF65-F5344CB8AC3E}">
        <p14:creationId xmlns:p14="http://schemas.microsoft.com/office/powerpoint/2010/main" val="2071420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F0374-4B90-080C-2332-4017EFCE4AFF}"/>
            </a:ext>
          </a:extLst>
        </p:cNvPr>
        <p:cNvGrpSpPr/>
        <p:nvPr/>
      </p:nvGrpSpPr>
      <p:grpSpPr>
        <a:xfrm>
          <a:off x="0" y="0"/>
          <a:ext cx="0" cy="0"/>
          <a:chOff x="0" y="0"/>
          <a:chExt cx="0" cy="0"/>
        </a:xfrm>
      </p:grpSpPr>
      <p:pic>
        <p:nvPicPr>
          <p:cNvPr id="4" name="Picture 2" descr="Freaking Vortex - The Perry Bible Fellowship">
            <a:extLst>
              <a:ext uri="{FF2B5EF4-FFF2-40B4-BE49-F238E27FC236}">
                <a16:creationId xmlns:a16="http://schemas.microsoft.com/office/drawing/2014/main" id="{A57BC4CA-5363-ADE8-EDA7-E3D8144360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716" y="1080655"/>
            <a:ext cx="8946568" cy="29821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2121445"/>
      </p:ext>
    </p:extLst>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F1F4D-E443-7C49-E684-1EB8F5B763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3D4FCA-4CED-C3A9-81F7-0F9B6372B8D8}"/>
              </a:ext>
            </a:extLst>
          </p:cNvPr>
          <p:cNvSpPr>
            <a:spLocks noGrp="1"/>
          </p:cNvSpPr>
          <p:nvPr>
            <p:ph type="title"/>
          </p:nvPr>
        </p:nvSpPr>
        <p:spPr/>
        <p:txBody>
          <a:bodyPr/>
          <a:lstStyle/>
          <a:p>
            <a:r>
              <a:rPr lang="en-US"/>
              <a:t>classes</a:t>
            </a:r>
          </a:p>
        </p:txBody>
      </p:sp>
    </p:spTree>
    <p:extLst>
      <p:ext uri="{BB962C8B-B14F-4D97-AF65-F5344CB8AC3E}">
        <p14:creationId xmlns:p14="http://schemas.microsoft.com/office/powerpoint/2010/main" val="3250192110"/>
      </p:ext>
    </p:extLst>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C7A3A-927D-4CE1-2C2D-CCA1EDCC4E9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3D39CC5-2787-A8E0-B1B3-078F8DCEB527}"/>
              </a:ext>
            </a:extLst>
          </p:cNvPr>
          <p:cNvSpPr>
            <a:spLocks noGrp="1"/>
          </p:cNvSpPr>
          <p:nvPr>
            <p:ph type="title"/>
          </p:nvPr>
        </p:nvSpPr>
        <p:spPr/>
        <p:txBody>
          <a:bodyPr/>
          <a:lstStyle/>
          <a:p>
            <a:r>
              <a:rPr lang="en-US"/>
              <a:t>anatomy of a class</a:t>
            </a:r>
          </a:p>
        </p:txBody>
      </p:sp>
    </p:spTree>
    <p:extLst>
      <p:ext uri="{BB962C8B-B14F-4D97-AF65-F5344CB8AC3E}">
        <p14:creationId xmlns:p14="http://schemas.microsoft.com/office/powerpoint/2010/main" val="1268492818"/>
      </p:ext>
    </p:extLst>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81F9D-01CF-9316-8A02-0419AEA9C98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4E0444-D770-24B2-4852-9887880882E9}"/>
              </a:ext>
            </a:extLst>
          </p:cNvPr>
          <p:cNvSpPr>
            <a:spLocks noGrp="1"/>
          </p:cNvSpPr>
          <p:nvPr>
            <p:ph type="title"/>
          </p:nvPr>
        </p:nvSpPr>
        <p:spPr/>
        <p:txBody>
          <a:bodyPr/>
          <a:lstStyle/>
          <a:p>
            <a:r>
              <a:rPr lang="en-US"/>
              <a:t>anatomy of a class (1/2)</a:t>
            </a:r>
          </a:p>
        </p:txBody>
      </p:sp>
      <p:sp>
        <p:nvSpPr>
          <p:cNvPr id="6" name="Content Placeholder 5">
            <a:extLst>
              <a:ext uri="{FF2B5EF4-FFF2-40B4-BE49-F238E27FC236}">
                <a16:creationId xmlns:a16="http://schemas.microsoft.com/office/drawing/2014/main" id="{7F23802A-BB1A-22D0-8D02-3FAFCC43BF0B}"/>
              </a:ext>
            </a:extLst>
          </p:cNvPr>
          <p:cNvSpPr>
            <a:spLocks noGrp="1"/>
          </p:cNvSpPr>
          <p:nvPr>
            <p:ph sz="quarter" idx="10"/>
          </p:nvPr>
        </p:nvSpPr>
        <p:spPr/>
        <p:txBody>
          <a:bodyPr/>
          <a:lstStyle/>
          <a:p>
            <a:endParaRPr lang="en-US"/>
          </a:p>
          <a:p>
            <a:endParaRPr lang="en-US"/>
          </a:p>
          <a:p>
            <a:pPr marL="0" indent="0">
              <a:buNone/>
            </a:pPr>
            <a:endParaRPr lang="en-US"/>
          </a:p>
          <a:p>
            <a:endParaRPr lang="en-US"/>
          </a:p>
          <a:p>
            <a:endParaRPr lang="en-US"/>
          </a:p>
          <a:p>
            <a:endParaRPr lang="en-US"/>
          </a:p>
          <a:p>
            <a:endParaRPr lang="en-US"/>
          </a:p>
          <a:p>
            <a:r>
              <a:rPr lang="en-US"/>
              <a:t>a </a:t>
            </a:r>
            <a:r>
              <a:rPr lang="en-US" b="1"/>
              <a:t>class</a:t>
            </a:r>
            <a:r>
              <a:rPr lang="en-US"/>
              <a:t> lets you bundle together data and functions</a:t>
            </a:r>
          </a:p>
          <a:p>
            <a:pPr lvl="1"/>
            <a:r>
              <a:rPr lang="en-US"/>
              <a:t>a class may have any number of </a:t>
            </a:r>
            <a:r>
              <a:rPr lang="en-US" b="1"/>
              <a:t>variables </a:t>
            </a:r>
            <a:r>
              <a:rPr lang="en-US"/>
              <a:t>(fields)</a:t>
            </a:r>
          </a:p>
          <a:p>
            <a:pPr lvl="2"/>
            <a:r>
              <a:rPr lang="en-US">
                <a:solidFill>
                  <a:srgbClr val="0000FF"/>
                </a:solidFill>
                <a:latin typeface="+mj-lt"/>
              </a:rPr>
              <a:t>int</a:t>
            </a:r>
            <a:r>
              <a:rPr lang="en-US">
                <a:latin typeface="+mj-lt"/>
              </a:rPr>
              <a:t> foo; </a:t>
            </a:r>
            <a:r>
              <a:rPr lang="en-US">
                <a:solidFill>
                  <a:srgbClr val="007B00"/>
                </a:solidFill>
                <a:latin typeface="+mj-lt"/>
              </a:rPr>
              <a:t>// objects of this class have an int called foo</a:t>
            </a:r>
          </a:p>
          <a:p>
            <a:pPr lvl="1"/>
            <a:r>
              <a:rPr lang="en-US"/>
              <a:t>a class may have any number of </a:t>
            </a:r>
            <a:r>
              <a:rPr lang="en-US" b="1"/>
              <a:t>functions </a:t>
            </a:r>
            <a:r>
              <a:rPr lang="en-US"/>
              <a:t>(methods)</a:t>
            </a:r>
          </a:p>
          <a:p>
            <a:pPr lvl="2"/>
            <a:r>
              <a:rPr lang="en-US">
                <a:solidFill>
                  <a:srgbClr val="0000FF"/>
                </a:solidFill>
                <a:latin typeface="+mj-lt"/>
              </a:rPr>
              <a:t>int</a:t>
            </a:r>
            <a:r>
              <a:rPr lang="en-US">
                <a:latin typeface="+mj-lt"/>
              </a:rPr>
              <a:t> bar() { </a:t>
            </a:r>
            <a:r>
              <a:rPr lang="en-US">
                <a:solidFill>
                  <a:srgbClr val="BFBFBF"/>
                </a:solidFill>
                <a:latin typeface="+mj-lt"/>
              </a:rPr>
              <a:t>...</a:t>
            </a:r>
            <a:r>
              <a:rPr lang="en-US">
                <a:latin typeface="+mj-lt"/>
              </a:rPr>
              <a:t> } </a:t>
            </a:r>
            <a:r>
              <a:rPr lang="en-US">
                <a:solidFill>
                  <a:srgbClr val="007B00"/>
                </a:solidFill>
                <a:latin typeface="+mj-lt"/>
              </a:rPr>
              <a:t>// objects of class have function bar</a:t>
            </a:r>
          </a:p>
          <a:p>
            <a:pPr lvl="2"/>
            <a:endParaRPr lang="en-US"/>
          </a:p>
        </p:txBody>
      </p:sp>
      <p:sp>
        <p:nvSpPr>
          <p:cNvPr id="5" name="TextBox 4">
            <a:extLst>
              <a:ext uri="{FF2B5EF4-FFF2-40B4-BE49-F238E27FC236}">
                <a16:creationId xmlns:a16="http://schemas.microsoft.com/office/drawing/2014/main" id="{3812DE54-6DBC-F07A-81CC-51A0011175A6}"/>
              </a:ext>
            </a:extLst>
          </p:cNvPr>
          <p:cNvSpPr txBox="1"/>
          <p:nvPr/>
        </p:nvSpPr>
        <p:spPr>
          <a:xfrm>
            <a:off x="457200" y="909960"/>
            <a:ext cx="8229600" cy="2363724"/>
          </a:xfrm>
          <a:prstGeom prst="rect">
            <a:avLst/>
          </a:prstGeom>
          <a:solidFill>
            <a:schemeClr val="bg1"/>
          </a:solid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00FF"/>
                </a:solidFill>
                <a:effectLst/>
                <a:latin typeface="Consolas" panose="020B0609020204030204" pitchFamily="49" charset="0"/>
                <a:cs typeface="Consolas" panose="020B0609020204030204" pitchFamily="49" charset="0"/>
              </a:rPr>
              <a:t>class</a:t>
            </a:r>
            <a:r>
              <a:rPr lang="en-US">
                <a:effectLst/>
                <a:latin typeface="Consolas" panose="020B0609020204030204" pitchFamily="49" charset="0"/>
                <a:cs typeface="Consolas" panose="020B0609020204030204" pitchFamily="49" charset="0"/>
              </a:rPr>
              <a:t> </a:t>
            </a:r>
            <a:r>
              <a:rPr lang="en-US">
                <a:solidFill>
                  <a:srgbClr val="000080"/>
                </a:solidFill>
                <a:effectLst/>
                <a:latin typeface="Consolas" panose="020B0609020204030204" pitchFamily="49" charset="0"/>
                <a:cs typeface="Consolas" panose="020B0609020204030204" pitchFamily="49" charset="0"/>
              </a:rPr>
              <a:t>ClassName</a:t>
            </a:r>
            <a:r>
              <a:rPr lang="en-US">
                <a:effectLst/>
                <a:latin typeface="Consolas" panose="020B0609020204030204" pitchFamily="49" charset="0"/>
                <a:cs typeface="Consolas" panose="020B0609020204030204" pitchFamily="49" charset="0"/>
              </a:rPr>
              <a:t> {</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    </a:t>
            </a:r>
            <a:r>
              <a:rPr lang="en-US">
                <a:solidFill>
                  <a:srgbClr val="000080"/>
                </a:solidFill>
                <a:latin typeface="Consolas" panose="020B0609020204030204" pitchFamily="49" charset="0"/>
                <a:cs typeface="Consolas" panose="020B0609020204030204" pitchFamily="49" charset="0"/>
              </a:rPr>
              <a:t>VariableOneType</a:t>
            </a:r>
            <a:r>
              <a:rPr lang="en-US">
                <a:latin typeface="Consolas" panose="020B0609020204030204" pitchFamily="49" charset="0"/>
                <a:cs typeface="Consolas" panose="020B0609020204030204" pitchFamily="49" charset="0"/>
              </a:rPr>
              <a:t> variableOne;</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    </a:t>
            </a:r>
            <a:r>
              <a:rPr lang="en-US">
                <a:solidFill>
                  <a:srgbClr val="BFBFBF"/>
                </a:solidFill>
                <a:latin typeface="Consolas" panose="020B0609020204030204" pitchFamily="49" charset="0"/>
                <a:cs typeface="Consolas" panose="020B0609020204030204" pitchFamily="49" charset="0"/>
              </a:rPr>
              <a:t>...</a:t>
            </a:r>
          </a:p>
          <a:p>
            <a:pPr lvl="0" defTabSz="342886">
              <a:spcBef>
                <a:spcPct val="20000"/>
              </a:spcBef>
              <a:buClr>
                <a:srgbClr val="FFFFFF">
                  <a:lumMod val="65000"/>
                </a:srgbClr>
              </a:buClr>
            </a:pPr>
            <a:endParaRPr lang="en-US">
              <a:latin typeface="Consolas" panose="020B0609020204030204" pitchFamily="49" charset="0"/>
              <a:cs typeface="Consolas" panose="020B0609020204030204" pitchFamily="49" charset="0"/>
            </a:endParaRP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    </a:t>
            </a:r>
            <a:r>
              <a:rPr lang="en-US">
                <a:solidFill>
                  <a:srgbClr val="000080"/>
                </a:solidFill>
                <a:latin typeface="Consolas" panose="020B0609020204030204" pitchFamily="49" charset="0"/>
                <a:cs typeface="Consolas" panose="020B0609020204030204" pitchFamily="49" charset="0"/>
              </a:rPr>
              <a:t>FunctionOneReturnType</a:t>
            </a:r>
            <a:r>
              <a:rPr lang="en-US">
                <a:latin typeface="Consolas" panose="020B0609020204030204" pitchFamily="49" charset="0"/>
                <a:cs typeface="Consolas" panose="020B0609020204030204" pitchFamily="49" charset="0"/>
              </a:rPr>
              <a:t> functionOneName(</a:t>
            </a:r>
            <a:r>
              <a:rPr lang="en-US">
                <a:solidFill>
                  <a:srgbClr val="BFBFBF"/>
                </a:solidFill>
                <a:latin typeface="Consolas" panose="020B0609020204030204" pitchFamily="49" charset="0"/>
                <a:cs typeface="Consolas" panose="020B0609020204030204" pitchFamily="49" charset="0"/>
              </a:rPr>
              <a:t>...</a:t>
            </a:r>
            <a:r>
              <a:rPr lang="en-US">
                <a:latin typeface="Consolas" panose="020B0609020204030204" pitchFamily="49" charset="0"/>
                <a:cs typeface="Consolas" panose="020B0609020204030204" pitchFamily="49" charset="0"/>
              </a:rPr>
              <a:t>) { </a:t>
            </a:r>
            <a:r>
              <a:rPr lang="en-US">
                <a:solidFill>
                  <a:srgbClr val="BFBFBF"/>
                </a:solidFill>
                <a:latin typeface="Consolas" panose="020B0609020204030204" pitchFamily="49" charset="0"/>
                <a:cs typeface="Consolas" panose="020B0609020204030204" pitchFamily="49" charset="0"/>
              </a:rPr>
              <a:t>... </a:t>
            </a:r>
            <a:r>
              <a:rPr lang="en-US">
                <a:latin typeface="Consolas" panose="020B0609020204030204" pitchFamily="49" charset="0"/>
                <a:ea typeface="Segoe UI Emoji" panose="020B0502040204020203" pitchFamily="34" charset="0"/>
                <a:cs typeface="Consolas" panose="020B0609020204030204" pitchFamily="49" charset="0"/>
              </a:rPr>
              <a:t>}</a:t>
            </a:r>
          </a:p>
          <a:p>
            <a:pPr lvl="0" defTabSz="342886">
              <a:spcBef>
                <a:spcPct val="20000"/>
              </a:spcBef>
              <a:buClr>
                <a:srgbClr val="FFFFFF">
                  <a:lumMod val="65000"/>
                </a:srgbClr>
              </a:buClr>
            </a:pPr>
            <a:r>
              <a:rPr lang="en-US">
                <a:latin typeface="Consolas" panose="020B0609020204030204" pitchFamily="49" charset="0"/>
                <a:ea typeface="Segoe UI Emoji" panose="020B0502040204020203" pitchFamily="34" charset="0"/>
                <a:cs typeface="Consolas" panose="020B0609020204030204" pitchFamily="49" charset="0"/>
              </a:rPr>
              <a:t>    </a:t>
            </a:r>
            <a:r>
              <a:rPr lang="en-US">
                <a:solidFill>
                  <a:srgbClr val="BFBFBF"/>
                </a:solidFill>
                <a:latin typeface="Consolas" panose="020B0609020204030204" pitchFamily="49" charset="0"/>
                <a:ea typeface="Segoe UI Emoji" panose="020B0502040204020203" pitchFamily="34" charset="0"/>
                <a:cs typeface="Consolas" panose="020B0609020204030204" pitchFamily="49" charset="0"/>
              </a:rPr>
              <a:t>...</a:t>
            </a:r>
            <a:endParaRPr lang="en-US">
              <a:solidFill>
                <a:srgbClr val="BFBFBF"/>
              </a:solidFill>
              <a:latin typeface="Consolas" panose="020B0609020204030204" pitchFamily="49" charset="0"/>
              <a:cs typeface="Consolas" panose="020B0609020204030204" pitchFamily="49" charset="0"/>
            </a:endParaRPr>
          </a:p>
          <a:p>
            <a:pPr lvl="0" defTabSz="342886">
              <a:spcBef>
                <a:spcPct val="20000"/>
              </a:spcBef>
              <a:buClr>
                <a:srgbClr val="FFFFFF">
                  <a:lumMod val="65000"/>
                </a:srgbClr>
              </a:buClr>
            </a:pPr>
            <a:r>
              <a:rPr lang="en-US">
                <a:latin typeface="Consolas" panose="020B0609020204030204" pitchFamily="49" charset="0"/>
                <a:ea typeface="Segoe UI Emoji" panose="020B0502040204020203" pitchFamily="34" charset="0"/>
                <a:cs typeface="Consolas" panose="020B0609020204030204" pitchFamily="49" charset="0"/>
              </a:rPr>
              <a:t>}</a:t>
            </a:r>
          </a:p>
        </p:txBody>
      </p:sp>
    </p:spTree>
    <p:extLst>
      <p:ext uri="{BB962C8B-B14F-4D97-AF65-F5344CB8AC3E}">
        <p14:creationId xmlns:p14="http://schemas.microsoft.com/office/powerpoint/2010/main" val="2264849989"/>
      </p:ext>
    </p:extLst>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EAEE8-6944-B7D9-615F-E316DB8E8EA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6B369BF-BF8E-1634-94EF-281A9F947A30}"/>
              </a:ext>
            </a:extLst>
          </p:cNvPr>
          <p:cNvSpPr>
            <a:spLocks noGrp="1"/>
          </p:cNvSpPr>
          <p:nvPr>
            <p:ph type="title"/>
          </p:nvPr>
        </p:nvSpPr>
        <p:spPr/>
        <p:txBody>
          <a:bodyPr/>
          <a:lstStyle/>
          <a:p>
            <a:r>
              <a:rPr lang="en-US"/>
              <a:t>anatomy of a class (2/2)</a:t>
            </a:r>
          </a:p>
        </p:txBody>
      </p:sp>
      <p:sp>
        <p:nvSpPr>
          <p:cNvPr id="5" name="TextBox 4">
            <a:extLst>
              <a:ext uri="{FF2B5EF4-FFF2-40B4-BE49-F238E27FC236}">
                <a16:creationId xmlns:a16="http://schemas.microsoft.com/office/drawing/2014/main" id="{6E891425-7394-56E3-9CB5-359777C05A1B}"/>
              </a:ext>
            </a:extLst>
          </p:cNvPr>
          <p:cNvSpPr txBox="1"/>
          <p:nvPr/>
        </p:nvSpPr>
        <p:spPr>
          <a:xfrm>
            <a:off x="457200" y="924335"/>
            <a:ext cx="8229600" cy="3693319"/>
          </a:xfrm>
          <a:prstGeom prst="rect">
            <a:avLst/>
          </a:prstGeom>
          <a:solidFill>
            <a:schemeClr val="bg1"/>
          </a:solid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00FF"/>
                </a:solidFill>
                <a:latin typeface="Consolas" panose="020B0609020204030204" pitchFamily="49" charset="0"/>
                <a:cs typeface="Consolas" panose="020B0609020204030204" pitchFamily="49" charset="0"/>
              </a:rPr>
              <a:t>class</a:t>
            </a:r>
            <a:r>
              <a:rPr lang="en-US">
                <a:latin typeface="Consolas" panose="020B0609020204030204" pitchFamily="49" charset="0"/>
                <a:cs typeface="Consolas" panose="020B0609020204030204" pitchFamily="49" charset="0"/>
              </a:rPr>
              <a:t> </a:t>
            </a:r>
            <a:r>
              <a:rPr lang="en-US">
                <a:solidFill>
                  <a:srgbClr val="000080"/>
                </a:solidFill>
                <a:latin typeface="Consolas" panose="020B0609020204030204" pitchFamily="49" charset="0"/>
                <a:cs typeface="Consolas" panose="020B0609020204030204" pitchFamily="49" charset="0"/>
              </a:rPr>
              <a:t>Thing</a:t>
            </a:r>
            <a:r>
              <a:rPr lang="en-US">
                <a:latin typeface="Consolas" panose="020B0609020204030204" pitchFamily="49" charset="0"/>
                <a:cs typeface="Consolas" panose="020B0609020204030204" pitchFamily="49" charset="0"/>
              </a:rPr>
              <a:t> {</a:t>
            </a:r>
          </a:p>
          <a:p>
            <a:pPr lvl="0" defTabSz="342886">
              <a:spcBef>
                <a:spcPct val="20000"/>
              </a:spcBef>
              <a:buClr>
                <a:srgbClr val="FFFFFF">
                  <a:lumMod val="65000"/>
                </a:srgbClr>
              </a:buClr>
            </a:pPr>
            <a:r>
              <a:rPr lang="en-US">
                <a:solidFill>
                  <a:srgbClr val="007B00"/>
                </a:solidFill>
                <a:latin typeface="Consolas" panose="020B0609020204030204" pitchFamily="49" charset="0"/>
                <a:cs typeface="Consolas" panose="020B0609020204030204" pitchFamily="49" charset="0"/>
              </a:rPr>
              <a:t>    // instance variables</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    </a:t>
            </a:r>
            <a:r>
              <a:rPr lang="en-US">
                <a:solidFill>
                  <a:srgbClr val="0000FF"/>
                </a:solidFill>
                <a:latin typeface="Consolas" panose="020B0609020204030204" pitchFamily="49" charset="0"/>
                <a:cs typeface="Consolas" panose="020B0609020204030204" pitchFamily="49" charset="0"/>
              </a:rPr>
              <a:t>double</a:t>
            </a:r>
            <a:r>
              <a:rPr lang="en-US">
                <a:latin typeface="Consolas" panose="020B0609020204030204" pitchFamily="49" charset="0"/>
                <a:cs typeface="Consolas" panose="020B0609020204030204" pitchFamily="49" charset="0"/>
              </a:rPr>
              <a:t> x;</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    </a:t>
            </a:r>
            <a:r>
              <a:rPr lang="en-US">
                <a:solidFill>
                  <a:srgbClr val="0000FF"/>
                </a:solidFill>
                <a:latin typeface="Consolas" panose="020B0609020204030204" pitchFamily="49" charset="0"/>
                <a:cs typeface="Consolas" panose="020B0609020204030204" pitchFamily="49" charset="0"/>
              </a:rPr>
              <a:t>double</a:t>
            </a:r>
            <a:r>
              <a:rPr lang="en-US">
                <a:latin typeface="Consolas" panose="020B0609020204030204" pitchFamily="49" charset="0"/>
                <a:cs typeface="Consolas" panose="020B0609020204030204" pitchFamily="49" charset="0"/>
              </a:rPr>
              <a:t> y;</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    Color color;</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    </a:t>
            </a:r>
            <a:r>
              <a:rPr lang="en-US">
                <a:solidFill>
                  <a:srgbClr val="0000FF"/>
                </a:solidFill>
                <a:latin typeface="Consolas" panose="020B0609020204030204" pitchFamily="49" charset="0"/>
                <a:cs typeface="Consolas" panose="020B0609020204030204" pitchFamily="49" charset="0"/>
              </a:rPr>
              <a:t>double</a:t>
            </a:r>
            <a:r>
              <a:rPr lang="en-US">
                <a:latin typeface="Consolas" panose="020B0609020204030204" pitchFamily="49" charset="0"/>
                <a:cs typeface="Consolas" panose="020B0609020204030204" pitchFamily="49" charset="0"/>
              </a:rPr>
              <a:t> radius;</a:t>
            </a:r>
          </a:p>
          <a:p>
            <a:pPr lvl="0" defTabSz="342886">
              <a:spcBef>
                <a:spcPct val="20000"/>
              </a:spcBef>
              <a:buClr>
                <a:srgbClr val="FFFFFF">
                  <a:lumMod val="65000"/>
                </a:srgbClr>
              </a:buClr>
            </a:pPr>
            <a:endParaRPr lang="en-US">
              <a:latin typeface="Consolas" panose="020B0609020204030204" pitchFamily="49" charset="0"/>
              <a:cs typeface="Consolas" panose="020B0609020204030204" pitchFamily="49" charset="0"/>
            </a:endParaRPr>
          </a:p>
          <a:p>
            <a:pPr lvl="0" defTabSz="342886">
              <a:spcBef>
                <a:spcPct val="20000"/>
              </a:spcBef>
              <a:buClr>
                <a:srgbClr val="FFFFFF">
                  <a:lumMod val="65000"/>
                </a:srgbClr>
              </a:buClr>
            </a:pPr>
            <a:r>
              <a:rPr lang="en-US">
                <a:solidFill>
                  <a:srgbClr val="007B00"/>
                </a:solidFill>
                <a:latin typeface="Consolas" panose="020B0609020204030204" pitchFamily="49" charset="0"/>
                <a:cs typeface="Consolas" panose="020B0609020204030204" pitchFamily="49" charset="0"/>
              </a:rPr>
              <a:t>    // instance methods</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    </a:t>
            </a:r>
            <a:r>
              <a:rPr lang="en-US">
                <a:solidFill>
                  <a:srgbClr val="000080"/>
                </a:solidFill>
                <a:latin typeface="Consolas" panose="020B0609020204030204" pitchFamily="49" charset="0"/>
                <a:cs typeface="Consolas" panose="020B0609020204030204" pitchFamily="49" charset="0"/>
              </a:rPr>
              <a:t>void</a:t>
            </a:r>
            <a:r>
              <a:rPr lang="en-US">
                <a:latin typeface="Consolas" panose="020B0609020204030204" pitchFamily="49" charset="0"/>
                <a:cs typeface="Consolas" panose="020B0609020204030204" pitchFamily="49" charset="0"/>
              </a:rPr>
              <a:t> draw() { </a:t>
            </a:r>
            <a:r>
              <a:rPr lang="en-US">
                <a:solidFill>
                  <a:srgbClr val="BFBFBF"/>
                </a:solidFill>
                <a:latin typeface="Consolas" panose="020B0609020204030204" pitchFamily="49" charset="0"/>
                <a:cs typeface="Consolas" panose="020B0609020204030204" pitchFamily="49" charset="0"/>
              </a:rPr>
              <a:t>...</a:t>
            </a:r>
            <a:r>
              <a:rPr lang="en-US">
                <a:latin typeface="Consolas" panose="020B0609020204030204" pitchFamily="49" charset="0"/>
                <a:cs typeface="Consolas" panose="020B0609020204030204" pitchFamily="49" charset="0"/>
              </a:rPr>
              <a:t> }</a:t>
            </a:r>
          </a:p>
          <a:p>
            <a:pPr lvl="0" defTabSz="342886">
              <a:spcBef>
                <a:spcPct val="20000"/>
              </a:spcBef>
              <a:buClr>
                <a:srgbClr val="FFFFFF">
                  <a:lumMod val="65000"/>
                </a:srgbClr>
              </a:buClr>
            </a:pPr>
            <a:r>
              <a:rPr lang="en-US">
                <a:latin typeface="Consolas" panose="020B0609020204030204" pitchFamily="49" charset="0"/>
                <a:cs typeface="Consolas" panose="020B0609020204030204" pitchFamily="49" charset="0"/>
              </a:rPr>
              <a:t>    </a:t>
            </a:r>
            <a:r>
              <a:rPr lang="en-US">
                <a:solidFill>
                  <a:srgbClr val="BFBFBF"/>
                </a:solidFill>
                <a:latin typeface="Consolas" panose="020B0609020204030204" pitchFamily="49" charset="0"/>
                <a:cs typeface="Consolas" panose="020B0609020204030204" pitchFamily="49" charset="0"/>
              </a:rPr>
              <a:t>...</a:t>
            </a:r>
          </a:p>
          <a:p>
            <a:pPr lvl="0" defTabSz="342886">
              <a:spcBef>
                <a:spcPct val="20000"/>
              </a:spcBef>
              <a:buClr>
                <a:srgbClr val="FFFFFF">
                  <a:lumMod val="65000"/>
                </a:srgbClr>
              </a:buClr>
            </a:pPr>
            <a:r>
              <a:rPr lang="en-US">
                <a:latin typeface="Consolas" panose="020B0609020204030204" pitchFamily="49" charset="0"/>
                <a:ea typeface="Segoe UI Emoji" panose="020B0502040204020203" pitchFamily="34" charset="0"/>
                <a:cs typeface="Consolas" panose="020B0609020204030204" pitchFamily="49" charset="0"/>
              </a:rPr>
              <a:t>}</a:t>
            </a:r>
          </a:p>
        </p:txBody>
      </p:sp>
    </p:spTree>
    <p:extLst>
      <p:ext uri="{BB962C8B-B14F-4D97-AF65-F5344CB8AC3E}">
        <p14:creationId xmlns:p14="http://schemas.microsoft.com/office/powerpoint/2010/main" val="4208223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D8081-B550-2717-16C6-97DC90AFC67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29E9D3F-57BE-B23E-DA45-1057B376A2DE}"/>
              </a:ext>
            </a:extLst>
          </p:cNvPr>
          <p:cNvSpPr>
            <a:spLocks noGrp="1"/>
          </p:cNvSpPr>
          <p:nvPr>
            <p:ph type="title"/>
          </p:nvPr>
        </p:nvSpPr>
        <p:spPr/>
        <p:txBody>
          <a:bodyPr/>
          <a:lstStyle/>
          <a:p>
            <a:r>
              <a:rPr lang="en-US"/>
              <a:t>dot</a:t>
            </a:r>
          </a:p>
        </p:txBody>
      </p:sp>
    </p:spTree>
    <p:extLst>
      <p:ext uri="{BB962C8B-B14F-4D97-AF65-F5344CB8AC3E}">
        <p14:creationId xmlns:p14="http://schemas.microsoft.com/office/powerpoint/2010/main" val="1184144941"/>
      </p:ext>
    </p:extLst>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BE036-5891-2FA4-798E-6CFB9FDE144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3F87DDF-B847-0A47-9807-DF8D766CD02E}"/>
              </a:ext>
            </a:extLst>
          </p:cNvPr>
          <p:cNvSpPr>
            <a:spLocks noGrp="1"/>
          </p:cNvSpPr>
          <p:nvPr>
            <p:ph type="title"/>
          </p:nvPr>
        </p:nvSpPr>
        <p:spPr/>
        <p:txBody>
          <a:bodyPr/>
          <a:lstStyle/>
          <a:p>
            <a:r>
              <a:rPr lang="en-US"/>
              <a:t>dot</a:t>
            </a:r>
          </a:p>
        </p:txBody>
      </p:sp>
      <p:sp>
        <p:nvSpPr>
          <p:cNvPr id="4" name="Content Placeholder 3">
            <a:extLst>
              <a:ext uri="{FF2B5EF4-FFF2-40B4-BE49-F238E27FC236}">
                <a16:creationId xmlns:a16="http://schemas.microsoft.com/office/drawing/2014/main" id="{5B605140-7DAA-8FDF-20F4-956397DCD2E0}"/>
              </a:ext>
            </a:extLst>
          </p:cNvPr>
          <p:cNvSpPr>
            <a:spLocks noGrp="1"/>
          </p:cNvSpPr>
          <p:nvPr>
            <p:ph sz="quarter" idx="10"/>
          </p:nvPr>
        </p:nvSpPr>
        <p:spPr/>
        <p:txBody>
          <a:bodyPr/>
          <a:lstStyle/>
          <a:p>
            <a:r>
              <a:rPr lang="en-US"/>
              <a:t>the </a:t>
            </a:r>
            <a:r>
              <a:rPr lang="en-US" b="1"/>
              <a:t>dot</a:t>
            </a:r>
            <a:r>
              <a:rPr lang="en-US"/>
              <a:t> operator is used to access an object's variables and functions</a:t>
            </a:r>
            <a:endParaRPr lang="en-US" b="1"/>
          </a:p>
        </p:txBody>
      </p:sp>
      <p:sp>
        <p:nvSpPr>
          <p:cNvPr id="2" name="TextBox 1">
            <a:extLst>
              <a:ext uri="{FF2B5EF4-FFF2-40B4-BE49-F238E27FC236}">
                <a16:creationId xmlns:a16="http://schemas.microsoft.com/office/drawing/2014/main" id="{98BC893D-2D29-863B-5B26-4F42C41B2216}"/>
              </a:ext>
            </a:extLst>
          </p:cNvPr>
          <p:cNvSpPr txBox="1"/>
          <p:nvPr/>
        </p:nvSpPr>
        <p:spPr>
          <a:xfrm>
            <a:off x="457200" y="1460103"/>
            <a:ext cx="8229600" cy="1200329"/>
          </a:xfrm>
          <a:prstGeom prst="rect">
            <a:avLst/>
          </a:prstGeom>
          <a:solidFill>
            <a:schemeClr val="bg1"/>
          </a:solidFill>
          <a:ln>
            <a:solidFill>
              <a:schemeClr val="tx1"/>
            </a:solidFill>
          </a:ln>
        </p:spPr>
        <p:txBody>
          <a:bodyPr wrap="square" rtlCol="0">
            <a:spAutoFit/>
          </a:bodyPr>
          <a:lstStyle/>
          <a:p>
            <a:r>
              <a:rPr lang="en-US">
                <a:solidFill>
                  <a:srgbClr val="000080"/>
                </a:solidFill>
                <a:latin typeface="Consolas" panose="020B0609020204030204" pitchFamily="49" charset="0"/>
                <a:cs typeface="Consolas" panose="020B0609020204030204" pitchFamily="49" charset="0"/>
              </a:rPr>
              <a:t>Thing</a:t>
            </a:r>
            <a:r>
              <a:rPr lang="en-US">
                <a:latin typeface="Consolas" panose="020B0609020204030204" pitchFamily="49" charset="0"/>
                <a:cs typeface="Consolas" panose="020B0609020204030204" pitchFamily="49" charset="0"/>
              </a:rPr>
              <a:t> thing = </a:t>
            </a:r>
            <a:r>
              <a:rPr lang="en-US">
                <a:solidFill>
                  <a:srgbClr val="0000FF"/>
                </a:solidFill>
                <a:latin typeface="Consolas" panose="020B0609020204030204" pitchFamily="49" charset="0"/>
                <a:cs typeface="Consolas" panose="020B0609020204030204" pitchFamily="49" charset="0"/>
              </a:rPr>
              <a:t>new</a:t>
            </a:r>
            <a:r>
              <a:rPr lang="en-US">
                <a:latin typeface="Consolas" panose="020B0609020204030204" pitchFamily="49" charset="0"/>
                <a:cs typeface="Consolas" panose="020B0609020204030204" pitchFamily="49" charset="0"/>
              </a:rPr>
              <a:t> </a:t>
            </a:r>
            <a:r>
              <a:rPr lang="en-US">
                <a:solidFill>
                  <a:srgbClr val="000080"/>
                </a:solidFill>
                <a:latin typeface="Consolas" panose="020B0609020204030204" pitchFamily="49" charset="0"/>
                <a:cs typeface="Consolas" panose="020B0609020204030204" pitchFamily="49" charset="0"/>
              </a:rPr>
              <a:t>Thing</a:t>
            </a:r>
            <a:r>
              <a:rPr lang="en-US">
                <a:latin typeface="Consolas" panose="020B0609020204030204" pitchFamily="49" charset="0"/>
                <a:cs typeface="Consolas" panose="020B0609020204030204" pitchFamily="49" charset="0"/>
              </a:rPr>
              <a:t>();</a:t>
            </a:r>
          </a:p>
          <a:p>
            <a:r>
              <a:rPr lang="en-US" err="1">
                <a:latin typeface="Consolas" panose="020B0609020204030204" pitchFamily="49" charset="0"/>
                <a:cs typeface="Consolas" panose="020B0609020204030204" pitchFamily="49" charset="0"/>
              </a:rPr>
              <a:t>thing.x</a:t>
            </a:r>
            <a:r>
              <a:rPr lang="en-US">
                <a:latin typeface="Consolas" panose="020B0609020204030204" pitchFamily="49" charset="0"/>
                <a:cs typeface="Consolas" panose="020B0609020204030204" pitchFamily="49" charset="0"/>
              </a:rPr>
              <a:t> = </a:t>
            </a:r>
            <a:r>
              <a:rPr lang="en-US">
                <a:solidFill>
                  <a:srgbClr val="0CB5B5"/>
                </a:solidFill>
                <a:latin typeface="Consolas" panose="020B0609020204030204" pitchFamily="49" charset="0"/>
                <a:cs typeface="Consolas" panose="020B0609020204030204" pitchFamily="49" charset="0"/>
              </a:rPr>
              <a:t>3</a:t>
            </a:r>
            <a:r>
              <a:rPr lang="en-US">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0</a:t>
            </a:r>
            <a:r>
              <a:rPr lang="en-US">
                <a:latin typeface="Consolas" panose="020B0609020204030204" pitchFamily="49" charset="0"/>
                <a:cs typeface="Consolas" panose="020B0609020204030204" pitchFamily="49" charset="0"/>
              </a:rPr>
              <a:t>;</a:t>
            </a:r>
          </a:p>
          <a:p>
            <a:r>
              <a:rPr lang="en-US" err="1">
                <a:latin typeface="Consolas" panose="020B0609020204030204" pitchFamily="49" charset="0"/>
                <a:cs typeface="Consolas" panose="020B0609020204030204" pitchFamily="49" charset="0"/>
              </a:rPr>
              <a:t>thing.y</a:t>
            </a:r>
            <a:r>
              <a:rPr lang="en-US">
                <a:latin typeface="Consolas" panose="020B0609020204030204" pitchFamily="49" charset="0"/>
                <a:cs typeface="Consolas" panose="020B0609020204030204" pitchFamily="49" charset="0"/>
              </a:rPr>
              <a:t> = </a:t>
            </a:r>
            <a:r>
              <a:rPr lang="en-US">
                <a:solidFill>
                  <a:srgbClr val="0CB5B5"/>
                </a:solidFill>
                <a:latin typeface="Consolas" panose="020B0609020204030204" pitchFamily="49" charset="0"/>
                <a:cs typeface="Consolas" panose="020B0609020204030204" pitchFamily="49" charset="0"/>
              </a:rPr>
              <a:t>4</a:t>
            </a:r>
            <a:r>
              <a:rPr lang="en-US">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0</a:t>
            </a:r>
            <a:r>
              <a:rPr lang="en-US">
                <a:latin typeface="Consolas" panose="020B0609020204030204" pitchFamily="49" charset="0"/>
                <a:cs typeface="Consolas" panose="020B0609020204030204" pitchFamily="49" charset="0"/>
              </a:rPr>
              <a:t>;</a:t>
            </a:r>
          </a:p>
          <a:p>
            <a:r>
              <a:rPr lang="en-US">
                <a:latin typeface="Consolas" panose="020B0609020204030204" pitchFamily="49" charset="0"/>
                <a:cs typeface="Consolas" panose="020B0609020204030204" pitchFamily="49" charset="0"/>
              </a:rPr>
              <a:t>thing.draw();</a:t>
            </a:r>
          </a:p>
        </p:txBody>
      </p:sp>
    </p:spTree>
    <p:extLst>
      <p:ext uri="{BB962C8B-B14F-4D97-AF65-F5344CB8AC3E}">
        <p14:creationId xmlns:p14="http://schemas.microsoft.com/office/powerpoint/2010/main" val="1388976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FB249-A289-378D-B3E2-833EC6C38D7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07AA0D9-7A6B-49A0-79BB-13296B91A1E4}"/>
              </a:ext>
            </a:extLst>
          </p:cNvPr>
          <p:cNvSpPr>
            <a:spLocks noGrp="1"/>
          </p:cNvSpPr>
          <p:nvPr>
            <p:ph type="title"/>
          </p:nvPr>
        </p:nvSpPr>
        <p:spPr/>
        <p:txBody>
          <a:bodyPr/>
          <a:lstStyle/>
          <a:p>
            <a:r>
              <a:rPr lang="en-US"/>
              <a:t>terminology</a:t>
            </a:r>
          </a:p>
        </p:txBody>
      </p:sp>
    </p:spTree>
    <p:extLst>
      <p:ext uri="{BB962C8B-B14F-4D97-AF65-F5344CB8AC3E}">
        <p14:creationId xmlns:p14="http://schemas.microsoft.com/office/powerpoint/2010/main" val="1537910536"/>
      </p:ext>
    </p:extLst>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92B8F-8E2B-F5A0-6412-3EB4A47D5A9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40BD0EC-264B-695E-B9B0-7588BBC8F9B8}"/>
              </a:ext>
            </a:extLst>
          </p:cNvPr>
          <p:cNvSpPr>
            <a:spLocks noGrp="1"/>
          </p:cNvSpPr>
          <p:nvPr>
            <p:ph type="title"/>
          </p:nvPr>
        </p:nvSpPr>
        <p:spPr/>
        <p:txBody>
          <a:bodyPr/>
          <a:lstStyle/>
          <a:p>
            <a:r>
              <a:rPr lang="en-US"/>
              <a:t>class vs. object (instance of a class)</a:t>
            </a:r>
          </a:p>
        </p:txBody>
      </p:sp>
      <p:sp>
        <p:nvSpPr>
          <p:cNvPr id="4" name="Content Placeholder 3">
            <a:extLst>
              <a:ext uri="{FF2B5EF4-FFF2-40B4-BE49-F238E27FC236}">
                <a16:creationId xmlns:a16="http://schemas.microsoft.com/office/drawing/2014/main" id="{FFCDE4AA-EBCD-9A14-7F02-DDA035E9A0F4}"/>
              </a:ext>
            </a:extLst>
          </p:cNvPr>
          <p:cNvSpPr>
            <a:spLocks noGrp="1"/>
          </p:cNvSpPr>
          <p:nvPr>
            <p:ph sz="quarter" idx="10"/>
          </p:nvPr>
        </p:nvSpPr>
        <p:spPr/>
        <p:txBody>
          <a:bodyPr/>
          <a:lstStyle/>
          <a:p>
            <a:r>
              <a:rPr lang="en-US"/>
              <a:t>a </a:t>
            </a:r>
            <a:r>
              <a:rPr lang="en-US" b="1"/>
              <a:t>class</a:t>
            </a:r>
            <a:r>
              <a:rPr lang="en-US"/>
              <a:t> is NOT the same thing as an </a:t>
            </a:r>
            <a:r>
              <a:rPr lang="en-US" b="1"/>
              <a:t>object</a:t>
            </a:r>
          </a:p>
          <a:p>
            <a:pPr lvl="1"/>
            <a:r>
              <a:rPr lang="en-US"/>
              <a:t>a class is "a blueprint for making objects"</a:t>
            </a:r>
          </a:p>
          <a:p>
            <a:pPr lvl="1"/>
            <a:r>
              <a:rPr lang="en-US"/>
              <a:t>we can make an </a:t>
            </a:r>
            <a:r>
              <a:rPr lang="en-US" b="1"/>
              <a:t>instance of a class</a:t>
            </a:r>
            <a:r>
              <a:rPr lang="en-US"/>
              <a:t> (an </a:t>
            </a:r>
            <a:r>
              <a:rPr lang="en-US" b="1"/>
              <a:t>object</a:t>
            </a:r>
            <a:r>
              <a:rPr lang="en-US"/>
              <a:t>) using the </a:t>
            </a:r>
            <a:r>
              <a:rPr lang="en-US" b="1"/>
              <a:t>new</a:t>
            </a:r>
            <a:r>
              <a:rPr lang="en-US"/>
              <a:t> keyword</a:t>
            </a:r>
          </a:p>
          <a:p>
            <a:pPr lvl="2"/>
            <a:r>
              <a:rPr lang="en-US"/>
              <a:t>this is called "instantiating the class"</a:t>
            </a:r>
          </a:p>
          <a:p>
            <a:pPr lvl="2"/>
            <a:r>
              <a:rPr lang="en-US">
                <a:latin typeface="+mj-lt"/>
              </a:rPr>
              <a:t>Thing thing = new Thing();</a:t>
            </a:r>
          </a:p>
        </p:txBody>
      </p:sp>
    </p:spTree>
    <p:extLst>
      <p:ext uri="{BB962C8B-B14F-4D97-AF65-F5344CB8AC3E}">
        <p14:creationId xmlns:p14="http://schemas.microsoft.com/office/powerpoint/2010/main" val="1112608821"/>
      </p:ext>
    </p:extLst>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8981BF-C952-5A74-30A9-65F051A61FAA}"/>
              </a:ext>
            </a:extLst>
          </p:cNvPr>
          <p:cNvSpPr>
            <a:spLocks noGrp="1"/>
          </p:cNvSpPr>
          <p:nvPr>
            <p:ph type="title"/>
          </p:nvPr>
        </p:nvSpPr>
        <p:spPr/>
        <p:txBody>
          <a:bodyPr/>
          <a:lstStyle/>
          <a:p>
            <a:r>
              <a:rPr lang="en-US"/>
              <a:t>[off the record note on</a:t>
            </a:r>
            <a:br>
              <a:rPr lang="en-US"/>
            </a:br>
            <a:r>
              <a:rPr lang="en-US"/>
              <a:t>OOP </a:t>
            </a:r>
            <a:r>
              <a:rPr lang="en-US" sz="1800"/>
              <a:t>(Object Oriented Programming)</a:t>
            </a:r>
            <a:r>
              <a:rPr lang="en-US"/>
              <a:t> terminology]</a:t>
            </a:r>
          </a:p>
        </p:txBody>
      </p:sp>
    </p:spTree>
    <p:extLst>
      <p:ext uri="{BB962C8B-B14F-4D97-AF65-F5344CB8AC3E}">
        <p14:creationId xmlns:p14="http://schemas.microsoft.com/office/powerpoint/2010/main" val="1730471861"/>
      </p:ext>
    </p:extLst>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17E1A-BFB5-0282-A856-48D3D69C875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E2761A-C04B-06BE-9FB0-9CBFF2315C8F}"/>
              </a:ext>
            </a:extLst>
          </p:cNvPr>
          <p:cNvSpPr>
            <a:spLocks noGrp="1"/>
          </p:cNvSpPr>
          <p:nvPr>
            <p:ph type="title"/>
          </p:nvPr>
        </p:nvSpPr>
        <p:spPr/>
        <p:txBody>
          <a:bodyPr/>
          <a:lstStyle/>
          <a:p>
            <a:r>
              <a:rPr lang="en-US"/>
              <a:t>new and constructors</a:t>
            </a:r>
          </a:p>
        </p:txBody>
      </p:sp>
    </p:spTree>
    <p:extLst>
      <p:ext uri="{BB962C8B-B14F-4D97-AF65-F5344CB8AC3E}">
        <p14:creationId xmlns:p14="http://schemas.microsoft.com/office/powerpoint/2010/main" val="1523576273"/>
      </p:ext>
    </p:extLst>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CDC42-DA2B-33EC-6228-654FA407496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A9DEE6F-C94A-3543-E255-E7F7C66D6497}"/>
              </a:ext>
            </a:extLst>
          </p:cNvPr>
          <p:cNvSpPr>
            <a:spLocks noGrp="1"/>
          </p:cNvSpPr>
          <p:nvPr>
            <p:ph type="title"/>
          </p:nvPr>
        </p:nvSpPr>
        <p:spPr/>
        <p:txBody>
          <a:bodyPr/>
          <a:lstStyle/>
          <a:p>
            <a:r>
              <a:rPr lang="en-US"/>
              <a:t>new</a:t>
            </a:r>
          </a:p>
        </p:txBody>
      </p:sp>
      <p:sp>
        <p:nvSpPr>
          <p:cNvPr id="4" name="Content Placeholder 3">
            <a:extLst>
              <a:ext uri="{FF2B5EF4-FFF2-40B4-BE49-F238E27FC236}">
                <a16:creationId xmlns:a16="http://schemas.microsoft.com/office/drawing/2014/main" id="{708EE9AE-C0CC-19CA-567E-C627568D23CE}"/>
              </a:ext>
            </a:extLst>
          </p:cNvPr>
          <p:cNvSpPr>
            <a:spLocks noGrp="1"/>
          </p:cNvSpPr>
          <p:nvPr>
            <p:ph sz="quarter" idx="10"/>
          </p:nvPr>
        </p:nvSpPr>
        <p:spPr/>
        <p:txBody>
          <a:bodyPr/>
          <a:lstStyle/>
          <a:p>
            <a:r>
              <a:rPr lang="en-US"/>
              <a:t>the </a:t>
            </a:r>
            <a:r>
              <a:rPr lang="en-US" b="1"/>
              <a:t>new</a:t>
            </a:r>
            <a:r>
              <a:rPr lang="en-US"/>
              <a:t> keyword create a new instance of a class</a:t>
            </a:r>
            <a:br>
              <a:rPr lang="en-US"/>
            </a:br>
            <a:r>
              <a:rPr lang="en-US"/>
              <a:t>and calls its appropriate </a:t>
            </a:r>
            <a:r>
              <a:rPr lang="en-US" b="1"/>
              <a:t>constructor</a:t>
            </a:r>
          </a:p>
          <a:p>
            <a:pPr lvl="1"/>
            <a:r>
              <a:rPr lang="en-US">
                <a:solidFill>
                  <a:srgbClr val="0000FF"/>
                </a:solidFill>
                <a:latin typeface="Consolas" panose="020B0609020204030204" pitchFamily="49" charset="0"/>
                <a:cs typeface="Consolas" panose="020B0609020204030204" pitchFamily="49" charset="0"/>
              </a:rPr>
              <a:t>int</a:t>
            </a:r>
            <a:r>
              <a:rPr lang="en-US">
                <a:latin typeface="Consolas" panose="020B0609020204030204" pitchFamily="49" charset="0"/>
                <a:cs typeface="Consolas" panose="020B0609020204030204" pitchFamily="49" charset="0"/>
              </a:rPr>
              <a:t>[] array = </a:t>
            </a:r>
            <a:r>
              <a:rPr lang="en-US">
                <a:solidFill>
                  <a:srgbClr val="0000FF"/>
                </a:solidFill>
                <a:latin typeface="Consolas" panose="020B0609020204030204" pitchFamily="49" charset="0"/>
                <a:cs typeface="Consolas" panose="020B0609020204030204" pitchFamily="49" charset="0"/>
              </a:rPr>
              <a:t>new</a:t>
            </a:r>
            <a:r>
              <a:rPr lang="en-US">
                <a:latin typeface="Consolas" panose="020B0609020204030204" pitchFamily="49" charset="0"/>
                <a:cs typeface="Consolas" panose="020B0609020204030204" pitchFamily="49" charset="0"/>
              </a:rPr>
              <a:t> int[5]; </a:t>
            </a:r>
            <a:r>
              <a:rPr lang="en-US">
                <a:solidFill>
                  <a:srgbClr val="007B00"/>
                </a:solidFill>
                <a:latin typeface="Consolas" panose="020B0609020204030204" pitchFamily="49" charset="0"/>
                <a:cs typeface="Consolas" panose="020B0609020204030204" pitchFamily="49" charset="0"/>
              </a:rPr>
              <a:t>// { 0, 0, 0, 0, 0 }</a:t>
            </a:r>
          </a:p>
          <a:p>
            <a:pPr lvl="1"/>
            <a:r>
              <a:rPr lang="en-US">
                <a:solidFill>
                  <a:srgbClr val="000080"/>
                </a:solidFill>
                <a:latin typeface="Consolas" panose="020B0609020204030204" pitchFamily="49" charset="0"/>
                <a:cs typeface="Consolas" panose="020B0609020204030204" pitchFamily="49" charset="0"/>
              </a:rPr>
              <a:t>Color</a:t>
            </a:r>
            <a:r>
              <a:rPr lang="en-US">
                <a:latin typeface="Consolas" panose="020B0609020204030204" pitchFamily="49" charset="0"/>
                <a:cs typeface="Consolas" panose="020B0609020204030204" pitchFamily="49" charset="0"/>
              </a:rPr>
              <a:t> color = </a:t>
            </a:r>
            <a:r>
              <a:rPr lang="en-US">
                <a:solidFill>
                  <a:srgbClr val="0000FF"/>
                </a:solidFill>
                <a:latin typeface="Consolas" panose="020B0609020204030204" pitchFamily="49" charset="0"/>
                <a:cs typeface="Consolas" panose="020B0609020204030204" pitchFamily="49" charset="0"/>
              </a:rPr>
              <a:t>new</a:t>
            </a:r>
            <a:r>
              <a:rPr lang="en-US">
                <a:latin typeface="Consolas" panose="020B0609020204030204" pitchFamily="49" charset="0"/>
                <a:cs typeface="Consolas" panose="020B0609020204030204" pitchFamily="49" charset="0"/>
              </a:rPr>
              <a:t> </a:t>
            </a:r>
            <a:r>
              <a:rPr lang="en-US">
                <a:solidFill>
                  <a:srgbClr val="000080"/>
                </a:solidFill>
                <a:latin typeface="Consolas" panose="020B0609020204030204" pitchFamily="49" charset="0"/>
                <a:cs typeface="Consolas" panose="020B0609020204030204" pitchFamily="49" charset="0"/>
              </a:rPr>
              <a:t>Color</a:t>
            </a:r>
            <a:r>
              <a:rPr lang="en-US">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1</a:t>
            </a:r>
            <a:r>
              <a:rPr lang="en-US">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0</a:t>
            </a:r>
            <a:r>
              <a:rPr lang="en-US">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 0</a:t>
            </a:r>
            <a:r>
              <a:rPr lang="en-US">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0</a:t>
            </a:r>
            <a:r>
              <a:rPr lang="en-US">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 0.0</a:t>
            </a:r>
            <a:r>
              <a:rPr lang="en-US">
                <a:latin typeface="Consolas" panose="020B0609020204030204" pitchFamily="49" charset="0"/>
                <a:cs typeface="Consolas" panose="020B0609020204030204" pitchFamily="49" charset="0"/>
              </a:rPr>
              <a:t>); </a:t>
            </a:r>
            <a:r>
              <a:rPr lang="en-US">
                <a:solidFill>
                  <a:srgbClr val="007B00"/>
                </a:solidFill>
                <a:latin typeface="Consolas" panose="020B0609020204030204" pitchFamily="49" charset="0"/>
                <a:cs typeface="Consolas" panose="020B0609020204030204" pitchFamily="49" charset="0"/>
              </a:rPr>
              <a:t>// (1.0, 0.0, 0.0)</a:t>
            </a:r>
          </a:p>
          <a:p>
            <a:pPr lvl="1"/>
            <a:endParaRPr lang="en-US">
              <a:latin typeface="Consolas" panose="020B0609020204030204" pitchFamily="49" charset="0"/>
              <a:cs typeface="Consolas" panose="020B0609020204030204" pitchFamily="49" charset="0"/>
            </a:endParaRPr>
          </a:p>
          <a:p>
            <a:pPr lvl="1"/>
            <a:r>
              <a:rPr lang="en-US" b="1">
                <a:latin typeface="Consolas" panose="020B0609020204030204" pitchFamily="49" charset="0"/>
                <a:cs typeface="Consolas" panose="020B0609020204030204" pitchFamily="49" charset="0"/>
              </a:rPr>
              <a:t>☠️</a:t>
            </a:r>
            <a:r>
              <a:rPr lang="en-US" b="1">
                <a:cs typeface="Consolas" panose="020B0609020204030204" pitchFamily="49" charset="0"/>
              </a:rPr>
              <a:t> you don't need </a:t>
            </a:r>
            <a:r>
              <a:rPr lang="en-US" b="1">
                <a:solidFill>
                  <a:srgbClr val="0000FF"/>
                </a:solidFill>
                <a:latin typeface="+mj-lt"/>
                <a:cs typeface="Consolas" panose="020B0609020204030204" pitchFamily="49" charset="0"/>
              </a:rPr>
              <a:t>new</a:t>
            </a:r>
            <a:r>
              <a:rPr lang="en-US" b="1">
                <a:cs typeface="Consolas" panose="020B0609020204030204" pitchFamily="49" charset="0"/>
              </a:rPr>
              <a:t> to create a new string</a:t>
            </a:r>
          </a:p>
          <a:p>
            <a:pPr lvl="2"/>
            <a:r>
              <a:rPr lang="en-US">
                <a:solidFill>
                  <a:srgbClr val="000080"/>
                </a:solidFill>
                <a:latin typeface="Consolas" panose="020B0609020204030204" pitchFamily="49" charset="0"/>
                <a:cs typeface="Consolas" panose="020B0609020204030204" pitchFamily="49" charset="0"/>
              </a:rPr>
              <a:t>String</a:t>
            </a:r>
            <a:r>
              <a:rPr lang="en-US">
                <a:latin typeface="Consolas" panose="020B0609020204030204" pitchFamily="49" charset="0"/>
                <a:cs typeface="Consolas" panose="020B0609020204030204" pitchFamily="49" charset="0"/>
              </a:rPr>
              <a:t> string = </a:t>
            </a:r>
            <a:r>
              <a:rPr lang="en-US">
                <a:solidFill>
                  <a:srgbClr val="B60E0E"/>
                </a:solidFill>
                <a:latin typeface="Consolas" panose="020B0609020204030204" pitchFamily="49" charset="0"/>
                <a:cs typeface="Consolas" panose="020B0609020204030204" pitchFamily="49" charset="0"/>
              </a:rPr>
              <a:t>"strings are their own thing"</a:t>
            </a:r>
            <a:r>
              <a:rPr lang="en-US">
                <a:latin typeface="Consolas" panose="020B0609020204030204" pitchFamily="49" charset="0"/>
                <a:cs typeface="Consolas" panose="020B0609020204030204" pitchFamily="49" charset="0"/>
              </a:rPr>
              <a:t>;</a:t>
            </a:r>
          </a:p>
          <a:p>
            <a:pPr lvl="1"/>
            <a:r>
              <a:rPr lang="en-US" b="1">
                <a:latin typeface="Consolas" panose="020B0609020204030204" pitchFamily="49" charset="0"/>
                <a:cs typeface="Consolas" panose="020B0609020204030204" pitchFamily="49" charset="0"/>
              </a:rPr>
              <a:t>☠️</a:t>
            </a:r>
            <a:r>
              <a:rPr lang="en-US" b="1">
                <a:cs typeface="Consolas" panose="020B0609020204030204" pitchFamily="49" charset="0"/>
              </a:rPr>
              <a:t> you don't need </a:t>
            </a:r>
            <a:r>
              <a:rPr lang="en-US" b="1">
                <a:solidFill>
                  <a:srgbClr val="0000FF"/>
                </a:solidFill>
                <a:latin typeface="+mj-lt"/>
                <a:cs typeface="Consolas" panose="020B0609020204030204" pitchFamily="49" charset="0"/>
              </a:rPr>
              <a:t>new</a:t>
            </a:r>
            <a:r>
              <a:rPr lang="en-US" b="1">
                <a:cs typeface="Consolas" panose="020B0609020204030204" pitchFamily="49" charset="0"/>
              </a:rPr>
              <a:t> to create a new array when using {} syntax</a:t>
            </a:r>
          </a:p>
          <a:p>
            <a:pPr lvl="2"/>
            <a:r>
              <a:rPr lang="en-US">
                <a:solidFill>
                  <a:srgbClr val="000080"/>
                </a:solidFill>
                <a:latin typeface="Consolas" panose="020B0609020204030204" pitchFamily="49" charset="0"/>
                <a:cs typeface="Consolas" panose="020B0609020204030204" pitchFamily="49" charset="0"/>
              </a:rPr>
              <a:t>int[]</a:t>
            </a:r>
            <a:r>
              <a:rPr lang="en-US">
                <a:latin typeface="Consolas" panose="020B0609020204030204" pitchFamily="49" charset="0"/>
                <a:cs typeface="Consolas" panose="020B0609020204030204" pitchFamily="49" charset="0"/>
              </a:rPr>
              <a:t> array = { 1, 2, 3 };</a:t>
            </a:r>
          </a:p>
          <a:p>
            <a:pPr lvl="2"/>
            <a:endParaRPr lang="en-US">
              <a:latin typeface="Consolas" panose="020B0609020204030204" pitchFamily="49" charset="0"/>
              <a:cs typeface="Consolas" panose="020B0609020204030204" pitchFamily="49" charset="0"/>
            </a:endParaRPr>
          </a:p>
          <a:p>
            <a:pPr lvl="1"/>
            <a:r>
              <a:rPr lang="en-US" b="1">
                <a:latin typeface="Consolas" panose="020B0609020204030204" pitchFamily="49" charset="0"/>
                <a:cs typeface="Consolas" panose="020B0609020204030204" pitchFamily="49" charset="0"/>
              </a:rPr>
              <a:t>☠️</a:t>
            </a:r>
            <a:r>
              <a:rPr lang="en-US" b="1">
                <a:cs typeface="Consolas" panose="020B0609020204030204" pitchFamily="49" charset="0"/>
              </a:rPr>
              <a:t> </a:t>
            </a:r>
            <a:r>
              <a:rPr lang="en-US" b="1">
                <a:solidFill>
                  <a:srgbClr val="0000FF"/>
                </a:solidFill>
                <a:latin typeface="+mj-lt"/>
                <a:cs typeface="Consolas" panose="020B0609020204030204" pitchFamily="49" charset="0"/>
              </a:rPr>
              <a:t>new</a:t>
            </a:r>
            <a:r>
              <a:rPr lang="en-US" b="1">
                <a:cs typeface="Consolas" panose="020B0609020204030204" pitchFamily="49" charset="0"/>
              </a:rPr>
              <a:t> doesn't actually return the </a:t>
            </a:r>
            <a:r>
              <a:rPr lang="en-US" b="1" i="1">
                <a:cs typeface="Consolas" panose="020B0609020204030204" pitchFamily="49" charset="0"/>
              </a:rPr>
              <a:t>object</a:t>
            </a:r>
            <a:r>
              <a:rPr lang="en-US" b="1">
                <a:cs typeface="Consolas" panose="020B0609020204030204" pitchFamily="49" charset="0"/>
              </a:rPr>
              <a:t> it created;</a:t>
            </a:r>
            <a:br>
              <a:rPr lang="en-US" b="1">
                <a:cs typeface="Consolas" panose="020B0609020204030204" pitchFamily="49" charset="0"/>
              </a:rPr>
            </a:br>
            <a:r>
              <a:rPr lang="en-US" b="1">
                <a:cs typeface="Consolas" panose="020B0609020204030204" pitchFamily="49" charset="0"/>
              </a:rPr>
              <a:t>it returns </a:t>
            </a:r>
            <a:r>
              <a:rPr lang="en-US" b="1" i="1">
                <a:cs typeface="Consolas" panose="020B0609020204030204" pitchFamily="49" charset="0"/>
              </a:rPr>
              <a:t>a reference to the object</a:t>
            </a:r>
            <a:endParaRPr lang="en-US" b="1">
              <a:cs typeface="Consolas" panose="020B0609020204030204" pitchFamily="49" charset="0"/>
            </a:endParaRPr>
          </a:p>
        </p:txBody>
      </p:sp>
    </p:spTree>
    <p:extLst>
      <p:ext uri="{BB962C8B-B14F-4D97-AF65-F5344CB8AC3E}">
        <p14:creationId xmlns:p14="http://schemas.microsoft.com/office/powerpoint/2010/main" val="2663499166"/>
      </p:ext>
    </p:extLst>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61422-39C5-50A6-8C14-9959743F79F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C605B33-B8F1-C6A8-3E1F-B65BAF6CF9EE}"/>
              </a:ext>
            </a:extLst>
          </p:cNvPr>
          <p:cNvSpPr>
            <a:spLocks noGrp="1"/>
          </p:cNvSpPr>
          <p:nvPr>
            <p:ph type="title"/>
          </p:nvPr>
        </p:nvSpPr>
        <p:spPr/>
        <p:txBody>
          <a:bodyPr/>
          <a:lstStyle/>
          <a:p>
            <a:r>
              <a:rPr lang="en-US"/>
              <a:t>constructors (1/2)</a:t>
            </a:r>
          </a:p>
        </p:txBody>
      </p:sp>
      <p:sp>
        <p:nvSpPr>
          <p:cNvPr id="4" name="Content Placeholder 3">
            <a:extLst>
              <a:ext uri="{FF2B5EF4-FFF2-40B4-BE49-F238E27FC236}">
                <a16:creationId xmlns:a16="http://schemas.microsoft.com/office/drawing/2014/main" id="{34743F22-B9A3-DD31-62E1-88FD69BBC49D}"/>
              </a:ext>
            </a:extLst>
          </p:cNvPr>
          <p:cNvSpPr>
            <a:spLocks noGrp="1"/>
          </p:cNvSpPr>
          <p:nvPr>
            <p:ph sz="quarter" idx="10"/>
          </p:nvPr>
        </p:nvSpPr>
        <p:spPr/>
        <p:txBody>
          <a:bodyPr/>
          <a:lstStyle/>
          <a:p>
            <a:r>
              <a:rPr lang="en-US"/>
              <a:t>a </a:t>
            </a:r>
            <a:r>
              <a:rPr lang="en-US" b="1"/>
              <a:t>constructor</a:t>
            </a:r>
            <a:r>
              <a:rPr lang="en-US"/>
              <a:t> is called when an object is created</a:t>
            </a:r>
          </a:p>
          <a:p>
            <a:pPr lvl="1"/>
            <a:r>
              <a:rPr lang="en-US"/>
              <a:t>if the class does not have a constructor, then the </a:t>
            </a:r>
            <a:r>
              <a:rPr lang="en-US" b="1"/>
              <a:t>default constructor</a:t>
            </a:r>
            <a:r>
              <a:rPr lang="en-US"/>
              <a:t> must be called, which takes no arguments and sets all variables to zero</a:t>
            </a:r>
          </a:p>
          <a:p>
            <a:pPr lvl="2"/>
            <a:r>
              <a:rPr lang="en-US">
                <a:solidFill>
                  <a:srgbClr val="000080"/>
                </a:solidFill>
                <a:latin typeface="Consolas" panose="020B0609020204030204" pitchFamily="49" charset="0"/>
                <a:cs typeface="Consolas" panose="020B0609020204030204" pitchFamily="49" charset="0"/>
              </a:rPr>
              <a:t>Color</a:t>
            </a:r>
            <a:r>
              <a:rPr lang="en-US">
                <a:latin typeface="Consolas" panose="020B0609020204030204" pitchFamily="49" charset="0"/>
                <a:cs typeface="Consolas" panose="020B0609020204030204" pitchFamily="49" charset="0"/>
              </a:rPr>
              <a:t> color = </a:t>
            </a:r>
            <a:r>
              <a:rPr lang="en-US">
                <a:solidFill>
                  <a:srgbClr val="0000FF"/>
                </a:solidFill>
                <a:latin typeface="Consolas" panose="020B0609020204030204" pitchFamily="49" charset="0"/>
                <a:cs typeface="Consolas" panose="020B0609020204030204" pitchFamily="49" charset="0"/>
              </a:rPr>
              <a:t>new</a:t>
            </a:r>
            <a:r>
              <a:rPr lang="en-US">
                <a:latin typeface="Consolas" panose="020B0609020204030204" pitchFamily="49" charset="0"/>
                <a:cs typeface="Consolas" panose="020B0609020204030204" pitchFamily="49" charset="0"/>
              </a:rPr>
              <a:t> </a:t>
            </a:r>
            <a:r>
              <a:rPr lang="en-US">
                <a:solidFill>
                  <a:srgbClr val="000080"/>
                </a:solidFill>
                <a:latin typeface="Consolas" panose="020B0609020204030204" pitchFamily="49" charset="0"/>
                <a:cs typeface="Consolas" panose="020B0609020204030204" pitchFamily="49" charset="0"/>
              </a:rPr>
              <a:t>Color</a:t>
            </a:r>
            <a:r>
              <a:rPr lang="en-US">
                <a:latin typeface="Consolas" panose="020B0609020204030204" pitchFamily="49" charset="0"/>
                <a:cs typeface="Consolas" panose="020B0609020204030204" pitchFamily="49" charset="0"/>
              </a:rPr>
              <a:t>(); </a:t>
            </a:r>
            <a:r>
              <a:rPr lang="en-US">
                <a:solidFill>
                  <a:srgbClr val="007B00"/>
                </a:solidFill>
                <a:latin typeface="Consolas" panose="020B0609020204030204" pitchFamily="49" charset="0"/>
                <a:cs typeface="Consolas" panose="020B0609020204030204" pitchFamily="49" charset="0"/>
              </a:rPr>
              <a:t>// (0.0, 0.0, 0.0)</a:t>
            </a:r>
          </a:p>
          <a:p>
            <a:pPr lvl="1"/>
            <a:endParaRPr lang="en-US"/>
          </a:p>
          <a:p>
            <a:pPr lvl="2"/>
            <a:endParaRPr lang="en-US"/>
          </a:p>
          <a:p>
            <a:pPr lvl="1"/>
            <a:endParaRPr lang="en-US">
              <a:solidFill>
                <a:srgbClr val="000080"/>
              </a:solidFill>
              <a:latin typeface="Consolas" panose="020B0609020204030204" pitchFamily="49" charset="0"/>
              <a:cs typeface="Consolas" panose="020B0609020204030204" pitchFamily="49" charset="0"/>
            </a:endParaRPr>
          </a:p>
          <a:p>
            <a:pPr marL="342886" lvl="1" indent="0">
              <a:buNone/>
            </a:pPr>
            <a:endParaRPr lang="en-US">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225958126"/>
      </p:ext>
    </p:extLst>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12CFE-7148-6192-6D68-9B6A19482A9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CE8962-6DBB-0CD5-C40A-190EDE13EC0D}"/>
              </a:ext>
            </a:extLst>
          </p:cNvPr>
          <p:cNvSpPr>
            <a:spLocks noGrp="1"/>
          </p:cNvSpPr>
          <p:nvPr>
            <p:ph type="title"/>
          </p:nvPr>
        </p:nvSpPr>
        <p:spPr/>
        <p:txBody>
          <a:bodyPr/>
          <a:lstStyle/>
          <a:p>
            <a:r>
              <a:rPr lang="en-US"/>
              <a:t>constructors (2/2)</a:t>
            </a:r>
          </a:p>
        </p:txBody>
      </p:sp>
      <p:sp>
        <p:nvSpPr>
          <p:cNvPr id="4" name="Content Placeholder 3">
            <a:extLst>
              <a:ext uri="{FF2B5EF4-FFF2-40B4-BE49-F238E27FC236}">
                <a16:creationId xmlns:a16="http://schemas.microsoft.com/office/drawing/2014/main" id="{E57D7E04-80F2-902E-E2E0-CE1EB3979375}"/>
              </a:ext>
            </a:extLst>
          </p:cNvPr>
          <p:cNvSpPr>
            <a:spLocks noGrp="1"/>
          </p:cNvSpPr>
          <p:nvPr>
            <p:ph sz="quarter" idx="10"/>
          </p:nvPr>
        </p:nvSpPr>
        <p:spPr/>
        <p:txBody>
          <a:bodyPr/>
          <a:lstStyle/>
          <a:p>
            <a:r>
              <a:rPr lang="en-US"/>
              <a:t>a (non-default) </a:t>
            </a:r>
            <a:r>
              <a:rPr lang="en-US" b="1"/>
              <a:t>constructor</a:t>
            </a:r>
            <a:r>
              <a:rPr lang="en-US"/>
              <a:t> is never necessary, but is often convenient</a:t>
            </a:r>
          </a:p>
          <a:p>
            <a:pPr lvl="1"/>
            <a:endParaRPr lang="en-US"/>
          </a:p>
          <a:p>
            <a:pPr lvl="2"/>
            <a:endParaRPr lang="en-US"/>
          </a:p>
          <a:p>
            <a:pPr lvl="1"/>
            <a:endParaRPr lang="en-US">
              <a:solidFill>
                <a:srgbClr val="000080"/>
              </a:solidFill>
              <a:latin typeface="Consolas" panose="020B0609020204030204" pitchFamily="49" charset="0"/>
              <a:cs typeface="Consolas" panose="020B0609020204030204" pitchFamily="49" charset="0"/>
            </a:endParaRPr>
          </a:p>
          <a:p>
            <a:pPr marL="342886" lvl="1" indent="0">
              <a:buNone/>
            </a:pPr>
            <a:endParaRPr lang="en-US">
              <a:latin typeface="Consolas" panose="020B0609020204030204" pitchFamily="49" charset="0"/>
              <a:cs typeface="Consolas" panose="020B0609020204030204" pitchFamily="49" charset="0"/>
            </a:endParaRPr>
          </a:p>
        </p:txBody>
      </p:sp>
      <p:sp>
        <p:nvSpPr>
          <p:cNvPr id="2" name="TextBox 1">
            <a:extLst>
              <a:ext uri="{FF2B5EF4-FFF2-40B4-BE49-F238E27FC236}">
                <a16:creationId xmlns:a16="http://schemas.microsoft.com/office/drawing/2014/main" id="{51A8D1C8-168C-3BFA-F1F7-318F0C2D5B6A}"/>
              </a:ext>
            </a:extLst>
          </p:cNvPr>
          <p:cNvSpPr txBox="1"/>
          <p:nvPr/>
        </p:nvSpPr>
        <p:spPr>
          <a:xfrm>
            <a:off x="457200" y="1460103"/>
            <a:ext cx="8229600" cy="369332"/>
          </a:xfrm>
          <a:prstGeom prst="rect">
            <a:avLst/>
          </a:prstGeom>
          <a:solidFill>
            <a:schemeClr val="bg1"/>
          </a:solidFill>
          <a:ln>
            <a:solidFill>
              <a:schemeClr val="tx1"/>
            </a:solidFill>
          </a:ln>
        </p:spPr>
        <p:txBody>
          <a:bodyPr wrap="square" rtlCol="0">
            <a:spAutoFit/>
          </a:bodyPr>
          <a:lstStyle/>
          <a:p>
            <a:r>
              <a:rPr lang="en-US">
                <a:solidFill>
                  <a:srgbClr val="000080"/>
                </a:solidFill>
                <a:latin typeface="Consolas" panose="020B0609020204030204" pitchFamily="49" charset="0"/>
                <a:cs typeface="Consolas" panose="020B0609020204030204" pitchFamily="49" charset="0"/>
              </a:rPr>
              <a:t>Color</a:t>
            </a:r>
            <a:r>
              <a:rPr lang="en-US">
                <a:latin typeface="Consolas" panose="020B0609020204030204" pitchFamily="49" charset="0"/>
                <a:cs typeface="Consolas" panose="020B0609020204030204" pitchFamily="49" charset="0"/>
              </a:rPr>
              <a:t> color = </a:t>
            </a:r>
            <a:r>
              <a:rPr lang="en-US">
                <a:solidFill>
                  <a:srgbClr val="0000FF"/>
                </a:solidFill>
                <a:latin typeface="Consolas" panose="020B0609020204030204" pitchFamily="49" charset="0"/>
                <a:cs typeface="Consolas" panose="020B0609020204030204" pitchFamily="49" charset="0"/>
              </a:rPr>
              <a:t>new</a:t>
            </a:r>
            <a:r>
              <a:rPr lang="en-US">
                <a:latin typeface="Consolas" panose="020B0609020204030204" pitchFamily="49" charset="0"/>
                <a:cs typeface="Consolas" panose="020B0609020204030204" pitchFamily="49" charset="0"/>
              </a:rPr>
              <a:t> </a:t>
            </a:r>
            <a:r>
              <a:rPr lang="en-US">
                <a:solidFill>
                  <a:srgbClr val="000080"/>
                </a:solidFill>
                <a:latin typeface="Consolas" panose="020B0609020204030204" pitchFamily="49" charset="0"/>
                <a:cs typeface="Consolas" panose="020B0609020204030204" pitchFamily="49" charset="0"/>
              </a:rPr>
              <a:t>Color</a:t>
            </a:r>
            <a:r>
              <a:rPr lang="en-US">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1</a:t>
            </a:r>
            <a:r>
              <a:rPr lang="en-US">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0</a:t>
            </a:r>
            <a:r>
              <a:rPr lang="en-US">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 1</a:t>
            </a:r>
            <a:r>
              <a:rPr lang="en-US">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0</a:t>
            </a:r>
            <a:r>
              <a:rPr lang="en-US">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 1.0</a:t>
            </a:r>
            <a:r>
              <a:rPr lang="en-US">
                <a:latin typeface="Consolas" panose="020B0609020204030204" pitchFamily="49" charset="0"/>
                <a:cs typeface="Consolas" panose="020B0609020204030204" pitchFamily="49" charset="0"/>
              </a:rPr>
              <a:t>); </a:t>
            </a:r>
            <a:r>
              <a:rPr lang="en-US">
                <a:solidFill>
                  <a:srgbClr val="007B00"/>
                </a:solidFill>
                <a:latin typeface="Consolas" panose="020B0609020204030204" pitchFamily="49" charset="0"/>
                <a:cs typeface="Consolas" panose="020B0609020204030204" pitchFamily="49" charset="0"/>
              </a:rPr>
              <a:t>// (r=1.0, g=1.0, b=1.0)</a:t>
            </a:r>
          </a:p>
        </p:txBody>
      </p:sp>
      <p:sp>
        <p:nvSpPr>
          <p:cNvPr id="6" name="TextBox 5">
            <a:extLst>
              <a:ext uri="{FF2B5EF4-FFF2-40B4-BE49-F238E27FC236}">
                <a16:creationId xmlns:a16="http://schemas.microsoft.com/office/drawing/2014/main" id="{690FFD42-00F5-F07B-ADDF-5A4FE815E279}"/>
              </a:ext>
            </a:extLst>
          </p:cNvPr>
          <p:cNvSpPr txBox="1"/>
          <p:nvPr/>
        </p:nvSpPr>
        <p:spPr>
          <a:xfrm>
            <a:off x="457200" y="2051510"/>
            <a:ext cx="8229600" cy="1200329"/>
          </a:xfrm>
          <a:prstGeom prst="rect">
            <a:avLst/>
          </a:prstGeom>
          <a:solidFill>
            <a:schemeClr val="bg1"/>
          </a:solidFill>
          <a:ln>
            <a:solidFill>
              <a:schemeClr val="tx1"/>
            </a:solidFill>
          </a:ln>
        </p:spPr>
        <p:txBody>
          <a:bodyPr wrap="square" rtlCol="0">
            <a:spAutoFit/>
          </a:bodyPr>
          <a:lstStyle/>
          <a:p>
            <a:r>
              <a:rPr lang="en-US">
                <a:solidFill>
                  <a:srgbClr val="000080"/>
                </a:solidFill>
                <a:latin typeface="Consolas" panose="020B0609020204030204" pitchFamily="49" charset="0"/>
                <a:cs typeface="Consolas" panose="020B0609020204030204" pitchFamily="49" charset="0"/>
              </a:rPr>
              <a:t>Color</a:t>
            </a:r>
            <a:r>
              <a:rPr lang="en-US">
                <a:latin typeface="Consolas" panose="020B0609020204030204" pitchFamily="49" charset="0"/>
                <a:cs typeface="Consolas" panose="020B0609020204030204" pitchFamily="49" charset="0"/>
              </a:rPr>
              <a:t> color = </a:t>
            </a:r>
            <a:r>
              <a:rPr lang="en-US">
                <a:solidFill>
                  <a:srgbClr val="0000FF"/>
                </a:solidFill>
                <a:latin typeface="Consolas" panose="020B0609020204030204" pitchFamily="49" charset="0"/>
                <a:cs typeface="Consolas" panose="020B0609020204030204" pitchFamily="49" charset="0"/>
              </a:rPr>
              <a:t>new</a:t>
            </a:r>
            <a:r>
              <a:rPr lang="en-US">
                <a:latin typeface="Consolas" panose="020B0609020204030204" pitchFamily="49" charset="0"/>
                <a:cs typeface="Consolas" panose="020B0609020204030204" pitchFamily="49" charset="0"/>
              </a:rPr>
              <a:t> </a:t>
            </a:r>
            <a:r>
              <a:rPr lang="en-US">
                <a:solidFill>
                  <a:srgbClr val="000080"/>
                </a:solidFill>
                <a:latin typeface="Consolas" panose="020B0609020204030204" pitchFamily="49" charset="0"/>
                <a:cs typeface="Consolas" panose="020B0609020204030204" pitchFamily="49" charset="0"/>
              </a:rPr>
              <a:t>Color</a:t>
            </a:r>
            <a:r>
              <a:rPr lang="en-US">
                <a:latin typeface="Consolas" panose="020B0609020204030204" pitchFamily="49" charset="0"/>
                <a:cs typeface="Consolas" panose="020B0609020204030204" pitchFamily="49" charset="0"/>
              </a:rPr>
              <a:t>(); </a:t>
            </a:r>
            <a:r>
              <a:rPr lang="en-US">
                <a:solidFill>
                  <a:srgbClr val="007B00"/>
                </a:solidFill>
                <a:latin typeface="Consolas" panose="020B0609020204030204" pitchFamily="49" charset="0"/>
                <a:cs typeface="Consolas" panose="020B0609020204030204" pitchFamily="49" charset="0"/>
              </a:rPr>
              <a:t>// (0.0, 0.0, 0.0)</a:t>
            </a:r>
          </a:p>
          <a:p>
            <a:r>
              <a:rPr lang="en-US">
                <a:latin typeface="Consolas" panose="020B0609020204030204" pitchFamily="49" charset="0"/>
                <a:cs typeface="Consolas" panose="020B0609020204030204" pitchFamily="49" charset="0"/>
              </a:rPr>
              <a:t>color.r = </a:t>
            </a:r>
            <a:r>
              <a:rPr lang="en-US">
                <a:solidFill>
                  <a:srgbClr val="0CB5B5"/>
                </a:solidFill>
                <a:latin typeface="Consolas" panose="020B0609020204030204" pitchFamily="49" charset="0"/>
                <a:cs typeface="Consolas" panose="020B0609020204030204" pitchFamily="49" charset="0"/>
              </a:rPr>
              <a:t>1</a:t>
            </a:r>
            <a:r>
              <a:rPr lang="en-US">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0</a:t>
            </a:r>
            <a:r>
              <a:rPr lang="en-US">
                <a:latin typeface="Consolas" panose="020B0609020204030204" pitchFamily="49" charset="0"/>
                <a:cs typeface="Consolas" panose="020B0609020204030204" pitchFamily="49" charset="0"/>
              </a:rPr>
              <a:t>;             </a:t>
            </a:r>
            <a:r>
              <a:rPr lang="en-US">
                <a:solidFill>
                  <a:srgbClr val="007B00"/>
                </a:solidFill>
                <a:latin typeface="Consolas" panose="020B0609020204030204" pitchFamily="49" charset="0"/>
                <a:cs typeface="Consolas" panose="020B0609020204030204" pitchFamily="49" charset="0"/>
              </a:rPr>
              <a:t>// (1.0, 0.0, 0.0)</a:t>
            </a:r>
            <a:endParaRPr lang="en-US">
              <a:latin typeface="Consolas" panose="020B0609020204030204" pitchFamily="49" charset="0"/>
              <a:cs typeface="Consolas" panose="020B0609020204030204" pitchFamily="49" charset="0"/>
            </a:endParaRPr>
          </a:p>
          <a:p>
            <a:r>
              <a:rPr lang="en-US">
                <a:latin typeface="Consolas" panose="020B0609020204030204" pitchFamily="49" charset="0"/>
                <a:cs typeface="Consolas" panose="020B0609020204030204" pitchFamily="49" charset="0"/>
              </a:rPr>
              <a:t>color.g = </a:t>
            </a:r>
            <a:r>
              <a:rPr lang="en-US">
                <a:solidFill>
                  <a:srgbClr val="0CB5B5"/>
                </a:solidFill>
                <a:latin typeface="Consolas" panose="020B0609020204030204" pitchFamily="49" charset="0"/>
                <a:cs typeface="Consolas" panose="020B0609020204030204" pitchFamily="49" charset="0"/>
              </a:rPr>
              <a:t>1</a:t>
            </a:r>
            <a:r>
              <a:rPr lang="en-US">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0</a:t>
            </a:r>
            <a:r>
              <a:rPr lang="en-US">
                <a:latin typeface="Consolas" panose="020B0609020204030204" pitchFamily="49" charset="0"/>
                <a:cs typeface="Consolas" panose="020B0609020204030204" pitchFamily="49" charset="0"/>
              </a:rPr>
              <a:t>;             </a:t>
            </a:r>
            <a:r>
              <a:rPr lang="en-US">
                <a:solidFill>
                  <a:srgbClr val="007B00"/>
                </a:solidFill>
                <a:latin typeface="Consolas" panose="020B0609020204030204" pitchFamily="49" charset="0"/>
                <a:cs typeface="Consolas" panose="020B0609020204030204" pitchFamily="49" charset="0"/>
              </a:rPr>
              <a:t>// (1.0, 1.0, 0.0)</a:t>
            </a:r>
          </a:p>
          <a:p>
            <a:r>
              <a:rPr lang="en-US">
                <a:latin typeface="Consolas" panose="020B0609020204030204" pitchFamily="49" charset="0"/>
                <a:cs typeface="Consolas" panose="020B0609020204030204" pitchFamily="49" charset="0"/>
              </a:rPr>
              <a:t>color.b = </a:t>
            </a:r>
            <a:r>
              <a:rPr lang="en-US">
                <a:solidFill>
                  <a:srgbClr val="0CB5B5"/>
                </a:solidFill>
                <a:latin typeface="Consolas" panose="020B0609020204030204" pitchFamily="49" charset="0"/>
                <a:cs typeface="Consolas" panose="020B0609020204030204" pitchFamily="49" charset="0"/>
              </a:rPr>
              <a:t>1</a:t>
            </a:r>
            <a:r>
              <a:rPr lang="en-US">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0</a:t>
            </a:r>
            <a:r>
              <a:rPr lang="en-US">
                <a:latin typeface="Consolas" panose="020B0609020204030204" pitchFamily="49" charset="0"/>
                <a:cs typeface="Consolas" panose="020B0609020204030204" pitchFamily="49" charset="0"/>
              </a:rPr>
              <a:t>;             </a:t>
            </a:r>
            <a:r>
              <a:rPr lang="en-US">
                <a:solidFill>
                  <a:srgbClr val="007B00"/>
                </a:solidFill>
                <a:latin typeface="Consolas" panose="020B0609020204030204" pitchFamily="49" charset="0"/>
                <a:cs typeface="Consolas" panose="020B0609020204030204" pitchFamily="49" charset="0"/>
              </a:rPr>
              <a:t>// (1.0, 1.0, 1.0)</a:t>
            </a:r>
            <a:endParaRPr lang="en-US">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888463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87C0E-EC1A-C1F4-065A-D630E36CEA3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26CD481-8824-B1AF-51E1-05CA9B9BA982}"/>
              </a:ext>
            </a:extLst>
          </p:cNvPr>
          <p:cNvSpPr>
            <a:spLocks noGrp="1"/>
          </p:cNvSpPr>
          <p:nvPr>
            <p:ph type="title"/>
          </p:nvPr>
        </p:nvSpPr>
        <p:spPr/>
        <p:txBody>
          <a:bodyPr/>
          <a:lstStyle/>
          <a:p>
            <a:r>
              <a:rPr lang="en-US"/>
              <a:t>this</a:t>
            </a:r>
            <a:br>
              <a:rPr lang="en-US"/>
            </a:br>
            <a:r>
              <a:rPr lang="en-US" sz="3200"/>
              <a:t>🐍 in Python, </a:t>
            </a:r>
            <a:r>
              <a:rPr lang="en-US" sz="3200">
                <a:latin typeface="+mj-lt"/>
              </a:rPr>
              <a:t>this</a:t>
            </a:r>
            <a:r>
              <a:rPr lang="en-US" sz="3200"/>
              <a:t> is </a:t>
            </a:r>
            <a:r>
              <a:rPr lang="en-US" sz="3200">
                <a:latin typeface="+mj-lt"/>
              </a:rPr>
              <a:t>self</a:t>
            </a:r>
            <a:endParaRPr lang="en-US"/>
          </a:p>
        </p:txBody>
      </p:sp>
    </p:spTree>
    <p:extLst>
      <p:ext uri="{BB962C8B-B14F-4D97-AF65-F5344CB8AC3E}">
        <p14:creationId xmlns:p14="http://schemas.microsoft.com/office/powerpoint/2010/main" val="2213159814"/>
      </p:ext>
    </p:extLst>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A6B50-4EAE-7427-BF61-4FC4BAD7A8F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11E25A8-208C-2EF5-7FE1-16AD2AA6A4BE}"/>
              </a:ext>
            </a:extLst>
          </p:cNvPr>
          <p:cNvSpPr>
            <a:spLocks noGrp="1"/>
          </p:cNvSpPr>
          <p:nvPr>
            <p:ph type="title"/>
          </p:nvPr>
        </p:nvSpPr>
        <p:spPr/>
        <p:txBody>
          <a:bodyPr/>
          <a:lstStyle/>
          <a:p>
            <a:r>
              <a:rPr lang="en-US"/>
              <a:t>this</a:t>
            </a:r>
          </a:p>
        </p:txBody>
      </p:sp>
      <p:sp>
        <p:nvSpPr>
          <p:cNvPr id="4" name="Content Placeholder 3">
            <a:extLst>
              <a:ext uri="{FF2B5EF4-FFF2-40B4-BE49-F238E27FC236}">
                <a16:creationId xmlns:a16="http://schemas.microsoft.com/office/drawing/2014/main" id="{3F6979CE-6E8C-7B43-2BF2-04356C0F0425}"/>
              </a:ext>
            </a:extLst>
          </p:cNvPr>
          <p:cNvSpPr>
            <a:spLocks noGrp="1"/>
          </p:cNvSpPr>
          <p:nvPr>
            <p:ph sz="quarter" idx="10"/>
          </p:nvPr>
        </p:nvSpPr>
        <p:spPr/>
        <p:txBody>
          <a:bodyPr/>
          <a:lstStyle/>
          <a:p>
            <a:r>
              <a:rPr lang="en-US" b="1"/>
              <a:t>this</a:t>
            </a:r>
            <a:r>
              <a:rPr lang="en-US"/>
              <a:t> is a reference to the instance of the class whose function we're inside of</a:t>
            </a:r>
          </a:p>
          <a:p>
            <a:pPr lvl="1"/>
            <a:r>
              <a:rPr lang="en-US" b="1"/>
              <a:t>✨ </a:t>
            </a:r>
            <a:r>
              <a:rPr lang="en-US"/>
              <a:t>especially useful inside a constructor</a:t>
            </a:r>
            <a:endParaRPr lang="en-US" b="1"/>
          </a:p>
        </p:txBody>
      </p:sp>
      <p:sp>
        <p:nvSpPr>
          <p:cNvPr id="2" name="TextBox 1">
            <a:extLst>
              <a:ext uri="{FF2B5EF4-FFF2-40B4-BE49-F238E27FC236}">
                <a16:creationId xmlns:a16="http://schemas.microsoft.com/office/drawing/2014/main" id="{320D3B36-DA05-CB74-A001-570955A19C47}"/>
              </a:ext>
            </a:extLst>
          </p:cNvPr>
          <p:cNvSpPr txBox="1"/>
          <p:nvPr/>
        </p:nvSpPr>
        <p:spPr>
          <a:xfrm>
            <a:off x="457200" y="1746784"/>
            <a:ext cx="8229600" cy="3785652"/>
          </a:xfrm>
          <a:prstGeom prst="rect">
            <a:avLst/>
          </a:prstGeom>
          <a:solidFill>
            <a:schemeClr val="bg1"/>
          </a:solidFill>
          <a:ln>
            <a:solidFill>
              <a:schemeClr val="tx1"/>
            </a:solidFill>
          </a:ln>
        </p:spPr>
        <p:txBody>
          <a:bodyPr wrap="square" rtlCol="0">
            <a:spAutoFit/>
          </a:bodyPr>
          <a:lstStyle/>
          <a:p>
            <a:r>
              <a:rPr lang="en-US" sz="1600">
                <a:solidFill>
                  <a:srgbClr val="0000FF"/>
                </a:solidFill>
                <a:latin typeface="Consolas" panose="020B0609020204030204" pitchFamily="49" charset="0"/>
                <a:cs typeface="Consolas" panose="020B0609020204030204" pitchFamily="49" charset="0"/>
              </a:rPr>
              <a:t>class</a:t>
            </a:r>
            <a:r>
              <a:rPr lang="en-US" sz="1600">
                <a:latin typeface="Consolas" panose="020B0609020204030204" pitchFamily="49" charset="0"/>
                <a:cs typeface="Consolas" panose="020B0609020204030204" pitchFamily="49" charset="0"/>
              </a:rPr>
              <a:t> </a:t>
            </a:r>
            <a:r>
              <a:rPr lang="en-US" sz="1600">
                <a:solidFill>
                  <a:srgbClr val="000080"/>
                </a:solidFill>
                <a:latin typeface="Consolas" panose="020B0609020204030204" pitchFamily="49" charset="0"/>
                <a:cs typeface="Consolas" panose="020B0609020204030204" pitchFamily="49" charset="0"/>
              </a:rPr>
              <a:t>Color</a:t>
            </a:r>
            <a:r>
              <a:rPr lang="en-US" sz="1600">
                <a:latin typeface="Consolas" panose="020B0609020204030204" pitchFamily="49" charset="0"/>
                <a:cs typeface="Consolas" panose="020B0609020204030204" pitchFamily="49" charset="0"/>
              </a:rPr>
              <a:t> {</a:t>
            </a:r>
          </a:p>
          <a:p>
            <a:r>
              <a:rPr lang="en-US" sz="1600">
                <a:latin typeface="Consolas" panose="020B0609020204030204" pitchFamily="49" charset="0"/>
                <a:cs typeface="Consolas" panose="020B0609020204030204" pitchFamily="49" charset="0"/>
              </a:rPr>
              <a:t>    ...</a:t>
            </a:r>
          </a:p>
          <a:p>
            <a:endParaRPr lang="en-US" sz="1600">
              <a:latin typeface="Consolas" panose="020B0609020204030204" pitchFamily="49" charset="0"/>
              <a:cs typeface="Consolas" panose="020B0609020204030204" pitchFamily="49" charset="0"/>
            </a:endParaRPr>
          </a:p>
          <a:p>
            <a:r>
              <a:rPr lang="en-US" sz="1600">
                <a:latin typeface="Consolas" panose="020B0609020204030204" pitchFamily="49" charset="0"/>
                <a:cs typeface="Consolas" panose="020B0609020204030204" pitchFamily="49" charset="0"/>
              </a:rPr>
              <a:t>    </a:t>
            </a:r>
            <a:r>
              <a:rPr lang="en-US" sz="1600">
                <a:solidFill>
                  <a:srgbClr val="000080"/>
                </a:solidFill>
                <a:latin typeface="Consolas" panose="020B0609020204030204" pitchFamily="49" charset="0"/>
                <a:cs typeface="Consolas" panose="020B0609020204030204" pitchFamily="49" charset="0"/>
              </a:rPr>
              <a:t>void shade</a:t>
            </a:r>
            <a:r>
              <a:rPr lang="en-US" sz="1600">
                <a:latin typeface="Consolas" panose="020B0609020204030204" pitchFamily="49" charset="0"/>
                <a:cs typeface="Consolas" panose="020B0609020204030204" pitchFamily="49" charset="0"/>
              </a:rPr>
              <a:t>() {</a:t>
            </a:r>
          </a:p>
          <a:p>
            <a:r>
              <a:rPr lang="en-US" sz="1600">
                <a:latin typeface="Consolas" panose="020B0609020204030204" pitchFamily="49" charset="0"/>
                <a:cs typeface="Consolas" panose="020B0609020204030204" pitchFamily="49" charset="0"/>
              </a:rPr>
              <a:t>        </a:t>
            </a:r>
            <a:r>
              <a:rPr lang="en-US" sz="1600">
                <a:solidFill>
                  <a:srgbClr val="0000FF"/>
                </a:solidFill>
                <a:latin typeface="Consolas" panose="020B0609020204030204" pitchFamily="49" charset="0"/>
                <a:cs typeface="Consolas" panose="020B0609020204030204" pitchFamily="49" charset="0"/>
              </a:rPr>
              <a:t>this</a:t>
            </a:r>
            <a:r>
              <a:rPr lang="en-US" sz="1600">
                <a:latin typeface="Consolas" panose="020B0609020204030204" pitchFamily="49" charset="0"/>
                <a:cs typeface="Consolas" panose="020B0609020204030204" pitchFamily="49" charset="0"/>
              </a:rPr>
              <a:t>.r /= 2;</a:t>
            </a:r>
          </a:p>
          <a:p>
            <a:r>
              <a:rPr lang="en-US" sz="1600">
                <a:latin typeface="Consolas" panose="020B0609020204030204" pitchFamily="49" charset="0"/>
                <a:cs typeface="Consolas" panose="020B0609020204030204" pitchFamily="49" charset="0"/>
              </a:rPr>
              <a:t>        </a:t>
            </a:r>
            <a:r>
              <a:rPr lang="en-US" sz="1600">
                <a:solidFill>
                  <a:srgbClr val="0000FF"/>
                </a:solidFill>
                <a:latin typeface="Consolas" panose="020B0609020204030204" pitchFamily="49" charset="0"/>
                <a:cs typeface="Consolas" panose="020B0609020204030204" pitchFamily="49" charset="0"/>
              </a:rPr>
              <a:t>this</a:t>
            </a:r>
            <a:r>
              <a:rPr lang="en-US" sz="1600">
                <a:latin typeface="Consolas" panose="020B0609020204030204" pitchFamily="49" charset="0"/>
                <a:cs typeface="Consolas" panose="020B0609020204030204" pitchFamily="49" charset="0"/>
              </a:rPr>
              <a:t>.g /= 2;</a:t>
            </a:r>
          </a:p>
          <a:p>
            <a:r>
              <a:rPr lang="en-US" sz="1600">
                <a:latin typeface="Consolas" panose="020B0609020204030204" pitchFamily="49" charset="0"/>
                <a:cs typeface="Consolas" panose="020B0609020204030204" pitchFamily="49" charset="0"/>
              </a:rPr>
              <a:t>        </a:t>
            </a:r>
            <a:r>
              <a:rPr lang="en-US" sz="1600">
                <a:solidFill>
                  <a:srgbClr val="0000FF"/>
                </a:solidFill>
                <a:latin typeface="Consolas" panose="020B0609020204030204" pitchFamily="49" charset="0"/>
                <a:cs typeface="Consolas" panose="020B0609020204030204" pitchFamily="49" charset="0"/>
              </a:rPr>
              <a:t>this</a:t>
            </a:r>
            <a:r>
              <a:rPr lang="en-US" sz="1600">
                <a:latin typeface="Consolas" panose="020B0609020204030204" pitchFamily="49" charset="0"/>
                <a:cs typeface="Consolas" panose="020B0609020204030204" pitchFamily="49" charset="0"/>
              </a:rPr>
              <a:t>.b /= 2;</a:t>
            </a:r>
          </a:p>
          <a:p>
            <a:r>
              <a:rPr lang="en-US" sz="1600">
                <a:latin typeface="Consolas" panose="020B0609020204030204" pitchFamily="49" charset="0"/>
                <a:cs typeface="Consolas" panose="020B0609020204030204" pitchFamily="49" charset="0"/>
              </a:rPr>
              <a:t>    }</a:t>
            </a:r>
          </a:p>
          <a:p>
            <a:r>
              <a:rPr lang="en-US" sz="1600">
                <a:latin typeface="Consolas" panose="020B0609020204030204" pitchFamily="49" charset="0"/>
                <a:cs typeface="Consolas" panose="020B0609020204030204" pitchFamily="49" charset="0"/>
              </a:rPr>
              <a:t> </a:t>
            </a:r>
            <a:endParaRPr lang="en-US" sz="1600">
              <a:solidFill>
                <a:srgbClr val="BFBFBF"/>
              </a:solidFill>
              <a:latin typeface="Consolas" panose="020B0609020204030204" pitchFamily="49" charset="0"/>
              <a:cs typeface="Consolas" panose="020B0609020204030204" pitchFamily="49" charset="0"/>
            </a:endParaRPr>
          </a:p>
          <a:p>
            <a:r>
              <a:rPr lang="en-US" sz="1600">
                <a:latin typeface="Consolas" panose="020B0609020204030204" pitchFamily="49" charset="0"/>
                <a:cs typeface="Consolas" panose="020B0609020204030204" pitchFamily="49" charset="0"/>
              </a:rPr>
              <a:t>    </a:t>
            </a:r>
            <a:r>
              <a:rPr lang="en-US" sz="1600">
                <a:solidFill>
                  <a:srgbClr val="000080"/>
                </a:solidFill>
                <a:latin typeface="Consolas" panose="020B0609020204030204" pitchFamily="49" charset="0"/>
                <a:cs typeface="Consolas" panose="020B0609020204030204" pitchFamily="49" charset="0"/>
              </a:rPr>
              <a:t>Color</a:t>
            </a:r>
            <a:r>
              <a:rPr lang="en-US" sz="1600">
                <a:latin typeface="Consolas" panose="020B0609020204030204" pitchFamily="49" charset="0"/>
                <a:cs typeface="Consolas" panose="020B0609020204030204" pitchFamily="49" charset="0"/>
              </a:rPr>
              <a:t>(</a:t>
            </a:r>
            <a:r>
              <a:rPr lang="en-US" sz="1600">
                <a:solidFill>
                  <a:srgbClr val="000080"/>
                </a:solidFill>
                <a:latin typeface="Consolas" panose="020B0609020204030204" pitchFamily="49" charset="0"/>
                <a:cs typeface="Consolas" panose="020B0609020204030204" pitchFamily="49" charset="0"/>
              </a:rPr>
              <a:t>double</a:t>
            </a:r>
            <a:r>
              <a:rPr lang="en-US" sz="1600">
                <a:latin typeface="Consolas" panose="020B0609020204030204" pitchFamily="49" charset="0"/>
                <a:cs typeface="Consolas" panose="020B0609020204030204" pitchFamily="49" charset="0"/>
              </a:rPr>
              <a:t> r, </a:t>
            </a:r>
            <a:r>
              <a:rPr lang="en-US" sz="1600">
                <a:solidFill>
                  <a:srgbClr val="000080"/>
                </a:solidFill>
                <a:latin typeface="Consolas" panose="020B0609020204030204" pitchFamily="49" charset="0"/>
                <a:cs typeface="Consolas" panose="020B0609020204030204" pitchFamily="49" charset="0"/>
              </a:rPr>
              <a:t>double</a:t>
            </a:r>
            <a:r>
              <a:rPr lang="en-US" sz="1600">
                <a:latin typeface="Consolas" panose="020B0609020204030204" pitchFamily="49" charset="0"/>
                <a:cs typeface="Consolas" panose="020B0609020204030204" pitchFamily="49" charset="0"/>
              </a:rPr>
              <a:t> g, </a:t>
            </a:r>
            <a:r>
              <a:rPr lang="en-US" sz="1600">
                <a:solidFill>
                  <a:srgbClr val="000080"/>
                </a:solidFill>
                <a:latin typeface="Consolas" panose="020B0609020204030204" pitchFamily="49" charset="0"/>
                <a:cs typeface="Consolas" panose="020B0609020204030204" pitchFamily="49" charset="0"/>
              </a:rPr>
              <a:t>double</a:t>
            </a:r>
            <a:r>
              <a:rPr lang="en-US" sz="1600">
                <a:latin typeface="Consolas" panose="020B0609020204030204" pitchFamily="49" charset="0"/>
                <a:cs typeface="Consolas" panose="020B0609020204030204" pitchFamily="49" charset="0"/>
              </a:rPr>
              <a:t> b) { </a:t>
            </a:r>
            <a:r>
              <a:rPr lang="en-US" sz="1600">
                <a:solidFill>
                  <a:srgbClr val="007B00"/>
                </a:solidFill>
                <a:latin typeface="Consolas" panose="020B0609020204030204" pitchFamily="49" charset="0"/>
                <a:cs typeface="Consolas" panose="020B0609020204030204" pitchFamily="49" charset="0"/>
              </a:rPr>
              <a:t>// constructor</a:t>
            </a:r>
          </a:p>
          <a:p>
            <a:r>
              <a:rPr lang="en-US" sz="1600">
                <a:latin typeface="Consolas" panose="020B0609020204030204" pitchFamily="49" charset="0"/>
                <a:cs typeface="Consolas" panose="020B0609020204030204" pitchFamily="49" charset="0"/>
              </a:rPr>
              <a:t>        </a:t>
            </a:r>
            <a:r>
              <a:rPr lang="en-US" sz="1600">
                <a:solidFill>
                  <a:srgbClr val="0000FF"/>
                </a:solidFill>
                <a:latin typeface="Consolas" panose="020B0609020204030204" pitchFamily="49" charset="0"/>
                <a:cs typeface="Consolas" panose="020B0609020204030204" pitchFamily="49" charset="0"/>
              </a:rPr>
              <a:t>this</a:t>
            </a:r>
            <a:r>
              <a:rPr lang="en-US" sz="1600">
                <a:latin typeface="Consolas" panose="020B0609020204030204" pitchFamily="49" charset="0"/>
                <a:cs typeface="Consolas" panose="020B0609020204030204" pitchFamily="49" charset="0"/>
              </a:rPr>
              <a:t>.r = r;</a:t>
            </a:r>
          </a:p>
          <a:p>
            <a:r>
              <a:rPr lang="en-US" sz="1600">
                <a:latin typeface="Consolas" panose="020B0609020204030204" pitchFamily="49" charset="0"/>
                <a:cs typeface="Consolas" panose="020B0609020204030204" pitchFamily="49" charset="0"/>
              </a:rPr>
              <a:t>        </a:t>
            </a:r>
            <a:r>
              <a:rPr lang="en-US" sz="1600">
                <a:solidFill>
                  <a:srgbClr val="0000FF"/>
                </a:solidFill>
                <a:latin typeface="Consolas" panose="020B0609020204030204" pitchFamily="49" charset="0"/>
                <a:cs typeface="Consolas" panose="020B0609020204030204" pitchFamily="49" charset="0"/>
              </a:rPr>
              <a:t>this</a:t>
            </a:r>
            <a:r>
              <a:rPr lang="en-US" sz="1600">
                <a:latin typeface="Consolas" panose="020B0609020204030204" pitchFamily="49" charset="0"/>
                <a:cs typeface="Consolas" panose="020B0609020204030204" pitchFamily="49" charset="0"/>
              </a:rPr>
              <a:t>.g = g;</a:t>
            </a:r>
          </a:p>
          <a:p>
            <a:r>
              <a:rPr lang="en-US" sz="1600">
                <a:latin typeface="Consolas" panose="020B0609020204030204" pitchFamily="49" charset="0"/>
                <a:cs typeface="Consolas" panose="020B0609020204030204" pitchFamily="49" charset="0"/>
              </a:rPr>
              <a:t>        </a:t>
            </a:r>
            <a:r>
              <a:rPr lang="en-US" sz="1600">
                <a:solidFill>
                  <a:srgbClr val="0000FF"/>
                </a:solidFill>
                <a:latin typeface="Consolas" panose="020B0609020204030204" pitchFamily="49" charset="0"/>
                <a:cs typeface="Consolas" panose="020B0609020204030204" pitchFamily="49" charset="0"/>
              </a:rPr>
              <a:t>this</a:t>
            </a:r>
            <a:r>
              <a:rPr lang="en-US" sz="1600">
                <a:latin typeface="Consolas" panose="020B0609020204030204" pitchFamily="49" charset="0"/>
                <a:cs typeface="Consolas" panose="020B0609020204030204" pitchFamily="49" charset="0"/>
              </a:rPr>
              <a:t>.b = b;</a:t>
            </a:r>
          </a:p>
          <a:p>
            <a:r>
              <a:rPr lang="en-US" sz="1600">
                <a:latin typeface="Consolas" panose="020B0609020204030204" pitchFamily="49" charset="0"/>
                <a:cs typeface="Consolas" panose="020B0609020204030204" pitchFamily="49" charset="0"/>
              </a:rPr>
              <a:t>    }</a:t>
            </a:r>
          </a:p>
          <a:p>
            <a:r>
              <a:rPr lang="en-US" sz="160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3934809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7F33A-16DD-D721-8A4B-9400378435BD}"/>
            </a:ext>
          </a:extLst>
        </p:cNvPr>
        <p:cNvGrpSpPr/>
        <p:nvPr/>
      </p:nvGrpSpPr>
      <p:grpSpPr>
        <a:xfrm>
          <a:off x="0" y="0"/>
          <a:ext cx="0" cy="0"/>
          <a:chOff x="0" y="0"/>
          <a:chExt cx="0" cy="0"/>
        </a:xfrm>
      </p:grpSpPr>
      <p:pic>
        <p:nvPicPr>
          <p:cNvPr id="1026" name="Picture 2" descr="Theme Park Chains | John King Chains">
            <a:extLst>
              <a:ext uri="{FF2B5EF4-FFF2-40B4-BE49-F238E27FC236}">
                <a16:creationId xmlns:a16="http://schemas.microsoft.com/office/drawing/2014/main" id="{6ABF213F-DA6C-2F27-04DE-41BA40D45436}"/>
              </a:ext>
            </a:extLst>
          </p:cNvPr>
          <p:cNvPicPr>
            <a:picLocks noChangeAspect="1" noChangeArrowheads="1"/>
          </p:cNvPicPr>
          <p:nvPr/>
        </p:nvPicPr>
        <p:blipFill rotWithShape="1">
          <a:blip r:embed="rId2">
            <a:alphaModFix amt="35000"/>
            <a:extLst>
              <a:ext uri="{28A0092B-C50C-407E-A947-70E740481C1C}">
                <a14:useLocalDpi xmlns:a14="http://schemas.microsoft.com/office/drawing/2010/main" val="0"/>
              </a:ext>
            </a:extLst>
          </a:blip>
          <a:srcRect l="23488" t="14997" r="7605" b="30475"/>
          <a:stretch>
            <a:fillRect/>
          </a:stretch>
        </p:blipFill>
        <p:spPr bwMode="auto">
          <a:xfrm>
            <a:off x="5009315" y="815009"/>
            <a:ext cx="2829346" cy="1411836"/>
          </a:xfrm>
          <a:prstGeom prst="rect">
            <a:avLst/>
          </a:prstGeom>
          <a:noFill/>
          <a:extLst>
            <a:ext uri="{909E8E84-426E-40DD-AFC4-6F175D3DCCD1}">
              <a14:hiddenFill xmlns:a14="http://schemas.microsoft.com/office/drawing/2010/main">
                <a:solidFill>
                  <a:srgbClr val="FFFFFF"/>
                </a:solidFill>
              </a14:hiddenFill>
            </a:ext>
          </a:extLst>
        </p:spPr>
      </p:pic>
      <p:sp>
        <p:nvSpPr>
          <p:cNvPr id="8" name="Title 7">
            <a:extLst>
              <a:ext uri="{FF2B5EF4-FFF2-40B4-BE49-F238E27FC236}">
                <a16:creationId xmlns:a16="http://schemas.microsoft.com/office/drawing/2014/main" id="{1EEE224A-B0DB-C849-85C8-C50B0AD444AA}"/>
              </a:ext>
            </a:extLst>
          </p:cNvPr>
          <p:cNvSpPr>
            <a:spLocks noGrp="1"/>
          </p:cNvSpPr>
          <p:nvPr>
            <p:ph type="title"/>
          </p:nvPr>
        </p:nvSpPr>
        <p:spPr>
          <a:xfrm>
            <a:off x="457200" y="296387"/>
            <a:ext cx="8229600" cy="1208275"/>
          </a:xfrm>
        </p:spPr>
        <p:txBody>
          <a:bodyPr/>
          <a:lstStyle/>
          <a:p>
            <a:pPr>
              <a:tabLst>
                <a:tab pos="7769225" algn="l"/>
              </a:tabLst>
            </a:pPr>
            <a:r>
              <a:rPr lang="en-US" sz="7200"/>
              <a:t>Week03b</a:t>
            </a:r>
          </a:p>
        </p:txBody>
      </p:sp>
      <p:sp>
        <p:nvSpPr>
          <p:cNvPr id="6" name="Content Placeholder 5">
            <a:extLst>
              <a:ext uri="{FF2B5EF4-FFF2-40B4-BE49-F238E27FC236}">
                <a16:creationId xmlns:a16="http://schemas.microsoft.com/office/drawing/2014/main" id="{AD662D29-D3EB-6B86-0BBC-3E4239094299}"/>
              </a:ext>
            </a:extLst>
          </p:cNvPr>
          <p:cNvSpPr>
            <a:spLocks noGrp="1"/>
          </p:cNvSpPr>
          <p:nvPr>
            <p:ph sz="quarter" idx="10"/>
          </p:nvPr>
        </p:nvSpPr>
        <p:spPr>
          <a:xfrm>
            <a:off x="457200" y="1484763"/>
            <a:ext cx="4114800" cy="1569661"/>
          </a:xfrm>
        </p:spPr>
        <p:txBody>
          <a:bodyPr>
            <a:noAutofit/>
          </a:bodyPr>
          <a:lstStyle/>
          <a:p>
            <a:r>
              <a:rPr lang="en-US" sz="2000"/>
              <a:t>HW03 preview</a:t>
            </a:r>
          </a:p>
          <a:p>
            <a:r>
              <a:rPr lang="en-US" sz="2000"/>
              <a:t>memory FUNdaMENTALs</a:t>
            </a:r>
          </a:p>
          <a:p>
            <a:r>
              <a:rPr lang="en-US" sz="2000"/>
              <a:t>the stack and the heap</a:t>
            </a:r>
          </a:p>
          <a:p>
            <a:r>
              <a:rPr lang="en-US" sz="2000"/>
              <a:t>passing arguments to functions</a:t>
            </a:r>
          </a:p>
        </p:txBody>
      </p:sp>
      <p:sp>
        <p:nvSpPr>
          <p:cNvPr id="3" name="TextBox 2">
            <a:extLst>
              <a:ext uri="{FF2B5EF4-FFF2-40B4-BE49-F238E27FC236}">
                <a16:creationId xmlns:a16="http://schemas.microsoft.com/office/drawing/2014/main" id="{A7D4F729-9CD0-A838-775A-D73A759705F3}"/>
              </a:ext>
            </a:extLst>
          </p:cNvPr>
          <p:cNvSpPr txBox="1"/>
          <p:nvPr/>
        </p:nvSpPr>
        <p:spPr>
          <a:xfrm rot="2161353">
            <a:off x="4587961" y="329986"/>
            <a:ext cx="3301550" cy="1938992"/>
          </a:xfrm>
          <a:prstGeom prst="rect">
            <a:avLst/>
          </a:prstGeom>
          <a:noFill/>
        </p:spPr>
        <p:txBody>
          <a:bodyPr wrap="square">
            <a:spAutoFit/>
          </a:bodyPr>
          <a:lstStyle/>
          <a:p>
            <a:pPr algn="r"/>
            <a:r>
              <a:rPr kumimoji="0" lang="en-US" sz="8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r>
              <a:rPr kumimoji="0" lang="en-US" sz="4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600"/>
          </a:p>
          <a:p>
            <a:pPr algn="r"/>
            <a:endParaRPr lang="en-US" sz="4000"/>
          </a:p>
        </p:txBody>
      </p:sp>
      <p:sp>
        <p:nvSpPr>
          <p:cNvPr id="13" name="TextBox 12">
            <a:extLst>
              <a:ext uri="{FF2B5EF4-FFF2-40B4-BE49-F238E27FC236}">
                <a16:creationId xmlns:a16="http://schemas.microsoft.com/office/drawing/2014/main" id="{0DF94A63-6055-C963-4680-9A8289A66FE6}"/>
              </a:ext>
            </a:extLst>
          </p:cNvPr>
          <p:cNvSpPr txBox="1"/>
          <p:nvPr/>
        </p:nvSpPr>
        <p:spPr>
          <a:xfrm>
            <a:off x="6677997" y="115431"/>
            <a:ext cx="3673061" cy="1015663"/>
          </a:xfrm>
          <a:prstGeom prst="rect">
            <a:avLst/>
          </a:prstGeom>
          <a:noFill/>
        </p:spPr>
        <p:txBody>
          <a:bodyPr wrap="square" rtlCol="0">
            <a:spAutoFit/>
          </a:bodyPr>
          <a:lstStyle/>
          <a:p>
            <a:r>
              <a:rPr lang="en-US" b="1">
                <a:solidFill>
                  <a:srgbClr val="F80B8D"/>
                </a:solidFill>
              </a:rPr>
              <a:t>Happy No-Laptop</a:t>
            </a:r>
          </a:p>
          <a:p>
            <a:r>
              <a:rPr lang="en-US" b="1">
                <a:solidFill>
                  <a:srgbClr val="F80B8D"/>
                </a:solidFill>
              </a:rPr>
              <a:t>Wednesday ! </a:t>
            </a:r>
            <a:r>
              <a:rPr lang="en-US" b="1">
                <a:solidFill>
                  <a:srgbClr val="F80B8D"/>
                </a:solidFill>
                <a:latin typeface="Segoe UI Emoji" panose="020B0502040204020203" pitchFamily="34" charset="0"/>
                <a:ea typeface="Segoe UI Emoji" panose="020B0502040204020203" pitchFamily="34" charset="0"/>
              </a:rPr>
              <a:t>🚫💻</a:t>
            </a:r>
          </a:p>
          <a:p>
            <a:r>
              <a:rPr lang="en-US" sz="1200" b="1">
                <a:solidFill>
                  <a:srgbClr val="F80B8D"/>
                </a:solidFill>
              </a:rPr>
              <a:t>PS 136 is a rollercoaster</a:t>
            </a:r>
          </a:p>
          <a:p>
            <a:r>
              <a:rPr lang="en-US" sz="1200" b="1">
                <a:solidFill>
                  <a:srgbClr val="F80B8D"/>
                </a:solidFill>
              </a:rPr>
              <a:t>that only goes uppppp !!</a:t>
            </a:r>
            <a:endParaRPr lang="en-US" sz="1200">
              <a:solidFill>
                <a:srgbClr val="F80B8D"/>
              </a:solidFill>
            </a:endParaRPr>
          </a:p>
        </p:txBody>
      </p:sp>
      <p:sp>
        <p:nvSpPr>
          <p:cNvPr id="14" name="TextBox 13">
            <a:extLst>
              <a:ext uri="{FF2B5EF4-FFF2-40B4-BE49-F238E27FC236}">
                <a16:creationId xmlns:a16="http://schemas.microsoft.com/office/drawing/2014/main" id="{4149CB43-7EAB-69CB-C89C-144E80C68212}"/>
              </a:ext>
            </a:extLst>
          </p:cNvPr>
          <p:cNvSpPr txBox="1"/>
          <p:nvPr/>
        </p:nvSpPr>
        <p:spPr>
          <a:xfrm>
            <a:off x="369106" y="3322363"/>
            <a:ext cx="3091343" cy="1261884"/>
          </a:xfrm>
          <a:prstGeom prst="rect">
            <a:avLst/>
          </a:prstGeom>
          <a:solidFill>
            <a:schemeClr val="accent3"/>
          </a:solidFill>
          <a:ln>
            <a:solidFill>
              <a:schemeClr val="tx1"/>
            </a:solidFill>
          </a:ln>
        </p:spPr>
        <p:txBody>
          <a:bodyPr wrap="square" rtlCol="0">
            <a:spAutoFit/>
          </a:bodyPr>
          <a:lstStyle/>
          <a:p>
            <a:pPr algn="ctr"/>
            <a:r>
              <a:rPr lang="en-US" sz="2800" b="1"/>
              <a:t>WARMUP</a:t>
            </a:r>
          </a:p>
          <a:p>
            <a:pPr algn="ctr"/>
            <a:r>
              <a:rPr lang="en-US" sz="2800"/>
              <a:t>what's 42 in hex?</a:t>
            </a:r>
          </a:p>
          <a:p>
            <a:pPr algn="ctr"/>
            <a:r>
              <a:rPr lang="en-US"/>
              <a:t>(hexadecimal, base-16)</a:t>
            </a:r>
          </a:p>
        </p:txBody>
      </p:sp>
      <p:pic>
        <p:nvPicPr>
          <p:cNvPr id="7" name="Picture 6">
            <a:extLst>
              <a:ext uri="{FF2B5EF4-FFF2-40B4-BE49-F238E27FC236}">
                <a16:creationId xmlns:a16="http://schemas.microsoft.com/office/drawing/2014/main" id="{74EA490C-D1F3-0517-F2B9-3EF18D73115C}"/>
              </a:ext>
            </a:extLst>
          </p:cNvPr>
          <p:cNvPicPr>
            <a:picLocks noChangeAspect="1"/>
          </p:cNvPicPr>
          <p:nvPr/>
        </p:nvPicPr>
        <p:blipFill>
          <a:blip r:embed="rId3"/>
          <a:stretch>
            <a:fillRect/>
          </a:stretch>
        </p:blipFill>
        <p:spPr>
          <a:xfrm>
            <a:off x="3613725" y="2973983"/>
            <a:ext cx="1942914" cy="1958646"/>
          </a:xfrm>
          <a:prstGeom prst="rect">
            <a:avLst/>
          </a:prstGeom>
        </p:spPr>
      </p:pic>
      <p:pic>
        <p:nvPicPr>
          <p:cNvPr id="10" name="Picture 9">
            <a:extLst>
              <a:ext uri="{FF2B5EF4-FFF2-40B4-BE49-F238E27FC236}">
                <a16:creationId xmlns:a16="http://schemas.microsoft.com/office/drawing/2014/main" id="{2D3A8F0C-2FDE-7BE3-67A1-4AD796BAC5BD}"/>
              </a:ext>
            </a:extLst>
          </p:cNvPr>
          <p:cNvPicPr>
            <a:picLocks noChangeAspect="1"/>
          </p:cNvPicPr>
          <p:nvPr/>
        </p:nvPicPr>
        <p:blipFill>
          <a:blip r:embed="rId4"/>
          <a:stretch>
            <a:fillRect/>
          </a:stretch>
        </p:blipFill>
        <p:spPr>
          <a:xfrm>
            <a:off x="6937674" y="2973982"/>
            <a:ext cx="1942915" cy="1958647"/>
          </a:xfrm>
          <a:prstGeom prst="rect">
            <a:avLst/>
          </a:prstGeom>
        </p:spPr>
      </p:pic>
      <p:pic>
        <p:nvPicPr>
          <p:cNvPr id="11" name="Picture 10">
            <a:extLst>
              <a:ext uri="{FF2B5EF4-FFF2-40B4-BE49-F238E27FC236}">
                <a16:creationId xmlns:a16="http://schemas.microsoft.com/office/drawing/2014/main" id="{766CB114-327D-7ACA-5852-CAFDB8E4435C}"/>
              </a:ext>
            </a:extLst>
          </p:cNvPr>
          <p:cNvPicPr>
            <a:picLocks noChangeAspect="1"/>
          </p:cNvPicPr>
          <p:nvPr/>
        </p:nvPicPr>
        <p:blipFill>
          <a:blip r:embed="rId5"/>
          <a:stretch>
            <a:fillRect/>
          </a:stretch>
        </p:blipFill>
        <p:spPr>
          <a:xfrm>
            <a:off x="5696638" y="2976784"/>
            <a:ext cx="1094023" cy="1963720"/>
          </a:xfrm>
          <a:prstGeom prst="rect">
            <a:avLst/>
          </a:prstGeom>
        </p:spPr>
      </p:pic>
    </p:spTree>
    <p:extLst>
      <p:ext uri="{BB962C8B-B14F-4D97-AF65-F5344CB8AC3E}">
        <p14:creationId xmlns:p14="http://schemas.microsoft.com/office/powerpoint/2010/main" val="2277747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30F4-11C4-FC1E-9162-DC2576571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DEA542-786F-4CE5-3657-EE78AB42A2B4}"/>
              </a:ext>
            </a:extLst>
          </p:cNvPr>
          <p:cNvSpPr>
            <a:spLocks noGrp="1"/>
          </p:cNvSpPr>
          <p:nvPr>
            <p:ph type="title"/>
          </p:nvPr>
        </p:nvSpPr>
        <p:spPr/>
        <p:txBody>
          <a:bodyPr/>
          <a:lstStyle/>
          <a:p>
            <a:r>
              <a:rPr lang="en-US"/>
              <a:t>🦉</a:t>
            </a:r>
            <a:br>
              <a:rPr lang="en-US"/>
            </a:br>
            <a:r>
              <a:rPr lang="en-US" sz="4000"/>
              <a:t>secret agent owl</a:t>
            </a:r>
            <a:endParaRPr lang="en-US"/>
          </a:p>
        </p:txBody>
      </p:sp>
    </p:spTree>
    <p:extLst>
      <p:ext uri="{BB962C8B-B14F-4D97-AF65-F5344CB8AC3E}">
        <p14:creationId xmlns:p14="http://schemas.microsoft.com/office/powerpoint/2010/main" val="1762687180"/>
      </p:ext>
    </p:extLst>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42163-AB13-B487-E972-554A55E73F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5BEFDA-EF1E-F8B9-0847-40294BFF0202}"/>
              </a:ext>
            </a:extLst>
          </p:cNvPr>
          <p:cNvSpPr>
            <a:spLocks noGrp="1"/>
          </p:cNvSpPr>
          <p:nvPr>
            <p:ph type="title"/>
          </p:nvPr>
        </p:nvSpPr>
        <p:spPr/>
        <p:txBody>
          <a:bodyPr/>
          <a:lstStyle/>
          <a:p>
            <a:r>
              <a:rPr lang="en-US" sz="2000"/>
              <a:t>HW03 preview</a:t>
            </a:r>
            <a:br>
              <a:rPr lang="en-US"/>
            </a:br>
            <a:r>
              <a:rPr lang="en-US"/>
              <a:t>👻</a:t>
            </a:r>
          </a:p>
        </p:txBody>
      </p:sp>
    </p:spTree>
    <p:extLst>
      <p:ext uri="{BB962C8B-B14F-4D97-AF65-F5344CB8AC3E}">
        <p14:creationId xmlns:p14="http://schemas.microsoft.com/office/powerpoint/2010/main" val="2668841796"/>
      </p:ext>
    </p:extLst>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D0466-15F4-001D-6440-AFF3666947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3F25CB-2D65-4297-24C1-A769C4FC50AA}"/>
              </a:ext>
            </a:extLst>
          </p:cNvPr>
          <p:cNvSpPr>
            <a:spLocks noGrp="1"/>
          </p:cNvSpPr>
          <p:nvPr>
            <p:ph type="title"/>
          </p:nvPr>
        </p:nvSpPr>
        <p:spPr/>
        <p:txBody>
          <a:bodyPr/>
          <a:lstStyle/>
          <a:p>
            <a:r>
              <a:rPr lang="en-US"/>
              <a:t>static</a:t>
            </a:r>
            <a:br>
              <a:rPr lang="en-US"/>
            </a:br>
            <a:r>
              <a:rPr lang="en-US" sz="2800"/>
              <a:t>(wrapping up last lecture)</a:t>
            </a:r>
            <a:endParaRPr lang="en-US"/>
          </a:p>
        </p:txBody>
      </p:sp>
    </p:spTree>
    <p:extLst>
      <p:ext uri="{BB962C8B-B14F-4D97-AF65-F5344CB8AC3E}">
        <p14:creationId xmlns:p14="http://schemas.microsoft.com/office/powerpoint/2010/main" val="2937971494"/>
      </p:ext>
    </p:extLst>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ED7CB-2E4B-3EDC-1CA3-CB15C7259B8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BE63F00-351B-4482-291D-D1766A45CF23}"/>
              </a:ext>
            </a:extLst>
          </p:cNvPr>
          <p:cNvSpPr>
            <a:spLocks noGrp="1"/>
          </p:cNvSpPr>
          <p:nvPr>
            <p:ph type="title"/>
          </p:nvPr>
        </p:nvSpPr>
        <p:spPr/>
        <p:txBody>
          <a:bodyPr/>
          <a:lstStyle/>
          <a:p>
            <a:r>
              <a:rPr lang="en-US"/>
              <a:t>static variables</a:t>
            </a:r>
            <a:br>
              <a:rPr lang="en-US"/>
            </a:br>
            <a:r>
              <a:rPr lang="en-US"/>
              <a:t>and static methods</a:t>
            </a:r>
            <a:endParaRPr lang="en-US">
              <a:latin typeface="+mj-lt"/>
            </a:endParaRPr>
          </a:p>
        </p:txBody>
      </p:sp>
    </p:spTree>
    <p:extLst>
      <p:ext uri="{BB962C8B-B14F-4D97-AF65-F5344CB8AC3E}">
        <p14:creationId xmlns:p14="http://schemas.microsoft.com/office/powerpoint/2010/main" val="1973106151"/>
      </p:ext>
    </p:extLst>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7C748-AFF7-8FE8-50DA-59BBB61DAA6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B22C3D1-EFE7-BA06-2645-6B5A4E731F71}"/>
              </a:ext>
            </a:extLst>
          </p:cNvPr>
          <p:cNvSpPr>
            <a:spLocks noGrp="1"/>
          </p:cNvSpPr>
          <p:nvPr>
            <p:ph type="title"/>
          </p:nvPr>
        </p:nvSpPr>
        <p:spPr/>
        <p:txBody>
          <a:bodyPr/>
          <a:lstStyle/>
          <a:p>
            <a:r>
              <a:rPr lang="en-US"/>
              <a:t>instance variables vs static variables</a:t>
            </a:r>
          </a:p>
        </p:txBody>
      </p:sp>
      <p:sp>
        <p:nvSpPr>
          <p:cNvPr id="4" name="Content Placeholder 3">
            <a:extLst>
              <a:ext uri="{FF2B5EF4-FFF2-40B4-BE49-F238E27FC236}">
                <a16:creationId xmlns:a16="http://schemas.microsoft.com/office/drawing/2014/main" id="{9D902EEF-90CD-0B46-7633-83B993B92631}"/>
              </a:ext>
            </a:extLst>
          </p:cNvPr>
          <p:cNvSpPr>
            <a:spLocks noGrp="1"/>
          </p:cNvSpPr>
          <p:nvPr>
            <p:ph sz="quarter" idx="10"/>
          </p:nvPr>
        </p:nvSpPr>
        <p:spPr/>
        <p:txBody>
          <a:bodyPr/>
          <a:lstStyle/>
          <a:p>
            <a:r>
              <a:rPr lang="en-US" sz="1800"/>
              <a:t>an </a:t>
            </a:r>
            <a:r>
              <a:rPr lang="en-US" sz="1800" b="1"/>
              <a:t>instance variable </a:t>
            </a:r>
            <a:r>
              <a:rPr lang="en-US" sz="1800"/>
              <a:t>is part of an instance of a class</a:t>
            </a:r>
            <a:endParaRPr lang="en-US" sz="1800" u="sng"/>
          </a:p>
          <a:p>
            <a:r>
              <a:rPr lang="en-US" sz="1800"/>
              <a:t>a </a:t>
            </a:r>
            <a:r>
              <a:rPr lang="en-US" sz="1800" b="1"/>
              <a:t>static variable</a:t>
            </a:r>
            <a:r>
              <a:rPr lang="en-US" sz="1800"/>
              <a:t> (class variable) is part of the class itself</a:t>
            </a:r>
          </a:p>
          <a:p>
            <a:pPr lvl="1"/>
            <a:r>
              <a:rPr lang="en-US"/>
              <a:t>there is only one, period. (it's a global variable that lives "on the class")</a:t>
            </a:r>
            <a:endParaRPr lang="en-US" u="sng"/>
          </a:p>
          <a:p>
            <a:endParaRPr lang="en-US"/>
          </a:p>
        </p:txBody>
      </p:sp>
      <p:sp>
        <p:nvSpPr>
          <p:cNvPr id="7" name="TextBox 6">
            <a:extLst>
              <a:ext uri="{FF2B5EF4-FFF2-40B4-BE49-F238E27FC236}">
                <a16:creationId xmlns:a16="http://schemas.microsoft.com/office/drawing/2014/main" id="{F76657B9-A3A9-87EA-3271-C7516D43C469}"/>
              </a:ext>
            </a:extLst>
          </p:cNvPr>
          <p:cNvSpPr txBox="1"/>
          <p:nvPr/>
        </p:nvSpPr>
        <p:spPr>
          <a:xfrm>
            <a:off x="457200" y="2148838"/>
            <a:ext cx="8229600" cy="2696123"/>
          </a:xfrm>
          <a:prstGeom prst="rect">
            <a:avLst/>
          </a:prstGeom>
          <a:solidFill>
            <a:schemeClr val="bg1"/>
          </a:solid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00FF"/>
                </a:solidFill>
                <a:latin typeface="+mj-lt"/>
                <a:cs typeface="Consolas" panose="020B0609020204030204" pitchFamily="49" charset="0"/>
              </a:rPr>
              <a:t>class</a:t>
            </a:r>
            <a:r>
              <a:rPr lang="en-US">
                <a:latin typeface="+mj-lt"/>
                <a:cs typeface="Consolas" panose="020B0609020204030204" pitchFamily="49" charset="0"/>
              </a:rPr>
              <a:t> </a:t>
            </a:r>
            <a:r>
              <a:rPr lang="en-US">
                <a:solidFill>
                  <a:srgbClr val="000080"/>
                </a:solidFill>
                <a:latin typeface="+mj-lt"/>
                <a:cs typeface="Consolas" panose="020B0609020204030204" pitchFamily="49" charset="0"/>
              </a:rPr>
              <a:t>Thing</a:t>
            </a:r>
            <a:r>
              <a:rPr lang="en-US">
                <a:latin typeface="+mj-lt"/>
                <a:cs typeface="Consolas" panose="020B0609020204030204" pitchFamily="49" charset="0"/>
              </a:rPr>
              <a:t> {</a:t>
            </a:r>
          </a:p>
          <a:p>
            <a:pPr defTabSz="342886">
              <a:spcBef>
                <a:spcPct val="20000"/>
              </a:spcBef>
              <a:buClr>
                <a:srgbClr val="FFFFFF">
                  <a:lumMod val="65000"/>
                </a:srgbClr>
              </a:buClr>
            </a:pPr>
            <a:r>
              <a:rPr lang="en-US">
                <a:latin typeface="+mj-lt"/>
                <a:cs typeface="Consolas" panose="020B0609020204030204" pitchFamily="49" charset="0"/>
              </a:rPr>
              <a:t>    </a:t>
            </a:r>
            <a:r>
              <a:rPr lang="en-US">
                <a:solidFill>
                  <a:srgbClr val="000080"/>
                </a:solidFill>
                <a:latin typeface="Consolas"/>
              </a:rPr>
              <a:t>int</a:t>
            </a:r>
            <a:r>
              <a:rPr lang="en-US">
                <a:latin typeface="+mj-lt"/>
                <a:cs typeface="Consolas" panose="020B0609020204030204" pitchFamily="49" charset="0"/>
              </a:rPr>
              <a:t> type;</a:t>
            </a:r>
          </a:p>
          <a:p>
            <a:pPr lvl="0" defTabSz="342886">
              <a:spcBef>
                <a:spcPct val="20000"/>
              </a:spcBef>
              <a:buClr>
                <a:srgbClr val="FFFFFF">
                  <a:lumMod val="65000"/>
                </a:srgbClr>
              </a:buClr>
            </a:pPr>
            <a:r>
              <a:rPr lang="en-US">
                <a:solidFill>
                  <a:srgbClr val="0000FF"/>
                </a:solidFill>
                <a:latin typeface="+mj-lt"/>
              </a:rPr>
              <a:t>    static</a:t>
            </a:r>
            <a:r>
              <a:rPr lang="en-US">
                <a:latin typeface="+mj-lt"/>
              </a:rPr>
              <a:t> </a:t>
            </a:r>
            <a:r>
              <a:rPr lang="en-US">
                <a:solidFill>
                  <a:srgbClr val="000080"/>
                </a:solidFill>
                <a:latin typeface="+mj-lt"/>
              </a:rPr>
              <a:t>int</a:t>
            </a:r>
            <a:r>
              <a:rPr lang="en-US">
                <a:latin typeface="+mj-lt"/>
              </a:rPr>
              <a:t> TYPE_BULLET = </a:t>
            </a:r>
            <a:r>
              <a:rPr lang="en-US">
                <a:solidFill>
                  <a:srgbClr val="0CB5B5"/>
                </a:solidFill>
                <a:latin typeface="+mj-lt"/>
              </a:rPr>
              <a:t>1</a:t>
            </a:r>
            <a:r>
              <a:rPr lang="en-US">
                <a:latin typeface="+mj-lt"/>
              </a:rPr>
              <a:t>;</a:t>
            </a:r>
          </a:p>
          <a:p>
            <a:pPr lvl="0" defTabSz="342886">
              <a:spcBef>
                <a:spcPct val="20000"/>
              </a:spcBef>
              <a:buClr>
                <a:srgbClr val="FFFFFF">
                  <a:lumMod val="65000"/>
                </a:srgbClr>
              </a:buClr>
            </a:pPr>
            <a:r>
              <a:rPr lang="en-US">
                <a:latin typeface="+mj-lt"/>
                <a:cs typeface="Consolas" panose="020B0609020204030204" pitchFamily="49" charset="0"/>
              </a:rPr>
              <a:t>    </a:t>
            </a:r>
            <a:r>
              <a:rPr lang="en-US">
                <a:solidFill>
                  <a:srgbClr val="BFBFBF"/>
                </a:solidFill>
                <a:latin typeface="+mj-lt"/>
                <a:cs typeface="Consolas" panose="020B0609020204030204" pitchFamily="49" charset="0"/>
              </a:rPr>
              <a:t>...</a:t>
            </a:r>
          </a:p>
          <a:p>
            <a:pPr lvl="0" defTabSz="342886">
              <a:spcBef>
                <a:spcPct val="20000"/>
              </a:spcBef>
              <a:buClr>
                <a:srgbClr val="FFFFFF">
                  <a:lumMod val="65000"/>
                </a:srgbClr>
              </a:buClr>
            </a:pPr>
            <a:r>
              <a:rPr lang="en-US">
                <a:latin typeface="+mj-lt"/>
                <a:ea typeface="Segoe UI Emoji" panose="020B0502040204020203" pitchFamily="34" charset="0"/>
                <a:cs typeface="Consolas" panose="020B0609020204030204" pitchFamily="49" charset="0"/>
              </a:rPr>
              <a:t>}</a:t>
            </a:r>
          </a:p>
          <a:p>
            <a:pPr lvl="0" defTabSz="342886">
              <a:spcBef>
                <a:spcPct val="20000"/>
              </a:spcBef>
              <a:buClr>
                <a:srgbClr val="FFFFFF">
                  <a:lumMod val="65000"/>
                </a:srgbClr>
              </a:buClr>
            </a:pPr>
            <a:endParaRPr lang="en-US">
              <a:latin typeface="+mj-lt"/>
              <a:ea typeface="Segoe UI Emoji" panose="020B0502040204020203" pitchFamily="34" charset="0"/>
              <a:cs typeface="Consolas" panose="020B0609020204030204" pitchFamily="49" charset="0"/>
            </a:endParaRPr>
          </a:p>
          <a:p>
            <a:pPr lvl="0" defTabSz="342886">
              <a:spcBef>
                <a:spcPct val="20000"/>
              </a:spcBef>
              <a:buClr>
                <a:srgbClr val="FFFFFF">
                  <a:lumMod val="65000"/>
                </a:srgbClr>
              </a:buClr>
            </a:pPr>
            <a:r>
              <a:rPr lang="en-US">
                <a:solidFill>
                  <a:srgbClr val="007B00"/>
                </a:solidFill>
                <a:latin typeface="+mj-lt"/>
                <a:ea typeface="Segoe UI Emoji" panose="020B0502040204020203" pitchFamily="34" charset="0"/>
                <a:cs typeface="Consolas" panose="020B0609020204030204" pitchFamily="49" charset="0"/>
              </a:rPr>
              <a:t>// </a:t>
            </a:r>
            <a:r>
              <a:rPr lang="en-US" err="1">
                <a:solidFill>
                  <a:srgbClr val="007B00"/>
                </a:solidFill>
                <a:latin typeface="+mj-lt"/>
                <a:ea typeface="Segoe UI Emoji" panose="020B0502040204020203" pitchFamily="34" charset="0"/>
                <a:cs typeface="Consolas" panose="020B0609020204030204" pitchFamily="49" charset="0"/>
              </a:rPr>
              <a:t>Thing thing = new Thing()</a:t>
            </a:r>
            <a:r>
              <a:rPr lang="en-US">
                <a:solidFill>
                  <a:srgbClr val="007B00"/>
                </a:solidFill>
                <a:latin typeface="+mj-lt"/>
                <a:ea typeface="Segoe UI Emoji" panose="020B0502040204020203" pitchFamily="34" charset="0"/>
                <a:cs typeface="Consolas" panose="020B0609020204030204" pitchFamily="49" charset="0"/>
              </a:rPr>
              <a:t>;</a:t>
            </a:r>
          </a:p>
          <a:p>
            <a:pPr lvl="0" defTabSz="342886">
              <a:spcBef>
                <a:spcPct val="20000"/>
              </a:spcBef>
              <a:buClr>
                <a:srgbClr val="FFFFFF">
                  <a:lumMod val="65000"/>
                </a:srgbClr>
              </a:buClr>
            </a:pPr>
            <a:r>
              <a:rPr lang="en-US">
                <a:solidFill>
                  <a:srgbClr val="007B00"/>
                </a:solidFill>
                <a:latin typeface="+mj-lt"/>
                <a:ea typeface="Segoe UI Emoji" panose="020B0502040204020203" pitchFamily="34" charset="0"/>
                <a:cs typeface="Consolas" panose="020B0609020204030204" pitchFamily="49" charset="0"/>
              </a:rPr>
              <a:t>// thing.type = Thing.TYPE_BULLET;</a:t>
            </a:r>
          </a:p>
        </p:txBody>
      </p:sp>
    </p:spTree>
    <p:extLst>
      <p:ext uri="{BB962C8B-B14F-4D97-AF65-F5344CB8AC3E}">
        <p14:creationId xmlns:p14="http://schemas.microsoft.com/office/powerpoint/2010/main" val="2875104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tmplLst>
          <p:tmpl lvl="1">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Lst>
      </p:bldP>
      <p:bldP spid="7" grpId="0" animBg="1"/>
    </p:bldLst>
  </p:timing>
</p:sld>
</file>

<file path=ppt/slides/slide4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3D3BE-DDAD-A1DF-63A9-CA44FA06CCF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E35ED9C-AB94-9D9D-3B85-361F3301C8A6}"/>
              </a:ext>
            </a:extLst>
          </p:cNvPr>
          <p:cNvSpPr>
            <a:spLocks noGrp="1"/>
          </p:cNvSpPr>
          <p:nvPr>
            <p:ph type="title"/>
          </p:nvPr>
        </p:nvSpPr>
        <p:spPr/>
        <p:txBody>
          <a:bodyPr/>
          <a:lstStyle/>
          <a:p>
            <a:r>
              <a:rPr lang="en-US"/>
              <a:t>instance methods vs static methods</a:t>
            </a:r>
          </a:p>
        </p:txBody>
      </p:sp>
      <p:sp>
        <p:nvSpPr>
          <p:cNvPr id="4" name="Content Placeholder 3">
            <a:extLst>
              <a:ext uri="{FF2B5EF4-FFF2-40B4-BE49-F238E27FC236}">
                <a16:creationId xmlns:a16="http://schemas.microsoft.com/office/drawing/2014/main" id="{CEDD5154-B3C5-8BEB-4D76-9B25520608C2}"/>
              </a:ext>
            </a:extLst>
          </p:cNvPr>
          <p:cNvSpPr>
            <a:spLocks noGrp="1"/>
          </p:cNvSpPr>
          <p:nvPr>
            <p:ph sz="quarter" idx="10"/>
          </p:nvPr>
        </p:nvSpPr>
        <p:spPr/>
        <p:txBody>
          <a:bodyPr/>
          <a:lstStyle/>
          <a:p>
            <a:r>
              <a:rPr lang="en-US" sz="1800"/>
              <a:t>an </a:t>
            </a:r>
            <a:r>
              <a:rPr lang="en-US" sz="1800" b="1"/>
              <a:t>instance method </a:t>
            </a:r>
            <a:r>
              <a:rPr lang="en-US" sz="1800"/>
              <a:t>must be called on an instance (object) of a class</a:t>
            </a:r>
            <a:endParaRPr lang="en-US" sz="1800" u="sng"/>
          </a:p>
          <a:p>
            <a:r>
              <a:rPr lang="en-US" sz="1800"/>
              <a:t>a </a:t>
            </a:r>
            <a:r>
              <a:rPr lang="en-US" sz="1800" b="1"/>
              <a:t>static method</a:t>
            </a:r>
            <a:r>
              <a:rPr lang="en-US" sz="1800"/>
              <a:t> (class method) can be called on the class itself</a:t>
            </a:r>
          </a:p>
          <a:p>
            <a:pPr lvl="1"/>
            <a:r>
              <a:rPr lang="en-US"/>
              <a:t>✅ there is no </a:t>
            </a:r>
            <a:r>
              <a:rPr lang="en-US">
                <a:solidFill>
                  <a:srgbClr val="0000FF"/>
                </a:solidFill>
                <a:latin typeface="+mj-lt"/>
              </a:rPr>
              <a:t>this</a:t>
            </a:r>
            <a:r>
              <a:rPr lang="en-US"/>
              <a:t> in a static method</a:t>
            </a:r>
          </a:p>
        </p:txBody>
      </p:sp>
      <p:sp>
        <p:nvSpPr>
          <p:cNvPr id="7" name="TextBox 6">
            <a:extLst>
              <a:ext uri="{FF2B5EF4-FFF2-40B4-BE49-F238E27FC236}">
                <a16:creationId xmlns:a16="http://schemas.microsoft.com/office/drawing/2014/main" id="{50FA2152-6731-503D-2884-B9D45B151208}"/>
              </a:ext>
            </a:extLst>
          </p:cNvPr>
          <p:cNvSpPr txBox="1"/>
          <p:nvPr/>
        </p:nvSpPr>
        <p:spPr>
          <a:xfrm>
            <a:off x="457200" y="2192461"/>
            <a:ext cx="8229600" cy="2696123"/>
          </a:xfrm>
          <a:prstGeom prst="rect">
            <a:avLst/>
          </a:prstGeom>
          <a:solidFill>
            <a:schemeClr val="bg1"/>
          </a:solid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00FF"/>
                </a:solidFill>
                <a:latin typeface="+mj-lt"/>
                <a:cs typeface="Consolas" panose="020B0609020204030204" pitchFamily="49" charset="0"/>
              </a:rPr>
              <a:t>class</a:t>
            </a:r>
            <a:r>
              <a:rPr lang="en-US">
                <a:latin typeface="+mj-lt"/>
                <a:cs typeface="Consolas" panose="020B0609020204030204" pitchFamily="49" charset="0"/>
              </a:rPr>
              <a:t> </a:t>
            </a:r>
            <a:r>
              <a:rPr lang="en-US">
                <a:solidFill>
                  <a:srgbClr val="000080"/>
                </a:solidFill>
                <a:latin typeface="+mj-lt"/>
                <a:cs typeface="Consolas" panose="020B0609020204030204" pitchFamily="49" charset="0"/>
              </a:rPr>
              <a:t>Thing</a:t>
            </a:r>
            <a:r>
              <a:rPr lang="en-US">
                <a:latin typeface="+mj-lt"/>
                <a:cs typeface="Consolas" panose="020B0609020204030204" pitchFamily="49" charset="0"/>
              </a:rPr>
              <a:t> {</a:t>
            </a:r>
          </a:p>
          <a:p>
            <a:pPr defTabSz="342886">
              <a:spcBef>
                <a:spcPct val="20000"/>
              </a:spcBef>
              <a:buClr>
                <a:srgbClr val="FFFFFF">
                  <a:lumMod val="65000"/>
                </a:srgbClr>
              </a:buClr>
            </a:pPr>
            <a:r>
              <a:rPr lang="en-US">
                <a:latin typeface="+mj-lt"/>
              </a:rPr>
              <a:t>    </a:t>
            </a:r>
            <a:r>
              <a:rPr lang="en-US">
                <a:solidFill>
                  <a:srgbClr val="000080"/>
                </a:solidFill>
                <a:latin typeface="+mj-lt"/>
              </a:rPr>
              <a:t>void</a:t>
            </a:r>
            <a:r>
              <a:rPr lang="en-US">
                <a:latin typeface="+mj-lt"/>
              </a:rPr>
              <a:t> draw() { </a:t>
            </a:r>
            <a:r>
              <a:rPr lang="en-US">
                <a:solidFill>
                  <a:srgbClr val="BFBFBF"/>
                </a:solidFill>
                <a:latin typeface="+mj-lt"/>
              </a:rPr>
              <a:t>... this ...</a:t>
            </a:r>
            <a:r>
              <a:rPr lang="en-US">
                <a:latin typeface="+mj-lt"/>
              </a:rPr>
              <a:t> }; </a:t>
            </a:r>
            <a:r>
              <a:rPr lang="en-US">
                <a:solidFill>
                  <a:srgbClr val="007B00"/>
                </a:solidFill>
                <a:latin typeface="+mj-lt"/>
              </a:rPr>
              <a:t>// (non-static method)</a:t>
            </a:r>
          </a:p>
          <a:p>
            <a:pPr defTabSz="342886">
              <a:spcBef>
                <a:spcPct val="20000"/>
              </a:spcBef>
              <a:buClr>
                <a:srgbClr val="FFFFFF">
                  <a:lumMod val="65000"/>
                </a:srgbClr>
              </a:buClr>
            </a:pPr>
            <a:r>
              <a:rPr lang="en-US">
                <a:latin typeface="+mj-lt"/>
              </a:rPr>
              <a:t>    </a:t>
            </a:r>
            <a:r>
              <a:rPr lang="en-US">
                <a:solidFill>
                  <a:srgbClr val="0000FF"/>
                </a:solidFill>
                <a:latin typeface="+mj-lt"/>
              </a:rPr>
              <a:t>static</a:t>
            </a:r>
            <a:r>
              <a:rPr lang="en-US">
                <a:latin typeface="+mj-lt"/>
              </a:rPr>
              <a:t> </a:t>
            </a:r>
            <a:r>
              <a:rPr lang="en-US">
                <a:solidFill>
                  <a:srgbClr val="000080"/>
                </a:solidFill>
                <a:latin typeface="+mj-lt"/>
              </a:rPr>
              <a:t>boolean</a:t>
            </a:r>
            <a:r>
              <a:rPr lang="en-US">
                <a:latin typeface="+mj-lt"/>
              </a:rPr>
              <a:t> </a:t>
            </a:r>
            <a:r>
              <a:rPr lang="en-US" err="1">
                <a:latin typeface="+mj-lt"/>
              </a:rPr>
              <a:t>collisionCheck</a:t>
            </a:r>
            <a:r>
              <a:rPr lang="en-US">
                <a:latin typeface="+mj-lt"/>
              </a:rPr>
              <a:t>(</a:t>
            </a:r>
            <a:r>
              <a:rPr lang="en-US">
                <a:solidFill>
                  <a:srgbClr val="000080"/>
                </a:solidFill>
                <a:latin typeface="+mj-lt"/>
              </a:rPr>
              <a:t>Thing</a:t>
            </a:r>
            <a:r>
              <a:rPr lang="en-US">
                <a:latin typeface="+mj-lt"/>
              </a:rPr>
              <a:t> a, </a:t>
            </a:r>
            <a:r>
              <a:rPr lang="en-US">
                <a:solidFill>
                  <a:srgbClr val="000080"/>
                </a:solidFill>
                <a:latin typeface="+mj-lt"/>
              </a:rPr>
              <a:t>Thing</a:t>
            </a:r>
            <a:r>
              <a:rPr lang="en-US">
                <a:latin typeface="+mj-lt"/>
              </a:rPr>
              <a:t> b) { </a:t>
            </a:r>
            <a:r>
              <a:rPr lang="en-US">
                <a:solidFill>
                  <a:srgbClr val="BFBFBF"/>
                </a:solidFill>
                <a:latin typeface="+mj-lt"/>
              </a:rPr>
              <a:t>...</a:t>
            </a:r>
            <a:r>
              <a:rPr lang="en-US">
                <a:latin typeface="+mj-lt"/>
              </a:rPr>
              <a:t> }</a:t>
            </a:r>
          </a:p>
          <a:p>
            <a:pPr lvl="0" defTabSz="342886">
              <a:spcBef>
                <a:spcPct val="20000"/>
              </a:spcBef>
              <a:buClr>
                <a:srgbClr val="FFFFFF">
                  <a:lumMod val="65000"/>
                </a:srgbClr>
              </a:buClr>
            </a:pPr>
            <a:r>
              <a:rPr lang="en-US">
                <a:latin typeface="+mj-lt"/>
                <a:cs typeface="Consolas" panose="020B0609020204030204" pitchFamily="49" charset="0"/>
              </a:rPr>
              <a:t>    </a:t>
            </a:r>
            <a:r>
              <a:rPr lang="en-US">
                <a:solidFill>
                  <a:srgbClr val="BFBFBF"/>
                </a:solidFill>
                <a:latin typeface="+mj-lt"/>
                <a:cs typeface="Consolas" panose="020B0609020204030204" pitchFamily="49" charset="0"/>
              </a:rPr>
              <a:t>...</a:t>
            </a:r>
          </a:p>
          <a:p>
            <a:pPr lvl="0" defTabSz="342886">
              <a:spcBef>
                <a:spcPct val="20000"/>
              </a:spcBef>
              <a:buClr>
                <a:srgbClr val="FFFFFF">
                  <a:lumMod val="65000"/>
                </a:srgbClr>
              </a:buClr>
            </a:pPr>
            <a:r>
              <a:rPr lang="en-US">
                <a:latin typeface="+mj-lt"/>
                <a:ea typeface="Segoe UI Emoji" panose="020B0502040204020203" pitchFamily="34" charset="0"/>
                <a:cs typeface="Consolas" panose="020B0609020204030204" pitchFamily="49" charset="0"/>
              </a:rPr>
              <a:t>}</a:t>
            </a:r>
          </a:p>
          <a:p>
            <a:pPr lvl="0" defTabSz="342886">
              <a:spcBef>
                <a:spcPct val="20000"/>
              </a:spcBef>
              <a:buClr>
                <a:srgbClr val="FFFFFF">
                  <a:lumMod val="65000"/>
                </a:srgbClr>
              </a:buClr>
            </a:pPr>
            <a:r>
              <a:rPr lang="en-US">
                <a:solidFill>
                  <a:srgbClr val="007B00"/>
                </a:solidFill>
                <a:latin typeface="Consolas"/>
                <a:ea typeface="Segoe UI Emoji" panose="020B0502040204020203" pitchFamily="34" charset="0"/>
                <a:cs typeface="Consolas" panose="020B0609020204030204" pitchFamily="49" charset="0"/>
              </a:rPr>
              <a:t>// Thing </a:t>
            </a:r>
            <a:r>
              <a:rPr lang="en-US" err="1">
                <a:solidFill>
                  <a:srgbClr val="007B00"/>
                </a:solidFill>
                <a:latin typeface="Consolas"/>
                <a:ea typeface="Segoe UI Emoji" panose="020B0502040204020203" pitchFamily="34" charset="0"/>
                <a:cs typeface="Consolas" panose="020B0609020204030204" pitchFamily="49" charset="0"/>
              </a:rPr>
              <a:t>a, b;</a:t>
            </a:r>
            <a:endParaRPr lang="en-US">
              <a:latin typeface="+mj-lt"/>
              <a:ea typeface="Segoe UI Emoji" panose="020B0502040204020203" pitchFamily="34" charset="0"/>
              <a:cs typeface="Consolas" panose="020B0609020204030204" pitchFamily="49" charset="0"/>
            </a:endParaRPr>
          </a:p>
          <a:p>
            <a:pPr lvl="0" defTabSz="342886">
              <a:spcBef>
                <a:spcPct val="20000"/>
              </a:spcBef>
              <a:buClr>
                <a:srgbClr val="FFFFFF">
                  <a:lumMod val="65000"/>
                </a:srgbClr>
              </a:buClr>
            </a:pPr>
            <a:r>
              <a:rPr lang="en-US">
                <a:solidFill>
                  <a:srgbClr val="007B00"/>
                </a:solidFill>
                <a:latin typeface="+mj-lt"/>
                <a:ea typeface="Segoe UI Emoji" panose="020B0502040204020203" pitchFamily="34" charset="0"/>
                <a:cs typeface="Consolas" panose="020B0609020204030204" pitchFamily="49" charset="0"/>
              </a:rPr>
              <a:t>// </a:t>
            </a:r>
            <a:r>
              <a:rPr lang="en-US" err="1">
                <a:solidFill>
                  <a:srgbClr val="007B00"/>
                </a:solidFill>
                <a:latin typeface="+mj-lt"/>
                <a:ea typeface="Segoe UI Emoji" panose="020B0502040204020203" pitchFamily="34" charset="0"/>
                <a:cs typeface="Consolas" panose="020B0609020204030204" pitchFamily="49" charset="0"/>
              </a:rPr>
              <a:t>a.draw</a:t>
            </a:r>
            <a:r>
              <a:rPr lang="en-US">
                <a:solidFill>
                  <a:srgbClr val="007B00"/>
                </a:solidFill>
                <a:latin typeface="+mj-lt"/>
                <a:ea typeface="Segoe UI Emoji" panose="020B0502040204020203" pitchFamily="34" charset="0"/>
                <a:cs typeface="Consolas" panose="020B0609020204030204" pitchFamily="49" charset="0"/>
              </a:rPr>
              <a:t>();</a:t>
            </a:r>
          </a:p>
          <a:p>
            <a:pPr lvl="0" defTabSz="342886">
              <a:spcBef>
                <a:spcPct val="20000"/>
              </a:spcBef>
              <a:buClr>
                <a:srgbClr val="FFFFFF">
                  <a:lumMod val="65000"/>
                </a:srgbClr>
              </a:buClr>
            </a:pPr>
            <a:r>
              <a:rPr lang="en-US">
                <a:solidFill>
                  <a:srgbClr val="007B00"/>
                </a:solidFill>
                <a:latin typeface="Consolas"/>
                <a:ea typeface="Segoe UI Emoji" panose="020B0502040204020203" pitchFamily="34" charset="0"/>
                <a:cs typeface="Consolas" panose="020B0609020204030204" pitchFamily="49" charset="0"/>
              </a:rPr>
              <a:t>// if (Thing.collisionCheck(...)) { ... }</a:t>
            </a:r>
          </a:p>
        </p:txBody>
      </p:sp>
    </p:spTree>
    <p:extLst>
      <p:ext uri="{BB962C8B-B14F-4D97-AF65-F5344CB8AC3E}">
        <p14:creationId xmlns:p14="http://schemas.microsoft.com/office/powerpoint/2010/main" val="1076911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tmplLst>
          <p:tmpl lvl="1">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Lst>
      </p:bldP>
      <p:bldP spid="7" grpId="0" animBg="1"/>
    </p:bldLst>
  </p:timing>
</p:sld>
</file>

<file path=ppt/slides/slide4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4D399-68C1-7C74-C439-F95816B319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09816A-E9F3-6D88-8E53-4EAF52D0BE5F}"/>
              </a:ext>
            </a:extLst>
          </p:cNvPr>
          <p:cNvSpPr>
            <a:spLocks noGrp="1"/>
          </p:cNvSpPr>
          <p:nvPr>
            <p:ph type="title"/>
          </p:nvPr>
        </p:nvSpPr>
        <p:spPr/>
        <p:txBody>
          <a:bodyPr/>
          <a:lstStyle/>
          <a:p>
            <a:r>
              <a:rPr lang="en-US" sz="8800"/>
              <a:t>and now...</a:t>
            </a:r>
            <a:br>
              <a:rPr lang="en-US" sz="8800"/>
            </a:br>
            <a:r>
              <a:rPr lang="en-US" sz="8800"/>
              <a:t>today's lecture!</a:t>
            </a:r>
          </a:p>
        </p:txBody>
      </p:sp>
    </p:spTree>
    <p:extLst>
      <p:ext uri="{BB962C8B-B14F-4D97-AF65-F5344CB8AC3E}">
        <p14:creationId xmlns:p14="http://schemas.microsoft.com/office/powerpoint/2010/main" val="2489235053"/>
      </p:ext>
    </p:extLst>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BD293DB-40F3-8929-1A75-F16564A61CBA}"/>
              </a:ext>
            </a:extLst>
          </p:cNvPr>
          <p:cNvSpPr>
            <a:spLocks noGrp="1"/>
          </p:cNvSpPr>
          <p:nvPr>
            <p:ph type="title"/>
          </p:nvPr>
        </p:nvSpPr>
        <p:spPr/>
        <p:txBody>
          <a:bodyPr/>
          <a:lstStyle/>
          <a:p>
            <a:r>
              <a:rPr lang="en-US"/>
              <a:t>☠️</a:t>
            </a:r>
            <a:br>
              <a:rPr lang="en-US"/>
            </a:br>
            <a:r>
              <a:rPr lang="en-US"/>
              <a:t>this is the hardest lecture in 136</a:t>
            </a:r>
          </a:p>
        </p:txBody>
      </p:sp>
    </p:spTree>
    <p:extLst>
      <p:ext uri="{BB962C8B-B14F-4D97-AF65-F5344CB8AC3E}">
        <p14:creationId xmlns:p14="http://schemas.microsoft.com/office/powerpoint/2010/main" val="2568649567"/>
      </p:ext>
    </p:extLst>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A6FE-32F9-1A35-E2C5-DA94B11DE26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886DE15-97F0-CE2C-7AAB-BEF53717097C}"/>
              </a:ext>
            </a:extLst>
          </p:cNvPr>
          <p:cNvSpPr>
            <a:spLocks noGrp="1"/>
          </p:cNvSpPr>
          <p:nvPr>
            <p:ph type="title"/>
          </p:nvPr>
        </p:nvSpPr>
        <p:spPr/>
        <p:txBody>
          <a:bodyPr/>
          <a:lstStyle/>
          <a:p>
            <a:r>
              <a:rPr lang="en-US" sz="4000"/>
              <a:t>but learning this stuff is very worth</a:t>
            </a:r>
            <a:br>
              <a:rPr lang="en-US"/>
            </a:br>
            <a:r>
              <a:rPr lang="en-US"/>
              <a:t>🙂👍</a:t>
            </a:r>
            <a:br>
              <a:rPr lang="en-US"/>
            </a:br>
            <a:r>
              <a:rPr lang="en-US">
                <a:solidFill>
                  <a:schemeClr val="bg1"/>
                </a:solidFill>
              </a:rPr>
              <a:t>review this lecture a few times</a:t>
            </a:r>
            <a:br>
              <a:rPr lang="en-US">
                <a:solidFill>
                  <a:schemeClr val="bg1"/>
                </a:solidFill>
              </a:rPr>
            </a:br>
            <a:br>
              <a:rPr lang="en-US">
                <a:solidFill>
                  <a:schemeClr val="bg1"/>
                </a:solidFill>
              </a:rPr>
            </a:br>
            <a:r>
              <a:rPr lang="en-US" sz="2400">
                <a:solidFill>
                  <a:schemeClr val="bg1"/>
                </a:solidFill>
              </a:rPr>
              <a:t>(i am sure you will all do this)</a:t>
            </a:r>
            <a:endParaRPr lang="en-US">
              <a:solidFill>
                <a:schemeClr val="bg1"/>
              </a:solidFill>
            </a:endParaRPr>
          </a:p>
        </p:txBody>
      </p:sp>
    </p:spTree>
    <p:extLst>
      <p:ext uri="{BB962C8B-B14F-4D97-AF65-F5344CB8AC3E}">
        <p14:creationId xmlns:p14="http://schemas.microsoft.com/office/powerpoint/2010/main" val="554324107"/>
      </p:ext>
    </p:extLst>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CEB89-6CFC-0170-E3EB-49DAE7BEBED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9FBF2C0-0790-4AE3-7871-F44AF3271A8A}"/>
              </a:ext>
            </a:extLst>
          </p:cNvPr>
          <p:cNvSpPr>
            <a:spLocks noGrp="1"/>
          </p:cNvSpPr>
          <p:nvPr>
            <p:ph type="title"/>
          </p:nvPr>
        </p:nvSpPr>
        <p:spPr/>
        <p:txBody>
          <a:bodyPr/>
          <a:lstStyle/>
          <a:p>
            <a:r>
              <a:rPr lang="en-US" sz="4000"/>
              <a:t>but learning this stuff is very worth</a:t>
            </a:r>
            <a:br>
              <a:rPr lang="en-US"/>
            </a:br>
            <a:r>
              <a:rPr lang="en-US"/>
              <a:t>🙂👍</a:t>
            </a:r>
            <a:br>
              <a:rPr lang="en-US"/>
            </a:br>
            <a:r>
              <a:rPr lang="en-US" b="1"/>
              <a:t>note: </a:t>
            </a:r>
            <a:r>
              <a:rPr lang="en-US"/>
              <a:t>you will likely need to review this lecture a few times</a:t>
            </a:r>
            <a:br>
              <a:rPr lang="en-US"/>
            </a:br>
            <a:r>
              <a:rPr lang="en-US" sz="2400">
                <a:solidFill>
                  <a:schemeClr val="bg1"/>
                </a:solidFill>
              </a:rPr>
              <a:t>(i am sure you will all do this)</a:t>
            </a:r>
            <a:endParaRPr lang="en-US">
              <a:solidFill>
                <a:schemeClr val="bg1"/>
              </a:solidFill>
            </a:endParaRPr>
          </a:p>
        </p:txBody>
      </p:sp>
    </p:spTree>
    <p:extLst>
      <p:ext uri="{BB962C8B-B14F-4D97-AF65-F5344CB8AC3E}">
        <p14:creationId xmlns:p14="http://schemas.microsoft.com/office/powerpoint/2010/main" val="3473613117"/>
      </p:ext>
    </p:extLst>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DA893EF-F54E-01F0-70E1-B96B3B57DE66}"/>
              </a:ext>
            </a:extLst>
          </p:cNvPr>
          <p:cNvSpPr>
            <a:spLocks noGrp="1"/>
          </p:cNvSpPr>
          <p:nvPr>
            <p:ph type="title"/>
          </p:nvPr>
        </p:nvSpPr>
        <p:spPr/>
        <p:txBody>
          <a:bodyPr/>
          <a:lstStyle/>
          <a:p>
            <a:pPr algn="l"/>
            <a:r>
              <a:rPr lang="en-US" sz="3600" b="1"/>
              <a:t>note:</a:t>
            </a:r>
            <a:r>
              <a:rPr lang="en-US" sz="3600"/>
              <a:t> i am intentionally breaking my examples into many, many steps</a:t>
            </a:r>
            <a:br>
              <a:rPr lang="en-US" sz="3600"/>
            </a:br>
            <a:r>
              <a:rPr lang="en-US" sz="3600"/>
              <a:t>to teach you about memory</a:t>
            </a:r>
            <a:br>
              <a:rPr lang="en-US" sz="3600"/>
            </a:br>
            <a:br>
              <a:rPr lang="en-US" sz="3600"/>
            </a:br>
            <a:r>
              <a:rPr lang="en-US" sz="3600" b="1"/>
              <a:t>no need to actually code this way!</a:t>
            </a:r>
            <a:br>
              <a:rPr lang="en-US" sz="3600"/>
            </a:br>
            <a:r>
              <a:rPr lang="en-US" sz="3600">
                <a:solidFill>
                  <a:srgbClr val="0000FF"/>
                </a:solidFill>
                <a:latin typeface="+mj-lt"/>
              </a:rPr>
              <a:t>int</a:t>
            </a:r>
            <a:r>
              <a:rPr lang="en-US" sz="3600">
                <a:latin typeface="+mj-lt"/>
              </a:rPr>
              <a:t> foo = </a:t>
            </a:r>
            <a:r>
              <a:rPr lang="en-US" sz="3600">
                <a:solidFill>
                  <a:srgbClr val="09B5B6"/>
                </a:solidFill>
                <a:latin typeface="+mj-lt"/>
              </a:rPr>
              <a:t>7</a:t>
            </a:r>
            <a:r>
              <a:rPr lang="en-US" sz="3600">
                <a:latin typeface="+mj-lt"/>
              </a:rPr>
              <a:t>; </a:t>
            </a:r>
            <a:r>
              <a:rPr lang="en-US" sz="3600">
                <a:solidFill>
                  <a:srgbClr val="007B00"/>
                </a:solidFill>
                <a:latin typeface="+mj-lt"/>
              </a:rPr>
              <a:t>// </a:t>
            </a:r>
            <a:r>
              <a:rPr lang="en-US" sz="3600">
                <a:solidFill>
                  <a:srgbClr val="007B00"/>
                </a:solidFill>
                <a:latin typeface="+mj-lt"/>
                <a:sym typeface="Wingdings" pitchFamily="2" charset="2"/>
              </a:rPr>
              <a:t>&lt;-- Totes fine.</a:t>
            </a:r>
            <a:endParaRPr lang="en-US" sz="3600" b="1">
              <a:solidFill>
                <a:srgbClr val="007B00"/>
              </a:solidFill>
              <a:latin typeface="+mj-lt"/>
            </a:endParaRPr>
          </a:p>
        </p:txBody>
      </p:sp>
    </p:spTree>
    <p:extLst>
      <p:ext uri="{BB962C8B-B14F-4D97-AF65-F5344CB8AC3E}">
        <p14:creationId xmlns:p14="http://schemas.microsoft.com/office/powerpoint/2010/main" val="2105244590"/>
      </p:ext>
    </p:extLst>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4E649-4B32-4BB8-7C60-4969512A94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E1764A-B73C-B5D1-E7C6-92701E851B86}"/>
              </a:ext>
            </a:extLst>
          </p:cNvPr>
          <p:cNvSpPr>
            <a:spLocks noGrp="1"/>
          </p:cNvSpPr>
          <p:nvPr>
            <p:ph type="title"/>
          </p:nvPr>
        </p:nvSpPr>
        <p:spPr/>
        <p:txBody>
          <a:bodyPr/>
          <a:lstStyle/>
          <a:p>
            <a:r>
              <a:rPr lang="en-US" sz="6000"/>
              <a:t>memory FUNdaMENTALs</a:t>
            </a:r>
          </a:p>
        </p:txBody>
      </p:sp>
    </p:spTree>
    <p:extLst>
      <p:ext uri="{BB962C8B-B14F-4D97-AF65-F5344CB8AC3E}">
        <p14:creationId xmlns:p14="http://schemas.microsoft.com/office/powerpoint/2010/main" val="4207712861"/>
      </p:ext>
    </p:extLst>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DEB36F-AAC5-99F7-CD1F-1F0BED8C10B6}"/>
              </a:ext>
            </a:extLst>
          </p:cNvPr>
          <p:cNvSpPr>
            <a:spLocks noGrp="1"/>
          </p:cNvSpPr>
          <p:nvPr>
            <p:ph type="title"/>
          </p:nvPr>
        </p:nvSpPr>
        <p:spPr/>
        <p:txBody>
          <a:bodyPr/>
          <a:lstStyle/>
          <a:p>
            <a:r>
              <a:rPr lang="en-US"/>
              <a:t>the two kinds of variables in Java</a:t>
            </a:r>
          </a:p>
        </p:txBody>
      </p:sp>
    </p:spTree>
    <p:extLst>
      <p:ext uri="{BB962C8B-B14F-4D97-AF65-F5344CB8AC3E}">
        <p14:creationId xmlns:p14="http://schemas.microsoft.com/office/powerpoint/2010/main" val="4238615942"/>
      </p:ext>
    </p:extLst>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E6A61C-95C5-79EC-1E50-E29D87A541DE}"/>
              </a:ext>
            </a:extLst>
          </p:cNvPr>
          <p:cNvSpPr>
            <a:spLocks noGrp="1"/>
          </p:cNvSpPr>
          <p:nvPr>
            <p:ph type="title"/>
          </p:nvPr>
        </p:nvSpPr>
        <p:spPr/>
        <p:txBody>
          <a:bodyPr/>
          <a:lstStyle/>
          <a:p>
            <a:r>
              <a:rPr lang="en-US" sz="4800"/>
              <a:t>a variable in Java is either...</a:t>
            </a:r>
            <a:br>
              <a:rPr lang="en-US" sz="4800"/>
            </a:br>
            <a:br>
              <a:rPr lang="en-US" sz="4800"/>
            </a:br>
            <a:r>
              <a:rPr lang="en-US" sz="4800" b="1"/>
              <a:t>a primitive</a:t>
            </a:r>
            <a:br>
              <a:rPr lang="en-US" sz="4800" b="1"/>
            </a:br>
            <a:r>
              <a:rPr lang="en-US" sz="4800"/>
              <a:t>or</a:t>
            </a:r>
            <a:br>
              <a:rPr lang="en-US" sz="4800"/>
            </a:br>
            <a:r>
              <a:rPr lang="en-US" sz="4800" b="1"/>
              <a:t>a reference to an Object</a:t>
            </a:r>
          </a:p>
        </p:txBody>
      </p:sp>
    </p:spTree>
    <p:extLst>
      <p:ext uri="{BB962C8B-B14F-4D97-AF65-F5344CB8AC3E}">
        <p14:creationId xmlns:p14="http://schemas.microsoft.com/office/powerpoint/2010/main" val="2628422145"/>
      </p:ext>
    </p:extLst>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32733-A63A-7355-3A42-FFB181A20D1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D364B5A-87D5-4B48-EE64-E971F18A1622}"/>
              </a:ext>
            </a:extLst>
          </p:cNvPr>
          <p:cNvSpPr>
            <a:spLocks noGrp="1"/>
          </p:cNvSpPr>
          <p:nvPr>
            <p:ph type="title"/>
          </p:nvPr>
        </p:nvSpPr>
        <p:spPr/>
        <p:txBody>
          <a:bodyPr/>
          <a:lstStyle/>
          <a:p>
            <a:r>
              <a:rPr lang="en-US"/>
              <a:t>primitives (review)</a:t>
            </a:r>
          </a:p>
        </p:txBody>
      </p:sp>
    </p:spTree>
    <p:extLst>
      <p:ext uri="{BB962C8B-B14F-4D97-AF65-F5344CB8AC3E}">
        <p14:creationId xmlns:p14="http://schemas.microsoft.com/office/powerpoint/2010/main" val="2173547588"/>
      </p:ext>
    </p:extLst>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8714F-D5CA-5239-8FA2-F3A1D73141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AABB4C-562A-4DAC-CBCF-C4D6015C48D0}"/>
              </a:ext>
            </a:extLst>
          </p:cNvPr>
          <p:cNvSpPr>
            <a:spLocks noGrp="1"/>
          </p:cNvSpPr>
          <p:nvPr>
            <p:ph type="title"/>
          </p:nvPr>
        </p:nvSpPr>
        <p:spPr/>
        <p:txBody>
          <a:bodyPr/>
          <a:lstStyle/>
          <a:p>
            <a:r>
              <a:rPr lang="en-US" err="1"/>
              <a:t>primitive types</a:t>
            </a:r>
            <a:endParaRPr lang="en-US"/>
          </a:p>
        </p:txBody>
      </p:sp>
      <p:sp>
        <p:nvSpPr>
          <p:cNvPr id="3" name="Content Placeholder 2">
            <a:extLst>
              <a:ext uri="{FF2B5EF4-FFF2-40B4-BE49-F238E27FC236}">
                <a16:creationId xmlns:a16="http://schemas.microsoft.com/office/drawing/2014/main" id="{77D2B4C8-05FA-6942-5B4F-E940CEED9D8D}"/>
              </a:ext>
            </a:extLst>
          </p:cNvPr>
          <p:cNvSpPr>
            <a:spLocks noGrp="1"/>
          </p:cNvSpPr>
          <p:nvPr>
            <p:ph sz="quarter" idx="10"/>
          </p:nvPr>
        </p:nvSpPr>
        <p:spPr/>
        <p:txBody>
          <a:bodyPr/>
          <a:lstStyle/>
          <a:p>
            <a:r>
              <a:rPr lang="en-US"/>
              <a:t>in this class, "a variable being a </a:t>
            </a:r>
            <a:r>
              <a:rPr lang="en-US" b="1"/>
              <a:t>primitive</a:t>
            </a:r>
            <a:r>
              <a:rPr lang="en-US"/>
              <a:t>"</a:t>
            </a:r>
            <a:r>
              <a:rPr lang="en-US" b="1"/>
              <a:t> </a:t>
            </a:r>
            <a:r>
              <a:rPr lang="en-US"/>
              <a:t>means that the variable is a </a:t>
            </a:r>
            <a:r>
              <a:rPr lang="en-US" sz="1800" err="1">
                <a:solidFill>
                  <a:srgbClr val="000080"/>
                </a:solidFill>
                <a:effectLst/>
                <a:latin typeface="Consolas" panose="020B0609020204030204" pitchFamily="49" charset="0"/>
              </a:rPr>
              <a:t>boolean</a:t>
            </a:r>
            <a:r>
              <a:rPr lang="en-US"/>
              <a:t>, </a:t>
            </a:r>
            <a:r>
              <a:rPr lang="en-US" sz="1800">
                <a:solidFill>
                  <a:srgbClr val="000080"/>
                </a:solidFill>
                <a:effectLst/>
                <a:latin typeface="Consolas" panose="020B0609020204030204" pitchFamily="49" charset="0"/>
              </a:rPr>
              <a:t>char</a:t>
            </a:r>
            <a:r>
              <a:rPr lang="en-US"/>
              <a:t>, </a:t>
            </a:r>
            <a:r>
              <a:rPr lang="en-US" sz="1800">
                <a:solidFill>
                  <a:srgbClr val="000080"/>
                </a:solidFill>
                <a:effectLst/>
                <a:latin typeface="Consolas" panose="020B0609020204030204" pitchFamily="49" charset="0"/>
              </a:rPr>
              <a:t>double</a:t>
            </a:r>
            <a:r>
              <a:rPr lang="en-US"/>
              <a:t>, or </a:t>
            </a:r>
            <a:r>
              <a:rPr lang="en-US" sz="1800">
                <a:solidFill>
                  <a:srgbClr val="000080"/>
                </a:solidFill>
                <a:effectLst/>
                <a:latin typeface="Consolas" panose="020B0609020204030204" pitchFamily="49" charset="0"/>
              </a:rPr>
              <a:t>int</a:t>
            </a:r>
            <a:endParaRPr lang="en-US"/>
          </a:p>
          <a:p>
            <a:endParaRPr lang="en-US"/>
          </a:p>
          <a:p>
            <a:r>
              <a:rPr lang="en-US"/>
              <a:t>primitive types are simple</a:t>
            </a:r>
          </a:p>
          <a:p>
            <a:r>
              <a:rPr lang="en-US"/>
              <a:t>primitive types are small</a:t>
            </a:r>
          </a:p>
          <a:p>
            <a:r>
              <a:rPr lang="en-US"/>
              <a:t>primitive types are NOT Objects</a:t>
            </a:r>
          </a:p>
          <a:p>
            <a:pPr lvl="1"/>
            <a:r>
              <a:rPr lang="en-US"/>
              <a:t>we will talk about Objects later</a:t>
            </a:r>
          </a:p>
          <a:p>
            <a:pPr lvl="1"/>
            <a:r>
              <a:rPr lang="en-US" b="1"/>
              <a:t>examples of Objects:</a:t>
            </a:r>
            <a:r>
              <a:rPr lang="en-US"/>
              <a:t> </a:t>
            </a:r>
            <a:r>
              <a:rPr lang="en-US" sz="1800" err="1">
                <a:solidFill>
                  <a:srgbClr val="000080"/>
                </a:solidFill>
                <a:effectLst/>
                <a:latin typeface="Consolas" panose="020B0609020204030204" pitchFamily="49" charset="0"/>
              </a:rPr>
              <a:t>String</a:t>
            </a:r>
            <a:r>
              <a:rPr lang="en-US"/>
              <a:t>, </a:t>
            </a:r>
            <a:r>
              <a:rPr lang="en-US" sz="1800" err="1">
                <a:solidFill>
                  <a:srgbClr val="000080"/>
                </a:solidFill>
                <a:effectLst/>
                <a:latin typeface="Consolas" panose="020B0609020204030204" pitchFamily="49" charset="0"/>
              </a:rPr>
              <a:t>MyCoolClass</a:t>
            </a:r>
            <a:r>
              <a:rPr lang="en-US"/>
              <a:t>, </a:t>
            </a:r>
            <a:r>
              <a:rPr lang="en-US" sz="1800">
                <a:solidFill>
                  <a:srgbClr val="000080"/>
                </a:solidFill>
                <a:effectLst/>
                <a:latin typeface="Consolas" panose="020B0609020204030204" pitchFamily="49" charset="0"/>
              </a:rPr>
              <a:t>int[]</a:t>
            </a:r>
            <a:r>
              <a:rPr lang="en-US"/>
              <a:t> (array of ints)</a:t>
            </a:r>
          </a:p>
          <a:p>
            <a:endParaRPr lang="en-US"/>
          </a:p>
        </p:txBody>
      </p:sp>
    </p:spTree>
    <p:extLst>
      <p:ext uri="{BB962C8B-B14F-4D97-AF65-F5344CB8AC3E}">
        <p14:creationId xmlns:p14="http://schemas.microsoft.com/office/powerpoint/2010/main" val="938471150"/>
      </p:ext>
    </p:extLst>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FE030-D7F8-FB72-46DA-FA3A1728C7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6FA194-6A9B-0D7F-3568-6CD178FC6296}"/>
              </a:ext>
            </a:extLst>
          </p:cNvPr>
          <p:cNvSpPr>
            <a:spLocks noGrp="1"/>
          </p:cNvSpPr>
          <p:nvPr>
            <p:ph type="title"/>
          </p:nvPr>
        </p:nvSpPr>
        <p:spPr/>
        <p:txBody>
          <a:bodyPr/>
          <a:lstStyle/>
          <a:p>
            <a:r>
              <a:rPr lang="en-US" sz="3200" err="1">
                <a:solidFill>
                  <a:srgbClr val="000080"/>
                </a:solidFill>
                <a:effectLst/>
                <a:latin typeface="Consolas" panose="020B0609020204030204" pitchFamily="49" charset="0"/>
              </a:rPr>
              <a:t>boolean</a:t>
            </a:r>
            <a:r>
              <a:rPr lang="en-US"/>
              <a:t>, </a:t>
            </a:r>
            <a:r>
              <a:rPr lang="en-US" sz="3200">
                <a:solidFill>
                  <a:srgbClr val="000080"/>
                </a:solidFill>
                <a:effectLst/>
                <a:latin typeface="Consolas" panose="020B0609020204030204" pitchFamily="49" charset="0"/>
              </a:rPr>
              <a:t>char</a:t>
            </a:r>
            <a:r>
              <a:rPr lang="en-US"/>
              <a:t>, </a:t>
            </a:r>
            <a:r>
              <a:rPr lang="en-US" sz="3200">
                <a:solidFill>
                  <a:srgbClr val="000080"/>
                </a:solidFill>
                <a:effectLst/>
                <a:latin typeface="Consolas" panose="020B0609020204030204" pitchFamily="49" charset="0"/>
              </a:rPr>
              <a:t>double</a:t>
            </a:r>
            <a:r>
              <a:rPr lang="en-US"/>
              <a:t>, </a:t>
            </a:r>
            <a:r>
              <a:rPr lang="en-US" sz="3200">
                <a:solidFill>
                  <a:srgbClr val="000080"/>
                </a:solidFill>
                <a:effectLst/>
                <a:latin typeface="Consolas" panose="020B0609020204030204" pitchFamily="49" charset="0"/>
              </a:rPr>
              <a:t>int</a:t>
            </a:r>
            <a:endParaRPr lang="en-US">
              <a:solidFill>
                <a:srgbClr val="000080"/>
              </a:solidFill>
              <a:latin typeface="+mj-lt"/>
            </a:endParaRPr>
          </a:p>
        </p:txBody>
      </p:sp>
      <p:sp>
        <p:nvSpPr>
          <p:cNvPr id="3" name="Content Placeholder 2">
            <a:extLst>
              <a:ext uri="{FF2B5EF4-FFF2-40B4-BE49-F238E27FC236}">
                <a16:creationId xmlns:a16="http://schemas.microsoft.com/office/drawing/2014/main" id="{46C6A989-0A9E-6AE8-0C3F-E8CF42C3422D}"/>
              </a:ext>
            </a:extLst>
          </p:cNvPr>
          <p:cNvSpPr>
            <a:spLocks noGrp="1"/>
          </p:cNvSpPr>
          <p:nvPr>
            <p:ph sz="quarter" idx="10"/>
          </p:nvPr>
        </p:nvSpPr>
        <p:spPr/>
        <p:txBody>
          <a:bodyPr/>
          <a:lstStyle/>
          <a:p>
            <a:r>
              <a:rPr lang="en-US"/>
              <a:t>a </a:t>
            </a:r>
            <a:r>
              <a:rPr lang="en-US" sz="1800" b="1" err="1">
                <a:solidFill>
                  <a:srgbClr val="000080"/>
                </a:solidFill>
                <a:effectLst/>
                <a:latin typeface="Consolas" panose="020B0609020204030204" pitchFamily="49" charset="0"/>
              </a:rPr>
              <a:t>boolean</a:t>
            </a:r>
            <a:r>
              <a:rPr lang="en-US"/>
              <a:t> stores a truth value</a:t>
            </a:r>
          </a:p>
          <a:p>
            <a:pPr lvl="1"/>
            <a:r>
              <a:rPr lang="en-US">
                <a:solidFill>
                  <a:srgbClr val="0000FF"/>
                </a:solidFill>
                <a:latin typeface="+mj-lt"/>
              </a:rPr>
              <a:t>true</a:t>
            </a:r>
            <a:r>
              <a:rPr lang="en-US">
                <a:latin typeface="+mj-lt"/>
              </a:rPr>
              <a:t>, </a:t>
            </a:r>
            <a:r>
              <a:rPr lang="en-US">
                <a:solidFill>
                  <a:srgbClr val="0000FF"/>
                </a:solidFill>
                <a:latin typeface="+mj-lt"/>
              </a:rPr>
              <a:t>false</a:t>
            </a:r>
          </a:p>
          <a:p>
            <a:r>
              <a:rPr lang="en-US"/>
              <a:t>a </a:t>
            </a:r>
            <a:r>
              <a:rPr lang="en-US" b="1">
                <a:solidFill>
                  <a:srgbClr val="000080"/>
                </a:solidFill>
                <a:latin typeface="Consolas" panose="020B0609020204030204" pitchFamily="49" charset="0"/>
              </a:rPr>
              <a:t>char</a:t>
            </a:r>
            <a:r>
              <a:rPr lang="en-US"/>
              <a:t> stores a character</a:t>
            </a:r>
          </a:p>
          <a:p>
            <a:pPr lvl="1">
              <a:buClr>
                <a:srgbClr val="FFFFFF">
                  <a:lumMod val="65000"/>
                </a:srgbClr>
              </a:buClr>
            </a:pPr>
            <a:r>
              <a:rPr lang="en-US">
                <a:solidFill>
                  <a:srgbClr val="FF00FF"/>
                </a:solidFill>
                <a:latin typeface="+mj-lt"/>
              </a:rPr>
              <a:t>'\0'</a:t>
            </a:r>
            <a:r>
              <a:rPr lang="en-US">
                <a:solidFill>
                  <a:srgbClr val="000000"/>
                </a:solidFill>
                <a:latin typeface="+mj-lt"/>
              </a:rPr>
              <a:t>,</a:t>
            </a:r>
            <a:r>
              <a:rPr lang="en-US">
                <a:solidFill>
                  <a:srgbClr val="AB9B0D"/>
                </a:solidFill>
                <a:latin typeface="+mj-lt"/>
              </a:rPr>
              <a:t> </a:t>
            </a:r>
            <a:r>
              <a:rPr lang="en-US">
                <a:solidFill>
                  <a:srgbClr val="FF00FF"/>
                </a:solidFill>
                <a:latin typeface="+mj-lt"/>
              </a:rPr>
              <a:t>'a'</a:t>
            </a:r>
            <a:r>
              <a:rPr lang="en-US">
                <a:solidFill>
                  <a:srgbClr val="000000"/>
                </a:solidFill>
                <a:latin typeface="+mj-lt"/>
              </a:rPr>
              <a:t>, </a:t>
            </a:r>
            <a:r>
              <a:rPr lang="en-US">
                <a:solidFill>
                  <a:srgbClr val="FF00FF"/>
                </a:solidFill>
                <a:latin typeface="+mj-lt"/>
              </a:rPr>
              <a:t>'Z'</a:t>
            </a:r>
            <a:r>
              <a:rPr lang="en-US">
                <a:solidFill>
                  <a:srgbClr val="000000"/>
                </a:solidFill>
                <a:latin typeface="+mj-lt"/>
              </a:rPr>
              <a:t>, </a:t>
            </a:r>
            <a:r>
              <a:rPr lang="en-US">
                <a:solidFill>
                  <a:srgbClr val="FF00FF"/>
                </a:solidFill>
                <a:latin typeface="+mj-lt"/>
              </a:rPr>
              <a:t>'!', '\n'</a:t>
            </a:r>
          </a:p>
          <a:p>
            <a:r>
              <a:rPr lang="en-US"/>
              <a:t>a </a:t>
            </a:r>
            <a:r>
              <a:rPr lang="en-US" b="1">
                <a:solidFill>
                  <a:srgbClr val="000080"/>
                </a:solidFill>
                <a:latin typeface="Consolas" panose="020B0609020204030204" pitchFamily="49" charset="0"/>
              </a:rPr>
              <a:t>double</a:t>
            </a:r>
            <a:r>
              <a:rPr lang="en-US"/>
              <a:t> stores a real number</a:t>
            </a:r>
          </a:p>
          <a:p>
            <a:pPr lvl="1"/>
            <a:r>
              <a:rPr lang="en-US">
                <a:solidFill>
                  <a:srgbClr val="02B5B5"/>
                </a:solidFill>
                <a:latin typeface="+mj-lt"/>
              </a:rPr>
              <a:t>0</a:t>
            </a:r>
            <a:r>
              <a:rPr lang="en-US">
                <a:latin typeface="+mj-lt"/>
              </a:rPr>
              <a:t>.</a:t>
            </a:r>
            <a:r>
              <a:rPr lang="en-US">
                <a:solidFill>
                  <a:srgbClr val="02B5B5"/>
                </a:solidFill>
                <a:latin typeface="+mj-lt"/>
              </a:rPr>
              <a:t>0</a:t>
            </a:r>
            <a:r>
              <a:rPr lang="en-US">
                <a:latin typeface="+mj-lt"/>
              </a:rPr>
              <a:t>, -</a:t>
            </a:r>
            <a:r>
              <a:rPr lang="en-US">
                <a:solidFill>
                  <a:srgbClr val="02B5B5"/>
                </a:solidFill>
                <a:latin typeface="+mj-lt"/>
              </a:rPr>
              <a:t>0</a:t>
            </a:r>
            <a:r>
              <a:rPr lang="en-US">
                <a:latin typeface="+mj-lt"/>
              </a:rPr>
              <a:t>.</a:t>
            </a:r>
            <a:r>
              <a:rPr lang="en-US">
                <a:solidFill>
                  <a:srgbClr val="02B5B5"/>
                </a:solidFill>
                <a:latin typeface="+mj-lt"/>
              </a:rPr>
              <a:t>5</a:t>
            </a:r>
            <a:r>
              <a:rPr lang="en-US">
                <a:latin typeface="+mj-lt"/>
              </a:rPr>
              <a:t>, </a:t>
            </a:r>
            <a:r>
              <a:rPr lang="en-US">
                <a:solidFill>
                  <a:srgbClr val="02B5B5"/>
                </a:solidFill>
                <a:latin typeface="+mj-lt"/>
              </a:rPr>
              <a:t>3</a:t>
            </a:r>
            <a:r>
              <a:rPr lang="en-US">
                <a:latin typeface="+mj-lt"/>
              </a:rPr>
              <a:t>.</a:t>
            </a:r>
            <a:r>
              <a:rPr lang="en-US">
                <a:solidFill>
                  <a:srgbClr val="02B5B5"/>
                </a:solidFill>
                <a:latin typeface="+mj-lt"/>
              </a:rPr>
              <a:t>1415926</a:t>
            </a:r>
            <a:r>
              <a:rPr lang="en-US">
                <a:latin typeface="+mj-lt"/>
              </a:rPr>
              <a:t>, </a:t>
            </a:r>
            <a:r>
              <a:rPr lang="en-US" err="1">
                <a:solidFill>
                  <a:srgbClr val="000080"/>
                </a:solidFill>
                <a:latin typeface="+mj-lt"/>
              </a:rPr>
              <a:t>Double</a:t>
            </a:r>
            <a:r>
              <a:rPr lang="en-US" err="1">
                <a:latin typeface="+mj-lt"/>
              </a:rPr>
              <a:t>.</a:t>
            </a:r>
            <a:r>
              <a:rPr lang="en-US" err="1">
                <a:solidFill>
                  <a:srgbClr val="000080"/>
                </a:solidFill>
                <a:latin typeface="+mj-lt"/>
              </a:rPr>
              <a:t>NEGATIVE_INFINITY</a:t>
            </a:r>
            <a:endParaRPr lang="en-US">
              <a:solidFill>
                <a:srgbClr val="000080"/>
              </a:solidFill>
              <a:latin typeface="+mj-lt"/>
            </a:endParaRPr>
          </a:p>
          <a:p>
            <a:r>
              <a:rPr lang="en-US"/>
              <a:t>an </a:t>
            </a:r>
            <a:r>
              <a:rPr lang="en-US" b="1">
                <a:solidFill>
                  <a:srgbClr val="000080"/>
                </a:solidFill>
                <a:latin typeface="Consolas" panose="020B0609020204030204" pitchFamily="49" charset="0"/>
              </a:rPr>
              <a:t>int</a:t>
            </a:r>
            <a:r>
              <a:rPr lang="en-US"/>
              <a:t> stores an integer</a:t>
            </a:r>
          </a:p>
          <a:p>
            <a:pPr lvl="1"/>
            <a:r>
              <a:rPr lang="en-US">
                <a:solidFill>
                  <a:srgbClr val="02B5B5"/>
                </a:solidFill>
                <a:latin typeface="+mj-lt"/>
              </a:rPr>
              <a:t>0</a:t>
            </a:r>
            <a:r>
              <a:rPr lang="en-US">
                <a:latin typeface="+mj-lt"/>
              </a:rPr>
              <a:t>, -</a:t>
            </a:r>
            <a:r>
              <a:rPr lang="en-US">
                <a:solidFill>
                  <a:srgbClr val="02B5B5"/>
                </a:solidFill>
                <a:latin typeface="+mj-lt"/>
              </a:rPr>
              <a:t>1</a:t>
            </a:r>
            <a:r>
              <a:rPr lang="en-US">
                <a:latin typeface="+mj-lt"/>
              </a:rPr>
              <a:t>, </a:t>
            </a:r>
            <a:r>
              <a:rPr lang="en-US">
                <a:solidFill>
                  <a:srgbClr val="02B5B5"/>
                </a:solidFill>
                <a:latin typeface="+mj-lt"/>
              </a:rPr>
              <a:t>4</a:t>
            </a:r>
          </a:p>
        </p:txBody>
      </p:sp>
    </p:spTree>
    <p:extLst>
      <p:ext uri="{BB962C8B-B14F-4D97-AF65-F5344CB8AC3E}">
        <p14:creationId xmlns:p14="http://schemas.microsoft.com/office/powerpoint/2010/main" val="621043859"/>
      </p:ext>
    </p:extLst>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7EF26-4BCC-F52F-5C55-2DF2E4EBCD3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6C5124B-7793-E8F0-7D45-0C35BE549F0A}"/>
              </a:ext>
            </a:extLst>
          </p:cNvPr>
          <p:cNvSpPr>
            <a:spLocks noGrp="1"/>
          </p:cNvSpPr>
          <p:nvPr>
            <p:ph type="title"/>
          </p:nvPr>
        </p:nvSpPr>
        <p:spPr/>
        <p:txBody>
          <a:bodyPr/>
          <a:lstStyle/>
          <a:p>
            <a:r>
              <a:rPr lang="en-US"/>
              <a:t>primitives</a:t>
            </a:r>
          </a:p>
        </p:txBody>
      </p:sp>
      <p:sp>
        <p:nvSpPr>
          <p:cNvPr id="5" name="Content Placeholder 4">
            <a:extLst>
              <a:ext uri="{FF2B5EF4-FFF2-40B4-BE49-F238E27FC236}">
                <a16:creationId xmlns:a16="http://schemas.microsoft.com/office/drawing/2014/main" id="{4F0F2E61-6C5E-0728-BB58-06252989767C}"/>
              </a:ext>
            </a:extLst>
          </p:cNvPr>
          <p:cNvSpPr>
            <a:spLocks noGrp="1"/>
          </p:cNvSpPr>
          <p:nvPr>
            <p:ph sz="quarter" idx="10"/>
          </p:nvPr>
        </p:nvSpPr>
        <p:spPr/>
        <p:txBody>
          <a:bodyPr/>
          <a:lstStyle/>
          <a:p>
            <a:r>
              <a:rPr lang="en-US"/>
              <a:t>some examples of primitives</a:t>
            </a:r>
          </a:p>
          <a:p>
            <a:pPr lvl="1"/>
            <a:r>
              <a:rPr lang="en-US">
                <a:solidFill>
                  <a:srgbClr val="000080"/>
                </a:solidFill>
                <a:latin typeface="+mj-lt"/>
              </a:rPr>
              <a:t>int</a:t>
            </a:r>
            <a:r>
              <a:rPr lang="en-US">
                <a:latin typeface="+mj-lt"/>
              </a:rPr>
              <a:t> a;     </a:t>
            </a:r>
            <a:r>
              <a:rPr lang="en-US">
                <a:solidFill>
                  <a:srgbClr val="007B00"/>
                </a:solidFill>
                <a:latin typeface="+mj-lt"/>
              </a:rPr>
              <a:t>// a is an int</a:t>
            </a:r>
          </a:p>
          <a:p>
            <a:pPr lvl="1"/>
            <a:r>
              <a:rPr lang="en-US">
                <a:solidFill>
                  <a:srgbClr val="000080"/>
                </a:solidFill>
                <a:latin typeface="+mj-lt"/>
              </a:rPr>
              <a:t>boolean</a:t>
            </a:r>
            <a:r>
              <a:rPr lang="en-US">
                <a:latin typeface="+mj-lt"/>
              </a:rPr>
              <a:t> b; </a:t>
            </a:r>
            <a:r>
              <a:rPr lang="en-US">
                <a:solidFill>
                  <a:srgbClr val="007B00"/>
                </a:solidFill>
                <a:latin typeface="+mj-lt"/>
              </a:rPr>
              <a:t>// b is a boolean</a:t>
            </a:r>
          </a:p>
          <a:p>
            <a:pPr lvl="1"/>
            <a:r>
              <a:rPr lang="en-US">
                <a:solidFill>
                  <a:srgbClr val="000080"/>
                </a:solidFill>
                <a:latin typeface="+mj-lt"/>
              </a:rPr>
              <a:t>char</a:t>
            </a:r>
            <a:r>
              <a:rPr lang="en-US">
                <a:latin typeface="+mj-lt"/>
              </a:rPr>
              <a:t> c;    </a:t>
            </a:r>
            <a:r>
              <a:rPr lang="en-US">
                <a:solidFill>
                  <a:srgbClr val="007B00"/>
                </a:solidFill>
                <a:latin typeface="+mj-lt"/>
              </a:rPr>
              <a:t>// c is a char</a:t>
            </a:r>
            <a:endParaRPr lang="en-US">
              <a:solidFill>
                <a:srgbClr val="007B00"/>
              </a:solidFill>
            </a:endParaRPr>
          </a:p>
        </p:txBody>
      </p:sp>
    </p:spTree>
    <p:extLst>
      <p:ext uri="{BB962C8B-B14F-4D97-AF65-F5344CB8AC3E}">
        <p14:creationId xmlns:p14="http://schemas.microsoft.com/office/powerpoint/2010/main" val="3149601079"/>
      </p:ext>
    </p:extLst>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C78B2-5C22-FAF7-3ECB-5C875623591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45B4B46-3836-F271-DFDA-01520655758C}"/>
              </a:ext>
            </a:extLst>
          </p:cNvPr>
          <p:cNvSpPr>
            <a:spLocks noGrp="1"/>
          </p:cNvSpPr>
          <p:nvPr>
            <p:ph type="title"/>
          </p:nvPr>
        </p:nvSpPr>
        <p:spPr/>
        <p:txBody>
          <a:bodyPr/>
          <a:lstStyle/>
          <a:p>
            <a:r>
              <a:rPr lang="en-US"/>
              <a:t>references to Objects</a:t>
            </a:r>
          </a:p>
        </p:txBody>
      </p:sp>
    </p:spTree>
    <p:extLst>
      <p:ext uri="{BB962C8B-B14F-4D97-AF65-F5344CB8AC3E}">
        <p14:creationId xmlns:p14="http://schemas.microsoft.com/office/powerpoint/2010/main" val="326718446"/>
      </p:ext>
    </p:extLst>
  </p:cSld>
  <p:clrMapOvr>
    <a:masterClrMapping/>
  </p:clrMapOvr>
</p:sld>
</file>

<file path=ppt/slides/slide4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C651A-5016-A260-0DB1-37DAE87FF24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5DD5E8B-DDE8-481E-E4DA-5EAA58EF87F0}"/>
              </a:ext>
            </a:extLst>
          </p:cNvPr>
          <p:cNvSpPr>
            <a:spLocks noGrp="1"/>
          </p:cNvSpPr>
          <p:nvPr>
            <p:ph type="title"/>
          </p:nvPr>
        </p:nvSpPr>
        <p:spPr/>
        <p:txBody>
          <a:bodyPr/>
          <a:lstStyle/>
          <a:p>
            <a:r>
              <a:rPr lang="en-US"/>
              <a:t>references (1/2)</a:t>
            </a:r>
          </a:p>
        </p:txBody>
      </p:sp>
      <p:sp>
        <p:nvSpPr>
          <p:cNvPr id="5" name="Content Placeholder 4">
            <a:extLst>
              <a:ext uri="{FF2B5EF4-FFF2-40B4-BE49-F238E27FC236}">
                <a16:creationId xmlns:a16="http://schemas.microsoft.com/office/drawing/2014/main" id="{05F801CC-2F54-D8F1-27A1-7B6C687A05DB}"/>
              </a:ext>
            </a:extLst>
          </p:cNvPr>
          <p:cNvSpPr>
            <a:spLocks noGrp="1"/>
          </p:cNvSpPr>
          <p:nvPr>
            <p:ph sz="quarter" idx="10"/>
          </p:nvPr>
        </p:nvSpPr>
        <p:spPr/>
        <p:txBody>
          <a:bodyPr/>
          <a:lstStyle/>
          <a:p>
            <a:r>
              <a:rPr lang="en-US"/>
              <a:t>we interact with Object's through </a:t>
            </a:r>
            <a:r>
              <a:rPr lang="en-US" b="1"/>
              <a:t>references</a:t>
            </a:r>
            <a:endParaRPr lang="en-US"/>
          </a:p>
          <a:p>
            <a:pPr lvl="1"/>
            <a:r>
              <a:rPr lang="en-US">
                <a:solidFill>
                  <a:srgbClr val="000080"/>
                </a:solidFill>
                <a:latin typeface="+mj-lt"/>
              </a:rPr>
              <a:t>String</a:t>
            </a:r>
            <a:r>
              <a:rPr lang="en-US">
                <a:latin typeface="+mj-lt"/>
              </a:rPr>
              <a:t> string; </a:t>
            </a:r>
            <a:r>
              <a:rPr lang="en-US">
                <a:solidFill>
                  <a:srgbClr val="007B00"/>
                </a:solidFill>
                <a:latin typeface="+mj-lt"/>
              </a:rPr>
              <a:t>// string is a reference to a String object</a:t>
            </a:r>
          </a:p>
          <a:p>
            <a:pPr lvl="1"/>
            <a:r>
              <a:rPr lang="en-US">
                <a:solidFill>
                  <a:srgbClr val="000080"/>
                </a:solidFill>
                <a:latin typeface="+mj-lt"/>
              </a:rPr>
              <a:t>Color</a:t>
            </a:r>
            <a:r>
              <a:rPr lang="en-US">
                <a:latin typeface="+mj-lt"/>
              </a:rPr>
              <a:t> color;   </a:t>
            </a:r>
            <a:r>
              <a:rPr lang="en-US">
                <a:solidFill>
                  <a:srgbClr val="007B00"/>
                </a:solidFill>
                <a:latin typeface="+mj-lt"/>
              </a:rPr>
              <a:t>// color is a reference to a Color object</a:t>
            </a:r>
          </a:p>
          <a:p>
            <a:pPr lvl="1"/>
            <a:r>
              <a:rPr lang="en-US">
                <a:solidFill>
                  <a:srgbClr val="000080"/>
                </a:solidFill>
                <a:latin typeface="+mj-lt"/>
              </a:rPr>
              <a:t>int</a:t>
            </a:r>
            <a:r>
              <a:rPr lang="en-US">
                <a:latin typeface="+mj-lt"/>
              </a:rPr>
              <a:t>[] array;   </a:t>
            </a:r>
            <a:r>
              <a:rPr lang="en-US">
                <a:solidFill>
                  <a:srgbClr val="007B00"/>
                </a:solidFill>
                <a:latin typeface="+mj-lt"/>
              </a:rPr>
              <a:t>// array is a reference to an int array</a:t>
            </a:r>
          </a:p>
        </p:txBody>
      </p:sp>
    </p:spTree>
    <p:extLst>
      <p:ext uri="{BB962C8B-B14F-4D97-AF65-F5344CB8AC3E}">
        <p14:creationId xmlns:p14="http://schemas.microsoft.com/office/powerpoint/2010/main" val="3830294039"/>
      </p:ext>
    </p:extLst>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6ABEE-D286-0962-FD2D-82F9D19D4B5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3127D4-D0B7-A040-4EFB-16E276C64E1F}"/>
              </a:ext>
            </a:extLst>
          </p:cNvPr>
          <p:cNvSpPr>
            <a:spLocks noGrp="1"/>
          </p:cNvSpPr>
          <p:nvPr>
            <p:ph type="title"/>
          </p:nvPr>
        </p:nvSpPr>
        <p:spPr/>
        <p:txBody>
          <a:bodyPr/>
          <a:lstStyle/>
          <a:p>
            <a:r>
              <a:rPr lang="en-US"/>
              <a:t>references (2/2)</a:t>
            </a:r>
          </a:p>
        </p:txBody>
      </p:sp>
      <p:sp>
        <p:nvSpPr>
          <p:cNvPr id="4" name="Content Placeholder 3">
            <a:extLst>
              <a:ext uri="{FF2B5EF4-FFF2-40B4-BE49-F238E27FC236}">
                <a16:creationId xmlns:a16="http://schemas.microsoft.com/office/drawing/2014/main" id="{878B81F1-9795-7184-0ECC-E32D38EC83AB}"/>
              </a:ext>
            </a:extLst>
          </p:cNvPr>
          <p:cNvSpPr>
            <a:spLocks noGrp="1"/>
          </p:cNvSpPr>
          <p:nvPr>
            <p:ph sz="quarter" idx="10"/>
          </p:nvPr>
        </p:nvSpPr>
        <p:spPr>
          <a:xfrm>
            <a:off x="457200" y="963337"/>
            <a:ext cx="8686800" cy="4080271"/>
          </a:xfrm>
        </p:spPr>
        <p:txBody>
          <a:bodyPr/>
          <a:lstStyle/>
          <a:p>
            <a:r>
              <a:rPr lang="en-US"/>
              <a:t>a </a:t>
            </a:r>
            <a:r>
              <a:rPr lang="en-US" b="1"/>
              <a:t>reference</a:t>
            </a:r>
            <a:r>
              <a:rPr lang="en-US"/>
              <a:t> is a memory address ("where the object lives in memory")</a:t>
            </a:r>
          </a:p>
          <a:p>
            <a:pPr lvl="1"/>
            <a:r>
              <a:rPr lang="en-US"/>
              <a:t>a </a:t>
            </a:r>
            <a:r>
              <a:rPr lang="en-US" b="1"/>
              <a:t>memory address </a:t>
            </a:r>
            <a:r>
              <a:rPr lang="en-US"/>
              <a:t>is an </a:t>
            </a:r>
            <a:r>
              <a:rPr lang="en-US" b="1"/>
              <a:t>integer</a:t>
            </a:r>
            <a:r>
              <a:rPr lang="en-US"/>
              <a:t> </a:t>
            </a:r>
          </a:p>
          <a:p>
            <a:pPr lvl="1"/>
            <a:r>
              <a:rPr lang="en-US"/>
              <a:t>a memory address is often written in </a:t>
            </a:r>
            <a:r>
              <a:rPr lang="en-US" b="1"/>
              <a:t>hexadecimal</a:t>
            </a:r>
            <a:br>
              <a:rPr lang="en-US"/>
            </a:br>
            <a:r>
              <a:rPr lang="en-US"/>
              <a:t>												(</a:t>
            </a:r>
            <a:r>
              <a:rPr lang="en-US" b="1"/>
              <a:t>hex, base-16</a:t>
            </a:r>
            <a:r>
              <a:rPr lang="en-US"/>
              <a:t>, 0...9A...F)</a:t>
            </a:r>
          </a:p>
          <a:p>
            <a:pPr marL="342886" lvl="1" indent="0">
              <a:buNone/>
            </a:pPr>
            <a:endParaRPr lang="en-US">
              <a:solidFill>
                <a:srgbClr val="000080"/>
              </a:solidFill>
              <a:latin typeface="+mj-lt"/>
            </a:endParaRPr>
          </a:p>
          <a:p>
            <a:r>
              <a:rPr lang="en-US">
                <a:solidFill>
                  <a:srgbClr val="000080"/>
                </a:solidFill>
                <a:latin typeface="+mj-lt"/>
              </a:rPr>
              <a:t>Thing </a:t>
            </a:r>
            <a:r>
              <a:rPr lang="en-US">
                <a:latin typeface="+mj-lt"/>
              </a:rPr>
              <a:t>a = </a:t>
            </a:r>
            <a:r>
              <a:rPr lang="en-US">
                <a:solidFill>
                  <a:srgbClr val="0000FF"/>
                </a:solidFill>
                <a:latin typeface="+mj-lt"/>
              </a:rPr>
              <a:t>new </a:t>
            </a:r>
            <a:r>
              <a:rPr lang="en-US">
                <a:solidFill>
                  <a:srgbClr val="00007F"/>
                </a:solidFill>
                <a:latin typeface="+mj-lt"/>
              </a:rPr>
              <a:t>Thing</a:t>
            </a:r>
            <a:r>
              <a:rPr lang="en-US">
                <a:latin typeface="+mj-lt"/>
              </a:rPr>
              <a:t>(); </a:t>
            </a:r>
          </a:p>
          <a:p>
            <a:r>
              <a:rPr lang="en-US">
                <a:solidFill>
                  <a:srgbClr val="007B00"/>
                </a:solidFill>
                <a:latin typeface="Consolas" panose="020B0609020204030204" pitchFamily="49" charset="0"/>
                <a:cs typeface="Consolas" panose="020B0609020204030204" pitchFamily="49" charset="0"/>
              </a:rPr>
              <a:t>//    ^ refers to a Thing object at memory address </a:t>
            </a:r>
            <a:r>
              <a:rPr lang="en-US">
                <a:solidFill>
                  <a:srgbClr val="007B00"/>
                </a:solidFill>
                <a:effectLst/>
                <a:latin typeface="Consolas" panose="020B0609020204030204" pitchFamily="49" charset="0"/>
                <a:cs typeface="Consolas" panose="020B0609020204030204" pitchFamily="49" charset="0"/>
              </a:rPr>
              <a:t>0x70f806418</a:t>
            </a:r>
          </a:p>
          <a:p>
            <a:endParaRPr lang="en-US">
              <a:solidFill>
                <a:srgbClr val="000080"/>
              </a:solidFill>
              <a:latin typeface="+mj-lt"/>
            </a:endParaRPr>
          </a:p>
        </p:txBody>
      </p:sp>
    </p:spTree>
    <p:extLst>
      <p:ext uri="{BB962C8B-B14F-4D97-AF65-F5344CB8AC3E}">
        <p14:creationId xmlns:p14="http://schemas.microsoft.com/office/powerpoint/2010/main" val="872333423"/>
      </p:ext>
    </p:extLst>
  </p:cSld>
  <p:clrMapOvr>
    <a:masterClrMapping/>
  </p:clrMapOvr>
</p:sld>
</file>

<file path=ppt/slides/slide4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011BC-9EA3-8217-1342-47EF05322CF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60D2ADB-77D7-445A-F9DA-7BCE1BA2E9A9}"/>
              </a:ext>
            </a:extLst>
          </p:cNvPr>
          <p:cNvSpPr>
            <a:spLocks noGrp="1"/>
          </p:cNvSpPr>
          <p:nvPr>
            <p:ph type="title"/>
          </p:nvPr>
        </p:nvSpPr>
        <p:spPr/>
        <p:txBody>
          <a:bodyPr/>
          <a:lstStyle/>
          <a:p>
            <a:r>
              <a:rPr lang="en-US"/>
              <a:t>null</a:t>
            </a:r>
          </a:p>
        </p:txBody>
      </p:sp>
    </p:spTree>
    <p:extLst>
      <p:ext uri="{BB962C8B-B14F-4D97-AF65-F5344CB8AC3E}">
        <p14:creationId xmlns:p14="http://schemas.microsoft.com/office/powerpoint/2010/main" val="1329929878"/>
      </p:ext>
    </p:extLst>
  </p:cSld>
  <p:clrMapOvr>
    <a:masterClrMapping/>
  </p:clrMapOvr>
</p:sld>
</file>

<file path=ppt/slides/slide4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AA6CB-9304-6120-32AD-AB1C7823817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166397E-B754-5653-E41D-4F5C2A9DB8B4}"/>
              </a:ext>
            </a:extLst>
          </p:cNvPr>
          <p:cNvSpPr>
            <a:spLocks noGrp="1"/>
          </p:cNvSpPr>
          <p:nvPr>
            <p:ph type="title"/>
          </p:nvPr>
        </p:nvSpPr>
        <p:spPr/>
        <p:txBody>
          <a:bodyPr/>
          <a:lstStyle/>
          <a:p>
            <a:r>
              <a:rPr lang="en-US"/>
              <a:t>null (1/2)</a:t>
            </a:r>
          </a:p>
        </p:txBody>
      </p:sp>
      <p:sp>
        <p:nvSpPr>
          <p:cNvPr id="4" name="Content Placeholder 3">
            <a:extLst>
              <a:ext uri="{FF2B5EF4-FFF2-40B4-BE49-F238E27FC236}">
                <a16:creationId xmlns:a16="http://schemas.microsoft.com/office/drawing/2014/main" id="{217E3604-F08E-C1B5-BC3D-A66A1D188335}"/>
              </a:ext>
            </a:extLst>
          </p:cNvPr>
          <p:cNvSpPr>
            <a:spLocks noGrp="1"/>
          </p:cNvSpPr>
          <p:nvPr>
            <p:ph sz="quarter" idx="10"/>
          </p:nvPr>
        </p:nvSpPr>
        <p:spPr/>
        <p:txBody>
          <a:bodyPr/>
          <a:lstStyle/>
          <a:p>
            <a:r>
              <a:rPr lang="en-US"/>
              <a:t>a </a:t>
            </a:r>
            <a:r>
              <a:rPr lang="en-US" b="1"/>
              <a:t>null</a:t>
            </a:r>
            <a:r>
              <a:rPr lang="en-US"/>
              <a:t> reference refers to nothing</a:t>
            </a:r>
            <a:endParaRPr lang="en-US">
              <a:solidFill>
                <a:srgbClr val="007B00"/>
              </a:solidFill>
              <a:latin typeface="+mj-lt"/>
            </a:endParaRPr>
          </a:p>
          <a:p>
            <a:r>
              <a:rPr lang="en-US"/>
              <a:t>the actual memory address referred to by null is zero (0x00... in hex)</a:t>
            </a:r>
          </a:p>
          <a:p>
            <a:endParaRPr lang="en-US"/>
          </a:p>
          <a:p>
            <a:r>
              <a:rPr lang="en-US">
                <a:solidFill>
                  <a:srgbClr val="000080"/>
                </a:solidFill>
                <a:latin typeface="+mj-lt"/>
              </a:rPr>
              <a:t>Thing </a:t>
            </a:r>
            <a:r>
              <a:rPr lang="en-US">
                <a:latin typeface="+mj-lt"/>
              </a:rPr>
              <a:t>b = </a:t>
            </a:r>
            <a:r>
              <a:rPr lang="en-US">
                <a:solidFill>
                  <a:srgbClr val="0000FF"/>
                </a:solidFill>
                <a:latin typeface="+mj-lt"/>
              </a:rPr>
              <a:t>null</a:t>
            </a:r>
            <a:r>
              <a:rPr lang="en-US">
                <a:latin typeface="+mj-lt"/>
              </a:rPr>
              <a:t>; </a:t>
            </a:r>
          </a:p>
          <a:p>
            <a:r>
              <a:rPr lang="en-US">
                <a:solidFill>
                  <a:srgbClr val="007B00"/>
                </a:solidFill>
                <a:latin typeface="Consolas" panose="020B0609020204030204" pitchFamily="49" charset="0"/>
                <a:cs typeface="Consolas" panose="020B0609020204030204" pitchFamily="49" charset="0"/>
              </a:rPr>
              <a:t>//    ^ refers to nothing (memory address </a:t>
            </a:r>
            <a:r>
              <a:rPr lang="en-US">
                <a:solidFill>
                  <a:srgbClr val="007B00"/>
                </a:solidFill>
                <a:effectLst/>
                <a:latin typeface="Consolas" panose="020B0609020204030204" pitchFamily="49" charset="0"/>
                <a:cs typeface="Consolas" panose="020B0609020204030204" pitchFamily="49" charset="0"/>
              </a:rPr>
              <a:t>0x000000000)</a:t>
            </a:r>
          </a:p>
        </p:txBody>
      </p:sp>
    </p:spTree>
    <p:extLst>
      <p:ext uri="{BB962C8B-B14F-4D97-AF65-F5344CB8AC3E}">
        <p14:creationId xmlns:p14="http://schemas.microsoft.com/office/powerpoint/2010/main" val="2687396398"/>
      </p:ext>
    </p:extLst>
  </p:cSld>
  <p:clrMapOvr>
    <a:masterClrMapping/>
  </p:clrMapOvr>
</p:sld>
</file>

<file path=ppt/slides/slide4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7731F-92B3-1218-5313-7FFE5D4A792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FFEC3EA-93E1-4EA1-246C-1B6ED5F66074}"/>
              </a:ext>
            </a:extLst>
          </p:cNvPr>
          <p:cNvSpPr>
            <a:spLocks noGrp="1"/>
          </p:cNvSpPr>
          <p:nvPr>
            <p:ph type="title"/>
          </p:nvPr>
        </p:nvSpPr>
        <p:spPr/>
        <p:txBody>
          <a:bodyPr/>
          <a:lstStyle/>
          <a:p>
            <a:r>
              <a:rPr lang="en-US"/>
              <a:t>null (2/2)</a:t>
            </a:r>
          </a:p>
        </p:txBody>
      </p:sp>
      <p:sp>
        <p:nvSpPr>
          <p:cNvPr id="4" name="Content Placeholder 3">
            <a:extLst>
              <a:ext uri="{FF2B5EF4-FFF2-40B4-BE49-F238E27FC236}">
                <a16:creationId xmlns:a16="http://schemas.microsoft.com/office/drawing/2014/main" id="{DE4B49A4-1591-5158-A735-7788C14B44A4}"/>
              </a:ext>
            </a:extLst>
          </p:cNvPr>
          <p:cNvSpPr>
            <a:spLocks noGrp="1"/>
          </p:cNvSpPr>
          <p:nvPr>
            <p:ph sz="quarter" idx="10"/>
          </p:nvPr>
        </p:nvSpPr>
        <p:spPr>
          <a:xfrm>
            <a:off x="457200" y="963337"/>
            <a:ext cx="8686800" cy="4080271"/>
          </a:xfrm>
        </p:spPr>
        <p:txBody>
          <a:bodyPr/>
          <a:lstStyle/>
          <a:p>
            <a:r>
              <a:rPr lang="en-US">
                <a:solidFill>
                  <a:srgbClr val="000080"/>
                </a:solidFill>
                <a:latin typeface="+mj-lt"/>
              </a:rPr>
              <a:t>Thing[] </a:t>
            </a:r>
            <a:r>
              <a:rPr lang="en-US">
                <a:latin typeface="+mj-lt"/>
              </a:rPr>
              <a:t>pool = </a:t>
            </a:r>
            <a:r>
              <a:rPr lang="en-US">
                <a:solidFill>
                  <a:srgbClr val="0000FF"/>
                </a:solidFill>
                <a:latin typeface="+mj-lt"/>
              </a:rPr>
              <a:t>new </a:t>
            </a:r>
            <a:r>
              <a:rPr lang="en-US">
                <a:solidFill>
                  <a:srgbClr val="000080"/>
                </a:solidFill>
                <a:latin typeface="+mj-lt"/>
              </a:rPr>
              <a:t>Thing</a:t>
            </a:r>
            <a:r>
              <a:rPr lang="en-US">
                <a:latin typeface="+mj-lt"/>
              </a:rPr>
              <a:t>[</a:t>
            </a:r>
            <a:r>
              <a:rPr lang="en-US" sz="1800">
                <a:solidFill>
                  <a:srgbClr val="09B5B6"/>
                </a:solidFill>
                <a:latin typeface="+mj-lt"/>
              </a:rPr>
              <a:t>7</a:t>
            </a:r>
            <a:r>
              <a:rPr lang="en-US">
                <a:latin typeface="+mj-lt"/>
              </a:rPr>
              <a:t>]; </a:t>
            </a:r>
          </a:p>
          <a:p>
            <a:r>
              <a:rPr lang="en-US">
                <a:solidFill>
                  <a:srgbClr val="007B00"/>
                </a:solidFill>
                <a:latin typeface="Consolas" panose="020B0609020204030204" pitchFamily="49" charset="0"/>
                <a:cs typeface="Consolas" panose="020B0609020204030204" pitchFamily="49" charset="0"/>
              </a:rPr>
              <a:t>//    ^ refers to a Thing[] object at memory address </a:t>
            </a:r>
            <a:r>
              <a:rPr lang="en-US">
                <a:solidFill>
                  <a:srgbClr val="007B00"/>
                </a:solidFill>
                <a:effectLst/>
                <a:latin typeface="Consolas" panose="020B0609020204030204" pitchFamily="49" charset="0"/>
                <a:cs typeface="Consolas" panose="020B0609020204030204" pitchFamily="49" charset="0"/>
              </a:rPr>
              <a:t>0x7</a:t>
            </a:r>
          </a:p>
          <a:p>
            <a:r>
              <a:rPr lang="en-US">
                <a:solidFill>
                  <a:srgbClr val="007B00"/>
                </a:solidFill>
                <a:effectLst/>
                <a:latin typeface="Consolas" panose="020B0609020204030204" pitchFamily="49" charset="0"/>
                <a:cs typeface="Consolas" panose="020B0609020204030204" pitchFamily="49" charset="0"/>
              </a:rPr>
              <a:t>//</a:t>
            </a:r>
          </a:p>
          <a:p>
            <a:r>
              <a:rPr lang="en-US">
                <a:solidFill>
                  <a:srgbClr val="007B00"/>
                </a:solidFill>
                <a:latin typeface="Consolas" panose="020B0609020204030204" pitchFamily="49" charset="0"/>
                <a:cs typeface="Consolas" panose="020B0609020204030204" pitchFamily="49" charset="0"/>
              </a:rPr>
              <a:t>// </a:t>
            </a:r>
            <a:r>
              <a:rPr lang="en-US" b="1">
                <a:solidFill>
                  <a:srgbClr val="007B00"/>
                </a:solidFill>
                <a:latin typeface="Consolas" panose="020B0609020204030204" pitchFamily="49" charset="0"/>
                <a:cs typeface="Consolas" panose="020B0609020204030204" pitchFamily="49" charset="0"/>
              </a:rPr>
              <a:t>NOTE:</a:t>
            </a:r>
            <a:r>
              <a:rPr lang="en-US">
                <a:solidFill>
                  <a:srgbClr val="007B00"/>
                </a:solidFill>
                <a:latin typeface="Consolas" panose="020B0609020204030204" pitchFamily="49" charset="0"/>
                <a:cs typeface="Consolas" panose="020B0609020204030204" pitchFamily="49" charset="0"/>
              </a:rPr>
              <a:t> the Thing array referred to by pool has 7 entries,</a:t>
            </a:r>
          </a:p>
          <a:p>
            <a:r>
              <a:rPr lang="en-US">
                <a:solidFill>
                  <a:srgbClr val="007B00"/>
                </a:solidFill>
                <a:latin typeface="Consolas" panose="020B0609020204030204" pitchFamily="49" charset="0"/>
                <a:cs typeface="Consolas" panose="020B0609020204030204" pitchFamily="49" charset="0"/>
              </a:rPr>
              <a:t>// all zero-initialized (null; memory address </a:t>
            </a:r>
            <a:r>
              <a:rPr lang="en-US">
                <a:solidFill>
                  <a:srgbClr val="007B00"/>
                </a:solidFill>
                <a:effectLst/>
                <a:latin typeface="Consolas" panose="020B0609020204030204" pitchFamily="49" charset="0"/>
                <a:cs typeface="Consolas" panose="020B0609020204030204" pitchFamily="49" charset="0"/>
              </a:rPr>
              <a:t>0x0)</a:t>
            </a:r>
          </a:p>
          <a:p>
            <a:endParaRPr lang="en-US">
              <a:solidFill>
                <a:srgbClr val="007B00"/>
              </a:solidFill>
              <a:latin typeface="Consolas" panose="020B0609020204030204" pitchFamily="49" charset="0"/>
              <a:cs typeface="Consolas" panose="020B0609020204030204" pitchFamily="49" charset="0"/>
            </a:endParaRPr>
          </a:p>
          <a:p>
            <a:r>
              <a:rPr lang="en-US">
                <a:latin typeface="+mj-lt"/>
              </a:rPr>
              <a:t>pool[0] = </a:t>
            </a:r>
            <a:r>
              <a:rPr lang="en-US">
                <a:solidFill>
                  <a:srgbClr val="0000FF"/>
                </a:solidFill>
                <a:latin typeface="+mj-lt"/>
              </a:rPr>
              <a:t>new </a:t>
            </a:r>
            <a:r>
              <a:rPr lang="en-US">
                <a:solidFill>
                  <a:srgbClr val="000080"/>
                </a:solidFill>
                <a:latin typeface="+mj-lt"/>
              </a:rPr>
              <a:t>Thing</a:t>
            </a:r>
            <a:r>
              <a:rPr lang="en-US">
                <a:latin typeface="+mj-lt"/>
              </a:rPr>
              <a:t>(); </a:t>
            </a:r>
            <a:endParaRPr lang="en-US">
              <a:solidFill>
                <a:srgbClr val="007B00"/>
              </a:solidFill>
              <a:latin typeface="Consolas" panose="020B0609020204030204" pitchFamily="49" charset="0"/>
              <a:cs typeface="Consolas" panose="020B0609020204030204" pitchFamily="49" charset="0"/>
            </a:endParaRPr>
          </a:p>
          <a:p>
            <a:r>
              <a:rPr lang="en-US">
                <a:solidFill>
                  <a:srgbClr val="007B00"/>
                </a:solidFill>
                <a:latin typeface="Consolas" panose="020B0609020204030204" pitchFamily="49" charset="0"/>
                <a:cs typeface="Consolas" panose="020B0609020204030204" pitchFamily="49" charset="0"/>
              </a:rPr>
              <a:t>// pool[0] now refers to a Thing object at memory address </a:t>
            </a:r>
            <a:br>
              <a:rPr lang="en-US">
                <a:solidFill>
                  <a:srgbClr val="007B00"/>
                </a:solidFill>
                <a:latin typeface="Consolas" panose="020B0609020204030204" pitchFamily="49" charset="0"/>
                <a:cs typeface="Consolas" panose="020B0609020204030204" pitchFamily="49" charset="0"/>
              </a:rPr>
            </a:br>
            <a:r>
              <a:rPr lang="en-US">
                <a:solidFill>
                  <a:srgbClr val="007B00"/>
                </a:solidFill>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0x8</a:t>
            </a:r>
          </a:p>
          <a:p>
            <a:endParaRPr lang="en-US">
              <a:solidFill>
                <a:srgbClr val="007B00"/>
              </a:solidFill>
              <a:latin typeface="Consolas" panose="020B0609020204030204" pitchFamily="49" charset="0"/>
              <a:cs typeface="Consolas" panose="020B0609020204030204" pitchFamily="49" charset="0"/>
            </a:endParaRPr>
          </a:p>
          <a:p>
            <a:endParaRPr lang="en-US">
              <a:solidFill>
                <a:srgbClr val="007B00"/>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390924847"/>
      </p:ext>
    </p:extLst>
  </p:cSld>
  <p:clrMapOvr>
    <a:masterClrMapping/>
  </p:clrMapOvr>
</p:sld>
</file>

<file path=ppt/slides/slide4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0516D-581F-B7E7-2920-D9D9023337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B1BA38-E41E-33FE-62F6-AE8D64D4D4E8}"/>
              </a:ext>
            </a:extLst>
          </p:cNvPr>
          <p:cNvSpPr>
            <a:spLocks noGrp="1"/>
          </p:cNvSpPr>
          <p:nvPr>
            <p:ph type="title"/>
          </p:nvPr>
        </p:nvSpPr>
        <p:spPr/>
        <p:txBody>
          <a:bodyPr/>
          <a:lstStyle/>
          <a:p>
            <a:r>
              <a:rPr lang="en-US" sz="6000"/>
              <a:t>the stack and the heap</a:t>
            </a:r>
            <a:br>
              <a:rPr lang="en-US" sz="6000"/>
            </a:br>
            <a:r>
              <a:rPr lang="en-US" sz="1800"/>
              <a:t>(where stuff lives)</a:t>
            </a:r>
            <a:endParaRPr lang="en-US" sz="6000"/>
          </a:p>
        </p:txBody>
      </p:sp>
    </p:spTree>
    <p:extLst>
      <p:ext uri="{BB962C8B-B14F-4D97-AF65-F5344CB8AC3E}">
        <p14:creationId xmlns:p14="http://schemas.microsoft.com/office/powerpoint/2010/main" val="2789194965"/>
      </p:ext>
    </p:extLst>
  </p:cSld>
  <p:clrMapOvr>
    <a:masterClrMapping/>
  </p:clrMapOvr>
</p:sld>
</file>

<file path=ppt/slides/slide4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556353-6192-C45F-9B33-BC3F0253F9FC}"/>
              </a:ext>
            </a:extLst>
          </p:cNvPr>
          <p:cNvSpPr>
            <a:spLocks noGrp="1"/>
          </p:cNvSpPr>
          <p:nvPr>
            <p:ph type="title"/>
          </p:nvPr>
        </p:nvSpPr>
        <p:spPr/>
        <p:txBody>
          <a:bodyPr/>
          <a:lstStyle/>
          <a:p>
            <a:r>
              <a:rPr lang="en-US"/>
              <a:t>overview</a:t>
            </a:r>
          </a:p>
        </p:txBody>
      </p:sp>
    </p:spTree>
    <p:extLst>
      <p:ext uri="{BB962C8B-B14F-4D97-AF65-F5344CB8AC3E}">
        <p14:creationId xmlns:p14="http://schemas.microsoft.com/office/powerpoint/2010/main" val="3953295065"/>
      </p:ext>
    </p:extLst>
  </p:cSld>
  <p:clrMapOvr>
    <a:masterClrMapping/>
  </p:clrMapOvr>
</p:sld>
</file>

<file path=ppt/slides/slide4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94565-33B7-8F58-37B6-1B047ABD3C8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68B200C-8EB8-426C-EA66-97E1B43797C9}"/>
              </a:ext>
            </a:extLst>
          </p:cNvPr>
          <p:cNvSpPr>
            <a:spLocks noGrp="1"/>
          </p:cNvSpPr>
          <p:nvPr>
            <p:ph type="title"/>
          </p:nvPr>
        </p:nvSpPr>
        <p:spPr>
          <a:xfrm>
            <a:off x="457200" y="1160543"/>
            <a:ext cx="8229600" cy="2822414"/>
          </a:xfrm>
        </p:spPr>
        <p:txBody>
          <a:bodyPr/>
          <a:lstStyle/>
          <a:p>
            <a:r>
              <a:rPr lang="en-US" sz="4000"/>
              <a:t>let's get more specific than saying "variables live in memory"</a:t>
            </a:r>
            <a:br>
              <a:rPr lang="en-US" sz="4000"/>
            </a:br>
            <a:br>
              <a:rPr lang="en-US" sz="4000"/>
            </a:br>
            <a:r>
              <a:rPr lang="en-US" sz="4000"/>
              <a:t>we divide memory into two parts: </a:t>
            </a:r>
            <a:r>
              <a:rPr lang="en-US" sz="4000" b="1"/>
              <a:t>the stack</a:t>
            </a:r>
            <a:r>
              <a:rPr lang="en-US" sz="4000"/>
              <a:t> and </a:t>
            </a:r>
            <a:r>
              <a:rPr lang="en-US" sz="4000" b="1"/>
              <a:t>the heap </a:t>
            </a:r>
          </a:p>
        </p:txBody>
      </p:sp>
    </p:spTree>
    <p:extLst>
      <p:ext uri="{BB962C8B-B14F-4D97-AF65-F5344CB8AC3E}">
        <p14:creationId xmlns:p14="http://schemas.microsoft.com/office/powerpoint/2010/main" val="2487032229"/>
      </p:ext>
    </p:extLst>
  </p:cSld>
  <p:clrMapOvr>
    <a:masterClrMapping/>
  </p:clrMapOvr>
</p:sld>
</file>

<file path=ppt/slides/slide4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9D1E01B8-1330-617F-6E59-9BE0A38793B9}"/>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05EA2E66-8356-D830-042D-1C25847DC306}"/>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194A78F-0FF6-4E48-C9AE-3E7E2A2AC5FE}"/>
              </a:ext>
            </a:extLst>
          </p:cNvPr>
          <p:cNvSpPr txBox="1"/>
          <p:nvPr/>
        </p:nvSpPr>
        <p:spPr>
          <a:xfrm>
            <a:off x="-1" y="484336"/>
            <a:ext cx="9144000" cy="1569660"/>
          </a:xfrm>
          <a:prstGeom prst="rect">
            <a:avLst/>
          </a:prstGeom>
          <a:noFill/>
        </p:spPr>
        <p:txBody>
          <a:bodyPr wrap="square" rtlCol="0">
            <a:spAutoFit/>
          </a:bodyPr>
          <a:lstStyle/>
          <a:p>
            <a:pPr algn="ctr"/>
            <a:r>
              <a:rPr lang="en-US" sz="4800"/>
              <a:t>"the stack"</a:t>
            </a:r>
          </a:p>
          <a:p>
            <a:pPr algn="ctr"/>
            <a:r>
              <a:rPr lang="en-US" sz="2400" b="1"/>
              <a:t>local variable primitives</a:t>
            </a:r>
            <a:r>
              <a:rPr lang="en-US" sz="2400"/>
              <a:t> &amp; </a:t>
            </a:r>
            <a:r>
              <a:rPr lang="en-US" sz="2400" b="1"/>
              <a:t>references</a:t>
            </a:r>
            <a:r>
              <a:rPr lang="en-US" sz="2400"/>
              <a:t> to Objects live here</a:t>
            </a:r>
          </a:p>
          <a:p>
            <a:pPr algn="ctr"/>
            <a:r>
              <a:rPr lang="en-US" sz="2400"/>
              <a:t>variables</a:t>
            </a:r>
            <a:r>
              <a:rPr lang="en-US" sz="2400" b="1" i="1"/>
              <a:t> undefined</a:t>
            </a:r>
            <a:r>
              <a:rPr lang="en-US" sz="2400" i="1"/>
              <a:t> </a:t>
            </a:r>
            <a:r>
              <a:rPr lang="en-US" sz="2400"/>
              <a:t>(?)</a:t>
            </a:r>
            <a:r>
              <a:rPr lang="en-US" sz="2400" i="1"/>
              <a:t> </a:t>
            </a:r>
            <a:r>
              <a:rPr lang="en-US" sz="2400"/>
              <a:t>by default (will NOT compile if used)</a:t>
            </a:r>
          </a:p>
        </p:txBody>
      </p:sp>
      <p:sp>
        <p:nvSpPr>
          <p:cNvPr id="3" name="TextBox 2">
            <a:extLst>
              <a:ext uri="{FF2B5EF4-FFF2-40B4-BE49-F238E27FC236}">
                <a16:creationId xmlns:a16="http://schemas.microsoft.com/office/drawing/2014/main" id="{539CDF63-F47C-11DF-D47C-EF2F37B64EA6}"/>
              </a:ext>
            </a:extLst>
          </p:cNvPr>
          <p:cNvSpPr txBox="1"/>
          <p:nvPr/>
        </p:nvSpPr>
        <p:spPr>
          <a:xfrm>
            <a:off x="446311" y="3032002"/>
            <a:ext cx="8251376" cy="1661993"/>
          </a:xfrm>
          <a:prstGeom prst="rect">
            <a:avLst/>
          </a:prstGeom>
          <a:noFill/>
        </p:spPr>
        <p:txBody>
          <a:bodyPr wrap="square" rtlCol="0">
            <a:spAutoFit/>
          </a:bodyPr>
          <a:lstStyle/>
          <a:p>
            <a:pPr algn="ctr"/>
            <a:r>
              <a:rPr lang="en-US" sz="5400"/>
              <a:t>"the heap"</a:t>
            </a:r>
          </a:p>
          <a:p>
            <a:pPr algn="ctr"/>
            <a:r>
              <a:rPr lang="en-US" sz="2400"/>
              <a:t>the actual </a:t>
            </a:r>
            <a:r>
              <a:rPr lang="en-US" sz="2400" b="1"/>
              <a:t>Objects </a:t>
            </a:r>
            <a:r>
              <a:rPr lang="en-US" sz="2400"/>
              <a:t>(including arrays and Strings) live here</a:t>
            </a:r>
            <a:endParaRPr lang="en-US" sz="2400" b="1"/>
          </a:p>
          <a:p>
            <a:pPr algn="ctr"/>
            <a:r>
              <a:rPr lang="en-US" sz="2400"/>
              <a:t>Objects are</a:t>
            </a:r>
            <a:r>
              <a:rPr lang="en-US" sz="2400" i="1"/>
              <a:t> cleared to 0 </a:t>
            </a:r>
            <a:r>
              <a:rPr lang="en-US" sz="2400"/>
              <a:t>by default</a:t>
            </a:r>
            <a:endParaRPr lang="en-US" sz="5400"/>
          </a:p>
        </p:txBody>
      </p:sp>
    </p:spTree>
    <p:extLst>
      <p:ext uri="{BB962C8B-B14F-4D97-AF65-F5344CB8AC3E}">
        <p14:creationId xmlns:p14="http://schemas.microsoft.com/office/powerpoint/2010/main" val="4113095358"/>
      </p:ext>
    </p:extLst>
  </p:cSld>
  <p:clrMapOvr>
    <a:masterClrMapping/>
  </p:clrMapOvr>
</p:sld>
</file>

<file path=ppt/slides/slide4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8B289-1834-DD3D-9196-024F14DB18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817F9D-21F3-035A-BAE3-47A837BFE48E}"/>
              </a:ext>
            </a:extLst>
          </p:cNvPr>
          <p:cNvSpPr>
            <a:spLocks noGrp="1"/>
          </p:cNvSpPr>
          <p:nvPr>
            <p:ph type="title"/>
          </p:nvPr>
        </p:nvSpPr>
        <p:spPr/>
        <p:txBody>
          <a:bodyPr/>
          <a:lstStyle/>
          <a:p>
            <a:r>
              <a:rPr lang="en-US" sz="4800"/>
              <a:t>primitives live on the stack</a:t>
            </a:r>
            <a:endParaRPr lang="en-US"/>
          </a:p>
        </p:txBody>
      </p:sp>
    </p:spTree>
    <p:extLst>
      <p:ext uri="{BB962C8B-B14F-4D97-AF65-F5344CB8AC3E}">
        <p14:creationId xmlns:p14="http://schemas.microsoft.com/office/powerpoint/2010/main" val="3903397227"/>
      </p:ext>
    </p:extLst>
  </p:cSld>
  <p:clrMapOvr>
    <a:masterClrMapping/>
  </p:clrMapOvr>
</p:sld>
</file>

<file path=ppt/slides/slide4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33256-B860-7CA4-5603-D672E1502653}"/>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4EF2527A-C034-34C0-B7B5-99F7CF02B15F}"/>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974F89C9-8C2A-F0BF-770E-3E126A17D54B}"/>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F90BB02F-2F6D-4CB2-0DCB-D397AA5DCF9D}"/>
              </a:ext>
            </a:extLst>
          </p:cNvPr>
          <p:cNvSpPr txBox="1"/>
          <p:nvPr/>
        </p:nvSpPr>
        <p:spPr>
          <a:xfrm>
            <a:off x="-1" y="484336"/>
            <a:ext cx="9144000" cy="1569660"/>
          </a:xfrm>
          <a:prstGeom prst="rect">
            <a:avLst/>
          </a:prstGeom>
          <a:noFill/>
        </p:spPr>
        <p:txBody>
          <a:bodyPr wrap="square" rtlCol="0">
            <a:spAutoFit/>
          </a:bodyPr>
          <a:lstStyle/>
          <a:p>
            <a:pPr algn="ctr"/>
            <a:r>
              <a:rPr lang="en-US" sz="4800"/>
              <a:t>"the stack"</a:t>
            </a:r>
          </a:p>
          <a:p>
            <a:pPr algn="ctr"/>
            <a:r>
              <a:rPr lang="en-US" sz="2400" b="1"/>
              <a:t>local variable primitives</a:t>
            </a:r>
            <a:r>
              <a:rPr lang="en-US" sz="2400"/>
              <a:t> &amp; </a:t>
            </a:r>
            <a:r>
              <a:rPr lang="en-US" sz="2400" b="1"/>
              <a:t>references</a:t>
            </a:r>
            <a:r>
              <a:rPr lang="en-US" sz="2400"/>
              <a:t> to Objects live here</a:t>
            </a:r>
          </a:p>
          <a:p>
            <a:pPr algn="ctr"/>
            <a:r>
              <a:rPr lang="en-US" sz="2400"/>
              <a:t>variables</a:t>
            </a:r>
            <a:r>
              <a:rPr lang="en-US" sz="2400" b="1" i="1"/>
              <a:t> undefined</a:t>
            </a:r>
            <a:r>
              <a:rPr lang="en-US" sz="2400" i="1"/>
              <a:t> </a:t>
            </a:r>
            <a:r>
              <a:rPr lang="en-US" sz="2400"/>
              <a:t>(?)</a:t>
            </a:r>
            <a:r>
              <a:rPr lang="en-US" sz="2400" i="1"/>
              <a:t> </a:t>
            </a:r>
            <a:r>
              <a:rPr lang="en-US" sz="2400"/>
              <a:t>by default (will NOT compile if used)</a:t>
            </a:r>
          </a:p>
        </p:txBody>
      </p:sp>
      <p:sp>
        <p:nvSpPr>
          <p:cNvPr id="3" name="TextBox 2">
            <a:extLst>
              <a:ext uri="{FF2B5EF4-FFF2-40B4-BE49-F238E27FC236}">
                <a16:creationId xmlns:a16="http://schemas.microsoft.com/office/drawing/2014/main" id="{E19E3817-FCAD-EC2F-5371-A7116C694D49}"/>
              </a:ext>
            </a:extLst>
          </p:cNvPr>
          <p:cNvSpPr txBox="1"/>
          <p:nvPr/>
        </p:nvSpPr>
        <p:spPr>
          <a:xfrm>
            <a:off x="446311" y="3032002"/>
            <a:ext cx="8251376" cy="1661993"/>
          </a:xfrm>
          <a:prstGeom prst="rect">
            <a:avLst/>
          </a:prstGeom>
          <a:noFill/>
        </p:spPr>
        <p:txBody>
          <a:bodyPr wrap="square" rtlCol="0">
            <a:spAutoFit/>
          </a:bodyPr>
          <a:lstStyle/>
          <a:p>
            <a:pPr algn="ctr"/>
            <a:r>
              <a:rPr lang="en-US" sz="5400"/>
              <a:t>"the heap"</a:t>
            </a:r>
          </a:p>
          <a:p>
            <a:pPr algn="ctr"/>
            <a:r>
              <a:rPr lang="en-US" sz="2400"/>
              <a:t>the actual </a:t>
            </a:r>
            <a:r>
              <a:rPr lang="en-US" sz="2400" b="1"/>
              <a:t>Objects </a:t>
            </a:r>
            <a:r>
              <a:rPr lang="en-US" sz="2400"/>
              <a:t>(including arrays and Strings) live here</a:t>
            </a:r>
            <a:endParaRPr lang="en-US" sz="2400" b="1"/>
          </a:p>
          <a:p>
            <a:pPr algn="ctr"/>
            <a:r>
              <a:rPr lang="en-US" sz="2400"/>
              <a:t>Objects are</a:t>
            </a:r>
            <a:r>
              <a:rPr lang="en-US" sz="2400" i="1"/>
              <a:t> cleared to 0 </a:t>
            </a:r>
            <a:r>
              <a:rPr lang="en-US" sz="2400"/>
              <a:t>by default</a:t>
            </a:r>
            <a:endParaRPr lang="en-US" sz="5400"/>
          </a:p>
        </p:txBody>
      </p:sp>
    </p:spTree>
    <p:extLst>
      <p:ext uri="{BB962C8B-B14F-4D97-AF65-F5344CB8AC3E}">
        <p14:creationId xmlns:p14="http://schemas.microsoft.com/office/powerpoint/2010/main" val="2993060166"/>
      </p:ext>
    </p:extLst>
  </p:cSld>
  <p:clrMapOvr>
    <a:masterClrMapping/>
  </p:clrMapOvr>
</p:sld>
</file>

<file path=ppt/slides/slide4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62EF6-8609-D9AA-2ED6-0DC42CD4A11B}"/>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32F42510-9603-4E79-779A-A7B4432C64A3}"/>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D746A0F1-71E7-D3F4-72C2-9140D68F1428}"/>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D2126395-E373-C9D8-EA66-00518E188973}"/>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457200" rtlCol="0" anchor="ctr"/>
          <a:lstStyle/>
          <a:p>
            <a:endParaRPr lang="en-US" sz="3600">
              <a:solidFill>
                <a:schemeClr val="tx1"/>
              </a:solidFill>
              <a:latin typeface="+mj-lt"/>
            </a:endParaRPr>
          </a:p>
          <a:p>
            <a:r>
              <a:rPr lang="en-US" sz="3600">
                <a:solidFill>
                  <a:srgbClr val="00007F"/>
                </a:solidFill>
                <a:latin typeface="+mj-lt"/>
              </a:rPr>
              <a:t>int</a:t>
            </a:r>
            <a:r>
              <a:rPr lang="en-US" sz="3600">
                <a:solidFill>
                  <a:schemeClr val="tx1"/>
                </a:solidFill>
                <a:latin typeface="+mj-lt"/>
              </a:rPr>
              <a:t> a;</a:t>
            </a:r>
          </a:p>
          <a:p>
            <a:r>
              <a:rPr lang="en-US" sz="3600">
                <a:solidFill>
                  <a:srgbClr val="00007F"/>
                </a:solidFill>
                <a:latin typeface="+mj-lt"/>
              </a:rPr>
              <a:t>int</a:t>
            </a:r>
            <a:r>
              <a:rPr lang="en-US" sz="3600">
                <a:solidFill>
                  <a:schemeClr val="tx1"/>
                </a:solidFill>
                <a:latin typeface="+mj-lt"/>
              </a:rPr>
              <a:t> b;</a:t>
            </a:r>
          </a:p>
          <a:p>
            <a:r>
              <a:rPr lang="en-US" sz="3600">
                <a:solidFill>
                  <a:schemeClr val="tx1"/>
                </a:solidFill>
                <a:latin typeface="+mj-lt"/>
              </a:rPr>
              <a:t>a = </a:t>
            </a:r>
            <a:r>
              <a:rPr lang="en-US" sz="3600">
                <a:solidFill>
                  <a:srgbClr val="09B5B6"/>
                </a:solidFill>
                <a:latin typeface="+mj-lt"/>
              </a:rPr>
              <a:t>3</a:t>
            </a:r>
            <a:r>
              <a:rPr lang="en-US" sz="3600">
                <a:solidFill>
                  <a:schemeClr val="tx1"/>
                </a:solidFill>
                <a:latin typeface="+mj-lt"/>
              </a:rPr>
              <a:t>;</a:t>
            </a:r>
          </a:p>
          <a:p>
            <a:r>
              <a:rPr lang="en-US" sz="3600">
                <a:solidFill>
                  <a:schemeClr val="tx1"/>
                </a:solidFill>
                <a:latin typeface="+mj-lt"/>
              </a:rPr>
              <a:t>b = a;</a:t>
            </a:r>
          </a:p>
          <a:p>
            <a:r>
              <a:rPr lang="en-US" sz="3600">
                <a:solidFill>
                  <a:schemeClr val="tx1"/>
                </a:solidFill>
                <a:latin typeface="+mj-lt"/>
              </a:rPr>
              <a:t>a = </a:t>
            </a:r>
            <a:r>
              <a:rPr lang="en-US" sz="3600">
                <a:solidFill>
                  <a:srgbClr val="09B5B6"/>
                </a:solidFill>
                <a:latin typeface="+mj-lt"/>
              </a:rPr>
              <a:t>7</a:t>
            </a:r>
            <a:r>
              <a:rPr lang="en-US" sz="3600">
                <a:solidFill>
                  <a:schemeClr val="tx1"/>
                </a:solidFill>
                <a:latin typeface="+mj-lt"/>
              </a:rPr>
              <a:t>;</a:t>
            </a:r>
          </a:p>
          <a:p>
            <a:endParaRPr lang="en-US" sz="3600">
              <a:solidFill>
                <a:schemeClr val="tx1"/>
              </a:solidFill>
              <a:latin typeface="+mj-lt"/>
            </a:endParaRPr>
          </a:p>
        </p:txBody>
      </p:sp>
    </p:spTree>
    <p:extLst>
      <p:ext uri="{BB962C8B-B14F-4D97-AF65-F5344CB8AC3E}">
        <p14:creationId xmlns:p14="http://schemas.microsoft.com/office/powerpoint/2010/main" val="3699698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25D36-7E9E-561F-2C8B-D1EEB693E64E}"/>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D4616E2D-F76D-AC93-4966-0D26A1A042D4}"/>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73D976E1-97FB-A808-DAA1-32CE8A8C2A9F}"/>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088E7C10-128E-9DF2-E0E7-57DFBAF21D4E}"/>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457200" rtlCol="0" anchor="ctr"/>
          <a:lstStyle/>
          <a:p>
            <a:endParaRPr lang="en-US" sz="3600">
              <a:solidFill>
                <a:schemeClr val="tx1"/>
              </a:solidFill>
              <a:latin typeface="+mj-lt"/>
            </a:endParaRPr>
          </a:p>
          <a:p>
            <a:r>
              <a:rPr lang="en-US" sz="3600">
                <a:solidFill>
                  <a:srgbClr val="00007F"/>
                </a:solidFill>
                <a:highlight>
                  <a:srgbClr val="FFFF00"/>
                </a:highlight>
                <a:latin typeface="+mj-lt"/>
              </a:rPr>
              <a:t>int</a:t>
            </a:r>
            <a:r>
              <a:rPr lang="en-US" sz="3600">
                <a:solidFill>
                  <a:schemeClr val="tx1"/>
                </a:solidFill>
                <a:highlight>
                  <a:srgbClr val="FFFF00"/>
                </a:highlight>
                <a:latin typeface="+mj-lt"/>
              </a:rPr>
              <a:t> a;</a:t>
            </a:r>
          </a:p>
          <a:p>
            <a:r>
              <a:rPr lang="en-US" sz="3600">
                <a:solidFill>
                  <a:srgbClr val="00007F"/>
                </a:solidFill>
                <a:latin typeface="+mj-lt"/>
              </a:rPr>
              <a:t>int</a:t>
            </a:r>
            <a:r>
              <a:rPr lang="en-US" sz="3600">
                <a:solidFill>
                  <a:schemeClr val="tx1"/>
                </a:solidFill>
                <a:latin typeface="+mj-lt"/>
              </a:rPr>
              <a:t> b;</a:t>
            </a:r>
          </a:p>
          <a:p>
            <a:r>
              <a:rPr lang="en-US" sz="3600">
                <a:solidFill>
                  <a:schemeClr val="tx1"/>
                </a:solidFill>
                <a:latin typeface="+mj-lt"/>
              </a:rPr>
              <a:t>a = </a:t>
            </a:r>
            <a:r>
              <a:rPr lang="en-US" sz="3600">
                <a:solidFill>
                  <a:srgbClr val="09B5B6"/>
                </a:solidFill>
                <a:latin typeface="+mj-lt"/>
              </a:rPr>
              <a:t>3</a:t>
            </a:r>
            <a:r>
              <a:rPr lang="en-US" sz="3600">
                <a:solidFill>
                  <a:schemeClr val="tx1"/>
                </a:solidFill>
                <a:latin typeface="+mj-lt"/>
              </a:rPr>
              <a:t>;</a:t>
            </a:r>
          </a:p>
          <a:p>
            <a:r>
              <a:rPr lang="en-US" sz="3600">
                <a:solidFill>
                  <a:schemeClr val="tx1"/>
                </a:solidFill>
                <a:latin typeface="+mj-lt"/>
              </a:rPr>
              <a:t>b = a;</a:t>
            </a:r>
          </a:p>
          <a:p>
            <a:r>
              <a:rPr lang="en-US" sz="3600">
                <a:solidFill>
                  <a:schemeClr val="tx1"/>
                </a:solidFill>
                <a:latin typeface="+mj-lt"/>
              </a:rPr>
              <a:t>a = </a:t>
            </a:r>
            <a:r>
              <a:rPr lang="en-US" sz="3600">
                <a:solidFill>
                  <a:srgbClr val="09B5B6"/>
                </a:solidFill>
                <a:latin typeface="+mj-lt"/>
              </a:rPr>
              <a:t>7</a:t>
            </a:r>
            <a:r>
              <a:rPr lang="en-US" sz="3600">
                <a:solidFill>
                  <a:schemeClr val="tx1"/>
                </a:solidFill>
                <a:latin typeface="+mj-lt"/>
              </a:rPr>
              <a:t>;</a:t>
            </a:r>
          </a:p>
          <a:p>
            <a:endParaRPr lang="en-US" sz="3600">
              <a:solidFill>
                <a:schemeClr val="tx1"/>
              </a:solidFill>
              <a:latin typeface="+mj-lt"/>
            </a:endParaRPr>
          </a:p>
        </p:txBody>
      </p:sp>
      <p:sp>
        <p:nvSpPr>
          <p:cNvPr id="4" name="TextBox 3">
            <a:extLst>
              <a:ext uri="{FF2B5EF4-FFF2-40B4-BE49-F238E27FC236}">
                <a16:creationId xmlns:a16="http://schemas.microsoft.com/office/drawing/2014/main" id="{96FF4B42-0830-3E3F-3D02-4CF0AB20F134}"/>
              </a:ext>
            </a:extLst>
          </p:cNvPr>
          <p:cNvSpPr txBox="1"/>
          <p:nvPr/>
        </p:nvSpPr>
        <p:spPr>
          <a:xfrm>
            <a:off x="1169044" y="685848"/>
            <a:ext cx="584592" cy="584775"/>
          </a:xfrm>
          <a:prstGeom prst="rect">
            <a:avLst/>
          </a:prstGeom>
          <a:noFill/>
        </p:spPr>
        <p:txBody>
          <a:bodyPr wrap="square">
            <a:spAutoFit/>
          </a:bodyPr>
          <a:lstStyle/>
          <a:p>
            <a:pPr algn="ctr"/>
            <a:r>
              <a:rPr lang="en-US" sz="3200">
                <a:latin typeface="+mj-lt"/>
              </a:rPr>
              <a:t>a</a:t>
            </a:r>
            <a:endParaRPr lang="en-US" sz="3200"/>
          </a:p>
        </p:txBody>
      </p:sp>
      <p:sp>
        <p:nvSpPr>
          <p:cNvPr id="5" name="Rectangle 4">
            <a:extLst>
              <a:ext uri="{FF2B5EF4-FFF2-40B4-BE49-F238E27FC236}">
                <a16:creationId xmlns:a16="http://schemas.microsoft.com/office/drawing/2014/main" id="{36A7E456-808F-0B30-C5F0-123823CA03AE}"/>
              </a:ext>
            </a:extLst>
          </p:cNvPr>
          <p:cNvSpPr/>
          <p:nvPr/>
        </p:nvSpPr>
        <p:spPr>
          <a:xfrm>
            <a:off x="1004139" y="1238265"/>
            <a:ext cx="914400"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1"/>
                </a:solidFill>
                <a:highlight>
                  <a:srgbClr val="FFFF00"/>
                </a:highlight>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681028380"/>
      </p:ext>
    </p:extLst>
  </p:cSld>
  <p:clrMapOvr>
    <a:masterClrMapping/>
  </p:clrMapOvr>
</p:sld>
</file>

<file path=ppt/slides/slide4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1FF72-6D17-4FB3-71FD-2F4FFA495113}"/>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D15CD7D8-A2C1-1014-B02C-FBCF7545EC2C}"/>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AED37BD6-B6A3-C512-374B-25B590D7929D}"/>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AC12959A-6A23-04EC-DD4E-3646C048C884}"/>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457200" rtlCol="0" anchor="ctr"/>
          <a:lstStyle/>
          <a:p>
            <a:endParaRPr lang="en-US" sz="3600">
              <a:solidFill>
                <a:schemeClr val="tx1"/>
              </a:solidFill>
              <a:latin typeface="+mj-lt"/>
            </a:endParaRPr>
          </a:p>
          <a:p>
            <a:r>
              <a:rPr lang="en-US" sz="3600">
                <a:solidFill>
                  <a:srgbClr val="00007F"/>
                </a:solidFill>
                <a:latin typeface="+mj-lt"/>
              </a:rPr>
              <a:t>int</a:t>
            </a:r>
            <a:r>
              <a:rPr lang="en-US" sz="3600">
                <a:solidFill>
                  <a:schemeClr val="tx1"/>
                </a:solidFill>
                <a:latin typeface="+mj-lt"/>
              </a:rPr>
              <a:t> a;</a:t>
            </a:r>
          </a:p>
          <a:p>
            <a:r>
              <a:rPr lang="en-US" sz="3600">
                <a:solidFill>
                  <a:srgbClr val="00007F"/>
                </a:solidFill>
                <a:highlight>
                  <a:srgbClr val="FFFF00"/>
                </a:highlight>
                <a:latin typeface="+mj-lt"/>
              </a:rPr>
              <a:t>int</a:t>
            </a:r>
            <a:r>
              <a:rPr lang="en-US" sz="3600">
                <a:solidFill>
                  <a:schemeClr val="tx1"/>
                </a:solidFill>
                <a:highlight>
                  <a:srgbClr val="FFFF00"/>
                </a:highlight>
                <a:latin typeface="+mj-lt"/>
              </a:rPr>
              <a:t> b;</a:t>
            </a:r>
          </a:p>
          <a:p>
            <a:r>
              <a:rPr lang="en-US" sz="3600">
                <a:solidFill>
                  <a:schemeClr val="tx1"/>
                </a:solidFill>
                <a:latin typeface="+mj-lt"/>
              </a:rPr>
              <a:t>a = </a:t>
            </a:r>
            <a:r>
              <a:rPr lang="en-US" sz="3600">
                <a:solidFill>
                  <a:srgbClr val="09B5B6"/>
                </a:solidFill>
                <a:latin typeface="+mj-lt"/>
              </a:rPr>
              <a:t>3</a:t>
            </a:r>
            <a:r>
              <a:rPr lang="en-US" sz="3600">
                <a:solidFill>
                  <a:schemeClr val="tx1"/>
                </a:solidFill>
                <a:latin typeface="+mj-lt"/>
              </a:rPr>
              <a:t>;</a:t>
            </a:r>
          </a:p>
          <a:p>
            <a:r>
              <a:rPr lang="en-US" sz="3600">
                <a:solidFill>
                  <a:schemeClr val="tx1"/>
                </a:solidFill>
                <a:latin typeface="+mj-lt"/>
              </a:rPr>
              <a:t>b = a;</a:t>
            </a:r>
          </a:p>
          <a:p>
            <a:r>
              <a:rPr lang="en-US" sz="3600">
                <a:solidFill>
                  <a:schemeClr val="tx1"/>
                </a:solidFill>
                <a:latin typeface="+mj-lt"/>
              </a:rPr>
              <a:t>a = </a:t>
            </a:r>
            <a:r>
              <a:rPr lang="en-US" sz="3600">
                <a:solidFill>
                  <a:srgbClr val="09B5B6"/>
                </a:solidFill>
                <a:latin typeface="+mj-lt"/>
              </a:rPr>
              <a:t>7</a:t>
            </a:r>
            <a:r>
              <a:rPr lang="en-US" sz="3600">
                <a:solidFill>
                  <a:schemeClr val="tx1"/>
                </a:solidFill>
                <a:latin typeface="+mj-lt"/>
              </a:rPr>
              <a:t>;</a:t>
            </a:r>
          </a:p>
          <a:p>
            <a:endParaRPr lang="en-US" sz="3600">
              <a:solidFill>
                <a:schemeClr val="tx1"/>
              </a:solidFill>
              <a:latin typeface="+mj-lt"/>
            </a:endParaRPr>
          </a:p>
        </p:txBody>
      </p:sp>
      <p:sp>
        <p:nvSpPr>
          <p:cNvPr id="4" name="TextBox 3">
            <a:extLst>
              <a:ext uri="{FF2B5EF4-FFF2-40B4-BE49-F238E27FC236}">
                <a16:creationId xmlns:a16="http://schemas.microsoft.com/office/drawing/2014/main" id="{F2C6EC6B-41B8-E8EC-0D51-B29CD668108E}"/>
              </a:ext>
            </a:extLst>
          </p:cNvPr>
          <p:cNvSpPr txBox="1"/>
          <p:nvPr/>
        </p:nvSpPr>
        <p:spPr>
          <a:xfrm>
            <a:off x="446694" y="685848"/>
            <a:ext cx="2029291" cy="584775"/>
          </a:xfrm>
          <a:prstGeom prst="rect">
            <a:avLst/>
          </a:prstGeom>
          <a:noFill/>
        </p:spPr>
        <p:txBody>
          <a:bodyPr wrap="square">
            <a:spAutoFit/>
          </a:bodyPr>
          <a:lstStyle/>
          <a:p>
            <a:pPr algn="ctr"/>
            <a:r>
              <a:rPr lang="en-US" sz="3200">
                <a:latin typeface="+mj-lt"/>
              </a:rPr>
              <a:t>a</a:t>
            </a:r>
            <a:endParaRPr lang="en-US" sz="3200"/>
          </a:p>
        </p:txBody>
      </p:sp>
      <p:sp>
        <p:nvSpPr>
          <p:cNvPr id="5" name="Rectangle 4">
            <a:extLst>
              <a:ext uri="{FF2B5EF4-FFF2-40B4-BE49-F238E27FC236}">
                <a16:creationId xmlns:a16="http://schemas.microsoft.com/office/drawing/2014/main" id="{D0BDB2DC-E025-F202-D29C-57B059F88FCF}"/>
              </a:ext>
            </a:extLst>
          </p:cNvPr>
          <p:cNvSpPr/>
          <p:nvPr/>
        </p:nvSpPr>
        <p:spPr>
          <a:xfrm>
            <a:off x="1004139" y="1238265"/>
            <a:ext cx="914400"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1"/>
                </a:solidFill>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B6BD25D4-A995-C85B-5F40-9480E32FB115}"/>
              </a:ext>
            </a:extLst>
          </p:cNvPr>
          <p:cNvSpPr txBox="1"/>
          <p:nvPr/>
        </p:nvSpPr>
        <p:spPr>
          <a:xfrm>
            <a:off x="3279063" y="685848"/>
            <a:ext cx="2029291" cy="584775"/>
          </a:xfrm>
          <a:prstGeom prst="rect">
            <a:avLst/>
          </a:prstGeom>
          <a:noFill/>
        </p:spPr>
        <p:txBody>
          <a:bodyPr wrap="square">
            <a:spAutoFit/>
          </a:bodyPr>
          <a:lstStyle/>
          <a:p>
            <a:pPr algn="ctr"/>
            <a:r>
              <a:rPr lang="en-US" sz="3200">
                <a:latin typeface="+mj-lt"/>
              </a:rPr>
              <a:t>b</a:t>
            </a:r>
            <a:endParaRPr lang="en-US" sz="3200"/>
          </a:p>
        </p:txBody>
      </p:sp>
      <p:sp>
        <p:nvSpPr>
          <p:cNvPr id="7" name="Rectangle 6">
            <a:extLst>
              <a:ext uri="{FF2B5EF4-FFF2-40B4-BE49-F238E27FC236}">
                <a16:creationId xmlns:a16="http://schemas.microsoft.com/office/drawing/2014/main" id="{C29A2F25-D1BE-B549-120D-5B2085889920}"/>
              </a:ext>
            </a:extLst>
          </p:cNvPr>
          <p:cNvSpPr/>
          <p:nvPr/>
        </p:nvSpPr>
        <p:spPr>
          <a:xfrm>
            <a:off x="3836508" y="1238265"/>
            <a:ext cx="914400"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1"/>
                </a:solidFill>
                <a:highlight>
                  <a:srgbClr val="FFFF00"/>
                </a:highlight>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588489970"/>
      </p:ext>
    </p:extLst>
  </p:cSld>
  <p:clrMapOvr>
    <a:masterClrMapping/>
  </p:clrMapOvr>
</p:sld>
</file>

<file path=ppt/slides/slide4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4D40F-3C37-D8ED-7088-F4BEFAD0BD27}"/>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C92A4F17-2AD1-F9EE-84FA-EE296EB7FAF1}"/>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7F4FE554-70B4-59D9-F3C0-690F3B837821}"/>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5EFB8462-228C-AA9E-00AD-436C74FAF872}"/>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457200" rtlCol="0" anchor="ctr"/>
          <a:lstStyle/>
          <a:p>
            <a:endParaRPr lang="en-US" sz="3600">
              <a:solidFill>
                <a:schemeClr val="tx1"/>
              </a:solidFill>
              <a:latin typeface="+mj-lt"/>
            </a:endParaRPr>
          </a:p>
          <a:p>
            <a:r>
              <a:rPr lang="en-US" sz="3600">
                <a:solidFill>
                  <a:srgbClr val="00007F"/>
                </a:solidFill>
                <a:latin typeface="+mj-lt"/>
              </a:rPr>
              <a:t>int</a:t>
            </a:r>
            <a:r>
              <a:rPr lang="en-US" sz="3600">
                <a:solidFill>
                  <a:schemeClr val="tx1"/>
                </a:solidFill>
                <a:latin typeface="+mj-lt"/>
              </a:rPr>
              <a:t> a;</a:t>
            </a:r>
          </a:p>
          <a:p>
            <a:r>
              <a:rPr lang="en-US" sz="3600">
                <a:solidFill>
                  <a:srgbClr val="00007F"/>
                </a:solidFill>
                <a:latin typeface="+mj-lt"/>
              </a:rPr>
              <a:t>int</a:t>
            </a:r>
            <a:r>
              <a:rPr lang="en-US" sz="3600">
                <a:solidFill>
                  <a:schemeClr val="tx1"/>
                </a:solidFill>
                <a:latin typeface="+mj-lt"/>
              </a:rPr>
              <a:t> b;</a:t>
            </a:r>
          </a:p>
          <a:p>
            <a:r>
              <a:rPr lang="en-US" sz="3600">
                <a:solidFill>
                  <a:schemeClr val="tx1"/>
                </a:solidFill>
                <a:highlight>
                  <a:srgbClr val="FFFF00"/>
                </a:highlight>
                <a:latin typeface="+mj-lt"/>
              </a:rPr>
              <a:t>a = </a:t>
            </a:r>
            <a:r>
              <a:rPr lang="en-US" sz="3600">
                <a:solidFill>
                  <a:srgbClr val="09B5B6"/>
                </a:solidFill>
                <a:highlight>
                  <a:srgbClr val="FFFF00"/>
                </a:highlight>
                <a:latin typeface="+mj-lt"/>
              </a:rPr>
              <a:t>3</a:t>
            </a:r>
            <a:r>
              <a:rPr lang="en-US" sz="3600">
                <a:solidFill>
                  <a:schemeClr val="tx1"/>
                </a:solidFill>
                <a:highlight>
                  <a:srgbClr val="FFFF00"/>
                </a:highlight>
                <a:latin typeface="+mj-lt"/>
              </a:rPr>
              <a:t>;</a:t>
            </a:r>
          </a:p>
          <a:p>
            <a:r>
              <a:rPr lang="en-US" sz="3600">
                <a:solidFill>
                  <a:schemeClr val="tx1"/>
                </a:solidFill>
                <a:latin typeface="+mj-lt"/>
              </a:rPr>
              <a:t>b = a;</a:t>
            </a:r>
          </a:p>
          <a:p>
            <a:r>
              <a:rPr lang="en-US" sz="3600">
                <a:solidFill>
                  <a:schemeClr val="tx1"/>
                </a:solidFill>
                <a:latin typeface="+mj-lt"/>
              </a:rPr>
              <a:t>a = </a:t>
            </a:r>
            <a:r>
              <a:rPr lang="en-US" sz="3600">
                <a:solidFill>
                  <a:srgbClr val="09B5B6"/>
                </a:solidFill>
                <a:latin typeface="+mj-lt"/>
              </a:rPr>
              <a:t>7</a:t>
            </a:r>
            <a:r>
              <a:rPr lang="en-US" sz="3600">
                <a:solidFill>
                  <a:schemeClr val="tx1"/>
                </a:solidFill>
                <a:latin typeface="+mj-lt"/>
              </a:rPr>
              <a:t>;</a:t>
            </a:r>
          </a:p>
          <a:p>
            <a:endParaRPr lang="en-US" sz="3600">
              <a:solidFill>
                <a:schemeClr val="tx1"/>
              </a:solidFill>
              <a:latin typeface="+mj-lt"/>
            </a:endParaRPr>
          </a:p>
        </p:txBody>
      </p:sp>
      <p:sp>
        <p:nvSpPr>
          <p:cNvPr id="4" name="TextBox 3">
            <a:extLst>
              <a:ext uri="{FF2B5EF4-FFF2-40B4-BE49-F238E27FC236}">
                <a16:creationId xmlns:a16="http://schemas.microsoft.com/office/drawing/2014/main" id="{8A70A3E4-171D-D14C-171F-66B055C04DB8}"/>
              </a:ext>
            </a:extLst>
          </p:cNvPr>
          <p:cNvSpPr txBox="1"/>
          <p:nvPr/>
        </p:nvSpPr>
        <p:spPr>
          <a:xfrm>
            <a:off x="446694" y="685848"/>
            <a:ext cx="2029291" cy="584775"/>
          </a:xfrm>
          <a:prstGeom prst="rect">
            <a:avLst/>
          </a:prstGeom>
          <a:noFill/>
        </p:spPr>
        <p:txBody>
          <a:bodyPr wrap="square">
            <a:spAutoFit/>
          </a:bodyPr>
          <a:lstStyle/>
          <a:p>
            <a:pPr algn="ctr"/>
            <a:r>
              <a:rPr lang="en-US" sz="3200">
                <a:latin typeface="+mj-lt"/>
              </a:rPr>
              <a:t>a</a:t>
            </a:r>
            <a:endParaRPr lang="en-US" sz="3200"/>
          </a:p>
        </p:txBody>
      </p:sp>
      <p:sp>
        <p:nvSpPr>
          <p:cNvPr id="5" name="Rectangle 4">
            <a:extLst>
              <a:ext uri="{FF2B5EF4-FFF2-40B4-BE49-F238E27FC236}">
                <a16:creationId xmlns:a16="http://schemas.microsoft.com/office/drawing/2014/main" id="{5154B7B2-68F1-491E-1BC2-B1776691FBBD}"/>
              </a:ext>
            </a:extLst>
          </p:cNvPr>
          <p:cNvSpPr/>
          <p:nvPr/>
        </p:nvSpPr>
        <p:spPr>
          <a:xfrm>
            <a:off x="1004140" y="1238265"/>
            <a:ext cx="914400"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highlight>
                  <a:srgbClr val="FFFF00"/>
                </a:highlight>
                <a:latin typeface="+mj-lt"/>
              </a:rPr>
              <a:t>3</a:t>
            </a:r>
            <a:endParaRPr lang="en-US" sz="2800">
              <a:solidFill>
                <a:schemeClr val="accent1"/>
              </a:solidFill>
              <a:highlight>
                <a:srgbClr val="FFFF00"/>
              </a:highlight>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2EDFECAB-D501-E1A3-45FA-CB51C9EEF780}"/>
              </a:ext>
            </a:extLst>
          </p:cNvPr>
          <p:cNvSpPr txBox="1"/>
          <p:nvPr/>
        </p:nvSpPr>
        <p:spPr>
          <a:xfrm>
            <a:off x="3279063" y="685848"/>
            <a:ext cx="2029291" cy="584775"/>
          </a:xfrm>
          <a:prstGeom prst="rect">
            <a:avLst/>
          </a:prstGeom>
          <a:noFill/>
        </p:spPr>
        <p:txBody>
          <a:bodyPr wrap="square">
            <a:spAutoFit/>
          </a:bodyPr>
          <a:lstStyle/>
          <a:p>
            <a:pPr algn="ctr"/>
            <a:r>
              <a:rPr lang="en-US" sz="3200">
                <a:latin typeface="+mj-lt"/>
              </a:rPr>
              <a:t>b</a:t>
            </a:r>
            <a:endParaRPr lang="en-US" sz="3200"/>
          </a:p>
        </p:txBody>
      </p:sp>
      <p:sp>
        <p:nvSpPr>
          <p:cNvPr id="7" name="Rectangle 6">
            <a:extLst>
              <a:ext uri="{FF2B5EF4-FFF2-40B4-BE49-F238E27FC236}">
                <a16:creationId xmlns:a16="http://schemas.microsoft.com/office/drawing/2014/main" id="{973E1A49-C6EB-7DA9-8CBF-BEF975094FC0}"/>
              </a:ext>
            </a:extLst>
          </p:cNvPr>
          <p:cNvSpPr/>
          <p:nvPr/>
        </p:nvSpPr>
        <p:spPr>
          <a:xfrm>
            <a:off x="3836509" y="1238265"/>
            <a:ext cx="914400"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1"/>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2408156644"/>
      </p:ext>
    </p:extLst>
  </p:cSld>
  <p:clrMapOvr>
    <a:masterClrMapping/>
  </p:clrMapOvr>
</p:sld>
</file>

<file path=ppt/slides/slide4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3CE78-8CC1-4DDA-647E-5A678A039387}"/>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628AEDB3-FC31-FA84-26F0-A22480BEABFF}"/>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1CF905FC-F3AB-B0DE-DDE5-DB91191B8942}"/>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5565C1E9-227F-8EAB-F6D0-14DA1426F2EF}"/>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457200" rtlCol="0" anchor="ctr"/>
          <a:lstStyle/>
          <a:p>
            <a:endParaRPr lang="en-US" sz="3600">
              <a:solidFill>
                <a:schemeClr val="tx1"/>
              </a:solidFill>
              <a:latin typeface="+mj-lt"/>
            </a:endParaRPr>
          </a:p>
          <a:p>
            <a:r>
              <a:rPr lang="en-US" sz="3600">
                <a:solidFill>
                  <a:srgbClr val="00007F"/>
                </a:solidFill>
                <a:latin typeface="+mj-lt"/>
              </a:rPr>
              <a:t>int</a:t>
            </a:r>
            <a:r>
              <a:rPr lang="en-US" sz="3600">
                <a:solidFill>
                  <a:schemeClr val="tx1"/>
                </a:solidFill>
                <a:latin typeface="+mj-lt"/>
              </a:rPr>
              <a:t> a;</a:t>
            </a:r>
          </a:p>
          <a:p>
            <a:r>
              <a:rPr lang="en-US" sz="3600">
                <a:solidFill>
                  <a:srgbClr val="00007F"/>
                </a:solidFill>
                <a:latin typeface="+mj-lt"/>
              </a:rPr>
              <a:t>int</a:t>
            </a:r>
            <a:r>
              <a:rPr lang="en-US" sz="3600">
                <a:solidFill>
                  <a:schemeClr val="tx1"/>
                </a:solidFill>
                <a:latin typeface="+mj-lt"/>
              </a:rPr>
              <a:t> b;</a:t>
            </a:r>
          </a:p>
          <a:p>
            <a:r>
              <a:rPr lang="en-US" sz="3600">
                <a:solidFill>
                  <a:schemeClr val="tx1"/>
                </a:solidFill>
                <a:latin typeface="+mj-lt"/>
              </a:rPr>
              <a:t>a = </a:t>
            </a:r>
            <a:r>
              <a:rPr lang="en-US" sz="3600">
                <a:solidFill>
                  <a:srgbClr val="09B5B6"/>
                </a:solidFill>
                <a:latin typeface="+mj-lt"/>
              </a:rPr>
              <a:t>3</a:t>
            </a:r>
            <a:r>
              <a:rPr lang="en-US" sz="3600">
                <a:solidFill>
                  <a:schemeClr val="tx1"/>
                </a:solidFill>
                <a:latin typeface="+mj-lt"/>
              </a:rPr>
              <a:t>;</a:t>
            </a:r>
          </a:p>
          <a:p>
            <a:r>
              <a:rPr lang="en-US" sz="3600">
                <a:solidFill>
                  <a:schemeClr val="tx1"/>
                </a:solidFill>
                <a:highlight>
                  <a:srgbClr val="FFFF00"/>
                </a:highlight>
                <a:latin typeface="+mj-lt"/>
              </a:rPr>
              <a:t>b = a;</a:t>
            </a:r>
          </a:p>
          <a:p>
            <a:r>
              <a:rPr lang="en-US" sz="3600">
                <a:solidFill>
                  <a:schemeClr val="tx1"/>
                </a:solidFill>
                <a:latin typeface="+mj-lt"/>
              </a:rPr>
              <a:t>a = </a:t>
            </a:r>
            <a:r>
              <a:rPr lang="en-US" sz="3600">
                <a:solidFill>
                  <a:srgbClr val="09B5B6"/>
                </a:solidFill>
                <a:latin typeface="+mj-lt"/>
              </a:rPr>
              <a:t>7</a:t>
            </a:r>
            <a:r>
              <a:rPr lang="en-US" sz="3600">
                <a:solidFill>
                  <a:schemeClr val="tx1"/>
                </a:solidFill>
                <a:latin typeface="+mj-lt"/>
              </a:rPr>
              <a:t>;</a:t>
            </a:r>
          </a:p>
          <a:p>
            <a:endParaRPr lang="en-US" sz="3600">
              <a:solidFill>
                <a:schemeClr val="tx1"/>
              </a:solidFill>
              <a:latin typeface="+mj-lt"/>
            </a:endParaRPr>
          </a:p>
        </p:txBody>
      </p:sp>
      <p:sp>
        <p:nvSpPr>
          <p:cNvPr id="4" name="TextBox 3">
            <a:extLst>
              <a:ext uri="{FF2B5EF4-FFF2-40B4-BE49-F238E27FC236}">
                <a16:creationId xmlns:a16="http://schemas.microsoft.com/office/drawing/2014/main" id="{DF32F55B-2CF9-0579-9653-504C2560DA05}"/>
              </a:ext>
            </a:extLst>
          </p:cNvPr>
          <p:cNvSpPr txBox="1"/>
          <p:nvPr/>
        </p:nvSpPr>
        <p:spPr>
          <a:xfrm>
            <a:off x="446694" y="685848"/>
            <a:ext cx="2029291" cy="584775"/>
          </a:xfrm>
          <a:prstGeom prst="rect">
            <a:avLst/>
          </a:prstGeom>
          <a:noFill/>
        </p:spPr>
        <p:txBody>
          <a:bodyPr wrap="square">
            <a:spAutoFit/>
          </a:bodyPr>
          <a:lstStyle/>
          <a:p>
            <a:pPr algn="ctr"/>
            <a:r>
              <a:rPr lang="en-US" sz="3200">
                <a:latin typeface="+mj-lt"/>
              </a:rPr>
              <a:t>a</a:t>
            </a:r>
            <a:endParaRPr lang="en-US" sz="3200"/>
          </a:p>
        </p:txBody>
      </p:sp>
      <p:sp>
        <p:nvSpPr>
          <p:cNvPr id="5" name="Rectangle 4">
            <a:extLst>
              <a:ext uri="{FF2B5EF4-FFF2-40B4-BE49-F238E27FC236}">
                <a16:creationId xmlns:a16="http://schemas.microsoft.com/office/drawing/2014/main" id="{412484E2-8268-05C5-6943-A7EDD1F86291}"/>
              </a:ext>
            </a:extLst>
          </p:cNvPr>
          <p:cNvSpPr/>
          <p:nvPr/>
        </p:nvSpPr>
        <p:spPr>
          <a:xfrm>
            <a:off x="1004140" y="1238265"/>
            <a:ext cx="914400"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3</a:t>
            </a:r>
            <a:endParaRPr lang="en-US" sz="2800">
              <a:solidFill>
                <a:schemeClr val="accent1"/>
              </a:solidFill>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94E354ED-109E-FD00-8AA5-26B655DCAB3E}"/>
              </a:ext>
            </a:extLst>
          </p:cNvPr>
          <p:cNvSpPr txBox="1"/>
          <p:nvPr/>
        </p:nvSpPr>
        <p:spPr>
          <a:xfrm>
            <a:off x="3279063" y="685848"/>
            <a:ext cx="2029291" cy="584775"/>
          </a:xfrm>
          <a:prstGeom prst="rect">
            <a:avLst/>
          </a:prstGeom>
          <a:noFill/>
        </p:spPr>
        <p:txBody>
          <a:bodyPr wrap="square">
            <a:spAutoFit/>
          </a:bodyPr>
          <a:lstStyle/>
          <a:p>
            <a:pPr algn="ctr"/>
            <a:r>
              <a:rPr lang="en-US" sz="3200">
                <a:latin typeface="+mj-lt"/>
              </a:rPr>
              <a:t>b</a:t>
            </a:r>
            <a:endParaRPr lang="en-US" sz="3200"/>
          </a:p>
        </p:txBody>
      </p:sp>
      <p:sp>
        <p:nvSpPr>
          <p:cNvPr id="7" name="Rectangle 6">
            <a:extLst>
              <a:ext uri="{FF2B5EF4-FFF2-40B4-BE49-F238E27FC236}">
                <a16:creationId xmlns:a16="http://schemas.microsoft.com/office/drawing/2014/main" id="{24052A32-A657-2C60-A4FF-5B88D982A277}"/>
              </a:ext>
            </a:extLst>
          </p:cNvPr>
          <p:cNvSpPr/>
          <p:nvPr/>
        </p:nvSpPr>
        <p:spPr>
          <a:xfrm>
            <a:off x="3836509" y="1238265"/>
            <a:ext cx="914400"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highlight>
                  <a:srgbClr val="FFFF00"/>
                </a:highlight>
                <a:latin typeface="+mj-lt"/>
              </a:rPr>
              <a:t>3</a:t>
            </a:r>
            <a:endParaRPr lang="en-US" sz="2800">
              <a:solidFill>
                <a:schemeClr val="accent1"/>
              </a:solidFill>
              <a:highlight>
                <a:srgbClr val="FFFF00"/>
              </a:highlight>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70969243"/>
      </p:ext>
    </p:extLst>
  </p:cSld>
  <p:clrMapOvr>
    <a:masterClrMapping/>
  </p:clrMapOvr>
</p:sld>
</file>

<file path=ppt/slides/slide4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12132-58FB-045D-2285-BB9BD74C090C}"/>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1AD9D500-796F-F412-30A6-3EDFD1CCA4A6}"/>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D107240A-7BE3-FF19-916E-A8B3F001D17E}"/>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80CB7159-7BFC-C4A5-CF59-95B5CE1F8270}"/>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457200" rtlCol="0" anchor="ctr"/>
          <a:lstStyle/>
          <a:p>
            <a:endParaRPr lang="en-US" sz="3600">
              <a:solidFill>
                <a:schemeClr val="tx1"/>
              </a:solidFill>
              <a:latin typeface="+mj-lt"/>
            </a:endParaRPr>
          </a:p>
          <a:p>
            <a:r>
              <a:rPr lang="en-US" sz="3600">
                <a:solidFill>
                  <a:srgbClr val="00007F"/>
                </a:solidFill>
                <a:latin typeface="+mj-lt"/>
              </a:rPr>
              <a:t>int</a:t>
            </a:r>
            <a:r>
              <a:rPr lang="en-US" sz="3600">
                <a:solidFill>
                  <a:schemeClr val="tx1"/>
                </a:solidFill>
                <a:latin typeface="+mj-lt"/>
              </a:rPr>
              <a:t> a;</a:t>
            </a:r>
          </a:p>
          <a:p>
            <a:r>
              <a:rPr lang="en-US" sz="3600">
                <a:solidFill>
                  <a:srgbClr val="00007F"/>
                </a:solidFill>
                <a:latin typeface="+mj-lt"/>
              </a:rPr>
              <a:t>int</a:t>
            </a:r>
            <a:r>
              <a:rPr lang="en-US" sz="3600">
                <a:solidFill>
                  <a:schemeClr val="tx1"/>
                </a:solidFill>
                <a:latin typeface="+mj-lt"/>
              </a:rPr>
              <a:t> b;</a:t>
            </a:r>
          </a:p>
          <a:p>
            <a:r>
              <a:rPr lang="en-US" sz="3600">
                <a:solidFill>
                  <a:schemeClr val="tx1"/>
                </a:solidFill>
                <a:latin typeface="+mj-lt"/>
              </a:rPr>
              <a:t>a = </a:t>
            </a:r>
            <a:r>
              <a:rPr lang="en-US" sz="3600">
                <a:solidFill>
                  <a:srgbClr val="09B5B6"/>
                </a:solidFill>
                <a:latin typeface="+mj-lt"/>
              </a:rPr>
              <a:t>3</a:t>
            </a:r>
            <a:r>
              <a:rPr lang="en-US" sz="3600">
                <a:solidFill>
                  <a:schemeClr val="tx1"/>
                </a:solidFill>
                <a:latin typeface="+mj-lt"/>
              </a:rPr>
              <a:t>;</a:t>
            </a:r>
          </a:p>
          <a:p>
            <a:r>
              <a:rPr lang="en-US" sz="3600">
                <a:solidFill>
                  <a:schemeClr val="tx1"/>
                </a:solidFill>
                <a:latin typeface="+mj-lt"/>
              </a:rPr>
              <a:t>b = a;</a:t>
            </a:r>
          </a:p>
          <a:p>
            <a:r>
              <a:rPr lang="en-US" sz="3600">
                <a:solidFill>
                  <a:schemeClr val="tx1"/>
                </a:solidFill>
                <a:highlight>
                  <a:srgbClr val="FFFF00"/>
                </a:highlight>
                <a:latin typeface="+mj-lt"/>
              </a:rPr>
              <a:t>a = </a:t>
            </a:r>
            <a:r>
              <a:rPr lang="en-US" sz="3600">
                <a:solidFill>
                  <a:srgbClr val="09B5B6"/>
                </a:solidFill>
                <a:highlight>
                  <a:srgbClr val="FFFF00"/>
                </a:highlight>
                <a:latin typeface="+mj-lt"/>
              </a:rPr>
              <a:t>7</a:t>
            </a:r>
            <a:r>
              <a:rPr lang="en-US" sz="3600">
                <a:solidFill>
                  <a:schemeClr val="tx1"/>
                </a:solidFill>
                <a:highlight>
                  <a:srgbClr val="FFFF00"/>
                </a:highlight>
                <a:latin typeface="+mj-lt"/>
              </a:rPr>
              <a:t>;</a:t>
            </a:r>
          </a:p>
          <a:p>
            <a:endParaRPr lang="en-US" sz="3600">
              <a:solidFill>
                <a:schemeClr val="tx1"/>
              </a:solidFill>
              <a:latin typeface="+mj-lt"/>
            </a:endParaRPr>
          </a:p>
        </p:txBody>
      </p:sp>
      <p:sp>
        <p:nvSpPr>
          <p:cNvPr id="4" name="TextBox 3">
            <a:extLst>
              <a:ext uri="{FF2B5EF4-FFF2-40B4-BE49-F238E27FC236}">
                <a16:creationId xmlns:a16="http://schemas.microsoft.com/office/drawing/2014/main" id="{AE50FDE3-A59D-E852-8573-3D665238067C}"/>
              </a:ext>
            </a:extLst>
          </p:cNvPr>
          <p:cNvSpPr txBox="1"/>
          <p:nvPr/>
        </p:nvSpPr>
        <p:spPr>
          <a:xfrm>
            <a:off x="446694" y="685848"/>
            <a:ext cx="2029291" cy="584775"/>
          </a:xfrm>
          <a:prstGeom prst="rect">
            <a:avLst/>
          </a:prstGeom>
          <a:noFill/>
        </p:spPr>
        <p:txBody>
          <a:bodyPr wrap="square">
            <a:spAutoFit/>
          </a:bodyPr>
          <a:lstStyle/>
          <a:p>
            <a:pPr algn="ctr"/>
            <a:r>
              <a:rPr lang="en-US" sz="3200">
                <a:latin typeface="+mj-lt"/>
              </a:rPr>
              <a:t>a</a:t>
            </a:r>
            <a:endParaRPr lang="en-US" sz="3200"/>
          </a:p>
        </p:txBody>
      </p:sp>
      <p:sp>
        <p:nvSpPr>
          <p:cNvPr id="5" name="Rectangle 4">
            <a:extLst>
              <a:ext uri="{FF2B5EF4-FFF2-40B4-BE49-F238E27FC236}">
                <a16:creationId xmlns:a16="http://schemas.microsoft.com/office/drawing/2014/main" id="{12A3D9AA-A845-AA91-581E-4505906F1353}"/>
              </a:ext>
            </a:extLst>
          </p:cNvPr>
          <p:cNvSpPr/>
          <p:nvPr/>
        </p:nvSpPr>
        <p:spPr>
          <a:xfrm>
            <a:off x="1004140" y="1238265"/>
            <a:ext cx="914400"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highlight>
                  <a:srgbClr val="FFFF00"/>
                </a:highlight>
                <a:latin typeface="+mj-lt"/>
              </a:rPr>
              <a:t>7</a:t>
            </a:r>
            <a:endParaRPr lang="en-US" sz="2800">
              <a:solidFill>
                <a:schemeClr val="accent1"/>
              </a:solidFill>
              <a:highlight>
                <a:srgbClr val="FFFF00"/>
              </a:highlight>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B7A6EE62-48D5-0BBC-4BD2-CB48D351CCB0}"/>
              </a:ext>
            </a:extLst>
          </p:cNvPr>
          <p:cNvSpPr txBox="1"/>
          <p:nvPr/>
        </p:nvSpPr>
        <p:spPr>
          <a:xfrm>
            <a:off x="3279063" y="685848"/>
            <a:ext cx="2029291" cy="584775"/>
          </a:xfrm>
          <a:prstGeom prst="rect">
            <a:avLst/>
          </a:prstGeom>
          <a:noFill/>
        </p:spPr>
        <p:txBody>
          <a:bodyPr wrap="square">
            <a:spAutoFit/>
          </a:bodyPr>
          <a:lstStyle/>
          <a:p>
            <a:pPr algn="ctr"/>
            <a:r>
              <a:rPr lang="en-US" sz="3200">
                <a:latin typeface="+mj-lt"/>
              </a:rPr>
              <a:t>b</a:t>
            </a:r>
            <a:endParaRPr lang="en-US" sz="3200"/>
          </a:p>
        </p:txBody>
      </p:sp>
      <p:sp>
        <p:nvSpPr>
          <p:cNvPr id="7" name="Rectangle 6">
            <a:extLst>
              <a:ext uri="{FF2B5EF4-FFF2-40B4-BE49-F238E27FC236}">
                <a16:creationId xmlns:a16="http://schemas.microsoft.com/office/drawing/2014/main" id="{4CB3E06F-9AEC-B90C-DF1B-CECB7A03B1C6}"/>
              </a:ext>
            </a:extLst>
          </p:cNvPr>
          <p:cNvSpPr/>
          <p:nvPr/>
        </p:nvSpPr>
        <p:spPr>
          <a:xfrm>
            <a:off x="3836509" y="1238265"/>
            <a:ext cx="914400"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3</a:t>
            </a:r>
            <a:endParaRPr lang="en-US" sz="2800">
              <a:solidFill>
                <a:schemeClr val="accent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020617470"/>
      </p:ext>
    </p:extLst>
  </p:cSld>
  <p:clrMapOvr>
    <a:masterClrMapping/>
  </p:clrMapOvr>
</p:sld>
</file>

<file path=ppt/slides/slide4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73D01-290F-E8CC-6399-33207C124210}"/>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1D02418A-A1C2-CBC4-F853-02C43CA5781F}"/>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BE3EF29C-FE3A-9333-65C9-391EF376ECA0}"/>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68E1BB28-42B8-7264-B995-24E158F6C99A}"/>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457200" rtlCol="0" anchor="ctr"/>
          <a:lstStyle/>
          <a:p>
            <a:endParaRPr lang="en-US" sz="3600">
              <a:solidFill>
                <a:schemeClr val="tx1"/>
              </a:solidFill>
              <a:latin typeface="+mj-lt"/>
            </a:endParaRPr>
          </a:p>
          <a:p>
            <a:r>
              <a:rPr lang="en-US" sz="3600">
                <a:solidFill>
                  <a:srgbClr val="00007F"/>
                </a:solidFill>
                <a:latin typeface="+mj-lt"/>
              </a:rPr>
              <a:t>int</a:t>
            </a:r>
            <a:r>
              <a:rPr lang="en-US" sz="3600">
                <a:solidFill>
                  <a:schemeClr val="tx1"/>
                </a:solidFill>
                <a:latin typeface="+mj-lt"/>
              </a:rPr>
              <a:t> a;</a:t>
            </a:r>
          </a:p>
          <a:p>
            <a:r>
              <a:rPr lang="en-US" sz="3600">
                <a:solidFill>
                  <a:srgbClr val="00007F"/>
                </a:solidFill>
                <a:latin typeface="+mj-lt"/>
              </a:rPr>
              <a:t>int</a:t>
            </a:r>
            <a:r>
              <a:rPr lang="en-US" sz="3600">
                <a:solidFill>
                  <a:schemeClr val="tx1"/>
                </a:solidFill>
                <a:latin typeface="+mj-lt"/>
              </a:rPr>
              <a:t> b;</a:t>
            </a:r>
          </a:p>
          <a:p>
            <a:r>
              <a:rPr lang="en-US" sz="3600">
                <a:solidFill>
                  <a:schemeClr val="tx1"/>
                </a:solidFill>
                <a:latin typeface="+mj-lt"/>
              </a:rPr>
              <a:t>a = </a:t>
            </a:r>
            <a:r>
              <a:rPr lang="en-US" sz="3600">
                <a:solidFill>
                  <a:srgbClr val="09B5B6"/>
                </a:solidFill>
                <a:latin typeface="+mj-lt"/>
              </a:rPr>
              <a:t>3</a:t>
            </a:r>
            <a:r>
              <a:rPr lang="en-US" sz="3600">
                <a:solidFill>
                  <a:schemeClr val="tx1"/>
                </a:solidFill>
                <a:latin typeface="+mj-lt"/>
              </a:rPr>
              <a:t>;</a:t>
            </a:r>
          </a:p>
          <a:p>
            <a:r>
              <a:rPr lang="en-US" sz="3600">
                <a:solidFill>
                  <a:schemeClr val="tx1"/>
                </a:solidFill>
                <a:latin typeface="+mj-lt"/>
              </a:rPr>
              <a:t>b = a;</a:t>
            </a:r>
          </a:p>
          <a:p>
            <a:r>
              <a:rPr lang="en-US" sz="3600">
                <a:solidFill>
                  <a:schemeClr val="tx1"/>
                </a:solidFill>
                <a:latin typeface="+mj-lt"/>
              </a:rPr>
              <a:t>a = </a:t>
            </a:r>
            <a:r>
              <a:rPr lang="en-US" sz="3600">
                <a:solidFill>
                  <a:srgbClr val="09B5B6"/>
                </a:solidFill>
                <a:latin typeface="+mj-lt"/>
              </a:rPr>
              <a:t>7</a:t>
            </a:r>
            <a:r>
              <a:rPr lang="en-US" sz="3600">
                <a:solidFill>
                  <a:schemeClr val="tx1"/>
                </a:solidFill>
                <a:latin typeface="+mj-lt"/>
              </a:rPr>
              <a:t>;</a:t>
            </a:r>
          </a:p>
          <a:p>
            <a:endParaRPr lang="en-US" sz="3600">
              <a:solidFill>
                <a:schemeClr val="tx1"/>
              </a:solidFill>
              <a:latin typeface="+mj-lt"/>
            </a:endParaRPr>
          </a:p>
        </p:txBody>
      </p:sp>
      <p:sp>
        <p:nvSpPr>
          <p:cNvPr id="4" name="TextBox 3">
            <a:extLst>
              <a:ext uri="{FF2B5EF4-FFF2-40B4-BE49-F238E27FC236}">
                <a16:creationId xmlns:a16="http://schemas.microsoft.com/office/drawing/2014/main" id="{46E254F6-203A-C558-D864-C028170745B4}"/>
              </a:ext>
            </a:extLst>
          </p:cNvPr>
          <p:cNvSpPr txBox="1"/>
          <p:nvPr/>
        </p:nvSpPr>
        <p:spPr>
          <a:xfrm>
            <a:off x="446694" y="685848"/>
            <a:ext cx="2029291" cy="584775"/>
          </a:xfrm>
          <a:prstGeom prst="rect">
            <a:avLst/>
          </a:prstGeom>
          <a:noFill/>
        </p:spPr>
        <p:txBody>
          <a:bodyPr wrap="square">
            <a:spAutoFit/>
          </a:bodyPr>
          <a:lstStyle/>
          <a:p>
            <a:pPr algn="ctr"/>
            <a:r>
              <a:rPr lang="en-US" sz="3200">
                <a:latin typeface="+mj-lt"/>
              </a:rPr>
              <a:t>a</a:t>
            </a:r>
            <a:endParaRPr lang="en-US" sz="3200"/>
          </a:p>
        </p:txBody>
      </p:sp>
      <p:sp>
        <p:nvSpPr>
          <p:cNvPr id="5" name="Rectangle 4">
            <a:extLst>
              <a:ext uri="{FF2B5EF4-FFF2-40B4-BE49-F238E27FC236}">
                <a16:creationId xmlns:a16="http://schemas.microsoft.com/office/drawing/2014/main" id="{5510408F-01B8-B2AD-9844-7031B42F40F9}"/>
              </a:ext>
            </a:extLst>
          </p:cNvPr>
          <p:cNvSpPr/>
          <p:nvPr/>
        </p:nvSpPr>
        <p:spPr>
          <a:xfrm>
            <a:off x="1004140" y="1238265"/>
            <a:ext cx="914400"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7</a:t>
            </a:r>
            <a:endParaRPr lang="en-US" sz="2800">
              <a:solidFill>
                <a:schemeClr val="accent1"/>
              </a:solidFill>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9F64E740-6264-473D-A515-9AD85EDBAC6A}"/>
              </a:ext>
            </a:extLst>
          </p:cNvPr>
          <p:cNvSpPr txBox="1"/>
          <p:nvPr/>
        </p:nvSpPr>
        <p:spPr>
          <a:xfrm>
            <a:off x="3279063" y="685848"/>
            <a:ext cx="2029291" cy="584775"/>
          </a:xfrm>
          <a:prstGeom prst="rect">
            <a:avLst/>
          </a:prstGeom>
          <a:noFill/>
        </p:spPr>
        <p:txBody>
          <a:bodyPr wrap="square">
            <a:spAutoFit/>
          </a:bodyPr>
          <a:lstStyle/>
          <a:p>
            <a:pPr algn="ctr"/>
            <a:r>
              <a:rPr lang="en-US" sz="3200">
                <a:latin typeface="+mj-lt"/>
              </a:rPr>
              <a:t>b</a:t>
            </a:r>
            <a:endParaRPr lang="en-US" sz="3200"/>
          </a:p>
        </p:txBody>
      </p:sp>
      <p:sp>
        <p:nvSpPr>
          <p:cNvPr id="7" name="Rectangle 6">
            <a:extLst>
              <a:ext uri="{FF2B5EF4-FFF2-40B4-BE49-F238E27FC236}">
                <a16:creationId xmlns:a16="http://schemas.microsoft.com/office/drawing/2014/main" id="{1DD310D0-BC0A-F135-40ED-AC41766C0AF4}"/>
              </a:ext>
            </a:extLst>
          </p:cNvPr>
          <p:cNvSpPr/>
          <p:nvPr/>
        </p:nvSpPr>
        <p:spPr>
          <a:xfrm>
            <a:off x="3836509" y="1238265"/>
            <a:ext cx="914400"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3</a:t>
            </a:r>
            <a:endParaRPr lang="en-US" sz="2800">
              <a:solidFill>
                <a:schemeClr val="accent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392351504"/>
      </p:ext>
    </p:extLst>
  </p:cSld>
  <p:clrMapOvr>
    <a:masterClrMapping/>
  </p:clrMapOvr>
</p:sld>
</file>

<file path=ppt/slides/slide4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7888F-23D3-4A68-F1E5-A28EF303C5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3B8F9-3A5B-F92B-0F43-C7401E8C733F}"/>
              </a:ext>
            </a:extLst>
          </p:cNvPr>
          <p:cNvSpPr>
            <a:spLocks noGrp="1"/>
          </p:cNvSpPr>
          <p:nvPr>
            <p:ph type="title"/>
          </p:nvPr>
        </p:nvSpPr>
        <p:spPr/>
        <p:txBody>
          <a:bodyPr/>
          <a:lstStyle/>
          <a:p>
            <a:r>
              <a:rPr lang="en-US" sz="4800"/>
              <a:t>Objects live on the heap</a:t>
            </a:r>
            <a:br>
              <a:rPr lang="en-US" sz="4800"/>
            </a:br>
            <a:r>
              <a:rPr lang="en-US" sz="3200"/>
              <a:t>(but local variable </a:t>
            </a:r>
            <a:r>
              <a:rPr lang="en-US" sz="3200" i="1"/>
              <a:t>references to objects</a:t>
            </a:r>
            <a:r>
              <a:rPr lang="en-US" sz="3200"/>
              <a:t> live on the stack)</a:t>
            </a:r>
            <a:endParaRPr lang="en-US"/>
          </a:p>
        </p:txBody>
      </p:sp>
    </p:spTree>
    <p:extLst>
      <p:ext uri="{BB962C8B-B14F-4D97-AF65-F5344CB8AC3E}">
        <p14:creationId xmlns:p14="http://schemas.microsoft.com/office/powerpoint/2010/main" val="1401852880"/>
      </p:ext>
    </p:extLst>
  </p:cSld>
  <p:clrMapOvr>
    <a:masterClrMapping/>
  </p:clrMapOvr>
</p:sld>
</file>

<file path=ppt/slides/slide4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03364-78EE-3C4B-F9E7-E8785D3790C0}"/>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5F3EE2BD-761E-A448-EBB9-BFFC19CAD9C1}"/>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5E1CE104-F05A-FDDB-9687-A15CD392D99F}"/>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196CDAA-CCE3-4458-094A-556992E7CF0A}"/>
              </a:ext>
            </a:extLst>
          </p:cNvPr>
          <p:cNvSpPr txBox="1"/>
          <p:nvPr/>
        </p:nvSpPr>
        <p:spPr>
          <a:xfrm>
            <a:off x="-1" y="484336"/>
            <a:ext cx="9144000" cy="1569660"/>
          </a:xfrm>
          <a:prstGeom prst="rect">
            <a:avLst/>
          </a:prstGeom>
          <a:noFill/>
        </p:spPr>
        <p:txBody>
          <a:bodyPr wrap="square" rtlCol="0">
            <a:spAutoFit/>
          </a:bodyPr>
          <a:lstStyle/>
          <a:p>
            <a:pPr algn="ctr"/>
            <a:r>
              <a:rPr lang="en-US" sz="4800"/>
              <a:t>"the stack"</a:t>
            </a:r>
          </a:p>
          <a:p>
            <a:pPr algn="ctr"/>
            <a:r>
              <a:rPr lang="en-US" sz="2400" b="1"/>
              <a:t>local variable primitives</a:t>
            </a:r>
            <a:r>
              <a:rPr lang="en-US" sz="2400"/>
              <a:t> &amp; </a:t>
            </a:r>
            <a:r>
              <a:rPr lang="en-US" sz="2400" b="1"/>
              <a:t>references</a:t>
            </a:r>
            <a:r>
              <a:rPr lang="en-US" sz="2400"/>
              <a:t> to Objects live here</a:t>
            </a:r>
          </a:p>
          <a:p>
            <a:pPr algn="ctr"/>
            <a:r>
              <a:rPr lang="en-US" sz="2400"/>
              <a:t>variables</a:t>
            </a:r>
            <a:r>
              <a:rPr lang="en-US" sz="2400" b="1" i="1"/>
              <a:t> undefined</a:t>
            </a:r>
            <a:r>
              <a:rPr lang="en-US" sz="2400" i="1"/>
              <a:t> </a:t>
            </a:r>
            <a:r>
              <a:rPr lang="en-US" sz="2400"/>
              <a:t>(?)</a:t>
            </a:r>
            <a:r>
              <a:rPr lang="en-US" sz="2400" i="1"/>
              <a:t> </a:t>
            </a:r>
            <a:r>
              <a:rPr lang="en-US" sz="2400"/>
              <a:t>by default (will NOT compile if used)</a:t>
            </a:r>
          </a:p>
        </p:txBody>
      </p:sp>
      <p:sp>
        <p:nvSpPr>
          <p:cNvPr id="3" name="TextBox 2">
            <a:extLst>
              <a:ext uri="{FF2B5EF4-FFF2-40B4-BE49-F238E27FC236}">
                <a16:creationId xmlns:a16="http://schemas.microsoft.com/office/drawing/2014/main" id="{0278C8A9-334B-794B-C0E6-22C7F0ED2FD9}"/>
              </a:ext>
            </a:extLst>
          </p:cNvPr>
          <p:cNvSpPr txBox="1"/>
          <p:nvPr/>
        </p:nvSpPr>
        <p:spPr>
          <a:xfrm>
            <a:off x="446311" y="3032002"/>
            <a:ext cx="8251376" cy="1661993"/>
          </a:xfrm>
          <a:prstGeom prst="rect">
            <a:avLst/>
          </a:prstGeom>
          <a:noFill/>
        </p:spPr>
        <p:txBody>
          <a:bodyPr wrap="square" rtlCol="0">
            <a:spAutoFit/>
          </a:bodyPr>
          <a:lstStyle/>
          <a:p>
            <a:pPr algn="ctr"/>
            <a:r>
              <a:rPr lang="en-US" sz="5400"/>
              <a:t>"the heap"</a:t>
            </a:r>
          </a:p>
          <a:p>
            <a:pPr algn="ctr"/>
            <a:r>
              <a:rPr lang="en-US" sz="2400"/>
              <a:t>the actual </a:t>
            </a:r>
            <a:r>
              <a:rPr lang="en-US" sz="2400" b="1"/>
              <a:t>Objects </a:t>
            </a:r>
            <a:r>
              <a:rPr lang="en-US" sz="2400"/>
              <a:t>(including arrays and Strings) live here</a:t>
            </a:r>
            <a:endParaRPr lang="en-US" sz="2400" b="1"/>
          </a:p>
          <a:p>
            <a:pPr algn="ctr"/>
            <a:r>
              <a:rPr lang="en-US" sz="2400"/>
              <a:t>Objects are</a:t>
            </a:r>
            <a:r>
              <a:rPr lang="en-US" sz="2400" i="1"/>
              <a:t> cleared to 0 </a:t>
            </a:r>
            <a:r>
              <a:rPr lang="en-US" sz="2400"/>
              <a:t>by default</a:t>
            </a:r>
            <a:endParaRPr lang="en-US" sz="5400"/>
          </a:p>
        </p:txBody>
      </p:sp>
    </p:spTree>
    <p:extLst>
      <p:ext uri="{BB962C8B-B14F-4D97-AF65-F5344CB8AC3E}">
        <p14:creationId xmlns:p14="http://schemas.microsoft.com/office/powerpoint/2010/main" val="1861512016"/>
      </p:ext>
    </p:extLst>
  </p:cSld>
  <p:clrMapOvr>
    <a:masterClrMapping/>
  </p:clrMapOvr>
</p:sld>
</file>

<file path=ppt/slides/slide4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E2F3D-E61E-7137-49B0-45DA8A6D2571}"/>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2CFE46FB-C596-7F12-46CF-5BB9AB4910E4}"/>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cxnSp>
        <p:nvCxnSpPr>
          <p:cNvPr id="2" name="Straight Connector 1">
            <a:extLst>
              <a:ext uri="{FF2B5EF4-FFF2-40B4-BE49-F238E27FC236}">
                <a16:creationId xmlns:a16="http://schemas.microsoft.com/office/drawing/2014/main" id="{3258A6A1-EB81-7151-E3AB-F95071696BF1}"/>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57481610-A4B6-0B93-FC19-1034691ECD21}"/>
              </a:ext>
            </a:extLst>
          </p:cNvPr>
          <p:cNvSpPr/>
          <p:nvPr/>
        </p:nvSpPr>
        <p:spPr>
          <a:xfrm>
            <a:off x="5995686" y="-2"/>
            <a:ext cx="3148314"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400">
                <a:solidFill>
                  <a:schemeClr val="bg1">
                    <a:lumMod val="65000"/>
                  </a:schemeClr>
                </a:solidFill>
                <a:latin typeface="+mj-lt"/>
              </a:rPr>
              <a:t>class Thing {</a:t>
            </a:r>
          </a:p>
          <a:p>
            <a:r>
              <a:rPr lang="en-US" sz="2400">
                <a:solidFill>
                  <a:schemeClr val="bg1">
                    <a:lumMod val="65000"/>
                  </a:schemeClr>
                </a:solidFill>
                <a:latin typeface="+mj-lt"/>
              </a:rPr>
              <a:t>  double x;</a:t>
            </a:r>
          </a:p>
          <a:p>
            <a:r>
              <a:rPr lang="en-US" sz="2400">
                <a:solidFill>
                  <a:schemeClr val="bg1">
                    <a:lumMod val="65000"/>
                  </a:schemeClr>
                </a:solidFill>
                <a:latin typeface="+mj-lt"/>
              </a:rPr>
              <a:t>  double y;</a:t>
            </a:r>
          </a:p>
          <a:p>
            <a:r>
              <a:rPr lang="en-US" sz="2400">
                <a:solidFill>
                  <a:schemeClr val="bg1">
                    <a:lumMod val="65000"/>
                  </a:schemeClr>
                </a:solidFill>
                <a:latin typeface="+mj-lt"/>
              </a:rPr>
              <a:t>}</a:t>
            </a:r>
          </a:p>
          <a:p>
            <a:endParaRPr lang="en-US" sz="2400">
              <a:solidFill>
                <a:schemeClr val="tx1"/>
              </a:solidFill>
              <a:latin typeface="+mj-lt"/>
            </a:endParaRPr>
          </a:p>
          <a:p>
            <a:r>
              <a:rPr lang="en-US" sz="2400">
                <a:solidFill>
                  <a:srgbClr val="00007F"/>
                </a:solidFill>
                <a:latin typeface="+mj-lt"/>
              </a:rPr>
              <a:t>Thing </a:t>
            </a:r>
            <a:r>
              <a:rPr lang="en-US" sz="2400">
                <a:solidFill>
                  <a:schemeClr val="tx1"/>
                </a:solidFill>
                <a:latin typeface="+mj-lt"/>
              </a:rPr>
              <a:t>a;</a:t>
            </a:r>
          </a:p>
          <a:p>
            <a:r>
              <a:rPr lang="en-US" sz="2400">
                <a:solidFill>
                  <a:schemeClr val="tx1"/>
                </a:solidFill>
                <a:latin typeface="+mj-lt"/>
              </a:rPr>
              <a:t>a = new Thing();</a:t>
            </a:r>
          </a:p>
          <a:p>
            <a:r>
              <a:rPr lang="en-US" sz="2400">
                <a:solidFill>
                  <a:srgbClr val="00007F"/>
                </a:solidFill>
                <a:latin typeface="+mj-lt"/>
              </a:rPr>
              <a:t>Thing </a:t>
            </a:r>
            <a:r>
              <a:rPr lang="en-US" sz="2400">
                <a:solidFill>
                  <a:schemeClr val="tx1"/>
                </a:solidFill>
                <a:latin typeface="+mj-lt"/>
              </a:rPr>
              <a:t>b</a:t>
            </a:r>
            <a:r>
              <a:rPr lang="en-US" sz="2400">
                <a:solidFill>
                  <a:srgbClr val="00007F"/>
                </a:solidFill>
                <a:latin typeface="+mj-lt"/>
              </a:rPr>
              <a:t>;</a:t>
            </a:r>
          </a:p>
          <a:p>
            <a:r>
              <a:rPr lang="en-US" sz="2400">
                <a:solidFill>
                  <a:schemeClr val="tx1"/>
                </a:solidFill>
                <a:latin typeface="+mj-lt"/>
              </a:rPr>
              <a:t>b = a;</a:t>
            </a:r>
          </a:p>
          <a:p>
            <a:r>
              <a:rPr lang="en-US" sz="2400">
                <a:solidFill>
                  <a:schemeClr val="tx1"/>
                </a:solidFill>
                <a:latin typeface="+mj-lt"/>
              </a:rPr>
              <a:t>a.x = </a:t>
            </a:r>
            <a:r>
              <a:rPr lang="en-US" sz="2400">
                <a:solidFill>
                  <a:srgbClr val="09B5B6"/>
                </a:solidFill>
                <a:latin typeface="+mj-lt"/>
              </a:rPr>
              <a:t>3.0</a:t>
            </a:r>
            <a:r>
              <a:rPr lang="en-US" sz="2400">
                <a:solidFill>
                  <a:schemeClr val="tx1"/>
                </a:solidFill>
                <a:latin typeface="+mj-lt"/>
              </a:rPr>
              <a:t>;</a:t>
            </a:r>
          </a:p>
          <a:p>
            <a:r>
              <a:rPr lang="en-US" sz="2400">
                <a:solidFill>
                  <a:schemeClr val="tx1"/>
                </a:solidFill>
                <a:latin typeface="+mj-lt"/>
              </a:rPr>
              <a:t>b.y = </a:t>
            </a:r>
            <a:r>
              <a:rPr lang="en-US" sz="2400">
                <a:solidFill>
                  <a:srgbClr val="09B5B6"/>
                </a:solidFill>
                <a:latin typeface="+mj-lt"/>
              </a:rPr>
              <a:t>4.0</a:t>
            </a:r>
            <a:r>
              <a:rPr lang="en-US" sz="2400">
                <a:solidFill>
                  <a:schemeClr val="tx1"/>
                </a:solidFill>
                <a:latin typeface="+mj-lt"/>
              </a:rPr>
              <a:t>;</a:t>
            </a:r>
          </a:p>
          <a:p>
            <a:r>
              <a:rPr lang="en-US" sz="2400">
                <a:solidFill>
                  <a:schemeClr val="tx1"/>
                </a:solidFill>
                <a:latin typeface="+mj-lt"/>
              </a:rPr>
              <a:t>a = </a:t>
            </a:r>
            <a:r>
              <a:rPr lang="en-US" sz="2400">
                <a:solidFill>
                  <a:srgbClr val="0432FF"/>
                </a:solidFill>
                <a:latin typeface="+mj-lt"/>
              </a:rPr>
              <a:t>null</a:t>
            </a:r>
            <a:r>
              <a:rPr lang="en-US" sz="2400">
                <a:solidFill>
                  <a:schemeClr val="tx1"/>
                </a:solidFill>
                <a:latin typeface="+mj-lt"/>
              </a:rPr>
              <a:t>;</a:t>
            </a:r>
          </a:p>
        </p:txBody>
      </p:sp>
    </p:spTree>
    <p:extLst>
      <p:ext uri="{BB962C8B-B14F-4D97-AF65-F5344CB8AC3E}">
        <p14:creationId xmlns:p14="http://schemas.microsoft.com/office/powerpoint/2010/main" val="994903996"/>
      </p:ext>
    </p:extLst>
  </p:cSld>
  <p:clrMapOvr>
    <a:masterClrMapping/>
  </p:clrMapOvr>
</p:sld>
</file>

<file path=ppt/slides/slide4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6D785-6CE4-0427-E8E4-E1EE26318483}"/>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6004250C-6819-56EC-8AF1-A1F4F6344AF4}"/>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cxnSp>
        <p:nvCxnSpPr>
          <p:cNvPr id="2" name="Straight Connector 1">
            <a:extLst>
              <a:ext uri="{FF2B5EF4-FFF2-40B4-BE49-F238E27FC236}">
                <a16:creationId xmlns:a16="http://schemas.microsoft.com/office/drawing/2014/main" id="{A1B66684-21D4-18A3-DA53-E16A674372ED}"/>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2CF25A2A-E860-6780-8618-9AD07FA9BEB1}"/>
              </a:ext>
            </a:extLst>
          </p:cNvPr>
          <p:cNvSpPr/>
          <p:nvPr/>
        </p:nvSpPr>
        <p:spPr>
          <a:xfrm>
            <a:off x="5995686" y="-2"/>
            <a:ext cx="3148314"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400">
                <a:solidFill>
                  <a:srgbClr val="0432FF"/>
                </a:solidFill>
                <a:latin typeface="+mj-lt"/>
              </a:rPr>
              <a:t>class</a:t>
            </a:r>
            <a:r>
              <a:rPr lang="en-US" sz="2400">
                <a:solidFill>
                  <a:schemeClr val="tx1"/>
                </a:solidFill>
                <a:latin typeface="+mj-lt"/>
              </a:rPr>
              <a:t> </a:t>
            </a:r>
            <a:r>
              <a:rPr lang="en-US" sz="2400">
                <a:solidFill>
                  <a:srgbClr val="00007F"/>
                </a:solidFill>
                <a:latin typeface="+mj-lt"/>
              </a:rPr>
              <a:t>Thing </a:t>
            </a:r>
            <a:r>
              <a:rPr lang="en-US" sz="2400">
                <a:solidFill>
                  <a:schemeClr val="tx1"/>
                </a:solidFill>
                <a:latin typeface="+mj-lt"/>
              </a:rPr>
              <a:t>{</a:t>
            </a:r>
          </a:p>
          <a:p>
            <a:r>
              <a:rPr lang="en-US" sz="2400">
                <a:solidFill>
                  <a:schemeClr val="tx1"/>
                </a:solidFill>
                <a:latin typeface="+mj-lt"/>
              </a:rPr>
              <a:t>  </a:t>
            </a:r>
            <a:r>
              <a:rPr lang="en-US" sz="2400">
                <a:solidFill>
                  <a:srgbClr val="00007F"/>
                </a:solidFill>
                <a:latin typeface="+mj-lt"/>
              </a:rPr>
              <a:t>double</a:t>
            </a:r>
            <a:r>
              <a:rPr lang="en-US" sz="2400">
                <a:solidFill>
                  <a:schemeClr val="tx1"/>
                </a:solidFill>
                <a:latin typeface="+mj-lt"/>
              </a:rPr>
              <a:t> x;</a:t>
            </a:r>
          </a:p>
          <a:p>
            <a:r>
              <a:rPr lang="en-US" sz="2400">
                <a:solidFill>
                  <a:schemeClr val="tx1"/>
                </a:solidFill>
                <a:latin typeface="+mj-lt"/>
              </a:rPr>
              <a:t>  </a:t>
            </a:r>
            <a:r>
              <a:rPr lang="en-US" sz="2400">
                <a:solidFill>
                  <a:srgbClr val="00007F"/>
                </a:solidFill>
                <a:latin typeface="+mj-lt"/>
              </a:rPr>
              <a:t>double</a:t>
            </a:r>
            <a:r>
              <a:rPr lang="en-US" sz="2400">
                <a:solidFill>
                  <a:schemeClr val="tx1"/>
                </a:solidFill>
                <a:latin typeface="+mj-lt"/>
              </a:rPr>
              <a:t> y;</a:t>
            </a:r>
          </a:p>
          <a:p>
            <a:r>
              <a:rPr lang="en-US" sz="2400">
                <a:solidFill>
                  <a:schemeClr val="tx1"/>
                </a:solidFill>
                <a:latin typeface="+mj-lt"/>
              </a:rPr>
              <a:t>}</a:t>
            </a:r>
          </a:p>
          <a:p>
            <a:endParaRPr lang="en-US" sz="2400">
              <a:solidFill>
                <a:schemeClr val="tx1"/>
              </a:solidFill>
              <a:latin typeface="+mj-lt"/>
            </a:endParaRPr>
          </a:p>
          <a:p>
            <a:r>
              <a:rPr lang="en-US" sz="2400">
                <a:solidFill>
                  <a:srgbClr val="00007F"/>
                </a:solidFill>
                <a:highlight>
                  <a:srgbClr val="FFFF00"/>
                </a:highlight>
                <a:latin typeface="+mj-lt"/>
              </a:rPr>
              <a:t>Thing </a:t>
            </a:r>
            <a:r>
              <a:rPr lang="en-US" sz="2400">
                <a:solidFill>
                  <a:schemeClr val="tx1"/>
                </a:solidFill>
                <a:highlight>
                  <a:srgbClr val="FFFF00"/>
                </a:highlight>
                <a:latin typeface="+mj-lt"/>
              </a:rPr>
              <a:t>a;</a:t>
            </a:r>
          </a:p>
          <a:p>
            <a:r>
              <a:rPr lang="en-US" sz="2400">
                <a:solidFill>
                  <a:schemeClr val="tx1"/>
                </a:solidFill>
                <a:latin typeface="+mj-lt"/>
              </a:rPr>
              <a:t>a = new Thing();</a:t>
            </a:r>
          </a:p>
          <a:p>
            <a:r>
              <a:rPr lang="en-US" sz="2400">
                <a:solidFill>
                  <a:srgbClr val="00007F"/>
                </a:solidFill>
                <a:latin typeface="+mj-lt"/>
              </a:rPr>
              <a:t>Thing </a:t>
            </a:r>
            <a:r>
              <a:rPr lang="en-US" sz="2400">
                <a:solidFill>
                  <a:schemeClr val="tx1"/>
                </a:solidFill>
                <a:latin typeface="+mj-lt"/>
              </a:rPr>
              <a:t>b</a:t>
            </a:r>
            <a:r>
              <a:rPr lang="en-US" sz="2400">
                <a:solidFill>
                  <a:srgbClr val="00007F"/>
                </a:solidFill>
                <a:latin typeface="+mj-lt"/>
              </a:rPr>
              <a:t>;</a:t>
            </a:r>
          </a:p>
          <a:p>
            <a:r>
              <a:rPr lang="en-US" sz="2400">
                <a:solidFill>
                  <a:schemeClr val="tx1"/>
                </a:solidFill>
                <a:latin typeface="+mj-lt"/>
              </a:rPr>
              <a:t>b = a;</a:t>
            </a:r>
          </a:p>
          <a:p>
            <a:r>
              <a:rPr lang="en-US" sz="2400">
                <a:solidFill>
                  <a:schemeClr val="tx1"/>
                </a:solidFill>
                <a:latin typeface="+mj-lt"/>
              </a:rPr>
              <a:t>a.x = </a:t>
            </a:r>
            <a:r>
              <a:rPr lang="en-US" sz="2400">
                <a:solidFill>
                  <a:srgbClr val="09B5B6"/>
                </a:solidFill>
                <a:latin typeface="+mj-lt"/>
              </a:rPr>
              <a:t>3.0</a:t>
            </a:r>
            <a:r>
              <a:rPr lang="en-US" sz="2400">
                <a:solidFill>
                  <a:schemeClr val="tx1"/>
                </a:solidFill>
                <a:latin typeface="+mj-lt"/>
              </a:rPr>
              <a:t>;</a:t>
            </a:r>
          </a:p>
          <a:p>
            <a:r>
              <a:rPr lang="en-US" sz="2400">
                <a:solidFill>
                  <a:schemeClr val="tx1"/>
                </a:solidFill>
                <a:latin typeface="+mj-lt"/>
              </a:rPr>
              <a:t>b.y = </a:t>
            </a:r>
            <a:r>
              <a:rPr lang="en-US" sz="2400">
                <a:solidFill>
                  <a:srgbClr val="09B5B6"/>
                </a:solidFill>
                <a:latin typeface="+mj-lt"/>
              </a:rPr>
              <a:t>4.0</a:t>
            </a:r>
            <a:r>
              <a:rPr lang="en-US" sz="2400">
                <a:solidFill>
                  <a:schemeClr val="tx1"/>
                </a:solidFill>
                <a:latin typeface="+mj-lt"/>
              </a:rPr>
              <a:t>;</a:t>
            </a:r>
          </a:p>
          <a:p>
            <a:r>
              <a:rPr lang="en-US" sz="2400">
                <a:solidFill>
                  <a:schemeClr val="tx1"/>
                </a:solidFill>
                <a:latin typeface="+mj-lt"/>
              </a:rPr>
              <a:t>a = </a:t>
            </a:r>
            <a:r>
              <a:rPr lang="en-US" sz="2400">
                <a:solidFill>
                  <a:srgbClr val="0432FF"/>
                </a:solidFill>
                <a:latin typeface="+mj-lt"/>
              </a:rPr>
              <a:t>null</a:t>
            </a:r>
            <a:r>
              <a:rPr lang="en-US" sz="2400">
                <a:solidFill>
                  <a:schemeClr val="tx1"/>
                </a:solidFill>
                <a:latin typeface="+mj-lt"/>
              </a:rPr>
              <a:t>;</a:t>
            </a:r>
          </a:p>
        </p:txBody>
      </p:sp>
      <p:sp>
        <p:nvSpPr>
          <p:cNvPr id="5" name="TextBox 4">
            <a:extLst>
              <a:ext uri="{FF2B5EF4-FFF2-40B4-BE49-F238E27FC236}">
                <a16:creationId xmlns:a16="http://schemas.microsoft.com/office/drawing/2014/main" id="{5CA99ECF-7076-B0F4-7C0C-935939612B07}"/>
              </a:ext>
            </a:extLst>
          </p:cNvPr>
          <p:cNvSpPr txBox="1"/>
          <p:nvPr/>
        </p:nvSpPr>
        <p:spPr>
          <a:xfrm>
            <a:off x="1169044" y="685848"/>
            <a:ext cx="584592" cy="584775"/>
          </a:xfrm>
          <a:prstGeom prst="rect">
            <a:avLst/>
          </a:prstGeom>
          <a:noFill/>
        </p:spPr>
        <p:txBody>
          <a:bodyPr wrap="square">
            <a:spAutoFit/>
          </a:bodyPr>
          <a:lstStyle/>
          <a:p>
            <a:pPr algn="ctr"/>
            <a:r>
              <a:rPr lang="en-US" sz="3200">
                <a:latin typeface="+mj-lt"/>
              </a:rPr>
              <a:t>a</a:t>
            </a:r>
            <a:endParaRPr lang="en-US" sz="3200"/>
          </a:p>
        </p:txBody>
      </p:sp>
      <p:sp>
        <p:nvSpPr>
          <p:cNvPr id="6" name="Rectangle 5">
            <a:extLst>
              <a:ext uri="{FF2B5EF4-FFF2-40B4-BE49-F238E27FC236}">
                <a16:creationId xmlns:a16="http://schemas.microsoft.com/office/drawing/2014/main" id="{7023F91B-D525-357A-B55F-80BAA2955C56}"/>
              </a:ext>
            </a:extLst>
          </p:cNvPr>
          <p:cNvSpPr/>
          <p:nvPr/>
        </p:nvSpPr>
        <p:spPr>
          <a:xfrm>
            <a:off x="943407" y="1238265"/>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1"/>
                </a:solidFill>
                <a:highlight>
                  <a:srgbClr val="FFFF00"/>
                </a:highlight>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1552724989"/>
      </p:ext>
    </p:extLst>
  </p:cSld>
  <p:clrMapOvr>
    <a:masterClrMapping/>
  </p:clrMapOvr>
</p:sld>
</file>

<file path=ppt/slides/slide4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85E15-807E-8AC5-082B-7969F10197A3}"/>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D0AB1562-7FF9-437E-1DF3-3BA9909F6517}"/>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cxnSp>
        <p:nvCxnSpPr>
          <p:cNvPr id="2" name="Straight Connector 1">
            <a:extLst>
              <a:ext uri="{FF2B5EF4-FFF2-40B4-BE49-F238E27FC236}">
                <a16:creationId xmlns:a16="http://schemas.microsoft.com/office/drawing/2014/main" id="{D8ADA766-71EC-9D23-CBA2-0DC2EF382349}"/>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1B0F1220-5BE9-5F37-2F56-1D0D396E495F}"/>
              </a:ext>
            </a:extLst>
          </p:cNvPr>
          <p:cNvSpPr/>
          <p:nvPr/>
        </p:nvSpPr>
        <p:spPr>
          <a:xfrm>
            <a:off x="5995686" y="-2"/>
            <a:ext cx="3148314"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400">
                <a:solidFill>
                  <a:srgbClr val="0432FF"/>
                </a:solidFill>
                <a:latin typeface="+mj-lt"/>
              </a:rPr>
              <a:t>class</a:t>
            </a:r>
            <a:r>
              <a:rPr lang="en-US" sz="2400">
                <a:solidFill>
                  <a:schemeClr val="tx1"/>
                </a:solidFill>
                <a:latin typeface="+mj-lt"/>
              </a:rPr>
              <a:t> </a:t>
            </a:r>
            <a:r>
              <a:rPr lang="en-US" sz="2400">
                <a:solidFill>
                  <a:srgbClr val="00007F"/>
                </a:solidFill>
                <a:latin typeface="+mj-lt"/>
              </a:rPr>
              <a:t>Thing </a:t>
            </a:r>
            <a:r>
              <a:rPr lang="en-US" sz="2400">
                <a:solidFill>
                  <a:schemeClr val="tx1"/>
                </a:solidFill>
                <a:latin typeface="+mj-lt"/>
              </a:rPr>
              <a:t>{</a:t>
            </a:r>
          </a:p>
          <a:p>
            <a:r>
              <a:rPr lang="en-US" sz="2400">
                <a:solidFill>
                  <a:schemeClr val="tx1"/>
                </a:solidFill>
                <a:latin typeface="+mj-lt"/>
              </a:rPr>
              <a:t>  </a:t>
            </a:r>
            <a:r>
              <a:rPr lang="en-US" sz="2400">
                <a:solidFill>
                  <a:srgbClr val="00007F"/>
                </a:solidFill>
                <a:latin typeface="+mj-lt"/>
              </a:rPr>
              <a:t>double</a:t>
            </a:r>
            <a:r>
              <a:rPr lang="en-US" sz="2400">
                <a:solidFill>
                  <a:schemeClr val="tx1"/>
                </a:solidFill>
                <a:latin typeface="+mj-lt"/>
              </a:rPr>
              <a:t> x;</a:t>
            </a:r>
          </a:p>
          <a:p>
            <a:r>
              <a:rPr lang="en-US" sz="2400">
                <a:solidFill>
                  <a:schemeClr val="tx1"/>
                </a:solidFill>
                <a:latin typeface="+mj-lt"/>
              </a:rPr>
              <a:t>  </a:t>
            </a:r>
            <a:r>
              <a:rPr lang="en-US" sz="2400">
                <a:solidFill>
                  <a:srgbClr val="00007F"/>
                </a:solidFill>
                <a:latin typeface="+mj-lt"/>
              </a:rPr>
              <a:t>double</a:t>
            </a:r>
            <a:r>
              <a:rPr lang="en-US" sz="2400">
                <a:solidFill>
                  <a:schemeClr val="tx1"/>
                </a:solidFill>
                <a:latin typeface="+mj-lt"/>
              </a:rPr>
              <a:t> y;</a:t>
            </a:r>
          </a:p>
          <a:p>
            <a:r>
              <a:rPr lang="en-US" sz="2400">
                <a:solidFill>
                  <a:schemeClr val="tx1"/>
                </a:solidFill>
                <a:latin typeface="+mj-lt"/>
              </a:rPr>
              <a:t>}</a:t>
            </a:r>
          </a:p>
          <a:p>
            <a:endParaRPr lang="en-US" sz="2400">
              <a:solidFill>
                <a:schemeClr val="tx1"/>
              </a:solidFill>
              <a:latin typeface="+mj-lt"/>
            </a:endParaRPr>
          </a:p>
          <a:p>
            <a:r>
              <a:rPr lang="en-US" sz="2400">
                <a:solidFill>
                  <a:srgbClr val="00007F"/>
                </a:solidFill>
                <a:latin typeface="+mj-lt"/>
              </a:rPr>
              <a:t>Thing </a:t>
            </a:r>
            <a:r>
              <a:rPr lang="en-US" sz="2400">
                <a:solidFill>
                  <a:schemeClr val="tx1"/>
                </a:solidFill>
                <a:latin typeface="+mj-lt"/>
              </a:rPr>
              <a:t>a;</a:t>
            </a:r>
          </a:p>
          <a:p>
            <a:r>
              <a:rPr lang="en-US" sz="2400">
                <a:solidFill>
                  <a:schemeClr val="tx1"/>
                </a:solidFill>
                <a:highlight>
                  <a:srgbClr val="FFFF00"/>
                </a:highlight>
                <a:latin typeface="+mj-lt"/>
              </a:rPr>
              <a:t>a = new Thing();</a:t>
            </a:r>
          </a:p>
          <a:p>
            <a:r>
              <a:rPr lang="en-US" sz="2400">
                <a:solidFill>
                  <a:srgbClr val="00007F"/>
                </a:solidFill>
                <a:latin typeface="+mj-lt"/>
              </a:rPr>
              <a:t>Thing </a:t>
            </a:r>
            <a:r>
              <a:rPr lang="en-US" sz="2400">
                <a:solidFill>
                  <a:schemeClr val="tx1"/>
                </a:solidFill>
                <a:latin typeface="+mj-lt"/>
              </a:rPr>
              <a:t>b</a:t>
            </a:r>
            <a:r>
              <a:rPr lang="en-US" sz="2400">
                <a:solidFill>
                  <a:srgbClr val="00007F"/>
                </a:solidFill>
                <a:latin typeface="+mj-lt"/>
              </a:rPr>
              <a:t>;</a:t>
            </a:r>
          </a:p>
          <a:p>
            <a:r>
              <a:rPr lang="en-US" sz="2400">
                <a:solidFill>
                  <a:schemeClr val="tx1"/>
                </a:solidFill>
                <a:latin typeface="+mj-lt"/>
              </a:rPr>
              <a:t>b = a;</a:t>
            </a:r>
          </a:p>
          <a:p>
            <a:r>
              <a:rPr lang="en-US" sz="2400">
                <a:solidFill>
                  <a:schemeClr val="tx1"/>
                </a:solidFill>
                <a:latin typeface="+mj-lt"/>
              </a:rPr>
              <a:t>a.x = </a:t>
            </a:r>
            <a:r>
              <a:rPr lang="en-US" sz="2400">
                <a:solidFill>
                  <a:srgbClr val="09B5B6"/>
                </a:solidFill>
                <a:latin typeface="+mj-lt"/>
              </a:rPr>
              <a:t>3.0</a:t>
            </a:r>
            <a:r>
              <a:rPr lang="en-US" sz="2400">
                <a:solidFill>
                  <a:schemeClr val="tx1"/>
                </a:solidFill>
                <a:latin typeface="+mj-lt"/>
              </a:rPr>
              <a:t>;</a:t>
            </a:r>
          </a:p>
          <a:p>
            <a:r>
              <a:rPr lang="en-US" sz="2400">
                <a:solidFill>
                  <a:schemeClr val="tx1"/>
                </a:solidFill>
                <a:latin typeface="+mj-lt"/>
              </a:rPr>
              <a:t>b.y = </a:t>
            </a:r>
            <a:r>
              <a:rPr lang="en-US" sz="2400">
                <a:solidFill>
                  <a:srgbClr val="09B5B6"/>
                </a:solidFill>
                <a:latin typeface="+mj-lt"/>
              </a:rPr>
              <a:t>4.0</a:t>
            </a:r>
            <a:r>
              <a:rPr lang="en-US" sz="2400">
                <a:solidFill>
                  <a:schemeClr val="tx1"/>
                </a:solidFill>
                <a:latin typeface="+mj-lt"/>
              </a:rPr>
              <a:t>;</a:t>
            </a:r>
          </a:p>
          <a:p>
            <a:r>
              <a:rPr lang="en-US" sz="2400">
                <a:solidFill>
                  <a:schemeClr val="tx1"/>
                </a:solidFill>
                <a:latin typeface="+mj-lt"/>
              </a:rPr>
              <a:t>a = </a:t>
            </a:r>
            <a:r>
              <a:rPr lang="en-US" sz="2400">
                <a:solidFill>
                  <a:srgbClr val="0432FF"/>
                </a:solidFill>
                <a:latin typeface="+mj-lt"/>
              </a:rPr>
              <a:t>null</a:t>
            </a:r>
            <a:r>
              <a:rPr lang="en-US" sz="2400">
                <a:solidFill>
                  <a:schemeClr val="tx1"/>
                </a:solidFill>
                <a:latin typeface="+mj-lt"/>
              </a:rPr>
              <a:t>;</a:t>
            </a:r>
          </a:p>
        </p:txBody>
      </p:sp>
      <p:sp>
        <p:nvSpPr>
          <p:cNvPr id="5" name="TextBox 4">
            <a:extLst>
              <a:ext uri="{FF2B5EF4-FFF2-40B4-BE49-F238E27FC236}">
                <a16:creationId xmlns:a16="http://schemas.microsoft.com/office/drawing/2014/main" id="{C620B86A-0AE9-994D-1577-9505382A0D29}"/>
              </a:ext>
            </a:extLst>
          </p:cNvPr>
          <p:cNvSpPr txBox="1"/>
          <p:nvPr/>
        </p:nvSpPr>
        <p:spPr>
          <a:xfrm>
            <a:off x="1169044" y="685848"/>
            <a:ext cx="584592" cy="584775"/>
          </a:xfrm>
          <a:prstGeom prst="rect">
            <a:avLst/>
          </a:prstGeom>
          <a:noFill/>
        </p:spPr>
        <p:txBody>
          <a:bodyPr wrap="square">
            <a:spAutoFit/>
          </a:bodyPr>
          <a:lstStyle/>
          <a:p>
            <a:pPr algn="ctr"/>
            <a:r>
              <a:rPr lang="en-US" sz="3200">
                <a:latin typeface="+mj-lt"/>
              </a:rPr>
              <a:t>a</a:t>
            </a:r>
            <a:endParaRPr lang="en-US" sz="3200"/>
          </a:p>
        </p:txBody>
      </p:sp>
      <p:sp>
        <p:nvSpPr>
          <p:cNvPr id="7" name="TextBox 6">
            <a:extLst>
              <a:ext uri="{FF2B5EF4-FFF2-40B4-BE49-F238E27FC236}">
                <a16:creationId xmlns:a16="http://schemas.microsoft.com/office/drawing/2014/main" id="{F84BCAA8-8930-FFCF-07FB-7DBB45A9F96A}"/>
              </a:ext>
            </a:extLst>
          </p:cNvPr>
          <p:cNvSpPr txBox="1"/>
          <p:nvPr/>
        </p:nvSpPr>
        <p:spPr>
          <a:xfrm>
            <a:off x="2250938" y="3175991"/>
            <a:ext cx="1035866" cy="584775"/>
          </a:xfrm>
          <a:prstGeom prst="rect">
            <a:avLst/>
          </a:prstGeom>
          <a:noFill/>
        </p:spPr>
        <p:txBody>
          <a:bodyPr wrap="square">
            <a:spAutoFit/>
          </a:bodyPr>
          <a:lstStyle/>
          <a:p>
            <a:pPr algn="ctr"/>
            <a:r>
              <a:rPr lang="en-US" sz="3200">
                <a:latin typeface="+mj-lt"/>
              </a:rPr>
              <a:t>.x</a:t>
            </a:r>
            <a:endParaRPr lang="en-US" sz="3200"/>
          </a:p>
        </p:txBody>
      </p:sp>
      <p:sp>
        <p:nvSpPr>
          <p:cNvPr id="8" name="Rectangle 7">
            <a:extLst>
              <a:ext uri="{FF2B5EF4-FFF2-40B4-BE49-F238E27FC236}">
                <a16:creationId xmlns:a16="http://schemas.microsoft.com/office/drawing/2014/main" id="{AC9FE519-C8CD-E695-B90C-6337A52B7492}"/>
              </a:ext>
            </a:extLst>
          </p:cNvPr>
          <p:cNvSpPr/>
          <p:nvPr/>
        </p:nvSpPr>
        <p:spPr>
          <a:xfrm>
            <a:off x="2250938" y="3824660"/>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highlight>
                  <a:srgbClr val="FFFF00"/>
                </a:highlight>
                <a:latin typeface="+mj-lt"/>
              </a:rPr>
              <a:t>0.0</a:t>
            </a:r>
            <a:endParaRPr lang="en-US" sz="2800">
              <a:solidFill>
                <a:schemeClr val="accent1"/>
              </a:solidFill>
              <a:highlight>
                <a:srgbClr val="FFFF00"/>
              </a:highlight>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B8625116-11CA-8831-47D8-DEC379AF461E}"/>
              </a:ext>
            </a:extLst>
          </p:cNvPr>
          <p:cNvSpPr txBox="1"/>
          <p:nvPr/>
        </p:nvSpPr>
        <p:spPr>
          <a:xfrm>
            <a:off x="3286802" y="3177390"/>
            <a:ext cx="1035866" cy="584775"/>
          </a:xfrm>
          <a:prstGeom prst="rect">
            <a:avLst/>
          </a:prstGeom>
          <a:noFill/>
        </p:spPr>
        <p:txBody>
          <a:bodyPr wrap="square">
            <a:spAutoFit/>
          </a:bodyPr>
          <a:lstStyle/>
          <a:p>
            <a:pPr algn="ctr"/>
            <a:r>
              <a:rPr lang="en-US" sz="3200">
                <a:latin typeface="+mj-lt"/>
              </a:rPr>
              <a:t>.y</a:t>
            </a:r>
            <a:endParaRPr lang="en-US" sz="3200"/>
          </a:p>
        </p:txBody>
      </p:sp>
      <p:sp>
        <p:nvSpPr>
          <p:cNvPr id="10" name="Rectangle 9">
            <a:extLst>
              <a:ext uri="{FF2B5EF4-FFF2-40B4-BE49-F238E27FC236}">
                <a16:creationId xmlns:a16="http://schemas.microsoft.com/office/drawing/2014/main" id="{4305163F-71EA-899B-2173-A5DCE68FD301}"/>
              </a:ext>
            </a:extLst>
          </p:cNvPr>
          <p:cNvSpPr/>
          <p:nvPr/>
        </p:nvSpPr>
        <p:spPr>
          <a:xfrm>
            <a:off x="3286802" y="3826059"/>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highlight>
                  <a:srgbClr val="FFFF00"/>
                </a:highlight>
                <a:latin typeface="+mj-lt"/>
              </a:rPr>
              <a:t>0.0</a:t>
            </a:r>
            <a:endParaRPr lang="en-US" sz="2800">
              <a:solidFill>
                <a:schemeClr val="accent1"/>
              </a:solidFill>
              <a:highlight>
                <a:srgbClr val="FFFF00"/>
              </a:highlight>
              <a:latin typeface="Consolas" panose="020B0609020204030204" pitchFamily="49" charset="0"/>
              <a:cs typeface="Consolas" panose="020B0609020204030204" pitchFamily="49" charset="0"/>
            </a:endParaRPr>
          </a:p>
        </p:txBody>
      </p:sp>
      <p:cxnSp>
        <p:nvCxnSpPr>
          <p:cNvPr id="11" name="Straight Arrow Connector 10">
            <a:extLst>
              <a:ext uri="{FF2B5EF4-FFF2-40B4-BE49-F238E27FC236}">
                <a16:creationId xmlns:a16="http://schemas.microsoft.com/office/drawing/2014/main" id="{90DCA4F6-9EC1-9215-48E2-9A8045213D2F}"/>
              </a:ext>
            </a:extLst>
          </p:cNvPr>
          <p:cNvCxnSpPr>
            <a:cxnSpLocks/>
            <a:stCxn id="6" idx="2"/>
            <a:endCxn id="8" idx="1"/>
          </p:cNvCxnSpPr>
          <p:nvPr/>
        </p:nvCxnSpPr>
        <p:spPr>
          <a:xfrm rot="16200000" flipH="1">
            <a:off x="695386" y="2533998"/>
            <a:ext cx="2321505" cy="789599"/>
          </a:xfrm>
          <a:prstGeom prst="bentConnector2">
            <a:avLst/>
          </a:prstGeom>
          <a:ln w="63500" cap="rnd">
            <a:solidFill>
              <a:schemeClr val="accent6">
                <a:lumMod val="50000"/>
              </a:schemeClr>
            </a:solidFill>
            <a:headEnd type="oval"/>
            <a:tailEnd type="triangle"/>
          </a:ln>
        </p:spPr>
        <p:style>
          <a:lnRef idx="1">
            <a:schemeClr val="accent6"/>
          </a:lnRef>
          <a:fillRef idx="0">
            <a:schemeClr val="accent6"/>
          </a:fillRef>
          <a:effectRef idx="0">
            <a:schemeClr val="accent6"/>
          </a:effectRef>
          <a:fontRef idx="minor">
            <a:schemeClr val="tx1"/>
          </a:fontRef>
        </p:style>
      </p:cxnSp>
      <p:sp>
        <p:nvSpPr>
          <p:cNvPr id="6" name="Rectangle 5">
            <a:extLst>
              <a:ext uri="{FF2B5EF4-FFF2-40B4-BE49-F238E27FC236}">
                <a16:creationId xmlns:a16="http://schemas.microsoft.com/office/drawing/2014/main" id="{FA9FEAE4-64FE-7645-6ABD-1D3F2A969A1D}"/>
              </a:ext>
            </a:extLst>
          </p:cNvPr>
          <p:cNvSpPr/>
          <p:nvPr/>
        </p:nvSpPr>
        <p:spPr>
          <a:xfrm>
            <a:off x="943407" y="1238265"/>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highlight>
                  <a:srgbClr val="FFFF00"/>
                </a:highlight>
                <a:latin typeface="+mj-lt"/>
              </a:rPr>
              <a:t>0xb7</a:t>
            </a:r>
            <a:endParaRPr lang="en-US" sz="2800">
              <a:solidFill>
                <a:schemeClr val="accent6">
                  <a:lumMod val="75000"/>
                </a:schemeClr>
              </a:solidFill>
              <a:highlight>
                <a:srgbClr val="FFFF00"/>
              </a:highlight>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853143446"/>
      </p:ext>
    </p:extLst>
  </p:cSld>
  <p:clrMapOvr>
    <a:masterClrMapping/>
  </p:clrMapOvr>
</p:sld>
</file>

<file path=ppt/slides/slide4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8BD49-059D-5F78-8FCB-4E9FA4536ED0}"/>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AA560FB0-E92F-B8CA-C68F-CEFC641BC2C3}"/>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cxnSp>
        <p:nvCxnSpPr>
          <p:cNvPr id="2" name="Straight Connector 1">
            <a:extLst>
              <a:ext uri="{FF2B5EF4-FFF2-40B4-BE49-F238E27FC236}">
                <a16:creationId xmlns:a16="http://schemas.microsoft.com/office/drawing/2014/main" id="{9DD9D7C7-11B4-2D66-7FE4-D776A770B399}"/>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03668E48-DB71-BC93-40D2-B741AE37BB5A}"/>
              </a:ext>
            </a:extLst>
          </p:cNvPr>
          <p:cNvSpPr/>
          <p:nvPr/>
        </p:nvSpPr>
        <p:spPr>
          <a:xfrm>
            <a:off x="5995686" y="-2"/>
            <a:ext cx="3148314"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400">
                <a:solidFill>
                  <a:srgbClr val="0432FF"/>
                </a:solidFill>
                <a:latin typeface="+mj-lt"/>
              </a:rPr>
              <a:t>class</a:t>
            </a:r>
            <a:r>
              <a:rPr lang="en-US" sz="2400">
                <a:solidFill>
                  <a:schemeClr val="tx1"/>
                </a:solidFill>
                <a:latin typeface="+mj-lt"/>
              </a:rPr>
              <a:t> </a:t>
            </a:r>
            <a:r>
              <a:rPr lang="en-US" sz="2400">
                <a:solidFill>
                  <a:srgbClr val="00007F"/>
                </a:solidFill>
                <a:latin typeface="+mj-lt"/>
              </a:rPr>
              <a:t>Thing </a:t>
            </a:r>
            <a:r>
              <a:rPr lang="en-US" sz="2400">
                <a:solidFill>
                  <a:schemeClr val="tx1"/>
                </a:solidFill>
                <a:latin typeface="+mj-lt"/>
              </a:rPr>
              <a:t>{</a:t>
            </a:r>
          </a:p>
          <a:p>
            <a:r>
              <a:rPr lang="en-US" sz="2400">
                <a:solidFill>
                  <a:schemeClr val="tx1"/>
                </a:solidFill>
                <a:latin typeface="+mj-lt"/>
              </a:rPr>
              <a:t>  </a:t>
            </a:r>
            <a:r>
              <a:rPr lang="en-US" sz="2400">
                <a:solidFill>
                  <a:srgbClr val="00007F"/>
                </a:solidFill>
                <a:latin typeface="+mj-lt"/>
              </a:rPr>
              <a:t>double</a:t>
            </a:r>
            <a:r>
              <a:rPr lang="en-US" sz="2400">
                <a:solidFill>
                  <a:schemeClr val="tx1"/>
                </a:solidFill>
                <a:latin typeface="+mj-lt"/>
              </a:rPr>
              <a:t> x;</a:t>
            </a:r>
          </a:p>
          <a:p>
            <a:r>
              <a:rPr lang="en-US" sz="2400">
                <a:solidFill>
                  <a:schemeClr val="tx1"/>
                </a:solidFill>
                <a:latin typeface="+mj-lt"/>
              </a:rPr>
              <a:t>  </a:t>
            </a:r>
            <a:r>
              <a:rPr lang="en-US" sz="2400">
                <a:solidFill>
                  <a:srgbClr val="00007F"/>
                </a:solidFill>
                <a:latin typeface="+mj-lt"/>
              </a:rPr>
              <a:t>double</a:t>
            </a:r>
            <a:r>
              <a:rPr lang="en-US" sz="2400">
                <a:solidFill>
                  <a:schemeClr val="tx1"/>
                </a:solidFill>
                <a:latin typeface="+mj-lt"/>
              </a:rPr>
              <a:t> y;</a:t>
            </a:r>
          </a:p>
          <a:p>
            <a:r>
              <a:rPr lang="en-US" sz="2400">
                <a:solidFill>
                  <a:schemeClr val="tx1"/>
                </a:solidFill>
                <a:latin typeface="+mj-lt"/>
              </a:rPr>
              <a:t>}</a:t>
            </a:r>
          </a:p>
          <a:p>
            <a:endParaRPr lang="en-US" sz="2400">
              <a:solidFill>
                <a:schemeClr val="tx1"/>
              </a:solidFill>
              <a:latin typeface="+mj-lt"/>
            </a:endParaRPr>
          </a:p>
          <a:p>
            <a:r>
              <a:rPr lang="en-US" sz="2400">
                <a:solidFill>
                  <a:srgbClr val="00007F"/>
                </a:solidFill>
                <a:latin typeface="+mj-lt"/>
              </a:rPr>
              <a:t>Thing </a:t>
            </a:r>
            <a:r>
              <a:rPr lang="en-US" sz="2400">
                <a:solidFill>
                  <a:schemeClr val="tx1"/>
                </a:solidFill>
                <a:latin typeface="+mj-lt"/>
              </a:rPr>
              <a:t>a;</a:t>
            </a:r>
          </a:p>
          <a:p>
            <a:r>
              <a:rPr lang="en-US" sz="2400">
                <a:solidFill>
                  <a:schemeClr val="tx1"/>
                </a:solidFill>
                <a:latin typeface="+mj-lt"/>
              </a:rPr>
              <a:t>a = new Thing();</a:t>
            </a:r>
          </a:p>
          <a:p>
            <a:r>
              <a:rPr lang="en-US" sz="2400">
                <a:solidFill>
                  <a:srgbClr val="00007F"/>
                </a:solidFill>
                <a:highlight>
                  <a:srgbClr val="FFFF00"/>
                </a:highlight>
                <a:latin typeface="+mj-lt"/>
              </a:rPr>
              <a:t>Thing </a:t>
            </a:r>
            <a:r>
              <a:rPr lang="en-US" sz="2400">
                <a:solidFill>
                  <a:schemeClr val="tx1"/>
                </a:solidFill>
                <a:highlight>
                  <a:srgbClr val="FFFF00"/>
                </a:highlight>
                <a:latin typeface="+mj-lt"/>
              </a:rPr>
              <a:t>b</a:t>
            </a:r>
            <a:r>
              <a:rPr lang="en-US" sz="2400">
                <a:solidFill>
                  <a:srgbClr val="00007F"/>
                </a:solidFill>
                <a:highlight>
                  <a:srgbClr val="FFFF00"/>
                </a:highlight>
                <a:latin typeface="+mj-lt"/>
              </a:rPr>
              <a:t>;</a:t>
            </a:r>
          </a:p>
          <a:p>
            <a:r>
              <a:rPr lang="en-US" sz="2400">
                <a:solidFill>
                  <a:schemeClr val="tx1"/>
                </a:solidFill>
                <a:latin typeface="+mj-lt"/>
              </a:rPr>
              <a:t>b = a;</a:t>
            </a:r>
          </a:p>
          <a:p>
            <a:r>
              <a:rPr lang="en-US" sz="2400">
                <a:solidFill>
                  <a:schemeClr val="tx1"/>
                </a:solidFill>
                <a:latin typeface="+mj-lt"/>
              </a:rPr>
              <a:t>a.x = </a:t>
            </a:r>
            <a:r>
              <a:rPr lang="en-US" sz="2400">
                <a:solidFill>
                  <a:srgbClr val="09B5B6"/>
                </a:solidFill>
                <a:latin typeface="+mj-lt"/>
              </a:rPr>
              <a:t>3.0</a:t>
            </a:r>
            <a:r>
              <a:rPr lang="en-US" sz="2400">
                <a:solidFill>
                  <a:schemeClr val="tx1"/>
                </a:solidFill>
                <a:latin typeface="+mj-lt"/>
              </a:rPr>
              <a:t>;</a:t>
            </a:r>
          </a:p>
          <a:p>
            <a:r>
              <a:rPr lang="en-US" sz="2400">
                <a:solidFill>
                  <a:schemeClr val="tx1"/>
                </a:solidFill>
                <a:latin typeface="+mj-lt"/>
              </a:rPr>
              <a:t>b.y = </a:t>
            </a:r>
            <a:r>
              <a:rPr lang="en-US" sz="2400">
                <a:solidFill>
                  <a:srgbClr val="09B5B6"/>
                </a:solidFill>
                <a:latin typeface="+mj-lt"/>
              </a:rPr>
              <a:t>4.0</a:t>
            </a:r>
            <a:r>
              <a:rPr lang="en-US" sz="2400">
                <a:solidFill>
                  <a:schemeClr val="tx1"/>
                </a:solidFill>
                <a:latin typeface="+mj-lt"/>
              </a:rPr>
              <a:t>;</a:t>
            </a:r>
          </a:p>
          <a:p>
            <a:r>
              <a:rPr lang="en-US" sz="2400">
                <a:solidFill>
                  <a:schemeClr val="tx1"/>
                </a:solidFill>
                <a:latin typeface="+mj-lt"/>
              </a:rPr>
              <a:t>a = </a:t>
            </a:r>
            <a:r>
              <a:rPr lang="en-US" sz="2400">
                <a:solidFill>
                  <a:srgbClr val="0432FF"/>
                </a:solidFill>
                <a:latin typeface="+mj-lt"/>
              </a:rPr>
              <a:t>null</a:t>
            </a:r>
            <a:r>
              <a:rPr lang="en-US" sz="2400">
                <a:solidFill>
                  <a:schemeClr val="tx1"/>
                </a:solidFill>
                <a:latin typeface="+mj-lt"/>
              </a:rPr>
              <a:t>;</a:t>
            </a:r>
          </a:p>
        </p:txBody>
      </p:sp>
      <p:sp>
        <p:nvSpPr>
          <p:cNvPr id="5" name="TextBox 4">
            <a:extLst>
              <a:ext uri="{FF2B5EF4-FFF2-40B4-BE49-F238E27FC236}">
                <a16:creationId xmlns:a16="http://schemas.microsoft.com/office/drawing/2014/main" id="{442C784D-FD82-E0E0-245F-DBC6D9B5BA2B}"/>
              </a:ext>
            </a:extLst>
          </p:cNvPr>
          <p:cNvSpPr txBox="1"/>
          <p:nvPr/>
        </p:nvSpPr>
        <p:spPr>
          <a:xfrm>
            <a:off x="1169044" y="685848"/>
            <a:ext cx="584592" cy="584775"/>
          </a:xfrm>
          <a:prstGeom prst="rect">
            <a:avLst/>
          </a:prstGeom>
          <a:noFill/>
        </p:spPr>
        <p:txBody>
          <a:bodyPr wrap="square">
            <a:spAutoFit/>
          </a:bodyPr>
          <a:lstStyle/>
          <a:p>
            <a:pPr algn="ctr"/>
            <a:r>
              <a:rPr lang="en-US" sz="3200">
                <a:latin typeface="+mj-lt"/>
              </a:rPr>
              <a:t>a</a:t>
            </a:r>
            <a:endParaRPr lang="en-US" sz="3200"/>
          </a:p>
        </p:txBody>
      </p:sp>
      <p:sp>
        <p:nvSpPr>
          <p:cNvPr id="7" name="TextBox 6">
            <a:extLst>
              <a:ext uri="{FF2B5EF4-FFF2-40B4-BE49-F238E27FC236}">
                <a16:creationId xmlns:a16="http://schemas.microsoft.com/office/drawing/2014/main" id="{75BD038E-137F-F422-0872-1E0DDF98BDA7}"/>
              </a:ext>
            </a:extLst>
          </p:cNvPr>
          <p:cNvSpPr txBox="1"/>
          <p:nvPr/>
        </p:nvSpPr>
        <p:spPr>
          <a:xfrm>
            <a:off x="2250938" y="3175991"/>
            <a:ext cx="1035866" cy="584775"/>
          </a:xfrm>
          <a:prstGeom prst="rect">
            <a:avLst/>
          </a:prstGeom>
          <a:noFill/>
        </p:spPr>
        <p:txBody>
          <a:bodyPr wrap="square">
            <a:spAutoFit/>
          </a:bodyPr>
          <a:lstStyle/>
          <a:p>
            <a:pPr algn="ctr"/>
            <a:r>
              <a:rPr lang="en-US" sz="3200">
                <a:latin typeface="+mj-lt"/>
              </a:rPr>
              <a:t>.x</a:t>
            </a:r>
            <a:endParaRPr lang="en-US" sz="3200"/>
          </a:p>
        </p:txBody>
      </p:sp>
      <p:sp>
        <p:nvSpPr>
          <p:cNvPr id="8" name="Rectangle 7">
            <a:extLst>
              <a:ext uri="{FF2B5EF4-FFF2-40B4-BE49-F238E27FC236}">
                <a16:creationId xmlns:a16="http://schemas.microsoft.com/office/drawing/2014/main" id="{495E4973-603A-593D-891A-7521F8B771DB}"/>
              </a:ext>
            </a:extLst>
          </p:cNvPr>
          <p:cNvSpPr/>
          <p:nvPr/>
        </p:nvSpPr>
        <p:spPr>
          <a:xfrm>
            <a:off x="2250938" y="3824660"/>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0.0</a:t>
            </a:r>
            <a:endParaRPr lang="en-US" sz="2800">
              <a:solidFill>
                <a:schemeClr val="accent1"/>
              </a:solidFill>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40827ADE-DD1A-F8FD-6167-994D7FD385BA}"/>
              </a:ext>
            </a:extLst>
          </p:cNvPr>
          <p:cNvSpPr txBox="1"/>
          <p:nvPr/>
        </p:nvSpPr>
        <p:spPr>
          <a:xfrm>
            <a:off x="3286802" y="3177390"/>
            <a:ext cx="1035866" cy="584775"/>
          </a:xfrm>
          <a:prstGeom prst="rect">
            <a:avLst/>
          </a:prstGeom>
          <a:noFill/>
        </p:spPr>
        <p:txBody>
          <a:bodyPr wrap="square">
            <a:spAutoFit/>
          </a:bodyPr>
          <a:lstStyle/>
          <a:p>
            <a:pPr algn="ctr"/>
            <a:r>
              <a:rPr lang="en-US" sz="3200">
                <a:latin typeface="+mj-lt"/>
              </a:rPr>
              <a:t>.y</a:t>
            </a:r>
            <a:endParaRPr lang="en-US" sz="3200"/>
          </a:p>
        </p:txBody>
      </p:sp>
      <p:sp>
        <p:nvSpPr>
          <p:cNvPr id="10" name="Rectangle 9">
            <a:extLst>
              <a:ext uri="{FF2B5EF4-FFF2-40B4-BE49-F238E27FC236}">
                <a16:creationId xmlns:a16="http://schemas.microsoft.com/office/drawing/2014/main" id="{296373F7-55F4-5AA5-E2D3-A83BF670041B}"/>
              </a:ext>
            </a:extLst>
          </p:cNvPr>
          <p:cNvSpPr/>
          <p:nvPr/>
        </p:nvSpPr>
        <p:spPr>
          <a:xfrm>
            <a:off x="3286802" y="3826059"/>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0.0</a:t>
            </a:r>
            <a:endParaRPr lang="en-US" sz="2800">
              <a:solidFill>
                <a:schemeClr val="accent1"/>
              </a:solidFill>
              <a:latin typeface="Consolas" panose="020B0609020204030204" pitchFamily="49" charset="0"/>
              <a:cs typeface="Consolas" panose="020B0609020204030204" pitchFamily="49" charset="0"/>
            </a:endParaRPr>
          </a:p>
        </p:txBody>
      </p:sp>
      <p:cxnSp>
        <p:nvCxnSpPr>
          <p:cNvPr id="11" name="Straight Arrow Connector 10">
            <a:extLst>
              <a:ext uri="{FF2B5EF4-FFF2-40B4-BE49-F238E27FC236}">
                <a16:creationId xmlns:a16="http://schemas.microsoft.com/office/drawing/2014/main" id="{38651903-8333-B77B-AA57-3359B569A0B1}"/>
              </a:ext>
            </a:extLst>
          </p:cNvPr>
          <p:cNvCxnSpPr>
            <a:cxnSpLocks/>
            <a:stCxn id="6" idx="2"/>
            <a:endCxn id="8" idx="1"/>
          </p:cNvCxnSpPr>
          <p:nvPr/>
        </p:nvCxnSpPr>
        <p:spPr>
          <a:xfrm rot="16200000" flipH="1">
            <a:off x="695386" y="2533998"/>
            <a:ext cx="2321505" cy="789599"/>
          </a:xfrm>
          <a:prstGeom prst="bentConnector2">
            <a:avLst/>
          </a:prstGeom>
          <a:ln w="63500" cap="rnd">
            <a:solidFill>
              <a:schemeClr val="accent6">
                <a:lumMod val="50000"/>
              </a:schemeClr>
            </a:solidFill>
            <a:headEnd type="oval"/>
            <a:tailEnd type="triangle"/>
          </a:ln>
        </p:spPr>
        <p:style>
          <a:lnRef idx="1">
            <a:schemeClr val="accent6"/>
          </a:lnRef>
          <a:fillRef idx="0">
            <a:schemeClr val="accent6"/>
          </a:fillRef>
          <a:effectRef idx="0">
            <a:schemeClr val="accent6"/>
          </a:effectRef>
          <a:fontRef idx="minor">
            <a:schemeClr val="tx1"/>
          </a:fontRef>
        </p:style>
      </p:cxnSp>
      <p:sp>
        <p:nvSpPr>
          <p:cNvPr id="6" name="Rectangle 5">
            <a:extLst>
              <a:ext uri="{FF2B5EF4-FFF2-40B4-BE49-F238E27FC236}">
                <a16:creationId xmlns:a16="http://schemas.microsoft.com/office/drawing/2014/main" id="{22F8CFD7-4C3A-6C0E-A5A0-3C474158BBB6}"/>
              </a:ext>
            </a:extLst>
          </p:cNvPr>
          <p:cNvSpPr/>
          <p:nvPr/>
        </p:nvSpPr>
        <p:spPr>
          <a:xfrm>
            <a:off x="943407" y="1238265"/>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latin typeface="+mj-lt"/>
              </a:rPr>
              <a:t>0xb7</a:t>
            </a:r>
            <a:endParaRPr lang="en-US" sz="2800">
              <a:solidFill>
                <a:schemeClr val="accent6">
                  <a:lumMod val="75000"/>
                </a:schemeClr>
              </a:solidFill>
              <a:latin typeface="Consolas" panose="020B0609020204030204" pitchFamily="49" charset="0"/>
              <a:cs typeface="Consolas" panose="020B0609020204030204" pitchFamily="49" charset="0"/>
            </a:endParaRPr>
          </a:p>
        </p:txBody>
      </p:sp>
      <p:sp>
        <p:nvSpPr>
          <p:cNvPr id="13" name="TextBox 12">
            <a:extLst>
              <a:ext uri="{FF2B5EF4-FFF2-40B4-BE49-F238E27FC236}">
                <a16:creationId xmlns:a16="http://schemas.microsoft.com/office/drawing/2014/main" id="{0EBB4D9E-A407-D374-D900-162A72B58D95}"/>
              </a:ext>
            </a:extLst>
          </p:cNvPr>
          <p:cNvSpPr txBox="1"/>
          <p:nvPr/>
        </p:nvSpPr>
        <p:spPr>
          <a:xfrm>
            <a:off x="2994507" y="685848"/>
            <a:ext cx="584592" cy="584775"/>
          </a:xfrm>
          <a:prstGeom prst="rect">
            <a:avLst/>
          </a:prstGeom>
          <a:noFill/>
        </p:spPr>
        <p:txBody>
          <a:bodyPr wrap="square">
            <a:spAutoFit/>
          </a:bodyPr>
          <a:lstStyle/>
          <a:p>
            <a:pPr algn="ctr"/>
            <a:r>
              <a:rPr lang="en-US" sz="3200">
                <a:latin typeface="+mj-lt"/>
              </a:rPr>
              <a:t>b</a:t>
            </a:r>
            <a:endParaRPr lang="en-US" sz="3200"/>
          </a:p>
        </p:txBody>
      </p:sp>
      <p:sp>
        <p:nvSpPr>
          <p:cNvPr id="14" name="Rectangle 13">
            <a:extLst>
              <a:ext uri="{FF2B5EF4-FFF2-40B4-BE49-F238E27FC236}">
                <a16:creationId xmlns:a16="http://schemas.microsoft.com/office/drawing/2014/main" id="{605E4C72-B2B7-73B6-87C3-0F54BB8386D0}"/>
              </a:ext>
            </a:extLst>
          </p:cNvPr>
          <p:cNvSpPr/>
          <p:nvPr/>
        </p:nvSpPr>
        <p:spPr>
          <a:xfrm>
            <a:off x="2768870" y="1238265"/>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1"/>
                </a:solidFill>
                <a:highlight>
                  <a:srgbClr val="FFFF00"/>
                </a:highlight>
                <a:latin typeface="+mj-lt"/>
              </a:rPr>
              <a:t>?</a:t>
            </a:r>
            <a:endParaRPr lang="en-US" sz="2800">
              <a:solidFill>
                <a:schemeClr val="accent1"/>
              </a:solidFill>
              <a:highlight>
                <a:srgbClr val="FFFF00"/>
              </a:highlight>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599586652"/>
      </p:ext>
    </p:extLst>
  </p:cSld>
  <p:clrMapOvr>
    <a:masterClrMapping/>
  </p:clrMapOvr>
</p:sld>
</file>

<file path=ppt/slides/slide4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B0C92-210F-8555-C862-8CAA722375FD}"/>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3DBA3CE2-0B09-4917-F5B6-423D61F9F146}"/>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cxnSp>
        <p:nvCxnSpPr>
          <p:cNvPr id="2" name="Straight Connector 1">
            <a:extLst>
              <a:ext uri="{FF2B5EF4-FFF2-40B4-BE49-F238E27FC236}">
                <a16:creationId xmlns:a16="http://schemas.microsoft.com/office/drawing/2014/main" id="{9B12E9F1-323D-7748-2987-68BFC2AD2A8E}"/>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7530291-9CC2-138A-DEEB-B783A8FFD0D3}"/>
              </a:ext>
            </a:extLst>
          </p:cNvPr>
          <p:cNvSpPr/>
          <p:nvPr/>
        </p:nvSpPr>
        <p:spPr>
          <a:xfrm>
            <a:off x="5995686" y="-2"/>
            <a:ext cx="3148314"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400">
                <a:solidFill>
                  <a:srgbClr val="0432FF"/>
                </a:solidFill>
                <a:latin typeface="+mj-lt"/>
              </a:rPr>
              <a:t>class</a:t>
            </a:r>
            <a:r>
              <a:rPr lang="en-US" sz="2400">
                <a:solidFill>
                  <a:schemeClr val="tx1"/>
                </a:solidFill>
                <a:latin typeface="+mj-lt"/>
              </a:rPr>
              <a:t> </a:t>
            </a:r>
            <a:r>
              <a:rPr lang="en-US" sz="2400">
                <a:solidFill>
                  <a:srgbClr val="00007F"/>
                </a:solidFill>
                <a:latin typeface="+mj-lt"/>
              </a:rPr>
              <a:t>Thing </a:t>
            </a:r>
            <a:r>
              <a:rPr lang="en-US" sz="2400">
                <a:solidFill>
                  <a:schemeClr val="tx1"/>
                </a:solidFill>
                <a:latin typeface="+mj-lt"/>
              </a:rPr>
              <a:t>{</a:t>
            </a:r>
          </a:p>
          <a:p>
            <a:r>
              <a:rPr lang="en-US" sz="2400">
                <a:solidFill>
                  <a:schemeClr val="tx1"/>
                </a:solidFill>
                <a:latin typeface="+mj-lt"/>
              </a:rPr>
              <a:t>  </a:t>
            </a:r>
            <a:r>
              <a:rPr lang="en-US" sz="2400">
                <a:solidFill>
                  <a:srgbClr val="00007F"/>
                </a:solidFill>
                <a:latin typeface="+mj-lt"/>
              </a:rPr>
              <a:t>double</a:t>
            </a:r>
            <a:r>
              <a:rPr lang="en-US" sz="2400">
                <a:solidFill>
                  <a:schemeClr val="tx1"/>
                </a:solidFill>
                <a:latin typeface="+mj-lt"/>
              </a:rPr>
              <a:t> x;</a:t>
            </a:r>
          </a:p>
          <a:p>
            <a:r>
              <a:rPr lang="en-US" sz="2400">
                <a:solidFill>
                  <a:schemeClr val="tx1"/>
                </a:solidFill>
                <a:latin typeface="+mj-lt"/>
              </a:rPr>
              <a:t>  </a:t>
            </a:r>
            <a:r>
              <a:rPr lang="en-US" sz="2400">
                <a:solidFill>
                  <a:srgbClr val="00007F"/>
                </a:solidFill>
                <a:latin typeface="+mj-lt"/>
              </a:rPr>
              <a:t>double</a:t>
            </a:r>
            <a:r>
              <a:rPr lang="en-US" sz="2400">
                <a:solidFill>
                  <a:schemeClr val="tx1"/>
                </a:solidFill>
                <a:latin typeface="+mj-lt"/>
              </a:rPr>
              <a:t> y;</a:t>
            </a:r>
          </a:p>
          <a:p>
            <a:r>
              <a:rPr lang="en-US" sz="2400">
                <a:solidFill>
                  <a:schemeClr val="tx1"/>
                </a:solidFill>
                <a:latin typeface="+mj-lt"/>
              </a:rPr>
              <a:t>}</a:t>
            </a:r>
          </a:p>
          <a:p>
            <a:endParaRPr lang="en-US" sz="2400">
              <a:solidFill>
                <a:schemeClr val="tx1"/>
              </a:solidFill>
              <a:latin typeface="+mj-lt"/>
            </a:endParaRPr>
          </a:p>
          <a:p>
            <a:r>
              <a:rPr lang="en-US" sz="2400">
                <a:solidFill>
                  <a:srgbClr val="00007F"/>
                </a:solidFill>
                <a:latin typeface="+mj-lt"/>
              </a:rPr>
              <a:t>Thing </a:t>
            </a:r>
            <a:r>
              <a:rPr lang="en-US" sz="2400">
                <a:solidFill>
                  <a:schemeClr val="tx1"/>
                </a:solidFill>
                <a:latin typeface="+mj-lt"/>
              </a:rPr>
              <a:t>a;</a:t>
            </a:r>
          </a:p>
          <a:p>
            <a:r>
              <a:rPr lang="en-US" sz="2400">
                <a:solidFill>
                  <a:schemeClr val="tx1"/>
                </a:solidFill>
                <a:latin typeface="+mj-lt"/>
              </a:rPr>
              <a:t>a = new Thing();</a:t>
            </a:r>
          </a:p>
          <a:p>
            <a:r>
              <a:rPr lang="en-US" sz="2400">
                <a:solidFill>
                  <a:srgbClr val="00007F"/>
                </a:solidFill>
                <a:latin typeface="+mj-lt"/>
              </a:rPr>
              <a:t>Thing </a:t>
            </a:r>
            <a:r>
              <a:rPr lang="en-US" sz="2400">
                <a:solidFill>
                  <a:schemeClr val="tx1"/>
                </a:solidFill>
                <a:latin typeface="+mj-lt"/>
              </a:rPr>
              <a:t>b</a:t>
            </a:r>
            <a:r>
              <a:rPr lang="en-US" sz="2400">
                <a:solidFill>
                  <a:srgbClr val="00007F"/>
                </a:solidFill>
                <a:latin typeface="+mj-lt"/>
              </a:rPr>
              <a:t>;</a:t>
            </a:r>
          </a:p>
          <a:p>
            <a:r>
              <a:rPr lang="en-US" sz="2400">
                <a:solidFill>
                  <a:schemeClr val="tx1"/>
                </a:solidFill>
                <a:highlight>
                  <a:srgbClr val="FFFF00"/>
                </a:highlight>
                <a:latin typeface="+mj-lt"/>
              </a:rPr>
              <a:t>b = a;</a:t>
            </a:r>
          </a:p>
          <a:p>
            <a:r>
              <a:rPr lang="en-US" sz="2400">
                <a:solidFill>
                  <a:schemeClr val="tx1"/>
                </a:solidFill>
                <a:latin typeface="+mj-lt"/>
              </a:rPr>
              <a:t>a.x = </a:t>
            </a:r>
            <a:r>
              <a:rPr lang="en-US" sz="2400">
                <a:solidFill>
                  <a:srgbClr val="09B5B6"/>
                </a:solidFill>
                <a:latin typeface="+mj-lt"/>
              </a:rPr>
              <a:t>3.0</a:t>
            </a:r>
            <a:r>
              <a:rPr lang="en-US" sz="2400">
                <a:solidFill>
                  <a:schemeClr val="tx1"/>
                </a:solidFill>
                <a:latin typeface="+mj-lt"/>
              </a:rPr>
              <a:t>;</a:t>
            </a:r>
          </a:p>
          <a:p>
            <a:r>
              <a:rPr lang="en-US" sz="2400">
                <a:solidFill>
                  <a:schemeClr val="tx1"/>
                </a:solidFill>
                <a:latin typeface="+mj-lt"/>
              </a:rPr>
              <a:t>b.y = </a:t>
            </a:r>
            <a:r>
              <a:rPr lang="en-US" sz="2400">
                <a:solidFill>
                  <a:srgbClr val="09B5B6"/>
                </a:solidFill>
                <a:latin typeface="+mj-lt"/>
              </a:rPr>
              <a:t>4.0</a:t>
            </a:r>
            <a:r>
              <a:rPr lang="en-US" sz="2400">
                <a:solidFill>
                  <a:schemeClr val="tx1"/>
                </a:solidFill>
                <a:latin typeface="+mj-lt"/>
              </a:rPr>
              <a:t>;</a:t>
            </a:r>
          </a:p>
          <a:p>
            <a:r>
              <a:rPr lang="en-US" sz="2400">
                <a:solidFill>
                  <a:schemeClr val="tx1"/>
                </a:solidFill>
                <a:latin typeface="+mj-lt"/>
              </a:rPr>
              <a:t>a = </a:t>
            </a:r>
            <a:r>
              <a:rPr lang="en-US" sz="2400">
                <a:solidFill>
                  <a:srgbClr val="0432FF"/>
                </a:solidFill>
                <a:latin typeface="+mj-lt"/>
              </a:rPr>
              <a:t>null</a:t>
            </a:r>
            <a:r>
              <a:rPr lang="en-US" sz="2400">
                <a:solidFill>
                  <a:schemeClr val="tx1"/>
                </a:solidFill>
                <a:latin typeface="+mj-lt"/>
              </a:rPr>
              <a:t>;</a:t>
            </a:r>
          </a:p>
        </p:txBody>
      </p:sp>
      <p:sp>
        <p:nvSpPr>
          <p:cNvPr id="5" name="TextBox 4">
            <a:extLst>
              <a:ext uri="{FF2B5EF4-FFF2-40B4-BE49-F238E27FC236}">
                <a16:creationId xmlns:a16="http://schemas.microsoft.com/office/drawing/2014/main" id="{0BAE21EB-06F2-5713-5DE9-3FA5325F17BC}"/>
              </a:ext>
            </a:extLst>
          </p:cNvPr>
          <p:cNvSpPr txBox="1"/>
          <p:nvPr/>
        </p:nvSpPr>
        <p:spPr>
          <a:xfrm>
            <a:off x="1169044" y="685848"/>
            <a:ext cx="584592" cy="584775"/>
          </a:xfrm>
          <a:prstGeom prst="rect">
            <a:avLst/>
          </a:prstGeom>
          <a:noFill/>
        </p:spPr>
        <p:txBody>
          <a:bodyPr wrap="square">
            <a:spAutoFit/>
          </a:bodyPr>
          <a:lstStyle/>
          <a:p>
            <a:pPr algn="ctr"/>
            <a:r>
              <a:rPr lang="en-US" sz="3200">
                <a:latin typeface="+mj-lt"/>
              </a:rPr>
              <a:t>a</a:t>
            </a:r>
            <a:endParaRPr lang="en-US" sz="3200"/>
          </a:p>
        </p:txBody>
      </p:sp>
      <p:sp>
        <p:nvSpPr>
          <p:cNvPr id="7" name="TextBox 6">
            <a:extLst>
              <a:ext uri="{FF2B5EF4-FFF2-40B4-BE49-F238E27FC236}">
                <a16:creationId xmlns:a16="http://schemas.microsoft.com/office/drawing/2014/main" id="{31969242-AD5C-41AB-07D9-B5311582F2CC}"/>
              </a:ext>
            </a:extLst>
          </p:cNvPr>
          <p:cNvSpPr txBox="1"/>
          <p:nvPr/>
        </p:nvSpPr>
        <p:spPr>
          <a:xfrm>
            <a:off x="2250938" y="3175991"/>
            <a:ext cx="1035866" cy="584775"/>
          </a:xfrm>
          <a:prstGeom prst="rect">
            <a:avLst/>
          </a:prstGeom>
          <a:noFill/>
        </p:spPr>
        <p:txBody>
          <a:bodyPr wrap="square">
            <a:spAutoFit/>
          </a:bodyPr>
          <a:lstStyle/>
          <a:p>
            <a:pPr algn="ctr"/>
            <a:r>
              <a:rPr lang="en-US" sz="3200">
                <a:latin typeface="+mj-lt"/>
              </a:rPr>
              <a:t>.x</a:t>
            </a:r>
            <a:endParaRPr lang="en-US" sz="3200"/>
          </a:p>
        </p:txBody>
      </p:sp>
      <p:sp>
        <p:nvSpPr>
          <p:cNvPr id="8" name="Rectangle 7">
            <a:extLst>
              <a:ext uri="{FF2B5EF4-FFF2-40B4-BE49-F238E27FC236}">
                <a16:creationId xmlns:a16="http://schemas.microsoft.com/office/drawing/2014/main" id="{80CCCBD8-BBB0-E967-1806-2664274BFF51}"/>
              </a:ext>
            </a:extLst>
          </p:cNvPr>
          <p:cNvSpPr/>
          <p:nvPr/>
        </p:nvSpPr>
        <p:spPr>
          <a:xfrm>
            <a:off x="2250938" y="3824660"/>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0.0</a:t>
            </a:r>
            <a:endParaRPr lang="en-US" sz="2800">
              <a:solidFill>
                <a:schemeClr val="accent1"/>
              </a:solidFill>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F9F8BF90-0E76-E555-FDD9-69356002234B}"/>
              </a:ext>
            </a:extLst>
          </p:cNvPr>
          <p:cNvSpPr txBox="1"/>
          <p:nvPr/>
        </p:nvSpPr>
        <p:spPr>
          <a:xfrm>
            <a:off x="3286802" y="3177390"/>
            <a:ext cx="1035866" cy="584775"/>
          </a:xfrm>
          <a:prstGeom prst="rect">
            <a:avLst/>
          </a:prstGeom>
          <a:noFill/>
        </p:spPr>
        <p:txBody>
          <a:bodyPr wrap="square">
            <a:spAutoFit/>
          </a:bodyPr>
          <a:lstStyle/>
          <a:p>
            <a:pPr algn="ctr"/>
            <a:r>
              <a:rPr lang="en-US" sz="3200">
                <a:latin typeface="+mj-lt"/>
              </a:rPr>
              <a:t>.y</a:t>
            </a:r>
            <a:endParaRPr lang="en-US" sz="3200"/>
          </a:p>
        </p:txBody>
      </p:sp>
      <p:sp>
        <p:nvSpPr>
          <p:cNvPr id="10" name="Rectangle 9">
            <a:extLst>
              <a:ext uri="{FF2B5EF4-FFF2-40B4-BE49-F238E27FC236}">
                <a16:creationId xmlns:a16="http://schemas.microsoft.com/office/drawing/2014/main" id="{0F4313DC-FB9D-A354-C713-D79FA275E658}"/>
              </a:ext>
            </a:extLst>
          </p:cNvPr>
          <p:cNvSpPr/>
          <p:nvPr/>
        </p:nvSpPr>
        <p:spPr>
          <a:xfrm>
            <a:off x="3286802" y="3826059"/>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0.0</a:t>
            </a:r>
            <a:endParaRPr lang="en-US" sz="2800">
              <a:solidFill>
                <a:schemeClr val="accent1"/>
              </a:solidFill>
              <a:latin typeface="Consolas" panose="020B0609020204030204" pitchFamily="49" charset="0"/>
              <a:cs typeface="Consolas" panose="020B0609020204030204" pitchFamily="49" charset="0"/>
            </a:endParaRPr>
          </a:p>
        </p:txBody>
      </p:sp>
      <p:cxnSp>
        <p:nvCxnSpPr>
          <p:cNvPr id="11" name="Straight Arrow Connector 10">
            <a:extLst>
              <a:ext uri="{FF2B5EF4-FFF2-40B4-BE49-F238E27FC236}">
                <a16:creationId xmlns:a16="http://schemas.microsoft.com/office/drawing/2014/main" id="{5DC2A723-354E-17E5-E1D4-DFEE3726649F}"/>
              </a:ext>
            </a:extLst>
          </p:cNvPr>
          <p:cNvCxnSpPr>
            <a:cxnSpLocks/>
            <a:stCxn id="6" idx="2"/>
            <a:endCxn id="8" idx="1"/>
          </p:cNvCxnSpPr>
          <p:nvPr/>
        </p:nvCxnSpPr>
        <p:spPr>
          <a:xfrm rot="16200000" flipH="1">
            <a:off x="695386" y="2533998"/>
            <a:ext cx="2321505" cy="789599"/>
          </a:xfrm>
          <a:prstGeom prst="bentConnector2">
            <a:avLst/>
          </a:prstGeom>
          <a:ln w="63500" cap="rnd">
            <a:solidFill>
              <a:schemeClr val="accent6">
                <a:lumMod val="50000"/>
              </a:schemeClr>
            </a:solidFill>
            <a:headEnd type="oval"/>
            <a:tailEnd type="triangle"/>
          </a:ln>
        </p:spPr>
        <p:style>
          <a:lnRef idx="1">
            <a:schemeClr val="accent6"/>
          </a:lnRef>
          <a:fillRef idx="0">
            <a:schemeClr val="accent6"/>
          </a:fillRef>
          <a:effectRef idx="0">
            <a:schemeClr val="accent6"/>
          </a:effectRef>
          <a:fontRef idx="minor">
            <a:schemeClr val="tx1"/>
          </a:fontRef>
        </p:style>
      </p:cxnSp>
      <p:sp>
        <p:nvSpPr>
          <p:cNvPr id="6" name="Rectangle 5">
            <a:extLst>
              <a:ext uri="{FF2B5EF4-FFF2-40B4-BE49-F238E27FC236}">
                <a16:creationId xmlns:a16="http://schemas.microsoft.com/office/drawing/2014/main" id="{A6588C0A-C335-F6D2-13F2-1DE2DEB4D58C}"/>
              </a:ext>
            </a:extLst>
          </p:cNvPr>
          <p:cNvSpPr/>
          <p:nvPr/>
        </p:nvSpPr>
        <p:spPr>
          <a:xfrm>
            <a:off x="943407" y="1238265"/>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latin typeface="+mj-lt"/>
              </a:rPr>
              <a:t>0xb7</a:t>
            </a:r>
            <a:endParaRPr lang="en-US" sz="2800">
              <a:solidFill>
                <a:schemeClr val="accent6">
                  <a:lumMod val="75000"/>
                </a:schemeClr>
              </a:solidFill>
              <a:latin typeface="Consolas" panose="020B0609020204030204" pitchFamily="49" charset="0"/>
              <a:cs typeface="Consolas" panose="020B0609020204030204" pitchFamily="49" charset="0"/>
            </a:endParaRPr>
          </a:p>
        </p:txBody>
      </p:sp>
      <p:sp>
        <p:nvSpPr>
          <p:cNvPr id="13" name="TextBox 12">
            <a:extLst>
              <a:ext uri="{FF2B5EF4-FFF2-40B4-BE49-F238E27FC236}">
                <a16:creationId xmlns:a16="http://schemas.microsoft.com/office/drawing/2014/main" id="{113AAD59-9AF9-14F2-D6C0-4F9D74DC488E}"/>
              </a:ext>
            </a:extLst>
          </p:cNvPr>
          <p:cNvSpPr txBox="1"/>
          <p:nvPr/>
        </p:nvSpPr>
        <p:spPr>
          <a:xfrm>
            <a:off x="2994507" y="685848"/>
            <a:ext cx="584592" cy="584775"/>
          </a:xfrm>
          <a:prstGeom prst="rect">
            <a:avLst/>
          </a:prstGeom>
          <a:noFill/>
        </p:spPr>
        <p:txBody>
          <a:bodyPr wrap="square">
            <a:spAutoFit/>
          </a:bodyPr>
          <a:lstStyle/>
          <a:p>
            <a:pPr algn="ctr"/>
            <a:r>
              <a:rPr lang="en-US" sz="3200">
                <a:latin typeface="+mj-lt"/>
              </a:rPr>
              <a:t>b</a:t>
            </a:r>
            <a:endParaRPr lang="en-US" sz="3200"/>
          </a:p>
        </p:txBody>
      </p:sp>
      <p:cxnSp>
        <p:nvCxnSpPr>
          <p:cNvPr id="4" name="Straight Arrow Connector 10">
            <a:extLst>
              <a:ext uri="{FF2B5EF4-FFF2-40B4-BE49-F238E27FC236}">
                <a16:creationId xmlns:a16="http://schemas.microsoft.com/office/drawing/2014/main" id="{8108855D-FB25-AD65-38DC-E293D8D3384B}"/>
              </a:ext>
            </a:extLst>
          </p:cNvPr>
          <p:cNvCxnSpPr>
            <a:cxnSpLocks/>
            <a:stCxn id="14" idx="2"/>
          </p:cNvCxnSpPr>
          <p:nvPr/>
        </p:nvCxnSpPr>
        <p:spPr>
          <a:xfrm rot="5400000">
            <a:off x="1608117" y="2410867"/>
            <a:ext cx="2321506" cy="1035864"/>
          </a:xfrm>
          <a:prstGeom prst="bentConnector3">
            <a:avLst>
              <a:gd name="adj1" fmla="val 20286"/>
            </a:avLst>
          </a:prstGeom>
          <a:ln w="63500" cap="rnd">
            <a:solidFill>
              <a:schemeClr val="accent6">
                <a:lumMod val="50000"/>
              </a:schemeClr>
            </a:solidFill>
            <a:headEnd type="oval"/>
            <a:tailEnd type="triangle"/>
          </a:ln>
        </p:spPr>
        <p:style>
          <a:lnRef idx="1">
            <a:schemeClr val="accent6"/>
          </a:lnRef>
          <a:fillRef idx="0">
            <a:schemeClr val="accent6"/>
          </a:fillRef>
          <a:effectRef idx="0">
            <a:schemeClr val="accent6"/>
          </a:effectRef>
          <a:fontRef idx="minor">
            <a:schemeClr val="tx1"/>
          </a:fontRef>
        </p:style>
      </p:cxnSp>
      <p:sp>
        <p:nvSpPr>
          <p:cNvPr id="14" name="Rectangle 13">
            <a:extLst>
              <a:ext uri="{FF2B5EF4-FFF2-40B4-BE49-F238E27FC236}">
                <a16:creationId xmlns:a16="http://schemas.microsoft.com/office/drawing/2014/main" id="{B46242B2-FBAD-48F5-3464-C4ED63370990}"/>
              </a:ext>
            </a:extLst>
          </p:cNvPr>
          <p:cNvSpPr/>
          <p:nvPr/>
        </p:nvSpPr>
        <p:spPr>
          <a:xfrm>
            <a:off x="2768870" y="1238265"/>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highlight>
                  <a:srgbClr val="FFFF00"/>
                </a:highlight>
                <a:latin typeface="+mj-lt"/>
              </a:rPr>
              <a:t>0xb7</a:t>
            </a:r>
            <a:endParaRPr lang="en-US" sz="2800">
              <a:solidFill>
                <a:schemeClr val="accent1"/>
              </a:solidFill>
              <a:highlight>
                <a:srgbClr val="FFFF00"/>
              </a:highlight>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944316696"/>
      </p:ext>
    </p:extLst>
  </p:cSld>
  <p:clrMapOvr>
    <a:masterClrMapping/>
  </p:clrMapOvr>
</p:sld>
</file>

<file path=ppt/slides/slide4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E31E0-681A-7D51-66FF-A897F1707CDD}"/>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53431A1C-746C-F76F-02BD-B480EA13426D}"/>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cxnSp>
        <p:nvCxnSpPr>
          <p:cNvPr id="2" name="Straight Connector 1">
            <a:extLst>
              <a:ext uri="{FF2B5EF4-FFF2-40B4-BE49-F238E27FC236}">
                <a16:creationId xmlns:a16="http://schemas.microsoft.com/office/drawing/2014/main" id="{601E5ABB-6010-9CA8-D0A3-BC6CA50DE2D9}"/>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8F469AC1-AE1D-5A0A-623E-C4D0EC9603FD}"/>
              </a:ext>
            </a:extLst>
          </p:cNvPr>
          <p:cNvSpPr/>
          <p:nvPr/>
        </p:nvSpPr>
        <p:spPr>
          <a:xfrm>
            <a:off x="5995686" y="-2"/>
            <a:ext cx="3148314"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400">
                <a:solidFill>
                  <a:srgbClr val="0432FF"/>
                </a:solidFill>
                <a:latin typeface="+mj-lt"/>
              </a:rPr>
              <a:t>class</a:t>
            </a:r>
            <a:r>
              <a:rPr lang="en-US" sz="2400">
                <a:solidFill>
                  <a:schemeClr val="tx1"/>
                </a:solidFill>
                <a:latin typeface="+mj-lt"/>
              </a:rPr>
              <a:t> </a:t>
            </a:r>
            <a:r>
              <a:rPr lang="en-US" sz="2400">
                <a:solidFill>
                  <a:srgbClr val="00007F"/>
                </a:solidFill>
                <a:latin typeface="+mj-lt"/>
              </a:rPr>
              <a:t>Thing </a:t>
            </a:r>
            <a:r>
              <a:rPr lang="en-US" sz="2400">
                <a:solidFill>
                  <a:schemeClr val="tx1"/>
                </a:solidFill>
                <a:latin typeface="+mj-lt"/>
              </a:rPr>
              <a:t>{</a:t>
            </a:r>
          </a:p>
          <a:p>
            <a:r>
              <a:rPr lang="en-US" sz="2400">
                <a:solidFill>
                  <a:schemeClr val="tx1"/>
                </a:solidFill>
                <a:latin typeface="+mj-lt"/>
              </a:rPr>
              <a:t>  </a:t>
            </a:r>
            <a:r>
              <a:rPr lang="en-US" sz="2400">
                <a:solidFill>
                  <a:srgbClr val="00007F"/>
                </a:solidFill>
                <a:latin typeface="+mj-lt"/>
              </a:rPr>
              <a:t>double</a:t>
            </a:r>
            <a:r>
              <a:rPr lang="en-US" sz="2400">
                <a:solidFill>
                  <a:schemeClr val="tx1"/>
                </a:solidFill>
                <a:latin typeface="+mj-lt"/>
              </a:rPr>
              <a:t> x;</a:t>
            </a:r>
          </a:p>
          <a:p>
            <a:r>
              <a:rPr lang="en-US" sz="2400">
                <a:solidFill>
                  <a:schemeClr val="tx1"/>
                </a:solidFill>
                <a:latin typeface="+mj-lt"/>
              </a:rPr>
              <a:t>  </a:t>
            </a:r>
            <a:r>
              <a:rPr lang="en-US" sz="2400">
                <a:solidFill>
                  <a:srgbClr val="00007F"/>
                </a:solidFill>
                <a:latin typeface="+mj-lt"/>
              </a:rPr>
              <a:t>double</a:t>
            </a:r>
            <a:r>
              <a:rPr lang="en-US" sz="2400">
                <a:solidFill>
                  <a:schemeClr val="tx1"/>
                </a:solidFill>
                <a:latin typeface="+mj-lt"/>
              </a:rPr>
              <a:t> y;</a:t>
            </a:r>
          </a:p>
          <a:p>
            <a:r>
              <a:rPr lang="en-US" sz="2400">
                <a:solidFill>
                  <a:schemeClr val="tx1"/>
                </a:solidFill>
                <a:latin typeface="+mj-lt"/>
              </a:rPr>
              <a:t>}</a:t>
            </a:r>
          </a:p>
          <a:p>
            <a:endParaRPr lang="en-US" sz="2400">
              <a:solidFill>
                <a:schemeClr val="tx1"/>
              </a:solidFill>
              <a:latin typeface="+mj-lt"/>
            </a:endParaRPr>
          </a:p>
          <a:p>
            <a:r>
              <a:rPr lang="en-US" sz="2400">
                <a:solidFill>
                  <a:srgbClr val="00007F"/>
                </a:solidFill>
                <a:latin typeface="+mj-lt"/>
              </a:rPr>
              <a:t>Thing </a:t>
            </a:r>
            <a:r>
              <a:rPr lang="en-US" sz="2400">
                <a:solidFill>
                  <a:schemeClr val="tx1"/>
                </a:solidFill>
                <a:latin typeface="+mj-lt"/>
              </a:rPr>
              <a:t>a;</a:t>
            </a:r>
          </a:p>
          <a:p>
            <a:r>
              <a:rPr lang="en-US" sz="2400">
                <a:solidFill>
                  <a:schemeClr val="tx1"/>
                </a:solidFill>
                <a:latin typeface="+mj-lt"/>
              </a:rPr>
              <a:t>a = new Thing();</a:t>
            </a:r>
          </a:p>
          <a:p>
            <a:r>
              <a:rPr lang="en-US" sz="2400">
                <a:solidFill>
                  <a:srgbClr val="00007F"/>
                </a:solidFill>
                <a:latin typeface="+mj-lt"/>
              </a:rPr>
              <a:t>Thing </a:t>
            </a:r>
            <a:r>
              <a:rPr lang="en-US" sz="2400">
                <a:solidFill>
                  <a:schemeClr val="tx1"/>
                </a:solidFill>
                <a:latin typeface="+mj-lt"/>
              </a:rPr>
              <a:t>b</a:t>
            </a:r>
            <a:r>
              <a:rPr lang="en-US" sz="2400">
                <a:solidFill>
                  <a:srgbClr val="00007F"/>
                </a:solidFill>
                <a:latin typeface="+mj-lt"/>
              </a:rPr>
              <a:t>;</a:t>
            </a:r>
          </a:p>
          <a:p>
            <a:r>
              <a:rPr lang="en-US" sz="2400">
                <a:solidFill>
                  <a:schemeClr val="tx1"/>
                </a:solidFill>
                <a:latin typeface="+mj-lt"/>
              </a:rPr>
              <a:t>b = a;</a:t>
            </a:r>
          </a:p>
          <a:p>
            <a:r>
              <a:rPr lang="en-US" sz="2400">
                <a:solidFill>
                  <a:schemeClr val="tx1"/>
                </a:solidFill>
                <a:highlight>
                  <a:srgbClr val="FFFF00"/>
                </a:highlight>
                <a:latin typeface="+mj-lt"/>
              </a:rPr>
              <a:t>a.x = </a:t>
            </a:r>
            <a:r>
              <a:rPr lang="en-US" sz="2400">
                <a:solidFill>
                  <a:srgbClr val="09B5B6"/>
                </a:solidFill>
                <a:highlight>
                  <a:srgbClr val="FFFF00"/>
                </a:highlight>
                <a:latin typeface="+mj-lt"/>
              </a:rPr>
              <a:t>3.0</a:t>
            </a:r>
            <a:r>
              <a:rPr lang="en-US" sz="2400">
                <a:solidFill>
                  <a:schemeClr val="tx1"/>
                </a:solidFill>
                <a:highlight>
                  <a:srgbClr val="FFFF00"/>
                </a:highlight>
                <a:latin typeface="+mj-lt"/>
              </a:rPr>
              <a:t>;</a:t>
            </a:r>
          </a:p>
          <a:p>
            <a:r>
              <a:rPr lang="en-US" sz="2400">
                <a:solidFill>
                  <a:schemeClr val="tx1"/>
                </a:solidFill>
                <a:latin typeface="+mj-lt"/>
              </a:rPr>
              <a:t>b.y = </a:t>
            </a:r>
            <a:r>
              <a:rPr lang="en-US" sz="2400">
                <a:solidFill>
                  <a:srgbClr val="09B5B6"/>
                </a:solidFill>
                <a:latin typeface="+mj-lt"/>
              </a:rPr>
              <a:t>4.0</a:t>
            </a:r>
            <a:r>
              <a:rPr lang="en-US" sz="2400">
                <a:solidFill>
                  <a:schemeClr val="tx1"/>
                </a:solidFill>
                <a:latin typeface="+mj-lt"/>
              </a:rPr>
              <a:t>;</a:t>
            </a:r>
          </a:p>
          <a:p>
            <a:r>
              <a:rPr lang="en-US" sz="2400">
                <a:solidFill>
                  <a:schemeClr val="tx1"/>
                </a:solidFill>
                <a:latin typeface="+mj-lt"/>
              </a:rPr>
              <a:t>a = </a:t>
            </a:r>
            <a:r>
              <a:rPr lang="en-US" sz="2400">
                <a:solidFill>
                  <a:srgbClr val="0432FF"/>
                </a:solidFill>
                <a:latin typeface="+mj-lt"/>
              </a:rPr>
              <a:t>null</a:t>
            </a:r>
            <a:r>
              <a:rPr lang="en-US" sz="2400">
                <a:solidFill>
                  <a:schemeClr val="tx1"/>
                </a:solidFill>
                <a:latin typeface="+mj-lt"/>
              </a:rPr>
              <a:t>;</a:t>
            </a:r>
          </a:p>
        </p:txBody>
      </p:sp>
      <p:sp>
        <p:nvSpPr>
          <p:cNvPr id="5" name="TextBox 4">
            <a:extLst>
              <a:ext uri="{FF2B5EF4-FFF2-40B4-BE49-F238E27FC236}">
                <a16:creationId xmlns:a16="http://schemas.microsoft.com/office/drawing/2014/main" id="{36324B96-7717-793B-0BA0-E5B616475564}"/>
              </a:ext>
            </a:extLst>
          </p:cNvPr>
          <p:cNvSpPr txBox="1"/>
          <p:nvPr/>
        </p:nvSpPr>
        <p:spPr>
          <a:xfrm>
            <a:off x="1169044" y="685848"/>
            <a:ext cx="584592" cy="584775"/>
          </a:xfrm>
          <a:prstGeom prst="rect">
            <a:avLst/>
          </a:prstGeom>
          <a:noFill/>
        </p:spPr>
        <p:txBody>
          <a:bodyPr wrap="square">
            <a:spAutoFit/>
          </a:bodyPr>
          <a:lstStyle/>
          <a:p>
            <a:pPr algn="ctr"/>
            <a:r>
              <a:rPr lang="en-US" sz="3200">
                <a:latin typeface="+mj-lt"/>
              </a:rPr>
              <a:t>a</a:t>
            </a:r>
            <a:endParaRPr lang="en-US" sz="3200"/>
          </a:p>
        </p:txBody>
      </p:sp>
      <p:sp>
        <p:nvSpPr>
          <p:cNvPr id="7" name="TextBox 6">
            <a:extLst>
              <a:ext uri="{FF2B5EF4-FFF2-40B4-BE49-F238E27FC236}">
                <a16:creationId xmlns:a16="http://schemas.microsoft.com/office/drawing/2014/main" id="{1AD3AF59-3A5A-2E28-89FE-A56071E0F0F6}"/>
              </a:ext>
            </a:extLst>
          </p:cNvPr>
          <p:cNvSpPr txBox="1"/>
          <p:nvPr/>
        </p:nvSpPr>
        <p:spPr>
          <a:xfrm>
            <a:off x="2250938" y="3175991"/>
            <a:ext cx="1035866" cy="584775"/>
          </a:xfrm>
          <a:prstGeom prst="rect">
            <a:avLst/>
          </a:prstGeom>
          <a:noFill/>
        </p:spPr>
        <p:txBody>
          <a:bodyPr wrap="square">
            <a:spAutoFit/>
          </a:bodyPr>
          <a:lstStyle/>
          <a:p>
            <a:pPr algn="ctr"/>
            <a:r>
              <a:rPr lang="en-US" sz="3200">
                <a:latin typeface="+mj-lt"/>
              </a:rPr>
              <a:t>.x</a:t>
            </a:r>
            <a:endParaRPr lang="en-US" sz="3200"/>
          </a:p>
        </p:txBody>
      </p:sp>
      <p:sp>
        <p:nvSpPr>
          <p:cNvPr id="8" name="Rectangle 7">
            <a:extLst>
              <a:ext uri="{FF2B5EF4-FFF2-40B4-BE49-F238E27FC236}">
                <a16:creationId xmlns:a16="http://schemas.microsoft.com/office/drawing/2014/main" id="{4C8470CD-DD3D-0237-81F2-97ADA83F44BA}"/>
              </a:ext>
            </a:extLst>
          </p:cNvPr>
          <p:cNvSpPr/>
          <p:nvPr/>
        </p:nvSpPr>
        <p:spPr>
          <a:xfrm>
            <a:off x="2250938" y="3824660"/>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highlight>
                  <a:srgbClr val="FFFF00"/>
                </a:highlight>
                <a:latin typeface="+mj-lt"/>
              </a:rPr>
              <a:t>3.0</a:t>
            </a:r>
            <a:endParaRPr lang="en-US" sz="2800">
              <a:solidFill>
                <a:schemeClr val="accent1"/>
              </a:solidFill>
              <a:highlight>
                <a:srgbClr val="FFFF00"/>
              </a:highlight>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31AAFC73-6A04-89B8-42CC-4980665231CB}"/>
              </a:ext>
            </a:extLst>
          </p:cNvPr>
          <p:cNvSpPr txBox="1"/>
          <p:nvPr/>
        </p:nvSpPr>
        <p:spPr>
          <a:xfrm>
            <a:off x="3286802" y="3177390"/>
            <a:ext cx="1035866" cy="584775"/>
          </a:xfrm>
          <a:prstGeom prst="rect">
            <a:avLst/>
          </a:prstGeom>
          <a:noFill/>
        </p:spPr>
        <p:txBody>
          <a:bodyPr wrap="square">
            <a:spAutoFit/>
          </a:bodyPr>
          <a:lstStyle/>
          <a:p>
            <a:pPr algn="ctr"/>
            <a:r>
              <a:rPr lang="en-US" sz="3200">
                <a:latin typeface="+mj-lt"/>
              </a:rPr>
              <a:t>.y</a:t>
            </a:r>
            <a:endParaRPr lang="en-US" sz="3200"/>
          </a:p>
        </p:txBody>
      </p:sp>
      <p:sp>
        <p:nvSpPr>
          <p:cNvPr id="10" name="Rectangle 9">
            <a:extLst>
              <a:ext uri="{FF2B5EF4-FFF2-40B4-BE49-F238E27FC236}">
                <a16:creationId xmlns:a16="http://schemas.microsoft.com/office/drawing/2014/main" id="{6A80D4B3-AB0E-D786-E73E-0DFE2E9F58A4}"/>
              </a:ext>
            </a:extLst>
          </p:cNvPr>
          <p:cNvSpPr/>
          <p:nvPr/>
        </p:nvSpPr>
        <p:spPr>
          <a:xfrm>
            <a:off x="3286802" y="3826059"/>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0.0</a:t>
            </a:r>
            <a:endParaRPr lang="en-US" sz="2800">
              <a:solidFill>
                <a:schemeClr val="accent1"/>
              </a:solidFill>
              <a:latin typeface="Consolas" panose="020B0609020204030204" pitchFamily="49" charset="0"/>
              <a:cs typeface="Consolas" panose="020B0609020204030204" pitchFamily="49" charset="0"/>
            </a:endParaRPr>
          </a:p>
        </p:txBody>
      </p:sp>
      <p:cxnSp>
        <p:nvCxnSpPr>
          <p:cNvPr id="11" name="Straight Arrow Connector 10">
            <a:extLst>
              <a:ext uri="{FF2B5EF4-FFF2-40B4-BE49-F238E27FC236}">
                <a16:creationId xmlns:a16="http://schemas.microsoft.com/office/drawing/2014/main" id="{E7D816DD-A298-05F6-0BF9-E713B48E61B1}"/>
              </a:ext>
            </a:extLst>
          </p:cNvPr>
          <p:cNvCxnSpPr>
            <a:cxnSpLocks/>
            <a:stCxn id="6" idx="2"/>
            <a:endCxn id="8" idx="1"/>
          </p:cNvCxnSpPr>
          <p:nvPr/>
        </p:nvCxnSpPr>
        <p:spPr>
          <a:xfrm rot="16200000" flipH="1">
            <a:off x="695386" y="2533998"/>
            <a:ext cx="2321505" cy="789599"/>
          </a:xfrm>
          <a:prstGeom prst="bentConnector2">
            <a:avLst/>
          </a:prstGeom>
          <a:ln w="63500" cap="rnd">
            <a:solidFill>
              <a:schemeClr val="accent6">
                <a:lumMod val="50000"/>
              </a:schemeClr>
            </a:solidFill>
            <a:headEnd type="oval"/>
            <a:tailEnd type="triangle"/>
          </a:ln>
        </p:spPr>
        <p:style>
          <a:lnRef idx="1">
            <a:schemeClr val="accent6"/>
          </a:lnRef>
          <a:fillRef idx="0">
            <a:schemeClr val="accent6"/>
          </a:fillRef>
          <a:effectRef idx="0">
            <a:schemeClr val="accent6"/>
          </a:effectRef>
          <a:fontRef idx="minor">
            <a:schemeClr val="tx1"/>
          </a:fontRef>
        </p:style>
      </p:cxnSp>
      <p:sp>
        <p:nvSpPr>
          <p:cNvPr id="6" name="Rectangle 5">
            <a:extLst>
              <a:ext uri="{FF2B5EF4-FFF2-40B4-BE49-F238E27FC236}">
                <a16:creationId xmlns:a16="http://schemas.microsoft.com/office/drawing/2014/main" id="{53011ACF-7DA6-5983-221B-247C9031B1B1}"/>
              </a:ext>
            </a:extLst>
          </p:cNvPr>
          <p:cNvSpPr/>
          <p:nvPr/>
        </p:nvSpPr>
        <p:spPr>
          <a:xfrm>
            <a:off x="943407" y="1238265"/>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latin typeface="+mj-lt"/>
              </a:rPr>
              <a:t>0xb7</a:t>
            </a:r>
            <a:endParaRPr lang="en-US" sz="2800">
              <a:solidFill>
                <a:schemeClr val="accent6">
                  <a:lumMod val="75000"/>
                </a:schemeClr>
              </a:solidFill>
              <a:latin typeface="Consolas" panose="020B0609020204030204" pitchFamily="49" charset="0"/>
              <a:cs typeface="Consolas" panose="020B0609020204030204" pitchFamily="49" charset="0"/>
            </a:endParaRPr>
          </a:p>
        </p:txBody>
      </p:sp>
      <p:sp>
        <p:nvSpPr>
          <p:cNvPr id="13" name="TextBox 12">
            <a:extLst>
              <a:ext uri="{FF2B5EF4-FFF2-40B4-BE49-F238E27FC236}">
                <a16:creationId xmlns:a16="http://schemas.microsoft.com/office/drawing/2014/main" id="{EF3E243B-C8F1-CBBD-1907-10A02D9785BD}"/>
              </a:ext>
            </a:extLst>
          </p:cNvPr>
          <p:cNvSpPr txBox="1"/>
          <p:nvPr/>
        </p:nvSpPr>
        <p:spPr>
          <a:xfrm>
            <a:off x="2994507" y="685848"/>
            <a:ext cx="584592" cy="584775"/>
          </a:xfrm>
          <a:prstGeom prst="rect">
            <a:avLst/>
          </a:prstGeom>
          <a:noFill/>
        </p:spPr>
        <p:txBody>
          <a:bodyPr wrap="square">
            <a:spAutoFit/>
          </a:bodyPr>
          <a:lstStyle/>
          <a:p>
            <a:pPr algn="ctr"/>
            <a:r>
              <a:rPr lang="en-US" sz="3200">
                <a:latin typeface="+mj-lt"/>
              </a:rPr>
              <a:t>b</a:t>
            </a:r>
            <a:endParaRPr lang="en-US" sz="3200"/>
          </a:p>
        </p:txBody>
      </p:sp>
      <p:cxnSp>
        <p:nvCxnSpPr>
          <p:cNvPr id="4" name="Straight Arrow Connector 10">
            <a:extLst>
              <a:ext uri="{FF2B5EF4-FFF2-40B4-BE49-F238E27FC236}">
                <a16:creationId xmlns:a16="http://schemas.microsoft.com/office/drawing/2014/main" id="{82E40671-3559-3192-8377-4459D0B20DEF}"/>
              </a:ext>
            </a:extLst>
          </p:cNvPr>
          <p:cNvCxnSpPr>
            <a:cxnSpLocks/>
            <a:stCxn id="14" idx="2"/>
          </p:cNvCxnSpPr>
          <p:nvPr/>
        </p:nvCxnSpPr>
        <p:spPr>
          <a:xfrm rot="5400000">
            <a:off x="1608117" y="2410867"/>
            <a:ext cx="2321506" cy="1035864"/>
          </a:xfrm>
          <a:prstGeom prst="bentConnector3">
            <a:avLst>
              <a:gd name="adj1" fmla="val 20286"/>
            </a:avLst>
          </a:prstGeom>
          <a:ln w="63500" cap="rnd">
            <a:solidFill>
              <a:schemeClr val="accent6">
                <a:lumMod val="50000"/>
              </a:schemeClr>
            </a:solidFill>
            <a:headEnd type="oval"/>
            <a:tailEnd type="triangle"/>
          </a:ln>
        </p:spPr>
        <p:style>
          <a:lnRef idx="1">
            <a:schemeClr val="accent6"/>
          </a:lnRef>
          <a:fillRef idx="0">
            <a:schemeClr val="accent6"/>
          </a:fillRef>
          <a:effectRef idx="0">
            <a:schemeClr val="accent6"/>
          </a:effectRef>
          <a:fontRef idx="minor">
            <a:schemeClr val="tx1"/>
          </a:fontRef>
        </p:style>
      </p:cxnSp>
      <p:sp>
        <p:nvSpPr>
          <p:cNvPr id="14" name="Rectangle 13">
            <a:extLst>
              <a:ext uri="{FF2B5EF4-FFF2-40B4-BE49-F238E27FC236}">
                <a16:creationId xmlns:a16="http://schemas.microsoft.com/office/drawing/2014/main" id="{197F1824-5ABE-316A-E4CA-5D739A18D58D}"/>
              </a:ext>
            </a:extLst>
          </p:cNvPr>
          <p:cNvSpPr/>
          <p:nvPr/>
        </p:nvSpPr>
        <p:spPr>
          <a:xfrm>
            <a:off x="2768870" y="1238265"/>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latin typeface="+mj-lt"/>
              </a:rPr>
              <a:t>0xb7</a:t>
            </a:r>
            <a:endParaRPr lang="en-US" sz="2800">
              <a:solidFill>
                <a:schemeClr val="accent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629365455"/>
      </p:ext>
    </p:extLst>
  </p:cSld>
  <p:clrMapOvr>
    <a:masterClrMapping/>
  </p:clrMapOvr>
</p:sld>
</file>

<file path=ppt/slides/slide4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878AC-E491-2009-DE44-7DB4A3972131}"/>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DAAA0C36-0512-BF1A-33E9-5FD69A7D8131}"/>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cxnSp>
        <p:nvCxnSpPr>
          <p:cNvPr id="2" name="Straight Connector 1">
            <a:extLst>
              <a:ext uri="{FF2B5EF4-FFF2-40B4-BE49-F238E27FC236}">
                <a16:creationId xmlns:a16="http://schemas.microsoft.com/office/drawing/2014/main" id="{B84FC16C-0F88-F2E6-4BC8-1FC5881E4391}"/>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63E9A59B-D98A-F161-2B81-2ACBCA970014}"/>
              </a:ext>
            </a:extLst>
          </p:cNvPr>
          <p:cNvSpPr/>
          <p:nvPr/>
        </p:nvSpPr>
        <p:spPr>
          <a:xfrm>
            <a:off x="5995686" y="-2"/>
            <a:ext cx="3148314" cy="5143501"/>
          </a:xfrm>
          <a:prstGeom prst="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lIns="228600" rtlCol="0" anchor="ctr"/>
          <a:lstStyle/>
          <a:p>
            <a:r>
              <a:rPr lang="en-US" sz="2400">
                <a:solidFill>
                  <a:srgbClr val="0432FF"/>
                </a:solidFill>
                <a:latin typeface="+mj-lt"/>
              </a:rPr>
              <a:t>class</a:t>
            </a:r>
            <a:r>
              <a:rPr lang="en-US" sz="2400">
                <a:solidFill>
                  <a:schemeClr val="tx1"/>
                </a:solidFill>
                <a:latin typeface="+mj-lt"/>
              </a:rPr>
              <a:t> </a:t>
            </a:r>
            <a:r>
              <a:rPr lang="en-US" sz="2400">
                <a:solidFill>
                  <a:srgbClr val="00007F"/>
                </a:solidFill>
                <a:latin typeface="+mj-lt"/>
              </a:rPr>
              <a:t>Thing </a:t>
            </a:r>
            <a:r>
              <a:rPr lang="en-US" sz="2400">
                <a:solidFill>
                  <a:schemeClr val="tx1"/>
                </a:solidFill>
                <a:latin typeface="+mj-lt"/>
              </a:rPr>
              <a:t>{</a:t>
            </a:r>
          </a:p>
          <a:p>
            <a:r>
              <a:rPr lang="en-US" sz="2400">
                <a:solidFill>
                  <a:schemeClr val="tx1"/>
                </a:solidFill>
                <a:latin typeface="+mj-lt"/>
              </a:rPr>
              <a:t>  </a:t>
            </a:r>
            <a:r>
              <a:rPr lang="en-US" sz="2400">
                <a:solidFill>
                  <a:srgbClr val="00007F"/>
                </a:solidFill>
                <a:latin typeface="+mj-lt"/>
              </a:rPr>
              <a:t>double</a:t>
            </a:r>
            <a:r>
              <a:rPr lang="en-US" sz="2400">
                <a:solidFill>
                  <a:schemeClr val="tx1"/>
                </a:solidFill>
                <a:latin typeface="+mj-lt"/>
              </a:rPr>
              <a:t> x;</a:t>
            </a:r>
          </a:p>
          <a:p>
            <a:r>
              <a:rPr lang="en-US" sz="2400">
                <a:solidFill>
                  <a:schemeClr val="tx1"/>
                </a:solidFill>
                <a:latin typeface="+mj-lt"/>
              </a:rPr>
              <a:t>  </a:t>
            </a:r>
            <a:r>
              <a:rPr lang="en-US" sz="2400">
                <a:solidFill>
                  <a:srgbClr val="00007F"/>
                </a:solidFill>
                <a:latin typeface="+mj-lt"/>
              </a:rPr>
              <a:t>double</a:t>
            </a:r>
            <a:r>
              <a:rPr lang="en-US" sz="2400">
                <a:solidFill>
                  <a:schemeClr val="tx1"/>
                </a:solidFill>
                <a:latin typeface="+mj-lt"/>
              </a:rPr>
              <a:t> y;</a:t>
            </a:r>
          </a:p>
          <a:p>
            <a:r>
              <a:rPr lang="en-US" sz="2400">
                <a:solidFill>
                  <a:schemeClr val="tx1"/>
                </a:solidFill>
                <a:latin typeface="+mj-lt"/>
              </a:rPr>
              <a:t>}</a:t>
            </a:r>
          </a:p>
          <a:p>
            <a:endParaRPr lang="en-US" sz="2400">
              <a:solidFill>
                <a:schemeClr val="tx1"/>
              </a:solidFill>
              <a:latin typeface="+mj-lt"/>
            </a:endParaRPr>
          </a:p>
          <a:p>
            <a:r>
              <a:rPr lang="en-US" sz="2400">
                <a:solidFill>
                  <a:srgbClr val="00007F"/>
                </a:solidFill>
                <a:latin typeface="+mj-lt"/>
              </a:rPr>
              <a:t>Thing </a:t>
            </a:r>
            <a:r>
              <a:rPr lang="en-US" sz="2400">
                <a:solidFill>
                  <a:schemeClr val="tx1"/>
                </a:solidFill>
                <a:latin typeface="+mj-lt"/>
              </a:rPr>
              <a:t>a;</a:t>
            </a:r>
          </a:p>
          <a:p>
            <a:r>
              <a:rPr lang="en-US" sz="2400">
                <a:solidFill>
                  <a:schemeClr val="tx1"/>
                </a:solidFill>
                <a:latin typeface="+mj-lt"/>
              </a:rPr>
              <a:t>a = new Thing();</a:t>
            </a:r>
          </a:p>
          <a:p>
            <a:r>
              <a:rPr lang="en-US" sz="2400">
                <a:solidFill>
                  <a:srgbClr val="00007F"/>
                </a:solidFill>
                <a:latin typeface="+mj-lt"/>
              </a:rPr>
              <a:t>Thing </a:t>
            </a:r>
            <a:r>
              <a:rPr lang="en-US" sz="2400">
                <a:solidFill>
                  <a:schemeClr val="tx1"/>
                </a:solidFill>
                <a:latin typeface="+mj-lt"/>
              </a:rPr>
              <a:t>b</a:t>
            </a:r>
            <a:r>
              <a:rPr lang="en-US" sz="2400">
                <a:solidFill>
                  <a:srgbClr val="00007F"/>
                </a:solidFill>
                <a:latin typeface="+mj-lt"/>
              </a:rPr>
              <a:t>;</a:t>
            </a:r>
          </a:p>
          <a:p>
            <a:r>
              <a:rPr lang="en-US" sz="2400">
                <a:solidFill>
                  <a:schemeClr val="tx1"/>
                </a:solidFill>
                <a:latin typeface="+mj-lt"/>
              </a:rPr>
              <a:t>b = a;</a:t>
            </a:r>
          </a:p>
          <a:p>
            <a:r>
              <a:rPr lang="en-US" sz="2400">
                <a:solidFill>
                  <a:schemeClr val="tx1"/>
                </a:solidFill>
                <a:latin typeface="+mj-lt"/>
              </a:rPr>
              <a:t>a.x = </a:t>
            </a:r>
            <a:r>
              <a:rPr lang="en-US" sz="2400">
                <a:solidFill>
                  <a:srgbClr val="09B5B6"/>
                </a:solidFill>
                <a:latin typeface="+mj-lt"/>
              </a:rPr>
              <a:t>3.0</a:t>
            </a:r>
            <a:r>
              <a:rPr lang="en-US" sz="2400">
                <a:solidFill>
                  <a:schemeClr val="tx1"/>
                </a:solidFill>
                <a:latin typeface="+mj-lt"/>
              </a:rPr>
              <a:t>;</a:t>
            </a:r>
          </a:p>
          <a:p>
            <a:r>
              <a:rPr lang="en-US" sz="2400">
                <a:solidFill>
                  <a:schemeClr val="tx1"/>
                </a:solidFill>
                <a:highlight>
                  <a:srgbClr val="FFFF00"/>
                </a:highlight>
                <a:latin typeface="+mj-lt"/>
              </a:rPr>
              <a:t>b.y = </a:t>
            </a:r>
            <a:r>
              <a:rPr lang="en-US" sz="2400">
                <a:solidFill>
                  <a:srgbClr val="09B5B6"/>
                </a:solidFill>
                <a:highlight>
                  <a:srgbClr val="FFFF00"/>
                </a:highlight>
                <a:latin typeface="+mj-lt"/>
              </a:rPr>
              <a:t>4.0</a:t>
            </a:r>
            <a:r>
              <a:rPr lang="en-US" sz="2400">
                <a:solidFill>
                  <a:schemeClr val="tx1"/>
                </a:solidFill>
                <a:highlight>
                  <a:srgbClr val="FFFF00"/>
                </a:highlight>
                <a:latin typeface="+mj-lt"/>
              </a:rPr>
              <a:t>;</a:t>
            </a:r>
          </a:p>
          <a:p>
            <a:r>
              <a:rPr lang="en-US" sz="2400">
                <a:solidFill>
                  <a:schemeClr val="tx1"/>
                </a:solidFill>
                <a:latin typeface="+mj-lt"/>
              </a:rPr>
              <a:t>a = </a:t>
            </a:r>
            <a:r>
              <a:rPr lang="en-US" sz="2400">
                <a:solidFill>
                  <a:srgbClr val="0432FF"/>
                </a:solidFill>
                <a:latin typeface="+mj-lt"/>
              </a:rPr>
              <a:t>null</a:t>
            </a:r>
            <a:r>
              <a:rPr lang="en-US" sz="2400">
                <a:solidFill>
                  <a:schemeClr val="tx1"/>
                </a:solidFill>
                <a:latin typeface="+mj-lt"/>
              </a:rPr>
              <a:t>;</a:t>
            </a:r>
          </a:p>
        </p:txBody>
      </p:sp>
      <p:sp>
        <p:nvSpPr>
          <p:cNvPr id="5" name="TextBox 4">
            <a:extLst>
              <a:ext uri="{FF2B5EF4-FFF2-40B4-BE49-F238E27FC236}">
                <a16:creationId xmlns:a16="http://schemas.microsoft.com/office/drawing/2014/main" id="{D4FF62EF-4E82-D233-6E8D-E2321EAA8A4A}"/>
              </a:ext>
            </a:extLst>
          </p:cNvPr>
          <p:cNvSpPr txBox="1"/>
          <p:nvPr/>
        </p:nvSpPr>
        <p:spPr>
          <a:xfrm>
            <a:off x="1169044" y="685848"/>
            <a:ext cx="584592" cy="584775"/>
          </a:xfrm>
          <a:prstGeom prst="rect">
            <a:avLst/>
          </a:prstGeom>
          <a:noFill/>
        </p:spPr>
        <p:txBody>
          <a:bodyPr wrap="square">
            <a:spAutoFit/>
          </a:bodyPr>
          <a:lstStyle/>
          <a:p>
            <a:pPr algn="ctr"/>
            <a:r>
              <a:rPr lang="en-US" sz="3200">
                <a:latin typeface="+mj-lt"/>
              </a:rPr>
              <a:t>a</a:t>
            </a:r>
            <a:endParaRPr lang="en-US" sz="3200"/>
          </a:p>
        </p:txBody>
      </p:sp>
      <p:sp>
        <p:nvSpPr>
          <p:cNvPr id="7" name="TextBox 6">
            <a:extLst>
              <a:ext uri="{FF2B5EF4-FFF2-40B4-BE49-F238E27FC236}">
                <a16:creationId xmlns:a16="http://schemas.microsoft.com/office/drawing/2014/main" id="{0A4F3CB7-F843-9664-C4DE-C420CF6DD115}"/>
              </a:ext>
            </a:extLst>
          </p:cNvPr>
          <p:cNvSpPr txBox="1"/>
          <p:nvPr/>
        </p:nvSpPr>
        <p:spPr>
          <a:xfrm>
            <a:off x="2250938" y="3175991"/>
            <a:ext cx="1035866" cy="584775"/>
          </a:xfrm>
          <a:prstGeom prst="rect">
            <a:avLst/>
          </a:prstGeom>
          <a:noFill/>
        </p:spPr>
        <p:txBody>
          <a:bodyPr wrap="square">
            <a:spAutoFit/>
          </a:bodyPr>
          <a:lstStyle/>
          <a:p>
            <a:pPr algn="ctr"/>
            <a:r>
              <a:rPr lang="en-US" sz="3200">
                <a:latin typeface="+mj-lt"/>
              </a:rPr>
              <a:t>.x</a:t>
            </a:r>
            <a:endParaRPr lang="en-US" sz="3200"/>
          </a:p>
        </p:txBody>
      </p:sp>
      <p:sp>
        <p:nvSpPr>
          <p:cNvPr id="8" name="Rectangle 7">
            <a:extLst>
              <a:ext uri="{FF2B5EF4-FFF2-40B4-BE49-F238E27FC236}">
                <a16:creationId xmlns:a16="http://schemas.microsoft.com/office/drawing/2014/main" id="{B36C549A-4E7E-5181-F69B-2BA408BEE2C2}"/>
              </a:ext>
            </a:extLst>
          </p:cNvPr>
          <p:cNvSpPr/>
          <p:nvPr/>
        </p:nvSpPr>
        <p:spPr>
          <a:xfrm>
            <a:off x="2250938" y="3824660"/>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3.0</a:t>
            </a:r>
            <a:endParaRPr lang="en-US" sz="2800">
              <a:solidFill>
                <a:schemeClr val="accent1"/>
              </a:solidFill>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F7E1E6E7-BBB5-A0A1-5AA6-4009F3D2FB5A}"/>
              </a:ext>
            </a:extLst>
          </p:cNvPr>
          <p:cNvSpPr txBox="1"/>
          <p:nvPr/>
        </p:nvSpPr>
        <p:spPr>
          <a:xfrm>
            <a:off x="3286802" y="3177390"/>
            <a:ext cx="1035866" cy="584775"/>
          </a:xfrm>
          <a:prstGeom prst="rect">
            <a:avLst/>
          </a:prstGeom>
          <a:noFill/>
        </p:spPr>
        <p:txBody>
          <a:bodyPr wrap="square">
            <a:spAutoFit/>
          </a:bodyPr>
          <a:lstStyle/>
          <a:p>
            <a:pPr algn="ctr"/>
            <a:r>
              <a:rPr lang="en-US" sz="3200">
                <a:latin typeface="+mj-lt"/>
              </a:rPr>
              <a:t>.y</a:t>
            </a:r>
            <a:endParaRPr lang="en-US" sz="3200"/>
          </a:p>
        </p:txBody>
      </p:sp>
      <p:sp>
        <p:nvSpPr>
          <p:cNvPr id="10" name="Rectangle 9">
            <a:extLst>
              <a:ext uri="{FF2B5EF4-FFF2-40B4-BE49-F238E27FC236}">
                <a16:creationId xmlns:a16="http://schemas.microsoft.com/office/drawing/2014/main" id="{67BFDB15-BB77-07D2-0AB0-E88342C7099A}"/>
              </a:ext>
            </a:extLst>
          </p:cNvPr>
          <p:cNvSpPr/>
          <p:nvPr/>
        </p:nvSpPr>
        <p:spPr>
          <a:xfrm>
            <a:off x="3286802" y="3826059"/>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highlight>
                  <a:srgbClr val="FFFF00"/>
                </a:highlight>
                <a:latin typeface="+mj-lt"/>
              </a:rPr>
              <a:t>4.0</a:t>
            </a:r>
            <a:endParaRPr lang="en-US" sz="2800">
              <a:solidFill>
                <a:schemeClr val="accent1"/>
              </a:solidFill>
              <a:highlight>
                <a:srgbClr val="FFFF00"/>
              </a:highlight>
              <a:latin typeface="Consolas" panose="020B0609020204030204" pitchFamily="49" charset="0"/>
              <a:cs typeface="Consolas" panose="020B0609020204030204" pitchFamily="49" charset="0"/>
            </a:endParaRPr>
          </a:p>
        </p:txBody>
      </p:sp>
      <p:cxnSp>
        <p:nvCxnSpPr>
          <p:cNvPr id="11" name="Straight Arrow Connector 10">
            <a:extLst>
              <a:ext uri="{FF2B5EF4-FFF2-40B4-BE49-F238E27FC236}">
                <a16:creationId xmlns:a16="http://schemas.microsoft.com/office/drawing/2014/main" id="{FFF4E36C-D6F3-0B79-2B95-39FC37AB46D9}"/>
              </a:ext>
            </a:extLst>
          </p:cNvPr>
          <p:cNvCxnSpPr>
            <a:cxnSpLocks/>
            <a:stCxn id="6" idx="2"/>
            <a:endCxn id="8" idx="1"/>
          </p:cNvCxnSpPr>
          <p:nvPr/>
        </p:nvCxnSpPr>
        <p:spPr>
          <a:xfrm rot="16200000" flipH="1">
            <a:off x="695386" y="2533998"/>
            <a:ext cx="2321505" cy="789599"/>
          </a:xfrm>
          <a:prstGeom prst="bentConnector2">
            <a:avLst/>
          </a:prstGeom>
          <a:ln w="63500" cap="rnd">
            <a:solidFill>
              <a:schemeClr val="accent6">
                <a:lumMod val="50000"/>
              </a:schemeClr>
            </a:solidFill>
            <a:headEnd type="oval"/>
            <a:tailEnd type="triangle"/>
          </a:ln>
        </p:spPr>
        <p:style>
          <a:lnRef idx="1">
            <a:schemeClr val="accent6"/>
          </a:lnRef>
          <a:fillRef idx="0">
            <a:schemeClr val="accent6"/>
          </a:fillRef>
          <a:effectRef idx="0">
            <a:schemeClr val="accent6"/>
          </a:effectRef>
          <a:fontRef idx="minor">
            <a:schemeClr val="tx1"/>
          </a:fontRef>
        </p:style>
      </p:cxnSp>
      <p:sp>
        <p:nvSpPr>
          <p:cNvPr id="6" name="Rectangle 5">
            <a:extLst>
              <a:ext uri="{FF2B5EF4-FFF2-40B4-BE49-F238E27FC236}">
                <a16:creationId xmlns:a16="http://schemas.microsoft.com/office/drawing/2014/main" id="{121239E3-4007-6D69-EB32-56D93DFCC66F}"/>
              </a:ext>
            </a:extLst>
          </p:cNvPr>
          <p:cNvSpPr/>
          <p:nvPr/>
        </p:nvSpPr>
        <p:spPr>
          <a:xfrm>
            <a:off x="943407" y="1238265"/>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latin typeface="+mj-lt"/>
              </a:rPr>
              <a:t>0xb7</a:t>
            </a:r>
            <a:endParaRPr lang="en-US" sz="2800">
              <a:solidFill>
                <a:schemeClr val="accent6">
                  <a:lumMod val="75000"/>
                </a:schemeClr>
              </a:solidFill>
              <a:latin typeface="Consolas" panose="020B0609020204030204" pitchFamily="49" charset="0"/>
              <a:cs typeface="Consolas" panose="020B0609020204030204" pitchFamily="49" charset="0"/>
            </a:endParaRPr>
          </a:p>
        </p:txBody>
      </p:sp>
      <p:sp>
        <p:nvSpPr>
          <p:cNvPr id="13" name="TextBox 12">
            <a:extLst>
              <a:ext uri="{FF2B5EF4-FFF2-40B4-BE49-F238E27FC236}">
                <a16:creationId xmlns:a16="http://schemas.microsoft.com/office/drawing/2014/main" id="{4BF5629B-DCCC-5A0C-ACA8-25688164BDDE}"/>
              </a:ext>
            </a:extLst>
          </p:cNvPr>
          <p:cNvSpPr txBox="1"/>
          <p:nvPr/>
        </p:nvSpPr>
        <p:spPr>
          <a:xfrm>
            <a:off x="2994507" y="685848"/>
            <a:ext cx="584592" cy="584775"/>
          </a:xfrm>
          <a:prstGeom prst="rect">
            <a:avLst/>
          </a:prstGeom>
          <a:noFill/>
        </p:spPr>
        <p:txBody>
          <a:bodyPr wrap="square">
            <a:spAutoFit/>
          </a:bodyPr>
          <a:lstStyle/>
          <a:p>
            <a:pPr algn="ctr"/>
            <a:r>
              <a:rPr lang="en-US" sz="3200">
                <a:latin typeface="+mj-lt"/>
              </a:rPr>
              <a:t>b</a:t>
            </a:r>
            <a:endParaRPr lang="en-US" sz="3200"/>
          </a:p>
        </p:txBody>
      </p:sp>
      <p:cxnSp>
        <p:nvCxnSpPr>
          <p:cNvPr id="4" name="Straight Arrow Connector 10">
            <a:extLst>
              <a:ext uri="{FF2B5EF4-FFF2-40B4-BE49-F238E27FC236}">
                <a16:creationId xmlns:a16="http://schemas.microsoft.com/office/drawing/2014/main" id="{7B5B07A4-2D91-1402-820C-C91257A5D84E}"/>
              </a:ext>
            </a:extLst>
          </p:cNvPr>
          <p:cNvCxnSpPr>
            <a:cxnSpLocks/>
            <a:stCxn id="14" idx="2"/>
          </p:cNvCxnSpPr>
          <p:nvPr/>
        </p:nvCxnSpPr>
        <p:spPr>
          <a:xfrm rot="5400000">
            <a:off x="1608117" y="2410867"/>
            <a:ext cx="2321506" cy="1035864"/>
          </a:xfrm>
          <a:prstGeom prst="bentConnector3">
            <a:avLst>
              <a:gd name="adj1" fmla="val 20286"/>
            </a:avLst>
          </a:prstGeom>
          <a:ln w="63500" cap="rnd">
            <a:solidFill>
              <a:schemeClr val="accent6">
                <a:lumMod val="50000"/>
              </a:schemeClr>
            </a:solidFill>
            <a:headEnd type="oval"/>
            <a:tailEnd type="triangle"/>
          </a:ln>
        </p:spPr>
        <p:style>
          <a:lnRef idx="1">
            <a:schemeClr val="accent6"/>
          </a:lnRef>
          <a:fillRef idx="0">
            <a:schemeClr val="accent6"/>
          </a:fillRef>
          <a:effectRef idx="0">
            <a:schemeClr val="accent6"/>
          </a:effectRef>
          <a:fontRef idx="minor">
            <a:schemeClr val="tx1"/>
          </a:fontRef>
        </p:style>
      </p:cxnSp>
      <p:sp>
        <p:nvSpPr>
          <p:cNvPr id="14" name="Rectangle 13">
            <a:extLst>
              <a:ext uri="{FF2B5EF4-FFF2-40B4-BE49-F238E27FC236}">
                <a16:creationId xmlns:a16="http://schemas.microsoft.com/office/drawing/2014/main" id="{1B80B692-1D69-1584-97AB-3480BD4BAB9E}"/>
              </a:ext>
            </a:extLst>
          </p:cNvPr>
          <p:cNvSpPr/>
          <p:nvPr/>
        </p:nvSpPr>
        <p:spPr>
          <a:xfrm>
            <a:off x="2768870" y="1238265"/>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latin typeface="+mj-lt"/>
              </a:rPr>
              <a:t>0xb7</a:t>
            </a:r>
            <a:endParaRPr lang="en-US" sz="2800">
              <a:solidFill>
                <a:schemeClr val="accent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712301202"/>
      </p:ext>
    </p:extLst>
  </p:cSld>
  <p:clrMapOvr>
    <a:masterClrMapping/>
  </p:clrMapOvr>
</p:sld>
</file>

<file path=ppt/slides/slide4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6249D-7ABB-5A7E-4D95-26ABD3D12849}"/>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BCF311C9-C261-2188-4AE1-A0A01786DFF9}"/>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cxnSp>
        <p:nvCxnSpPr>
          <p:cNvPr id="2" name="Straight Connector 1">
            <a:extLst>
              <a:ext uri="{FF2B5EF4-FFF2-40B4-BE49-F238E27FC236}">
                <a16:creationId xmlns:a16="http://schemas.microsoft.com/office/drawing/2014/main" id="{1776A99E-5214-7743-BADE-ED2C16594AD4}"/>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A56F1067-6CBB-9A5F-3A17-496A3DA1D6B1}"/>
              </a:ext>
            </a:extLst>
          </p:cNvPr>
          <p:cNvSpPr/>
          <p:nvPr/>
        </p:nvSpPr>
        <p:spPr>
          <a:xfrm>
            <a:off x="5995686" y="-2"/>
            <a:ext cx="3148314"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400">
                <a:solidFill>
                  <a:srgbClr val="0432FF"/>
                </a:solidFill>
                <a:latin typeface="+mj-lt"/>
              </a:rPr>
              <a:t>class</a:t>
            </a:r>
            <a:r>
              <a:rPr lang="en-US" sz="2400">
                <a:solidFill>
                  <a:schemeClr val="tx1"/>
                </a:solidFill>
                <a:latin typeface="+mj-lt"/>
              </a:rPr>
              <a:t> </a:t>
            </a:r>
            <a:r>
              <a:rPr lang="en-US" sz="2400">
                <a:solidFill>
                  <a:srgbClr val="00007F"/>
                </a:solidFill>
                <a:latin typeface="+mj-lt"/>
              </a:rPr>
              <a:t>Thing </a:t>
            </a:r>
            <a:r>
              <a:rPr lang="en-US" sz="2400">
                <a:solidFill>
                  <a:schemeClr val="tx1"/>
                </a:solidFill>
                <a:latin typeface="+mj-lt"/>
              </a:rPr>
              <a:t>{</a:t>
            </a:r>
          </a:p>
          <a:p>
            <a:r>
              <a:rPr lang="en-US" sz="2400">
                <a:solidFill>
                  <a:schemeClr val="tx1"/>
                </a:solidFill>
                <a:latin typeface="+mj-lt"/>
              </a:rPr>
              <a:t>  </a:t>
            </a:r>
            <a:r>
              <a:rPr lang="en-US" sz="2400">
                <a:solidFill>
                  <a:srgbClr val="00007F"/>
                </a:solidFill>
                <a:latin typeface="+mj-lt"/>
              </a:rPr>
              <a:t>double</a:t>
            </a:r>
            <a:r>
              <a:rPr lang="en-US" sz="2400">
                <a:solidFill>
                  <a:schemeClr val="tx1"/>
                </a:solidFill>
                <a:latin typeface="+mj-lt"/>
              </a:rPr>
              <a:t> x;</a:t>
            </a:r>
          </a:p>
          <a:p>
            <a:r>
              <a:rPr lang="en-US" sz="2400">
                <a:solidFill>
                  <a:schemeClr val="tx1"/>
                </a:solidFill>
                <a:latin typeface="+mj-lt"/>
              </a:rPr>
              <a:t>  </a:t>
            </a:r>
            <a:r>
              <a:rPr lang="en-US" sz="2400">
                <a:solidFill>
                  <a:srgbClr val="00007F"/>
                </a:solidFill>
                <a:latin typeface="+mj-lt"/>
              </a:rPr>
              <a:t>double</a:t>
            </a:r>
            <a:r>
              <a:rPr lang="en-US" sz="2400">
                <a:solidFill>
                  <a:schemeClr val="tx1"/>
                </a:solidFill>
                <a:latin typeface="+mj-lt"/>
              </a:rPr>
              <a:t> y;</a:t>
            </a:r>
          </a:p>
          <a:p>
            <a:r>
              <a:rPr lang="en-US" sz="2400">
                <a:solidFill>
                  <a:schemeClr val="tx1"/>
                </a:solidFill>
                <a:latin typeface="+mj-lt"/>
              </a:rPr>
              <a:t>}</a:t>
            </a:r>
          </a:p>
          <a:p>
            <a:endParaRPr lang="en-US" sz="2400">
              <a:solidFill>
                <a:schemeClr val="tx1"/>
              </a:solidFill>
              <a:latin typeface="+mj-lt"/>
            </a:endParaRPr>
          </a:p>
          <a:p>
            <a:r>
              <a:rPr lang="en-US" sz="2400">
                <a:solidFill>
                  <a:srgbClr val="00007F"/>
                </a:solidFill>
                <a:latin typeface="+mj-lt"/>
              </a:rPr>
              <a:t>Thing </a:t>
            </a:r>
            <a:r>
              <a:rPr lang="en-US" sz="2400">
                <a:solidFill>
                  <a:schemeClr val="tx1"/>
                </a:solidFill>
                <a:latin typeface="+mj-lt"/>
              </a:rPr>
              <a:t>a;</a:t>
            </a:r>
          </a:p>
          <a:p>
            <a:r>
              <a:rPr lang="en-US" sz="2400">
                <a:solidFill>
                  <a:schemeClr val="tx1"/>
                </a:solidFill>
                <a:latin typeface="+mj-lt"/>
              </a:rPr>
              <a:t>a = new Thing();</a:t>
            </a:r>
          </a:p>
          <a:p>
            <a:r>
              <a:rPr lang="en-US" sz="2400">
                <a:solidFill>
                  <a:srgbClr val="00007F"/>
                </a:solidFill>
                <a:latin typeface="+mj-lt"/>
              </a:rPr>
              <a:t>Thing </a:t>
            </a:r>
            <a:r>
              <a:rPr lang="en-US" sz="2400">
                <a:solidFill>
                  <a:schemeClr val="tx1"/>
                </a:solidFill>
                <a:latin typeface="+mj-lt"/>
              </a:rPr>
              <a:t>b</a:t>
            </a:r>
            <a:r>
              <a:rPr lang="en-US" sz="2400">
                <a:solidFill>
                  <a:srgbClr val="00007F"/>
                </a:solidFill>
                <a:latin typeface="+mj-lt"/>
              </a:rPr>
              <a:t>;</a:t>
            </a:r>
          </a:p>
          <a:p>
            <a:r>
              <a:rPr lang="en-US" sz="2400">
                <a:solidFill>
                  <a:schemeClr val="tx1"/>
                </a:solidFill>
                <a:latin typeface="+mj-lt"/>
              </a:rPr>
              <a:t>b = a;</a:t>
            </a:r>
          </a:p>
          <a:p>
            <a:r>
              <a:rPr lang="en-US" sz="2400">
                <a:solidFill>
                  <a:schemeClr val="tx1"/>
                </a:solidFill>
                <a:latin typeface="+mj-lt"/>
              </a:rPr>
              <a:t>a.x = </a:t>
            </a:r>
            <a:r>
              <a:rPr lang="en-US" sz="2400">
                <a:solidFill>
                  <a:srgbClr val="09B5B6"/>
                </a:solidFill>
                <a:latin typeface="+mj-lt"/>
              </a:rPr>
              <a:t>3.0</a:t>
            </a:r>
            <a:r>
              <a:rPr lang="en-US" sz="2400">
                <a:solidFill>
                  <a:schemeClr val="tx1"/>
                </a:solidFill>
                <a:latin typeface="+mj-lt"/>
              </a:rPr>
              <a:t>;</a:t>
            </a:r>
          </a:p>
          <a:p>
            <a:r>
              <a:rPr lang="en-US" sz="2400">
                <a:solidFill>
                  <a:schemeClr val="tx1"/>
                </a:solidFill>
                <a:latin typeface="+mj-lt"/>
              </a:rPr>
              <a:t>b.y = </a:t>
            </a:r>
            <a:r>
              <a:rPr lang="en-US" sz="2400">
                <a:solidFill>
                  <a:srgbClr val="09B5B6"/>
                </a:solidFill>
                <a:latin typeface="+mj-lt"/>
              </a:rPr>
              <a:t>4.0</a:t>
            </a:r>
            <a:r>
              <a:rPr lang="en-US" sz="2400">
                <a:solidFill>
                  <a:schemeClr val="tx1"/>
                </a:solidFill>
                <a:latin typeface="+mj-lt"/>
              </a:rPr>
              <a:t>;</a:t>
            </a:r>
          </a:p>
          <a:p>
            <a:r>
              <a:rPr lang="en-US" sz="2400">
                <a:solidFill>
                  <a:schemeClr val="tx1"/>
                </a:solidFill>
                <a:highlight>
                  <a:srgbClr val="FFFF00"/>
                </a:highlight>
                <a:latin typeface="+mj-lt"/>
              </a:rPr>
              <a:t>a = </a:t>
            </a:r>
            <a:r>
              <a:rPr lang="en-US" sz="2400">
                <a:solidFill>
                  <a:srgbClr val="0432FF"/>
                </a:solidFill>
                <a:highlight>
                  <a:srgbClr val="FFFF00"/>
                </a:highlight>
                <a:latin typeface="+mj-lt"/>
              </a:rPr>
              <a:t>null</a:t>
            </a:r>
            <a:r>
              <a:rPr lang="en-US" sz="2400">
                <a:solidFill>
                  <a:schemeClr val="tx1"/>
                </a:solidFill>
                <a:highlight>
                  <a:srgbClr val="FFFF00"/>
                </a:highlight>
                <a:latin typeface="+mj-lt"/>
              </a:rPr>
              <a:t>;</a:t>
            </a:r>
          </a:p>
        </p:txBody>
      </p:sp>
      <p:sp>
        <p:nvSpPr>
          <p:cNvPr id="5" name="TextBox 4">
            <a:extLst>
              <a:ext uri="{FF2B5EF4-FFF2-40B4-BE49-F238E27FC236}">
                <a16:creationId xmlns:a16="http://schemas.microsoft.com/office/drawing/2014/main" id="{C617ADDB-5E22-6883-2380-3423D12ABEC3}"/>
              </a:ext>
            </a:extLst>
          </p:cNvPr>
          <p:cNvSpPr txBox="1"/>
          <p:nvPr/>
        </p:nvSpPr>
        <p:spPr>
          <a:xfrm>
            <a:off x="1169044" y="685848"/>
            <a:ext cx="584592" cy="584775"/>
          </a:xfrm>
          <a:prstGeom prst="rect">
            <a:avLst/>
          </a:prstGeom>
          <a:noFill/>
        </p:spPr>
        <p:txBody>
          <a:bodyPr wrap="square">
            <a:spAutoFit/>
          </a:bodyPr>
          <a:lstStyle/>
          <a:p>
            <a:pPr algn="ctr"/>
            <a:r>
              <a:rPr lang="en-US" sz="3200">
                <a:latin typeface="+mj-lt"/>
              </a:rPr>
              <a:t>a</a:t>
            </a:r>
            <a:endParaRPr lang="en-US" sz="3200"/>
          </a:p>
        </p:txBody>
      </p:sp>
      <p:sp>
        <p:nvSpPr>
          <p:cNvPr id="7" name="TextBox 6">
            <a:extLst>
              <a:ext uri="{FF2B5EF4-FFF2-40B4-BE49-F238E27FC236}">
                <a16:creationId xmlns:a16="http://schemas.microsoft.com/office/drawing/2014/main" id="{2D62E0DB-4746-B83D-0DFA-FF39055B6BD4}"/>
              </a:ext>
            </a:extLst>
          </p:cNvPr>
          <p:cNvSpPr txBox="1"/>
          <p:nvPr/>
        </p:nvSpPr>
        <p:spPr>
          <a:xfrm>
            <a:off x="2250938" y="3175991"/>
            <a:ext cx="1035866" cy="584775"/>
          </a:xfrm>
          <a:prstGeom prst="rect">
            <a:avLst/>
          </a:prstGeom>
          <a:noFill/>
        </p:spPr>
        <p:txBody>
          <a:bodyPr wrap="square">
            <a:spAutoFit/>
          </a:bodyPr>
          <a:lstStyle/>
          <a:p>
            <a:pPr algn="ctr"/>
            <a:r>
              <a:rPr lang="en-US" sz="3200">
                <a:latin typeface="+mj-lt"/>
              </a:rPr>
              <a:t>.x</a:t>
            </a:r>
            <a:endParaRPr lang="en-US" sz="3200"/>
          </a:p>
        </p:txBody>
      </p:sp>
      <p:sp>
        <p:nvSpPr>
          <p:cNvPr id="8" name="Rectangle 7">
            <a:extLst>
              <a:ext uri="{FF2B5EF4-FFF2-40B4-BE49-F238E27FC236}">
                <a16:creationId xmlns:a16="http://schemas.microsoft.com/office/drawing/2014/main" id="{553E7061-969C-7F63-2FDE-68F77646BAC7}"/>
              </a:ext>
            </a:extLst>
          </p:cNvPr>
          <p:cNvSpPr/>
          <p:nvPr/>
        </p:nvSpPr>
        <p:spPr>
          <a:xfrm>
            <a:off x="2250938" y="3824660"/>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3.0</a:t>
            </a:r>
            <a:endParaRPr lang="en-US" sz="2800">
              <a:solidFill>
                <a:schemeClr val="accent1"/>
              </a:solidFill>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5EBEA8CF-E815-7D54-5F44-F73BB77561E3}"/>
              </a:ext>
            </a:extLst>
          </p:cNvPr>
          <p:cNvSpPr txBox="1"/>
          <p:nvPr/>
        </p:nvSpPr>
        <p:spPr>
          <a:xfrm>
            <a:off x="3286802" y="3177390"/>
            <a:ext cx="1035866" cy="584775"/>
          </a:xfrm>
          <a:prstGeom prst="rect">
            <a:avLst/>
          </a:prstGeom>
          <a:noFill/>
        </p:spPr>
        <p:txBody>
          <a:bodyPr wrap="square">
            <a:spAutoFit/>
          </a:bodyPr>
          <a:lstStyle/>
          <a:p>
            <a:pPr algn="ctr"/>
            <a:r>
              <a:rPr lang="en-US" sz="3200">
                <a:latin typeface="+mj-lt"/>
              </a:rPr>
              <a:t>.y</a:t>
            </a:r>
            <a:endParaRPr lang="en-US" sz="3200"/>
          </a:p>
        </p:txBody>
      </p:sp>
      <p:sp>
        <p:nvSpPr>
          <p:cNvPr id="10" name="Rectangle 9">
            <a:extLst>
              <a:ext uri="{FF2B5EF4-FFF2-40B4-BE49-F238E27FC236}">
                <a16:creationId xmlns:a16="http://schemas.microsoft.com/office/drawing/2014/main" id="{34D35F18-A992-D51C-F32E-E273F12CB7AB}"/>
              </a:ext>
            </a:extLst>
          </p:cNvPr>
          <p:cNvSpPr/>
          <p:nvPr/>
        </p:nvSpPr>
        <p:spPr>
          <a:xfrm>
            <a:off x="3286802" y="3826059"/>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4.0</a:t>
            </a:r>
            <a:endParaRPr lang="en-US" sz="2800">
              <a:solidFill>
                <a:schemeClr val="accent1"/>
              </a:solidFill>
              <a:latin typeface="Consolas" panose="020B0609020204030204" pitchFamily="49" charset="0"/>
              <a:cs typeface="Consolas" panose="020B0609020204030204" pitchFamily="49" charset="0"/>
            </a:endParaRPr>
          </a:p>
        </p:txBody>
      </p:sp>
      <p:sp>
        <p:nvSpPr>
          <p:cNvPr id="6" name="Rectangle 5">
            <a:extLst>
              <a:ext uri="{FF2B5EF4-FFF2-40B4-BE49-F238E27FC236}">
                <a16:creationId xmlns:a16="http://schemas.microsoft.com/office/drawing/2014/main" id="{C7A9F3CA-A790-15DC-361B-FE88D0652139}"/>
              </a:ext>
            </a:extLst>
          </p:cNvPr>
          <p:cNvSpPr/>
          <p:nvPr/>
        </p:nvSpPr>
        <p:spPr>
          <a:xfrm>
            <a:off x="943407" y="1238265"/>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highlight>
                  <a:srgbClr val="FFFF00"/>
                </a:highlight>
                <a:latin typeface="+mj-lt"/>
              </a:rPr>
              <a:t>0x00</a:t>
            </a:r>
            <a:endParaRPr lang="en-US" sz="2800">
              <a:solidFill>
                <a:schemeClr val="accent6">
                  <a:lumMod val="75000"/>
                </a:schemeClr>
              </a:solidFill>
              <a:highlight>
                <a:srgbClr val="FFFF00"/>
              </a:highlight>
              <a:latin typeface="Consolas" panose="020B0609020204030204" pitchFamily="49" charset="0"/>
              <a:cs typeface="Consolas" panose="020B0609020204030204" pitchFamily="49" charset="0"/>
            </a:endParaRPr>
          </a:p>
        </p:txBody>
      </p:sp>
      <p:sp>
        <p:nvSpPr>
          <p:cNvPr id="13" name="TextBox 12">
            <a:extLst>
              <a:ext uri="{FF2B5EF4-FFF2-40B4-BE49-F238E27FC236}">
                <a16:creationId xmlns:a16="http://schemas.microsoft.com/office/drawing/2014/main" id="{5F09B8EB-1A30-BA39-C5B3-5674EEB4CB99}"/>
              </a:ext>
            </a:extLst>
          </p:cNvPr>
          <p:cNvSpPr txBox="1"/>
          <p:nvPr/>
        </p:nvSpPr>
        <p:spPr>
          <a:xfrm>
            <a:off x="2994507" y="685848"/>
            <a:ext cx="584592" cy="584775"/>
          </a:xfrm>
          <a:prstGeom prst="rect">
            <a:avLst/>
          </a:prstGeom>
          <a:noFill/>
        </p:spPr>
        <p:txBody>
          <a:bodyPr wrap="square">
            <a:spAutoFit/>
          </a:bodyPr>
          <a:lstStyle/>
          <a:p>
            <a:pPr algn="ctr"/>
            <a:r>
              <a:rPr lang="en-US" sz="3200">
                <a:latin typeface="+mj-lt"/>
              </a:rPr>
              <a:t>b</a:t>
            </a:r>
            <a:endParaRPr lang="en-US" sz="3200"/>
          </a:p>
        </p:txBody>
      </p:sp>
      <p:cxnSp>
        <p:nvCxnSpPr>
          <p:cNvPr id="4" name="Straight Arrow Connector 10">
            <a:extLst>
              <a:ext uri="{FF2B5EF4-FFF2-40B4-BE49-F238E27FC236}">
                <a16:creationId xmlns:a16="http://schemas.microsoft.com/office/drawing/2014/main" id="{EC5E4871-E432-1EC4-D0F1-738570422443}"/>
              </a:ext>
            </a:extLst>
          </p:cNvPr>
          <p:cNvCxnSpPr>
            <a:cxnSpLocks/>
            <a:stCxn id="14" idx="2"/>
          </p:cNvCxnSpPr>
          <p:nvPr/>
        </p:nvCxnSpPr>
        <p:spPr>
          <a:xfrm rot="5400000">
            <a:off x="1608117" y="2410867"/>
            <a:ext cx="2321506" cy="1035864"/>
          </a:xfrm>
          <a:prstGeom prst="bentConnector3">
            <a:avLst>
              <a:gd name="adj1" fmla="val 20286"/>
            </a:avLst>
          </a:prstGeom>
          <a:ln w="63500" cap="rnd">
            <a:solidFill>
              <a:schemeClr val="accent6">
                <a:lumMod val="50000"/>
              </a:schemeClr>
            </a:solidFill>
            <a:headEnd type="oval"/>
            <a:tailEnd type="triangle"/>
          </a:ln>
        </p:spPr>
        <p:style>
          <a:lnRef idx="1">
            <a:schemeClr val="accent6"/>
          </a:lnRef>
          <a:fillRef idx="0">
            <a:schemeClr val="accent6"/>
          </a:fillRef>
          <a:effectRef idx="0">
            <a:schemeClr val="accent6"/>
          </a:effectRef>
          <a:fontRef idx="minor">
            <a:schemeClr val="tx1"/>
          </a:fontRef>
        </p:style>
      </p:cxnSp>
      <p:sp>
        <p:nvSpPr>
          <p:cNvPr id="14" name="Rectangle 13">
            <a:extLst>
              <a:ext uri="{FF2B5EF4-FFF2-40B4-BE49-F238E27FC236}">
                <a16:creationId xmlns:a16="http://schemas.microsoft.com/office/drawing/2014/main" id="{B5C5473C-4F0F-368C-844B-1B7F1776F1AB}"/>
              </a:ext>
            </a:extLst>
          </p:cNvPr>
          <p:cNvSpPr/>
          <p:nvPr/>
        </p:nvSpPr>
        <p:spPr>
          <a:xfrm>
            <a:off x="2768870" y="1238265"/>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latin typeface="+mj-lt"/>
              </a:rPr>
              <a:t>0xb7</a:t>
            </a:r>
            <a:endParaRPr lang="en-US" sz="2800">
              <a:solidFill>
                <a:schemeClr val="accent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531334218"/>
      </p:ext>
    </p:extLst>
  </p:cSld>
  <p:clrMapOvr>
    <a:masterClrMapping/>
  </p:clrMapOvr>
</p:sld>
</file>

<file path=ppt/slides/slide4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78FA5-05C5-68F4-E0AC-FEE4EECBCEC2}"/>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9AF8706C-52D8-C021-57B9-74FFA38E3EED}"/>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cxnSp>
        <p:nvCxnSpPr>
          <p:cNvPr id="2" name="Straight Connector 1">
            <a:extLst>
              <a:ext uri="{FF2B5EF4-FFF2-40B4-BE49-F238E27FC236}">
                <a16:creationId xmlns:a16="http://schemas.microsoft.com/office/drawing/2014/main" id="{0ABB124E-A349-7BA8-9D1E-D4D9848681BF}"/>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9FB94B3D-B84D-2852-36D1-B60696870113}"/>
              </a:ext>
            </a:extLst>
          </p:cNvPr>
          <p:cNvSpPr/>
          <p:nvPr/>
        </p:nvSpPr>
        <p:spPr>
          <a:xfrm>
            <a:off x="5995686" y="-2"/>
            <a:ext cx="3148314" cy="5143501"/>
          </a:xfrm>
          <a:prstGeom prst="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lIns="228600" rtlCol="0" anchor="ctr"/>
          <a:lstStyle/>
          <a:p>
            <a:r>
              <a:rPr lang="en-US" sz="2400">
                <a:solidFill>
                  <a:srgbClr val="0432FF"/>
                </a:solidFill>
                <a:latin typeface="+mj-lt"/>
              </a:rPr>
              <a:t>class</a:t>
            </a:r>
            <a:r>
              <a:rPr lang="en-US" sz="2400">
                <a:solidFill>
                  <a:schemeClr val="tx1"/>
                </a:solidFill>
                <a:latin typeface="+mj-lt"/>
              </a:rPr>
              <a:t> </a:t>
            </a:r>
            <a:r>
              <a:rPr lang="en-US" sz="2400">
                <a:solidFill>
                  <a:srgbClr val="00007F"/>
                </a:solidFill>
                <a:latin typeface="+mj-lt"/>
              </a:rPr>
              <a:t>Thing </a:t>
            </a:r>
            <a:r>
              <a:rPr lang="en-US" sz="2400">
                <a:solidFill>
                  <a:schemeClr val="tx1"/>
                </a:solidFill>
                <a:latin typeface="+mj-lt"/>
              </a:rPr>
              <a:t>{</a:t>
            </a:r>
          </a:p>
          <a:p>
            <a:r>
              <a:rPr lang="en-US" sz="2400">
                <a:solidFill>
                  <a:schemeClr val="tx1"/>
                </a:solidFill>
                <a:latin typeface="+mj-lt"/>
              </a:rPr>
              <a:t>  </a:t>
            </a:r>
            <a:r>
              <a:rPr lang="en-US" sz="2400">
                <a:solidFill>
                  <a:srgbClr val="00007F"/>
                </a:solidFill>
                <a:latin typeface="+mj-lt"/>
              </a:rPr>
              <a:t>double</a:t>
            </a:r>
            <a:r>
              <a:rPr lang="en-US" sz="2400">
                <a:solidFill>
                  <a:schemeClr val="tx1"/>
                </a:solidFill>
                <a:latin typeface="+mj-lt"/>
              </a:rPr>
              <a:t> x;</a:t>
            </a:r>
          </a:p>
          <a:p>
            <a:r>
              <a:rPr lang="en-US" sz="2400">
                <a:solidFill>
                  <a:schemeClr val="tx1"/>
                </a:solidFill>
                <a:latin typeface="+mj-lt"/>
              </a:rPr>
              <a:t>  </a:t>
            </a:r>
            <a:r>
              <a:rPr lang="en-US" sz="2400">
                <a:solidFill>
                  <a:srgbClr val="00007F"/>
                </a:solidFill>
                <a:latin typeface="+mj-lt"/>
              </a:rPr>
              <a:t>double</a:t>
            </a:r>
            <a:r>
              <a:rPr lang="en-US" sz="2400">
                <a:solidFill>
                  <a:schemeClr val="tx1"/>
                </a:solidFill>
                <a:latin typeface="+mj-lt"/>
              </a:rPr>
              <a:t> y;</a:t>
            </a:r>
          </a:p>
          <a:p>
            <a:r>
              <a:rPr lang="en-US" sz="2400">
                <a:solidFill>
                  <a:schemeClr val="tx1"/>
                </a:solidFill>
                <a:latin typeface="+mj-lt"/>
              </a:rPr>
              <a:t>}</a:t>
            </a:r>
          </a:p>
          <a:p>
            <a:endParaRPr lang="en-US" sz="2400">
              <a:solidFill>
                <a:schemeClr val="tx1"/>
              </a:solidFill>
              <a:latin typeface="+mj-lt"/>
            </a:endParaRPr>
          </a:p>
          <a:p>
            <a:r>
              <a:rPr lang="en-US" sz="2400">
                <a:solidFill>
                  <a:srgbClr val="00007F"/>
                </a:solidFill>
                <a:latin typeface="+mj-lt"/>
              </a:rPr>
              <a:t>Thing </a:t>
            </a:r>
            <a:r>
              <a:rPr lang="en-US" sz="2400">
                <a:solidFill>
                  <a:schemeClr val="tx1"/>
                </a:solidFill>
                <a:latin typeface="+mj-lt"/>
              </a:rPr>
              <a:t>a;</a:t>
            </a:r>
          </a:p>
          <a:p>
            <a:r>
              <a:rPr lang="en-US" sz="2400">
                <a:solidFill>
                  <a:schemeClr val="tx1"/>
                </a:solidFill>
                <a:latin typeface="+mj-lt"/>
              </a:rPr>
              <a:t>a = new Thing();</a:t>
            </a:r>
          </a:p>
          <a:p>
            <a:r>
              <a:rPr lang="en-US" sz="2400">
                <a:solidFill>
                  <a:srgbClr val="00007F"/>
                </a:solidFill>
                <a:latin typeface="+mj-lt"/>
              </a:rPr>
              <a:t>Thing </a:t>
            </a:r>
            <a:r>
              <a:rPr lang="en-US" sz="2400">
                <a:solidFill>
                  <a:schemeClr val="tx1"/>
                </a:solidFill>
                <a:latin typeface="+mj-lt"/>
              </a:rPr>
              <a:t>b</a:t>
            </a:r>
            <a:r>
              <a:rPr lang="en-US" sz="2400">
                <a:solidFill>
                  <a:srgbClr val="00007F"/>
                </a:solidFill>
                <a:latin typeface="+mj-lt"/>
              </a:rPr>
              <a:t>;</a:t>
            </a:r>
          </a:p>
          <a:p>
            <a:r>
              <a:rPr lang="en-US" sz="2400">
                <a:solidFill>
                  <a:schemeClr val="tx1"/>
                </a:solidFill>
                <a:latin typeface="+mj-lt"/>
              </a:rPr>
              <a:t>b = a;</a:t>
            </a:r>
          </a:p>
          <a:p>
            <a:r>
              <a:rPr lang="en-US" sz="2400">
                <a:solidFill>
                  <a:schemeClr val="tx1"/>
                </a:solidFill>
                <a:latin typeface="+mj-lt"/>
              </a:rPr>
              <a:t>a.x = </a:t>
            </a:r>
            <a:r>
              <a:rPr lang="en-US" sz="2400">
                <a:solidFill>
                  <a:srgbClr val="09B5B6"/>
                </a:solidFill>
                <a:latin typeface="+mj-lt"/>
              </a:rPr>
              <a:t>3.0</a:t>
            </a:r>
            <a:r>
              <a:rPr lang="en-US" sz="2400">
                <a:solidFill>
                  <a:schemeClr val="tx1"/>
                </a:solidFill>
                <a:latin typeface="+mj-lt"/>
              </a:rPr>
              <a:t>;</a:t>
            </a:r>
          </a:p>
          <a:p>
            <a:r>
              <a:rPr lang="en-US" sz="2400">
                <a:solidFill>
                  <a:schemeClr val="tx1"/>
                </a:solidFill>
                <a:latin typeface="+mj-lt"/>
              </a:rPr>
              <a:t>b.y = </a:t>
            </a:r>
            <a:r>
              <a:rPr lang="en-US" sz="2400">
                <a:solidFill>
                  <a:srgbClr val="09B5B6"/>
                </a:solidFill>
                <a:latin typeface="+mj-lt"/>
              </a:rPr>
              <a:t>4.0</a:t>
            </a:r>
            <a:r>
              <a:rPr lang="en-US" sz="2400">
                <a:solidFill>
                  <a:schemeClr val="tx1"/>
                </a:solidFill>
                <a:latin typeface="+mj-lt"/>
              </a:rPr>
              <a:t>;</a:t>
            </a:r>
          </a:p>
          <a:p>
            <a:r>
              <a:rPr lang="en-US" sz="2400">
                <a:solidFill>
                  <a:schemeClr val="tx1"/>
                </a:solidFill>
                <a:latin typeface="+mj-lt"/>
              </a:rPr>
              <a:t>a = </a:t>
            </a:r>
            <a:r>
              <a:rPr lang="en-US" sz="2400">
                <a:solidFill>
                  <a:srgbClr val="0432FF"/>
                </a:solidFill>
                <a:latin typeface="+mj-lt"/>
              </a:rPr>
              <a:t>null</a:t>
            </a:r>
            <a:r>
              <a:rPr lang="en-US" sz="2400">
                <a:solidFill>
                  <a:schemeClr val="tx1"/>
                </a:solidFill>
                <a:latin typeface="+mj-lt"/>
              </a:rPr>
              <a:t>;</a:t>
            </a:r>
          </a:p>
        </p:txBody>
      </p:sp>
      <p:sp>
        <p:nvSpPr>
          <p:cNvPr id="5" name="TextBox 4">
            <a:extLst>
              <a:ext uri="{FF2B5EF4-FFF2-40B4-BE49-F238E27FC236}">
                <a16:creationId xmlns:a16="http://schemas.microsoft.com/office/drawing/2014/main" id="{F38ABB14-5AEC-C138-C158-330E5A53F820}"/>
              </a:ext>
            </a:extLst>
          </p:cNvPr>
          <p:cNvSpPr txBox="1"/>
          <p:nvPr/>
        </p:nvSpPr>
        <p:spPr>
          <a:xfrm>
            <a:off x="1169044" y="685848"/>
            <a:ext cx="584592" cy="584775"/>
          </a:xfrm>
          <a:prstGeom prst="rect">
            <a:avLst/>
          </a:prstGeom>
          <a:noFill/>
        </p:spPr>
        <p:txBody>
          <a:bodyPr wrap="square">
            <a:spAutoFit/>
          </a:bodyPr>
          <a:lstStyle/>
          <a:p>
            <a:pPr algn="ctr"/>
            <a:r>
              <a:rPr lang="en-US" sz="3200">
                <a:latin typeface="+mj-lt"/>
              </a:rPr>
              <a:t>a</a:t>
            </a:r>
            <a:endParaRPr lang="en-US" sz="3200"/>
          </a:p>
        </p:txBody>
      </p:sp>
      <p:sp>
        <p:nvSpPr>
          <p:cNvPr id="7" name="TextBox 6">
            <a:extLst>
              <a:ext uri="{FF2B5EF4-FFF2-40B4-BE49-F238E27FC236}">
                <a16:creationId xmlns:a16="http://schemas.microsoft.com/office/drawing/2014/main" id="{FC979FE5-CAF6-A83F-34C3-4EA6122CA611}"/>
              </a:ext>
            </a:extLst>
          </p:cNvPr>
          <p:cNvSpPr txBox="1"/>
          <p:nvPr/>
        </p:nvSpPr>
        <p:spPr>
          <a:xfrm>
            <a:off x="2250938" y="3175991"/>
            <a:ext cx="1035866" cy="584775"/>
          </a:xfrm>
          <a:prstGeom prst="rect">
            <a:avLst/>
          </a:prstGeom>
          <a:noFill/>
        </p:spPr>
        <p:txBody>
          <a:bodyPr wrap="square">
            <a:spAutoFit/>
          </a:bodyPr>
          <a:lstStyle/>
          <a:p>
            <a:pPr algn="ctr"/>
            <a:r>
              <a:rPr lang="en-US" sz="3200">
                <a:latin typeface="+mj-lt"/>
              </a:rPr>
              <a:t>.x</a:t>
            </a:r>
            <a:endParaRPr lang="en-US" sz="3200"/>
          </a:p>
        </p:txBody>
      </p:sp>
      <p:sp>
        <p:nvSpPr>
          <p:cNvPr id="8" name="Rectangle 7">
            <a:extLst>
              <a:ext uri="{FF2B5EF4-FFF2-40B4-BE49-F238E27FC236}">
                <a16:creationId xmlns:a16="http://schemas.microsoft.com/office/drawing/2014/main" id="{7E092120-8B95-D9B1-4188-DD5EBC00354B}"/>
              </a:ext>
            </a:extLst>
          </p:cNvPr>
          <p:cNvSpPr/>
          <p:nvPr/>
        </p:nvSpPr>
        <p:spPr>
          <a:xfrm>
            <a:off x="2250938" y="3824660"/>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3.0</a:t>
            </a:r>
            <a:endParaRPr lang="en-US" sz="2800">
              <a:solidFill>
                <a:schemeClr val="accent1"/>
              </a:solidFill>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2D0B9D50-60D4-AF1F-CCC9-4DE72EA331D4}"/>
              </a:ext>
            </a:extLst>
          </p:cNvPr>
          <p:cNvSpPr txBox="1"/>
          <p:nvPr/>
        </p:nvSpPr>
        <p:spPr>
          <a:xfrm>
            <a:off x="3286802" y="3177390"/>
            <a:ext cx="1035866" cy="584775"/>
          </a:xfrm>
          <a:prstGeom prst="rect">
            <a:avLst/>
          </a:prstGeom>
          <a:noFill/>
        </p:spPr>
        <p:txBody>
          <a:bodyPr wrap="square">
            <a:spAutoFit/>
          </a:bodyPr>
          <a:lstStyle/>
          <a:p>
            <a:pPr algn="ctr"/>
            <a:r>
              <a:rPr lang="en-US" sz="3200">
                <a:latin typeface="+mj-lt"/>
              </a:rPr>
              <a:t>.y</a:t>
            </a:r>
            <a:endParaRPr lang="en-US" sz="3200"/>
          </a:p>
        </p:txBody>
      </p:sp>
      <p:sp>
        <p:nvSpPr>
          <p:cNvPr id="10" name="Rectangle 9">
            <a:extLst>
              <a:ext uri="{FF2B5EF4-FFF2-40B4-BE49-F238E27FC236}">
                <a16:creationId xmlns:a16="http://schemas.microsoft.com/office/drawing/2014/main" id="{C57BDB4E-A3A9-5ABA-C0C3-0C0C6E6838BB}"/>
              </a:ext>
            </a:extLst>
          </p:cNvPr>
          <p:cNvSpPr/>
          <p:nvPr/>
        </p:nvSpPr>
        <p:spPr>
          <a:xfrm>
            <a:off x="3286802" y="3826059"/>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4.0</a:t>
            </a:r>
            <a:endParaRPr lang="en-US" sz="2800">
              <a:solidFill>
                <a:schemeClr val="accent1"/>
              </a:solidFill>
              <a:latin typeface="Consolas" panose="020B0609020204030204" pitchFamily="49" charset="0"/>
              <a:cs typeface="Consolas" panose="020B0609020204030204" pitchFamily="49" charset="0"/>
            </a:endParaRPr>
          </a:p>
        </p:txBody>
      </p:sp>
      <p:sp>
        <p:nvSpPr>
          <p:cNvPr id="6" name="Rectangle 5">
            <a:extLst>
              <a:ext uri="{FF2B5EF4-FFF2-40B4-BE49-F238E27FC236}">
                <a16:creationId xmlns:a16="http://schemas.microsoft.com/office/drawing/2014/main" id="{352017CC-0B27-7780-3215-8FCF5CC48A2A}"/>
              </a:ext>
            </a:extLst>
          </p:cNvPr>
          <p:cNvSpPr/>
          <p:nvPr/>
        </p:nvSpPr>
        <p:spPr>
          <a:xfrm>
            <a:off x="943407" y="1238265"/>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latin typeface="+mj-lt"/>
              </a:rPr>
              <a:t>0x00</a:t>
            </a:r>
            <a:endParaRPr lang="en-US" sz="2800">
              <a:solidFill>
                <a:schemeClr val="accent6">
                  <a:lumMod val="75000"/>
                </a:schemeClr>
              </a:solidFill>
              <a:latin typeface="Consolas" panose="020B0609020204030204" pitchFamily="49" charset="0"/>
              <a:cs typeface="Consolas" panose="020B0609020204030204" pitchFamily="49" charset="0"/>
            </a:endParaRPr>
          </a:p>
        </p:txBody>
      </p:sp>
      <p:sp>
        <p:nvSpPr>
          <p:cNvPr id="13" name="TextBox 12">
            <a:extLst>
              <a:ext uri="{FF2B5EF4-FFF2-40B4-BE49-F238E27FC236}">
                <a16:creationId xmlns:a16="http://schemas.microsoft.com/office/drawing/2014/main" id="{13E789A6-2409-308F-D123-C02C2C813650}"/>
              </a:ext>
            </a:extLst>
          </p:cNvPr>
          <p:cNvSpPr txBox="1"/>
          <p:nvPr/>
        </p:nvSpPr>
        <p:spPr>
          <a:xfrm>
            <a:off x="2994507" y="685848"/>
            <a:ext cx="584592" cy="584775"/>
          </a:xfrm>
          <a:prstGeom prst="rect">
            <a:avLst/>
          </a:prstGeom>
          <a:noFill/>
        </p:spPr>
        <p:txBody>
          <a:bodyPr wrap="square">
            <a:spAutoFit/>
          </a:bodyPr>
          <a:lstStyle/>
          <a:p>
            <a:pPr algn="ctr"/>
            <a:r>
              <a:rPr lang="en-US" sz="3200">
                <a:latin typeface="+mj-lt"/>
              </a:rPr>
              <a:t>b</a:t>
            </a:r>
            <a:endParaRPr lang="en-US" sz="3200"/>
          </a:p>
        </p:txBody>
      </p:sp>
      <p:cxnSp>
        <p:nvCxnSpPr>
          <p:cNvPr id="4" name="Straight Arrow Connector 10">
            <a:extLst>
              <a:ext uri="{FF2B5EF4-FFF2-40B4-BE49-F238E27FC236}">
                <a16:creationId xmlns:a16="http://schemas.microsoft.com/office/drawing/2014/main" id="{D1E0AC01-A7E0-E5DB-6CD2-F00DE815F1E1}"/>
              </a:ext>
            </a:extLst>
          </p:cNvPr>
          <p:cNvCxnSpPr>
            <a:cxnSpLocks/>
            <a:stCxn id="14" idx="2"/>
          </p:cNvCxnSpPr>
          <p:nvPr/>
        </p:nvCxnSpPr>
        <p:spPr>
          <a:xfrm rot="5400000">
            <a:off x="1608117" y="2410867"/>
            <a:ext cx="2321506" cy="1035864"/>
          </a:xfrm>
          <a:prstGeom prst="bentConnector3">
            <a:avLst>
              <a:gd name="adj1" fmla="val 20286"/>
            </a:avLst>
          </a:prstGeom>
          <a:ln w="63500" cap="rnd">
            <a:solidFill>
              <a:schemeClr val="accent6">
                <a:lumMod val="50000"/>
              </a:schemeClr>
            </a:solidFill>
            <a:headEnd type="oval"/>
            <a:tailEnd type="triangle"/>
          </a:ln>
        </p:spPr>
        <p:style>
          <a:lnRef idx="1">
            <a:schemeClr val="accent6"/>
          </a:lnRef>
          <a:fillRef idx="0">
            <a:schemeClr val="accent6"/>
          </a:fillRef>
          <a:effectRef idx="0">
            <a:schemeClr val="accent6"/>
          </a:effectRef>
          <a:fontRef idx="minor">
            <a:schemeClr val="tx1"/>
          </a:fontRef>
        </p:style>
      </p:cxnSp>
      <p:sp>
        <p:nvSpPr>
          <p:cNvPr id="14" name="Rectangle 13">
            <a:extLst>
              <a:ext uri="{FF2B5EF4-FFF2-40B4-BE49-F238E27FC236}">
                <a16:creationId xmlns:a16="http://schemas.microsoft.com/office/drawing/2014/main" id="{4528972F-FCEC-BA26-1FA8-0F3D7FE0FF73}"/>
              </a:ext>
            </a:extLst>
          </p:cNvPr>
          <p:cNvSpPr/>
          <p:nvPr/>
        </p:nvSpPr>
        <p:spPr>
          <a:xfrm>
            <a:off x="2768870" y="1238265"/>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latin typeface="+mj-lt"/>
              </a:rPr>
              <a:t>0xb7</a:t>
            </a:r>
            <a:endParaRPr lang="en-US" sz="2800">
              <a:solidFill>
                <a:schemeClr val="accent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665726457"/>
      </p:ext>
    </p:extLst>
  </p:cSld>
  <p:clrMapOvr>
    <a:masterClrMapping/>
  </p:clrMapOvr>
</p:sld>
</file>

<file path=ppt/slides/slide4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92A9A-8018-D5A1-7EB7-54665F37F0C6}"/>
              </a:ext>
            </a:extLst>
          </p:cNvPr>
          <p:cNvSpPr>
            <a:spLocks noGrp="1"/>
          </p:cNvSpPr>
          <p:nvPr>
            <p:ph type="title"/>
          </p:nvPr>
        </p:nvSpPr>
        <p:spPr/>
        <p:txBody>
          <a:bodyPr/>
          <a:lstStyle/>
          <a:p>
            <a:r>
              <a:rPr lang="en-US" sz="3600"/>
              <a:t>stack variables disappear</a:t>
            </a:r>
            <a:br>
              <a:rPr lang="en-US" sz="3600"/>
            </a:br>
            <a:r>
              <a:rPr lang="en-US" sz="3600"/>
              <a:t>when they leave scope</a:t>
            </a:r>
            <a:br>
              <a:rPr lang="en-US" sz="4800"/>
            </a:br>
            <a:br>
              <a:rPr lang="en-US" sz="4800"/>
            </a:br>
            <a:r>
              <a:rPr lang="en-US" sz="3600"/>
              <a:t>Objects are </a:t>
            </a:r>
            <a:r>
              <a:rPr lang="en-US" sz="3600" b="1"/>
              <a:t>garbage collected</a:t>
            </a:r>
            <a:r>
              <a:rPr lang="en-US" sz="3600"/>
              <a:t> when nothing refers to them anymore</a:t>
            </a:r>
            <a:endParaRPr lang="en-US"/>
          </a:p>
        </p:txBody>
      </p:sp>
    </p:spTree>
    <p:extLst>
      <p:ext uri="{BB962C8B-B14F-4D97-AF65-F5344CB8AC3E}">
        <p14:creationId xmlns:p14="http://schemas.microsoft.com/office/powerpoint/2010/main" val="3239733295"/>
      </p:ext>
    </p:extLst>
  </p:cSld>
  <p:clrMapOvr>
    <a:masterClrMapping/>
  </p:clrMapOvr>
</p:sld>
</file>

<file path=ppt/slides/slide4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D352A-A879-7E89-17AD-44DD80A40E5E}"/>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CC7EBAD7-5ADD-6D74-40D0-CB94897629EF}"/>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71EB2E00-6FF9-351D-990B-79CA45B7F086}"/>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A9A810F5-3224-91C1-EA0D-B1B6F61D0BAF}"/>
              </a:ext>
            </a:extLst>
          </p:cNvPr>
          <p:cNvSpPr txBox="1"/>
          <p:nvPr/>
        </p:nvSpPr>
        <p:spPr>
          <a:xfrm>
            <a:off x="-1" y="484336"/>
            <a:ext cx="9144000" cy="1569660"/>
          </a:xfrm>
          <a:prstGeom prst="rect">
            <a:avLst/>
          </a:prstGeom>
          <a:noFill/>
        </p:spPr>
        <p:txBody>
          <a:bodyPr wrap="square" rtlCol="0">
            <a:spAutoFit/>
          </a:bodyPr>
          <a:lstStyle/>
          <a:p>
            <a:pPr algn="ctr"/>
            <a:r>
              <a:rPr lang="en-US" sz="4800"/>
              <a:t>"the stack"</a:t>
            </a:r>
          </a:p>
          <a:p>
            <a:pPr algn="ctr"/>
            <a:r>
              <a:rPr lang="en-US" sz="2400" b="1"/>
              <a:t>local variable primitives</a:t>
            </a:r>
            <a:r>
              <a:rPr lang="en-US" sz="2400"/>
              <a:t> &amp; </a:t>
            </a:r>
            <a:r>
              <a:rPr lang="en-US" sz="2400" b="1"/>
              <a:t>references</a:t>
            </a:r>
            <a:r>
              <a:rPr lang="en-US" sz="2400"/>
              <a:t> to Objects live here</a:t>
            </a:r>
          </a:p>
          <a:p>
            <a:pPr algn="ctr"/>
            <a:r>
              <a:rPr lang="en-US" sz="2400"/>
              <a:t>variables</a:t>
            </a:r>
            <a:r>
              <a:rPr lang="en-US" sz="2400" b="1" i="1"/>
              <a:t> undefined</a:t>
            </a:r>
            <a:r>
              <a:rPr lang="en-US" sz="2400" i="1"/>
              <a:t> </a:t>
            </a:r>
            <a:r>
              <a:rPr lang="en-US" sz="2400"/>
              <a:t>(?)</a:t>
            </a:r>
            <a:r>
              <a:rPr lang="en-US" sz="2400" i="1"/>
              <a:t> </a:t>
            </a:r>
            <a:r>
              <a:rPr lang="en-US" sz="2400"/>
              <a:t>by default (will NOT compile if used)</a:t>
            </a:r>
          </a:p>
        </p:txBody>
      </p:sp>
      <p:sp>
        <p:nvSpPr>
          <p:cNvPr id="3" name="TextBox 2">
            <a:extLst>
              <a:ext uri="{FF2B5EF4-FFF2-40B4-BE49-F238E27FC236}">
                <a16:creationId xmlns:a16="http://schemas.microsoft.com/office/drawing/2014/main" id="{8E4E2E08-04AA-B8B1-B4D4-C537FBC04B68}"/>
              </a:ext>
            </a:extLst>
          </p:cNvPr>
          <p:cNvSpPr txBox="1"/>
          <p:nvPr/>
        </p:nvSpPr>
        <p:spPr>
          <a:xfrm>
            <a:off x="446311" y="3032002"/>
            <a:ext cx="8251376" cy="1661993"/>
          </a:xfrm>
          <a:prstGeom prst="rect">
            <a:avLst/>
          </a:prstGeom>
          <a:noFill/>
        </p:spPr>
        <p:txBody>
          <a:bodyPr wrap="square" rtlCol="0">
            <a:spAutoFit/>
          </a:bodyPr>
          <a:lstStyle/>
          <a:p>
            <a:pPr algn="ctr"/>
            <a:r>
              <a:rPr lang="en-US" sz="5400"/>
              <a:t>"the heap"</a:t>
            </a:r>
          </a:p>
          <a:p>
            <a:pPr algn="ctr"/>
            <a:r>
              <a:rPr lang="en-US" sz="2400"/>
              <a:t>the actual </a:t>
            </a:r>
            <a:r>
              <a:rPr lang="en-US" sz="2400" b="1"/>
              <a:t>Objects </a:t>
            </a:r>
            <a:r>
              <a:rPr lang="en-US" sz="2400"/>
              <a:t>(including arrays and Strings) live here</a:t>
            </a:r>
            <a:endParaRPr lang="en-US" sz="2400" b="1"/>
          </a:p>
          <a:p>
            <a:pPr algn="ctr"/>
            <a:r>
              <a:rPr lang="en-US" sz="2400"/>
              <a:t>Objects are</a:t>
            </a:r>
            <a:r>
              <a:rPr lang="en-US" sz="2400" i="1"/>
              <a:t> cleared to 0 </a:t>
            </a:r>
            <a:r>
              <a:rPr lang="en-US" sz="2400"/>
              <a:t>by default</a:t>
            </a:r>
            <a:endParaRPr lang="en-US" sz="5400"/>
          </a:p>
        </p:txBody>
      </p:sp>
    </p:spTree>
    <p:extLst>
      <p:ext uri="{BB962C8B-B14F-4D97-AF65-F5344CB8AC3E}">
        <p14:creationId xmlns:p14="http://schemas.microsoft.com/office/powerpoint/2010/main" val="2715967859"/>
      </p:ext>
    </p:extLst>
  </p:cSld>
  <p:clrMapOvr>
    <a:masterClrMapping/>
  </p:clrMapOvr>
</p:sld>
</file>

<file path=ppt/slides/slide4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B05B9-578D-7D13-FAA6-B2C3AD58A4B6}"/>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36C7046C-9A80-570C-70D0-5E4E86C7FB66}"/>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cxnSp>
        <p:nvCxnSpPr>
          <p:cNvPr id="2" name="Straight Connector 1">
            <a:extLst>
              <a:ext uri="{FF2B5EF4-FFF2-40B4-BE49-F238E27FC236}">
                <a16:creationId xmlns:a16="http://schemas.microsoft.com/office/drawing/2014/main" id="{9442D68D-F21B-AE94-606F-D1265A1C8F54}"/>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0300495-2125-3EA5-D496-ACD4C456DD91}"/>
              </a:ext>
            </a:extLst>
          </p:cNvPr>
          <p:cNvSpPr/>
          <p:nvPr/>
        </p:nvSpPr>
        <p:spPr>
          <a:xfrm>
            <a:off x="5358530" y="-2"/>
            <a:ext cx="3785470"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800">
                <a:solidFill>
                  <a:schemeClr val="tx1"/>
                </a:solidFill>
                <a:latin typeface="+mj-lt"/>
              </a:rPr>
              <a:t>{</a:t>
            </a:r>
          </a:p>
          <a:p>
            <a:r>
              <a:rPr lang="en-US" sz="2800">
                <a:solidFill>
                  <a:srgbClr val="00007F"/>
                </a:solidFill>
                <a:latin typeface="+mj-lt"/>
              </a:rPr>
              <a:t>  int</a:t>
            </a:r>
            <a:r>
              <a:rPr lang="en-US" sz="2800">
                <a:solidFill>
                  <a:schemeClr val="tx1"/>
                </a:solidFill>
                <a:latin typeface="+mj-lt"/>
              </a:rPr>
              <a:t> a;</a:t>
            </a:r>
          </a:p>
          <a:p>
            <a:r>
              <a:rPr lang="en-US" sz="2800">
                <a:solidFill>
                  <a:schemeClr val="tx1"/>
                </a:solidFill>
                <a:latin typeface="+mj-lt"/>
              </a:rPr>
              <a:t>  a = </a:t>
            </a:r>
            <a:r>
              <a:rPr lang="en-US" sz="2800">
                <a:solidFill>
                  <a:srgbClr val="09B5B6"/>
                </a:solidFill>
                <a:latin typeface="+mj-lt"/>
              </a:rPr>
              <a:t>7</a:t>
            </a:r>
            <a:r>
              <a:rPr lang="en-US" sz="2800">
                <a:solidFill>
                  <a:schemeClr val="tx1"/>
                </a:solidFill>
                <a:latin typeface="+mj-lt"/>
              </a:rPr>
              <a:t>;</a:t>
            </a:r>
          </a:p>
          <a:p>
            <a:r>
              <a:rPr lang="en-US" sz="2800">
                <a:solidFill>
                  <a:schemeClr val="tx1"/>
                </a:solidFill>
                <a:latin typeface="+mj-lt"/>
              </a:rPr>
              <a:t>}</a:t>
            </a:r>
          </a:p>
          <a:p>
            <a:endParaRPr lang="en-US" sz="2800">
              <a:solidFill>
                <a:schemeClr val="tx1"/>
              </a:solidFill>
              <a:latin typeface="+mj-lt"/>
            </a:endParaRPr>
          </a:p>
          <a:p>
            <a:r>
              <a:rPr lang="en-US" sz="2800">
                <a:solidFill>
                  <a:schemeClr val="tx1"/>
                </a:solidFill>
                <a:latin typeface="+mj-lt"/>
              </a:rPr>
              <a:t>{</a:t>
            </a:r>
          </a:p>
          <a:p>
            <a:r>
              <a:rPr lang="en-US" sz="2800">
                <a:solidFill>
                  <a:srgbClr val="00007F"/>
                </a:solidFill>
                <a:latin typeface="+mj-lt"/>
              </a:rPr>
              <a:t>  int[]</a:t>
            </a:r>
            <a:r>
              <a:rPr lang="en-US" sz="2800">
                <a:solidFill>
                  <a:schemeClr val="tx1"/>
                </a:solidFill>
                <a:latin typeface="+mj-lt"/>
              </a:rPr>
              <a:t> b;</a:t>
            </a:r>
          </a:p>
          <a:p>
            <a:r>
              <a:rPr lang="en-US" sz="2800">
                <a:solidFill>
                  <a:schemeClr val="tx1"/>
                </a:solidFill>
                <a:latin typeface="+mj-lt"/>
              </a:rPr>
              <a:t>  b = </a:t>
            </a:r>
            <a:r>
              <a:rPr lang="en-US" sz="2800">
                <a:solidFill>
                  <a:srgbClr val="0000FF"/>
                </a:solidFill>
                <a:latin typeface="+mj-lt"/>
              </a:rPr>
              <a:t>new</a:t>
            </a:r>
            <a:r>
              <a:rPr lang="en-US" sz="2800">
                <a:solidFill>
                  <a:schemeClr val="tx1"/>
                </a:solidFill>
                <a:latin typeface="+mj-lt"/>
              </a:rPr>
              <a:t> int[</a:t>
            </a:r>
            <a:r>
              <a:rPr lang="en-US" sz="2800">
                <a:solidFill>
                  <a:srgbClr val="09B5B6"/>
                </a:solidFill>
                <a:latin typeface="+mj-lt"/>
              </a:rPr>
              <a:t>5</a:t>
            </a:r>
            <a:r>
              <a:rPr lang="en-US" sz="2800">
                <a:solidFill>
                  <a:schemeClr val="tx1"/>
                </a:solidFill>
                <a:latin typeface="+mj-lt"/>
              </a:rPr>
              <a:t>];</a:t>
            </a:r>
          </a:p>
          <a:p>
            <a:r>
              <a:rPr lang="en-US" sz="2800">
                <a:solidFill>
                  <a:srgbClr val="000000"/>
                </a:solidFill>
                <a:latin typeface="Consolas"/>
              </a:rPr>
              <a:t>  b[</a:t>
            </a:r>
            <a:r>
              <a:rPr lang="en-US" sz="2800">
                <a:solidFill>
                  <a:srgbClr val="09B5B6"/>
                </a:solidFill>
                <a:latin typeface="Consolas"/>
              </a:rPr>
              <a:t>4</a:t>
            </a:r>
            <a:r>
              <a:rPr lang="en-US" sz="2800">
                <a:solidFill>
                  <a:srgbClr val="000000"/>
                </a:solidFill>
                <a:latin typeface="Consolas"/>
              </a:rPr>
              <a:t>] = </a:t>
            </a:r>
            <a:r>
              <a:rPr lang="en-US" sz="2800">
                <a:solidFill>
                  <a:srgbClr val="09B5B6"/>
                </a:solidFill>
                <a:latin typeface="Consolas"/>
              </a:rPr>
              <a:t>8</a:t>
            </a:r>
            <a:r>
              <a:rPr lang="en-US" sz="2800">
                <a:solidFill>
                  <a:srgbClr val="000000"/>
                </a:solidFill>
                <a:latin typeface="Consolas"/>
              </a:rPr>
              <a:t>;</a:t>
            </a:r>
            <a:endParaRPr lang="en-US" sz="2800">
              <a:solidFill>
                <a:schemeClr val="tx1"/>
              </a:solidFill>
              <a:latin typeface="+mj-lt"/>
            </a:endParaRPr>
          </a:p>
          <a:p>
            <a:r>
              <a:rPr lang="en-US" sz="2800">
                <a:solidFill>
                  <a:schemeClr val="tx1"/>
                </a:solidFill>
                <a:latin typeface="+mj-lt"/>
              </a:rPr>
              <a:t>}</a:t>
            </a:r>
          </a:p>
        </p:txBody>
      </p:sp>
    </p:spTree>
    <p:extLst>
      <p:ext uri="{BB962C8B-B14F-4D97-AF65-F5344CB8AC3E}">
        <p14:creationId xmlns:p14="http://schemas.microsoft.com/office/powerpoint/2010/main" val="1407440620"/>
      </p:ext>
    </p:extLst>
  </p:cSld>
  <p:clrMapOvr>
    <a:masterClrMapping/>
  </p:clrMapOvr>
</p:sld>
</file>

<file path=ppt/slides/slide4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7BA23-B004-D719-9F3E-F7BBC2AF201A}"/>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7F3493F1-6674-1C47-7F57-84A5B4C6BB28}"/>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cxnSp>
        <p:nvCxnSpPr>
          <p:cNvPr id="2" name="Straight Connector 1">
            <a:extLst>
              <a:ext uri="{FF2B5EF4-FFF2-40B4-BE49-F238E27FC236}">
                <a16:creationId xmlns:a16="http://schemas.microsoft.com/office/drawing/2014/main" id="{D92E9DA6-071B-5427-75EE-35C14F5367E5}"/>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8EF997B7-4CC6-396B-BF88-6306C1D30CEF}"/>
              </a:ext>
            </a:extLst>
          </p:cNvPr>
          <p:cNvSpPr/>
          <p:nvPr/>
        </p:nvSpPr>
        <p:spPr>
          <a:xfrm>
            <a:off x="5358530" y="-2"/>
            <a:ext cx="3785470"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800">
                <a:solidFill>
                  <a:schemeClr val="tx1"/>
                </a:solidFill>
                <a:highlight>
                  <a:srgbClr val="FFFF00"/>
                </a:highlight>
                <a:latin typeface="+mj-lt"/>
              </a:rPr>
              <a:t>{</a:t>
            </a:r>
          </a:p>
          <a:p>
            <a:r>
              <a:rPr lang="en-US" sz="2800">
                <a:solidFill>
                  <a:srgbClr val="00007F"/>
                </a:solidFill>
                <a:latin typeface="+mj-lt"/>
              </a:rPr>
              <a:t>  int</a:t>
            </a:r>
            <a:r>
              <a:rPr lang="en-US" sz="2800">
                <a:solidFill>
                  <a:schemeClr val="tx1"/>
                </a:solidFill>
                <a:latin typeface="+mj-lt"/>
              </a:rPr>
              <a:t> a;</a:t>
            </a:r>
          </a:p>
          <a:p>
            <a:r>
              <a:rPr lang="en-US" sz="2800">
                <a:solidFill>
                  <a:schemeClr val="tx1"/>
                </a:solidFill>
                <a:latin typeface="+mj-lt"/>
              </a:rPr>
              <a:t>  a = </a:t>
            </a:r>
            <a:r>
              <a:rPr lang="en-US" sz="2800">
                <a:solidFill>
                  <a:srgbClr val="09B5B6"/>
                </a:solidFill>
                <a:latin typeface="+mj-lt"/>
              </a:rPr>
              <a:t>7</a:t>
            </a:r>
            <a:r>
              <a:rPr lang="en-US" sz="2800">
                <a:solidFill>
                  <a:schemeClr val="tx1"/>
                </a:solidFill>
                <a:latin typeface="+mj-lt"/>
              </a:rPr>
              <a:t>;</a:t>
            </a:r>
          </a:p>
          <a:p>
            <a:r>
              <a:rPr lang="en-US" sz="2800">
                <a:solidFill>
                  <a:schemeClr val="tx1"/>
                </a:solidFill>
                <a:latin typeface="+mj-lt"/>
              </a:rPr>
              <a:t>}</a:t>
            </a:r>
          </a:p>
          <a:p>
            <a:endParaRPr lang="en-US" sz="2800">
              <a:solidFill>
                <a:schemeClr val="tx1"/>
              </a:solidFill>
              <a:latin typeface="+mj-lt"/>
            </a:endParaRPr>
          </a:p>
          <a:p>
            <a:r>
              <a:rPr lang="en-US" sz="2800">
                <a:solidFill>
                  <a:schemeClr val="tx1"/>
                </a:solidFill>
                <a:latin typeface="+mj-lt"/>
              </a:rPr>
              <a:t>{</a:t>
            </a:r>
          </a:p>
          <a:p>
            <a:r>
              <a:rPr lang="en-US" sz="2800">
                <a:solidFill>
                  <a:srgbClr val="00007F"/>
                </a:solidFill>
                <a:latin typeface="+mj-lt"/>
              </a:rPr>
              <a:t>  int[]</a:t>
            </a:r>
            <a:r>
              <a:rPr lang="en-US" sz="2800">
                <a:solidFill>
                  <a:schemeClr val="tx1"/>
                </a:solidFill>
                <a:latin typeface="+mj-lt"/>
              </a:rPr>
              <a:t> b;</a:t>
            </a:r>
          </a:p>
          <a:p>
            <a:r>
              <a:rPr lang="en-US" sz="2800">
                <a:solidFill>
                  <a:schemeClr val="tx1"/>
                </a:solidFill>
                <a:latin typeface="+mj-lt"/>
              </a:rPr>
              <a:t>  b = </a:t>
            </a:r>
            <a:r>
              <a:rPr lang="en-US" sz="2800">
                <a:solidFill>
                  <a:srgbClr val="0000FF"/>
                </a:solidFill>
                <a:latin typeface="+mj-lt"/>
              </a:rPr>
              <a:t>new</a:t>
            </a:r>
            <a:r>
              <a:rPr lang="en-US" sz="2800">
                <a:solidFill>
                  <a:schemeClr val="tx1"/>
                </a:solidFill>
                <a:latin typeface="+mj-lt"/>
              </a:rPr>
              <a:t> int[</a:t>
            </a:r>
            <a:r>
              <a:rPr lang="en-US" sz="2800">
                <a:solidFill>
                  <a:srgbClr val="09B5B6"/>
                </a:solidFill>
                <a:latin typeface="+mj-lt"/>
              </a:rPr>
              <a:t>5</a:t>
            </a:r>
            <a:r>
              <a:rPr lang="en-US" sz="2800">
                <a:solidFill>
                  <a:schemeClr val="tx1"/>
                </a:solidFill>
                <a:latin typeface="+mj-lt"/>
              </a:rPr>
              <a:t>];</a:t>
            </a:r>
          </a:p>
          <a:p>
            <a:r>
              <a:rPr lang="en-US" sz="2800">
                <a:solidFill>
                  <a:srgbClr val="000000"/>
                </a:solidFill>
                <a:latin typeface="Consolas"/>
              </a:rPr>
              <a:t>  b[</a:t>
            </a:r>
            <a:r>
              <a:rPr lang="en-US" sz="2800">
                <a:solidFill>
                  <a:srgbClr val="09B5B6"/>
                </a:solidFill>
                <a:latin typeface="Consolas"/>
              </a:rPr>
              <a:t>4</a:t>
            </a:r>
            <a:r>
              <a:rPr lang="en-US" sz="2800">
                <a:solidFill>
                  <a:srgbClr val="000000"/>
                </a:solidFill>
                <a:latin typeface="Consolas"/>
              </a:rPr>
              <a:t>] = </a:t>
            </a:r>
            <a:r>
              <a:rPr lang="en-US" sz="2800">
                <a:solidFill>
                  <a:srgbClr val="09B5B6"/>
                </a:solidFill>
                <a:latin typeface="Consolas"/>
              </a:rPr>
              <a:t>8</a:t>
            </a:r>
            <a:r>
              <a:rPr lang="en-US" sz="2800">
                <a:solidFill>
                  <a:srgbClr val="000000"/>
                </a:solidFill>
                <a:latin typeface="Consolas"/>
              </a:rPr>
              <a:t>;</a:t>
            </a:r>
            <a:endParaRPr lang="en-US" sz="2800">
              <a:solidFill>
                <a:schemeClr val="tx1"/>
              </a:solidFill>
              <a:latin typeface="+mj-lt"/>
            </a:endParaRPr>
          </a:p>
          <a:p>
            <a:r>
              <a:rPr lang="en-US" sz="2800">
                <a:solidFill>
                  <a:schemeClr val="tx1"/>
                </a:solidFill>
                <a:latin typeface="+mj-lt"/>
              </a:rPr>
              <a:t>}</a:t>
            </a:r>
          </a:p>
        </p:txBody>
      </p:sp>
    </p:spTree>
    <p:extLst>
      <p:ext uri="{BB962C8B-B14F-4D97-AF65-F5344CB8AC3E}">
        <p14:creationId xmlns:p14="http://schemas.microsoft.com/office/powerpoint/2010/main" val="1675661729"/>
      </p:ext>
    </p:extLst>
  </p:cSld>
  <p:clrMapOvr>
    <a:masterClrMapping/>
  </p:clrMapOvr>
</p:sld>
</file>

<file path=ppt/slides/slide4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7A593-556F-600E-AB50-E60B390474ED}"/>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534004F9-17F2-7410-8F88-4263B2E4E28B}"/>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cxnSp>
        <p:nvCxnSpPr>
          <p:cNvPr id="2" name="Straight Connector 1">
            <a:extLst>
              <a:ext uri="{FF2B5EF4-FFF2-40B4-BE49-F238E27FC236}">
                <a16:creationId xmlns:a16="http://schemas.microsoft.com/office/drawing/2014/main" id="{FC6A06CE-A35C-F6D3-0DAD-89BB6ACE638D}"/>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A708A052-273A-ACE5-714A-E360777CFC8E}"/>
              </a:ext>
            </a:extLst>
          </p:cNvPr>
          <p:cNvSpPr/>
          <p:nvPr/>
        </p:nvSpPr>
        <p:spPr>
          <a:xfrm>
            <a:off x="5358530" y="-2"/>
            <a:ext cx="3785470"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800">
                <a:solidFill>
                  <a:schemeClr val="tx1"/>
                </a:solidFill>
                <a:latin typeface="+mj-lt"/>
              </a:rPr>
              <a:t>{</a:t>
            </a:r>
          </a:p>
          <a:p>
            <a:r>
              <a:rPr lang="en-US" sz="2800">
                <a:solidFill>
                  <a:srgbClr val="00007F"/>
                </a:solidFill>
                <a:highlight>
                  <a:srgbClr val="FFFF00"/>
                </a:highlight>
                <a:latin typeface="+mj-lt"/>
              </a:rPr>
              <a:t>  int</a:t>
            </a:r>
            <a:r>
              <a:rPr lang="en-US" sz="2800">
                <a:solidFill>
                  <a:schemeClr val="tx1"/>
                </a:solidFill>
                <a:highlight>
                  <a:srgbClr val="FFFF00"/>
                </a:highlight>
                <a:latin typeface="+mj-lt"/>
              </a:rPr>
              <a:t> a;</a:t>
            </a:r>
          </a:p>
          <a:p>
            <a:r>
              <a:rPr lang="en-US" sz="2800">
                <a:solidFill>
                  <a:schemeClr val="tx1"/>
                </a:solidFill>
                <a:latin typeface="+mj-lt"/>
              </a:rPr>
              <a:t>  a = </a:t>
            </a:r>
            <a:r>
              <a:rPr lang="en-US" sz="2800">
                <a:solidFill>
                  <a:srgbClr val="09B5B6"/>
                </a:solidFill>
                <a:latin typeface="+mj-lt"/>
              </a:rPr>
              <a:t>7</a:t>
            </a:r>
            <a:r>
              <a:rPr lang="en-US" sz="2800">
                <a:solidFill>
                  <a:schemeClr val="tx1"/>
                </a:solidFill>
                <a:latin typeface="+mj-lt"/>
              </a:rPr>
              <a:t>;</a:t>
            </a:r>
          </a:p>
          <a:p>
            <a:r>
              <a:rPr lang="en-US" sz="2800">
                <a:solidFill>
                  <a:schemeClr val="tx1"/>
                </a:solidFill>
                <a:latin typeface="+mj-lt"/>
              </a:rPr>
              <a:t>}</a:t>
            </a:r>
          </a:p>
          <a:p>
            <a:endParaRPr lang="en-US" sz="2800">
              <a:solidFill>
                <a:schemeClr val="tx1"/>
              </a:solidFill>
              <a:latin typeface="+mj-lt"/>
            </a:endParaRPr>
          </a:p>
          <a:p>
            <a:r>
              <a:rPr lang="en-US" sz="2800">
                <a:solidFill>
                  <a:schemeClr val="tx1"/>
                </a:solidFill>
                <a:latin typeface="+mj-lt"/>
              </a:rPr>
              <a:t>{</a:t>
            </a:r>
          </a:p>
          <a:p>
            <a:r>
              <a:rPr lang="en-US" sz="2800">
                <a:solidFill>
                  <a:srgbClr val="00007F"/>
                </a:solidFill>
                <a:latin typeface="+mj-lt"/>
              </a:rPr>
              <a:t>  int[]</a:t>
            </a:r>
            <a:r>
              <a:rPr lang="en-US" sz="2800">
                <a:solidFill>
                  <a:schemeClr val="tx1"/>
                </a:solidFill>
                <a:latin typeface="+mj-lt"/>
              </a:rPr>
              <a:t> b;</a:t>
            </a:r>
          </a:p>
          <a:p>
            <a:r>
              <a:rPr lang="en-US" sz="2800">
                <a:solidFill>
                  <a:schemeClr val="tx1"/>
                </a:solidFill>
                <a:latin typeface="+mj-lt"/>
              </a:rPr>
              <a:t>  b = </a:t>
            </a:r>
            <a:r>
              <a:rPr lang="en-US" sz="2800">
                <a:solidFill>
                  <a:srgbClr val="0000FF"/>
                </a:solidFill>
                <a:latin typeface="+mj-lt"/>
              </a:rPr>
              <a:t>new</a:t>
            </a:r>
            <a:r>
              <a:rPr lang="en-US" sz="2800">
                <a:solidFill>
                  <a:schemeClr val="tx1"/>
                </a:solidFill>
                <a:latin typeface="+mj-lt"/>
              </a:rPr>
              <a:t> int[</a:t>
            </a:r>
            <a:r>
              <a:rPr lang="en-US" sz="2800">
                <a:solidFill>
                  <a:srgbClr val="09B5B6"/>
                </a:solidFill>
                <a:latin typeface="+mj-lt"/>
              </a:rPr>
              <a:t>5</a:t>
            </a:r>
            <a:r>
              <a:rPr lang="en-US" sz="2800">
                <a:solidFill>
                  <a:schemeClr val="tx1"/>
                </a:solidFill>
                <a:latin typeface="+mj-lt"/>
              </a:rPr>
              <a:t>];</a:t>
            </a:r>
          </a:p>
          <a:p>
            <a:r>
              <a:rPr lang="en-US" sz="2800">
                <a:solidFill>
                  <a:srgbClr val="000000"/>
                </a:solidFill>
                <a:latin typeface="Consolas"/>
              </a:rPr>
              <a:t>  b[</a:t>
            </a:r>
            <a:r>
              <a:rPr lang="en-US" sz="2800">
                <a:solidFill>
                  <a:srgbClr val="09B5B6"/>
                </a:solidFill>
                <a:latin typeface="Consolas"/>
              </a:rPr>
              <a:t>4</a:t>
            </a:r>
            <a:r>
              <a:rPr lang="en-US" sz="2800">
                <a:solidFill>
                  <a:srgbClr val="000000"/>
                </a:solidFill>
                <a:latin typeface="Consolas"/>
              </a:rPr>
              <a:t>] = </a:t>
            </a:r>
            <a:r>
              <a:rPr lang="en-US" sz="2800">
                <a:solidFill>
                  <a:srgbClr val="09B5B6"/>
                </a:solidFill>
                <a:latin typeface="Consolas"/>
              </a:rPr>
              <a:t>8</a:t>
            </a:r>
            <a:r>
              <a:rPr lang="en-US" sz="2800">
                <a:solidFill>
                  <a:srgbClr val="000000"/>
                </a:solidFill>
                <a:latin typeface="Consolas"/>
              </a:rPr>
              <a:t>;</a:t>
            </a:r>
            <a:endParaRPr lang="en-US" sz="2800">
              <a:solidFill>
                <a:schemeClr val="tx1"/>
              </a:solidFill>
              <a:latin typeface="+mj-lt"/>
            </a:endParaRPr>
          </a:p>
          <a:p>
            <a:r>
              <a:rPr lang="en-US" sz="2800">
                <a:solidFill>
                  <a:schemeClr val="tx1"/>
                </a:solidFill>
                <a:latin typeface="+mj-lt"/>
              </a:rPr>
              <a:t>}</a:t>
            </a:r>
          </a:p>
        </p:txBody>
      </p:sp>
      <p:sp>
        <p:nvSpPr>
          <p:cNvPr id="4" name="TextBox 3">
            <a:extLst>
              <a:ext uri="{FF2B5EF4-FFF2-40B4-BE49-F238E27FC236}">
                <a16:creationId xmlns:a16="http://schemas.microsoft.com/office/drawing/2014/main" id="{AE841C17-CBC4-D635-51BC-B4D9E2BB699A}"/>
              </a:ext>
            </a:extLst>
          </p:cNvPr>
          <p:cNvSpPr txBox="1"/>
          <p:nvPr/>
        </p:nvSpPr>
        <p:spPr>
          <a:xfrm>
            <a:off x="1169044" y="685848"/>
            <a:ext cx="584592" cy="584775"/>
          </a:xfrm>
          <a:prstGeom prst="rect">
            <a:avLst/>
          </a:prstGeom>
          <a:noFill/>
        </p:spPr>
        <p:txBody>
          <a:bodyPr wrap="square">
            <a:spAutoFit/>
          </a:bodyPr>
          <a:lstStyle/>
          <a:p>
            <a:pPr algn="ctr"/>
            <a:r>
              <a:rPr lang="en-US" sz="3200">
                <a:latin typeface="+mj-lt"/>
              </a:rPr>
              <a:t>a</a:t>
            </a:r>
            <a:endParaRPr lang="en-US" sz="3200"/>
          </a:p>
        </p:txBody>
      </p:sp>
      <p:sp>
        <p:nvSpPr>
          <p:cNvPr id="5" name="Rectangle 4">
            <a:extLst>
              <a:ext uri="{FF2B5EF4-FFF2-40B4-BE49-F238E27FC236}">
                <a16:creationId xmlns:a16="http://schemas.microsoft.com/office/drawing/2014/main" id="{8E70B76E-C372-B56D-3E48-BEE750EA4D5C}"/>
              </a:ext>
            </a:extLst>
          </p:cNvPr>
          <p:cNvSpPr/>
          <p:nvPr/>
        </p:nvSpPr>
        <p:spPr>
          <a:xfrm>
            <a:off x="943407" y="1238265"/>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F80B8D"/>
                </a:solidFill>
                <a:latin typeface="+mj-lt"/>
              </a:rPr>
              <a:t>?</a:t>
            </a:r>
            <a:endParaRPr lang="en-US" sz="2800">
              <a:solidFill>
                <a:srgbClr val="F80B8D"/>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264586121"/>
      </p:ext>
    </p:extLst>
  </p:cSld>
  <p:clrMapOvr>
    <a:masterClrMapping/>
  </p:clrMapOvr>
</p:sld>
</file>

<file path=ppt/slides/slide4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1525F-F4AD-9E51-7BCC-5977F9119863}"/>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800F29D6-421D-CFA9-F7C8-A9F8CDAC0A0B}"/>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cxnSp>
        <p:nvCxnSpPr>
          <p:cNvPr id="2" name="Straight Connector 1">
            <a:extLst>
              <a:ext uri="{FF2B5EF4-FFF2-40B4-BE49-F238E27FC236}">
                <a16:creationId xmlns:a16="http://schemas.microsoft.com/office/drawing/2014/main" id="{CEC6318D-D982-B8DF-BFFB-ACC79DDBA9A3}"/>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E3B1E95C-41EE-155E-3A73-C49DEEB2F068}"/>
              </a:ext>
            </a:extLst>
          </p:cNvPr>
          <p:cNvSpPr/>
          <p:nvPr/>
        </p:nvSpPr>
        <p:spPr>
          <a:xfrm>
            <a:off x="5358530" y="-2"/>
            <a:ext cx="3785470"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800">
                <a:solidFill>
                  <a:schemeClr val="tx1"/>
                </a:solidFill>
                <a:latin typeface="+mj-lt"/>
              </a:rPr>
              <a:t>{</a:t>
            </a:r>
          </a:p>
          <a:p>
            <a:r>
              <a:rPr lang="en-US" sz="2800">
                <a:solidFill>
                  <a:srgbClr val="00007F"/>
                </a:solidFill>
                <a:latin typeface="+mj-lt"/>
              </a:rPr>
              <a:t>  int</a:t>
            </a:r>
            <a:r>
              <a:rPr lang="en-US" sz="2800">
                <a:solidFill>
                  <a:schemeClr val="tx1"/>
                </a:solidFill>
                <a:latin typeface="+mj-lt"/>
              </a:rPr>
              <a:t> a;</a:t>
            </a:r>
          </a:p>
          <a:p>
            <a:r>
              <a:rPr lang="en-US" sz="2800">
                <a:solidFill>
                  <a:schemeClr val="tx1"/>
                </a:solidFill>
                <a:highlight>
                  <a:srgbClr val="FFFF00"/>
                </a:highlight>
                <a:latin typeface="+mj-lt"/>
              </a:rPr>
              <a:t>  a = </a:t>
            </a:r>
            <a:r>
              <a:rPr lang="en-US" sz="2800">
                <a:solidFill>
                  <a:srgbClr val="09B5B6"/>
                </a:solidFill>
                <a:highlight>
                  <a:srgbClr val="FFFF00"/>
                </a:highlight>
                <a:latin typeface="+mj-lt"/>
              </a:rPr>
              <a:t>7</a:t>
            </a:r>
            <a:r>
              <a:rPr lang="en-US" sz="2800">
                <a:solidFill>
                  <a:schemeClr val="tx1"/>
                </a:solidFill>
                <a:highlight>
                  <a:srgbClr val="FFFF00"/>
                </a:highlight>
                <a:latin typeface="+mj-lt"/>
              </a:rPr>
              <a:t>;</a:t>
            </a:r>
          </a:p>
          <a:p>
            <a:r>
              <a:rPr lang="en-US" sz="2800">
                <a:solidFill>
                  <a:schemeClr val="tx1"/>
                </a:solidFill>
                <a:latin typeface="+mj-lt"/>
              </a:rPr>
              <a:t>}</a:t>
            </a:r>
          </a:p>
          <a:p>
            <a:endParaRPr lang="en-US" sz="2800">
              <a:solidFill>
                <a:schemeClr val="tx1"/>
              </a:solidFill>
              <a:latin typeface="+mj-lt"/>
            </a:endParaRPr>
          </a:p>
          <a:p>
            <a:r>
              <a:rPr lang="en-US" sz="2800">
                <a:solidFill>
                  <a:schemeClr val="tx1"/>
                </a:solidFill>
                <a:latin typeface="+mj-lt"/>
              </a:rPr>
              <a:t>{</a:t>
            </a:r>
          </a:p>
          <a:p>
            <a:r>
              <a:rPr lang="en-US" sz="2800">
                <a:solidFill>
                  <a:srgbClr val="00007F"/>
                </a:solidFill>
                <a:latin typeface="+mj-lt"/>
              </a:rPr>
              <a:t>  int[]</a:t>
            </a:r>
            <a:r>
              <a:rPr lang="en-US" sz="2800">
                <a:solidFill>
                  <a:schemeClr val="tx1"/>
                </a:solidFill>
                <a:latin typeface="+mj-lt"/>
              </a:rPr>
              <a:t> b;</a:t>
            </a:r>
          </a:p>
          <a:p>
            <a:r>
              <a:rPr lang="en-US" sz="2800">
                <a:solidFill>
                  <a:schemeClr val="tx1"/>
                </a:solidFill>
                <a:latin typeface="+mj-lt"/>
              </a:rPr>
              <a:t>  b = </a:t>
            </a:r>
            <a:r>
              <a:rPr lang="en-US" sz="2800">
                <a:solidFill>
                  <a:srgbClr val="0000FF"/>
                </a:solidFill>
                <a:latin typeface="+mj-lt"/>
              </a:rPr>
              <a:t>new</a:t>
            </a:r>
            <a:r>
              <a:rPr lang="en-US" sz="2800">
                <a:solidFill>
                  <a:schemeClr val="tx1"/>
                </a:solidFill>
                <a:latin typeface="+mj-lt"/>
              </a:rPr>
              <a:t> int[</a:t>
            </a:r>
            <a:r>
              <a:rPr lang="en-US" sz="2800">
                <a:solidFill>
                  <a:srgbClr val="09B5B6"/>
                </a:solidFill>
                <a:latin typeface="+mj-lt"/>
              </a:rPr>
              <a:t>5</a:t>
            </a:r>
            <a:r>
              <a:rPr lang="en-US" sz="2800">
                <a:solidFill>
                  <a:schemeClr val="tx1"/>
                </a:solidFill>
                <a:latin typeface="+mj-lt"/>
              </a:rPr>
              <a:t>];</a:t>
            </a:r>
          </a:p>
          <a:p>
            <a:r>
              <a:rPr lang="en-US" sz="2800">
                <a:solidFill>
                  <a:srgbClr val="000000"/>
                </a:solidFill>
                <a:latin typeface="Consolas"/>
              </a:rPr>
              <a:t>  b[</a:t>
            </a:r>
            <a:r>
              <a:rPr lang="en-US" sz="2800">
                <a:solidFill>
                  <a:srgbClr val="09B5B6"/>
                </a:solidFill>
                <a:latin typeface="Consolas"/>
              </a:rPr>
              <a:t>4</a:t>
            </a:r>
            <a:r>
              <a:rPr lang="en-US" sz="2800">
                <a:solidFill>
                  <a:srgbClr val="000000"/>
                </a:solidFill>
                <a:latin typeface="Consolas"/>
              </a:rPr>
              <a:t>] = </a:t>
            </a:r>
            <a:r>
              <a:rPr lang="en-US" sz="2800">
                <a:solidFill>
                  <a:srgbClr val="09B5B6"/>
                </a:solidFill>
                <a:latin typeface="Consolas"/>
              </a:rPr>
              <a:t>8</a:t>
            </a:r>
            <a:r>
              <a:rPr lang="en-US" sz="2800">
                <a:solidFill>
                  <a:srgbClr val="000000"/>
                </a:solidFill>
                <a:latin typeface="Consolas"/>
              </a:rPr>
              <a:t>;</a:t>
            </a:r>
            <a:endParaRPr lang="en-US" sz="2800">
              <a:solidFill>
                <a:schemeClr val="tx1"/>
              </a:solidFill>
              <a:latin typeface="+mj-lt"/>
            </a:endParaRPr>
          </a:p>
          <a:p>
            <a:r>
              <a:rPr lang="en-US" sz="2800">
                <a:solidFill>
                  <a:schemeClr val="tx1"/>
                </a:solidFill>
                <a:latin typeface="+mj-lt"/>
              </a:rPr>
              <a:t>}</a:t>
            </a:r>
          </a:p>
        </p:txBody>
      </p:sp>
      <p:sp>
        <p:nvSpPr>
          <p:cNvPr id="4" name="TextBox 3">
            <a:extLst>
              <a:ext uri="{FF2B5EF4-FFF2-40B4-BE49-F238E27FC236}">
                <a16:creationId xmlns:a16="http://schemas.microsoft.com/office/drawing/2014/main" id="{3A811C35-05E6-2285-D6F2-C8B39FE496C2}"/>
              </a:ext>
            </a:extLst>
          </p:cNvPr>
          <p:cNvSpPr txBox="1"/>
          <p:nvPr/>
        </p:nvSpPr>
        <p:spPr>
          <a:xfrm>
            <a:off x="1169044" y="685848"/>
            <a:ext cx="584592" cy="584775"/>
          </a:xfrm>
          <a:prstGeom prst="rect">
            <a:avLst/>
          </a:prstGeom>
          <a:noFill/>
        </p:spPr>
        <p:txBody>
          <a:bodyPr wrap="square">
            <a:spAutoFit/>
          </a:bodyPr>
          <a:lstStyle/>
          <a:p>
            <a:pPr algn="ctr"/>
            <a:r>
              <a:rPr lang="en-US" sz="3200">
                <a:latin typeface="+mj-lt"/>
              </a:rPr>
              <a:t>a</a:t>
            </a:r>
            <a:endParaRPr lang="en-US" sz="3200"/>
          </a:p>
        </p:txBody>
      </p:sp>
      <p:sp>
        <p:nvSpPr>
          <p:cNvPr id="5" name="Rectangle 4">
            <a:extLst>
              <a:ext uri="{FF2B5EF4-FFF2-40B4-BE49-F238E27FC236}">
                <a16:creationId xmlns:a16="http://schemas.microsoft.com/office/drawing/2014/main" id="{0CF77C16-B58E-2F81-D3A7-9327A0EB7F67}"/>
              </a:ext>
            </a:extLst>
          </p:cNvPr>
          <p:cNvSpPr/>
          <p:nvPr/>
        </p:nvSpPr>
        <p:spPr>
          <a:xfrm>
            <a:off x="943407" y="1238265"/>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highlight>
                  <a:srgbClr val="FFFF00"/>
                </a:highlight>
                <a:latin typeface="+mj-lt"/>
              </a:rPr>
              <a:t>7</a:t>
            </a:r>
            <a:endParaRPr lang="en-US" sz="2800">
              <a:solidFill>
                <a:srgbClr val="F80B8D"/>
              </a:solidFill>
              <a:highlight>
                <a:srgbClr val="FFFF00"/>
              </a:highlight>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546633160"/>
      </p:ext>
    </p:extLst>
  </p:cSld>
  <p:clrMapOvr>
    <a:masterClrMapping/>
  </p:clrMapOvr>
</p:sld>
</file>

<file path=ppt/slides/slide4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B8262-87AF-9729-80D0-92EEF980E0C9}"/>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217AE893-C309-B857-DD7B-3888BD4AA80E}"/>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cxnSp>
        <p:nvCxnSpPr>
          <p:cNvPr id="2" name="Straight Connector 1">
            <a:extLst>
              <a:ext uri="{FF2B5EF4-FFF2-40B4-BE49-F238E27FC236}">
                <a16:creationId xmlns:a16="http://schemas.microsoft.com/office/drawing/2014/main" id="{0CEAA87F-79E1-AD1D-13E4-3B15883E37D7}"/>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85D92D1E-00E9-4842-D935-F9E4196A18C8}"/>
              </a:ext>
            </a:extLst>
          </p:cNvPr>
          <p:cNvSpPr/>
          <p:nvPr/>
        </p:nvSpPr>
        <p:spPr>
          <a:xfrm>
            <a:off x="5358530" y="-2"/>
            <a:ext cx="3785470"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800">
                <a:solidFill>
                  <a:schemeClr val="tx1"/>
                </a:solidFill>
                <a:latin typeface="+mj-lt"/>
              </a:rPr>
              <a:t>{</a:t>
            </a:r>
          </a:p>
          <a:p>
            <a:r>
              <a:rPr lang="en-US" sz="2800">
                <a:solidFill>
                  <a:srgbClr val="00007F"/>
                </a:solidFill>
                <a:latin typeface="+mj-lt"/>
              </a:rPr>
              <a:t>  int</a:t>
            </a:r>
            <a:r>
              <a:rPr lang="en-US" sz="2800">
                <a:solidFill>
                  <a:schemeClr val="tx1"/>
                </a:solidFill>
                <a:latin typeface="+mj-lt"/>
              </a:rPr>
              <a:t> a;</a:t>
            </a:r>
          </a:p>
          <a:p>
            <a:r>
              <a:rPr lang="en-US" sz="2800">
                <a:solidFill>
                  <a:schemeClr val="tx1"/>
                </a:solidFill>
                <a:latin typeface="+mj-lt"/>
              </a:rPr>
              <a:t>  a = </a:t>
            </a:r>
            <a:r>
              <a:rPr lang="en-US" sz="2800">
                <a:solidFill>
                  <a:srgbClr val="09B5B6"/>
                </a:solidFill>
                <a:latin typeface="+mj-lt"/>
              </a:rPr>
              <a:t>7</a:t>
            </a:r>
            <a:r>
              <a:rPr lang="en-US" sz="2800">
                <a:solidFill>
                  <a:schemeClr val="tx1"/>
                </a:solidFill>
                <a:latin typeface="+mj-lt"/>
              </a:rPr>
              <a:t>;</a:t>
            </a:r>
          </a:p>
          <a:p>
            <a:r>
              <a:rPr lang="en-US" sz="2800">
                <a:solidFill>
                  <a:schemeClr val="tx1"/>
                </a:solidFill>
                <a:highlight>
                  <a:srgbClr val="FFFF00"/>
                </a:highlight>
                <a:latin typeface="+mj-lt"/>
              </a:rPr>
              <a:t>}</a:t>
            </a:r>
          </a:p>
          <a:p>
            <a:endParaRPr lang="en-US" sz="2800">
              <a:solidFill>
                <a:schemeClr val="tx1"/>
              </a:solidFill>
              <a:latin typeface="+mj-lt"/>
            </a:endParaRPr>
          </a:p>
          <a:p>
            <a:r>
              <a:rPr lang="en-US" sz="2800">
                <a:solidFill>
                  <a:schemeClr val="tx1"/>
                </a:solidFill>
                <a:latin typeface="+mj-lt"/>
              </a:rPr>
              <a:t>{</a:t>
            </a:r>
          </a:p>
          <a:p>
            <a:r>
              <a:rPr lang="en-US" sz="2800">
                <a:solidFill>
                  <a:srgbClr val="00007F"/>
                </a:solidFill>
                <a:latin typeface="+mj-lt"/>
              </a:rPr>
              <a:t>  int[]</a:t>
            </a:r>
            <a:r>
              <a:rPr lang="en-US" sz="2800">
                <a:solidFill>
                  <a:schemeClr val="tx1"/>
                </a:solidFill>
                <a:latin typeface="+mj-lt"/>
              </a:rPr>
              <a:t> b;</a:t>
            </a:r>
          </a:p>
          <a:p>
            <a:r>
              <a:rPr lang="en-US" sz="2800">
                <a:solidFill>
                  <a:schemeClr val="tx1"/>
                </a:solidFill>
                <a:latin typeface="+mj-lt"/>
              </a:rPr>
              <a:t>  b = </a:t>
            </a:r>
            <a:r>
              <a:rPr lang="en-US" sz="2800">
                <a:solidFill>
                  <a:srgbClr val="0000FF"/>
                </a:solidFill>
                <a:latin typeface="+mj-lt"/>
              </a:rPr>
              <a:t>new</a:t>
            </a:r>
            <a:r>
              <a:rPr lang="en-US" sz="2800">
                <a:solidFill>
                  <a:schemeClr val="tx1"/>
                </a:solidFill>
                <a:latin typeface="+mj-lt"/>
              </a:rPr>
              <a:t> int[</a:t>
            </a:r>
            <a:r>
              <a:rPr lang="en-US" sz="2800">
                <a:solidFill>
                  <a:srgbClr val="09B5B6"/>
                </a:solidFill>
                <a:latin typeface="+mj-lt"/>
              </a:rPr>
              <a:t>5</a:t>
            </a:r>
            <a:r>
              <a:rPr lang="en-US" sz="2800">
                <a:solidFill>
                  <a:schemeClr val="tx1"/>
                </a:solidFill>
                <a:latin typeface="+mj-lt"/>
              </a:rPr>
              <a:t>];</a:t>
            </a:r>
          </a:p>
          <a:p>
            <a:r>
              <a:rPr lang="en-US" sz="2800">
                <a:solidFill>
                  <a:srgbClr val="000000"/>
                </a:solidFill>
                <a:latin typeface="Consolas"/>
              </a:rPr>
              <a:t>  b[</a:t>
            </a:r>
            <a:r>
              <a:rPr lang="en-US" sz="2800">
                <a:solidFill>
                  <a:srgbClr val="09B5B6"/>
                </a:solidFill>
                <a:latin typeface="Consolas"/>
              </a:rPr>
              <a:t>4</a:t>
            </a:r>
            <a:r>
              <a:rPr lang="en-US" sz="2800">
                <a:solidFill>
                  <a:srgbClr val="000000"/>
                </a:solidFill>
                <a:latin typeface="Consolas"/>
              </a:rPr>
              <a:t>] = </a:t>
            </a:r>
            <a:r>
              <a:rPr lang="en-US" sz="2800">
                <a:solidFill>
                  <a:srgbClr val="09B5B6"/>
                </a:solidFill>
                <a:latin typeface="Consolas"/>
              </a:rPr>
              <a:t>8</a:t>
            </a:r>
            <a:r>
              <a:rPr lang="en-US" sz="2800">
                <a:solidFill>
                  <a:srgbClr val="000000"/>
                </a:solidFill>
                <a:latin typeface="Consolas"/>
              </a:rPr>
              <a:t>;</a:t>
            </a:r>
            <a:endParaRPr lang="en-US" sz="2800">
              <a:solidFill>
                <a:schemeClr val="tx1"/>
              </a:solidFill>
              <a:latin typeface="+mj-lt"/>
            </a:endParaRPr>
          </a:p>
          <a:p>
            <a:r>
              <a:rPr lang="en-US" sz="2800">
                <a:solidFill>
                  <a:schemeClr val="tx1"/>
                </a:solidFill>
                <a:latin typeface="+mj-lt"/>
              </a:rPr>
              <a:t>}</a:t>
            </a:r>
          </a:p>
        </p:txBody>
      </p:sp>
      <p:sp>
        <p:nvSpPr>
          <p:cNvPr id="6" name="TextBox 5">
            <a:extLst>
              <a:ext uri="{FF2B5EF4-FFF2-40B4-BE49-F238E27FC236}">
                <a16:creationId xmlns:a16="http://schemas.microsoft.com/office/drawing/2014/main" id="{34A8DA2C-20B0-15EC-A7F5-CAE5D072F5A5}"/>
              </a:ext>
            </a:extLst>
          </p:cNvPr>
          <p:cNvSpPr txBox="1"/>
          <p:nvPr/>
        </p:nvSpPr>
        <p:spPr>
          <a:xfrm>
            <a:off x="1169044" y="685848"/>
            <a:ext cx="584592" cy="584775"/>
          </a:xfrm>
          <a:prstGeom prst="rect">
            <a:avLst/>
          </a:prstGeom>
          <a:noFill/>
        </p:spPr>
        <p:txBody>
          <a:bodyPr wrap="square">
            <a:spAutoFit/>
          </a:bodyPr>
          <a:lstStyle/>
          <a:p>
            <a:pPr algn="ctr"/>
            <a:r>
              <a:rPr lang="en-US" sz="3200">
                <a:latin typeface="+mj-lt"/>
              </a:rPr>
              <a:t>a</a:t>
            </a:r>
            <a:endParaRPr lang="en-US" sz="3200"/>
          </a:p>
        </p:txBody>
      </p:sp>
      <p:sp>
        <p:nvSpPr>
          <p:cNvPr id="7" name="Rectangle 6">
            <a:extLst>
              <a:ext uri="{FF2B5EF4-FFF2-40B4-BE49-F238E27FC236}">
                <a16:creationId xmlns:a16="http://schemas.microsoft.com/office/drawing/2014/main" id="{4756D621-84AD-F3D1-A247-537B04E2633E}"/>
              </a:ext>
            </a:extLst>
          </p:cNvPr>
          <p:cNvSpPr/>
          <p:nvPr/>
        </p:nvSpPr>
        <p:spPr>
          <a:xfrm>
            <a:off x="943407" y="1238265"/>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7</a:t>
            </a:r>
            <a:endParaRPr lang="en-US" sz="2800">
              <a:solidFill>
                <a:srgbClr val="F80B8D"/>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27492062"/>
      </p:ext>
    </p:extLst>
  </p:cSld>
  <p:clrMapOvr>
    <a:masterClrMapping/>
  </p:clrMapOvr>
</p:sld>
</file>

<file path=ppt/slides/slide4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80E85-E544-084B-B039-D4CB07B9DBF8}"/>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CE4D6E82-C056-35D1-B0A1-977882762C56}"/>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cxnSp>
        <p:nvCxnSpPr>
          <p:cNvPr id="2" name="Straight Connector 1">
            <a:extLst>
              <a:ext uri="{FF2B5EF4-FFF2-40B4-BE49-F238E27FC236}">
                <a16:creationId xmlns:a16="http://schemas.microsoft.com/office/drawing/2014/main" id="{68A1F5A8-34B7-1861-A720-F69C22E11952}"/>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A48761B0-A6B8-E1F5-5012-BB2B5A0C7190}"/>
              </a:ext>
            </a:extLst>
          </p:cNvPr>
          <p:cNvSpPr/>
          <p:nvPr/>
        </p:nvSpPr>
        <p:spPr>
          <a:xfrm>
            <a:off x="5358530" y="-2"/>
            <a:ext cx="3785470"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800">
                <a:solidFill>
                  <a:schemeClr val="tx1"/>
                </a:solidFill>
                <a:latin typeface="+mj-lt"/>
              </a:rPr>
              <a:t>{</a:t>
            </a:r>
          </a:p>
          <a:p>
            <a:r>
              <a:rPr lang="en-US" sz="2800">
                <a:solidFill>
                  <a:srgbClr val="00007F"/>
                </a:solidFill>
                <a:latin typeface="+mj-lt"/>
              </a:rPr>
              <a:t>  int</a:t>
            </a:r>
            <a:r>
              <a:rPr lang="en-US" sz="2800">
                <a:solidFill>
                  <a:schemeClr val="tx1"/>
                </a:solidFill>
                <a:latin typeface="+mj-lt"/>
              </a:rPr>
              <a:t> a;</a:t>
            </a:r>
          </a:p>
          <a:p>
            <a:r>
              <a:rPr lang="en-US" sz="2800">
                <a:solidFill>
                  <a:schemeClr val="tx1"/>
                </a:solidFill>
                <a:latin typeface="+mj-lt"/>
              </a:rPr>
              <a:t>  a = </a:t>
            </a:r>
            <a:r>
              <a:rPr lang="en-US" sz="2800">
                <a:solidFill>
                  <a:srgbClr val="09B5B6"/>
                </a:solidFill>
                <a:latin typeface="+mj-lt"/>
              </a:rPr>
              <a:t>7</a:t>
            </a:r>
            <a:r>
              <a:rPr lang="en-US" sz="2800">
                <a:solidFill>
                  <a:schemeClr val="tx1"/>
                </a:solidFill>
                <a:latin typeface="+mj-lt"/>
              </a:rPr>
              <a:t>;</a:t>
            </a:r>
          </a:p>
          <a:p>
            <a:r>
              <a:rPr lang="en-US" sz="2800">
                <a:solidFill>
                  <a:schemeClr val="tx1"/>
                </a:solidFill>
                <a:latin typeface="+mj-lt"/>
              </a:rPr>
              <a:t>}</a:t>
            </a:r>
          </a:p>
          <a:p>
            <a:endParaRPr lang="en-US" sz="2800">
              <a:solidFill>
                <a:schemeClr val="tx1"/>
              </a:solidFill>
              <a:latin typeface="+mj-lt"/>
            </a:endParaRPr>
          </a:p>
          <a:p>
            <a:r>
              <a:rPr lang="en-US" sz="2800">
                <a:solidFill>
                  <a:schemeClr val="tx1"/>
                </a:solidFill>
                <a:latin typeface="+mj-lt"/>
              </a:rPr>
              <a:t>{</a:t>
            </a:r>
          </a:p>
          <a:p>
            <a:r>
              <a:rPr lang="en-US" sz="2800">
                <a:solidFill>
                  <a:srgbClr val="00007F"/>
                </a:solidFill>
                <a:latin typeface="+mj-lt"/>
              </a:rPr>
              <a:t>  int[]</a:t>
            </a:r>
            <a:r>
              <a:rPr lang="en-US" sz="2800">
                <a:solidFill>
                  <a:schemeClr val="tx1"/>
                </a:solidFill>
                <a:latin typeface="+mj-lt"/>
              </a:rPr>
              <a:t> b;</a:t>
            </a:r>
          </a:p>
          <a:p>
            <a:r>
              <a:rPr lang="en-US" sz="2800">
                <a:solidFill>
                  <a:schemeClr val="tx1"/>
                </a:solidFill>
                <a:latin typeface="+mj-lt"/>
              </a:rPr>
              <a:t>  b = </a:t>
            </a:r>
            <a:r>
              <a:rPr lang="en-US" sz="2800">
                <a:solidFill>
                  <a:srgbClr val="0000FF"/>
                </a:solidFill>
                <a:latin typeface="+mj-lt"/>
              </a:rPr>
              <a:t>new</a:t>
            </a:r>
            <a:r>
              <a:rPr lang="en-US" sz="2800">
                <a:solidFill>
                  <a:schemeClr val="tx1"/>
                </a:solidFill>
                <a:latin typeface="+mj-lt"/>
              </a:rPr>
              <a:t> int[</a:t>
            </a:r>
            <a:r>
              <a:rPr lang="en-US" sz="2800">
                <a:solidFill>
                  <a:srgbClr val="09B5B6"/>
                </a:solidFill>
                <a:latin typeface="+mj-lt"/>
              </a:rPr>
              <a:t>5</a:t>
            </a:r>
            <a:r>
              <a:rPr lang="en-US" sz="2800">
                <a:solidFill>
                  <a:schemeClr val="tx1"/>
                </a:solidFill>
                <a:latin typeface="+mj-lt"/>
              </a:rPr>
              <a:t>];</a:t>
            </a:r>
          </a:p>
          <a:p>
            <a:r>
              <a:rPr lang="en-US" sz="2800">
                <a:solidFill>
                  <a:srgbClr val="000000"/>
                </a:solidFill>
                <a:latin typeface="Consolas"/>
              </a:rPr>
              <a:t>  b[</a:t>
            </a:r>
            <a:r>
              <a:rPr lang="en-US" sz="2800">
                <a:solidFill>
                  <a:srgbClr val="09B5B6"/>
                </a:solidFill>
                <a:latin typeface="Consolas"/>
              </a:rPr>
              <a:t>4</a:t>
            </a:r>
            <a:r>
              <a:rPr lang="en-US" sz="2800">
                <a:solidFill>
                  <a:srgbClr val="000000"/>
                </a:solidFill>
                <a:latin typeface="Consolas"/>
              </a:rPr>
              <a:t>] = </a:t>
            </a:r>
            <a:r>
              <a:rPr lang="en-US" sz="2800">
                <a:solidFill>
                  <a:srgbClr val="09B5B6"/>
                </a:solidFill>
                <a:latin typeface="Consolas"/>
              </a:rPr>
              <a:t>8</a:t>
            </a:r>
            <a:r>
              <a:rPr lang="en-US" sz="2800">
                <a:solidFill>
                  <a:srgbClr val="000000"/>
                </a:solidFill>
                <a:latin typeface="Consolas"/>
              </a:rPr>
              <a:t>;</a:t>
            </a:r>
            <a:endParaRPr lang="en-US" sz="2800">
              <a:solidFill>
                <a:schemeClr val="tx1"/>
              </a:solidFill>
              <a:latin typeface="+mj-lt"/>
            </a:endParaRPr>
          </a:p>
          <a:p>
            <a:r>
              <a:rPr lang="en-US" sz="2800">
                <a:solidFill>
                  <a:schemeClr val="tx1"/>
                </a:solidFill>
                <a:latin typeface="+mj-lt"/>
              </a:rPr>
              <a:t>}</a:t>
            </a:r>
          </a:p>
        </p:txBody>
      </p:sp>
    </p:spTree>
    <p:extLst>
      <p:ext uri="{BB962C8B-B14F-4D97-AF65-F5344CB8AC3E}">
        <p14:creationId xmlns:p14="http://schemas.microsoft.com/office/powerpoint/2010/main" val="3490458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32A30-2575-D80F-06C3-D7C5F9AF9F6A}"/>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971C41D4-97B5-30FE-3ADC-8561EA2B27E7}"/>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cxnSp>
        <p:nvCxnSpPr>
          <p:cNvPr id="2" name="Straight Connector 1">
            <a:extLst>
              <a:ext uri="{FF2B5EF4-FFF2-40B4-BE49-F238E27FC236}">
                <a16:creationId xmlns:a16="http://schemas.microsoft.com/office/drawing/2014/main" id="{310609BD-16C9-9081-C64B-FEC46E9E4AA1}"/>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7922D539-1425-C6EE-7446-43FC3BFB7A6E}"/>
              </a:ext>
            </a:extLst>
          </p:cNvPr>
          <p:cNvSpPr/>
          <p:nvPr/>
        </p:nvSpPr>
        <p:spPr>
          <a:xfrm>
            <a:off x="5358530" y="-2"/>
            <a:ext cx="3785470"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800">
                <a:solidFill>
                  <a:schemeClr val="tx1"/>
                </a:solidFill>
                <a:latin typeface="+mj-lt"/>
              </a:rPr>
              <a:t>{</a:t>
            </a:r>
          </a:p>
          <a:p>
            <a:r>
              <a:rPr lang="en-US" sz="2800">
                <a:solidFill>
                  <a:srgbClr val="00007F"/>
                </a:solidFill>
                <a:latin typeface="+mj-lt"/>
              </a:rPr>
              <a:t>  int</a:t>
            </a:r>
            <a:r>
              <a:rPr lang="en-US" sz="2800">
                <a:solidFill>
                  <a:schemeClr val="tx1"/>
                </a:solidFill>
                <a:latin typeface="+mj-lt"/>
              </a:rPr>
              <a:t> a;</a:t>
            </a:r>
          </a:p>
          <a:p>
            <a:r>
              <a:rPr lang="en-US" sz="2800">
                <a:solidFill>
                  <a:schemeClr val="tx1"/>
                </a:solidFill>
                <a:latin typeface="+mj-lt"/>
              </a:rPr>
              <a:t>  a = </a:t>
            </a:r>
            <a:r>
              <a:rPr lang="en-US" sz="2800">
                <a:solidFill>
                  <a:srgbClr val="09B5B6"/>
                </a:solidFill>
                <a:latin typeface="+mj-lt"/>
              </a:rPr>
              <a:t>7</a:t>
            </a:r>
            <a:r>
              <a:rPr lang="en-US" sz="2800">
                <a:solidFill>
                  <a:schemeClr val="tx1"/>
                </a:solidFill>
                <a:latin typeface="+mj-lt"/>
              </a:rPr>
              <a:t>;</a:t>
            </a:r>
          </a:p>
          <a:p>
            <a:r>
              <a:rPr lang="en-US" sz="2800">
                <a:solidFill>
                  <a:schemeClr val="tx1"/>
                </a:solidFill>
                <a:latin typeface="+mj-lt"/>
              </a:rPr>
              <a:t>}</a:t>
            </a:r>
          </a:p>
          <a:p>
            <a:endParaRPr lang="en-US" sz="2800">
              <a:solidFill>
                <a:schemeClr val="tx1"/>
              </a:solidFill>
              <a:latin typeface="+mj-lt"/>
            </a:endParaRPr>
          </a:p>
          <a:p>
            <a:r>
              <a:rPr lang="en-US" sz="2800">
                <a:solidFill>
                  <a:schemeClr val="tx1"/>
                </a:solidFill>
                <a:highlight>
                  <a:srgbClr val="FFFF00"/>
                </a:highlight>
                <a:latin typeface="+mj-lt"/>
              </a:rPr>
              <a:t>{</a:t>
            </a:r>
          </a:p>
          <a:p>
            <a:r>
              <a:rPr lang="en-US" sz="2800">
                <a:solidFill>
                  <a:srgbClr val="00007F"/>
                </a:solidFill>
                <a:latin typeface="+mj-lt"/>
              </a:rPr>
              <a:t>  int[]</a:t>
            </a:r>
            <a:r>
              <a:rPr lang="en-US" sz="2800">
                <a:solidFill>
                  <a:schemeClr val="tx1"/>
                </a:solidFill>
                <a:latin typeface="+mj-lt"/>
              </a:rPr>
              <a:t> b;</a:t>
            </a:r>
          </a:p>
          <a:p>
            <a:r>
              <a:rPr lang="en-US" sz="2800">
                <a:solidFill>
                  <a:schemeClr val="tx1"/>
                </a:solidFill>
                <a:latin typeface="+mj-lt"/>
              </a:rPr>
              <a:t>  b = </a:t>
            </a:r>
            <a:r>
              <a:rPr lang="en-US" sz="2800">
                <a:solidFill>
                  <a:srgbClr val="0000FF"/>
                </a:solidFill>
                <a:latin typeface="+mj-lt"/>
              </a:rPr>
              <a:t>new</a:t>
            </a:r>
            <a:r>
              <a:rPr lang="en-US" sz="2800">
                <a:solidFill>
                  <a:schemeClr val="tx1"/>
                </a:solidFill>
                <a:latin typeface="+mj-lt"/>
              </a:rPr>
              <a:t> int[</a:t>
            </a:r>
            <a:r>
              <a:rPr lang="en-US" sz="2800">
                <a:solidFill>
                  <a:srgbClr val="09B5B6"/>
                </a:solidFill>
                <a:latin typeface="+mj-lt"/>
              </a:rPr>
              <a:t>5</a:t>
            </a:r>
            <a:r>
              <a:rPr lang="en-US" sz="2800">
                <a:solidFill>
                  <a:schemeClr val="tx1"/>
                </a:solidFill>
                <a:latin typeface="+mj-lt"/>
              </a:rPr>
              <a:t>];</a:t>
            </a:r>
          </a:p>
          <a:p>
            <a:r>
              <a:rPr lang="en-US" sz="2800">
                <a:solidFill>
                  <a:srgbClr val="000000"/>
                </a:solidFill>
                <a:latin typeface="Consolas"/>
              </a:rPr>
              <a:t>  b[</a:t>
            </a:r>
            <a:r>
              <a:rPr lang="en-US" sz="2800">
                <a:solidFill>
                  <a:srgbClr val="09B5B6"/>
                </a:solidFill>
                <a:latin typeface="Consolas"/>
              </a:rPr>
              <a:t>4</a:t>
            </a:r>
            <a:r>
              <a:rPr lang="en-US" sz="2800">
                <a:solidFill>
                  <a:srgbClr val="000000"/>
                </a:solidFill>
                <a:latin typeface="Consolas"/>
              </a:rPr>
              <a:t>] = </a:t>
            </a:r>
            <a:r>
              <a:rPr lang="en-US" sz="2800">
                <a:solidFill>
                  <a:srgbClr val="09B5B6"/>
                </a:solidFill>
                <a:latin typeface="Consolas"/>
              </a:rPr>
              <a:t>8</a:t>
            </a:r>
            <a:r>
              <a:rPr lang="en-US" sz="2800">
                <a:solidFill>
                  <a:srgbClr val="000000"/>
                </a:solidFill>
                <a:latin typeface="Consolas"/>
              </a:rPr>
              <a:t>;</a:t>
            </a:r>
            <a:endParaRPr lang="en-US" sz="2800">
              <a:solidFill>
                <a:schemeClr val="tx1"/>
              </a:solidFill>
              <a:latin typeface="+mj-lt"/>
            </a:endParaRPr>
          </a:p>
          <a:p>
            <a:r>
              <a:rPr lang="en-US" sz="2800">
                <a:solidFill>
                  <a:schemeClr val="tx1"/>
                </a:solidFill>
                <a:latin typeface="+mj-lt"/>
              </a:rPr>
              <a:t>}</a:t>
            </a:r>
          </a:p>
        </p:txBody>
      </p:sp>
    </p:spTree>
    <p:extLst>
      <p:ext uri="{BB962C8B-B14F-4D97-AF65-F5344CB8AC3E}">
        <p14:creationId xmlns:p14="http://schemas.microsoft.com/office/powerpoint/2010/main" val="2410618934"/>
      </p:ext>
    </p:extLst>
  </p:cSld>
  <p:clrMapOvr>
    <a:masterClrMapping/>
  </p:clrMapOvr>
</p:sld>
</file>

<file path=ppt/slides/slide4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10E11-E4B3-221F-9397-DF7509357EF2}"/>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DACE242A-6BDF-A772-4B6A-3D8E6A194C8B}"/>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cxnSp>
        <p:nvCxnSpPr>
          <p:cNvPr id="2" name="Straight Connector 1">
            <a:extLst>
              <a:ext uri="{FF2B5EF4-FFF2-40B4-BE49-F238E27FC236}">
                <a16:creationId xmlns:a16="http://schemas.microsoft.com/office/drawing/2014/main" id="{120A369D-F1DD-C4D1-B758-1C0FD72CCD5E}"/>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9497C94F-F770-D39F-35BC-5A8F282893B7}"/>
              </a:ext>
            </a:extLst>
          </p:cNvPr>
          <p:cNvSpPr/>
          <p:nvPr/>
        </p:nvSpPr>
        <p:spPr>
          <a:xfrm>
            <a:off x="5358530" y="-2"/>
            <a:ext cx="3785470"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800">
                <a:solidFill>
                  <a:schemeClr val="tx1"/>
                </a:solidFill>
                <a:latin typeface="+mj-lt"/>
              </a:rPr>
              <a:t>{</a:t>
            </a:r>
          </a:p>
          <a:p>
            <a:r>
              <a:rPr lang="en-US" sz="2800">
                <a:solidFill>
                  <a:srgbClr val="00007F"/>
                </a:solidFill>
                <a:latin typeface="+mj-lt"/>
              </a:rPr>
              <a:t>  int</a:t>
            </a:r>
            <a:r>
              <a:rPr lang="en-US" sz="2800">
                <a:solidFill>
                  <a:schemeClr val="tx1"/>
                </a:solidFill>
                <a:latin typeface="+mj-lt"/>
              </a:rPr>
              <a:t> a;</a:t>
            </a:r>
          </a:p>
          <a:p>
            <a:r>
              <a:rPr lang="en-US" sz="2800">
                <a:solidFill>
                  <a:schemeClr val="tx1"/>
                </a:solidFill>
                <a:latin typeface="+mj-lt"/>
              </a:rPr>
              <a:t>  a = </a:t>
            </a:r>
            <a:r>
              <a:rPr lang="en-US" sz="2800">
                <a:solidFill>
                  <a:srgbClr val="09B5B6"/>
                </a:solidFill>
                <a:latin typeface="+mj-lt"/>
              </a:rPr>
              <a:t>7</a:t>
            </a:r>
            <a:r>
              <a:rPr lang="en-US" sz="2800">
                <a:solidFill>
                  <a:schemeClr val="tx1"/>
                </a:solidFill>
                <a:latin typeface="+mj-lt"/>
              </a:rPr>
              <a:t>;</a:t>
            </a:r>
          </a:p>
          <a:p>
            <a:r>
              <a:rPr lang="en-US" sz="2800">
                <a:solidFill>
                  <a:schemeClr val="tx1"/>
                </a:solidFill>
                <a:latin typeface="+mj-lt"/>
              </a:rPr>
              <a:t>}</a:t>
            </a:r>
          </a:p>
          <a:p>
            <a:endParaRPr lang="en-US" sz="2800">
              <a:solidFill>
                <a:schemeClr val="tx1"/>
              </a:solidFill>
              <a:latin typeface="+mj-lt"/>
            </a:endParaRPr>
          </a:p>
          <a:p>
            <a:r>
              <a:rPr lang="en-US" sz="2800">
                <a:solidFill>
                  <a:schemeClr val="tx1"/>
                </a:solidFill>
                <a:latin typeface="+mj-lt"/>
              </a:rPr>
              <a:t>{</a:t>
            </a:r>
          </a:p>
          <a:p>
            <a:r>
              <a:rPr lang="en-US" sz="2800">
                <a:solidFill>
                  <a:srgbClr val="00007F"/>
                </a:solidFill>
                <a:highlight>
                  <a:srgbClr val="FFFF00"/>
                </a:highlight>
                <a:latin typeface="+mj-lt"/>
              </a:rPr>
              <a:t>  int[]</a:t>
            </a:r>
            <a:r>
              <a:rPr lang="en-US" sz="2800">
                <a:solidFill>
                  <a:schemeClr val="tx1"/>
                </a:solidFill>
                <a:highlight>
                  <a:srgbClr val="FFFF00"/>
                </a:highlight>
                <a:latin typeface="+mj-lt"/>
              </a:rPr>
              <a:t> b;</a:t>
            </a:r>
          </a:p>
          <a:p>
            <a:r>
              <a:rPr lang="en-US" sz="2800">
                <a:solidFill>
                  <a:schemeClr val="tx1"/>
                </a:solidFill>
                <a:latin typeface="+mj-lt"/>
              </a:rPr>
              <a:t>  b = </a:t>
            </a:r>
            <a:r>
              <a:rPr lang="en-US" sz="2800">
                <a:solidFill>
                  <a:srgbClr val="0000FF"/>
                </a:solidFill>
                <a:latin typeface="+mj-lt"/>
              </a:rPr>
              <a:t>new</a:t>
            </a:r>
            <a:r>
              <a:rPr lang="en-US" sz="2800">
                <a:solidFill>
                  <a:schemeClr val="tx1"/>
                </a:solidFill>
                <a:latin typeface="+mj-lt"/>
              </a:rPr>
              <a:t> int[</a:t>
            </a:r>
            <a:r>
              <a:rPr lang="en-US" sz="2800">
                <a:solidFill>
                  <a:srgbClr val="09B5B6"/>
                </a:solidFill>
                <a:latin typeface="+mj-lt"/>
              </a:rPr>
              <a:t>5</a:t>
            </a:r>
            <a:r>
              <a:rPr lang="en-US" sz="2800">
                <a:solidFill>
                  <a:schemeClr val="tx1"/>
                </a:solidFill>
                <a:latin typeface="+mj-lt"/>
              </a:rPr>
              <a:t>];</a:t>
            </a:r>
          </a:p>
          <a:p>
            <a:r>
              <a:rPr lang="en-US" sz="2800">
                <a:solidFill>
                  <a:srgbClr val="000000"/>
                </a:solidFill>
                <a:latin typeface="Consolas"/>
              </a:rPr>
              <a:t>  b[</a:t>
            </a:r>
            <a:r>
              <a:rPr lang="en-US" sz="2800">
                <a:solidFill>
                  <a:srgbClr val="09B5B6"/>
                </a:solidFill>
                <a:latin typeface="Consolas"/>
              </a:rPr>
              <a:t>4</a:t>
            </a:r>
            <a:r>
              <a:rPr lang="en-US" sz="2800">
                <a:solidFill>
                  <a:srgbClr val="000000"/>
                </a:solidFill>
                <a:latin typeface="Consolas"/>
              </a:rPr>
              <a:t>] = </a:t>
            </a:r>
            <a:r>
              <a:rPr lang="en-US" sz="2800">
                <a:solidFill>
                  <a:srgbClr val="09B5B6"/>
                </a:solidFill>
                <a:latin typeface="Consolas"/>
              </a:rPr>
              <a:t>8</a:t>
            </a:r>
            <a:r>
              <a:rPr lang="en-US" sz="2800">
                <a:solidFill>
                  <a:srgbClr val="000000"/>
                </a:solidFill>
                <a:latin typeface="Consolas"/>
              </a:rPr>
              <a:t>;</a:t>
            </a:r>
            <a:endParaRPr lang="en-US" sz="2800">
              <a:solidFill>
                <a:schemeClr val="tx1"/>
              </a:solidFill>
              <a:latin typeface="+mj-lt"/>
            </a:endParaRPr>
          </a:p>
          <a:p>
            <a:r>
              <a:rPr lang="en-US" sz="2800">
                <a:solidFill>
                  <a:schemeClr val="tx1"/>
                </a:solidFill>
                <a:latin typeface="+mj-lt"/>
              </a:rPr>
              <a:t>}</a:t>
            </a:r>
          </a:p>
        </p:txBody>
      </p:sp>
      <p:sp>
        <p:nvSpPr>
          <p:cNvPr id="6" name="TextBox 5">
            <a:extLst>
              <a:ext uri="{FF2B5EF4-FFF2-40B4-BE49-F238E27FC236}">
                <a16:creationId xmlns:a16="http://schemas.microsoft.com/office/drawing/2014/main" id="{AF78C1E8-97D3-7F8D-389B-941E24A922AC}"/>
              </a:ext>
            </a:extLst>
          </p:cNvPr>
          <p:cNvSpPr txBox="1"/>
          <p:nvPr/>
        </p:nvSpPr>
        <p:spPr>
          <a:xfrm>
            <a:off x="922779" y="685848"/>
            <a:ext cx="584592" cy="584775"/>
          </a:xfrm>
          <a:prstGeom prst="rect">
            <a:avLst/>
          </a:prstGeom>
          <a:noFill/>
        </p:spPr>
        <p:txBody>
          <a:bodyPr wrap="square">
            <a:spAutoFit/>
          </a:bodyPr>
          <a:lstStyle/>
          <a:p>
            <a:pPr algn="ctr"/>
            <a:r>
              <a:rPr lang="en-US" sz="3200">
                <a:latin typeface="+mj-lt"/>
              </a:rPr>
              <a:t>b</a:t>
            </a:r>
            <a:endParaRPr lang="en-US" sz="3200"/>
          </a:p>
        </p:txBody>
      </p:sp>
      <p:sp>
        <p:nvSpPr>
          <p:cNvPr id="7" name="Rectangle 6">
            <a:extLst>
              <a:ext uri="{FF2B5EF4-FFF2-40B4-BE49-F238E27FC236}">
                <a16:creationId xmlns:a16="http://schemas.microsoft.com/office/drawing/2014/main" id="{44FAA297-A145-61D3-7288-F9EBC3B1BC1A}"/>
              </a:ext>
            </a:extLst>
          </p:cNvPr>
          <p:cNvSpPr/>
          <p:nvPr/>
        </p:nvSpPr>
        <p:spPr>
          <a:xfrm>
            <a:off x="697142" y="1238265"/>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1"/>
                </a:solidFill>
                <a:highlight>
                  <a:srgbClr val="FFFF00"/>
                </a:highlight>
                <a:latin typeface="+mj-lt"/>
              </a:rPr>
              <a:t>?</a:t>
            </a:r>
            <a:endParaRPr lang="en-US" sz="2800">
              <a:solidFill>
                <a:schemeClr val="accent1"/>
              </a:solidFill>
              <a:highlight>
                <a:srgbClr val="FFFF00"/>
              </a:highlight>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508449952"/>
      </p:ext>
    </p:extLst>
  </p:cSld>
  <p:clrMapOvr>
    <a:masterClrMapping/>
  </p:clrMapOvr>
</p:sld>
</file>

<file path=ppt/slides/slide4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87004-5CEE-4D19-0DA2-EC46C025C375}"/>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CE8FBD1D-A005-ACF0-F787-4B75ABB449C4}"/>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cxnSp>
        <p:nvCxnSpPr>
          <p:cNvPr id="2" name="Straight Connector 1">
            <a:extLst>
              <a:ext uri="{FF2B5EF4-FFF2-40B4-BE49-F238E27FC236}">
                <a16:creationId xmlns:a16="http://schemas.microsoft.com/office/drawing/2014/main" id="{E3B928B6-8BB3-5396-5168-46976155B978}"/>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FF4ED419-A1EE-4F92-E235-0C17C612057F}"/>
              </a:ext>
            </a:extLst>
          </p:cNvPr>
          <p:cNvSpPr/>
          <p:nvPr/>
        </p:nvSpPr>
        <p:spPr>
          <a:xfrm>
            <a:off x="5358530" y="-2"/>
            <a:ext cx="3785470"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800">
                <a:solidFill>
                  <a:schemeClr val="tx1"/>
                </a:solidFill>
                <a:latin typeface="+mj-lt"/>
              </a:rPr>
              <a:t>{</a:t>
            </a:r>
          </a:p>
          <a:p>
            <a:r>
              <a:rPr lang="en-US" sz="2800">
                <a:solidFill>
                  <a:srgbClr val="00007F"/>
                </a:solidFill>
                <a:latin typeface="+mj-lt"/>
              </a:rPr>
              <a:t>  int</a:t>
            </a:r>
            <a:r>
              <a:rPr lang="en-US" sz="2800">
                <a:solidFill>
                  <a:schemeClr val="tx1"/>
                </a:solidFill>
                <a:latin typeface="+mj-lt"/>
              </a:rPr>
              <a:t> a;</a:t>
            </a:r>
          </a:p>
          <a:p>
            <a:r>
              <a:rPr lang="en-US" sz="2800">
                <a:solidFill>
                  <a:schemeClr val="tx1"/>
                </a:solidFill>
                <a:latin typeface="+mj-lt"/>
              </a:rPr>
              <a:t>  a = </a:t>
            </a:r>
            <a:r>
              <a:rPr lang="en-US" sz="2800">
                <a:solidFill>
                  <a:srgbClr val="09B5B6"/>
                </a:solidFill>
                <a:latin typeface="+mj-lt"/>
              </a:rPr>
              <a:t>7</a:t>
            </a:r>
            <a:r>
              <a:rPr lang="en-US" sz="2800">
                <a:solidFill>
                  <a:schemeClr val="tx1"/>
                </a:solidFill>
                <a:latin typeface="+mj-lt"/>
              </a:rPr>
              <a:t>;</a:t>
            </a:r>
          </a:p>
          <a:p>
            <a:r>
              <a:rPr lang="en-US" sz="2800">
                <a:solidFill>
                  <a:schemeClr val="tx1"/>
                </a:solidFill>
                <a:latin typeface="+mj-lt"/>
              </a:rPr>
              <a:t>}</a:t>
            </a:r>
          </a:p>
          <a:p>
            <a:endParaRPr lang="en-US" sz="2800">
              <a:solidFill>
                <a:schemeClr val="tx1"/>
              </a:solidFill>
              <a:latin typeface="+mj-lt"/>
            </a:endParaRPr>
          </a:p>
          <a:p>
            <a:r>
              <a:rPr lang="en-US" sz="2800">
                <a:solidFill>
                  <a:schemeClr val="tx1"/>
                </a:solidFill>
                <a:latin typeface="+mj-lt"/>
              </a:rPr>
              <a:t>{</a:t>
            </a:r>
          </a:p>
          <a:p>
            <a:r>
              <a:rPr lang="en-US" sz="2800">
                <a:solidFill>
                  <a:srgbClr val="00007F"/>
                </a:solidFill>
                <a:latin typeface="+mj-lt"/>
              </a:rPr>
              <a:t>  int[]</a:t>
            </a:r>
            <a:r>
              <a:rPr lang="en-US" sz="2800">
                <a:solidFill>
                  <a:schemeClr val="tx1"/>
                </a:solidFill>
                <a:latin typeface="+mj-lt"/>
              </a:rPr>
              <a:t> b;</a:t>
            </a:r>
          </a:p>
          <a:p>
            <a:r>
              <a:rPr lang="en-US" sz="2800">
                <a:solidFill>
                  <a:schemeClr val="tx1"/>
                </a:solidFill>
                <a:highlight>
                  <a:srgbClr val="FFFF00"/>
                </a:highlight>
                <a:latin typeface="+mj-lt"/>
              </a:rPr>
              <a:t>  b = </a:t>
            </a:r>
            <a:r>
              <a:rPr lang="en-US" sz="2800">
                <a:solidFill>
                  <a:srgbClr val="0000FF"/>
                </a:solidFill>
                <a:highlight>
                  <a:srgbClr val="FFFF00"/>
                </a:highlight>
                <a:latin typeface="+mj-lt"/>
              </a:rPr>
              <a:t>new</a:t>
            </a:r>
            <a:r>
              <a:rPr lang="en-US" sz="2800">
                <a:solidFill>
                  <a:schemeClr val="tx1"/>
                </a:solidFill>
                <a:highlight>
                  <a:srgbClr val="FFFF00"/>
                </a:highlight>
                <a:latin typeface="+mj-lt"/>
              </a:rPr>
              <a:t> int[</a:t>
            </a:r>
            <a:r>
              <a:rPr lang="en-US" sz="2800">
                <a:solidFill>
                  <a:srgbClr val="09B5B6"/>
                </a:solidFill>
                <a:highlight>
                  <a:srgbClr val="FFFF00"/>
                </a:highlight>
                <a:latin typeface="+mj-lt"/>
              </a:rPr>
              <a:t>5</a:t>
            </a:r>
            <a:r>
              <a:rPr lang="en-US" sz="2800">
                <a:solidFill>
                  <a:schemeClr val="tx1"/>
                </a:solidFill>
                <a:highlight>
                  <a:srgbClr val="FFFF00"/>
                </a:highlight>
                <a:latin typeface="+mj-lt"/>
              </a:rPr>
              <a:t>];</a:t>
            </a:r>
          </a:p>
          <a:p>
            <a:r>
              <a:rPr lang="en-US" sz="2800">
                <a:solidFill>
                  <a:srgbClr val="000000"/>
                </a:solidFill>
                <a:latin typeface="Consolas"/>
              </a:rPr>
              <a:t>  b[</a:t>
            </a:r>
            <a:r>
              <a:rPr lang="en-US" sz="2800">
                <a:solidFill>
                  <a:srgbClr val="09B5B6"/>
                </a:solidFill>
                <a:latin typeface="Consolas"/>
              </a:rPr>
              <a:t>4</a:t>
            </a:r>
            <a:r>
              <a:rPr lang="en-US" sz="2800">
                <a:solidFill>
                  <a:srgbClr val="000000"/>
                </a:solidFill>
                <a:latin typeface="Consolas"/>
              </a:rPr>
              <a:t>] = </a:t>
            </a:r>
            <a:r>
              <a:rPr lang="en-US" sz="2800">
                <a:solidFill>
                  <a:srgbClr val="09B5B6"/>
                </a:solidFill>
                <a:latin typeface="Consolas"/>
              </a:rPr>
              <a:t>8</a:t>
            </a:r>
            <a:r>
              <a:rPr lang="en-US" sz="2800">
                <a:solidFill>
                  <a:srgbClr val="000000"/>
                </a:solidFill>
                <a:latin typeface="Consolas"/>
              </a:rPr>
              <a:t>;</a:t>
            </a:r>
            <a:endParaRPr lang="en-US" sz="2800">
              <a:solidFill>
                <a:schemeClr val="tx1"/>
              </a:solidFill>
              <a:latin typeface="+mj-lt"/>
            </a:endParaRPr>
          </a:p>
          <a:p>
            <a:r>
              <a:rPr lang="en-US" sz="2800">
                <a:solidFill>
                  <a:schemeClr val="tx1"/>
                </a:solidFill>
                <a:latin typeface="+mj-lt"/>
              </a:rPr>
              <a:t>}</a:t>
            </a:r>
          </a:p>
        </p:txBody>
      </p:sp>
      <p:sp>
        <p:nvSpPr>
          <p:cNvPr id="6" name="TextBox 5">
            <a:extLst>
              <a:ext uri="{FF2B5EF4-FFF2-40B4-BE49-F238E27FC236}">
                <a16:creationId xmlns:a16="http://schemas.microsoft.com/office/drawing/2014/main" id="{41745272-A99A-0AA9-EF97-4A98D7ED88FE}"/>
              </a:ext>
            </a:extLst>
          </p:cNvPr>
          <p:cNvSpPr txBox="1"/>
          <p:nvPr/>
        </p:nvSpPr>
        <p:spPr>
          <a:xfrm>
            <a:off x="1441727" y="3276396"/>
            <a:ext cx="1035866" cy="523220"/>
          </a:xfrm>
          <a:prstGeom prst="rect">
            <a:avLst/>
          </a:prstGeom>
          <a:noFill/>
        </p:spPr>
        <p:txBody>
          <a:bodyPr wrap="square">
            <a:spAutoFit/>
          </a:bodyPr>
          <a:lstStyle/>
          <a:p>
            <a:pPr algn="ctr"/>
            <a:r>
              <a:rPr lang="en-US" sz="2800">
                <a:latin typeface="+mj-lt"/>
              </a:rPr>
              <a:t>[0]</a:t>
            </a:r>
            <a:endParaRPr lang="en-US" sz="2800"/>
          </a:p>
        </p:txBody>
      </p:sp>
      <p:sp>
        <p:nvSpPr>
          <p:cNvPr id="7" name="Rectangle 6">
            <a:extLst>
              <a:ext uri="{FF2B5EF4-FFF2-40B4-BE49-F238E27FC236}">
                <a16:creationId xmlns:a16="http://schemas.microsoft.com/office/drawing/2014/main" id="{4FCF486E-2A87-6552-3E01-E606CE43F9D9}"/>
              </a:ext>
            </a:extLst>
          </p:cNvPr>
          <p:cNvSpPr/>
          <p:nvPr/>
        </p:nvSpPr>
        <p:spPr>
          <a:xfrm>
            <a:off x="1625297" y="3824660"/>
            <a:ext cx="66872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highlight>
                  <a:srgbClr val="FFFF00"/>
                </a:highlight>
                <a:latin typeface="+mj-lt"/>
              </a:rPr>
              <a:t>0</a:t>
            </a:r>
            <a:endParaRPr lang="en-US" sz="2800">
              <a:solidFill>
                <a:schemeClr val="accent1"/>
              </a:solidFill>
              <a:highlight>
                <a:srgbClr val="FFFF00"/>
              </a:highlight>
              <a:latin typeface="Consolas" panose="020B0609020204030204" pitchFamily="49" charset="0"/>
              <a:cs typeface="Consolas" panose="020B0609020204030204" pitchFamily="49" charset="0"/>
            </a:endParaRPr>
          </a:p>
        </p:txBody>
      </p:sp>
      <p:sp>
        <p:nvSpPr>
          <p:cNvPr id="10" name="TextBox 9">
            <a:extLst>
              <a:ext uri="{FF2B5EF4-FFF2-40B4-BE49-F238E27FC236}">
                <a16:creationId xmlns:a16="http://schemas.microsoft.com/office/drawing/2014/main" id="{ED416C9A-DFBE-E254-E315-50A796F8CA09}"/>
              </a:ext>
            </a:extLst>
          </p:cNvPr>
          <p:cNvSpPr txBox="1"/>
          <p:nvPr/>
        </p:nvSpPr>
        <p:spPr>
          <a:xfrm>
            <a:off x="922779" y="685848"/>
            <a:ext cx="584592" cy="584775"/>
          </a:xfrm>
          <a:prstGeom prst="rect">
            <a:avLst/>
          </a:prstGeom>
          <a:noFill/>
        </p:spPr>
        <p:txBody>
          <a:bodyPr wrap="square">
            <a:spAutoFit/>
          </a:bodyPr>
          <a:lstStyle/>
          <a:p>
            <a:pPr algn="ctr"/>
            <a:r>
              <a:rPr lang="en-US" sz="3200">
                <a:latin typeface="+mj-lt"/>
              </a:rPr>
              <a:t>b</a:t>
            </a:r>
            <a:endParaRPr lang="en-US" sz="3200"/>
          </a:p>
        </p:txBody>
      </p:sp>
      <p:cxnSp>
        <p:nvCxnSpPr>
          <p:cNvPr id="11" name="Straight Arrow Connector 10">
            <a:extLst>
              <a:ext uri="{FF2B5EF4-FFF2-40B4-BE49-F238E27FC236}">
                <a16:creationId xmlns:a16="http://schemas.microsoft.com/office/drawing/2014/main" id="{45D73D67-E546-F043-A4CE-850B180A2CFF}"/>
              </a:ext>
            </a:extLst>
          </p:cNvPr>
          <p:cNvCxnSpPr>
            <a:cxnSpLocks/>
            <a:stCxn id="12" idx="2"/>
            <a:endCxn id="7" idx="1"/>
          </p:cNvCxnSpPr>
          <p:nvPr/>
        </p:nvCxnSpPr>
        <p:spPr>
          <a:xfrm rot="16200000" flipH="1">
            <a:off x="259433" y="2723686"/>
            <a:ext cx="2321505" cy="410223"/>
          </a:xfrm>
          <a:prstGeom prst="bentConnector2">
            <a:avLst/>
          </a:prstGeom>
          <a:ln w="63500" cap="rnd">
            <a:solidFill>
              <a:schemeClr val="accent6">
                <a:lumMod val="50000"/>
              </a:schemeClr>
            </a:solidFill>
            <a:headEnd type="oval"/>
            <a:tailEnd type="triangle"/>
          </a:ln>
        </p:spPr>
        <p:style>
          <a:lnRef idx="1">
            <a:schemeClr val="accent6"/>
          </a:lnRef>
          <a:fillRef idx="0">
            <a:schemeClr val="accent6"/>
          </a:fillRef>
          <a:effectRef idx="0">
            <a:schemeClr val="accent6"/>
          </a:effectRef>
          <a:fontRef idx="minor">
            <a:schemeClr val="tx1"/>
          </a:fontRef>
        </p:style>
      </p:cxnSp>
      <p:sp>
        <p:nvSpPr>
          <p:cNvPr id="12" name="Rectangle 11">
            <a:extLst>
              <a:ext uri="{FF2B5EF4-FFF2-40B4-BE49-F238E27FC236}">
                <a16:creationId xmlns:a16="http://schemas.microsoft.com/office/drawing/2014/main" id="{C5A22136-1DA8-76D3-695C-560B93826A61}"/>
              </a:ext>
            </a:extLst>
          </p:cNvPr>
          <p:cNvSpPr/>
          <p:nvPr/>
        </p:nvSpPr>
        <p:spPr>
          <a:xfrm>
            <a:off x="697142" y="1238265"/>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highlight>
                  <a:srgbClr val="FFFF00"/>
                </a:highlight>
                <a:latin typeface="+mj-lt"/>
              </a:rPr>
              <a:t>0xb7</a:t>
            </a:r>
            <a:endParaRPr lang="en-US" sz="2800">
              <a:solidFill>
                <a:schemeClr val="accent1"/>
              </a:solidFill>
              <a:highlight>
                <a:srgbClr val="FFFF00"/>
              </a:highlight>
              <a:latin typeface="Consolas" panose="020B0609020204030204" pitchFamily="49" charset="0"/>
              <a:cs typeface="Consolas" panose="020B0609020204030204" pitchFamily="49" charset="0"/>
            </a:endParaRPr>
          </a:p>
        </p:txBody>
      </p:sp>
      <p:sp>
        <p:nvSpPr>
          <p:cNvPr id="25" name="TextBox 24">
            <a:extLst>
              <a:ext uri="{FF2B5EF4-FFF2-40B4-BE49-F238E27FC236}">
                <a16:creationId xmlns:a16="http://schemas.microsoft.com/office/drawing/2014/main" id="{D45D0157-8D3C-A6EF-2263-6B221CE212B0}"/>
              </a:ext>
            </a:extLst>
          </p:cNvPr>
          <p:cNvSpPr txBox="1"/>
          <p:nvPr/>
        </p:nvSpPr>
        <p:spPr>
          <a:xfrm>
            <a:off x="2111533" y="3276396"/>
            <a:ext cx="1035866" cy="523220"/>
          </a:xfrm>
          <a:prstGeom prst="rect">
            <a:avLst/>
          </a:prstGeom>
          <a:noFill/>
        </p:spPr>
        <p:txBody>
          <a:bodyPr wrap="square">
            <a:spAutoFit/>
          </a:bodyPr>
          <a:lstStyle/>
          <a:p>
            <a:pPr algn="ctr"/>
            <a:r>
              <a:rPr lang="en-US" sz="2800">
                <a:latin typeface="+mj-lt"/>
              </a:rPr>
              <a:t>[1]</a:t>
            </a:r>
            <a:endParaRPr lang="en-US" sz="2800"/>
          </a:p>
        </p:txBody>
      </p:sp>
      <p:sp>
        <p:nvSpPr>
          <p:cNvPr id="26" name="Rectangle 25">
            <a:extLst>
              <a:ext uri="{FF2B5EF4-FFF2-40B4-BE49-F238E27FC236}">
                <a16:creationId xmlns:a16="http://schemas.microsoft.com/office/drawing/2014/main" id="{6808F461-A504-446B-3113-8B4D47720AFD}"/>
              </a:ext>
            </a:extLst>
          </p:cNvPr>
          <p:cNvSpPr/>
          <p:nvPr/>
        </p:nvSpPr>
        <p:spPr>
          <a:xfrm>
            <a:off x="2295103" y="3824660"/>
            <a:ext cx="66872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highlight>
                  <a:srgbClr val="FFFF00"/>
                </a:highlight>
                <a:latin typeface="+mj-lt"/>
              </a:rPr>
              <a:t>0</a:t>
            </a:r>
            <a:endParaRPr lang="en-US" sz="2800">
              <a:solidFill>
                <a:schemeClr val="accent1"/>
              </a:solidFill>
              <a:highlight>
                <a:srgbClr val="FFFF00"/>
              </a:highlight>
              <a:latin typeface="Consolas" panose="020B0609020204030204" pitchFamily="49" charset="0"/>
              <a:cs typeface="Consolas" panose="020B0609020204030204" pitchFamily="49" charset="0"/>
            </a:endParaRPr>
          </a:p>
        </p:txBody>
      </p:sp>
      <p:sp>
        <p:nvSpPr>
          <p:cNvPr id="27" name="TextBox 26">
            <a:extLst>
              <a:ext uri="{FF2B5EF4-FFF2-40B4-BE49-F238E27FC236}">
                <a16:creationId xmlns:a16="http://schemas.microsoft.com/office/drawing/2014/main" id="{42D584A8-31DC-D4BF-DBD3-C77D35EC5992}"/>
              </a:ext>
            </a:extLst>
          </p:cNvPr>
          <p:cNvSpPr txBox="1"/>
          <p:nvPr/>
        </p:nvSpPr>
        <p:spPr>
          <a:xfrm>
            <a:off x="2781266" y="3276396"/>
            <a:ext cx="1035866" cy="523220"/>
          </a:xfrm>
          <a:prstGeom prst="rect">
            <a:avLst/>
          </a:prstGeom>
          <a:noFill/>
        </p:spPr>
        <p:txBody>
          <a:bodyPr wrap="square">
            <a:spAutoFit/>
          </a:bodyPr>
          <a:lstStyle/>
          <a:p>
            <a:pPr algn="ctr"/>
            <a:r>
              <a:rPr lang="en-US" sz="2800">
                <a:latin typeface="+mj-lt"/>
              </a:rPr>
              <a:t>[2]</a:t>
            </a:r>
            <a:endParaRPr lang="en-US" sz="2800"/>
          </a:p>
        </p:txBody>
      </p:sp>
      <p:sp>
        <p:nvSpPr>
          <p:cNvPr id="28" name="Rectangle 27">
            <a:extLst>
              <a:ext uri="{FF2B5EF4-FFF2-40B4-BE49-F238E27FC236}">
                <a16:creationId xmlns:a16="http://schemas.microsoft.com/office/drawing/2014/main" id="{CF7F66F7-8697-0F10-7F81-5BB92B4946A0}"/>
              </a:ext>
            </a:extLst>
          </p:cNvPr>
          <p:cNvSpPr/>
          <p:nvPr/>
        </p:nvSpPr>
        <p:spPr>
          <a:xfrm>
            <a:off x="2964836" y="3824660"/>
            <a:ext cx="66872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highlight>
                  <a:srgbClr val="FFFF00"/>
                </a:highlight>
                <a:latin typeface="+mj-lt"/>
              </a:rPr>
              <a:t>0</a:t>
            </a:r>
            <a:endParaRPr lang="en-US" sz="2800">
              <a:solidFill>
                <a:schemeClr val="accent1"/>
              </a:solidFill>
              <a:highlight>
                <a:srgbClr val="FFFF00"/>
              </a:highlight>
              <a:latin typeface="Consolas" panose="020B0609020204030204" pitchFamily="49" charset="0"/>
              <a:cs typeface="Consolas" panose="020B0609020204030204" pitchFamily="49" charset="0"/>
            </a:endParaRPr>
          </a:p>
        </p:txBody>
      </p:sp>
      <p:sp>
        <p:nvSpPr>
          <p:cNvPr id="29" name="TextBox 28">
            <a:extLst>
              <a:ext uri="{FF2B5EF4-FFF2-40B4-BE49-F238E27FC236}">
                <a16:creationId xmlns:a16="http://schemas.microsoft.com/office/drawing/2014/main" id="{90A4A82D-5738-D0D0-62F7-D0E4ADE9746D}"/>
              </a:ext>
            </a:extLst>
          </p:cNvPr>
          <p:cNvSpPr txBox="1"/>
          <p:nvPr/>
        </p:nvSpPr>
        <p:spPr>
          <a:xfrm>
            <a:off x="3447205" y="3276396"/>
            <a:ext cx="1035866" cy="523220"/>
          </a:xfrm>
          <a:prstGeom prst="rect">
            <a:avLst/>
          </a:prstGeom>
          <a:noFill/>
        </p:spPr>
        <p:txBody>
          <a:bodyPr wrap="square">
            <a:spAutoFit/>
          </a:bodyPr>
          <a:lstStyle/>
          <a:p>
            <a:pPr algn="ctr"/>
            <a:r>
              <a:rPr lang="en-US" sz="2800">
                <a:latin typeface="+mj-lt"/>
              </a:rPr>
              <a:t>[3]</a:t>
            </a:r>
            <a:endParaRPr lang="en-US" sz="2800"/>
          </a:p>
        </p:txBody>
      </p:sp>
      <p:sp>
        <p:nvSpPr>
          <p:cNvPr id="30" name="Rectangle 29">
            <a:extLst>
              <a:ext uri="{FF2B5EF4-FFF2-40B4-BE49-F238E27FC236}">
                <a16:creationId xmlns:a16="http://schemas.microsoft.com/office/drawing/2014/main" id="{A1CAE75F-62D8-5B17-5231-0ED6C2734597}"/>
              </a:ext>
            </a:extLst>
          </p:cNvPr>
          <p:cNvSpPr/>
          <p:nvPr/>
        </p:nvSpPr>
        <p:spPr>
          <a:xfrm>
            <a:off x="3630775" y="3824660"/>
            <a:ext cx="66872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highlight>
                  <a:srgbClr val="FFFF00"/>
                </a:highlight>
                <a:latin typeface="+mj-lt"/>
              </a:rPr>
              <a:t>0</a:t>
            </a:r>
            <a:endParaRPr lang="en-US" sz="2800">
              <a:solidFill>
                <a:schemeClr val="accent1"/>
              </a:solidFill>
              <a:highlight>
                <a:srgbClr val="FFFF00"/>
              </a:highlight>
              <a:latin typeface="Consolas" panose="020B0609020204030204" pitchFamily="49" charset="0"/>
              <a:cs typeface="Consolas" panose="020B0609020204030204" pitchFamily="49" charset="0"/>
            </a:endParaRPr>
          </a:p>
        </p:txBody>
      </p:sp>
      <p:sp>
        <p:nvSpPr>
          <p:cNvPr id="31" name="TextBox 30">
            <a:extLst>
              <a:ext uri="{FF2B5EF4-FFF2-40B4-BE49-F238E27FC236}">
                <a16:creationId xmlns:a16="http://schemas.microsoft.com/office/drawing/2014/main" id="{2BA1FA8C-EBE9-7FA8-6FE8-8B8DC5894CB0}"/>
              </a:ext>
            </a:extLst>
          </p:cNvPr>
          <p:cNvSpPr txBox="1"/>
          <p:nvPr/>
        </p:nvSpPr>
        <p:spPr>
          <a:xfrm>
            <a:off x="4112852" y="3276396"/>
            <a:ext cx="1035866" cy="523220"/>
          </a:xfrm>
          <a:prstGeom prst="rect">
            <a:avLst/>
          </a:prstGeom>
          <a:noFill/>
        </p:spPr>
        <p:txBody>
          <a:bodyPr wrap="square">
            <a:spAutoFit/>
          </a:bodyPr>
          <a:lstStyle/>
          <a:p>
            <a:pPr algn="ctr"/>
            <a:r>
              <a:rPr lang="en-US" sz="2800">
                <a:latin typeface="+mj-lt"/>
              </a:rPr>
              <a:t>[4]</a:t>
            </a:r>
            <a:endParaRPr lang="en-US" sz="2800"/>
          </a:p>
        </p:txBody>
      </p:sp>
      <p:sp>
        <p:nvSpPr>
          <p:cNvPr id="32" name="Rectangle 31">
            <a:extLst>
              <a:ext uri="{FF2B5EF4-FFF2-40B4-BE49-F238E27FC236}">
                <a16:creationId xmlns:a16="http://schemas.microsoft.com/office/drawing/2014/main" id="{0889945D-5846-87FC-6AB1-D7B5F0D1FD91}"/>
              </a:ext>
            </a:extLst>
          </p:cNvPr>
          <p:cNvSpPr/>
          <p:nvPr/>
        </p:nvSpPr>
        <p:spPr>
          <a:xfrm>
            <a:off x="4296422" y="3824660"/>
            <a:ext cx="66872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highlight>
                  <a:srgbClr val="FFFF00"/>
                </a:highlight>
                <a:latin typeface="+mj-lt"/>
              </a:rPr>
              <a:t>0</a:t>
            </a:r>
            <a:endParaRPr lang="en-US" sz="2800">
              <a:solidFill>
                <a:schemeClr val="accent1"/>
              </a:solidFill>
              <a:highlight>
                <a:srgbClr val="FFFF00"/>
              </a:highlight>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099470845"/>
      </p:ext>
    </p:extLst>
  </p:cSld>
  <p:clrMapOvr>
    <a:masterClrMapping/>
  </p:clrMapOvr>
</p:sld>
</file>

<file path=ppt/slides/slide4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647CC-BA8C-55E3-3F43-4C7757EEE4D5}"/>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F78348C3-F02A-AD26-EF71-8617E3B8B105}"/>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cxnSp>
        <p:nvCxnSpPr>
          <p:cNvPr id="2" name="Straight Connector 1">
            <a:extLst>
              <a:ext uri="{FF2B5EF4-FFF2-40B4-BE49-F238E27FC236}">
                <a16:creationId xmlns:a16="http://schemas.microsoft.com/office/drawing/2014/main" id="{415A5241-AA95-6B72-A070-5AC207122F86}"/>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DC5F62DD-4047-83F3-E792-C5B6AC778160}"/>
              </a:ext>
            </a:extLst>
          </p:cNvPr>
          <p:cNvSpPr/>
          <p:nvPr/>
        </p:nvSpPr>
        <p:spPr>
          <a:xfrm>
            <a:off x="5358530" y="-2"/>
            <a:ext cx="3785470"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800">
                <a:solidFill>
                  <a:schemeClr val="tx1"/>
                </a:solidFill>
                <a:latin typeface="+mj-lt"/>
              </a:rPr>
              <a:t>{</a:t>
            </a:r>
          </a:p>
          <a:p>
            <a:r>
              <a:rPr lang="en-US" sz="2800">
                <a:solidFill>
                  <a:srgbClr val="00007F"/>
                </a:solidFill>
                <a:latin typeface="+mj-lt"/>
              </a:rPr>
              <a:t>  int</a:t>
            </a:r>
            <a:r>
              <a:rPr lang="en-US" sz="2800">
                <a:solidFill>
                  <a:schemeClr val="tx1"/>
                </a:solidFill>
                <a:latin typeface="+mj-lt"/>
              </a:rPr>
              <a:t> a;</a:t>
            </a:r>
          </a:p>
          <a:p>
            <a:r>
              <a:rPr lang="en-US" sz="2800">
                <a:solidFill>
                  <a:schemeClr val="tx1"/>
                </a:solidFill>
                <a:latin typeface="+mj-lt"/>
              </a:rPr>
              <a:t>  a = </a:t>
            </a:r>
            <a:r>
              <a:rPr lang="en-US" sz="2800">
                <a:solidFill>
                  <a:srgbClr val="09B5B6"/>
                </a:solidFill>
                <a:latin typeface="+mj-lt"/>
              </a:rPr>
              <a:t>7</a:t>
            </a:r>
            <a:r>
              <a:rPr lang="en-US" sz="2800">
                <a:solidFill>
                  <a:schemeClr val="tx1"/>
                </a:solidFill>
                <a:latin typeface="+mj-lt"/>
              </a:rPr>
              <a:t>;</a:t>
            </a:r>
          </a:p>
          <a:p>
            <a:r>
              <a:rPr lang="en-US" sz="2800">
                <a:solidFill>
                  <a:schemeClr val="tx1"/>
                </a:solidFill>
                <a:latin typeface="+mj-lt"/>
              </a:rPr>
              <a:t>}</a:t>
            </a:r>
          </a:p>
          <a:p>
            <a:endParaRPr lang="en-US" sz="2800">
              <a:solidFill>
                <a:schemeClr val="tx1"/>
              </a:solidFill>
              <a:latin typeface="+mj-lt"/>
            </a:endParaRPr>
          </a:p>
          <a:p>
            <a:r>
              <a:rPr lang="en-US" sz="2800">
                <a:solidFill>
                  <a:schemeClr val="tx1"/>
                </a:solidFill>
                <a:latin typeface="+mj-lt"/>
              </a:rPr>
              <a:t>{</a:t>
            </a:r>
          </a:p>
          <a:p>
            <a:r>
              <a:rPr lang="en-US" sz="2800">
                <a:solidFill>
                  <a:srgbClr val="00007F"/>
                </a:solidFill>
                <a:latin typeface="+mj-lt"/>
              </a:rPr>
              <a:t>  int[]</a:t>
            </a:r>
            <a:r>
              <a:rPr lang="en-US" sz="2800">
                <a:solidFill>
                  <a:schemeClr val="tx1"/>
                </a:solidFill>
                <a:latin typeface="+mj-lt"/>
              </a:rPr>
              <a:t> b;</a:t>
            </a:r>
          </a:p>
          <a:p>
            <a:r>
              <a:rPr lang="en-US" sz="2800">
                <a:solidFill>
                  <a:schemeClr val="tx1"/>
                </a:solidFill>
                <a:latin typeface="+mj-lt"/>
              </a:rPr>
              <a:t>  b = </a:t>
            </a:r>
            <a:r>
              <a:rPr lang="en-US" sz="2800">
                <a:solidFill>
                  <a:srgbClr val="0000FF"/>
                </a:solidFill>
                <a:latin typeface="+mj-lt"/>
              </a:rPr>
              <a:t>new</a:t>
            </a:r>
            <a:r>
              <a:rPr lang="en-US" sz="2800">
                <a:solidFill>
                  <a:schemeClr val="tx1"/>
                </a:solidFill>
                <a:latin typeface="+mj-lt"/>
              </a:rPr>
              <a:t> int[</a:t>
            </a:r>
            <a:r>
              <a:rPr lang="en-US" sz="2800">
                <a:solidFill>
                  <a:srgbClr val="09B5B6"/>
                </a:solidFill>
                <a:latin typeface="+mj-lt"/>
              </a:rPr>
              <a:t>5</a:t>
            </a:r>
            <a:r>
              <a:rPr lang="en-US" sz="2800">
                <a:solidFill>
                  <a:schemeClr val="tx1"/>
                </a:solidFill>
                <a:latin typeface="+mj-lt"/>
              </a:rPr>
              <a:t>];</a:t>
            </a:r>
          </a:p>
          <a:p>
            <a:r>
              <a:rPr lang="en-US" sz="2800">
                <a:solidFill>
                  <a:srgbClr val="000000"/>
                </a:solidFill>
                <a:highlight>
                  <a:srgbClr val="FFFF00"/>
                </a:highlight>
                <a:latin typeface="Consolas"/>
              </a:rPr>
              <a:t>  b[</a:t>
            </a:r>
            <a:r>
              <a:rPr lang="en-US" sz="2800">
                <a:solidFill>
                  <a:srgbClr val="09B5B6"/>
                </a:solidFill>
                <a:highlight>
                  <a:srgbClr val="FFFF00"/>
                </a:highlight>
                <a:latin typeface="Consolas"/>
              </a:rPr>
              <a:t>4</a:t>
            </a:r>
            <a:r>
              <a:rPr lang="en-US" sz="2800">
                <a:solidFill>
                  <a:srgbClr val="000000"/>
                </a:solidFill>
                <a:highlight>
                  <a:srgbClr val="FFFF00"/>
                </a:highlight>
                <a:latin typeface="Consolas"/>
              </a:rPr>
              <a:t>] = </a:t>
            </a:r>
            <a:r>
              <a:rPr lang="en-US" sz="2800">
                <a:solidFill>
                  <a:srgbClr val="09B5B6"/>
                </a:solidFill>
                <a:highlight>
                  <a:srgbClr val="FFFF00"/>
                </a:highlight>
                <a:latin typeface="Consolas"/>
              </a:rPr>
              <a:t>8</a:t>
            </a:r>
            <a:r>
              <a:rPr lang="en-US" sz="2800">
                <a:solidFill>
                  <a:srgbClr val="000000"/>
                </a:solidFill>
                <a:highlight>
                  <a:srgbClr val="FFFF00"/>
                </a:highlight>
                <a:latin typeface="Consolas"/>
              </a:rPr>
              <a:t>;</a:t>
            </a:r>
            <a:endParaRPr lang="en-US" sz="2800">
              <a:solidFill>
                <a:schemeClr val="tx1"/>
              </a:solidFill>
              <a:highlight>
                <a:srgbClr val="FFFF00"/>
              </a:highlight>
              <a:latin typeface="+mj-lt"/>
            </a:endParaRPr>
          </a:p>
          <a:p>
            <a:r>
              <a:rPr lang="en-US" sz="2800">
                <a:solidFill>
                  <a:schemeClr val="tx1"/>
                </a:solidFill>
                <a:latin typeface="+mj-lt"/>
              </a:rPr>
              <a:t>}</a:t>
            </a:r>
          </a:p>
        </p:txBody>
      </p:sp>
      <p:sp>
        <p:nvSpPr>
          <p:cNvPr id="6" name="TextBox 5">
            <a:extLst>
              <a:ext uri="{FF2B5EF4-FFF2-40B4-BE49-F238E27FC236}">
                <a16:creationId xmlns:a16="http://schemas.microsoft.com/office/drawing/2014/main" id="{92551684-8DED-A2E9-4767-DEFA2797E76D}"/>
              </a:ext>
            </a:extLst>
          </p:cNvPr>
          <p:cNvSpPr txBox="1"/>
          <p:nvPr/>
        </p:nvSpPr>
        <p:spPr>
          <a:xfrm>
            <a:off x="1441727" y="3276396"/>
            <a:ext cx="1035866" cy="523220"/>
          </a:xfrm>
          <a:prstGeom prst="rect">
            <a:avLst/>
          </a:prstGeom>
          <a:noFill/>
        </p:spPr>
        <p:txBody>
          <a:bodyPr wrap="square">
            <a:spAutoFit/>
          </a:bodyPr>
          <a:lstStyle/>
          <a:p>
            <a:pPr algn="ctr"/>
            <a:r>
              <a:rPr lang="en-US" sz="2800">
                <a:latin typeface="+mj-lt"/>
              </a:rPr>
              <a:t>[0]</a:t>
            </a:r>
            <a:endParaRPr lang="en-US" sz="2800"/>
          </a:p>
        </p:txBody>
      </p:sp>
      <p:sp>
        <p:nvSpPr>
          <p:cNvPr id="7" name="Rectangle 6">
            <a:extLst>
              <a:ext uri="{FF2B5EF4-FFF2-40B4-BE49-F238E27FC236}">
                <a16:creationId xmlns:a16="http://schemas.microsoft.com/office/drawing/2014/main" id="{901DDCE7-11D9-18B2-DFB9-9CACF837A09C}"/>
              </a:ext>
            </a:extLst>
          </p:cNvPr>
          <p:cNvSpPr/>
          <p:nvPr/>
        </p:nvSpPr>
        <p:spPr>
          <a:xfrm>
            <a:off x="1625297" y="3824660"/>
            <a:ext cx="66872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0</a:t>
            </a:r>
            <a:endParaRPr lang="en-US" sz="2800">
              <a:solidFill>
                <a:schemeClr val="accent1"/>
              </a:solidFill>
              <a:latin typeface="Consolas" panose="020B0609020204030204" pitchFamily="49" charset="0"/>
              <a:cs typeface="Consolas" panose="020B0609020204030204" pitchFamily="49" charset="0"/>
            </a:endParaRPr>
          </a:p>
        </p:txBody>
      </p:sp>
      <p:sp>
        <p:nvSpPr>
          <p:cNvPr id="10" name="TextBox 9">
            <a:extLst>
              <a:ext uri="{FF2B5EF4-FFF2-40B4-BE49-F238E27FC236}">
                <a16:creationId xmlns:a16="http://schemas.microsoft.com/office/drawing/2014/main" id="{0F6FCBD0-2CFE-082E-21ED-82302487638E}"/>
              </a:ext>
            </a:extLst>
          </p:cNvPr>
          <p:cNvSpPr txBox="1"/>
          <p:nvPr/>
        </p:nvSpPr>
        <p:spPr>
          <a:xfrm>
            <a:off x="922779" y="685848"/>
            <a:ext cx="584592" cy="584775"/>
          </a:xfrm>
          <a:prstGeom prst="rect">
            <a:avLst/>
          </a:prstGeom>
          <a:noFill/>
        </p:spPr>
        <p:txBody>
          <a:bodyPr wrap="square">
            <a:spAutoFit/>
          </a:bodyPr>
          <a:lstStyle/>
          <a:p>
            <a:pPr algn="ctr"/>
            <a:r>
              <a:rPr lang="en-US" sz="3200">
                <a:latin typeface="+mj-lt"/>
              </a:rPr>
              <a:t>b</a:t>
            </a:r>
            <a:endParaRPr lang="en-US" sz="3200"/>
          </a:p>
        </p:txBody>
      </p:sp>
      <p:cxnSp>
        <p:nvCxnSpPr>
          <p:cNvPr id="11" name="Straight Arrow Connector 10">
            <a:extLst>
              <a:ext uri="{FF2B5EF4-FFF2-40B4-BE49-F238E27FC236}">
                <a16:creationId xmlns:a16="http://schemas.microsoft.com/office/drawing/2014/main" id="{0C0F987E-DA74-0EC5-2C34-7F02EEF7720E}"/>
              </a:ext>
            </a:extLst>
          </p:cNvPr>
          <p:cNvCxnSpPr>
            <a:cxnSpLocks/>
            <a:stCxn id="12" idx="2"/>
            <a:endCxn id="7" idx="1"/>
          </p:cNvCxnSpPr>
          <p:nvPr/>
        </p:nvCxnSpPr>
        <p:spPr>
          <a:xfrm rot="16200000" flipH="1">
            <a:off x="259433" y="2723686"/>
            <a:ext cx="2321505" cy="410223"/>
          </a:xfrm>
          <a:prstGeom prst="bentConnector2">
            <a:avLst/>
          </a:prstGeom>
          <a:ln w="63500" cap="rnd">
            <a:solidFill>
              <a:schemeClr val="accent6">
                <a:lumMod val="50000"/>
              </a:schemeClr>
            </a:solidFill>
            <a:headEnd type="oval"/>
            <a:tailEnd type="triangle"/>
          </a:ln>
        </p:spPr>
        <p:style>
          <a:lnRef idx="1">
            <a:schemeClr val="accent6"/>
          </a:lnRef>
          <a:fillRef idx="0">
            <a:schemeClr val="accent6"/>
          </a:fillRef>
          <a:effectRef idx="0">
            <a:schemeClr val="accent6"/>
          </a:effectRef>
          <a:fontRef idx="minor">
            <a:schemeClr val="tx1"/>
          </a:fontRef>
        </p:style>
      </p:cxnSp>
      <p:sp>
        <p:nvSpPr>
          <p:cNvPr id="12" name="Rectangle 11">
            <a:extLst>
              <a:ext uri="{FF2B5EF4-FFF2-40B4-BE49-F238E27FC236}">
                <a16:creationId xmlns:a16="http://schemas.microsoft.com/office/drawing/2014/main" id="{7E13E770-35D9-05B1-2BA3-051AF6A96C2C}"/>
              </a:ext>
            </a:extLst>
          </p:cNvPr>
          <p:cNvSpPr/>
          <p:nvPr/>
        </p:nvSpPr>
        <p:spPr>
          <a:xfrm>
            <a:off x="697142" y="1238265"/>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latin typeface="+mj-lt"/>
              </a:rPr>
              <a:t>0xb7</a:t>
            </a:r>
            <a:endParaRPr lang="en-US" sz="2800">
              <a:solidFill>
                <a:schemeClr val="accent1"/>
              </a:solidFill>
              <a:latin typeface="Consolas" panose="020B0609020204030204" pitchFamily="49" charset="0"/>
              <a:cs typeface="Consolas" panose="020B0609020204030204" pitchFamily="49" charset="0"/>
            </a:endParaRPr>
          </a:p>
        </p:txBody>
      </p:sp>
      <p:sp>
        <p:nvSpPr>
          <p:cNvPr id="25" name="TextBox 24">
            <a:extLst>
              <a:ext uri="{FF2B5EF4-FFF2-40B4-BE49-F238E27FC236}">
                <a16:creationId xmlns:a16="http://schemas.microsoft.com/office/drawing/2014/main" id="{EEFB6CE7-D389-6A11-E96E-616F4307F458}"/>
              </a:ext>
            </a:extLst>
          </p:cNvPr>
          <p:cNvSpPr txBox="1"/>
          <p:nvPr/>
        </p:nvSpPr>
        <p:spPr>
          <a:xfrm>
            <a:off x="2111533" y="3276396"/>
            <a:ext cx="1035866" cy="523220"/>
          </a:xfrm>
          <a:prstGeom prst="rect">
            <a:avLst/>
          </a:prstGeom>
          <a:noFill/>
        </p:spPr>
        <p:txBody>
          <a:bodyPr wrap="square">
            <a:spAutoFit/>
          </a:bodyPr>
          <a:lstStyle/>
          <a:p>
            <a:pPr algn="ctr"/>
            <a:r>
              <a:rPr lang="en-US" sz="2800">
                <a:latin typeface="+mj-lt"/>
              </a:rPr>
              <a:t>[1]</a:t>
            </a:r>
            <a:endParaRPr lang="en-US" sz="2800"/>
          </a:p>
        </p:txBody>
      </p:sp>
      <p:sp>
        <p:nvSpPr>
          <p:cNvPr id="26" name="Rectangle 25">
            <a:extLst>
              <a:ext uri="{FF2B5EF4-FFF2-40B4-BE49-F238E27FC236}">
                <a16:creationId xmlns:a16="http://schemas.microsoft.com/office/drawing/2014/main" id="{E8F542B5-9196-4986-35E4-ECE5E650BF47}"/>
              </a:ext>
            </a:extLst>
          </p:cNvPr>
          <p:cNvSpPr/>
          <p:nvPr/>
        </p:nvSpPr>
        <p:spPr>
          <a:xfrm>
            <a:off x="2295103" y="3824660"/>
            <a:ext cx="66872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0</a:t>
            </a:r>
            <a:endParaRPr lang="en-US" sz="2800">
              <a:solidFill>
                <a:schemeClr val="accent1"/>
              </a:solidFill>
              <a:latin typeface="Consolas" panose="020B0609020204030204" pitchFamily="49" charset="0"/>
              <a:cs typeface="Consolas" panose="020B0609020204030204" pitchFamily="49" charset="0"/>
            </a:endParaRPr>
          </a:p>
        </p:txBody>
      </p:sp>
      <p:sp>
        <p:nvSpPr>
          <p:cNvPr id="27" name="TextBox 26">
            <a:extLst>
              <a:ext uri="{FF2B5EF4-FFF2-40B4-BE49-F238E27FC236}">
                <a16:creationId xmlns:a16="http://schemas.microsoft.com/office/drawing/2014/main" id="{DF09F771-0A93-1B2A-5C44-5117A884D8CE}"/>
              </a:ext>
            </a:extLst>
          </p:cNvPr>
          <p:cNvSpPr txBox="1"/>
          <p:nvPr/>
        </p:nvSpPr>
        <p:spPr>
          <a:xfrm>
            <a:off x="2781266" y="3276396"/>
            <a:ext cx="1035866" cy="523220"/>
          </a:xfrm>
          <a:prstGeom prst="rect">
            <a:avLst/>
          </a:prstGeom>
          <a:noFill/>
        </p:spPr>
        <p:txBody>
          <a:bodyPr wrap="square">
            <a:spAutoFit/>
          </a:bodyPr>
          <a:lstStyle/>
          <a:p>
            <a:pPr algn="ctr"/>
            <a:r>
              <a:rPr lang="en-US" sz="2800">
                <a:latin typeface="+mj-lt"/>
              </a:rPr>
              <a:t>[2]</a:t>
            </a:r>
            <a:endParaRPr lang="en-US" sz="2800"/>
          </a:p>
        </p:txBody>
      </p:sp>
      <p:sp>
        <p:nvSpPr>
          <p:cNvPr id="28" name="Rectangle 27">
            <a:extLst>
              <a:ext uri="{FF2B5EF4-FFF2-40B4-BE49-F238E27FC236}">
                <a16:creationId xmlns:a16="http://schemas.microsoft.com/office/drawing/2014/main" id="{0345170E-4EB5-82AF-6F0F-86A8A4598364}"/>
              </a:ext>
            </a:extLst>
          </p:cNvPr>
          <p:cNvSpPr/>
          <p:nvPr/>
        </p:nvSpPr>
        <p:spPr>
          <a:xfrm>
            <a:off x="2964836" y="3824660"/>
            <a:ext cx="66872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0</a:t>
            </a:r>
            <a:endParaRPr lang="en-US" sz="2800">
              <a:solidFill>
                <a:schemeClr val="accent1"/>
              </a:solidFill>
              <a:latin typeface="Consolas" panose="020B0609020204030204" pitchFamily="49" charset="0"/>
              <a:cs typeface="Consolas" panose="020B0609020204030204" pitchFamily="49" charset="0"/>
            </a:endParaRPr>
          </a:p>
        </p:txBody>
      </p:sp>
      <p:sp>
        <p:nvSpPr>
          <p:cNvPr id="29" name="TextBox 28">
            <a:extLst>
              <a:ext uri="{FF2B5EF4-FFF2-40B4-BE49-F238E27FC236}">
                <a16:creationId xmlns:a16="http://schemas.microsoft.com/office/drawing/2014/main" id="{0FC28194-E9B9-3041-943A-92192B0171BC}"/>
              </a:ext>
            </a:extLst>
          </p:cNvPr>
          <p:cNvSpPr txBox="1"/>
          <p:nvPr/>
        </p:nvSpPr>
        <p:spPr>
          <a:xfrm>
            <a:off x="3447205" y="3276396"/>
            <a:ext cx="1035866" cy="523220"/>
          </a:xfrm>
          <a:prstGeom prst="rect">
            <a:avLst/>
          </a:prstGeom>
          <a:noFill/>
        </p:spPr>
        <p:txBody>
          <a:bodyPr wrap="square">
            <a:spAutoFit/>
          </a:bodyPr>
          <a:lstStyle/>
          <a:p>
            <a:pPr algn="ctr"/>
            <a:r>
              <a:rPr lang="en-US" sz="2800">
                <a:latin typeface="+mj-lt"/>
              </a:rPr>
              <a:t>[3]</a:t>
            </a:r>
            <a:endParaRPr lang="en-US" sz="2800"/>
          </a:p>
        </p:txBody>
      </p:sp>
      <p:sp>
        <p:nvSpPr>
          <p:cNvPr id="30" name="Rectangle 29">
            <a:extLst>
              <a:ext uri="{FF2B5EF4-FFF2-40B4-BE49-F238E27FC236}">
                <a16:creationId xmlns:a16="http://schemas.microsoft.com/office/drawing/2014/main" id="{94B94A6A-5C48-1B92-6CF8-7C03912BAF12}"/>
              </a:ext>
            </a:extLst>
          </p:cNvPr>
          <p:cNvSpPr/>
          <p:nvPr/>
        </p:nvSpPr>
        <p:spPr>
          <a:xfrm>
            <a:off x="3630775" y="3824660"/>
            <a:ext cx="66872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0</a:t>
            </a:r>
            <a:endParaRPr lang="en-US" sz="2800">
              <a:solidFill>
                <a:schemeClr val="accent1"/>
              </a:solidFill>
              <a:latin typeface="Consolas" panose="020B0609020204030204" pitchFamily="49" charset="0"/>
              <a:cs typeface="Consolas" panose="020B0609020204030204" pitchFamily="49" charset="0"/>
            </a:endParaRPr>
          </a:p>
        </p:txBody>
      </p:sp>
      <p:sp>
        <p:nvSpPr>
          <p:cNvPr id="31" name="TextBox 30">
            <a:extLst>
              <a:ext uri="{FF2B5EF4-FFF2-40B4-BE49-F238E27FC236}">
                <a16:creationId xmlns:a16="http://schemas.microsoft.com/office/drawing/2014/main" id="{A069541D-C43E-2E43-5288-B31BE4DE98C2}"/>
              </a:ext>
            </a:extLst>
          </p:cNvPr>
          <p:cNvSpPr txBox="1"/>
          <p:nvPr/>
        </p:nvSpPr>
        <p:spPr>
          <a:xfrm>
            <a:off x="4112852" y="3276396"/>
            <a:ext cx="1035866" cy="523220"/>
          </a:xfrm>
          <a:prstGeom prst="rect">
            <a:avLst/>
          </a:prstGeom>
          <a:noFill/>
        </p:spPr>
        <p:txBody>
          <a:bodyPr wrap="square">
            <a:spAutoFit/>
          </a:bodyPr>
          <a:lstStyle/>
          <a:p>
            <a:pPr algn="ctr"/>
            <a:r>
              <a:rPr lang="en-US" sz="2800">
                <a:latin typeface="+mj-lt"/>
              </a:rPr>
              <a:t>[4]</a:t>
            </a:r>
            <a:endParaRPr lang="en-US" sz="2800"/>
          </a:p>
        </p:txBody>
      </p:sp>
      <p:sp>
        <p:nvSpPr>
          <p:cNvPr id="32" name="Rectangle 31">
            <a:extLst>
              <a:ext uri="{FF2B5EF4-FFF2-40B4-BE49-F238E27FC236}">
                <a16:creationId xmlns:a16="http://schemas.microsoft.com/office/drawing/2014/main" id="{1A646090-D143-51EC-2982-E461E7DF48E2}"/>
              </a:ext>
            </a:extLst>
          </p:cNvPr>
          <p:cNvSpPr/>
          <p:nvPr/>
        </p:nvSpPr>
        <p:spPr>
          <a:xfrm>
            <a:off x="4296422" y="3824660"/>
            <a:ext cx="66872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highlight>
                  <a:srgbClr val="FFFF00"/>
                </a:highlight>
                <a:latin typeface="+mj-lt"/>
              </a:rPr>
              <a:t>8</a:t>
            </a:r>
            <a:endParaRPr lang="en-US" sz="2800">
              <a:solidFill>
                <a:schemeClr val="accent1"/>
              </a:solidFill>
              <a:highlight>
                <a:srgbClr val="FFFF00"/>
              </a:highlight>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028356999"/>
      </p:ext>
    </p:extLst>
  </p:cSld>
  <p:clrMapOvr>
    <a:masterClrMapping/>
  </p:clrMapOvr>
</p:sld>
</file>

<file path=ppt/slides/slide4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EEF9B-8D36-5AA6-6C6C-EDC04E424BD3}"/>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E1EB9D1F-8E9E-DD13-BD0D-EA8D124F11B2}"/>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cxnSp>
        <p:nvCxnSpPr>
          <p:cNvPr id="2" name="Straight Connector 1">
            <a:extLst>
              <a:ext uri="{FF2B5EF4-FFF2-40B4-BE49-F238E27FC236}">
                <a16:creationId xmlns:a16="http://schemas.microsoft.com/office/drawing/2014/main" id="{F3714EF6-DCE8-DA0C-9731-E5E99D7FD9DA}"/>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133CED58-043F-4C0B-C04C-D2A5EC07DBB7}"/>
              </a:ext>
            </a:extLst>
          </p:cNvPr>
          <p:cNvSpPr/>
          <p:nvPr/>
        </p:nvSpPr>
        <p:spPr>
          <a:xfrm>
            <a:off x="5358530" y="-2"/>
            <a:ext cx="3785470"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800">
                <a:solidFill>
                  <a:schemeClr val="tx1"/>
                </a:solidFill>
                <a:latin typeface="+mj-lt"/>
              </a:rPr>
              <a:t>{</a:t>
            </a:r>
          </a:p>
          <a:p>
            <a:r>
              <a:rPr lang="en-US" sz="2800">
                <a:solidFill>
                  <a:srgbClr val="00007F"/>
                </a:solidFill>
                <a:latin typeface="+mj-lt"/>
              </a:rPr>
              <a:t>  int</a:t>
            </a:r>
            <a:r>
              <a:rPr lang="en-US" sz="2800">
                <a:solidFill>
                  <a:schemeClr val="tx1"/>
                </a:solidFill>
                <a:latin typeface="+mj-lt"/>
              </a:rPr>
              <a:t> a;</a:t>
            </a:r>
          </a:p>
          <a:p>
            <a:r>
              <a:rPr lang="en-US" sz="2800">
                <a:solidFill>
                  <a:schemeClr val="tx1"/>
                </a:solidFill>
                <a:latin typeface="+mj-lt"/>
              </a:rPr>
              <a:t>  a = </a:t>
            </a:r>
            <a:r>
              <a:rPr lang="en-US" sz="2800">
                <a:solidFill>
                  <a:srgbClr val="09B5B6"/>
                </a:solidFill>
                <a:latin typeface="+mj-lt"/>
              </a:rPr>
              <a:t>7</a:t>
            </a:r>
            <a:r>
              <a:rPr lang="en-US" sz="2800">
                <a:solidFill>
                  <a:schemeClr val="tx1"/>
                </a:solidFill>
                <a:latin typeface="+mj-lt"/>
              </a:rPr>
              <a:t>;</a:t>
            </a:r>
          </a:p>
          <a:p>
            <a:r>
              <a:rPr lang="en-US" sz="2800">
                <a:solidFill>
                  <a:schemeClr val="tx1"/>
                </a:solidFill>
                <a:latin typeface="+mj-lt"/>
              </a:rPr>
              <a:t>}</a:t>
            </a:r>
          </a:p>
          <a:p>
            <a:endParaRPr lang="en-US" sz="2800">
              <a:solidFill>
                <a:schemeClr val="tx1"/>
              </a:solidFill>
              <a:latin typeface="+mj-lt"/>
            </a:endParaRPr>
          </a:p>
          <a:p>
            <a:r>
              <a:rPr lang="en-US" sz="2800">
                <a:solidFill>
                  <a:schemeClr val="tx1"/>
                </a:solidFill>
                <a:latin typeface="+mj-lt"/>
              </a:rPr>
              <a:t>{</a:t>
            </a:r>
          </a:p>
          <a:p>
            <a:r>
              <a:rPr lang="en-US" sz="2800">
                <a:solidFill>
                  <a:srgbClr val="00007F"/>
                </a:solidFill>
                <a:latin typeface="+mj-lt"/>
              </a:rPr>
              <a:t>  int[]</a:t>
            </a:r>
            <a:r>
              <a:rPr lang="en-US" sz="2800">
                <a:solidFill>
                  <a:schemeClr val="tx1"/>
                </a:solidFill>
                <a:latin typeface="+mj-lt"/>
              </a:rPr>
              <a:t> b;</a:t>
            </a:r>
          </a:p>
          <a:p>
            <a:r>
              <a:rPr lang="en-US" sz="2800">
                <a:solidFill>
                  <a:schemeClr val="tx1"/>
                </a:solidFill>
                <a:latin typeface="+mj-lt"/>
              </a:rPr>
              <a:t>  b = </a:t>
            </a:r>
            <a:r>
              <a:rPr lang="en-US" sz="2800">
                <a:solidFill>
                  <a:srgbClr val="0000FF"/>
                </a:solidFill>
                <a:latin typeface="+mj-lt"/>
              </a:rPr>
              <a:t>new</a:t>
            </a:r>
            <a:r>
              <a:rPr lang="en-US" sz="2800">
                <a:solidFill>
                  <a:schemeClr val="tx1"/>
                </a:solidFill>
                <a:latin typeface="+mj-lt"/>
              </a:rPr>
              <a:t> int[</a:t>
            </a:r>
            <a:r>
              <a:rPr lang="en-US" sz="2800">
                <a:solidFill>
                  <a:srgbClr val="09B5B6"/>
                </a:solidFill>
                <a:latin typeface="+mj-lt"/>
              </a:rPr>
              <a:t>5</a:t>
            </a:r>
            <a:r>
              <a:rPr lang="en-US" sz="2800">
                <a:solidFill>
                  <a:schemeClr val="tx1"/>
                </a:solidFill>
                <a:latin typeface="+mj-lt"/>
              </a:rPr>
              <a:t>];</a:t>
            </a:r>
          </a:p>
          <a:p>
            <a:r>
              <a:rPr lang="en-US" sz="2800">
                <a:solidFill>
                  <a:srgbClr val="000000"/>
                </a:solidFill>
                <a:latin typeface="Consolas"/>
              </a:rPr>
              <a:t>  b[</a:t>
            </a:r>
            <a:r>
              <a:rPr lang="en-US" sz="2800">
                <a:solidFill>
                  <a:srgbClr val="09B5B6"/>
                </a:solidFill>
                <a:latin typeface="Consolas"/>
              </a:rPr>
              <a:t>4</a:t>
            </a:r>
            <a:r>
              <a:rPr lang="en-US" sz="2800">
                <a:solidFill>
                  <a:srgbClr val="000000"/>
                </a:solidFill>
                <a:latin typeface="Consolas"/>
              </a:rPr>
              <a:t>] = </a:t>
            </a:r>
            <a:r>
              <a:rPr lang="en-US" sz="2800">
                <a:solidFill>
                  <a:srgbClr val="09B5B6"/>
                </a:solidFill>
                <a:latin typeface="Consolas"/>
              </a:rPr>
              <a:t>8</a:t>
            </a:r>
            <a:r>
              <a:rPr lang="en-US" sz="2800">
                <a:solidFill>
                  <a:srgbClr val="000000"/>
                </a:solidFill>
                <a:latin typeface="Consolas"/>
              </a:rPr>
              <a:t>;</a:t>
            </a:r>
            <a:endParaRPr lang="en-US" sz="2800">
              <a:solidFill>
                <a:schemeClr val="tx1"/>
              </a:solidFill>
              <a:latin typeface="+mj-lt"/>
            </a:endParaRPr>
          </a:p>
          <a:p>
            <a:r>
              <a:rPr lang="en-US" sz="2800">
                <a:solidFill>
                  <a:schemeClr val="tx1"/>
                </a:solidFill>
                <a:highlight>
                  <a:srgbClr val="FFFF00"/>
                </a:highlight>
                <a:latin typeface="+mj-lt"/>
              </a:rPr>
              <a:t>}</a:t>
            </a:r>
          </a:p>
        </p:txBody>
      </p:sp>
      <p:sp>
        <p:nvSpPr>
          <p:cNvPr id="6" name="TextBox 5">
            <a:extLst>
              <a:ext uri="{FF2B5EF4-FFF2-40B4-BE49-F238E27FC236}">
                <a16:creationId xmlns:a16="http://schemas.microsoft.com/office/drawing/2014/main" id="{8792E32B-6CAB-7903-65A2-ED83EA77F2E9}"/>
              </a:ext>
            </a:extLst>
          </p:cNvPr>
          <p:cNvSpPr txBox="1"/>
          <p:nvPr/>
        </p:nvSpPr>
        <p:spPr>
          <a:xfrm>
            <a:off x="1441727" y="3276396"/>
            <a:ext cx="1035866" cy="523220"/>
          </a:xfrm>
          <a:prstGeom prst="rect">
            <a:avLst/>
          </a:prstGeom>
          <a:noFill/>
        </p:spPr>
        <p:txBody>
          <a:bodyPr wrap="square">
            <a:spAutoFit/>
          </a:bodyPr>
          <a:lstStyle/>
          <a:p>
            <a:pPr algn="ctr"/>
            <a:r>
              <a:rPr lang="en-US" sz="2800">
                <a:latin typeface="+mj-lt"/>
              </a:rPr>
              <a:t>[0]</a:t>
            </a:r>
            <a:endParaRPr lang="en-US" sz="2800"/>
          </a:p>
        </p:txBody>
      </p:sp>
      <p:sp>
        <p:nvSpPr>
          <p:cNvPr id="7" name="Rectangle 6">
            <a:extLst>
              <a:ext uri="{FF2B5EF4-FFF2-40B4-BE49-F238E27FC236}">
                <a16:creationId xmlns:a16="http://schemas.microsoft.com/office/drawing/2014/main" id="{F5DDD027-1655-B683-DDC2-F4DB99E77374}"/>
              </a:ext>
            </a:extLst>
          </p:cNvPr>
          <p:cNvSpPr/>
          <p:nvPr/>
        </p:nvSpPr>
        <p:spPr>
          <a:xfrm>
            <a:off x="1625297" y="3824660"/>
            <a:ext cx="66872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0</a:t>
            </a:r>
            <a:endParaRPr lang="en-US" sz="2800">
              <a:solidFill>
                <a:schemeClr val="accent1"/>
              </a:solidFill>
              <a:latin typeface="Consolas" panose="020B0609020204030204" pitchFamily="49" charset="0"/>
              <a:cs typeface="Consolas" panose="020B0609020204030204" pitchFamily="49" charset="0"/>
            </a:endParaRPr>
          </a:p>
        </p:txBody>
      </p:sp>
      <p:sp>
        <p:nvSpPr>
          <p:cNvPr id="10" name="TextBox 9">
            <a:extLst>
              <a:ext uri="{FF2B5EF4-FFF2-40B4-BE49-F238E27FC236}">
                <a16:creationId xmlns:a16="http://schemas.microsoft.com/office/drawing/2014/main" id="{91CFF2F9-04F9-998F-5863-0F63A99F594E}"/>
              </a:ext>
            </a:extLst>
          </p:cNvPr>
          <p:cNvSpPr txBox="1"/>
          <p:nvPr/>
        </p:nvSpPr>
        <p:spPr>
          <a:xfrm>
            <a:off x="922779" y="685848"/>
            <a:ext cx="584592" cy="584775"/>
          </a:xfrm>
          <a:prstGeom prst="rect">
            <a:avLst/>
          </a:prstGeom>
          <a:noFill/>
        </p:spPr>
        <p:txBody>
          <a:bodyPr wrap="square">
            <a:spAutoFit/>
          </a:bodyPr>
          <a:lstStyle/>
          <a:p>
            <a:pPr algn="ctr"/>
            <a:r>
              <a:rPr lang="en-US" sz="3200">
                <a:latin typeface="+mj-lt"/>
              </a:rPr>
              <a:t>b</a:t>
            </a:r>
            <a:endParaRPr lang="en-US" sz="3200"/>
          </a:p>
        </p:txBody>
      </p:sp>
      <p:cxnSp>
        <p:nvCxnSpPr>
          <p:cNvPr id="11" name="Straight Arrow Connector 10">
            <a:extLst>
              <a:ext uri="{FF2B5EF4-FFF2-40B4-BE49-F238E27FC236}">
                <a16:creationId xmlns:a16="http://schemas.microsoft.com/office/drawing/2014/main" id="{0CE87E5D-5921-757A-4D8E-333E5D350044}"/>
              </a:ext>
            </a:extLst>
          </p:cNvPr>
          <p:cNvCxnSpPr>
            <a:cxnSpLocks/>
            <a:stCxn id="12" idx="2"/>
            <a:endCxn id="7" idx="1"/>
          </p:cNvCxnSpPr>
          <p:nvPr/>
        </p:nvCxnSpPr>
        <p:spPr>
          <a:xfrm rot="16200000" flipH="1">
            <a:off x="259433" y="2723686"/>
            <a:ext cx="2321505" cy="410223"/>
          </a:xfrm>
          <a:prstGeom prst="bentConnector2">
            <a:avLst/>
          </a:prstGeom>
          <a:ln w="63500" cap="rnd">
            <a:solidFill>
              <a:schemeClr val="accent6">
                <a:lumMod val="50000"/>
              </a:schemeClr>
            </a:solidFill>
            <a:headEnd type="oval"/>
            <a:tailEnd type="triangle"/>
          </a:ln>
        </p:spPr>
        <p:style>
          <a:lnRef idx="1">
            <a:schemeClr val="accent6"/>
          </a:lnRef>
          <a:fillRef idx="0">
            <a:schemeClr val="accent6"/>
          </a:fillRef>
          <a:effectRef idx="0">
            <a:schemeClr val="accent6"/>
          </a:effectRef>
          <a:fontRef idx="minor">
            <a:schemeClr val="tx1"/>
          </a:fontRef>
        </p:style>
      </p:cxnSp>
      <p:sp>
        <p:nvSpPr>
          <p:cNvPr id="12" name="Rectangle 11">
            <a:extLst>
              <a:ext uri="{FF2B5EF4-FFF2-40B4-BE49-F238E27FC236}">
                <a16:creationId xmlns:a16="http://schemas.microsoft.com/office/drawing/2014/main" id="{4C799A1B-6DEE-95B8-E7F6-81F9CC836F98}"/>
              </a:ext>
            </a:extLst>
          </p:cNvPr>
          <p:cNvSpPr/>
          <p:nvPr/>
        </p:nvSpPr>
        <p:spPr>
          <a:xfrm>
            <a:off x="697142" y="1238265"/>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latin typeface="+mj-lt"/>
              </a:rPr>
              <a:t>0xb7</a:t>
            </a:r>
            <a:endParaRPr lang="en-US" sz="2800">
              <a:solidFill>
                <a:schemeClr val="accent1"/>
              </a:solidFill>
              <a:latin typeface="Consolas" panose="020B0609020204030204" pitchFamily="49" charset="0"/>
              <a:cs typeface="Consolas" panose="020B0609020204030204" pitchFamily="49" charset="0"/>
            </a:endParaRPr>
          </a:p>
        </p:txBody>
      </p:sp>
      <p:sp>
        <p:nvSpPr>
          <p:cNvPr id="25" name="TextBox 24">
            <a:extLst>
              <a:ext uri="{FF2B5EF4-FFF2-40B4-BE49-F238E27FC236}">
                <a16:creationId xmlns:a16="http://schemas.microsoft.com/office/drawing/2014/main" id="{A4EB651E-4FF0-A17B-BE18-B6CD6619A511}"/>
              </a:ext>
            </a:extLst>
          </p:cNvPr>
          <p:cNvSpPr txBox="1"/>
          <p:nvPr/>
        </p:nvSpPr>
        <p:spPr>
          <a:xfrm>
            <a:off x="2111533" y="3276396"/>
            <a:ext cx="1035866" cy="523220"/>
          </a:xfrm>
          <a:prstGeom prst="rect">
            <a:avLst/>
          </a:prstGeom>
          <a:noFill/>
        </p:spPr>
        <p:txBody>
          <a:bodyPr wrap="square">
            <a:spAutoFit/>
          </a:bodyPr>
          <a:lstStyle/>
          <a:p>
            <a:pPr algn="ctr"/>
            <a:r>
              <a:rPr lang="en-US" sz="2800">
                <a:latin typeface="+mj-lt"/>
              </a:rPr>
              <a:t>[1]</a:t>
            </a:r>
            <a:endParaRPr lang="en-US" sz="2800"/>
          </a:p>
        </p:txBody>
      </p:sp>
      <p:sp>
        <p:nvSpPr>
          <p:cNvPr id="26" name="Rectangle 25">
            <a:extLst>
              <a:ext uri="{FF2B5EF4-FFF2-40B4-BE49-F238E27FC236}">
                <a16:creationId xmlns:a16="http://schemas.microsoft.com/office/drawing/2014/main" id="{A323BC0A-A50B-CAB3-8A49-E5A9B860D8FE}"/>
              </a:ext>
            </a:extLst>
          </p:cNvPr>
          <p:cNvSpPr/>
          <p:nvPr/>
        </p:nvSpPr>
        <p:spPr>
          <a:xfrm>
            <a:off x="2295103" y="3824660"/>
            <a:ext cx="66872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0</a:t>
            </a:r>
            <a:endParaRPr lang="en-US" sz="2800">
              <a:solidFill>
                <a:schemeClr val="accent1"/>
              </a:solidFill>
              <a:latin typeface="Consolas" panose="020B0609020204030204" pitchFamily="49" charset="0"/>
              <a:cs typeface="Consolas" panose="020B0609020204030204" pitchFamily="49" charset="0"/>
            </a:endParaRPr>
          </a:p>
        </p:txBody>
      </p:sp>
      <p:sp>
        <p:nvSpPr>
          <p:cNvPr id="27" name="TextBox 26">
            <a:extLst>
              <a:ext uri="{FF2B5EF4-FFF2-40B4-BE49-F238E27FC236}">
                <a16:creationId xmlns:a16="http://schemas.microsoft.com/office/drawing/2014/main" id="{1523CE09-2FF5-ACD1-26A1-836E3635085E}"/>
              </a:ext>
            </a:extLst>
          </p:cNvPr>
          <p:cNvSpPr txBox="1"/>
          <p:nvPr/>
        </p:nvSpPr>
        <p:spPr>
          <a:xfrm>
            <a:off x="2781266" y="3276396"/>
            <a:ext cx="1035866" cy="523220"/>
          </a:xfrm>
          <a:prstGeom prst="rect">
            <a:avLst/>
          </a:prstGeom>
          <a:noFill/>
        </p:spPr>
        <p:txBody>
          <a:bodyPr wrap="square">
            <a:spAutoFit/>
          </a:bodyPr>
          <a:lstStyle/>
          <a:p>
            <a:pPr algn="ctr"/>
            <a:r>
              <a:rPr lang="en-US" sz="2800">
                <a:latin typeface="+mj-lt"/>
              </a:rPr>
              <a:t>[2]</a:t>
            </a:r>
            <a:endParaRPr lang="en-US" sz="2800"/>
          </a:p>
        </p:txBody>
      </p:sp>
      <p:sp>
        <p:nvSpPr>
          <p:cNvPr id="28" name="Rectangle 27">
            <a:extLst>
              <a:ext uri="{FF2B5EF4-FFF2-40B4-BE49-F238E27FC236}">
                <a16:creationId xmlns:a16="http://schemas.microsoft.com/office/drawing/2014/main" id="{BCA9EB3D-A995-F158-AC98-FC605C1ED195}"/>
              </a:ext>
            </a:extLst>
          </p:cNvPr>
          <p:cNvSpPr/>
          <p:nvPr/>
        </p:nvSpPr>
        <p:spPr>
          <a:xfrm>
            <a:off x="2964836" y="3824660"/>
            <a:ext cx="66872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0</a:t>
            </a:r>
            <a:endParaRPr lang="en-US" sz="2800">
              <a:solidFill>
                <a:schemeClr val="accent1"/>
              </a:solidFill>
              <a:latin typeface="Consolas" panose="020B0609020204030204" pitchFamily="49" charset="0"/>
              <a:cs typeface="Consolas" panose="020B0609020204030204" pitchFamily="49" charset="0"/>
            </a:endParaRPr>
          </a:p>
        </p:txBody>
      </p:sp>
      <p:sp>
        <p:nvSpPr>
          <p:cNvPr id="29" name="TextBox 28">
            <a:extLst>
              <a:ext uri="{FF2B5EF4-FFF2-40B4-BE49-F238E27FC236}">
                <a16:creationId xmlns:a16="http://schemas.microsoft.com/office/drawing/2014/main" id="{D4140AD9-E3B5-5E3E-0B62-F69C0109C58A}"/>
              </a:ext>
            </a:extLst>
          </p:cNvPr>
          <p:cNvSpPr txBox="1"/>
          <p:nvPr/>
        </p:nvSpPr>
        <p:spPr>
          <a:xfrm>
            <a:off x="3447205" y="3276396"/>
            <a:ext cx="1035866" cy="523220"/>
          </a:xfrm>
          <a:prstGeom prst="rect">
            <a:avLst/>
          </a:prstGeom>
          <a:noFill/>
        </p:spPr>
        <p:txBody>
          <a:bodyPr wrap="square">
            <a:spAutoFit/>
          </a:bodyPr>
          <a:lstStyle/>
          <a:p>
            <a:pPr algn="ctr"/>
            <a:r>
              <a:rPr lang="en-US" sz="2800">
                <a:latin typeface="+mj-lt"/>
              </a:rPr>
              <a:t>[3]</a:t>
            </a:r>
            <a:endParaRPr lang="en-US" sz="2800"/>
          </a:p>
        </p:txBody>
      </p:sp>
      <p:sp>
        <p:nvSpPr>
          <p:cNvPr id="30" name="Rectangle 29">
            <a:extLst>
              <a:ext uri="{FF2B5EF4-FFF2-40B4-BE49-F238E27FC236}">
                <a16:creationId xmlns:a16="http://schemas.microsoft.com/office/drawing/2014/main" id="{253C5283-7340-EBFB-F164-04CC62DB86DC}"/>
              </a:ext>
            </a:extLst>
          </p:cNvPr>
          <p:cNvSpPr/>
          <p:nvPr/>
        </p:nvSpPr>
        <p:spPr>
          <a:xfrm>
            <a:off x="3630775" y="3824660"/>
            <a:ext cx="66872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0</a:t>
            </a:r>
            <a:endParaRPr lang="en-US" sz="2800">
              <a:solidFill>
                <a:schemeClr val="accent1"/>
              </a:solidFill>
              <a:latin typeface="Consolas" panose="020B0609020204030204" pitchFamily="49" charset="0"/>
              <a:cs typeface="Consolas" panose="020B0609020204030204" pitchFamily="49" charset="0"/>
            </a:endParaRPr>
          </a:p>
        </p:txBody>
      </p:sp>
      <p:sp>
        <p:nvSpPr>
          <p:cNvPr id="31" name="TextBox 30">
            <a:extLst>
              <a:ext uri="{FF2B5EF4-FFF2-40B4-BE49-F238E27FC236}">
                <a16:creationId xmlns:a16="http://schemas.microsoft.com/office/drawing/2014/main" id="{238F6331-468B-1CF6-BAB2-25BA3C9D62D3}"/>
              </a:ext>
            </a:extLst>
          </p:cNvPr>
          <p:cNvSpPr txBox="1"/>
          <p:nvPr/>
        </p:nvSpPr>
        <p:spPr>
          <a:xfrm>
            <a:off x="4112852" y="3276396"/>
            <a:ext cx="1035866" cy="523220"/>
          </a:xfrm>
          <a:prstGeom prst="rect">
            <a:avLst/>
          </a:prstGeom>
          <a:noFill/>
        </p:spPr>
        <p:txBody>
          <a:bodyPr wrap="square">
            <a:spAutoFit/>
          </a:bodyPr>
          <a:lstStyle/>
          <a:p>
            <a:pPr algn="ctr"/>
            <a:r>
              <a:rPr lang="en-US" sz="2800">
                <a:latin typeface="+mj-lt"/>
              </a:rPr>
              <a:t>[4]</a:t>
            </a:r>
            <a:endParaRPr lang="en-US" sz="2800"/>
          </a:p>
        </p:txBody>
      </p:sp>
      <p:sp>
        <p:nvSpPr>
          <p:cNvPr id="32" name="Rectangle 31">
            <a:extLst>
              <a:ext uri="{FF2B5EF4-FFF2-40B4-BE49-F238E27FC236}">
                <a16:creationId xmlns:a16="http://schemas.microsoft.com/office/drawing/2014/main" id="{5FABD0EF-775A-0BEB-B080-43DB3BF1623C}"/>
              </a:ext>
            </a:extLst>
          </p:cNvPr>
          <p:cNvSpPr/>
          <p:nvPr/>
        </p:nvSpPr>
        <p:spPr>
          <a:xfrm>
            <a:off x="4296422" y="3824660"/>
            <a:ext cx="66872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8</a:t>
            </a:r>
            <a:endParaRPr lang="en-US" sz="2800">
              <a:solidFill>
                <a:schemeClr val="accent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04898088"/>
      </p:ext>
    </p:extLst>
  </p:cSld>
  <p:clrMapOvr>
    <a:masterClrMapping/>
  </p:clrMapOvr>
</p:sld>
</file>

<file path=ppt/slides/slide4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EAC4E-B052-AA9B-E4C9-920BAD0C4474}"/>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87931EF1-3A24-570A-1B6E-BDACF1E97E3F}"/>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cxnSp>
        <p:nvCxnSpPr>
          <p:cNvPr id="2" name="Straight Connector 1">
            <a:extLst>
              <a:ext uri="{FF2B5EF4-FFF2-40B4-BE49-F238E27FC236}">
                <a16:creationId xmlns:a16="http://schemas.microsoft.com/office/drawing/2014/main" id="{8ABE5B72-8844-E765-8770-9740328F4576}"/>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C3AB2100-702A-775E-0DBA-C9604A8D52F1}"/>
              </a:ext>
            </a:extLst>
          </p:cNvPr>
          <p:cNvSpPr/>
          <p:nvPr/>
        </p:nvSpPr>
        <p:spPr>
          <a:xfrm>
            <a:off x="5358530" y="-2"/>
            <a:ext cx="3785470"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800">
                <a:solidFill>
                  <a:schemeClr val="tx1"/>
                </a:solidFill>
                <a:latin typeface="+mj-lt"/>
              </a:rPr>
              <a:t>{</a:t>
            </a:r>
          </a:p>
          <a:p>
            <a:r>
              <a:rPr lang="en-US" sz="2800">
                <a:solidFill>
                  <a:srgbClr val="00007F"/>
                </a:solidFill>
                <a:latin typeface="+mj-lt"/>
              </a:rPr>
              <a:t>  int</a:t>
            </a:r>
            <a:r>
              <a:rPr lang="en-US" sz="2800">
                <a:solidFill>
                  <a:schemeClr val="tx1"/>
                </a:solidFill>
                <a:latin typeface="+mj-lt"/>
              </a:rPr>
              <a:t> a;</a:t>
            </a:r>
          </a:p>
          <a:p>
            <a:r>
              <a:rPr lang="en-US" sz="2800">
                <a:solidFill>
                  <a:schemeClr val="tx1"/>
                </a:solidFill>
                <a:latin typeface="+mj-lt"/>
              </a:rPr>
              <a:t>  a = </a:t>
            </a:r>
            <a:r>
              <a:rPr lang="en-US" sz="2800">
                <a:solidFill>
                  <a:srgbClr val="09B5B6"/>
                </a:solidFill>
                <a:latin typeface="+mj-lt"/>
              </a:rPr>
              <a:t>7</a:t>
            </a:r>
            <a:r>
              <a:rPr lang="en-US" sz="2800">
                <a:solidFill>
                  <a:schemeClr val="tx1"/>
                </a:solidFill>
                <a:latin typeface="+mj-lt"/>
              </a:rPr>
              <a:t>;</a:t>
            </a:r>
          </a:p>
          <a:p>
            <a:r>
              <a:rPr lang="en-US" sz="2800">
                <a:solidFill>
                  <a:schemeClr val="tx1"/>
                </a:solidFill>
                <a:latin typeface="+mj-lt"/>
              </a:rPr>
              <a:t>}</a:t>
            </a:r>
          </a:p>
          <a:p>
            <a:endParaRPr lang="en-US" sz="2800">
              <a:solidFill>
                <a:schemeClr val="tx1"/>
              </a:solidFill>
              <a:latin typeface="+mj-lt"/>
            </a:endParaRPr>
          </a:p>
          <a:p>
            <a:r>
              <a:rPr lang="en-US" sz="2800">
                <a:solidFill>
                  <a:schemeClr val="tx1"/>
                </a:solidFill>
                <a:latin typeface="+mj-lt"/>
              </a:rPr>
              <a:t>{</a:t>
            </a:r>
          </a:p>
          <a:p>
            <a:r>
              <a:rPr lang="en-US" sz="2800">
                <a:solidFill>
                  <a:srgbClr val="00007F"/>
                </a:solidFill>
                <a:latin typeface="+mj-lt"/>
              </a:rPr>
              <a:t>  int[]</a:t>
            </a:r>
            <a:r>
              <a:rPr lang="en-US" sz="2800">
                <a:solidFill>
                  <a:schemeClr val="tx1"/>
                </a:solidFill>
                <a:latin typeface="+mj-lt"/>
              </a:rPr>
              <a:t> b;</a:t>
            </a:r>
          </a:p>
          <a:p>
            <a:r>
              <a:rPr lang="en-US" sz="2800">
                <a:solidFill>
                  <a:schemeClr val="tx1"/>
                </a:solidFill>
                <a:latin typeface="+mj-lt"/>
              </a:rPr>
              <a:t>  b = </a:t>
            </a:r>
            <a:r>
              <a:rPr lang="en-US" sz="2800">
                <a:solidFill>
                  <a:srgbClr val="0000FF"/>
                </a:solidFill>
                <a:latin typeface="+mj-lt"/>
              </a:rPr>
              <a:t>new</a:t>
            </a:r>
            <a:r>
              <a:rPr lang="en-US" sz="2800">
                <a:solidFill>
                  <a:schemeClr val="tx1"/>
                </a:solidFill>
                <a:latin typeface="+mj-lt"/>
              </a:rPr>
              <a:t> int[</a:t>
            </a:r>
            <a:r>
              <a:rPr lang="en-US" sz="2800">
                <a:solidFill>
                  <a:srgbClr val="09B5B6"/>
                </a:solidFill>
                <a:latin typeface="+mj-lt"/>
              </a:rPr>
              <a:t>5</a:t>
            </a:r>
            <a:r>
              <a:rPr lang="en-US" sz="2800">
                <a:solidFill>
                  <a:schemeClr val="tx1"/>
                </a:solidFill>
                <a:latin typeface="+mj-lt"/>
              </a:rPr>
              <a:t>];</a:t>
            </a:r>
          </a:p>
          <a:p>
            <a:r>
              <a:rPr lang="en-US" sz="2800">
                <a:solidFill>
                  <a:srgbClr val="000000"/>
                </a:solidFill>
                <a:latin typeface="Consolas"/>
              </a:rPr>
              <a:t>  b[</a:t>
            </a:r>
            <a:r>
              <a:rPr lang="en-US" sz="2800">
                <a:solidFill>
                  <a:srgbClr val="09B5B6"/>
                </a:solidFill>
                <a:latin typeface="Consolas"/>
              </a:rPr>
              <a:t>4</a:t>
            </a:r>
            <a:r>
              <a:rPr lang="en-US" sz="2800">
                <a:solidFill>
                  <a:srgbClr val="000000"/>
                </a:solidFill>
                <a:latin typeface="Consolas"/>
              </a:rPr>
              <a:t>] = </a:t>
            </a:r>
            <a:r>
              <a:rPr lang="en-US" sz="2800">
                <a:solidFill>
                  <a:srgbClr val="09B5B6"/>
                </a:solidFill>
                <a:latin typeface="Consolas"/>
              </a:rPr>
              <a:t>8</a:t>
            </a:r>
            <a:r>
              <a:rPr lang="en-US" sz="2800">
                <a:solidFill>
                  <a:srgbClr val="000000"/>
                </a:solidFill>
                <a:latin typeface="Consolas"/>
              </a:rPr>
              <a:t>;</a:t>
            </a:r>
            <a:endParaRPr lang="en-US" sz="2800">
              <a:solidFill>
                <a:schemeClr val="tx1"/>
              </a:solidFill>
              <a:latin typeface="+mj-lt"/>
            </a:endParaRPr>
          </a:p>
          <a:p>
            <a:r>
              <a:rPr lang="en-US" sz="2800">
                <a:solidFill>
                  <a:schemeClr val="tx1"/>
                </a:solidFill>
                <a:latin typeface="+mj-lt"/>
              </a:rPr>
              <a:t>}</a:t>
            </a:r>
          </a:p>
        </p:txBody>
      </p:sp>
      <p:sp>
        <p:nvSpPr>
          <p:cNvPr id="7" name="Rectangle 6">
            <a:extLst>
              <a:ext uri="{FF2B5EF4-FFF2-40B4-BE49-F238E27FC236}">
                <a16:creationId xmlns:a16="http://schemas.microsoft.com/office/drawing/2014/main" id="{EF2EDE57-166B-841D-9397-515AAB85C393}"/>
              </a:ext>
            </a:extLst>
          </p:cNvPr>
          <p:cNvSpPr/>
          <p:nvPr/>
        </p:nvSpPr>
        <p:spPr>
          <a:xfrm>
            <a:off x="1625297" y="3824660"/>
            <a:ext cx="66872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0</a:t>
            </a:r>
            <a:endParaRPr lang="en-US" sz="2800">
              <a:solidFill>
                <a:schemeClr val="accent1"/>
              </a:solidFill>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648F15BD-17AB-F1DC-1FFD-FC8297E72CD7}"/>
              </a:ext>
            </a:extLst>
          </p:cNvPr>
          <p:cNvSpPr/>
          <p:nvPr/>
        </p:nvSpPr>
        <p:spPr>
          <a:xfrm>
            <a:off x="2295103" y="3824660"/>
            <a:ext cx="66872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0</a:t>
            </a:r>
            <a:endParaRPr lang="en-US" sz="2800">
              <a:solidFill>
                <a:schemeClr val="accent1"/>
              </a:solidFill>
              <a:latin typeface="Consolas" panose="020B0609020204030204" pitchFamily="49" charset="0"/>
              <a:cs typeface="Consolas" panose="020B0609020204030204" pitchFamily="49" charset="0"/>
            </a:endParaRPr>
          </a:p>
        </p:txBody>
      </p:sp>
      <p:sp>
        <p:nvSpPr>
          <p:cNvPr id="28" name="Rectangle 27">
            <a:extLst>
              <a:ext uri="{FF2B5EF4-FFF2-40B4-BE49-F238E27FC236}">
                <a16:creationId xmlns:a16="http://schemas.microsoft.com/office/drawing/2014/main" id="{C13B457A-627E-D083-3760-56F2C3839551}"/>
              </a:ext>
            </a:extLst>
          </p:cNvPr>
          <p:cNvSpPr/>
          <p:nvPr/>
        </p:nvSpPr>
        <p:spPr>
          <a:xfrm>
            <a:off x="2964836" y="3824660"/>
            <a:ext cx="66872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0</a:t>
            </a:r>
            <a:endParaRPr lang="en-US" sz="2800">
              <a:solidFill>
                <a:schemeClr val="accent1"/>
              </a:solidFill>
              <a:latin typeface="Consolas" panose="020B0609020204030204" pitchFamily="49" charset="0"/>
              <a:cs typeface="Consolas" panose="020B0609020204030204" pitchFamily="49" charset="0"/>
            </a:endParaRPr>
          </a:p>
        </p:txBody>
      </p:sp>
      <p:sp>
        <p:nvSpPr>
          <p:cNvPr id="30" name="Rectangle 29">
            <a:extLst>
              <a:ext uri="{FF2B5EF4-FFF2-40B4-BE49-F238E27FC236}">
                <a16:creationId xmlns:a16="http://schemas.microsoft.com/office/drawing/2014/main" id="{FFD8F241-243D-2425-C2AC-7A1010A7836C}"/>
              </a:ext>
            </a:extLst>
          </p:cNvPr>
          <p:cNvSpPr/>
          <p:nvPr/>
        </p:nvSpPr>
        <p:spPr>
          <a:xfrm>
            <a:off x="3630775" y="3824660"/>
            <a:ext cx="66872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0</a:t>
            </a:r>
            <a:endParaRPr lang="en-US" sz="2800">
              <a:solidFill>
                <a:schemeClr val="accent1"/>
              </a:solidFill>
              <a:latin typeface="Consolas" panose="020B0609020204030204" pitchFamily="49" charset="0"/>
              <a:cs typeface="Consolas" panose="020B0609020204030204" pitchFamily="49" charset="0"/>
            </a:endParaRPr>
          </a:p>
        </p:txBody>
      </p:sp>
      <p:sp>
        <p:nvSpPr>
          <p:cNvPr id="32" name="Rectangle 31">
            <a:extLst>
              <a:ext uri="{FF2B5EF4-FFF2-40B4-BE49-F238E27FC236}">
                <a16:creationId xmlns:a16="http://schemas.microsoft.com/office/drawing/2014/main" id="{DBDB1E0D-D72D-63C6-F22D-D34DAA696F57}"/>
              </a:ext>
            </a:extLst>
          </p:cNvPr>
          <p:cNvSpPr/>
          <p:nvPr/>
        </p:nvSpPr>
        <p:spPr>
          <a:xfrm>
            <a:off x="4296422" y="3824660"/>
            <a:ext cx="66872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8</a:t>
            </a:r>
            <a:endParaRPr lang="en-US" sz="2800">
              <a:solidFill>
                <a:schemeClr val="accent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014105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3D270-3EA9-4FC4-E9E3-AD2DD5680622}"/>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A6F9B304-4C3C-BA41-EEC8-F4D50B0BF276}"/>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cxnSp>
        <p:nvCxnSpPr>
          <p:cNvPr id="2" name="Straight Connector 1">
            <a:extLst>
              <a:ext uri="{FF2B5EF4-FFF2-40B4-BE49-F238E27FC236}">
                <a16:creationId xmlns:a16="http://schemas.microsoft.com/office/drawing/2014/main" id="{463967B1-9F55-93E5-0688-C87DE200391C}"/>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B433EA43-2846-E905-FEAE-C561E2AD976B}"/>
              </a:ext>
            </a:extLst>
          </p:cNvPr>
          <p:cNvSpPr/>
          <p:nvPr/>
        </p:nvSpPr>
        <p:spPr>
          <a:xfrm>
            <a:off x="5358530" y="-2"/>
            <a:ext cx="3785470"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800">
                <a:solidFill>
                  <a:schemeClr val="tx1"/>
                </a:solidFill>
                <a:latin typeface="+mj-lt"/>
              </a:rPr>
              <a:t>{</a:t>
            </a:r>
          </a:p>
          <a:p>
            <a:r>
              <a:rPr lang="en-US" sz="2800">
                <a:solidFill>
                  <a:srgbClr val="00007F"/>
                </a:solidFill>
                <a:latin typeface="+mj-lt"/>
              </a:rPr>
              <a:t>  int</a:t>
            </a:r>
            <a:r>
              <a:rPr lang="en-US" sz="2800">
                <a:solidFill>
                  <a:schemeClr val="tx1"/>
                </a:solidFill>
                <a:latin typeface="+mj-lt"/>
              </a:rPr>
              <a:t> a;</a:t>
            </a:r>
          </a:p>
          <a:p>
            <a:r>
              <a:rPr lang="en-US" sz="2800">
                <a:solidFill>
                  <a:schemeClr val="tx1"/>
                </a:solidFill>
                <a:latin typeface="+mj-lt"/>
              </a:rPr>
              <a:t>  a = </a:t>
            </a:r>
            <a:r>
              <a:rPr lang="en-US" sz="2800">
                <a:solidFill>
                  <a:srgbClr val="09B5B6"/>
                </a:solidFill>
                <a:latin typeface="+mj-lt"/>
              </a:rPr>
              <a:t>7</a:t>
            </a:r>
            <a:r>
              <a:rPr lang="en-US" sz="2800">
                <a:solidFill>
                  <a:schemeClr val="tx1"/>
                </a:solidFill>
                <a:latin typeface="+mj-lt"/>
              </a:rPr>
              <a:t>;</a:t>
            </a:r>
          </a:p>
          <a:p>
            <a:r>
              <a:rPr lang="en-US" sz="2800">
                <a:solidFill>
                  <a:schemeClr val="tx1"/>
                </a:solidFill>
                <a:latin typeface="+mj-lt"/>
              </a:rPr>
              <a:t>}</a:t>
            </a:r>
          </a:p>
          <a:p>
            <a:endParaRPr lang="en-US" sz="2800">
              <a:solidFill>
                <a:schemeClr val="tx1"/>
              </a:solidFill>
              <a:latin typeface="+mj-lt"/>
            </a:endParaRPr>
          </a:p>
          <a:p>
            <a:r>
              <a:rPr lang="en-US" sz="2800">
                <a:solidFill>
                  <a:schemeClr val="tx1"/>
                </a:solidFill>
                <a:latin typeface="+mj-lt"/>
              </a:rPr>
              <a:t>{</a:t>
            </a:r>
          </a:p>
          <a:p>
            <a:r>
              <a:rPr lang="en-US" sz="2800">
                <a:solidFill>
                  <a:srgbClr val="00007F"/>
                </a:solidFill>
                <a:latin typeface="+mj-lt"/>
              </a:rPr>
              <a:t>  int[]</a:t>
            </a:r>
            <a:r>
              <a:rPr lang="en-US" sz="2800">
                <a:solidFill>
                  <a:schemeClr val="tx1"/>
                </a:solidFill>
                <a:latin typeface="+mj-lt"/>
              </a:rPr>
              <a:t> b;</a:t>
            </a:r>
          </a:p>
          <a:p>
            <a:r>
              <a:rPr lang="en-US" sz="2800">
                <a:solidFill>
                  <a:schemeClr val="tx1"/>
                </a:solidFill>
                <a:latin typeface="+mj-lt"/>
              </a:rPr>
              <a:t>  b = </a:t>
            </a:r>
            <a:r>
              <a:rPr lang="en-US" sz="2800">
                <a:solidFill>
                  <a:srgbClr val="0000FF"/>
                </a:solidFill>
                <a:latin typeface="+mj-lt"/>
              </a:rPr>
              <a:t>new</a:t>
            </a:r>
            <a:r>
              <a:rPr lang="en-US" sz="2800">
                <a:solidFill>
                  <a:schemeClr val="tx1"/>
                </a:solidFill>
                <a:latin typeface="+mj-lt"/>
              </a:rPr>
              <a:t> int[</a:t>
            </a:r>
            <a:r>
              <a:rPr lang="en-US" sz="2800">
                <a:solidFill>
                  <a:srgbClr val="09B5B6"/>
                </a:solidFill>
                <a:latin typeface="+mj-lt"/>
              </a:rPr>
              <a:t>5</a:t>
            </a:r>
            <a:r>
              <a:rPr lang="en-US" sz="2800">
                <a:solidFill>
                  <a:schemeClr val="tx1"/>
                </a:solidFill>
                <a:latin typeface="+mj-lt"/>
              </a:rPr>
              <a:t>];</a:t>
            </a:r>
          </a:p>
          <a:p>
            <a:r>
              <a:rPr lang="en-US" sz="2800">
                <a:solidFill>
                  <a:srgbClr val="000000"/>
                </a:solidFill>
                <a:latin typeface="Consolas"/>
              </a:rPr>
              <a:t>  b[</a:t>
            </a:r>
            <a:r>
              <a:rPr lang="en-US" sz="2800">
                <a:solidFill>
                  <a:srgbClr val="09B5B6"/>
                </a:solidFill>
                <a:latin typeface="Consolas"/>
              </a:rPr>
              <a:t>4</a:t>
            </a:r>
            <a:r>
              <a:rPr lang="en-US" sz="2800">
                <a:solidFill>
                  <a:srgbClr val="000000"/>
                </a:solidFill>
                <a:latin typeface="Consolas"/>
              </a:rPr>
              <a:t>] = </a:t>
            </a:r>
            <a:r>
              <a:rPr lang="en-US" sz="2800">
                <a:solidFill>
                  <a:srgbClr val="09B5B6"/>
                </a:solidFill>
                <a:latin typeface="Consolas"/>
              </a:rPr>
              <a:t>8</a:t>
            </a:r>
            <a:r>
              <a:rPr lang="en-US" sz="2800">
                <a:solidFill>
                  <a:srgbClr val="000000"/>
                </a:solidFill>
                <a:latin typeface="Consolas"/>
              </a:rPr>
              <a:t>;</a:t>
            </a:r>
            <a:endParaRPr lang="en-US" sz="2800">
              <a:solidFill>
                <a:schemeClr val="tx1"/>
              </a:solidFill>
              <a:latin typeface="+mj-lt"/>
            </a:endParaRPr>
          </a:p>
          <a:p>
            <a:r>
              <a:rPr lang="en-US" sz="2800">
                <a:solidFill>
                  <a:schemeClr val="tx1"/>
                </a:solidFill>
                <a:latin typeface="+mj-lt"/>
              </a:rPr>
              <a:t>}</a:t>
            </a:r>
          </a:p>
        </p:txBody>
      </p:sp>
      <p:grpSp>
        <p:nvGrpSpPr>
          <p:cNvPr id="5" name="Group 4">
            <a:extLst>
              <a:ext uri="{FF2B5EF4-FFF2-40B4-BE49-F238E27FC236}">
                <a16:creationId xmlns:a16="http://schemas.microsoft.com/office/drawing/2014/main" id="{CA3D3BF3-6CD3-ECEB-3AB6-72C8E3ADD0D6}"/>
              </a:ext>
            </a:extLst>
          </p:cNvPr>
          <p:cNvGrpSpPr/>
          <p:nvPr/>
        </p:nvGrpSpPr>
        <p:grpSpPr>
          <a:xfrm>
            <a:off x="1625297" y="3824660"/>
            <a:ext cx="3339849" cy="529781"/>
            <a:chOff x="1625297" y="3824660"/>
            <a:chExt cx="3339849" cy="529781"/>
          </a:xfrm>
        </p:grpSpPr>
        <p:sp>
          <p:nvSpPr>
            <p:cNvPr id="7" name="Rectangle 6">
              <a:extLst>
                <a:ext uri="{FF2B5EF4-FFF2-40B4-BE49-F238E27FC236}">
                  <a16:creationId xmlns:a16="http://schemas.microsoft.com/office/drawing/2014/main" id="{E976B5E8-84E7-8C72-22CD-3303874BCAD1}"/>
                </a:ext>
              </a:extLst>
            </p:cNvPr>
            <p:cNvSpPr/>
            <p:nvPr/>
          </p:nvSpPr>
          <p:spPr>
            <a:xfrm>
              <a:off x="1625297" y="3824660"/>
              <a:ext cx="66872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0</a:t>
              </a:r>
              <a:endParaRPr lang="en-US" sz="2800">
                <a:solidFill>
                  <a:schemeClr val="accent1"/>
                </a:solidFill>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BFEEF60E-2CCA-E5C4-EECD-7BC47A52C795}"/>
                </a:ext>
              </a:extLst>
            </p:cNvPr>
            <p:cNvSpPr/>
            <p:nvPr/>
          </p:nvSpPr>
          <p:spPr>
            <a:xfrm>
              <a:off x="2295103" y="3824660"/>
              <a:ext cx="66872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0</a:t>
              </a:r>
              <a:endParaRPr lang="en-US" sz="2800">
                <a:solidFill>
                  <a:schemeClr val="accent1"/>
                </a:solidFill>
                <a:latin typeface="Consolas" panose="020B0609020204030204" pitchFamily="49" charset="0"/>
                <a:cs typeface="Consolas" panose="020B0609020204030204" pitchFamily="49" charset="0"/>
              </a:endParaRPr>
            </a:p>
          </p:txBody>
        </p:sp>
        <p:sp>
          <p:nvSpPr>
            <p:cNvPr id="28" name="Rectangle 27">
              <a:extLst>
                <a:ext uri="{FF2B5EF4-FFF2-40B4-BE49-F238E27FC236}">
                  <a16:creationId xmlns:a16="http://schemas.microsoft.com/office/drawing/2014/main" id="{EC89A774-2F56-0519-C7CB-5031CA337B4B}"/>
                </a:ext>
              </a:extLst>
            </p:cNvPr>
            <p:cNvSpPr/>
            <p:nvPr/>
          </p:nvSpPr>
          <p:spPr>
            <a:xfrm>
              <a:off x="2964836" y="3824660"/>
              <a:ext cx="66872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0</a:t>
              </a:r>
              <a:endParaRPr lang="en-US" sz="2800">
                <a:solidFill>
                  <a:schemeClr val="accent1"/>
                </a:solidFill>
                <a:latin typeface="Consolas" panose="020B0609020204030204" pitchFamily="49" charset="0"/>
                <a:cs typeface="Consolas" panose="020B0609020204030204" pitchFamily="49" charset="0"/>
              </a:endParaRPr>
            </a:p>
          </p:txBody>
        </p:sp>
        <p:sp>
          <p:nvSpPr>
            <p:cNvPr id="30" name="Rectangle 29">
              <a:extLst>
                <a:ext uri="{FF2B5EF4-FFF2-40B4-BE49-F238E27FC236}">
                  <a16:creationId xmlns:a16="http://schemas.microsoft.com/office/drawing/2014/main" id="{2C9C1E3C-D233-23BB-EAE3-0B0FA3D1BF91}"/>
                </a:ext>
              </a:extLst>
            </p:cNvPr>
            <p:cNvSpPr/>
            <p:nvPr/>
          </p:nvSpPr>
          <p:spPr>
            <a:xfrm>
              <a:off x="3630775" y="3824660"/>
              <a:ext cx="66872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0</a:t>
              </a:r>
              <a:endParaRPr lang="en-US" sz="2800">
                <a:solidFill>
                  <a:schemeClr val="accent1"/>
                </a:solidFill>
                <a:latin typeface="Consolas" panose="020B0609020204030204" pitchFamily="49" charset="0"/>
                <a:cs typeface="Consolas" panose="020B0609020204030204" pitchFamily="49" charset="0"/>
              </a:endParaRPr>
            </a:p>
          </p:txBody>
        </p:sp>
        <p:sp>
          <p:nvSpPr>
            <p:cNvPr id="32" name="Rectangle 31">
              <a:extLst>
                <a:ext uri="{FF2B5EF4-FFF2-40B4-BE49-F238E27FC236}">
                  <a16:creationId xmlns:a16="http://schemas.microsoft.com/office/drawing/2014/main" id="{DF4C8FD1-DED6-8D27-88C0-6C49C103EB69}"/>
                </a:ext>
              </a:extLst>
            </p:cNvPr>
            <p:cNvSpPr/>
            <p:nvPr/>
          </p:nvSpPr>
          <p:spPr>
            <a:xfrm>
              <a:off x="4296422" y="3824660"/>
              <a:ext cx="66872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8</a:t>
              </a:r>
              <a:endParaRPr lang="en-US" sz="2800">
                <a:solidFill>
                  <a:schemeClr val="accent1"/>
                </a:solidFill>
                <a:latin typeface="Consolas" panose="020B0609020204030204" pitchFamily="49" charset="0"/>
                <a:cs typeface="Consolas" panose="020B0609020204030204" pitchFamily="49" charset="0"/>
              </a:endParaRPr>
            </a:p>
          </p:txBody>
        </p:sp>
      </p:grpSp>
      <p:sp>
        <p:nvSpPr>
          <p:cNvPr id="4" name="TextBox 3">
            <a:extLst>
              <a:ext uri="{FF2B5EF4-FFF2-40B4-BE49-F238E27FC236}">
                <a16:creationId xmlns:a16="http://schemas.microsoft.com/office/drawing/2014/main" id="{DB3DC60B-DEF8-A019-B257-4D6E16DA9D6F}"/>
              </a:ext>
            </a:extLst>
          </p:cNvPr>
          <p:cNvSpPr txBox="1"/>
          <p:nvPr/>
        </p:nvSpPr>
        <p:spPr>
          <a:xfrm>
            <a:off x="2861677" y="4042684"/>
            <a:ext cx="468086" cy="1323439"/>
          </a:xfrm>
          <a:prstGeom prst="rect">
            <a:avLst/>
          </a:prstGeom>
          <a:noFill/>
        </p:spPr>
        <p:txBody>
          <a:bodyPr wrap="square">
            <a:spAutoFit/>
          </a:bodyPr>
          <a:lstStyle/>
          <a:p>
            <a:pPr algn="ctr"/>
            <a:r>
              <a:rPr kumimoji="0" lang="en-US" sz="8000" b="0" i="0" u="none" strike="noStrike" kern="1200" cap="none" spc="0" normalizeH="0" baseline="0" noProof="0">
                <a:ln>
                  <a:noFill/>
                </a:ln>
                <a:solidFill>
                  <a:srgbClr val="000000"/>
                </a:solidFill>
                <a:effectLst/>
                <a:uLnTx/>
                <a:uFillTx/>
                <a:latin typeface="Consolas"/>
                <a:ea typeface="Segoe UI Emoji" panose="020B0502040204020203" pitchFamily="34" charset="0"/>
                <a:cs typeface="+mn-cs"/>
              </a:rPr>
              <a:t>🚛</a:t>
            </a:r>
            <a:endParaRPr lang="en-US" sz="8800"/>
          </a:p>
        </p:txBody>
      </p:sp>
    </p:spTree>
    <p:extLst>
      <p:ext uri="{BB962C8B-B14F-4D97-AF65-F5344CB8AC3E}">
        <p14:creationId xmlns:p14="http://schemas.microsoft.com/office/powerpoint/2010/main" val="400778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3000" fill="hold"/>
                                        <p:tgtEl>
                                          <p:spTgt spid="4"/>
                                        </p:tgtEl>
                                        <p:attrNameLst>
                                          <p:attrName>ppt_x</p:attrName>
                                        </p:attrNameLst>
                                      </p:cBhvr>
                                      <p:tavLst>
                                        <p:tav tm="0">
                                          <p:val>
                                            <p:strVal val="1+#ppt_w/2"/>
                                          </p:val>
                                        </p:tav>
                                        <p:tav tm="100000">
                                          <p:val>
                                            <p:strVal val="#ppt_x"/>
                                          </p:val>
                                        </p:tav>
                                      </p:tavLst>
                                    </p:anim>
                                    <p:anim calcmode="lin" valueType="num">
                                      <p:cBhvr additive="base">
                                        <p:cTn id="8" dur="3000" fill="hold"/>
                                        <p:tgtEl>
                                          <p:spTgt spid="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xit" presetSubtype="8" fill="hold" grpId="1" nodeType="clickEffect">
                                  <p:stCondLst>
                                    <p:cond delay="0"/>
                                  </p:stCondLst>
                                  <p:childTnLst>
                                    <p:anim calcmode="lin" valueType="num">
                                      <p:cBhvr additive="base">
                                        <p:cTn id="12" dur="3000"/>
                                        <p:tgtEl>
                                          <p:spTgt spid="4"/>
                                        </p:tgtEl>
                                        <p:attrNameLst>
                                          <p:attrName>ppt_x</p:attrName>
                                        </p:attrNameLst>
                                      </p:cBhvr>
                                      <p:tavLst>
                                        <p:tav tm="0">
                                          <p:val>
                                            <p:strVal val="ppt_x"/>
                                          </p:val>
                                        </p:tav>
                                        <p:tav tm="100000">
                                          <p:val>
                                            <p:strVal val="0-ppt_w/2"/>
                                          </p:val>
                                        </p:tav>
                                      </p:tavLst>
                                    </p:anim>
                                    <p:anim calcmode="lin" valueType="num">
                                      <p:cBhvr additive="base">
                                        <p:cTn id="13" dur="3000"/>
                                        <p:tgtEl>
                                          <p:spTgt spid="4"/>
                                        </p:tgtEl>
                                        <p:attrNameLst>
                                          <p:attrName>ppt_y</p:attrName>
                                        </p:attrNameLst>
                                      </p:cBhvr>
                                      <p:tavLst>
                                        <p:tav tm="0">
                                          <p:val>
                                            <p:strVal val="ppt_y"/>
                                          </p:val>
                                        </p:tav>
                                        <p:tav tm="100000">
                                          <p:val>
                                            <p:strVal val="ppt_y"/>
                                          </p:val>
                                        </p:tav>
                                      </p:tavLst>
                                    </p:anim>
                                    <p:set>
                                      <p:cBhvr>
                                        <p:cTn id="14" dur="1" fill="hold">
                                          <p:stCondLst>
                                            <p:cond delay="2999"/>
                                          </p:stCondLst>
                                        </p:cTn>
                                        <p:tgtEl>
                                          <p:spTgt spid="4"/>
                                        </p:tgtEl>
                                        <p:attrNameLst>
                                          <p:attrName>style.visibility</p:attrName>
                                        </p:attrNameLst>
                                      </p:cBhvr>
                                      <p:to>
                                        <p:strVal val="hidden"/>
                                      </p:to>
                                    </p:set>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par>
                                <p:cTn id="15" presetID="2" presetClass="exit" presetSubtype="8" fill="hold" nodeType="withEffect">
                                  <p:stCondLst>
                                    <p:cond delay="0"/>
                                  </p:stCondLst>
                                  <p:childTnLst>
                                    <p:anim calcmode="lin" valueType="num">
                                      <p:cBhvr additive="base">
                                        <p:cTn id="16" dur="3000"/>
                                        <p:tgtEl>
                                          <p:spTgt spid="5"/>
                                        </p:tgtEl>
                                        <p:attrNameLst>
                                          <p:attrName>ppt_x</p:attrName>
                                        </p:attrNameLst>
                                      </p:cBhvr>
                                      <p:tavLst>
                                        <p:tav tm="0">
                                          <p:val>
                                            <p:strVal val="ppt_x"/>
                                          </p:val>
                                        </p:tav>
                                        <p:tav tm="100000">
                                          <p:val>
                                            <p:strVal val="0-ppt_w/2"/>
                                          </p:val>
                                        </p:tav>
                                      </p:tavLst>
                                    </p:anim>
                                    <p:anim calcmode="lin" valueType="num">
                                      <p:cBhvr additive="base">
                                        <p:cTn id="17" dur="3000"/>
                                        <p:tgtEl>
                                          <p:spTgt spid="5"/>
                                        </p:tgtEl>
                                        <p:attrNameLst>
                                          <p:attrName>ppt_y</p:attrName>
                                        </p:attrNameLst>
                                      </p:cBhvr>
                                      <p:tavLst>
                                        <p:tav tm="0">
                                          <p:val>
                                            <p:strVal val="ppt_y"/>
                                          </p:val>
                                        </p:tav>
                                        <p:tav tm="100000">
                                          <p:val>
                                            <p:strVal val="ppt_y"/>
                                          </p:val>
                                        </p:tav>
                                      </p:tavLst>
                                    </p:anim>
                                    <p:set>
                                      <p:cBhvr>
                                        <p:cTn id="18" dur="1" fill="hold">
                                          <p:stCondLst>
                                            <p:cond delay="29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4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DCB10-10F9-A9D7-2F08-828ED4A6AB0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8C6FB36-1B67-963A-0F14-351131D4F15F}"/>
              </a:ext>
            </a:extLst>
          </p:cNvPr>
          <p:cNvSpPr>
            <a:spLocks noGrp="1"/>
          </p:cNvSpPr>
          <p:nvPr>
            <p:ph type="title"/>
          </p:nvPr>
        </p:nvSpPr>
        <p:spPr/>
        <p:txBody>
          <a:bodyPr/>
          <a:lstStyle/>
          <a:p>
            <a:r>
              <a:rPr lang="en-US"/>
              <a:t>garbage collector</a:t>
            </a:r>
          </a:p>
        </p:txBody>
      </p:sp>
    </p:spTree>
    <p:extLst>
      <p:ext uri="{BB962C8B-B14F-4D97-AF65-F5344CB8AC3E}">
        <p14:creationId xmlns:p14="http://schemas.microsoft.com/office/powerpoint/2010/main" val="66630540"/>
      </p:ext>
    </p:extLst>
  </p:cSld>
  <p:clrMapOvr>
    <a:masterClrMapping/>
  </p:clrMapOvr>
</p:sld>
</file>

<file path=ppt/slides/slide4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13667-A03D-0BBA-5C30-FCFDEF00D72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D0E16BC-901C-ECAA-613B-148CAFED6F80}"/>
              </a:ext>
            </a:extLst>
          </p:cNvPr>
          <p:cNvSpPr>
            <a:spLocks noGrp="1"/>
          </p:cNvSpPr>
          <p:nvPr>
            <p:ph type="title"/>
          </p:nvPr>
        </p:nvSpPr>
        <p:spPr/>
        <p:txBody>
          <a:bodyPr/>
          <a:lstStyle/>
          <a:p>
            <a:r>
              <a:rPr lang="en-US"/>
              <a:t>garbage collector</a:t>
            </a:r>
          </a:p>
        </p:txBody>
      </p:sp>
      <p:sp>
        <p:nvSpPr>
          <p:cNvPr id="5" name="Content Placeholder 4">
            <a:extLst>
              <a:ext uri="{FF2B5EF4-FFF2-40B4-BE49-F238E27FC236}">
                <a16:creationId xmlns:a16="http://schemas.microsoft.com/office/drawing/2014/main" id="{F4CBA22C-04AB-D9F7-F65F-1C9B80DD2D05}"/>
              </a:ext>
            </a:extLst>
          </p:cNvPr>
          <p:cNvSpPr>
            <a:spLocks noGrp="1"/>
          </p:cNvSpPr>
          <p:nvPr>
            <p:ph sz="quarter" idx="10"/>
          </p:nvPr>
        </p:nvSpPr>
        <p:spPr/>
        <p:txBody>
          <a:bodyPr/>
          <a:lstStyle/>
          <a:p>
            <a:r>
              <a:rPr lang="en-US"/>
              <a:t>the </a:t>
            </a:r>
            <a:r>
              <a:rPr lang="en-US" b="1"/>
              <a:t>garbage</a:t>
            </a:r>
            <a:r>
              <a:rPr lang="en-US"/>
              <a:t> </a:t>
            </a:r>
            <a:r>
              <a:rPr lang="en-US" b="1"/>
              <a:t>collector</a:t>
            </a:r>
            <a:r>
              <a:rPr lang="en-US"/>
              <a:t> is like a trash truck that drives around in the heap;</a:t>
            </a:r>
            <a:br>
              <a:rPr lang="en-US"/>
            </a:br>
            <a:r>
              <a:rPr lang="en-US"/>
              <a:t>when it notices an object that your program no longer has any references to, it frees up that memory for future use</a:t>
            </a:r>
          </a:p>
          <a:p>
            <a:pPr lvl="1"/>
            <a:r>
              <a:rPr lang="en-US"/>
              <a:t>🌊 C does NOT have a garbage collector;</a:t>
            </a:r>
            <a:br>
              <a:rPr lang="en-US"/>
            </a:br>
            <a:r>
              <a:rPr lang="en-US"/>
              <a:t>in C you free heap-allocated memory yourself by calling </a:t>
            </a:r>
            <a:r>
              <a:rPr lang="en-US">
                <a:solidFill>
                  <a:srgbClr val="0000FF"/>
                </a:solidFill>
                <a:latin typeface="+mj-lt"/>
              </a:rPr>
              <a:t>free</a:t>
            </a:r>
            <a:r>
              <a:rPr lang="en-US">
                <a:latin typeface="+mj-lt"/>
              </a:rPr>
              <a:t>(</a:t>
            </a:r>
            <a:r>
              <a:rPr lang="en-US">
                <a:solidFill>
                  <a:srgbClr val="BFBFBF"/>
                </a:solidFill>
                <a:latin typeface="+mj-lt"/>
              </a:rPr>
              <a:t>...</a:t>
            </a:r>
            <a:r>
              <a:rPr lang="en-US">
                <a:latin typeface="+mj-lt"/>
              </a:rPr>
              <a:t>)</a:t>
            </a:r>
          </a:p>
        </p:txBody>
      </p:sp>
    </p:spTree>
    <p:extLst>
      <p:ext uri="{BB962C8B-B14F-4D97-AF65-F5344CB8AC3E}">
        <p14:creationId xmlns:p14="http://schemas.microsoft.com/office/powerpoint/2010/main" val="17381910"/>
      </p:ext>
    </p:extLst>
  </p:cSld>
  <p:clrMapOvr>
    <a:masterClrMapping/>
  </p:clrMapOvr>
</p:sld>
</file>

<file path=ppt/slides/slide4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E2D25F-8727-F5BA-148C-8F6394A007AD}"/>
              </a:ext>
            </a:extLst>
          </p:cNvPr>
          <p:cNvSpPr>
            <a:spLocks noGrp="1"/>
          </p:cNvSpPr>
          <p:nvPr>
            <p:ph type="title"/>
          </p:nvPr>
        </p:nvSpPr>
        <p:spPr/>
        <p:txBody>
          <a:bodyPr/>
          <a:lstStyle/>
          <a:p>
            <a:r>
              <a:rPr lang="en-US"/>
              <a:t>[review all examples at least one more time]</a:t>
            </a:r>
          </a:p>
        </p:txBody>
      </p:sp>
    </p:spTree>
    <p:extLst>
      <p:ext uri="{BB962C8B-B14F-4D97-AF65-F5344CB8AC3E}">
        <p14:creationId xmlns:p14="http://schemas.microsoft.com/office/powerpoint/2010/main" val="406085068"/>
      </p:ext>
    </p:extLst>
  </p:cSld>
  <p:clrMapOvr>
    <a:masterClrMapping/>
  </p:clrMapOvr>
</p:sld>
</file>

<file path=ppt/slides/slide4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49C8A-BDAB-E248-FB21-C99F8937A4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574129-8600-067E-7BF7-EBAED09DAB61}"/>
              </a:ext>
            </a:extLst>
          </p:cNvPr>
          <p:cNvSpPr>
            <a:spLocks noGrp="1"/>
          </p:cNvSpPr>
          <p:nvPr>
            <p:ph type="title"/>
          </p:nvPr>
        </p:nvSpPr>
        <p:spPr/>
        <p:txBody>
          <a:bodyPr/>
          <a:lstStyle/>
          <a:p>
            <a:r>
              <a:rPr lang="en-US" sz="6000"/>
              <a:t>passing arguments to functions</a:t>
            </a:r>
          </a:p>
        </p:txBody>
      </p:sp>
    </p:spTree>
    <p:extLst>
      <p:ext uri="{BB962C8B-B14F-4D97-AF65-F5344CB8AC3E}">
        <p14:creationId xmlns:p14="http://schemas.microsoft.com/office/powerpoint/2010/main" val="4287410922"/>
      </p:ext>
    </p:extLst>
  </p:cSld>
  <p:clrMapOvr>
    <a:masterClrMapping/>
  </p:clrMapOvr>
</p:sld>
</file>

<file path=ppt/slides/slide4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871F13-130C-5235-B659-4AC9FF680D29}"/>
              </a:ext>
            </a:extLst>
          </p:cNvPr>
          <p:cNvSpPr>
            <a:spLocks noGrp="1"/>
          </p:cNvSpPr>
          <p:nvPr>
            <p:ph type="title"/>
          </p:nvPr>
        </p:nvSpPr>
        <p:spPr/>
        <p:txBody>
          <a:bodyPr/>
          <a:lstStyle/>
          <a:p>
            <a:r>
              <a:rPr lang="en-US" sz="3600"/>
              <a:t>arguments to functions</a:t>
            </a:r>
            <a:br>
              <a:rPr lang="en-US" sz="3600"/>
            </a:br>
            <a:r>
              <a:rPr lang="en-US" sz="3600"/>
              <a:t>are </a:t>
            </a:r>
            <a:r>
              <a:rPr lang="en-US" sz="3600" b="1"/>
              <a:t>passed by value</a:t>
            </a:r>
            <a:br>
              <a:rPr lang="en-US" sz="3600" b="1"/>
            </a:br>
            <a:br>
              <a:rPr lang="en-US" sz="3600"/>
            </a:br>
            <a:r>
              <a:rPr lang="en-US" sz="3600"/>
              <a:t>(a copy of the) value of the primitive</a:t>
            </a:r>
            <a:br>
              <a:rPr lang="en-US" sz="3600"/>
            </a:br>
            <a:r>
              <a:rPr lang="en-US" sz="3600"/>
              <a:t>or</a:t>
            </a:r>
            <a:br>
              <a:rPr lang="en-US" sz="3600"/>
            </a:br>
            <a:r>
              <a:rPr lang="en-US" sz="3600"/>
              <a:t>(a copy of the) value of the reference</a:t>
            </a:r>
            <a:endParaRPr lang="en-US" sz="3600" b="1"/>
          </a:p>
        </p:txBody>
      </p:sp>
    </p:spTree>
    <p:extLst>
      <p:ext uri="{BB962C8B-B14F-4D97-AF65-F5344CB8AC3E}">
        <p14:creationId xmlns:p14="http://schemas.microsoft.com/office/powerpoint/2010/main" val="1664770070"/>
      </p:ext>
    </p:extLst>
  </p:cSld>
  <p:clrMapOvr>
    <a:masterClrMapping/>
  </p:clrMapOvr>
</p:sld>
</file>

<file path=ppt/slides/slide4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BE02475-E8EE-C772-9702-1F8963B1133F}"/>
              </a:ext>
            </a:extLst>
          </p:cNvPr>
          <p:cNvSpPr>
            <a:spLocks noGrp="1"/>
          </p:cNvSpPr>
          <p:nvPr>
            <p:ph type="title"/>
          </p:nvPr>
        </p:nvSpPr>
        <p:spPr/>
        <p:txBody>
          <a:bodyPr/>
          <a:lstStyle/>
          <a:p>
            <a:r>
              <a:rPr lang="en-US"/>
              <a:t>primitives are</a:t>
            </a:r>
            <a:br>
              <a:rPr lang="en-US"/>
            </a:br>
            <a:r>
              <a:rPr lang="en-US"/>
              <a:t>passed by value</a:t>
            </a:r>
          </a:p>
        </p:txBody>
      </p:sp>
    </p:spTree>
    <p:extLst>
      <p:ext uri="{BB962C8B-B14F-4D97-AF65-F5344CB8AC3E}">
        <p14:creationId xmlns:p14="http://schemas.microsoft.com/office/powerpoint/2010/main" val="3360461921"/>
      </p:ext>
    </p:extLst>
  </p:cSld>
  <p:clrMapOvr>
    <a:masterClrMapping/>
  </p:clrMapOvr>
</p:sld>
</file>

<file path=ppt/slides/slide4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355D2-81B1-C84B-6B3F-D783B7F131C0}"/>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A3D13AD0-B962-FD23-4C81-B2F815CF8C06}"/>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14E251B3-9C30-9FDD-A79F-1133C3D52725}"/>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C800D527-B42D-FAA9-44ED-FBA66EA460B9}"/>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latin typeface="+mj-lt"/>
              </a:rPr>
              <a:t>void foo(</a:t>
            </a:r>
            <a:r>
              <a:rPr lang="en-US" sz="2000">
                <a:solidFill>
                  <a:srgbClr val="00007F"/>
                </a:solidFill>
                <a:latin typeface="+mj-lt"/>
              </a:rPr>
              <a:t>int</a:t>
            </a:r>
            <a:r>
              <a:rPr lang="en-US" sz="2000">
                <a:solidFill>
                  <a:schemeClr val="tx1"/>
                </a:solidFill>
                <a:latin typeface="+mj-lt"/>
              </a:rPr>
              <a:t> a) {</a:t>
            </a:r>
          </a:p>
          <a:p>
            <a:r>
              <a:rPr lang="en-US" sz="2000">
                <a:solidFill>
                  <a:schemeClr val="tx1"/>
                </a:solidFill>
                <a:latin typeface="+mj-lt"/>
              </a:rPr>
              <a:t>    a = </a:t>
            </a:r>
            <a:r>
              <a:rPr lang="en-US" sz="2000">
                <a:solidFill>
                  <a:srgbClr val="09B5B6"/>
                </a:solidFill>
                <a:latin typeface="+mj-lt"/>
              </a:rPr>
              <a:t>8</a:t>
            </a:r>
            <a:r>
              <a:rPr lang="en-US" sz="2000">
                <a:solidFill>
                  <a:schemeClr val="tx1"/>
                </a:solidFill>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chemeClr val="tx1"/>
                </a:solidFill>
                <a:latin typeface="+mj-lt"/>
              </a:rPr>
              <a:t>    </a:t>
            </a:r>
            <a:r>
              <a:rPr lang="en-US" sz="2000">
                <a:solidFill>
                  <a:srgbClr val="00007F"/>
                </a:solidFill>
                <a:latin typeface="+mj-lt"/>
              </a:rPr>
              <a:t>int</a:t>
            </a:r>
            <a:r>
              <a:rPr lang="en-US" sz="2000">
                <a:solidFill>
                  <a:schemeClr val="tx1"/>
                </a:solidFill>
                <a:latin typeface="+mj-lt"/>
              </a:rPr>
              <a:t> a = </a:t>
            </a:r>
            <a:r>
              <a:rPr lang="en-US" sz="2000">
                <a:solidFill>
                  <a:srgbClr val="09B5B6"/>
                </a:solidFill>
                <a:latin typeface="+mj-lt"/>
              </a:rPr>
              <a:t>7</a:t>
            </a:r>
            <a:r>
              <a:rPr lang="en-US" sz="2000">
                <a:solidFill>
                  <a:schemeClr val="tx1"/>
                </a:solidFill>
                <a:latin typeface="+mj-lt"/>
              </a:rPr>
              <a:t>;</a:t>
            </a:r>
          </a:p>
          <a:p>
            <a:r>
              <a:rPr lang="en-US" sz="2000">
                <a:solidFill>
                  <a:schemeClr val="tx1"/>
                </a:solidFill>
                <a:latin typeface="+mj-lt"/>
              </a:rPr>
              <a:t>    foo(a);</a:t>
            </a:r>
          </a:p>
          <a:p>
            <a:r>
              <a:rPr lang="en-US" sz="2000">
                <a:solidFill>
                  <a:schemeClr val="tx1"/>
                </a:solidFill>
                <a:latin typeface="+mj-lt"/>
              </a:rPr>
              <a:t>}</a:t>
            </a:r>
          </a:p>
          <a:p>
            <a:endParaRPr lang="en-US" sz="2000">
              <a:solidFill>
                <a:schemeClr val="tx1"/>
              </a:solidFill>
              <a:latin typeface="+mj-lt"/>
            </a:endParaRPr>
          </a:p>
        </p:txBody>
      </p:sp>
    </p:spTree>
    <p:extLst>
      <p:ext uri="{BB962C8B-B14F-4D97-AF65-F5344CB8AC3E}">
        <p14:creationId xmlns:p14="http://schemas.microsoft.com/office/powerpoint/2010/main" val="2417286209"/>
      </p:ext>
    </p:extLst>
  </p:cSld>
  <p:clrMapOvr>
    <a:masterClrMapping/>
  </p:clrMapOvr>
</p:sld>
</file>

<file path=ppt/slides/slide4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97057-4969-5235-83D7-717E2608774B}"/>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2A05ACA2-E00D-70B6-9496-55F087C19D83}"/>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3CBBE700-2237-A4A3-3A9A-7A5CF9744896}"/>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284B00D2-8E3A-6E38-5DC6-741E84935841}"/>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latin typeface="+mj-lt"/>
              </a:rPr>
              <a:t>void foo(</a:t>
            </a:r>
            <a:r>
              <a:rPr lang="en-US" sz="2000">
                <a:solidFill>
                  <a:srgbClr val="00007F"/>
                </a:solidFill>
                <a:latin typeface="+mj-lt"/>
              </a:rPr>
              <a:t>int</a:t>
            </a:r>
            <a:r>
              <a:rPr lang="en-US" sz="2000">
                <a:solidFill>
                  <a:schemeClr val="tx1"/>
                </a:solidFill>
                <a:latin typeface="+mj-lt"/>
              </a:rPr>
              <a:t> a) {</a:t>
            </a:r>
          </a:p>
          <a:p>
            <a:r>
              <a:rPr lang="en-US" sz="2000">
                <a:solidFill>
                  <a:schemeClr val="tx1"/>
                </a:solidFill>
                <a:latin typeface="+mj-lt"/>
              </a:rPr>
              <a:t>    a = </a:t>
            </a:r>
            <a:r>
              <a:rPr lang="en-US" sz="2000">
                <a:solidFill>
                  <a:srgbClr val="09B5B6"/>
                </a:solidFill>
                <a:latin typeface="+mj-lt"/>
              </a:rPr>
              <a:t>8</a:t>
            </a:r>
            <a:r>
              <a:rPr lang="en-US" sz="2000">
                <a:solidFill>
                  <a:schemeClr val="tx1"/>
                </a:solidFill>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highlight>
                  <a:srgbClr val="FFFF00"/>
                </a:highlight>
                <a:latin typeface="+mj-lt"/>
              </a:rPr>
              <a:t>void main() {</a:t>
            </a:r>
          </a:p>
          <a:p>
            <a:r>
              <a:rPr lang="en-US" sz="2000">
                <a:solidFill>
                  <a:srgbClr val="00007F"/>
                </a:solidFill>
                <a:latin typeface="+mj-lt"/>
              </a:rPr>
              <a:t>    int</a:t>
            </a:r>
            <a:r>
              <a:rPr lang="en-US" sz="2000">
                <a:solidFill>
                  <a:schemeClr val="tx1"/>
                </a:solidFill>
                <a:latin typeface="+mj-lt"/>
              </a:rPr>
              <a:t> a = </a:t>
            </a:r>
            <a:r>
              <a:rPr lang="en-US" sz="2000">
                <a:solidFill>
                  <a:srgbClr val="09B5B6"/>
                </a:solidFill>
                <a:latin typeface="+mj-lt"/>
              </a:rPr>
              <a:t>7</a:t>
            </a:r>
            <a:r>
              <a:rPr lang="en-US" sz="2000">
                <a:solidFill>
                  <a:schemeClr val="tx1"/>
                </a:solidFill>
                <a:latin typeface="+mj-lt"/>
              </a:rPr>
              <a:t>;</a:t>
            </a:r>
          </a:p>
          <a:p>
            <a:r>
              <a:rPr lang="en-US" sz="2000">
                <a:solidFill>
                  <a:schemeClr val="tx1"/>
                </a:solidFill>
                <a:latin typeface="+mj-lt"/>
              </a:rPr>
              <a:t>    foo(a);</a:t>
            </a:r>
          </a:p>
          <a:p>
            <a:r>
              <a:rPr lang="en-US" sz="2000">
                <a:solidFill>
                  <a:schemeClr val="tx1"/>
                </a:solidFill>
                <a:latin typeface="+mj-lt"/>
              </a:rPr>
              <a:t>}</a:t>
            </a:r>
          </a:p>
          <a:p>
            <a:endParaRPr lang="en-US" sz="2000">
              <a:solidFill>
                <a:schemeClr val="tx1"/>
              </a:solidFill>
              <a:latin typeface="+mj-lt"/>
            </a:endParaRPr>
          </a:p>
        </p:txBody>
      </p:sp>
      <p:grpSp>
        <p:nvGrpSpPr>
          <p:cNvPr id="9" name="Group 8">
            <a:extLst>
              <a:ext uri="{FF2B5EF4-FFF2-40B4-BE49-F238E27FC236}">
                <a16:creationId xmlns:a16="http://schemas.microsoft.com/office/drawing/2014/main" id="{A54B4F62-D69F-6F5D-F71F-988ED26E84A3}"/>
              </a:ext>
            </a:extLst>
          </p:cNvPr>
          <p:cNvGrpSpPr/>
          <p:nvPr/>
        </p:nvGrpSpPr>
        <p:grpSpPr>
          <a:xfrm>
            <a:off x="372798" y="371008"/>
            <a:ext cx="3400547" cy="1874745"/>
            <a:chOff x="247891" y="497710"/>
            <a:chExt cx="2402712" cy="1874745"/>
          </a:xfrm>
        </p:grpSpPr>
        <p:sp>
          <p:nvSpPr>
            <p:cNvPr id="5" name="Rectangle 4">
              <a:extLst>
                <a:ext uri="{FF2B5EF4-FFF2-40B4-BE49-F238E27FC236}">
                  <a16:creationId xmlns:a16="http://schemas.microsoft.com/office/drawing/2014/main" id="{7B759399-A743-A3DE-34ED-CFCE93FFCD39}"/>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8" name="TextBox 7">
              <a:extLst>
                <a:ext uri="{FF2B5EF4-FFF2-40B4-BE49-F238E27FC236}">
                  <a16:creationId xmlns:a16="http://schemas.microsoft.com/office/drawing/2014/main" id="{56B2F412-73F0-154E-D3C7-D23F09970E44}"/>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main</a:t>
              </a:r>
            </a:p>
          </p:txBody>
        </p:sp>
      </p:grpSp>
    </p:spTree>
    <p:extLst>
      <p:ext uri="{BB962C8B-B14F-4D97-AF65-F5344CB8AC3E}">
        <p14:creationId xmlns:p14="http://schemas.microsoft.com/office/powerpoint/2010/main" val="4007900284"/>
      </p:ext>
    </p:extLst>
  </p:cSld>
  <p:clrMapOvr>
    <a:masterClrMapping/>
  </p:clrMapOvr>
  <p:transition>
    <p:fade/>
  </p:transition>
</p:sld>
</file>

<file path=ppt/slides/slide4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31DF3-1995-6072-84B8-563C35CB4AB5}"/>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7212190E-A974-11F1-AC47-F91B08ADB597}"/>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6A5AD64C-523F-80EB-5B45-7B81883131F7}"/>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C7060046-F56E-DDF3-F345-8FA7F74F2231}"/>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latin typeface="+mj-lt"/>
              </a:rPr>
              <a:t>void foo(</a:t>
            </a:r>
            <a:r>
              <a:rPr lang="en-US" sz="2000">
                <a:solidFill>
                  <a:srgbClr val="00007F"/>
                </a:solidFill>
                <a:latin typeface="+mj-lt"/>
              </a:rPr>
              <a:t>int</a:t>
            </a:r>
            <a:r>
              <a:rPr lang="en-US" sz="2000">
                <a:solidFill>
                  <a:schemeClr val="tx1"/>
                </a:solidFill>
                <a:latin typeface="+mj-lt"/>
              </a:rPr>
              <a:t> a) {</a:t>
            </a:r>
          </a:p>
          <a:p>
            <a:r>
              <a:rPr lang="en-US" sz="2000">
                <a:solidFill>
                  <a:schemeClr val="tx1"/>
                </a:solidFill>
                <a:latin typeface="+mj-lt"/>
              </a:rPr>
              <a:t>    a = </a:t>
            </a:r>
            <a:r>
              <a:rPr lang="en-US" sz="2000">
                <a:solidFill>
                  <a:srgbClr val="09B5B6"/>
                </a:solidFill>
                <a:latin typeface="+mj-lt"/>
              </a:rPr>
              <a:t>8</a:t>
            </a:r>
            <a:r>
              <a:rPr lang="en-US" sz="2000">
                <a:solidFill>
                  <a:schemeClr val="tx1"/>
                </a:solidFill>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rgbClr val="00007F"/>
                </a:solidFill>
                <a:highlight>
                  <a:srgbClr val="FFFF00"/>
                </a:highlight>
                <a:latin typeface="+mj-lt"/>
              </a:rPr>
              <a:t>    int</a:t>
            </a:r>
            <a:r>
              <a:rPr lang="en-US" sz="2000">
                <a:solidFill>
                  <a:schemeClr val="tx1"/>
                </a:solidFill>
                <a:highlight>
                  <a:srgbClr val="FFFF00"/>
                </a:highlight>
                <a:latin typeface="+mj-lt"/>
              </a:rPr>
              <a:t> a = </a:t>
            </a:r>
            <a:r>
              <a:rPr lang="en-US" sz="2000">
                <a:solidFill>
                  <a:srgbClr val="09B5B6"/>
                </a:solidFill>
                <a:highlight>
                  <a:srgbClr val="FFFF00"/>
                </a:highlight>
                <a:latin typeface="+mj-lt"/>
              </a:rPr>
              <a:t>7</a:t>
            </a:r>
            <a:r>
              <a:rPr lang="en-US" sz="2000">
                <a:solidFill>
                  <a:schemeClr val="tx1"/>
                </a:solidFill>
                <a:highlight>
                  <a:srgbClr val="FFFF00"/>
                </a:highlight>
                <a:latin typeface="+mj-lt"/>
              </a:rPr>
              <a:t>;</a:t>
            </a:r>
          </a:p>
          <a:p>
            <a:r>
              <a:rPr lang="en-US" sz="2000">
                <a:solidFill>
                  <a:schemeClr val="tx1"/>
                </a:solidFill>
                <a:latin typeface="+mj-lt"/>
              </a:rPr>
              <a:t>    foo(a);</a:t>
            </a:r>
          </a:p>
          <a:p>
            <a:r>
              <a:rPr lang="en-US" sz="2000">
                <a:solidFill>
                  <a:schemeClr val="tx1"/>
                </a:solidFill>
                <a:latin typeface="+mj-lt"/>
              </a:rPr>
              <a:t>}</a:t>
            </a:r>
          </a:p>
          <a:p>
            <a:endParaRPr lang="en-US" sz="2000">
              <a:solidFill>
                <a:schemeClr val="tx1"/>
              </a:solidFill>
              <a:latin typeface="+mj-lt"/>
            </a:endParaRPr>
          </a:p>
        </p:txBody>
      </p:sp>
      <p:grpSp>
        <p:nvGrpSpPr>
          <p:cNvPr id="9" name="Group 8">
            <a:extLst>
              <a:ext uri="{FF2B5EF4-FFF2-40B4-BE49-F238E27FC236}">
                <a16:creationId xmlns:a16="http://schemas.microsoft.com/office/drawing/2014/main" id="{0BA76A11-FD08-FB97-4285-5481046F62A8}"/>
              </a:ext>
            </a:extLst>
          </p:cNvPr>
          <p:cNvGrpSpPr/>
          <p:nvPr/>
        </p:nvGrpSpPr>
        <p:grpSpPr>
          <a:xfrm>
            <a:off x="372798" y="371008"/>
            <a:ext cx="3400547" cy="1874745"/>
            <a:chOff x="247891" y="497710"/>
            <a:chExt cx="2402712" cy="1874745"/>
          </a:xfrm>
        </p:grpSpPr>
        <p:sp>
          <p:nvSpPr>
            <p:cNvPr id="5" name="Rectangle 4">
              <a:extLst>
                <a:ext uri="{FF2B5EF4-FFF2-40B4-BE49-F238E27FC236}">
                  <a16:creationId xmlns:a16="http://schemas.microsoft.com/office/drawing/2014/main" id="{51E910AC-D0B4-186F-376A-3D10AFDD327D}"/>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8" name="TextBox 7">
              <a:extLst>
                <a:ext uri="{FF2B5EF4-FFF2-40B4-BE49-F238E27FC236}">
                  <a16:creationId xmlns:a16="http://schemas.microsoft.com/office/drawing/2014/main" id="{BCEF92F9-9C69-2108-5996-EFDBECFC0F3E}"/>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main</a:t>
              </a:r>
            </a:p>
          </p:txBody>
        </p:sp>
      </p:grpSp>
      <p:sp>
        <p:nvSpPr>
          <p:cNvPr id="4" name="Rectangle 3">
            <a:extLst>
              <a:ext uri="{FF2B5EF4-FFF2-40B4-BE49-F238E27FC236}">
                <a16:creationId xmlns:a16="http://schemas.microsoft.com/office/drawing/2014/main" id="{C07C4E58-A003-A43D-1BF8-9D8FE7EBD204}"/>
              </a:ext>
            </a:extLst>
          </p:cNvPr>
          <p:cNvSpPr/>
          <p:nvPr/>
        </p:nvSpPr>
        <p:spPr>
          <a:xfrm>
            <a:off x="1444047" y="1043490"/>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highlight>
                  <a:srgbClr val="FFFF00"/>
                </a:highlight>
                <a:latin typeface="+mj-lt"/>
              </a:rPr>
              <a:t>7</a:t>
            </a:r>
            <a:endParaRPr lang="en-US" sz="2800">
              <a:solidFill>
                <a:srgbClr val="F80B8D"/>
              </a:solidFill>
              <a:highlight>
                <a:srgbClr val="FFFF00"/>
              </a:highlight>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9AF5A9B4-0A8F-1B62-AD58-6E5E707EC19E}"/>
              </a:ext>
            </a:extLst>
          </p:cNvPr>
          <p:cNvSpPr txBox="1"/>
          <p:nvPr/>
        </p:nvSpPr>
        <p:spPr>
          <a:xfrm>
            <a:off x="1669683" y="458714"/>
            <a:ext cx="584592" cy="584775"/>
          </a:xfrm>
          <a:prstGeom prst="rect">
            <a:avLst/>
          </a:prstGeom>
          <a:noFill/>
        </p:spPr>
        <p:txBody>
          <a:bodyPr wrap="square">
            <a:spAutoFit/>
          </a:bodyPr>
          <a:lstStyle/>
          <a:p>
            <a:pPr algn="ctr"/>
            <a:r>
              <a:rPr lang="en-US" sz="3200">
                <a:latin typeface="+mj-lt"/>
              </a:rPr>
              <a:t>a</a:t>
            </a:r>
            <a:endParaRPr lang="en-US" sz="3200"/>
          </a:p>
        </p:txBody>
      </p:sp>
    </p:spTree>
    <p:extLst>
      <p:ext uri="{BB962C8B-B14F-4D97-AF65-F5344CB8AC3E}">
        <p14:creationId xmlns:p14="http://schemas.microsoft.com/office/powerpoint/2010/main" val="20990861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9347D-22E7-6DA4-7AFD-AF050FCB669C}"/>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97122C09-7971-29DF-7BCF-18CE418231CA}"/>
              </a:ext>
            </a:extLst>
          </p:cNvPr>
          <p:cNvGrpSpPr/>
          <p:nvPr/>
        </p:nvGrpSpPr>
        <p:grpSpPr>
          <a:xfrm>
            <a:off x="372798" y="371008"/>
            <a:ext cx="3400547" cy="1874745"/>
            <a:chOff x="247891" y="497710"/>
            <a:chExt cx="2402712" cy="1874745"/>
          </a:xfrm>
        </p:grpSpPr>
        <p:sp>
          <p:nvSpPr>
            <p:cNvPr id="5" name="Rectangle 4">
              <a:extLst>
                <a:ext uri="{FF2B5EF4-FFF2-40B4-BE49-F238E27FC236}">
                  <a16:creationId xmlns:a16="http://schemas.microsoft.com/office/drawing/2014/main" id="{E16F6A6F-5394-613A-E35B-186CFF16FD7C}"/>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8" name="TextBox 7">
              <a:extLst>
                <a:ext uri="{FF2B5EF4-FFF2-40B4-BE49-F238E27FC236}">
                  <a16:creationId xmlns:a16="http://schemas.microsoft.com/office/drawing/2014/main" id="{4E892C0E-642D-53BA-BAFC-D333ABC7FA1A}"/>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main</a:t>
              </a:r>
            </a:p>
          </p:txBody>
        </p:sp>
      </p:grpSp>
      <p:sp>
        <p:nvSpPr>
          <p:cNvPr id="11" name="TextBox 10">
            <a:extLst>
              <a:ext uri="{FF2B5EF4-FFF2-40B4-BE49-F238E27FC236}">
                <a16:creationId xmlns:a16="http://schemas.microsoft.com/office/drawing/2014/main" id="{D7EBD698-1141-ED4C-5459-CBEFB24DEC8D}"/>
              </a:ext>
            </a:extLst>
          </p:cNvPr>
          <p:cNvSpPr txBox="1"/>
          <p:nvPr/>
        </p:nvSpPr>
        <p:spPr>
          <a:xfrm>
            <a:off x="1669683" y="458714"/>
            <a:ext cx="584592" cy="584775"/>
          </a:xfrm>
          <a:prstGeom prst="rect">
            <a:avLst/>
          </a:prstGeom>
          <a:noFill/>
        </p:spPr>
        <p:txBody>
          <a:bodyPr wrap="square">
            <a:spAutoFit/>
          </a:bodyPr>
          <a:lstStyle/>
          <a:p>
            <a:pPr algn="ctr"/>
            <a:r>
              <a:rPr lang="en-US" sz="3200">
                <a:latin typeface="+mj-lt"/>
              </a:rPr>
              <a:t>a</a:t>
            </a:r>
            <a:endParaRPr lang="en-US" sz="3200"/>
          </a:p>
        </p:txBody>
      </p:sp>
      <p:sp>
        <p:nvSpPr>
          <p:cNvPr id="22" name="Rectangle 21">
            <a:extLst>
              <a:ext uri="{FF2B5EF4-FFF2-40B4-BE49-F238E27FC236}">
                <a16:creationId xmlns:a16="http://schemas.microsoft.com/office/drawing/2014/main" id="{5A65EFE3-9A9C-A0C3-E596-3D12AFA1ADFB}"/>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42157B1F-5334-76BB-A193-829ACAEA9689}"/>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C3C719D9-B3ED-A374-ACAF-9A34093B5159}"/>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latin typeface="+mj-lt"/>
              </a:rPr>
              <a:t>void foo(</a:t>
            </a:r>
            <a:r>
              <a:rPr lang="en-US" sz="2000">
                <a:solidFill>
                  <a:srgbClr val="00007F"/>
                </a:solidFill>
                <a:latin typeface="+mj-lt"/>
              </a:rPr>
              <a:t>int</a:t>
            </a:r>
            <a:r>
              <a:rPr lang="en-US" sz="2000">
                <a:solidFill>
                  <a:schemeClr val="tx1"/>
                </a:solidFill>
                <a:latin typeface="+mj-lt"/>
              </a:rPr>
              <a:t> a) {</a:t>
            </a:r>
          </a:p>
          <a:p>
            <a:r>
              <a:rPr lang="en-US" sz="2000">
                <a:solidFill>
                  <a:schemeClr val="tx1"/>
                </a:solidFill>
                <a:latin typeface="+mj-lt"/>
              </a:rPr>
              <a:t>    a = </a:t>
            </a:r>
            <a:r>
              <a:rPr lang="en-US" sz="2000">
                <a:solidFill>
                  <a:srgbClr val="09B5B6"/>
                </a:solidFill>
                <a:latin typeface="+mj-lt"/>
              </a:rPr>
              <a:t>8</a:t>
            </a:r>
            <a:r>
              <a:rPr lang="en-US" sz="2000">
                <a:solidFill>
                  <a:schemeClr val="tx1"/>
                </a:solidFill>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rgbClr val="00007F"/>
                </a:solidFill>
                <a:latin typeface="+mj-lt"/>
              </a:rPr>
              <a:t>    int</a:t>
            </a:r>
            <a:r>
              <a:rPr lang="en-US" sz="2000">
                <a:solidFill>
                  <a:schemeClr val="tx1"/>
                </a:solidFill>
                <a:latin typeface="+mj-lt"/>
              </a:rPr>
              <a:t> a = </a:t>
            </a:r>
            <a:r>
              <a:rPr lang="en-US" sz="2000">
                <a:solidFill>
                  <a:srgbClr val="09B5B6"/>
                </a:solidFill>
                <a:latin typeface="+mj-lt"/>
              </a:rPr>
              <a:t>7</a:t>
            </a:r>
            <a:r>
              <a:rPr lang="en-US" sz="2000">
                <a:solidFill>
                  <a:schemeClr val="tx1"/>
                </a:solidFill>
                <a:latin typeface="+mj-lt"/>
              </a:rPr>
              <a:t>;</a:t>
            </a:r>
          </a:p>
          <a:p>
            <a:r>
              <a:rPr lang="en-US" sz="2000">
                <a:solidFill>
                  <a:schemeClr val="tx1"/>
                </a:solidFill>
                <a:highlight>
                  <a:srgbClr val="FFFF00"/>
                </a:highlight>
                <a:latin typeface="+mj-lt"/>
              </a:rPr>
              <a:t>    foo(a);</a:t>
            </a:r>
          </a:p>
          <a:p>
            <a:r>
              <a:rPr lang="en-US" sz="2000">
                <a:solidFill>
                  <a:schemeClr val="tx1"/>
                </a:solidFill>
                <a:latin typeface="+mj-lt"/>
              </a:rPr>
              <a:t>}</a:t>
            </a:r>
          </a:p>
          <a:p>
            <a:endParaRPr lang="en-US" sz="2000">
              <a:solidFill>
                <a:schemeClr val="tx1"/>
              </a:solidFill>
              <a:latin typeface="+mj-lt"/>
            </a:endParaRPr>
          </a:p>
        </p:txBody>
      </p:sp>
      <p:sp>
        <p:nvSpPr>
          <p:cNvPr id="4" name="Rectangle 3">
            <a:extLst>
              <a:ext uri="{FF2B5EF4-FFF2-40B4-BE49-F238E27FC236}">
                <a16:creationId xmlns:a16="http://schemas.microsoft.com/office/drawing/2014/main" id="{4B866CF8-22A9-EB3C-5492-B3FF4C33CD73}"/>
              </a:ext>
            </a:extLst>
          </p:cNvPr>
          <p:cNvSpPr/>
          <p:nvPr/>
        </p:nvSpPr>
        <p:spPr>
          <a:xfrm>
            <a:off x="1444047" y="1043490"/>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7</a:t>
            </a:r>
            <a:endParaRPr lang="en-US" sz="2800">
              <a:solidFill>
                <a:srgbClr val="F80B8D"/>
              </a:solidFill>
              <a:latin typeface="Consolas" panose="020B0609020204030204" pitchFamily="49" charset="0"/>
              <a:cs typeface="Consolas" panose="020B0609020204030204" pitchFamily="49" charset="0"/>
            </a:endParaRPr>
          </a:p>
        </p:txBody>
      </p:sp>
      <p:grpSp>
        <p:nvGrpSpPr>
          <p:cNvPr id="6" name="Group 5">
            <a:extLst>
              <a:ext uri="{FF2B5EF4-FFF2-40B4-BE49-F238E27FC236}">
                <a16:creationId xmlns:a16="http://schemas.microsoft.com/office/drawing/2014/main" id="{7BD018BC-6C03-EB0A-C12C-48BB225EA042}"/>
              </a:ext>
            </a:extLst>
          </p:cNvPr>
          <p:cNvGrpSpPr/>
          <p:nvPr/>
        </p:nvGrpSpPr>
        <p:grpSpPr>
          <a:xfrm>
            <a:off x="991886" y="106117"/>
            <a:ext cx="3400547" cy="1874745"/>
            <a:chOff x="247891" y="497710"/>
            <a:chExt cx="2402712" cy="1874745"/>
          </a:xfrm>
        </p:grpSpPr>
        <p:sp>
          <p:nvSpPr>
            <p:cNvPr id="7" name="Rectangle 6">
              <a:extLst>
                <a:ext uri="{FF2B5EF4-FFF2-40B4-BE49-F238E27FC236}">
                  <a16:creationId xmlns:a16="http://schemas.microsoft.com/office/drawing/2014/main" id="{7D06B3FF-FC11-1900-08ED-706C26240042}"/>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10" name="TextBox 9">
              <a:extLst>
                <a:ext uri="{FF2B5EF4-FFF2-40B4-BE49-F238E27FC236}">
                  <a16:creationId xmlns:a16="http://schemas.microsoft.com/office/drawing/2014/main" id="{2575F594-C670-9C0D-3EE4-711C02241C08}"/>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foo</a:t>
              </a:r>
            </a:p>
          </p:txBody>
        </p:sp>
      </p:grpSp>
    </p:spTree>
    <p:extLst>
      <p:ext uri="{BB962C8B-B14F-4D97-AF65-F5344CB8AC3E}">
        <p14:creationId xmlns:p14="http://schemas.microsoft.com/office/powerpoint/2010/main" val="1692879079"/>
      </p:ext>
    </p:extLst>
  </p:cSld>
  <p:clrMapOvr>
    <a:masterClrMapping/>
  </p:clrMapOvr>
  <p:transition>
    <p:fade/>
  </p:transition>
</p:sld>
</file>

<file path=ppt/slides/slide4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79613-7CCE-E4EC-18C0-B52D20589E6A}"/>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0A987436-EF4E-56E2-3098-3945F93D7537}"/>
              </a:ext>
            </a:extLst>
          </p:cNvPr>
          <p:cNvGrpSpPr/>
          <p:nvPr/>
        </p:nvGrpSpPr>
        <p:grpSpPr>
          <a:xfrm>
            <a:off x="372798" y="371008"/>
            <a:ext cx="3400547" cy="1874745"/>
            <a:chOff x="247891" y="497710"/>
            <a:chExt cx="2402712" cy="1874745"/>
          </a:xfrm>
        </p:grpSpPr>
        <p:sp>
          <p:nvSpPr>
            <p:cNvPr id="5" name="Rectangle 4">
              <a:extLst>
                <a:ext uri="{FF2B5EF4-FFF2-40B4-BE49-F238E27FC236}">
                  <a16:creationId xmlns:a16="http://schemas.microsoft.com/office/drawing/2014/main" id="{56E09C31-6A42-A1B2-5F16-B1501CBA11A0}"/>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8" name="TextBox 7">
              <a:extLst>
                <a:ext uri="{FF2B5EF4-FFF2-40B4-BE49-F238E27FC236}">
                  <a16:creationId xmlns:a16="http://schemas.microsoft.com/office/drawing/2014/main" id="{6B506EB6-B954-D757-3405-76BA60EE7991}"/>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main</a:t>
              </a:r>
            </a:p>
          </p:txBody>
        </p:sp>
      </p:grpSp>
      <p:sp>
        <p:nvSpPr>
          <p:cNvPr id="11" name="TextBox 10">
            <a:extLst>
              <a:ext uri="{FF2B5EF4-FFF2-40B4-BE49-F238E27FC236}">
                <a16:creationId xmlns:a16="http://schemas.microsoft.com/office/drawing/2014/main" id="{6E5B9C77-39B0-F961-1269-F15A804D08AC}"/>
              </a:ext>
            </a:extLst>
          </p:cNvPr>
          <p:cNvSpPr txBox="1"/>
          <p:nvPr/>
        </p:nvSpPr>
        <p:spPr>
          <a:xfrm>
            <a:off x="1669683" y="458714"/>
            <a:ext cx="584592" cy="584775"/>
          </a:xfrm>
          <a:prstGeom prst="rect">
            <a:avLst/>
          </a:prstGeom>
          <a:noFill/>
        </p:spPr>
        <p:txBody>
          <a:bodyPr wrap="square">
            <a:spAutoFit/>
          </a:bodyPr>
          <a:lstStyle/>
          <a:p>
            <a:pPr algn="ctr"/>
            <a:r>
              <a:rPr lang="en-US" sz="3200">
                <a:latin typeface="+mj-lt"/>
              </a:rPr>
              <a:t>a</a:t>
            </a:r>
            <a:endParaRPr lang="en-US" sz="3200"/>
          </a:p>
        </p:txBody>
      </p:sp>
      <p:sp>
        <p:nvSpPr>
          <p:cNvPr id="22" name="Rectangle 21">
            <a:extLst>
              <a:ext uri="{FF2B5EF4-FFF2-40B4-BE49-F238E27FC236}">
                <a16:creationId xmlns:a16="http://schemas.microsoft.com/office/drawing/2014/main" id="{863A01CF-0BF1-0952-57F8-51683F581E6B}"/>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5228D7D8-6EFC-18F4-DCFA-C52BA5CE1A6C}"/>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7FC41F60-DC27-5E9C-CCDA-8AE942D3AE2E}"/>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highlight>
                  <a:srgbClr val="FFFF00"/>
                </a:highlight>
                <a:latin typeface="+mj-lt"/>
              </a:rPr>
              <a:t>void foo(</a:t>
            </a:r>
            <a:r>
              <a:rPr lang="en-US" sz="2000">
                <a:solidFill>
                  <a:srgbClr val="00007F"/>
                </a:solidFill>
                <a:highlight>
                  <a:srgbClr val="FFFF00"/>
                </a:highlight>
                <a:latin typeface="+mj-lt"/>
              </a:rPr>
              <a:t>int</a:t>
            </a:r>
            <a:r>
              <a:rPr lang="en-US" sz="2000">
                <a:solidFill>
                  <a:schemeClr val="tx1"/>
                </a:solidFill>
                <a:highlight>
                  <a:srgbClr val="FFFF00"/>
                </a:highlight>
                <a:latin typeface="+mj-lt"/>
              </a:rPr>
              <a:t> a) {</a:t>
            </a:r>
          </a:p>
          <a:p>
            <a:r>
              <a:rPr lang="en-US" sz="2000">
                <a:solidFill>
                  <a:schemeClr val="tx1"/>
                </a:solidFill>
                <a:latin typeface="+mj-lt"/>
              </a:rPr>
              <a:t>    a = </a:t>
            </a:r>
            <a:r>
              <a:rPr lang="en-US" sz="2000">
                <a:solidFill>
                  <a:srgbClr val="09B5B6"/>
                </a:solidFill>
                <a:latin typeface="+mj-lt"/>
              </a:rPr>
              <a:t>8</a:t>
            </a:r>
            <a:r>
              <a:rPr lang="en-US" sz="2000">
                <a:solidFill>
                  <a:schemeClr val="tx1"/>
                </a:solidFill>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chemeClr val="tx1"/>
                </a:solidFill>
                <a:latin typeface="+mj-lt"/>
              </a:rPr>
              <a:t>    </a:t>
            </a:r>
            <a:r>
              <a:rPr lang="en-US" sz="2000">
                <a:solidFill>
                  <a:srgbClr val="00007F"/>
                </a:solidFill>
                <a:latin typeface="+mj-lt"/>
              </a:rPr>
              <a:t>int</a:t>
            </a:r>
            <a:r>
              <a:rPr lang="en-US" sz="2000">
                <a:solidFill>
                  <a:schemeClr val="tx1"/>
                </a:solidFill>
                <a:latin typeface="+mj-lt"/>
              </a:rPr>
              <a:t> a = </a:t>
            </a:r>
            <a:r>
              <a:rPr lang="en-US" sz="2000">
                <a:solidFill>
                  <a:srgbClr val="09B5B6"/>
                </a:solidFill>
                <a:latin typeface="+mj-lt"/>
              </a:rPr>
              <a:t>7</a:t>
            </a:r>
            <a:r>
              <a:rPr lang="en-US" sz="2000">
                <a:solidFill>
                  <a:schemeClr val="tx1"/>
                </a:solidFill>
                <a:latin typeface="+mj-lt"/>
              </a:rPr>
              <a:t>;</a:t>
            </a:r>
          </a:p>
          <a:p>
            <a:r>
              <a:rPr lang="en-US" sz="2000">
                <a:solidFill>
                  <a:schemeClr val="tx1"/>
                </a:solidFill>
                <a:highlight>
                  <a:srgbClr val="C0C0C0"/>
                </a:highlight>
                <a:latin typeface="+mj-lt"/>
              </a:rPr>
              <a:t>    foo(a);</a:t>
            </a:r>
          </a:p>
          <a:p>
            <a:r>
              <a:rPr lang="en-US" sz="2000">
                <a:solidFill>
                  <a:schemeClr val="tx1"/>
                </a:solidFill>
                <a:latin typeface="+mj-lt"/>
              </a:rPr>
              <a:t>}</a:t>
            </a:r>
          </a:p>
          <a:p>
            <a:endParaRPr lang="en-US" sz="2000">
              <a:solidFill>
                <a:schemeClr val="tx1"/>
              </a:solidFill>
              <a:latin typeface="+mj-lt"/>
            </a:endParaRPr>
          </a:p>
        </p:txBody>
      </p:sp>
      <p:sp>
        <p:nvSpPr>
          <p:cNvPr id="4" name="Rectangle 3">
            <a:extLst>
              <a:ext uri="{FF2B5EF4-FFF2-40B4-BE49-F238E27FC236}">
                <a16:creationId xmlns:a16="http://schemas.microsoft.com/office/drawing/2014/main" id="{05FB9B23-43BA-F40D-DBFC-6C389DA858C9}"/>
              </a:ext>
            </a:extLst>
          </p:cNvPr>
          <p:cNvSpPr/>
          <p:nvPr/>
        </p:nvSpPr>
        <p:spPr>
          <a:xfrm>
            <a:off x="1444047" y="1043490"/>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7</a:t>
            </a:r>
            <a:endParaRPr lang="en-US" sz="2800">
              <a:solidFill>
                <a:srgbClr val="F80B8D"/>
              </a:solidFill>
              <a:latin typeface="Consolas" panose="020B0609020204030204" pitchFamily="49" charset="0"/>
              <a:cs typeface="Consolas" panose="020B0609020204030204" pitchFamily="49" charset="0"/>
            </a:endParaRPr>
          </a:p>
        </p:txBody>
      </p:sp>
      <p:grpSp>
        <p:nvGrpSpPr>
          <p:cNvPr id="6" name="Group 5">
            <a:extLst>
              <a:ext uri="{FF2B5EF4-FFF2-40B4-BE49-F238E27FC236}">
                <a16:creationId xmlns:a16="http://schemas.microsoft.com/office/drawing/2014/main" id="{503E5849-F6BE-EB58-54EA-7C7B415FDE7A}"/>
              </a:ext>
            </a:extLst>
          </p:cNvPr>
          <p:cNvGrpSpPr/>
          <p:nvPr/>
        </p:nvGrpSpPr>
        <p:grpSpPr>
          <a:xfrm>
            <a:off x="991886" y="106117"/>
            <a:ext cx="3400547" cy="1874745"/>
            <a:chOff x="247891" y="497710"/>
            <a:chExt cx="2402712" cy="1874745"/>
          </a:xfrm>
        </p:grpSpPr>
        <p:sp>
          <p:nvSpPr>
            <p:cNvPr id="7" name="Rectangle 6">
              <a:extLst>
                <a:ext uri="{FF2B5EF4-FFF2-40B4-BE49-F238E27FC236}">
                  <a16:creationId xmlns:a16="http://schemas.microsoft.com/office/drawing/2014/main" id="{DE531F0B-E9FC-C872-538D-9B17346FDC63}"/>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10" name="TextBox 9">
              <a:extLst>
                <a:ext uri="{FF2B5EF4-FFF2-40B4-BE49-F238E27FC236}">
                  <a16:creationId xmlns:a16="http://schemas.microsoft.com/office/drawing/2014/main" id="{2473A352-1887-0E08-80BB-7D55ADD9F2DE}"/>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foo</a:t>
              </a:r>
            </a:p>
          </p:txBody>
        </p:sp>
      </p:grpSp>
      <p:sp>
        <p:nvSpPr>
          <p:cNvPr id="12" name="TextBox 11">
            <a:extLst>
              <a:ext uri="{FF2B5EF4-FFF2-40B4-BE49-F238E27FC236}">
                <a16:creationId xmlns:a16="http://schemas.microsoft.com/office/drawing/2014/main" id="{20C59F17-DAEA-B1A9-AF6C-0CB42A270CD0}"/>
              </a:ext>
            </a:extLst>
          </p:cNvPr>
          <p:cNvSpPr txBox="1"/>
          <p:nvPr/>
        </p:nvSpPr>
        <p:spPr>
          <a:xfrm>
            <a:off x="2347480" y="196880"/>
            <a:ext cx="584592" cy="584775"/>
          </a:xfrm>
          <a:prstGeom prst="rect">
            <a:avLst/>
          </a:prstGeom>
          <a:noFill/>
        </p:spPr>
        <p:txBody>
          <a:bodyPr wrap="square">
            <a:spAutoFit/>
          </a:bodyPr>
          <a:lstStyle/>
          <a:p>
            <a:pPr algn="ctr"/>
            <a:r>
              <a:rPr lang="en-US" sz="3200">
                <a:latin typeface="+mj-lt"/>
              </a:rPr>
              <a:t>a</a:t>
            </a:r>
            <a:endParaRPr lang="en-US" sz="3200"/>
          </a:p>
        </p:txBody>
      </p:sp>
      <p:sp>
        <p:nvSpPr>
          <p:cNvPr id="13" name="Rectangle 12">
            <a:extLst>
              <a:ext uri="{FF2B5EF4-FFF2-40B4-BE49-F238E27FC236}">
                <a16:creationId xmlns:a16="http://schemas.microsoft.com/office/drawing/2014/main" id="{B7701651-AFF1-5115-0BD8-8A86BFAC14BA}"/>
              </a:ext>
            </a:extLst>
          </p:cNvPr>
          <p:cNvSpPr/>
          <p:nvPr/>
        </p:nvSpPr>
        <p:spPr>
          <a:xfrm>
            <a:off x="2121844" y="781656"/>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tabLst>
                <a:tab pos="160338" algn="l"/>
              </a:tabLst>
            </a:pPr>
            <a:r>
              <a:rPr lang="en-US" sz="2800">
                <a:solidFill>
                  <a:srgbClr val="09B5B6"/>
                </a:solidFill>
                <a:highlight>
                  <a:srgbClr val="FFFF00"/>
                </a:highlight>
                <a:latin typeface="+mj-lt"/>
              </a:rPr>
              <a:t>7</a:t>
            </a:r>
            <a:endParaRPr lang="en-US" sz="2800">
              <a:solidFill>
                <a:srgbClr val="F80B8D"/>
              </a:solidFill>
              <a:highlight>
                <a:srgbClr val="FFFF00"/>
              </a:highlight>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604052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8C093-73BA-1D25-2ABC-C41BB151802F}"/>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027A811D-29A7-87BA-B5B6-0EA68204659D}"/>
              </a:ext>
            </a:extLst>
          </p:cNvPr>
          <p:cNvGrpSpPr/>
          <p:nvPr/>
        </p:nvGrpSpPr>
        <p:grpSpPr>
          <a:xfrm>
            <a:off x="372798" y="371008"/>
            <a:ext cx="3400547" cy="1874745"/>
            <a:chOff x="247891" y="497710"/>
            <a:chExt cx="2402712" cy="1874745"/>
          </a:xfrm>
        </p:grpSpPr>
        <p:sp>
          <p:nvSpPr>
            <p:cNvPr id="5" name="Rectangle 4">
              <a:extLst>
                <a:ext uri="{FF2B5EF4-FFF2-40B4-BE49-F238E27FC236}">
                  <a16:creationId xmlns:a16="http://schemas.microsoft.com/office/drawing/2014/main" id="{DEFF69A4-DC2C-FAF3-4AE3-4F70CFAD2B42}"/>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8" name="TextBox 7">
              <a:extLst>
                <a:ext uri="{FF2B5EF4-FFF2-40B4-BE49-F238E27FC236}">
                  <a16:creationId xmlns:a16="http://schemas.microsoft.com/office/drawing/2014/main" id="{444F4BAB-8E01-709C-0C95-A31B7B1F1540}"/>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main</a:t>
              </a:r>
            </a:p>
          </p:txBody>
        </p:sp>
      </p:grpSp>
      <p:sp>
        <p:nvSpPr>
          <p:cNvPr id="11" name="TextBox 10">
            <a:extLst>
              <a:ext uri="{FF2B5EF4-FFF2-40B4-BE49-F238E27FC236}">
                <a16:creationId xmlns:a16="http://schemas.microsoft.com/office/drawing/2014/main" id="{38DFE434-F98A-F224-0D01-62314D3368FF}"/>
              </a:ext>
            </a:extLst>
          </p:cNvPr>
          <p:cNvSpPr txBox="1"/>
          <p:nvPr/>
        </p:nvSpPr>
        <p:spPr>
          <a:xfrm>
            <a:off x="1669683" y="458714"/>
            <a:ext cx="584592" cy="584775"/>
          </a:xfrm>
          <a:prstGeom prst="rect">
            <a:avLst/>
          </a:prstGeom>
          <a:noFill/>
        </p:spPr>
        <p:txBody>
          <a:bodyPr wrap="square">
            <a:spAutoFit/>
          </a:bodyPr>
          <a:lstStyle/>
          <a:p>
            <a:pPr algn="ctr"/>
            <a:r>
              <a:rPr lang="en-US" sz="3200">
                <a:latin typeface="+mj-lt"/>
              </a:rPr>
              <a:t>a</a:t>
            </a:r>
            <a:endParaRPr lang="en-US" sz="3200"/>
          </a:p>
        </p:txBody>
      </p:sp>
      <p:sp>
        <p:nvSpPr>
          <p:cNvPr id="22" name="Rectangle 21">
            <a:extLst>
              <a:ext uri="{FF2B5EF4-FFF2-40B4-BE49-F238E27FC236}">
                <a16:creationId xmlns:a16="http://schemas.microsoft.com/office/drawing/2014/main" id="{67936F09-5868-234F-83DC-9CCC2AE390E5}"/>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5B933EB2-6AA0-9D04-BD83-EFFE8F590BA6}"/>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24E3F381-A6E0-77B9-4252-0B6F1F4859D5}"/>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latin typeface="+mj-lt"/>
              </a:rPr>
              <a:t>void foo(</a:t>
            </a:r>
            <a:r>
              <a:rPr lang="en-US" sz="2000">
                <a:solidFill>
                  <a:srgbClr val="00007F"/>
                </a:solidFill>
                <a:latin typeface="+mj-lt"/>
              </a:rPr>
              <a:t>int</a:t>
            </a:r>
            <a:r>
              <a:rPr lang="en-US" sz="2000">
                <a:solidFill>
                  <a:schemeClr val="tx1"/>
                </a:solidFill>
                <a:latin typeface="+mj-lt"/>
              </a:rPr>
              <a:t> a) {</a:t>
            </a:r>
          </a:p>
          <a:p>
            <a:r>
              <a:rPr lang="en-US" sz="2000">
                <a:solidFill>
                  <a:schemeClr val="tx1"/>
                </a:solidFill>
                <a:highlight>
                  <a:srgbClr val="FFFF00"/>
                </a:highlight>
                <a:latin typeface="+mj-lt"/>
              </a:rPr>
              <a:t>    a = </a:t>
            </a:r>
            <a:r>
              <a:rPr lang="en-US" sz="2000">
                <a:solidFill>
                  <a:srgbClr val="09B5B6"/>
                </a:solidFill>
                <a:highlight>
                  <a:srgbClr val="FFFF00"/>
                </a:highlight>
                <a:latin typeface="+mj-lt"/>
              </a:rPr>
              <a:t>8</a:t>
            </a:r>
            <a:r>
              <a:rPr lang="en-US" sz="2000">
                <a:solidFill>
                  <a:schemeClr val="tx1"/>
                </a:solidFill>
                <a:highlight>
                  <a:srgbClr val="FFFF00"/>
                </a:highlight>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chemeClr val="tx1"/>
                </a:solidFill>
                <a:latin typeface="+mj-lt"/>
              </a:rPr>
              <a:t>    </a:t>
            </a:r>
            <a:r>
              <a:rPr lang="en-US" sz="2000">
                <a:solidFill>
                  <a:srgbClr val="00007F"/>
                </a:solidFill>
                <a:latin typeface="+mj-lt"/>
              </a:rPr>
              <a:t>int</a:t>
            </a:r>
            <a:r>
              <a:rPr lang="en-US" sz="2000">
                <a:solidFill>
                  <a:schemeClr val="tx1"/>
                </a:solidFill>
                <a:latin typeface="+mj-lt"/>
              </a:rPr>
              <a:t> a = </a:t>
            </a:r>
            <a:r>
              <a:rPr lang="en-US" sz="2000">
                <a:solidFill>
                  <a:srgbClr val="09B5B6"/>
                </a:solidFill>
                <a:latin typeface="+mj-lt"/>
              </a:rPr>
              <a:t>7</a:t>
            </a:r>
            <a:r>
              <a:rPr lang="en-US" sz="2000">
                <a:solidFill>
                  <a:schemeClr val="tx1"/>
                </a:solidFill>
                <a:latin typeface="+mj-lt"/>
              </a:rPr>
              <a:t>;</a:t>
            </a:r>
          </a:p>
          <a:p>
            <a:r>
              <a:rPr lang="en-US" sz="2000">
                <a:solidFill>
                  <a:schemeClr val="tx1"/>
                </a:solidFill>
                <a:highlight>
                  <a:srgbClr val="C0C0C0"/>
                </a:highlight>
                <a:latin typeface="+mj-lt"/>
              </a:rPr>
              <a:t>    foo(a);</a:t>
            </a:r>
          </a:p>
          <a:p>
            <a:r>
              <a:rPr lang="en-US" sz="2000">
                <a:solidFill>
                  <a:schemeClr val="tx1"/>
                </a:solidFill>
                <a:latin typeface="+mj-lt"/>
              </a:rPr>
              <a:t>}</a:t>
            </a:r>
          </a:p>
          <a:p>
            <a:endParaRPr lang="en-US" sz="2000">
              <a:solidFill>
                <a:schemeClr val="tx1"/>
              </a:solidFill>
              <a:latin typeface="+mj-lt"/>
            </a:endParaRPr>
          </a:p>
        </p:txBody>
      </p:sp>
      <p:sp>
        <p:nvSpPr>
          <p:cNvPr id="4" name="Rectangle 3">
            <a:extLst>
              <a:ext uri="{FF2B5EF4-FFF2-40B4-BE49-F238E27FC236}">
                <a16:creationId xmlns:a16="http://schemas.microsoft.com/office/drawing/2014/main" id="{DC6D42BE-DA9D-4D48-0AF1-843F19CD2518}"/>
              </a:ext>
            </a:extLst>
          </p:cNvPr>
          <p:cNvSpPr/>
          <p:nvPr/>
        </p:nvSpPr>
        <p:spPr>
          <a:xfrm>
            <a:off x="1444047" y="1043490"/>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7</a:t>
            </a:r>
            <a:endParaRPr lang="en-US" sz="2800">
              <a:solidFill>
                <a:srgbClr val="F80B8D"/>
              </a:solidFill>
              <a:latin typeface="Consolas" panose="020B0609020204030204" pitchFamily="49" charset="0"/>
              <a:cs typeface="Consolas" panose="020B0609020204030204" pitchFamily="49" charset="0"/>
            </a:endParaRPr>
          </a:p>
        </p:txBody>
      </p:sp>
      <p:grpSp>
        <p:nvGrpSpPr>
          <p:cNvPr id="6" name="Group 5">
            <a:extLst>
              <a:ext uri="{FF2B5EF4-FFF2-40B4-BE49-F238E27FC236}">
                <a16:creationId xmlns:a16="http://schemas.microsoft.com/office/drawing/2014/main" id="{8E9C9A8B-BBAF-8137-326B-A05B1CDFE63E}"/>
              </a:ext>
            </a:extLst>
          </p:cNvPr>
          <p:cNvGrpSpPr/>
          <p:nvPr/>
        </p:nvGrpSpPr>
        <p:grpSpPr>
          <a:xfrm>
            <a:off x="991886" y="106117"/>
            <a:ext cx="3400547" cy="1874745"/>
            <a:chOff x="247891" y="497710"/>
            <a:chExt cx="2402712" cy="1874745"/>
          </a:xfrm>
        </p:grpSpPr>
        <p:sp>
          <p:nvSpPr>
            <p:cNvPr id="7" name="Rectangle 6">
              <a:extLst>
                <a:ext uri="{FF2B5EF4-FFF2-40B4-BE49-F238E27FC236}">
                  <a16:creationId xmlns:a16="http://schemas.microsoft.com/office/drawing/2014/main" id="{1E33A479-F4A6-2F04-2651-C4F5F824AA99}"/>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10" name="TextBox 9">
              <a:extLst>
                <a:ext uri="{FF2B5EF4-FFF2-40B4-BE49-F238E27FC236}">
                  <a16:creationId xmlns:a16="http://schemas.microsoft.com/office/drawing/2014/main" id="{E79F85F8-482D-56F3-07C8-C9A2C4338FC9}"/>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foo</a:t>
              </a:r>
            </a:p>
          </p:txBody>
        </p:sp>
      </p:grpSp>
      <p:sp>
        <p:nvSpPr>
          <p:cNvPr id="12" name="TextBox 11">
            <a:extLst>
              <a:ext uri="{FF2B5EF4-FFF2-40B4-BE49-F238E27FC236}">
                <a16:creationId xmlns:a16="http://schemas.microsoft.com/office/drawing/2014/main" id="{74204278-A650-F600-51BA-348C87D85D37}"/>
              </a:ext>
            </a:extLst>
          </p:cNvPr>
          <p:cNvSpPr txBox="1"/>
          <p:nvPr/>
        </p:nvSpPr>
        <p:spPr>
          <a:xfrm>
            <a:off x="2347480" y="196880"/>
            <a:ext cx="584592" cy="584775"/>
          </a:xfrm>
          <a:prstGeom prst="rect">
            <a:avLst/>
          </a:prstGeom>
          <a:noFill/>
        </p:spPr>
        <p:txBody>
          <a:bodyPr wrap="square">
            <a:spAutoFit/>
          </a:bodyPr>
          <a:lstStyle/>
          <a:p>
            <a:pPr algn="ctr"/>
            <a:r>
              <a:rPr lang="en-US" sz="3200">
                <a:latin typeface="+mj-lt"/>
              </a:rPr>
              <a:t>a</a:t>
            </a:r>
            <a:endParaRPr lang="en-US" sz="3200"/>
          </a:p>
        </p:txBody>
      </p:sp>
      <p:sp>
        <p:nvSpPr>
          <p:cNvPr id="13" name="Rectangle 12">
            <a:extLst>
              <a:ext uri="{FF2B5EF4-FFF2-40B4-BE49-F238E27FC236}">
                <a16:creationId xmlns:a16="http://schemas.microsoft.com/office/drawing/2014/main" id="{F6FBB574-C7F9-7AE0-1DDD-7369FCFEFC87}"/>
              </a:ext>
            </a:extLst>
          </p:cNvPr>
          <p:cNvSpPr/>
          <p:nvPr/>
        </p:nvSpPr>
        <p:spPr>
          <a:xfrm>
            <a:off x="2121844" y="781656"/>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highlight>
                  <a:srgbClr val="FFFF00"/>
                </a:highlight>
                <a:latin typeface="+mj-lt"/>
              </a:rPr>
              <a:t>8</a:t>
            </a:r>
            <a:endParaRPr lang="en-US" sz="2800">
              <a:solidFill>
                <a:srgbClr val="F80B8D"/>
              </a:solidFill>
              <a:highlight>
                <a:srgbClr val="FFFF00"/>
              </a:highlight>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785345724"/>
      </p:ext>
    </p:extLst>
  </p:cSld>
  <p:clrMapOvr>
    <a:masterClrMapping/>
  </p:clrMapOvr>
</p:sld>
</file>

<file path=ppt/slides/slide4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95203-FD05-24B5-E431-F828F11BF9F3}"/>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56499280-5B71-F024-B6FC-9EB9F8532E9A}"/>
              </a:ext>
            </a:extLst>
          </p:cNvPr>
          <p:cNvGrpSpPr/>
          <p:nvPr/>
        </p:nvGrpSpPr>
        <p:grpSpPr>
          <a:xfrm>
            <a:off x="372798" y="371008"/>
            <a:ext cx="3400547" cy="1874745"/>
            <a:chOff x="247891" y="497710"/>
            <a:chExt cx="2402712" cy="1874745"/>
          </a:xfrm>
        </p:grpSpPr>
        <p:sp>
          <p:nvSpPr>
            <p:cNvPr id="5" name="Rectangle 4">
              <a:extLst>
                <a:ext uri="{FF2B5EF4-FFF2-40B4-BE49-F238E27FC236}">
                  <a16:creationId xmlns:a16="http://schemas.microsoft.com/office/drawing/2014/main" id="{7BAFD088-35FD-81B5-45BC-6C05A024E6C4}"/>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8" name="TextBox 7">
              <a:extLst>
                <a:ext uri="{FF2B5EF4-FFF2-40B4-BE49-F238E27FC236}">
                  <a16:creationId xmlns:a16="http://schemas.microsoft.com/office/drawing/2014/main" id="{F2056131-0B9D-748B-DDB4-551A0BFF8F83}"/>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main</a:t>
              </a:r>
            </a:p>
          </p:txBody>
        </p:sp>
      </p:grpSp>
      <p:sp>
        <p:nvSpPr>
          <p:cNvPr id="11" name="TextBox 10">
            <a:extLst>
              <a:ext uri="{FF2B5EF4-FFF2-40B4-BE49-F238E27FC236}">
                <a16:creationId xmlns:a16="http://schemas.microsoft.com/office/drawing/2014/main" id="{E222D2E9-C09F-07B8-9AD4-7872936BC233}"/>
              </a:ext>
            </a:extLst>
          </p:cNvPr>
          <p:cNvSpPr txBox="1"/>
          <p:nvPr/>
        </p:nvSpPr>
        <p:spPr>
          <a:xfrm>
            <a:off x="1669683" y="458714"/>
            <a:ext cx="584592" cy="584775"/>
          </a:xfrm>
          <a:prstGeom prst="rect">
            <a:avLst/>
          </a:prstGeom>
          <a:noFill/>
        </p:spPr>
        <p:txBody>
          <a:bodyPr wrap="square">
            <a:spAutoFit/>
          </a:bodyPr>
          <a:lstStyle/>
          <a:p>
            <a:pPr algn="ctr"/>
            <a:r>
              <a:rPr lang="en-US" sz="3200">
                <a:latin typeface="+mj-lt"/>
              </a:rPr>
              <a:t>a</a:t>
            </a:r>
            <a:endParaRPr lang="en-US" sz="3200"/>
          </a:p>
        </p:txBody>
      </p:sp>
      <p:sp>
        <p:nvSpPr>
          <p:cNvPr id="22" name="Rectangle 21">
            <a:extLst>
              <a:ext uri="{FF2B5EF4-FFF2-40B4-BE49-F238E27FC236}">
                <a16:creationId xmlns:a16="http://schemas.microsoft.com/office/drawing/2014/main" id="{020B1255-C73B-BBC3-4F5D-2D3BC30615C7}"/>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1F8D4A60-7E93-CFE8-F491-13017B98AC1A}"/>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F54C1810-9BC1-A4D0-74B8-1BF5F5D1299D}"/>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latin typeface="+mj-lt"/>
              </a:rPr>
              <a:t>void foo(</a:t>
            </a:r>
            <a:r>
              <a:rPr lang="en-US" sz="2000">
                <a:solidFill>
                  <a:srgbClr val="00007F"/>
                </a:solidFill>
                <a:latin typeface="+mj-lt"/>
              </a:rPr>
              <a:t>int</a:t>
            </a:r>
            <a:r>
              <a:rPr lang="en-US" sz="2000">
                <a:solidFill>
                  <a:schemeClr val="tx1"/>
                </a:solidFill>
                <a:latin typeface="+mj-lt"/>
              </a:rPr>
              <a:t> a) {</a:t>
            </a:r>
          </a:p>
          <a:p>
            <a:r>
              <a:rPr lang="en-US" sz="2000">
                <a:solidFill>
                  <a:schemeClr val="tx1"/>
                </a:solidFill>
                <a:latin typeface="+mj-lt"/>
              </a:rPr>
              <a:t>    a = </a:t>
            </a:r>
            <a:r>
              <a:rPr lang="en-US" sz="2000">
                <a:solidFill>
                  <a:srgbClr val="09B5B6"/>
                </a:solidFill>
                <a:latin typeface="+mj-lt"/>
              </a:rPr>
              <a:t>8</a:t>
            </a:r>
            <a:r>
              <a:rPr lang="en-US" sz="2000">
                <a:solidFill>
                  <a:schemeClr val="tx1"/>
                </a:solidFill>
                <a:latin typeface="+mj-lt"/>
              </a:rPr>
              <a:t>;</a:t>
            </a:r>
          </a:p>
          <a:p>
            <a:r>
              <a:rPr lang="en-US" sz="2000">
                <a:solidFill>
                  <a:schemeClr val="tx1"/>
                </a:solidFill>
                <a:highlight>
                  <a:srgbClr val="FFFF00"/>
                </a:highlight>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chemeClr val="tx1"/>
                </a:solidFill>
                <a:latin typeface="+mj-lt"/>
              </a:rPr>
              <a:t>    </a:t>
            </a:r>
            <a:r>
              <a:rPr lang="en-US" sz="2000">
                <a:solidFill>
                  <a:srgbClr val="00007F"/>
                </a:solidFill>
                <a:latin typeface="+mj-lt"/>
              </a:rPr>
              <a:t>int</a:t>
            </a:r>
            <a:r>
              <a:rPr lang="en-US" sz="2000">
                <a:solidFill>
                  <a:schemeClr val="tx1"/>
                </a:solidFill>
                <a:latin typeface="+mj-lt"/>
              </a:rPr>
              <a:t> a = </a:t>
            </a:r>
            <a:r>
              <a:rPr lang="en-US" sz="2000">
                <a:solidFill>
                  <a:srgbClr val="09B5B6"/>
                </a:solidFill>
                <a:latin typeface="+mj-lt"/>
              </a:rPr>
              <a:t>7</a:t>
            </a:r>
            <a:r>
              <a:rPr lang="en-US" sz="2000">
                <a:solidFill>
                  <a:schemeClr val="tx1"/>
                </a:solidFill>
                <a:latin typeface="+mj-lt"/>
              </a:rPr>
              <a:t>;</a:t>
            </a:r>
          </a:p>
          <a:p>
            <a:r>
              <a:rPr lang="en-US" sz="2000">
                <a:solidFill>
                  <a:schemeClr val="tx1"/>
                </a:solidFill>
                <a:highlight>
                  <a:srgbClr val="C0C0C0"/>
                </a:highlight>
                <a:latin typeface="+mj-lt"/>
              </a:rPr>
              <a:t>    foo(a);</a:t>
            </a:r>
          </a:p>
          <a:p>
            <a:r>
              <a:rPr lang="en-US" sz="2000">
                <a:solidFill>
                  <a:schemeClr val="tx1"/>
                </a:solidFill>
                <a:latin typeface="+mj-lt"/>
              </a:rPr>
              <a:t>}</a:t>
            </a:r>
          </a:p>
          <a:p>
            <a:endParaRPr lang="en-US" sz="2000">
              <a:solidFill>
                <a:schemeClr val="tx1"/>
              </a:solidFill>
              <a:latin typeface="+mj-lt"/>
            </a:endParaRPr>
          </a:p>
        </p:txBody>
      </p:sp>
      <p:sp>
        <p:nvSpPr>
          <p:cNvPr id="4" name="Rectangle 3">
            <a:extLst>
              <a:ext uri="{FF2B5EF4-FFF2-40B4-BE49-F238E27FC236}">
                <a16:creationId xmlns:a16="http://schemas.microsoft.com/office/drawing/2014/main" id="{4ABBFEDB-FD30-F501-F5E9-599C990ED404}"/>
              </a:ext>
            </a:extLst>
          </p:cNvPr>
          <p:cNvSpPr/>
          <p:nvPr/>
        </p:nvSpPr>
        <p:spPr>
          <a:xfrm>
            <a:off x="1444047" y="1043490"/>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7</a:t>
            </a:r>
            <a:endParaRPr lang="en-US" sz="2800">
              <a:solidFill>
                <a:srgbClr val="F80B8D"/>
              </a:solidFill>
              <a:latin typeface="Consolas" panose="020B0609020204030204" pitchFamily="49" charset="0"/>
              <a:cs typeface="Consolas" panose="020B0609020204030204" pitchFamily="49" charset="0"/>
            </a:endParaRPr>
          </a:p>
        </p:txBody>
      </p:sp>
      <p:grpSp>
        <p:nvGrpSpPr>
          <p:cNvPr id="6" name="Group 5">
            <a:extLst>
              <a:ext uri="{FF2B5EF4-FFF2-40B4-BE49-F238E27FC236}">
                <a16:creationId xmlns:a16="http://schemas.microsoft.com/office/drawing/2014/main" id="{F88FB2AE-6C9E-D8A9-EABF-887FB1D2B8A1}"/>
              </a:ext>
            </a:extLst>
          </p:cNvPr>
          <p:cNvGrpSpPr/>
          <p:nvPr/>
        </p:nvGrpSpPr>
        <p:grpSpPr>
          <a:xfrm>
            <a:off x="991886" y="106117"/>
            <a:ext cx="3400547" cy="1874745"/>
            <a:chOff x="247891" y="497710"/>
            <a:chExt cx="2402712" cy="1874745"/>
          </a:xfrm>
        </p:grpSpPr>
        <p:sp>
          <p:nvSpPr>
            <p:cNvPr id="7" name="Rectangle 6">
              <a:extLst>
                <a:ext uri="{FF2B5EF4-FFF2-40B4-BE49-F238E27FC236}">
                  <a16:creationId xmlns:a16="http://schemas.microsoft.com/office/drawing/2014/main" id="{974EF79C-BE2D-E09C-F30A-AEEB6768D4BE}"/>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10" name="TextBox 9">
              <a:extLst>
                <a:ext uri="{FF2B5EF4-FFF2-40B4-BE49-F238E27FC236}">
                  <a16:creationId xmlns:a16="http://schemas.microsoft.com/office/drawing/2014/main" id="{631173A0-E6B1-F152-601F-AC9A02FDA5D0}"/>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foo</a:t>
              </a:r>
            </a:p>
          </p:txBody>
        </p:sp>
      </p:grpSp>
      <p:sp>
        <p:nvSpPr>
          <p:cNvPr id="12" name="TextBox 11">
            <a:extLst>
              <a:ext uri="{FF2B5EF4-FFF2-40B4-BE49-F238E27FC236}">
                <a16:creationId xmlns:a16="http://schemas.microsoft.com/office/drawing/2014/main" id="{649BA605-CEBF-892B-00C9-62FA3396BD98}"/>
              </a:ext>
            </a:extLst>
          </p:cNvPr>
          <p:cNvSpPr txBox="1"/>
          <p:nvPr/>
        </p:nvSpPr>
        <p:spPr>
          <a:xfrm>
            <a:off x="2347480" y="196880"/>
            <a:ext cx="584592" cy="584775"/>
          </a:xfrm>
          <a:prstGeom prst="rect">
            <a:avLst/>
          </a:prstGeom>
          <a:noFill/>
        </p:spPr>
        <p:txBody>
          <a:bodyPr wrap="square">
            <a:spAutoFit/>
          </a:bodyPr>
          <a:lstStyle/>
          <a:p>
            <a:pPr algn="ctr"/>
            <a:r>
              <a:rPr lang="en-US" sz="3200">
                <a:latin typeface="+mj-lt"/>
              </a:rPr>
              <a:t>a</a:t>
            </a:r>
            <a:endParaRPr lang="en-US" sz="3200"/>
          </a:p>
        </p:txBody>
      </p:sp>
      <p:sp>
        <p:nvSpPr>
          <p:cNvPr id="13" name="Rectangle 12">
            <a:extLst>
              <a:ext uri="{FF2B5EF4-FFF2-40B4-BE49-F238E27FC236}">
                <a16:creationId xmlns:a16="http://schemas.microsoft.com/office/drawing/2014/main" id="{CD010E35-CF0A-A525-9732-287B866AB9CD}"/>
              </a:ext>
            </a:extLst>
          </p:cNvPr>
          <p:cNvSpPr/>
          <p:nvPr/>
        </p:nvSpPr>
        <p:spPr>
          <a:xfrm>
            <a:off x="2121844" y="781656"/>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8</a:t>
            </a:r>
            <a:endParaRPr lang="en-US" sz="2800">
              <a:solidFill>
                <a:srgbClr val="F80B8D"/>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190273544"/>
      </p:ext>
    </p:extLst>
  </p:cSld>
  <p:clrMapOvr>
    <a:masterClrMapping/>
  </p:clrMapOvr>
</p:sld>
</file>

<file path=ppt/slides/slide4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0F4DE-9D57-BFCE-B014-9063F3212FDB}"/>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F5EDA26B-0100-2372-E318-803C4CDC049A}"/>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F3F1ED9C-9C78-A7D3-7D6C-FA61D1FCAC6C}"/>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86EE1F40-0620-85E9-33A5-D8484F40079A}"/>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latin typeface="+mj-lt"/>
              </a:rPr>
              <a:t>void foo(</a:t>
            </a:r>
            <a:r>
              <a:rPr lang="en-US" sz="2000">
                <a:solidFill>
                  <a:srgbClr val="00007F"/>
                </a:solidFill>
                <a:latin typeface="+mj-lt"/>
              </a:rPr>
              <a:t>int</a:t>
            </a:r>
            <a:r>
              <a:rPr lang="en-US" sz="2000">
                <a:solidFill>
                  <a:schemeClr val="tx1"/>
                </a:solidFill>
                <a:latin typeface="+mj-lt"/>
              </a:rPr>
              <a:t> a) {</a:t>
            </a:r>
          </a:p>
          <a:p>
            <a:r>
              <a:rPr lang="en-US" sz="2000">
                <a:solidFill>
                  <a:schemeClr val="tx1"/>
                </a:solidFill>
                <a:latin typeface="+mj-lt"/>
              </a:rPr>
              <a:t>    a = </a:t>
            </a:r>
            <a:r>
              <a:rPr lang="en-US" sz="2000">
                <a:solidFill>
                  <a:srgbClr val="09B5B6"/>
                </a:solidFill>
                <a:latin typeface="+mj-lt"/>
              </a:rPr>
              <a:t>8</a:t>
            </a:r>
            <a:r>
              <a:rPr lang="en-US" sz="2000">
                <a:solidFill>
                  <a:schemeClr val="tx1"/>
                </a:solidFill>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chemeClr val="tx1"/>
                </a:solidFill>
                <a:latin typeface="+mj-lt"/>
              </a:rPr>
              <a:t>    </a:t>
            </a:r>
            <a:r>
              <a:rPr lang="en-US" sz="2000">
                <a:solidFill>
                  <a:srgbClr val="00007F"/>
                </a:solidFill>
                <a:latin typeface="+mj-lt"/>
              </a:rPr>
              <a:t>int</a:t>
            </a:r>
            <a:r>
              <a:rPr lang="en-US" sz="2000">
                <a:solidFill>
                  <a:schemeClr val="tx1"/>
                </a:solidFill>
                <a:latin typeface="+mj-lt"/>
              </a:rPr>
              <a:t> a = </a:t>
            </a:r>
            <a:r>
              <a:rPr lang="en-US" sz="2000">
                <a:solidFill>
                  <a:srgbClr val="09B5B6"/>
                </a:solidFill>
                <a:latin typeface="+mj-lt"/>
              </a:rPr>
              <a:t>7</a:t>
            </a:r>
            <a:r>
              <a:rPr lang="en-US" sz="2000">
                <a:solidFill>
                  <a:schemeClr val="tx1"/>
                </a:solidFill>
                <a:latin typeface="+mj-lt"/>
              </a:rPr>
              <a:t>;</a:t>
            </a:r>
          </a:p>
          <a:p>
            <a:r>
              <a:rPr lang="en-US" sz="2000">
                <a:solidFill>
                  <a:schemeClr val="tx1"/>
                </a:solidFill>
                <a:highlight>
                  <a:srgbClr val="808000"/>
                </a:highlight>
                <a:latin typeface="+mj-lt"/>
              </a:rPr>
              <a:t>    foo(a);</a:t>
            </a:r>
          </a:p>
          <a:p>
            <a:r>
              <a:rPr lang="en-US" sz="2000">
                <a:solidFill>
                  <a:schemeClr val="tx1"/>
                </a:solidFill>
                <a:latin typeface="+mj-lt"/>
              </a:rPr>
              <a:t>}</a:t>
            </a:r>
          </a:p>
          <a:p>
            <a:endParaRPr lang="en-US" sz="2000">
              <a:solidFill>
                <a:schemeClr val="tx1"/>
              </a:solidFill>
              <a:latin typeface="+mj-lt"/>
            </a:endParaRPr>
          </a:p>
        </p:txBody>
      </p:sp>
      <p:grpSp>
        <p:nvGrpSpPr>
          <p:cNvPr id="9" name="Group 8">
            <a:extLst>
              <a:ext uri="{FF2B5EF4-FFF2-40B4-BE49-F238E27FC236}">
                <a16:creationId xmlns:a16="http://schemas.microsoft.com/office/drawing/2014/main" id="{AB41C257-98D4-9EB6-FB0F-5B178021B4E7}"/>
              </a:ext>
            </a:extLst>
          </p:cNvPr>
          <p:cNvGrpSpPr/>
          <p:nvPr/>
        </p:nvGrpSpPr>
        <p:grpSpPr>
          <a:xfrm>
            <a:off x="372798" y="371008"/>
            <a:ext cx="3400547" cy="1874745"/>
            <a:chOff x="247891" y="497710"/>
            <a:chExt cx="2402712" cy="1874745"/>
          </a:xfrm>
        </p:grpSpPr>
        <p:sp>
          <p:nvSpPr>
            <p:cNvPr id="5" name="Rectangle 4">
              <a:extLst>
                <a:ext uri="{FF2B5EF4-FFF2-40B4-BE49-F238E27FC236}">
                  <a16:creationId xmlns:a16="http://schemas.microsoft.com/office/drawing/2014/main" id="{C5DF284D-E7E8-6289-5857-4A780A329BCD}"/>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8" name="TextBox 7">
              <a:extLst>
                <a:ext uri="{FF2B5EF4-FFF2-40B4-BE49-F238E27FC236}">
                  <a16:creationId xmlns:a16="http://schemas.microsoft.com/office/drawing/2014/main" id="{50F8F5D6-DC69-D032-EC7A-F9BA95745A8D}"/>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main</a:t>
              </a:r>
            </a:p>
          </p:txBody>
        </p:sp>
      </p:grpSp>
      <p:sp>
        <p:nvSpPr>
          <p:cNvPr id="4" name="Rectangle 3">
            <a:extLst>
              <a:ext uri="{FF2B5EF4-FFF2-40B4-BE49-F238E27FC236}">
                <a16:creationId xmlns:a16="http://schemas.microsoft.com/office/drawing/2014/main" id="{7A92568B-68DB-9F3C-8429-431C5AAD0742}"/>
              </a:ext>
            </a:extLst>
          </p:cNvPr>
          <p:cNvSpPr/>
          <p:nvPr/>
        </p:nvSpPr>
        <p:spPr>
          <a:xfrm>
            <a:off x="1444047" y="1043490"/>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7</a:t>
            </a:r>
            <a:endParaRPr lang="en-US" sz="2800">
              <a:solidFill>
                <a:srgbClr val="F80B8D"/>
              </a:solidFill>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297B79AA-ED30-93D8-4364-9A459DA7E554}"/>
              </a:ext>
            </a:extLst>
          </p:cNvPr>
          <p:cNvSpPr txBox="1"/>
          <p:nvPr/>
        </p:nvSpPr>
        <p:spPr>
          <a:xfrm>
            <a:off x="1669683" y="458714"/>
            <a:ext cx="584592" cy="584775"/>
          </a:xfrm>
          <a:prstGeom prst="rect">
            <a:avLst/>
          </a:prstGeom>
          <a:noFill/>
        </p:spPr>
        <p:txBody>
          <a:bodyPr wrap="square">
            <a:spAutoFit/>
          </a:bodyPr>
          <a:lstStyle/>
          <a:p>
            <a:pPr algn="ctr"/>
            <a:r>
              <a:rPr lang="en-US" sz="3200">
                <a:latin typeface="+mj-lt"/>
              </a:rPr>
              <a:t>a</a:t>
            </a:r>
            <a:endParaRPr lang="en-US" sz="3200"/>
          </a:p>
        </p:txBody>
      </p:sp>
    </p:spTree>
    <p:extLst>
      <p:ext uri="{BB962C8B-B14F-4D97-AF65-F5344CB8AC3E}">
        <p14:creationId xmlns:p14="http://schemas.microsoft.com/office/powerpoint/2010/main" val="1144914533"/>
      </p:ext>
    </p:extLst>
  </p:cSld>
  <p:clrMapOvr>
    <a:masterClrMapping/>
  </p:clrMapOvr>
  <p:transition>
    <p:fade/>
  </p:transition>
</p:sld>
</file>

<file path=ppt/slides/slide4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C41F8-A393-AE28-CFFF-0669037A69FF}"/>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5B69CC23-0F12-F34E-665C-6CA22218F26F}"/>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F4A4FB94-39E1-1A12-DD09-D0DD11097B8D}"/>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0C9FACE4-16CD-483A-8F4B-8D820FCB6018}"/>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latin typeface="+mj-lt"/>
              </a:rPr>
              <a:t>void foo(</a:t>
            </a:r>
            <a:r>
              <a:rPr lang="en-US" sz="2000">
                <a:solidFill>
                  <a:srgbClr val="00007F"/>
                </a:solidFill>
                <a:latin typeface="+mj-lt"/>
              </a:rPr>
              <a:t>int</a:t>
            </a:r>
            <a:r>
              <a:rPr lang="en-US" sz="2000">
                <a:solidFill>
                  <a:schemeClr val="tx1"/>
                </a:solidFill>
                <a:latin typeface="+mj-lt"/>
              </a:rPr>
              <a:t> a) {</a:t>
            </a:r>
          </a:p>
          <a:p>
            <a:r>
              <a:rPr lang="en-US" sz="2000">
                <a:solidFill>
                  <a:schemeClr val="tx1"/>
                </a:solidFill>
                <a:latin typeface="+mj-lt"/>
              </a:rPr>
              <a:t>    a = </a:t>
            </a:r>
            <a:r>
              <a:rPr lang="en-US" sz="2000">
                <a:solidFill>
                  <a:srgbClr val="09B5B6"/>
                </a:solidFill>
                <a:latin typeface="+mj-lt"/>
              </a:rPr>
              <a:t>8</a:t>
            </a:r>
            <a:r>
              <a:rPr lang="en-US" sz="2000">
                <a:solidFill>
                  <a:schemeClr val="tx1"/>
                </a:solidFill>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chemeClr val="tx1"/>
                </a:solidFill>
                <a:latin typeface="+mj-lt"/>
              </a:rPr>
              <a:t>    </a:t>
            </a:r>
            <a:r>
              <a:rPr lang="en-US" sz="2000">
                <a:solidFill>
                  <a:srgbClr val="00007F"/>
                </a:solidFill>
                <a:latin typeface="+mj-lt"/>
              </a:rPr>
              <a:t>int</a:t>
            </a:r>
            <a:r>
              <a:rPr lang="en-US" sz="2000">
                <a:solidFill>
                  <a:schemeClr val="tx1"/>
                </a:solidFill>
                <a:latin typeface="+mj-lt"/>
              </a:rPr>
              <a:t> a = </a:t>
            </a:r>
            <a:r>
              <a:rPr lang="en-US" sz="2000">
                <a:solidFill>
                  <a:srgbClr val="09B5B6"/>
                </a:solidFill>
                <a:latin typeface="+mj-lt"/>
              </a:rPr>
              <a:t>7</a:t>
            </a:r>
            <a:r>
              <a:rPr lang="en-US" sz="2000">
                <a:solidFill>
                  <a:schemeClr val="tx1"/>
                </a:solidFill>
                <a:latin typeface="+mj-lt"/>
              </a:rPr>
              <a:t>;</a:t>
            </a:r>
          </a:p>
          <a:p>
            <a:r>
              <a:rPr lang="en-US" sz="2000">
                <a:solidFill>
                  <a:schemeClr val="tx1"/>
                </a:solidFill>
                <a:latin typeface="+mj-lt"/>
              </a:rPr>
              <a:t>    foo(a);</a:t>
            </a:r>
          </a:p>
          <a:p>
            <a:r>
              <a:rPr lang="en-US" sz="2000">
                <a:solidFill>
                  <a:schemeClr val="tx1"/>
                </a:solidFill>
                <a:highlight>
                  <a:srgbClr val="FFFF00"/>
                </a:highlight>
                <a:latin typeface="+mj-lt"/>
              </a:rPr>
              <a:t>}</a:t>
            </a:r>
          </a:p>
          <a:p>
            <a:endParaRPr lang="en-US" sz="2000">
              <a:solidFill>
                <a:schemeClr val="tx1"/>
              </a:solidFill>
              <a:latin typeface="+mj-lt"/>
            </a:endParaRPr>
          </a:p>
        </p:txBody>
      </p:sp>
      <p:grpSp>
        <p:nvGrpSpPr>
          <p:cNvPr id="9" name="Group 8">
            <a:extLst>
              <a:ext uri="{FF2B5EF4-FFF2-40B4-BE49-F238E27FC236}">
                <a16:creationId xmlns:a16="http://schemas.microsoft.com/office/drawing/2014/main" id="{BC0B6991-51ED-660A-C9B4-BF2DCF281C46}"/>
              </a:ext>
            </a:extLst>
          </p:cNvPr>
          <p:cNvGrpSpPr/>
          <p:nvPr/>
        </p:nvGrpSpPr>
        <p:grpSpPr>
          <a:xfrm>
            <a:off x="372798" y="371008"/>
            <a:ext cx="3400547" cy="1874745"/>
            <a:chOff x="247891" y="497710"/>
            <a:chExt cx="2402712" cy="1874745"/>
          </a:xfrm>
        </p:grpSpPr>
        <p:sp>
          <p:nvSpPr>
            <p:cNvPr id="5" name="Rectangle 4">
              <a:extLst>
                <a:ext uri="{FF2B5EF4-FFF2-40B4-BE49-F238E27FC236}">
                  <a16:creationId xmlns:a16="http://schemas.microsoft.com/office/drawing/2014/main" id="{BC892F93-92CA-7E75-B8B4-3793C0808DFA}"/>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8" name="TextBox 7">
              <a:extLst>
                <a:ext uri="{FF2B5EF4-FFF2-40B4-BE49-F238E27FC236}">
                  <a16:creationId xmlns:a16="http://schemas.microsoft.com/office/drawing/2014/main" id="{5E49670F-44CD-DF17-99F5-4C899233112E}"/>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main</a:t>
              </a:r>
            </a:p>
          </p:txBody>
        </p:sp>
      </p:grpSp>
      <p:sp>
        <p:nvSpPr>
          <p:cNvPr id="4" name="Rectangle 3">
            <a:extLst>
              <a:ext uri="{FF2B5EF4-FFF2-40B4-BE49-F238E27FC236}">
                <a16:creationId xmlns:a16="http://schemas.microsoft.com/office/drawing/2014/main" id="{9A4C06B6-6B27-DC3A-8E68-4EF7EBAE03DA}"/>
              </a:ext>
            </a:extLst>
          </p:cNvPr>
          <p:cNvSpPr/>
          <p:nvPr/>
        </p:nvSpPr>
        <p:spPr>
          <a:xfrm>
            <a:off x="1444047" y="1043490"/>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7</a:t>
            </a:r>
            <a:endParaRPr lang="en-US" sz="2800">
              <a:solidFill>
                <a:srgbClr val="F80B8D"/>
              </a:solidFill>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575FF276-91AF-363B-E2F6-0B6E917C99AB}"/>
              </a:ext>
            </a:extLst>
          </p:cNvPr>
          <p:cNvSpPr txBox="1"/>
          <p:nvPr/>
        </p:nvSpPr>
        <p:spPr>
          <a:xfrm>
            <a:off x="1669683" y="458714"/>
            <a:ext cx="584592" cy="584775"/>
          </a:xfrm>
          <a:prstGeom prst="rect">
            <a:avLst/>
          </a:prstGeom>
          <a:noFill/>
        </p:spPr>
        <p:txBody>
          <a:bodyPr wrap="square">
            <a:spAutoFit/>
          </a:bodyPr>
          <a:lstStyle/>
          <a:p>
            <a:pPr algn="ctr"/>
            <a:r>
              <a:rPr lang="en-US" sz="3200">
                <a:latin typeface="+mj-lt"/>
              </a:rPr>
              <a:t>a</a:t>
            </a:r>
            <a:endParaRPr lang="en-US" sz="3200"/>
          </a:p>
        </p:txBody>
      </p:sp>
    </p:spTree>
    <p:extLst>
      <p:ext uri="{BB962C8B-B14F-4D97-AF65-F5344CB8AC3E}">
        <p14:creationId xmlns:p14="http://schemas.microsoft.com/office/powerpoint/2010/main" val="3093514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CAC07-4094-AF93-5EEA-85D0894E1346}"/>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4E963C1F-5257-1AF6-E715-6524CE19C621}"/>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A0F40FCB-57DC-37A0-AA89-F07508421DFF}"/>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A10BFE92-047D-6FAA-869B-7E7C573CF80C}"/>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latin typeface="+mj-lt"/>
              </a:rPr>
              <a:t>void foo(</a:t>
            </a:r>
            <a:r>
              <a:rPr lang="en-US" sz="2000">
                <a:solidFill>
                  <a:srgbClr val="00007F"/>
                </a:solidFill>
                <a:latin typeface="+mj-lt"/>
              </a:rPr>
              <a:t>int</a:t>
            </a:r>
            <a:r>
              <a:rPr lang="en-US" sz="2000">
                <a:solidFill>
                  <a:schemeClr val="tx1"/>
                </a:solidFill>
                <a:latin typeface="+mj-lt"/>
              </a:rPr>
              <a:t> a) {</a:t>
            </a:r>
          </a:p>
          <a:p>
            <a:r>
              <a:rPr lang="en-US" sz="2000">
                <a:solidFill>
                  <a:schemeClr val="tx1"/>
                </a:solidFill>
                <a:latin typeface="+mj-lt"/>
              </a:rPr>
              <a:t>    a = </a:t>
            </a:r>
            <a:r>
              <a:rPr lang="en-US" sz="2000">
                <a:solidFill>
                  <a:srgbClr val="09B5B6"/>
                </a:solidFill>
                <a:latin typeface="+mj-lt"/>
              </a:rPr>
              <a:t>8</a:t>
            </a:r>
            <a:r>
              <a:rPr lang="en-US" sz="2000">
                <a:solidFill>
                  <a:schemeClr val="tx1"/>
                </a:solidFill>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chemeClr val="tx1"/>
                </a:solidFill>
                <a:latin typeface="+mj-lt"/>
              </a:rPr>
              <a:t>    </a:t>
            </a:r>
            <a:r>
              <a:rPr lang="en-US" sz="2000">
                <a:solidFill>
                  <a:srgbClr val="00007F"/>
                </a:solidFill>
                <a:latin typeface="+mj-lt"/>
              </a:rPr>
              <a:t>int</a:t>
            </a:r>
            <a:r>
              <a:rPr lang="en-US" sz="2000">
                <a:solidFill>
                  <a:schemeClr val="tx1"/>
                </a:solidFill>
                <a:latin typeface="+mj-lt"/>
              </a:rPr>
              <a:t> a = </a:t>
            </a:r>
            <a:r>
              <a:rPr lang="en-US" sz="2000">
                <a:solidFill>
                  <a:srgbClr val="09B5B6"/>
                </a:solidFill>
                <a:latin typeface="+mj-lt"/>
              </a:rPr>
              <a:t>7</a:t>
            </a:r>
            <a:r>
              <a:rPr lang="en-US" sz="2000">
                <a:solidFill>
                  <a:schemeClr val="tx1"/>
                </a:solidFill>
                <a:latin typeface="+mj-lt"/>
              </a:rPr>
              <a:t>;</a:t>
            </a:r>
          </a:p>
          <a:p>
            <a:r>
              <a:rPr lang="en-US" sz="2000">
                <a:solidFill>
                  <a:schemeClr val="tx1"/>
                </a:solidFill>
                <a:latin typeface="+mj-lt"/>
              </a:rPr>
              <a:t>    foo(a);</a:t>
            </a:r>
          </a:p>
          <a:p>
            <a:r>
              <a:rPr lang="en-US" sz="2000">
                <a:solidFill>
                  <a:schemeClr val="tx1"/>
                </a:solidFill>
                <a:latin typeface="+mj-lt"/>
              </a:rPr>
              <a:t>}</a:t>
            </a:r>
          </a:p>
          <a:p>
            <a:endParaRPr lang="en-US" sz="2000">
              <a:solidFill>
                <a:schemeClr val="tx1"/>
              </a:solidFill>
              <a:latin typeface="+mj-lt"/>
            </a:endParaRPr>
          </a:p>
        </p:txBody>
      </p:sp>
    </p:spTree>
    <p:extLst>
      <p:ext uri="{BB962C8B-B14F-4D97-AF65-F5344CB8AC3E}">
        <p14:creationId xmlns:p14="http://schemas.microsoft.com/office/powerpoint/2010/main" val="336035867"/>
      </p:ext>
    </p:extLst>
  </p:cSld>
  <p:clrMapOvr>
    <a:masterClrMapping/>
  </p:clrMapOvr>
  <p:transition>
    <p:fade/>
  </p:transition>
</p:sld>
</file>

<file path=ppt/slides/slide4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8FFFC-0655-65A7-632B-197364F5CE5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80216B3-A38C-F5B5-5559-CA8553D2D4DF}"/>
              </a:ext>
            </a:extLst>
          </p:cNvPr>
          <p:cNvSpPr>
            <a:spLocks noGrp="1"/>
          </p:cNvSpPr>
          <p:nvPr>
            <p:ph type="title"/>
          </p:nvPr>
        </p:nvSpPr>
        <p:spPr/>
        <p:txBody>
          <a:bodyPr/>
          <a:lstStyle/>
          <a:p>
            <a:r>
              <a:rPr lang="en-US"/>
              <a:t>references are also</a:t>
            </a:r>
            <a:br>
              <a:rPr lang="en-US"/>
            </a:br>
            <a:r>
              <a:rPr lang="en-US"/>
              <a:t>passed by value</a:t>
            </a:r>
          </a:p>
        </p:txBody>
      </p:sp>
    </p:spTree>
    <p:extLst>
      <p:ext uri="{BB962C8B-B14F-4D97-AF65-F5344CB8AC3E}">
        <p14:creationId xmlns:p14="http://schemas.microsoft.com/office/powerpoint/2010/main" val="3115163895"/>
      </p:ext>
    </p:extLst>
  </p:cSld>
  <p:clrMapOvr>
    <a:masterClrMapping/>
  </p:clrMapOvr>
</p:sld>
</file>

<file path=ppt/slides/slide4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C2C58-0AE5-CF98-E57F-A27456C939E7}"/>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B69E1BB3-8F94-57DC-7A48-466F48E33B51}"/>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2E81F0B1-0F82-3B2E-0BF2-361225E9901E}"/>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4699B4B3-E9D2-3D53-1BC6-1AFF2644E5CA}"/>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latin typeface="+mj-lt"/>
              </a:rPr>
              <a:t>void foo(</a:t>
            </a:r>
            <a:r>
              <a:rPr lang="en-US" sz="2000">
                <a:solidFill>
                  <a:srgbClr val="00007F"/>
                </a:solidFill>
                <a:latin typeface="+mj-lt"/>
              </a:rPr>
              <a:t>Thing</a:t>
            </a:r>
            <a:r>
              <a:rPr lang="en-US" sz="2000">
                <a:solidFill>
                  <a:schemeClr val="tx1"/>
                </a:solidFill>
                <a:latin typeface="+mj-lt"/>
              </a:rPr>
              <a:t> a) {</a:t>
            </a:r>
          </a:p>
          <a:p>
            <a:r>
              <a:rPr lang="en-US" sz="2000">
                <a:solidFill>
                  <a:schemeClr val="tx1"/>
                </a:solidFill>
                <a:latin typeface="+mj-lt"/>
              </a:rPr>
              <a:t>  a.y = </a:t>
            </a:r>
            <a:r>
              <a:rPr lang="en-US" sz="2000">
                <a:solidFill>
                  <a:srgbClr val="09B5B6"/>
                </a:solidFill>
                <a:latin typeface="+mj-lt"/>
              </a:rPr>
              <a:t>4.0</a:t>
            </a:r>
            <a:r>
              <a:rPr lang="en-US" sz="2000">
                <a:solidFill>
                  <a:schemeClr val="tx1"/>
                </a:solidFill>
                <a:latin typeface="+mj-lt"/>
              </a:rPr>
              <a:t>;</a:t>
            </a:r>
          </a:p>
          <a:p>
            <a:r>
              <a:rPr lang="en-US" sz="2000">
                <a:solidFill>
                  <a:schemeClr val="tx1"/>
                </a:solidFill>
                <a:latin typeface="+mj-lt"/>
              </a:rPr>
              <a:t>  a = </a:t>
            </a:r>
            <a:r>
              <a:rPr lang="en-US" sz="2000">
                <a:solidFill>
                  <a:srgbClr val="0432FF"/>
                </a:solidFill>
                <a:latin typeface="+mj-lt"/>
              </a:rPr>
              <a:t>null</a:t>
            </a:r>
            <a:r>
              <a:rPr lang="en-US" sz="2000">
                <a:solidFill>
                  <a:schemeClr val="tx1"/>
                </a:solidFill>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rgbClr val="00007F"/>
                </a:solidFill>
                <a:latin typeface="+mj-lt"/>
              </a:rPr>
              <a:t>  Thing</a:t>
            </a:r>
            <a:r>
              <a:rPr lang="en-US" sz="2000">
                <a:solidFill>
                  <a:schemeClr val="tx1"/>
                </a:solidFill>
                <a:latin typeface="+mj-lt"/>
              </a:rPr>
              <a:t> a;</a:t>
            </a:r>
          </a:p>
          <a:p>
            <a:r>
              <a:rPr lang="en-US" sz="2000">
                <a:solidFill>
                  <a:schemeClr val="tx1"/>
                </a:solidFill>
                <a:latin typeface="+mj-lt"/>
              </a:rPr>
              <a:t>  a = new </a:t>
            </a:r>
            <a:r>
              <a:rPr lang="en-US" sz="2000">
                <a:solidFill>
                  <a:srgbClr val="00007F"/>
                </a:solidFill>
                <a:latin typeface="+mj-lt"/>
              </a:rPr>
              <a:t>Thing</a:t>
            </a:r>
            <a:r>
              <a:rPr lang="en-US" sz="2000">
                <a:solidFill>
                  <a:schemeClr val="tx1"/>
                </a:solidFill>
                <a:latin typeface="+mj-lt"/>
              </a:rPr>
              <a:t>();</a:t>
            </a:r>
          </a:p>
          <a:p>
            <a:r>
              <a:rPr lang="en-US" sz="2000">
                <a:solidFill>
                  <a:schemeClr val="tx1"/>
                </a:solidFill>
                <a:latin typeface="+mj-lt"/>
              </a:rPr>
              <a:t>  a.x = </a:t>
            </a:r>
            <a:r>
              <a:rPr lang="en-US" sz="2000">
                <a:solidFill>
                  <a:srgbClr val="09B5B6"/>
                </a:solidFill>
                <a:latin typeface="+mj-lt"/>
              </a:rPr>
              <a:t>3.0</a:t>
            </a:r>
            <a:r>
              <a:rPr lang="en-US" sz="2000">
                <a:solidFill>
                  <a:schemeClr val="tx1"/>
                </a:solidFill>
                <a:latin typeface="+mj-lt"/>
              </a:rPr>
              <a:t>;</a:t>
            </a:r>
          </a:p>
          <a:p>
            <a:r>
              <a:rPr lang="en-US" sz="2000">
                <a:solidFill>
                  <a:schemeClr val="tx1"/>
                </a:solidFill>
                <a:latin typeface="+mj-lt"/>
              </a:rPr>
              <a:t>  foo(a);</a:t>
            </a:r>
          </a:p>
          <a:p>
            <a:r>
              <a:rPr lang="en-US" sz="2000">
                <a:solidFill>
                  <a:schemeClr val="tx1"/>
                </a:solidFill>
                <a:latin typeface="+mj-lt"/>
              </a:rPr>
              <a:t>  a.y = </a:t>
            </a:r>
            <a:r>
              <a:rPr lang="en-US" sz="2000">
                <a:solidFill>
                  <a:srgbClr val="09B5B6"/>
                </a:solidFill>
                <a:latin typeface="+mj-lt"/>
              </a:rPr>
              <a:t>5.0</a:t>
            </a:r>
            <a:r>
              <a:rPr lang="en-US" sz="2000">
                <a:solidFill>
                  <a:schemeClr val="tx1"/>
                </a:solidFill>
                <a:latin typeface="+mj-lt"/>
              </a:rPr>
              <a:t>;</a:t>
            </a:r>
          </a:p>
          <a:p>
            <a:r>
              <a:rPr lang="en-US" sz="2000">
                <a:solidFill>
                  <a:schemeClr val="tx1"/>
                </a:solidFill>
                <a:latin typeface="+mj-lt"/>
              </a:rPr>
              <a:t>}</a:t>
            </a:r>
          </a:p>
        </p:txBody>
      </p:sp>
    </p:spTree>
    <p:extLst>
      <p:ext uri="{BB962C8B-B14F-4D97-AF65-F5344CB8AC3E}">
        <p14:creationId xmlns:p14="http://schemas.microsoft.com/office/powerpoint/2010/main" val="3974336229"/>
      </p:ext>
    </p:extLst>
  </p:cSld>
  <p:clrMapOvr>
    <a:masterClrMapping/>
  </p:clrMapOvr>
</p:sld>
</file>

<file path=ppt/slides/slide4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7A295-D87D-7A56-79C4-61CFED9D6E43}"/>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2D654B13-9091-29AB-078F-6B97F4E4168F}"/>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AD5D066D-0BC5-5F58-7FD4-2BC5723CB1EC}"/>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958FD79F-0E2F-7C4E-578C-AFAAA5A4471C}"/>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latin typeface="+mj-lt"/>
              </a:rPr>
              <a:t>void foo(</a:t>
            </a:r>
            <a:r>
              <a:rPr lang="en-US" sz="2000">
                <a:solidFill>
                  <a:srgbClr val="00007F"/>
                </a:solidFill>
                <a:latin typeface="+mj-lt"/>
              </a:rPr>
              <a:t>Thing</a:t>
            </a:r>
            <a:r>
              <a:rPr lang="en-US" sz="2000">
                <a:solidFill>
                  <a:schemeClr val="tx1"/>
                </a:solidFill>
                <a:latin typeface="+mj-lt"/>
              </a:rPr>
              <a:t> a) {</a:t>
            </a:r>
          </a:p>
          <a:p>
            <a:r>
              <a:rPr lang="en-US" sz="2000">
                <a:solidFill>
                  <a:schemeClr val="tx1"/>
                </a:solidFill>
                <a:latin typeface="+mj-lt"/>
              </a:rPr>
              <a:t>  a.y = </a:t>
            </a:r>
            <a:r>
              <a:rPr lang="en-US" sz="2000">
                <a:solidFill>
                  <a:srgbClr val="09B5B6"/>
                </a:solidFill>
                <a:latin typeface="+mj-lt"/>
              </a:rPr>
              <a:t>4.0</a:t>
            </a:r>
            <a:r>
              <a:rPr lang="en-US" sz="2000">
                <a:solidFill>
                  <a:schemeClr val="tx1"/>
                </a:solidFill>
                <a:latin typeface="+mj-lt"/>
              </a:rPr>
              <a:t>;</a:t>
            </a:r>
          </a:p>
          <a:p>
            <a:r>
              <a:rPr lang="en-US" sz="2000">
                <a:solidFill>
                  <a:schemeClr val="tx1"/>
                </a:solidFill>
                <a:latin typeface="+mj-lt"/>
              </a:rPr>
              <a:t>  a = </a:t>
            </a:r>
            <a:r>
              <a:rPr lang="en-US" sz="2000">
                <a:solidFill>
                  <a:srgbClr val="0432FF"/>
                </a:solidFill>
                <a:latin typeface="+mj-lt"/>
              </a:rPr>
              <a:t>null</a:t>
            </a:r>
            <a:r>
              <a:rPr lang="en-US" sz="2000">
                <a:solidFill>
                  <a:schemeClr val="tx1"/>
                </a:solidFill>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highlight>
                  <a:srgbClr val="FFFF00"/>
                </a:highlight>
                <a:latin typeface="+mj-lt"/>
              </a:rPr>
              <a:t>void main() {</a:t>
            </a:r>
          </a:p>
          <a:p>
            <a:r>
              <a:rPr lang="en-US" sz="2000">
                <a:solidFill>
                  <a:srgbClr val="00007F"/>
                </a:solidFill>
                <a:latin typeface="+mj-lt"/>
              </a:rPr>
              <a:t>  Thing</a:t>
            </a:r>
            <a:r>
              <a:rPr lang="en-US" sz="2000">
                <a:solidFill>
                  <a:schemeClr val="tx1"/>
                </a:solidFill>
                <a:latin typeface="+mj-lt"/>
              </a:rPr>
              <a:t> a;</a:t>
            </a:r>
          </a:p>
          <a:p>
            <a:r>
              <a:rPr lang="en-US" sz="2000">
                <a:solidFill>
                  <a:schemeClr val="tx1"/>
                </a:solidFill>
                <a:latin typeface="+mj-lt"/>
              </a:rPr>
              <a:t>  a = new </a:t>
            </a:r>
            <a:r>
              <a:rPr lang="en-US" sz="2000">
                <a:solidFill>
                  <a:srgbClr val="00007F"/>
                </a:solidFill>
                <a:latin typeface="+mj-lt"/>
              </a:rPr>
              <a:t>Thing</a:t>
            </a:r>
            <a:r>
              <a:rPr lang="en-US" sz="2000">
                <a:solidFill>
                  <a:schemeClr val="tx1"/>
                </a:solidFill>
                <a:latin typeface="+mj-lt"/>
              </a:rPr>
              <a:t>();</a:t>
            </a:r>
          </a:p>
          <a:p>
            <a:r>
              <a:rPr lang="en-US" sz="2000">
                <a:solidFill>
                  <a:schemeClr val="tx1"/>
                </a:solidFill>
                <a:latin typeface="+mj-lt"/>
              </a:rPr>
              <a:t>  a.x = </a:t>
            </a:r>
            <a:r>
              <a:rPr lang="en-US" sz="2000">
                <a:solidFill>
                  <a:srgbClr val="09B5B6"/>
                </a:solidFill>
                <a:latin typeface="+mj-lt"/>
              </a:rPr>
              <a:t>3.0</a:t>
            </a:r>
            <a:r>
              <a:rPr lang="en-US" sz="2000">
                <a:solidFill>
                  <a:schemeClr val="tx1"/>
                </a:solidFill>
                <a:latin typeface="+mj-lt"/>
              </a:rPr>
              <a:t>;</a:t>
            </a:r>
          </a:p>
          <a:p>
            <a:r>
              <a:rPr lang="en-US" sz="2000">
                <a:solidFill>
                  <a:schemeClr val="tx1"/>
                </a:solidFill>
                <a:latin typeface="+mj-lt"/>
              </a:rPr>
              <a:t>  foo(a);</a:t>
            </a:r>
          </a:p>
          <a:p>
            <a:r>
              <a:rPr lang="en-US" sz="2000">
                <a:solidFill>
                  <a:schemeClr val="tx1"/>
                </a:solidFill>
                <a:latin typeface="+mj-lt"/>
              </a:rPr>
              <a:t>  a.y = </a:t>
            </a:r>
            <a:r>
              <a:rPr lang="en-US" sz="2000">
                <a:solidFill>
                  <a:srgbClr val="09B5B6"/>
                </a:solidFill>
                <a:latin typeface="+mj-lt"/>
              </a:rPr>
              <a:t>5.0</a:t>
            </a:r>
            <a:r>
              <a:rPr lang="en-US" sz="2000">
                <a:solidFill>
                  <a:schemeClr val="tx1"/>
                </a:solidFill>
                <a:latin typeface="+mj-lt"/>
              </a:rPr>
              <a:t>;</a:t>
            </a:r>
          </a:p>
          <a:p>
            <a:r>
              <a:rPr lang="en-US" sz="2000">
                <a:solidFill>
                  <a:schemeClr val="tx1"/>
                </a:solidFill>
                <a:latin typeface="+mj-lt"/>
              </a:rPr>
              <a:t>}</a:t>
            </a:r>
          </a:p>
        </p:txBody>
      </p:sp>
      <p:grpSp>
        <p:nvGrpSpPr>
          <p:cNvPr id="9" name="Group 8">
            <a:extLst>
              <a:ext uri="{FF2B5EF4-FFF2-40B4-BE49-F238E27FC236}">
                <a16:creationId xmlns:a16="http://schemas.microsoft.com/office/drawing/2014/main" id="{42EE86A8-532C-E1DA-7ED4-A2517F243F73}"/>
              </a:ext>
            </a:extLst>
          </p:cNvPr>
          <p:cNvGrpSpPr/>
          <p:nvPr/>
        </p:nvGrpSpPr>
        <p:grpSpPr>
          <a:xfrm>
            <a:off x="372798" y="371008"/>
            <a:ext cx="3400547" cy="1874745"/>
            <a:chOff x="247891" y="497710"/>
            <a:chExt cx="2402712" cy="1874745"/>
          </a:xfrm>
        </p:grpSpPr>
        <p:sp>
          <p:nvSpPr>
            <p:cNvPr id="5" name="Rectangle 4">
              <a:extLst>
                <a:ext uri="{FF2B5EF4-FFF2-40B4-BE49-F238E27FC236}">
                  <a16:creationId xmlns:a16="http://schemas.microsoft.com/office/drawing/2014/main" id="{97A85A46-88E5-1FE2-2976-36FB7905021E}"/>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8" name="TextBox 7">
              <a:extLst>
                <a:ext uri="{FF2B5EF4-FFF2-40B4-BE49-F238E27FC236}">
                  <a16:creationId xmlns:a16="http://schemas.microsoft.com/office/drawing/2014/main" id="{2E532AB6-8BDC-C75C-665F-CAC3211049FD}"/>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main</a:t>
              </a:r>
            </a:p>
          </p:txBody>
        </p:sp>
      </p:grpSp>
    </p:spTree>
    <p:extLst>
      <p:ext uri="{BB962C8B-B14F-4D97-AF65-F5344CB8AC3E}">
        <p14:creationId xmlns:p14="http://schemas.microsoft.com/office/powerpoint/2010/main" val="2452176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B1E5D-3796-C5DD-D49D-4C19B99C91FF}"/>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35732274-FCCC-092C-193C-EFC1D771E3DE}"/>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575CC1A5-ECEC-4B21-8E2A-BF8D47C63823}"/>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F6DCABA-09C5-E8E6-5A5B-24C69164163D}"/>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latin typeface="+mj-lt"/>
              </a:rPr>
              <a:t>void foo(</a:t>
            </a:r>
            <a:r>
              <a:rPr lang="en-US" sz="2000">
                <a:solidFill>
                  <a:srgbClr val="00007F"/>
                </a:solidFill>
                <a:latin typeface="+mj-lt"/>
              </a:rPr>
              <a:t>Thing</a:t>
            </a:r>
            <a:r>
              <a:rPr lang="en-US" sz="2000">
                <a:solidFill>
                  <a:schemeClr val="tx1"/>
                </a:solidFill>
                <a:latin typeface="+mj-lt"/>
              </a:rPr>
              <a:t> a) {</a:t>
            </a:r>
          </a:p>
          <a:p>
            <a:r>
              <a:rPr lang="en-US" sz="2000">
                <a:solidFill>
                  <a:schemeClr val="tx1"/>
                </a:solidFill>
                <a:latin typeface="+mj-lt"/>
              </a:rPr>
              <a:t>  a.y = </a:t>
            </a:r>
            <a:r>
              <a:rPr lang="en-US" sz="2000">
                <a:solidFill>
                  <a:srgbClr val="09B5B6"/>
                </a:solidFill>
                <a:latin typeface="+mj-lt"/>
              </a:rPr>
              <a:t>4.0</a:t>
            </a:r>
            <a:r>
              <a:rPr lang="en-US" sz="2000">
                <a:solidFill>
                  <a:schemeClr val="tx1"/>
                </a:solidFill>
                <a:latin typeface="+mj-lt"/>
              </a:rPr>
              <a:t>;</a:t>
            </a:r>
          </a:p>
          <a:p>
            <a:r>
              <a:rPr lang="en-US" sz="2000">
                <a:solidFill>
                  <a:schemeClr val="tx1"/>
                </a:solidFill>
                <a:latin typeface="+mj-lt"/>
              </a:rPr>
              <a:t>  a = </a:t>
            </a:r>
            <a:r>
              <a:rPr lang="en-US" sz="2000">
                <a:solidFill>
                  <a:srgbClr val="0432FF"/>
                </a:solidFill>
                <a:latin typeface="+mj-lt"/>
              </a:rPr>
              <a:t>null</a:t>
            </a:r>
            <a:r>
              <a:rPr lang="en-US" sz="2000">
                <a:solidFill>
                  <a:schemeClr val="tx1"/>
                </a:solidFill>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rgbClr val="00007F"/>
                </a:solidFill>
                <a:highlight>
                  <a:srgbClr val="FFFF00"/>
                </a:highlight>
                <a:latin typeface="+mj-lt"/>
              </a:rPr>
              <a:t>  Thing</a:t>
            </a:r>
            <a:r>
              <a:rPr lang="en-US" sz="2000">
                <a:solidFill>
                  <a:schemeClr val="tx1"/>
                </a:solidFill>
                <a:highlight>
                  <a:srgbClr val="FFFF00"/>
                </a:highlight>
                <a:latin typeface="+mj-lt"/>
              </a:rPr>
              <a:t> a;</a:t>
            </a:r>
          </a:p>
          <a:p>
            <a:r>
              <a:rPr lang="en-US" sz="2000">
                <a:solidFill>
                  <a:schemeClr val="tx1"/>
                </a:solidFill>
                <a:latin typeface="+mj-lt"/>
              </a:rPr>
              <a:t>  a = new </a:t>
            </a:r>
            <a:r>
              <a:rPr lang="en-US" sz="2000">
                <a:solidFill>
                  <a:srgbClr val="00007F"/>
                </a:solidFill>
                <a:latin typeface="+mj-lt"/>
              </a:rPr>
              <a:t>Thing</a:t>
            </a:r>
            <a:r>
              <a:rPr lang="en-US" sz="2000">
                <a:solidFill>
                  <a:schemeClr val="tx1"/>
                </a:solidFill>
                <a:latin typeface="+mj-lt"/>
              </a:rPr>
              <a:t>();</a:t>
            </a:r>
          </a:p>
          <a:p>
            <a:r>
              <a:rPr lang="en-US" sz="2000">
                <a:solidFill>
                  <a:schemeClr val="tx1"/>
                </a:solidFill>
                <a:latin typeface="+mj-lt"/>
              </a:rPr>
              <a:t>  a.x = </a:t>
            </a:r>
            <a:r>
              <a:rPr lang="en-US" sz="2000">
                <a:solidFill>
                  <a:srgbClr val="09B5B6"/>
                </a:solidFill>
                <a:latin typeface="+mj-lt"/>
              </a:rPr>
              <a:t>3.0</a:t>
            </a:r>
            <a:r>
              <a:rPr lang="en-US" sz="2000">
                <a:solidFill>
                  <a:schemeClr val="tx1"/>
                </a:solidFill>
                <a:latin typeface="+mj-lt"/>
              </a:rPr>
              <a:t>;</a:t>
            </a:r>
          </a:p>
          <a:p>
            <a:r>
              <a:rPr lang="en-US" sz="2000">
                <a:solidFill>
                  <a:schemeClr val="tx1"/>
                </a:solidFill>
                <a:latin typeface="+mj-lt"/>
              </a:rPr>
              <a:t>  foo(a);</a:t>
            </a:r>
          </a:p>
          <a:p>
            <a:r>
              <a:rPr lang="en-US" sz="2000">
                <a:solidFill>
                  <a:schemeClr val="tx1"/>
                </a:solidFill>
                <a:latin typeface="+mj-lt"/>
              </a:rPr>
              <a:t>  a.y = </a:t>
            </a:r>
            <a:r>
              <a:rPr lang="en-US" sz="2000">
                <a:solidFill>
                  <a:srgbClr val="09B5B6"/>
                </a:solidFill>
                <a:latin typeface="+mj-lt"/>
              </a:rPr>
              <a:t>5.0</a:t>
            </a:r>
            <a:r>
              <a:rPr lang="en-US" sz="2000">
                <a:solidFill>
                  <a:schemeClr val="tx1"/>
                </a:solidFill>
                <a:latin typeface="+mj-lt"/>
              </a:rPr>
              <a:t>;</a:t>
            </a:r>
          </a:p>
          <a:p>
            <a:r>
              <a:rPr lang="en-US" sz="2000">
                <a:solidFill>
                  <a:schemeClr val="tx1"/>
                </a:solidFill>
                <a:latin typeface="+mj-lt"/>
              </a:rPr>
              <a:t>}</a:t>
            </a:r>
          </a:p>
        </p:txBody>
      </p:sp>
      <p:grpSp>
        <p:nvGrpSpPr>
          <p:cNvPr id="9" name="Group 8">
            <a:extLst>
              <a:ext uri="{FF2B5EF4-FFF2-40B4-BE49-F238E27FC236}">
                <a16:creationId xmlns:a16="http://schemas.microsoft.com/office/drawing/2014/main" id="{D7B1DE99-20A1-6937-3AD7-EF0AE943F14F}"/>
              </a:ext>
            </a:extLst>
          </p:cNvPr>
          <p:cNvGrpSpPr/>
          <p:nvPr/>
        </p:nvGrpSpPr>
        <p:grpSpPr>
          <a:xfrm>
            <a:off x="372798" y="371008"/>
            <a:ext cx="3400547" cy="1874745"/>
            <a:chOff x="247891" y="497710"/>
            <a:chExt cx="2402712" cy="1874745"/>
          </a:xfrm>
        </p:grpSpPr>
        <p:sp>
          <p:nvSpPr>
            <p:cNvPr id="5" name="Rectangle 4">
              <a:extLst>
                <a:ext uri="{FF2B5EF4-FFF2-40B4-BE49-F238E27FC236}">
                  <a16:creationId xmlns:a16="http://schemas.microsoft.com/office/drawing/2014/main" id="{DD36DF5D-4799-2045-3B16-4BEE73E16357}"/>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8" name="TextBox 7">
              <a:extLst>
                <a:ext uri="{FF2B5EF4-FFF2-40B4-BE49-F238E27FC236}">
                  <a16:creationId xmlns:a16="http://schemas.microsoft.com/office/drawing/2014/main" id="{FFEA8BAF-6E26-041D-65ED-D73D19C19230}"/>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main</a:t>
              </a:r>
            </a:p>
          </p:txBody>
        </p:sp>
      </p:grpSp>
      <p:sp>
        <p:nvSpPr>
          <p:cNvPr id="4" name="Rectangle 3">
            <a:extLst>
              <a:ext uri="{FF2B5EF4-FFF2-40B4-BE49-F238E27FC236}">
                <a16:creationId xmlns:a16="http://schemas.microsoft.com/office/drawing/2014/main" id="{51027DE3-534E-29D1-2844-2C8A93967E35}"/>
              </a:ext>
            </a:extLst>
          </p:cNvPr>
          <p:cNvSpPr/>
          <p:nvPr/>
        </p:nvSpPr>
        <p:spPr>
          <a:xfrm>
            <a:off x="1444047" y="1043490"/>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1"/>
                </a:solidFill>
                <a:highlight>
                  <a:srgbClr val="FFFF00"/>
                </a:highlight>
                <a:latin typeface="+mj-lt"/>
              </a:rPr>
              <a:t>?</a:t>
            </a:r>
            <a:endParaRPr lang="en-US" sz="2800">
              <a:solidFill>
                <a:schemeClr val="accent1"/>
              </a:solidFill>
              <a:highlight>
                <a:srgbClr val="FFFF00"/>
              </a:highlight>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826436DA-0998-C761-F430-529B3DF609AA}"/>
              </a:ext>
            </a:extLst>
          </p:cNvPr>
          <p:cNvSpPr txBox="1"/>
          <p:nvPr/>
        </p:nvSpPr>
        <p:spPr>
          <a:xfrm>
            <a:off x="1669683" y="458714"/>
            <a:ext cx="584592" cy="584775"/>
          </a:xfrm>
          <a:prstGeom prst="rect">
            <a:avLst/>
          </a:prstGeom>
          <a:noFill/>
        </p:spPr>
        <p:txBody>
          <a:bodyPr wrap="square">
            <a:spAutoFit/>
          </a:bodyPr>
          <a:lstStyle/>
          <a:p>
            <a:pPr algn="ctr"/>
            <a:r>
              <a:rPr lang="en-US" sz="3200">
                <a:latin typeface="+mj-lt"/>
              </a:rPr>
              <a:t>a</a:t>
            </a:r>
            <a:endParaRPr lang="en-US" sz="3200"/>
          </a:p>
        </p:txBody>
      </p:sp>
    </p:spTree>
    <p:extLst>
      <p:ext uri="{BB962C8B-B14F-4D97-AF65-F5344CB8AC3E}">
        <p14:creationId xmlns:p14="http://schemas.microsoft.com/office/powerpoint/2010/main" val="971433261"/>
      </p:ext>
    </p:extLst>
  </p:cSld>
  <p:clrMapOvr>
    <a:masterClrMapping/>
  </p:clrMapOvr>
</p:sld>
</file>

<file path=ppt/slides/slide4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306F1-028C-E535-0F7A-E5C769692E81}"/>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6D0A0466-0D2C-46D9-3EC7-A9642C6AD049}"/>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2E49D71C-9029-2C2C-DA14-EF8C58D3EB33}"/>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509758DB-4299-57FB-510D-4ED8B4AEF6C9}"/>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latin typeface="+mj-lt"/>
              </a:rPr>
              <a:t>void foo(</a:t>
            </a:r>
            <a:r>
              <a:rPr lang="en-US" sz="2000">
                <a:solidFill>
                  <a:srgbClr val="00007F"/>
                </a:solidFill>
                <a:latin typeface="+mj-lt"/>
              </a:rPr>
              <a:t>Thing</a:t>
            </a:r>
            <a:r>
              <a:rPr lang="en-US" sz="2000">
                <a:solidFill>
                  <a:schemeClr val="tx1"/>
                </a:solidFill>
                <a:latin typeface="+mj-lt"/>
              </a:rPr>
              <a:t> a) {</a:t>
            </a:r>
          </a:p>
          <a:p>
            <a:r>
              <a:rPr lang="en-US" sz="2000">
                <a:solidFill>
                  <a:schemeClr val="tx1"/>
                </a:solidFill>
                <a:latin typeface="+mj-lt"/>
              </a:rPr>
              <a:t>  a.y = </a:t>
            </a:r>
            <a:r>
              <a:rPr lang="en-US" sz="2000">
                <a:solidFill>
                  <a:srgbClr val="09B5B6"/>
                </a:solidFill>
                <a:latin typeface="+mj-lt"/>
              </a:rPr>
              <a:t>4.0</a:t>
            </a:r>
            <a:r>
              <a:rPr lang="en-US" sz="2000">
                <a:solidFill>
                  <a:schemeClr val="tx1"/>
                </a:solidFill>
                <a:latin typeface="+mj-lt"/>
              </a:rPr>
              <a:t>;</a:t>
            </a:r>
          </a:p>
          <a:p>
            <a:r>
              <a:rPr lang="en-US" sz="2000">
                <a:solidFill>
                  <a:schemeClr val="tx1"/>
                </a:solidFill>
                <a:latin typeface="+mj-lt"/>
              </a:rPr>
              <a:t>  a = </a:t>
            </a:r>
            <a:r>
              <a:rPr lang="en-US" sz="2000">
                <a:solidFill>
                  <a:srgbClr val="0432FF"/>
                </a:solidFill>
                <a:latin typeface="+mj-lt"/>
              </a:rPr>
              <a:t>null</a:t>
            </a:r>
            <a:r>
              <a:rPr lang="en-US" sz="2000">
                <a:solidFill>
                  <a:schemeClr val="tx1"/>
                </a:solidFill>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rgbClr val="00007F"/>
                </a:solidFill>
                <a:latin typeface="+mj-lt"/>
              </a:rPr>
              <a:t>  Thing</a:t>
            </a:r>
            <a:r>
              <a:rPr lang="en-US" sz="2000">
                <a:solidFill>
                  <a:schemeClr val="tx1"/>
                </a:solidFill>
                <a:latin typeface="+mj-lt"/>
              </a:rPr>
              <a:t> a;</a:t>
            </a:r>
          </a:p>
          <a:p>
            <a:r>
              <a:rPr lang="en-US" sz="2000">
                <a:solidFill>
                  <a:schemeClr val="tx1"/>
                </a:solidFill>
                <a:highlight>
                  <a:srgbClr val="FFFF00"/>
                </a:highlight>
                <a:latin typeface="+mj-lt"/>
              </a:rPr>
              <a:t>  a = new </a:t>
            </a:r>
            <a:r>
              <a:rPr lang="en-US" sz="2000">
                <a:solidFill>
                  <a:srgbClr val="00007F"/>
                </a:solidFill>
                <a:highlight>
                  <a:srgbClr val="FFFF00"/>
                </a:highlight>
                <a:latin typeface="+mj-lt"/>
              </a:rPr>
              <a:t>Thing</a:t>
            </a:r>
            <a:r>
              <a:rPr lang="en-US" sz="2000">
                <a:solidFill>
                  <a:schemeClr val="tx1"/>
                </a:solidFill>
                <a:highlight>
                  <a:srgbClr val="FFFF00"/>
                </a:highlight>
                <a:latin typeface="+mj-lt"/>
              </a:rPr>
              <a:t>();</a:t>
            </a:r>
          </a:p>
          <a:p>
            <a:r>
              <a:rPr lang="en-US" sz="2000">
                <a:solidFill>
                  <a:schemeClr val="tx1"/>
                </a:solidFill>
                <a:latin typeface="+mj-lt"/>
              </a:rPr>
              <a:t>  a.x = </a:t>
            </a:r>
            <a:r>
              <a:rPr lang="en-US" sz="2000">
                <a:solidFill>
                  <a:srgbClr val="09B5B6"/>
                </a:solidFill>
                <a:latin typeface="+mj-lt"/>
              </a:rPr>
              <a:t>3.0</a:t>
            </a:r>
            <a:r>
              <a:rPr lang="en-US" sz="2000">
                <a:solidFill>
                  <a:schemeClr val="tx1"/>
                </a:solidFill>
                <a:latin typeface="+mj-lt"/>
              </a:rPr>
              <a:t>;</a:t>
            </a:r>
          </a:p>
          <a:p>
            <a:r>
              <a:rPr lang="en-US" sz="2000">
                <a:solidFill>
                  <a:schemeClr val="tx1"/>
                </a:solidFill>
                <a:latin typeface="+mj-lt"/>
              </a:rPr>
              <a:t>  foo(a);</a:t>
            </a:r>
          </a:p>
          <a:p>
            <a:r>
              <a:rPr lang="en-US" sz="2000">
                <a:solidFill>
                  <a:schemeClr val="tx1"/>
                </a:solidFill>
                <a:latin typeface="+mj-lt"/>
              </a:rPr>
              <a:t>  a.y = </a:t>
            </a:r>
            <a:r>
              <a:rPr lang="en-US" sz="2000">
                <a:solidFill>
                  <a:srgbClr val="09B5B6"/>
                </a:solidFill>
                <a:latin typeface="+mj-lt"/>
              </a:rPr>
              <a:t>5.0</a:t>
            </a:r>
            <a:r>
              <a:rPr lang="en-US" sz="2000">
                <a:solidFill>
                  <a:schemeClr val="tx1"/>
                </a:solidFill>
                <a:latin typeface="+mj-lt"/>
              </a:rPr>
              <a:t>;</a:t>
            </a:r>
          </a:p>
          <a:p>
            <a:r>
              <a:rPr lang="en-US" sz="2000">
                <a:solidFill>
                  <a:schemeClr val="tx1"/>
                </a:solidFill>
                <a:latin typeface="+mj-lt"/>
              </a:rPr>
              <a:t>}</a:t>
            </a:r>
          </a:p>
        </p:txBody>
      </p:sp>
      <p:grpSp>
        <p:nvGrpSpPr>
          <p:cNvPr id="9" name="Group 8">
            <a:extLst>
              <a:ext uri="{FF2B5EF4-FFF2-40B4-BE49-F238E27FC236}">
                <a16:creationId xmlns:a16="http://schemas.microsoft.com/office/drawing/2014/main" id="{77B1CC24-6566-09B9-4C46-2F9BC1438072}"/>
              </a:ext>
            </a:extLst>
          </p:cNvPr>
          <p:cNvGrpSpPr/>
          <p:nvPr/>
        </p:nvGrpSpPr>
        <p:grpSpPr>
          <a:xfrm>
            <a:off x="372798" y="371008"/>
            <a:ext cx="3400547" cy="1874745"/>
            <a:chOff x="247891" y="497710"/>
            <a:chExt cx="2402712" cy="1874745"/>
          </a:xfrm>
        </p:grpSpPr>
        <p:sp>
          <p:nvSpPr>
            <p:cNvPr id="5" name="Rectangle 4">
              <a:extLst>
                <a:ext uri="{FF2B5EF4-FFF2-40B4-BE49-F238E27FC236}">
                  <a16:creationId xmlns:a16="http://schemas.microsoft.com/office/drawing/2014/main" id="{AF512BEF-27F1-AA7D-6B76-FE28385DCD9B}"/>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8" name="TextBox 7">
              <a:extLst>
                <a:ext uri="{FF2B5EF4-FFF2-40B4-BE49-F238E27FC236}">
                  <a16:creationId xmlns:a16="http://schemas.microsoft.com/office/drawing/2014/main" id="{8E83FF8B-C86F-27BD-C905-55F69B7CE3B0}"/>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main</a:t>
              </a:r>
            </a:p>
          </p:txBody>
        </p:sp>
      </p:grpSp>
      <p:sp>
        <p:nvSpPr>
          <p:cNvPr id="6" name="TextBox 5">
            <a:extLst>
              <a:ext uri="{FF2B5EF4-FFF2-40B4-BE49-F238E27FC236}">
                <a16:creationId xmlns:a16="http://schemas.microsoft.com/office/drawing/2014/main" id="{051F440E-ED4D-25DE-D514-D91A96158D07}"/>
              </a:ext>
            </a:extLst>
          </p:cNvPr>
          <p:cNvSpPr txBox="1"/>
          <p:nvPr/>
        </p:nvSpPr>
        <p:spPr>
          <a:xfrm>
            <a:off x="1669683" y="458714"/>
            <a:ext cx="584592" cy="584775"/>
          </a:xfrm>
          <a:prstGeom prst="rect">
            <a:avLst/>
          </a:prstGeom>
          <a:noFill/>
        </p:spPr>
        <p:txBody>
          <a:bodyPr wrap="square">
            <a:spAutoFit/>
          </a:bodyPr>
          <a:lstStyle/>
          <a:p>
            <a:pPr algn="ctr"/>
            <a:r>
              <a:rPr lang="en-US" sz="3200">
                <a:latin typeface="+mj-lt"/>
              </a:rPr>
              <a:t>a</a:t>
            </a:r>
            <a:endParaRPr lang="en-US" sz="3200"/>
          </a:p>
        </p:txBody>
      </p:sp>
      <p:sp>
        <p:nvSpPr>
          <p:cNvPr id="10" name="TextBox 9">
            <a:extLst>
              <a:ext uri="{FF2B5EF4-FFF2-40B4-BE49-F238E27FC236}">
                <a16:creationId xmlns:a16="http://schemas.microsoft.com/office/drawing/2014/main" id="{A0B4187A-16BF-30B7-0557-F68702D98AF8}"/>
              </a:ext>
            </a:extLst>
          </p:cNvPr>
          <p:cNvSpPr txBox="1"/>
          <p:nvPr/>
        </p:nvSpPr>
        <p:spPr>
          <a:xfrm>
            <a:off x="2751578" y="2981215"/>
            <a:ext cx="1035866" cy="584775"/>
          </a:xfrm>
          <a:prstGeom prst="rect">
            <a:avLst/>
          </a:prstGeom>
          <a:noFill/>
        </p:spPr>
        <p:txBody>
          <a:bodyPr wrap="square">
            <a:spAutoFit/>
          </a:bodyPr>
          <a:lstStyle/>
          <a:p>
            <a:pPr algn="ctr"/>
            <a:r>
              <a:rPr lang="en-US" sz="3200">
                <a:latin typeface="+mj-lt"/>
              </a:rPr>
              <a:t>.x</a:t>
            </a:r>
            <a:endParaRPr lang="en-US" sz="3200"/>
          </a:p>
        </p:txBody>
      </p:sp>
      <p:sp>
        <p:nvSpPr>
          <p:cNvPr id="11" name="Rectangle 10">
            <a:extLst>
              <a:ext uri="{FF2B5EF4-FFF2-40B4-BE49-F238E27FC236}">
                <a16:creationId xmlns:a16="http://schemas.microsoft.com/office/drawing/2014/main" id="{D17553CE-8236-E093-8706-A216E09419F9}"/>
              </a:ext>
            </a:extLst>
          </p:cNvPr>
          <p:cNvSpPr/>
          <p:nvPr/>
        </p:nvSpPr>
        <p:spPr>
          <a:xfrm>
            <a:off x="2751578" y="3629884"/>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highlight>
                  <a:srgbClr val="FFFF00"/>
                </a:highlight>
                <a:latin typeface="+mj-lt"/>
              </a:rPr>
              <a:t>0.0</a:t>
            </a:r>
            <a:endParaRPr lang="en-US" sz="2800">
              <a:solidFill>
                <a:schemeClr val="accent1"/>
              </a:solidFill>
              <a:highlight>
                <a:srgbClr val="FFFF00"/>
              </a:highlight>
              <a:latin typeface="Consolas" panose="020B0609020204030204" pitchFamily="49" charset="0"/>
              <a:cs typeface="Consolas" panose="020B0609020204030204" pitchFamily="49" charset="0"/>
            </a:endParaRPr>
          </a:p>
        </p:txBody>
      </p:sp>
      <p:sp>
        <p:nvSpPr>
          <p:cNvPr id="12" name="TextBox 11">
            <a:extLst>
              <a:ext uri="{FF2B5EF4-FFF2-40B4-BE49-F238E27FC236}">
                <a16:creationId xmlns:a16="http://schemas.microsoft.com/office/drawing/2014/main" id="{C050E651-B5C7-0980-A188-4231C068AD9F}"/>
              </a:ext>
            </a:extLst>
          </p:cNvPr>
          <p:cNvSpPr txBox="1"/>
          <p:nvPr/>
        </p:nvSpPr>
        <p:spPr>
          <a:xfrm>
            <a:off x="3787442" y="2982614"/>
            <a:ext cx="1035866" cy="584775"/>
          </a:xfrm>
          <a:prstGeom prst="rect">
            <a:avLst/>
          </a:prstGeom>
          <a:noFill/>
        </p:spPr>
        <p:txBody>
          <a:bodyPr wrap="square">
            <a:spAutoFit/>
          </a:bodyPr>
          <a:lstStyle/>
          <a:p>
            <a:pPr algn="ctr"/>
            <a:r>
              <a:rPr lang="en-US" sz="3200">
                <a:latin typeface="+mj-lt"/>
              </a:rPr>
              <a:t>.y</a:t>
            </a:r>
            <a:endParaRPr lang="en-US" sz="3200"/>
          </a:p>
        </p:txBody>
      </p:sp>
      <p:sp>
        <p:nvSpPr>
          <p:cNvPr id="13" name="Rectangle 12">
            <a:extLst>
              <a:ext uri="{FF2B5EF4-FFF2-40B4-BE49-F238E27FC236}">
                <a16:creationId xmlns:a16="http://schemas.microsoft.com/office/drawing/2014/main" id="{197A5BF2-40E4-FFC2-2ACB-3EA37A9C16FF}"/>
              </a:ext>
            </a:extLst>
          </p:cNvPr>
          <p:cNvSpPr/>
          <p:nvPr/>
        </p:nvSpPr>
        <p:spPr>
          <a:xfrm>
            <a:off x="3787442" y="3631283"/>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highlight>
                  <a:srgbClr val="FFFF00"/>
                </a:highlight>
                <a:latin typeface="+mj-lt"/>
              </a:rPr>
              <a:t>0.0</a:t>
            </a:r>
            <a:endParaRPr lang="en-US" sz="2800">
              <a:solidFill>
                <a:schemeClr val="accent1"/>
              </a:solidFill>
              <a:highlight>
                <a:srgbClr val="FFFF00"/>
              </a:highlight>
              <a:latin typeface="Consolas" panose="020B0609020204030204" pitchFamily="49" charset="0"/>
              <a:cs typeface="Consolas" panose="020B0609020204030204" pitchFamily="49" charset="0"/>
            </a:endParaRPr>
          </a:p>
        </p:txBody>
      </p:sp>
      <p:cxnSp>
        <p:nvCxnSpPr>
          <p:cNvPr id="14" name="Straight Arrow Connector 10">
            <a:extLst>
              <a:ext uri="{FF2B5EF4-FFF2-40B4-BE49-F238E27FC236}">
                <a16:creationId xmlns:a16="http://schemas.microsoft.com/office/drawing/2014/main" id="{47CEC4F8-49CC-7372-99F0-021BC91447C7}"/>
              </a:ext>
            </a:extLst>
          </p:cNvPr>
          <p:cNvCxnSpPr>
            <a:cxnSpLocks/>
            <a:endCxn id="11" idx="1"/>
          </p:cNvCxnSpPr>
          <p:nvPr/>
        </p:nvCxnSpPr>
        <p:spPr>
          <a:xfrm rot="16200000" flipH="1">
            <a:off x="1196026" y="2339222"/>
            <a:ext cx="2321505" cy="789599"/>
          </a:xfrm>
          <a:prstGeom prst="bentConnector2">
            <a:avLst/>
          </a:prstGeom>
          <a:ln w="63500" cap="rnd">
            <a:solidFill>
              <a:schemeClr val="accent6">
                <a:lumMod val="50000"/>
              </a:schemeClr>
            </a:solidFill>
            <a:headEnd type="oval"/>
            <a:tailEnd type="triangle"/>
          </a:ln>
        </p:spPr>
        <p:style>
          <a:lnRef idx="1">
            <a:schemeClr val="accent6"/>
          </a:lnRef>
          <a:fillRef idx="0">
            <a:schemeClr val="accent6"/>
          </a:fillRef>
          <a:effectRef idx="0">
            <a:schemeClr val="accent6"/>
          </a:effectRef>
          <a:fontRef idx="minor">
            <a:schemeClr val="tx1"/>
          </a:fontRef>
        </p:style>
      </p:cxnSp>
      <p:sp>
        <p:nvSpPr>
          <p:cNvPr id="4" name="Rectangle 3">
            <a:extLst>
              <a:ext uri="{FF2B5EF4-FFF2-40B4-BE49-F238E27FC236}">
                <a16:creationId xmlns:a16="http://schemas.microsoft.com/office/drawing/2014/main" id="{02D0D8F4-B189-82B3-AAAB-F53FC08A249F}"/>
              </a:ext>
            </a:extLst>
          </p:cNvPr>
          <p:cNvSpPr/>
          <p:nvPr/>
        </p:nvSpPr>
        <p:spPr>
          <a:xfrm>
            <a:off x="1444047" y="1043490"/>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highlight>
                  <a:srgbClr val="FFFF00"/>
                </a:highlight>
                <a:latin typeface="+mj-lt"/>
              </a:rPr>
              <a:t>0xb7</a:t>
            </a:r>
            <a:endParaRPr lang="en-US" sz="2800">
              <a:solidFill>
                <a:schemeClr val="accent6">
                  <a:lumMod val="75000"/>
                </a:schemeClr>
              </a:solidFill>
              <a:highlight>
                <a:srgbClr val="FFFF00"/>
              </a:highlight>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980795612"/>
      </p:ext>
    </p:extLst>
  </p:cSld>
  <p:clrMapOvr>
    <a:masterClrMapping/>
  </p:clrMapOvr>
</p:sld>
</file>

<file path=ppt/slides/slide4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09404-D7D4-3088-AB18-DE187745D6D2}"/>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E0A29039-C809-7966-56C8-2CDE5B5B390A}"/>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161D041A-44FB-0631-9692-B3B8CAC460DE}"/>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0908023D-9DCD-F953-5244-8CEAD27FBE64}"/>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latin typeface="+mj-lt"/>
              </a:rPr>
              <a:t>void foo(</a:t>
            </a:r>
            <a:r>
              <a:rPr lang="en-US" sz="2000">
                <a:solidFill>
                  <a:srgbClr val="00007F"/>
                </a:solidFill>
                <a:latin typeface="+mj-lt"/>
              </a:rPr>
              <a:t>Thing</a:t>
            </a:r>
            <a:r>
              <a:rPr lang="en-US" sz="2000">
                <a:solidFill>
                  <a:schemeClr val="tx1"/>
                </a:solidFill>
                <a:latin typeface="+mj-lt"/>
              </a:rPr>
              <a:t> a) {</a:t>
            </a:r>
          </a:p>
          <a:p>
            <a:r>
              <a:rPr lang="en-US" sz="2000">
                <a:solidFill>
                  <a:schemeClr val="tx1"/>
                </a:solidFill>
                <a:latin typeface="+mj-lt"/>
              </a:rPr>
              <a:t>  a.y = </a:t>
            </a:r>
            <a:r>
              <a:rPr lang="en-US" sz="2000">
                <a:solidFill>
                  <a:srgbClr val="09B5B6"/>
                </a:solidFill>
                <a:latin typeface="+mj-lt"/>
              </a:rPr>
              <a:t>4.0</a:t>
            </a:r>
            <a:r>
              <a:rPr lang="en-US" sz="2000">
                <a:solidFill>
                  <a:schemeClr val="tx1"/>
                </a:solidFill>
                <a:latin typeface="+mj-lt"/>
              </a:rPr>
              <a:t>;</a:t>
            </a:r>
          </a:p>
          <a:p>
            <a:r>
              <a:rPr lang="en-US" sz="2000">
                <a:solidFill>
                  <a:schemeClr val="tx1"/>
                </a:solidFill>
                <a:latin typeface="+mj-lt"/>
              </a:rPr>
              <a:t>  a = </a:t>
            </a:r>
            <a:r>
              <a:rPr lang="en-US" sz="2000">
                <a:solidFill>
                  <a:srgbClr val="0432FF"/>
                </a:solidFill>
                <a:latin typeface="+mj-lt"/>
              </a:rPr>
              <a:t>null</a:t>
            </a:r>
            <a:r>
              <a:rPr lang="en-US" sz="2000">
                <a:solidFill>
                  <a:schemeClr val="tx1"/>
                </a:solidFill>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rgbClr val="00007F"/>
                </a:solidFill>
                <a:latin typeface="+mj-lt"/>
              </a:rPr>
              <a:t>  Thing</a:t>
            </a:r>
            <a:r>
              <a:rPr lang="en-US" sz="2000">
                <a:solidFill>
                  <a:schemeClr val="tx1"/>
                </a:solidFill>
                <a:latin typeface="+mj-lt"/>
              </a:rPr>
              <a:t> a;</a:t>
            </a:r>
          </a:p>
          <a:p>
            <a:r>
              <a:rPr lang="en-US" sz="2000">
                <a:solidFill>
                  <a:schemeClr val="tx1"/>
                </a:solidFill>
                <a:latin typeface="+mj-lt"/>
              </a:rPr>
              <a:t>  a = new </a:t>
            </a:r>
            <a:r>
              <a:rPr lang="en-US" sz="2000">
                <a:solidFill>
                  <a:srgbClr val="00007F"/>
                </a:solidFill>
                <a:latin typeface="+mj-lt"/>
              </a:rPr>
              <a:t>Thing</a:t>
            </a:r>
            <a:r>
              <a:rPr lang="en-US" sz="2000">
                <a:solidFill>
                  <a:schemeClr val="tx1"/>
                </a:solidFill>
                <a:latin typeface="+mj-lt"/>
              </a:rPr>
              <a:t>();</a:t>
            </a:r>
          </a:p>
          <a:p>
            <a:r>
              <a:rPr lang="en-US" sz="2000">
                <a:solidFill>
                  <a:schemeClr val="tx1"/>
                </a:solidFill>
                <a:highlight>
                  <a:srgbClr val="FFFF00"/>
                </a:highlight>
                <a:latin typeface="+mj-lt"/>
              </a:rPr>
              <a:t>  a.x = </a:t>
            </a:r>
            <a:r>
              <a:rPr lang="en-US" sz="2000">
                <a:solidFill>
                  <a:srgbClr val="09B5B6"/>
                </a:solidFill>
                <a:highlight>
                  <a:srgbClr val="FFFF00"/>
                </a:highlight>
                <a:latin typeface="+mj-lt"/>
              </a:rPr>
              <a:t>3.0</a:t>
            </a:r>
            <a:r>
              <a:rPr lang="en-US" sz="2000">
                <a:solidFill>
                  <a:schemeClr val="tx1"/>
                </a:solidFill>
                <a:highlight>
                  <a:srgbClr val="FFFF00"/>
                </a:highlight>
                <a:latin typeface="+mj-lt"/>
              </a:rPr>
              <a:t>;</a:t>
            </a:r>
          </a:p>
          <a:p>
            <a:r>
              <a:rPr lang="en-US" sz="2000">
                <a:solidFill>
                  <a:schemeClr val="tx1"/>
                </a:solidFill>
                <a:latin typeface="+mj-lt"/>
              </a:rPr>
              <a:t>  foo(a);</a:t>
            </a:r>
          </a:p>
          <a:p>
            <a:r>
              <a:rPr lang="en-US" sz="2000">
                <a:solidFill>
                  <a:schemeClr val="tx1"/>
                </a:solidFill>
                <a:latin typeface="+mj-lt"/>
              </a:rPr>
              <a:t>  a.y = </a:t>
            </a:r>
            <a:r>
              <a:rPr lang="en-US" sz="2000">
                <a:solidFill>
                  <a:srgbClr val="09B5B6"/>
                </a:solidFill>
                <a:latin typeface="+mj-lt"/>
              </a:rPr>
              <a:t>5.0</a:t>
            </a:r>
            <a:r>
              <a:rPr lang="en-US" sz="2000">
                <a:solidFill>
                  <a:schemeClr val="tx1"/>
                </a:solidFill>
                <a:latin typeface="+mj-lt"/>
              </a:rPr>
              <a:t>;</a:t>
            </a:r>
          </a:p>
          <a:p>
            <a:r>
              <a:rPr lang="en-US" sz="2000">
                <a:solidFill>
                  <a:schemeClr val="tx1"/>
                </a:solidFill>
                <a:latin typeface="+mj-lt"/>
              </a:rPr>
              <a:t>}</a:t>
            </a:r>
          </a:p>
        </p:txBody>
      </p:sp>
      <p:grpSp>
        <p:nvGrpSpPr>
          <p:cNvPr id="9" name="Group 8">
            <a:extLst>
              <a:ext uri="{FF2B5EF4-FFF2-40B4-BE49-F238E27FC236}">
                <a16:creationId xmlns:a16="http://schemas.microsoft.com/office/drawing/2014/main" id="{329C4EA7-E404-F78E-479B-ABCEAA73F5B3}"/>
              </a:ext>
            </a:extLst>
          </p:cNvPr>
          <p:cNvGrpSpPr/>
          <p:nvPr/>
        </p:nvGrpSpPr>
        <p:grpSpPr>
          <a:xfrm>
            <a:off x="372798" y="371008"/>
            <a:ext cx="3400547" cy="1874745"/>
            <a:chOff x="247891" y="497710"/>
            <a:chExt cx="2402712" cy="1874745"/>
          </a:xfrm>
        </p:grpSpPr>
        <p:sp>
          <p:nvSpPr>
            <p:cNvPr id="5" name="Rectangle 4">
              <a:extLst>
                <a:ext uri="{FF2B5EF4-FFF2-40B4-BE49-F238E27FC236}">
                  <a16:creationId xmlns:a16="http://schemas.microsoft.com/office/drawing/2014/main" id="{B1852D94-A34C-929B-AC77-D7C2AD79FDDC}"/>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8" name="TextBox 7">
              <a:extLst>
                <a:ext uri="{FF2B5EF4-FFF2-40B4-BE49-F238E27FC236}">
                  <a16:creationId xmlns:a16="http://schemas.microsoft.com/office/drawing/2014/main" id="{290DD0B0-E3E1-E9A1-BA97-D3207065D572}"/>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main</a:t>
              </a:r>
            </a:p>
          </p:txBody>
        </p:sp>
      </p:grpSp>
      <p:sp>
        <p:nvSpPr>
          <p:cNvPr id="6" name="TextBox 5">
            <a:extLst>
              <a:ext uri="{FF2B5EF4-FFF2-40B4-BE49-F238E27FC236}">
                <a16:creationId xmlns:a16="http://schemas.microsoft.com/office/drawing/2014/main" id="{74380210-2BF1-C3DF-97BA-AB346DEE4DAB}"/>
              </a:ext>
            </a:extLst>
          </p:cNvPr>
          <p:cNvSpPr txBox="1"/>
          <p:nvPr/>
        </p:nvSpPr>
        <p:spPr>
          <a:xfrm>
            <a:off x="1669683" y="458714"/>
            <a:ext cx="584592" cy="584775"/>
          </a:xfrm>
          <a:prstGeom prst="rect">
            <a:avLst/>
          </a:prstGeom>
          <a:noFill/>
        </p:spPr>
        <p:txBody>
          <a:bodyPr wrap="square">
            <a:spAutoFit/>
          </a:bodyPr>
          <a:lstStyle/>
          <a:p>
            <a:pPr algn="ctr"/>
            <a:r>
              <a:rPr lang="en-US" sz="3200">
                <a:latin typeface="+mj-lt"/>
              </a:rPr>
              <a:t>a</a:t>
            </a:r>
            <a:endParaRPr lang="en-US" sz="3200"/>
          </a:p>
        </p:txBody>
      </p:sp>
      <p:sp>
        <p:nvSpPr>
          <p:cNvPr id="10" name="TextBox 9">
            <a:extLst>
              <a:ext uri="{FF2B5EF4-FFF2-40B4-BE49-F238E27FC236}">
                <a16:creationId xmlns:a16="http://schemas.microsoft.com/office/drawing/2014/main" id="{EC9A49C0-9239-4109-47D3-733AE204CCEC}"/>
              </a:ext>
            </a:extLst>
          </p:cNvPr>
          <p:cNvSpPr txBox="1"/>
          <p:nvPr/>
        </p:nvSpPr>
        <p:spPr>
          <a:xfrm>
            <a:off x="2751578" y="2981215"/>
            <a:ext cx="1035866" cy="584775"/>
          </a:xfrm>
          <a:prstGeom prst="rect">
            <a:avLst/>
          </a:prstGeom>
          <a:noFill/>
        </p:spPr>
        <p:txBody>
          <a:bodyPr wrap="square">
            <a:spAutoFit/>
          </a:bodyPr>
          <a:lstStyle/>
          <a:p>
            <a:pPr algn="ctr"/>
            <a:r>
              <a:rPr lang="en-US" sz="3200">
                <a:latin typeface="+mj-lt"/>
              </a:rPr>
              <a:t>.x</a:t>
            </a:r>
            <a:endParaRPr lang="en-US" sz="3200"/>
          </a:p>
        </p:txBody>
      </p:sp>
      <p:sp>
        <p:nvSpPr>
          <p:cNvPr id="11" name="Rectangle 10">
            <a:extLst>
              <a:ext uri="{FF2B5EF4-FFF2-40B4-BE49-F238E27FC236}">
                <a16:creationId xmlns:a16="http://schemas.microsoft.com/office/drawing/2014/main" id="{88007F54-B7EB-3926-66A9-7FA129A7BF6A}"/>
              </a:ext>
            </a:extLst>
          </p:cNvPr>
          <p:cNvSpPr/>
          <p:nvPr/>
        </p:nvSpPr>
        <p:spPr>
          <a:xfrm>
            <a:off x="2751578" y="3629884"/>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highlight>
                  <a:srgbClr val="FFFF00"/>
                </a:highlight>
                <a:latin typeface="+mj-lt"/>
              </a:rPr>
              <a:t>3.0</a:t>
            </a:r>
            <a:endParaRPr lang="en-US" sz="2800">
              <a:solidFill>
                <a:schemeClr val="accent1"/>
              </a:solidFill>
              <a:highlight>
                <a:srgbClr val="FFFF00"/>
              </a:highlight>
              <a:latin typeface="Consolas" panose="020B0609020204030204" pitchFamily="49" charset="0"/>
              <a:cs typeface="Consolas" panose="020B0609020204030204" pitchFamily="49" charset="0"/>
            </a:endParaRPr>
          </a:p>
        </p:txBody>
      </p:sp>
      <p:sp>
        <p:nvSpPr>
          <p:cNvPr id="12" name="TextBox 11">
            <a:extLst>
              <a:ext uri="{FF2B5EF4-FFF2-40B4-BE49-F238E27FC236}">
                <a16:creationId xmlns:a16="http://schemas.microsoft.com/office/drawing/2014/main" id="{04DDF6A4-9AAC-0857-14AA-AECB3D3378DF}"/>
              </a:ext>
            </a:extLst>
          </p:cNvPr>
          <p:cNvSpPr txBox="1"/>
          <p:nvPr/>
        </p:nvSpPr>
        <p:spPr>
          <a:xfrm>
            <a:off x="3787442" y="2982614"/>
            <a:ext cx="1035866" cy="584775"/>
          </a:xfrm>
          <a:prstGeom prst="rect">
            <a:avLst/>
          </a:prstGeom>
          <a:noFill/>
        </p:spPr>
        <p:txBody>
          <a:bodyPr wrap="square">
            <a:spAutoFit/>
          </a:bodyPr>
          <a:lstStyle/>
          <a:p>
            <a:pPr algn="ctr"/>
            <a:r>
              <a:rPr lang="en-US" sz="3200">
                <a:latin typeface="+mj-lt"/>
              </a:rPr>
              <a:t>.y</a:t>
            </a:r>
            <a:endParaRPr lang="en-US" sz="3200"/>
          </a:p>
        </p:txBody>
      </p:sp>
      <p:sp>
        <p:nvSpPr>
          <p:cNvPr id="13" name="Rectangle 12">
            <a:extLst>
              <a:ext uri="{FF2B5EF4-FFF2-40B4-BE49-F238E27FC236}">
                <a16:creationId xmlns:a16="http://schemas.microsoft.com/office/drawing/2014/main" id="{381A53D6-F4F8-D3B6-D3FE-83247F29FFA0}"/>
              </a:ext>
            </a:extLst>
          </p:cNvPr>
          <p:cNvSpPr/>
          <p:nvPr/>
        </p:nvSpPr>
        <p:spPr>
          <a:xfrm>
            <a:off x="3787442" y="3631283"/>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0.0</a:t>
            </a:r>
            <a:endParaRPr lang="en-US" sz="2800">
              <a:solidFill>
                <a:schemeClr val="accent1"/>
              </a:solidFill>
              <a:latin typeface="Consolas" panose="020B0609020204030204" pitchFamily="49" charset="0"/>
              <a:cs typeface="Consolas" panose="020B0609020204030204" pitchFamily="49" charset="0"/>
            </a:endParaRPr>
          </a:p>
        </p:txBody>
      </p:sp>
      <p:cxnSp>
        <p:nvCxnSpPr>
          <p:cNvPr id="14" name="Straight Arrow Connector 10">
            <a:extLst>
              <a:ext uri="{FF2B5EF4-FFF2-40B4-BE49-F238E27FC236}">
                <a16:creationId xmlns:a16="http://schemas.microsoft.com/office/drawing/2014/main" id="{8E6A65AB-DEE7-FBC5-9436-971CD2BD07C3}"/>
              </a:ext>
            </a:extLst>
          </p:cNvPr>
          <p:cNvCxnSpPr>
            <a:cxnSpLocks/>
            <a:endCxn id="11" idx="1"/>
          </p:cNvCxnSpPr>
          <p:nvPr/>
        </p:nvCxnSpPr>
        <p:spPr>
          <a:xfrm rot="16200000" flipH="1">
            <a:off x="1196026" y="2339222"/>
            <a:ext cx="2321505" cy="789599"/>
          </a:xfrm>
          <a:prstGeom prst="bentConnector2">
            <a:avLst/>
          </a:prstGeom>
          <a:ln w="63500" cap="rnd">
            <a:solidFill>
              <a:schemeClr val="accent6">
                <a:lumMod val="50000"/>
              </a:schemeClr>
            </a:solidFill>
            <a:headEnd type="oval"/>
            <a:tailEnd type="triangle"/>
          </a:ln>
        </p:spPr>
        <p:style>
          <a:lnRef idx="1">
            <a:schemeClr val="accent6"/>
          </a:lnRef>
          <a:fillRef idx="0">
            <a:schemeClr val="accent6"/>
          </a:fillRef>
          <a:effectRef idx="0">
            <a:schemeClr val="accent6"/>
          </a:effectRef>
          <a:fontRef idx="minor">
            <a:schemeClr val="tx1"/>
          </a:fontRef>
        </p:style>
      </p:cxnSp>
      <p:sp>
        <p:nvSpPr>
          <p:cNvPr id="4" name="Rectangle 3">
            <a:extLst>
              <a:ext uri="{FF2B5EF4-FFF2-40B4-BE49-F238E27FC236}">
                <a16:creationId xmlns:a16="http://schemas.microsoft.com/office/drawing/2014/main" id="{61D86A25-7C6C-76F6-188E-F7E06E9764EB}"/>
              </a:ext>
            </a:extLst>
          </p:cNvPr>
          <p:cNvSpPr/>
          <p:nvPr/>
        </p:nvSpPr>
        <p:spPr>
          <a:xfrm>
            <a:off x="1444047" y="1043490"/>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latin typeface="+mj-lt"/>
              </a:rPr>
              <a:t>0xb7</a:t>
            </a:r>
            <a:endParaRPr lang="en-US" sz="2800">
              <a:solidFill>
                <a:schemeClr val="accent6">
                  <a:lumMod val="75000"/>
                </a:schemeClr>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050950483"/>
      </p:ext>
    </p:extLst>
  </p:cSld>
  <p:clrMapOvr>
    <a:masterClrMapping/>
  </p:clrMapOvr>
</p:sld>
</file>

<file path=ppt/slides/slide4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DCF21-65E6-44E5-4247-27784178DC21}"/>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B3E3704A-3BA4-98FE-C8CA-BE4519DD0E6D}"/>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49AAB4F1-445A-90A1-4B08-B38CF7319790}"/>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E5C8E119-AA04-8A95-0E43-8821A80E6758}"/>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latin typeface="+mj-lt"/>
              </a:rPr>
              <a:t>void foo(</a:t>
            </a:r>
            <a:r>
              <a:rPr lang="en-US" sz="2000">
                <a:solidFill>
                  <a:srgbClr val="00007F"/>
                </a:solidFill>
                <a:latin typeface="+mj-lt"/>
              </a:rPr>
              <a:t>Thing</a:t>
            </a:r>
            <a:r>
              <a:rPr lang="en-US" sz="2000">
                <a:solidFill>
                  <a:schemeClr val="tx1"/>
                </a:solidFill>
                <a:latin typeface="+mj-lt"/>
              </a:rPr>
              <a:t> a) {</a:t>
            </a:r>
          </a:p>
          <a:p>
            <a:r>
              <a:rPr lang="en-US" sz="2000">
                <a:solidFill>
                  <a:schemeClr val="tx1"/>
                </a:solidFill>
                <a:latin typeface="+mj-lt"/>
              </a:rPr>
              <a:t>  a.y = </a:t>
            </a:r>
            <a:r>
              <a:rPr lang="en-US" sz="2000">
                <a:solidFill>
                  <a:srgbClr val="09B5B6"/>
                </a:solidFill>
                <a:latin typeface="+mj-lt"/>
              </a:rPr>
              <a:t>4.0</a:t>
            </a:r>
            <a:r>
              <a:rPr lang="en-US" sz="2000">
                <a:solidFill>
                  <a:schemeClr val="tx1"/>
                </a:solidFill>
                <a:latin typeface="+mj-lt"/>
              </a:rPr>
              <a:t>;</a:t>
            </a:r>
          </a:p>
          <a:p>
            <a:r>
              <a:rPr lang="en-US" sz="2000">
                <a:solidFill>
                  <a:schemeClr val="tx1"/>
                </a:solidFill>
                <a:latin typeface="+mj-lt"/>
              </a:rPr>
              <a:t>  a = </a:t>
            </a:r>
            <a:r>
              <a:rPr lang="en-US" sz="2000">
                <a:solidFill>
                  <a:srgbClr val="0432FF"/>
                </a:solidFill>
                <a:latin typeface="+mj-lt"/>
              </a:rPr>
              <a:t>null</a:t>
            </a:r>
            <a:r>
              <a:rPr lang="en-US" sz="2000">
                <a:solidFill>
                  <a:schemeClr val="tx1"/>
                </a:solidFill>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rgbClr val="00007F"/>
                </a:solidFill>
                <a:latin typeface="+mj-lt"/>
              </a:rPr>
              <a:t>  Thing</a:t>
            </a:r>
            <a:r>
              <a:rPr lang="en-US" sz="2000">
                <a:solidFill>
                  <a:schemeClr val="tx1"/>
                </a:solidFill>
                <a:latin typeface="+mj-lt"/>
              </a:rPr>
              <a:t> a;</a:t>
            </a:r>
          </a:p>
          <a:p>
            <a:r>
              <a:rPr lang="en-US" sz="2000">
                <a:solidFill>
                  <a:schemeClr val="tx1"/>
                </a:solidFill>
                <a:latin typeface="+mj-lt"/>
              </a:rPr>
              <a:t>  a = new </a:t>
            </a:r>
            <a:r>
              <a:rPr lang="en-US" sz="2000">
                <a:solidFill>
                  <a:srgbClr val="00007F"/>
                </a:solidFill>
                <a:latin typeface="+mj-lt"/>
              </a:rPr>
              <a:t>Thing</a:t>
            </a:r>
            <a:r>
              <a:rPr lang="en-US" sz="2000">
                <a:solidFill>
                  <a:schemeClr val="tx1"/>
                </a:solidFill>
                <a:latin typeface="+mj-lt"/>
              </a:rPr>
              <a:t>();</a:t>
            </a:r>
          </a:p>
          <a:p>
            <a:r>
              <a:rPr lang="en-US" sz="2000">
                <a:solidFill>
                  <a:schemeClr val="tx1"/>
                </a:solidFill>
                <a:latin typeface="+mj-lt"/>
              </a:rPr>
              <a:t>  a.x = </a:t>
            </a:r>
            <a:r>
              <a:rPr lang="en-US" sz="2000">
                <a:solidFill>
                  <a:srgbClr val="09B5B6"/>
                </a:solidFill>
                <a:latin typeface="+mj-lt"/>
              </a:rPr>
              <a:t>3.0</a:t>
            </a:r>
            <a:r>
              <a:rPr lang="en-US" sz="2000">
                <a:solidFill>
                  <a:schemeClr val="tx1"/>
                </a:solidFill>
                <a:latin typeface="+mj-lt"/>
              </a:rPr>
              <a:t>;</a:t>
            </a:r>
          </a:p>
          <a:p>
            <a:r>
              <a:rPr lang="en-US" sz="2000">
                <a:solidFill>
                  <a:schemeClr val="tx1"/>
                </a:solidFill>
                <a:highlight>
                  <a:srgbClr val="FFFF00"/>
                </a:highlight>
                <a:latin typeface="+mj-lt"/>
              </a:rPr>
              <a:t>  foo(a);</a:t>
            </a:r>
          </a:p>
          <a:p>
            <a:r>
              <a:rPr lang="en-US" sz="2000">
                <a:solidFill>
                  <a:schemeClr val="tx1"/>
                </a:solidFill>
                <a:latin typeface="+mj-lt"/>
              </a:rPr>
              <a:t>  a.y = </a:t>
            </a:r>
            <a:r>
              <a:rPr lang="en-US" sz="2000">
                <a:solidFill>
                  <a:srgbClr val="09B5B6"/>
                </a:solidFill>
                <a:latin typeface="+mj-lt"/>
              </a:rPr>
              <a:t>5.0</a:t>
            </a:r>
            <a:r>
              <a:rPr lang="en-US" sz="2000">
                <a:solidFill>
                  <a:schemeClr val="tx1"/>
                </a:solidFill>
                <a:latin typeface="+mj-lt"/>
              </a:rPr>
              <a:t>;</a:t>
            </a:r>
          </a:p>
          <a:p>
            <a:r>
              <a:rPr lang="en-US" sz="2000">
                <a:solidFill>
                  <a:schemeClr val="tx1"/>
                </a:solidFill>
                <a:latin typeface="+mj-lt"/>
              </a:rPr>
              <a:t>}</a:t>
            </a:r>
          </a:p>
        </p:txBody>
      </p:sp>
      <p:grpSp>
        <p:nvGrpSpPr>
          <p:cNvPr id="9" name="Group 8">
            <a:extLst>
              <a:ext uri="{FF2B5EF4-FFF2-40B4-BE49-F238E27FC236}">
                <a16:creationId xmlns:a16="http://schemas.microsoft.com/office/drawing/2014/main" id="{EF8C2046-06CF-A539-2069-C11ED97064AE}"/>
              </a:ext>
            </a:extLst>
          </p:cNvPr>
          <p:cNvGrpSpPr/>
          <p:nvPr/>
        </p:nvGrpSpPr>
        <p:grpSpPr>
          <a:xfrm>
            <a:off x="372798" y="371008"/>
            <a:ext cx="3400547" cy="1874745"/>
            <a:chOff x="247891" y="497710"/>
            <a:chExt cx="2402712" cy="1874745"/>
          </a:xfrm>
        </p:grpSpPr>
        <p:sp>
          <p:nvSpPr>
            <p:cNvPr id="5" name="Rectangle 4">
              <a:extLst>
                <a:ext uri="{FF2B5EF4-FFF2-40B4-BE49-F238E27FC236}">
                  <a16:creationId xmlns:a16="http://schemas.microsoft.com/office/drawing/2014/main" id="{AC71046F-B298-92A3-1DBE-098A89F8A958}"/>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8" name="TextBox 7">
              <a:extLst>
                <a:ext uri="{FF2B5EF4-FFF2-40B4-BE49-F238E27FC236}">
                  <a16:creationId xmlns:a16="http://schemas.microsoft.com/office/drawing/2014/main" id="{65706656-3EE3-84EF-D302-39FBA6833972}"/>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main</a:t>
              </a:r>
            </a:p>
          </p:txBody>
        </p:sp>
      </p:grpSp>
      <p:sp>
        <p:nvSpPr>
          <p:cNvPr id="6" name="TextBox 5">
            <a:extLst>
              <a:ext uri="{FF2B5EF4-FFF2-40B4-BE49-F238E27FC236}">
                <a16:creationId xmlns:a16="http://schemas.microsoft.com/office/drawing/2014/main" id="{B4226564-85A1-0646-FFF0-8E2933ACAA0C}"/>
              </a:ext>
            </a:extLst>
          </p:cNvPr>
          <p:cNvSpPr txBox="1"/>
          <p:nvPr/>
        </p:nvSpPr>
        <p:spPr>
          <a:xfrm>
            <a:off x="1669683" y="458714"/>
            <a:ext cx="584592" cy="584775"/>
          </a:xfrm>
          <a:prstGeom prst="rect">
            <a:avLst/>
          </a:prstGeom>
          <a:noFill/>
        </p:spPr>
        <p:txBody>
          <a:bodyPr wrap="square">
            <a:spAutoFit/>
          </a:bodyPr>
          <a:lstStyle/>
          <a:p>
            <a:pPr algn="ctr"/>
            <a:r>
              <a:rPr lang="en-US" sz="3200">
                <a:latin typeface="+mj-lt"/>
              </a:rPr>
              <a:t>a</a:t>
            </a:r>
            <a:endParaRPr lang="en-US" sz="3200"/>
          </a:p>
        </p:txBody>
      </p:sp>
      <p:sp>
        <p:nvSpPr>
          <p:cNvPr id="10" name="TextBox 9">
            <a:extLst>
              <a:ext uri="{FF2B5EF4-FFF2-40B4-BE49-F238E27FC236}">
                <a16:creationId xmlns:a16="http://schemas.microsoft.com/office/drawing/2014/main" id="{04DFD0B3-B14F-F061-53B8-8B1614602704}"/>
              </a:ext>
            </a:extLst>
          </p:cNvPr>
          <p:cNvSpPr txBox="1"/>
          <p:nvPr/>
        </p:nvSpPr>
        <p:spPr>
          <a:xfrm>
            <a:off x="2751578" y="2981215"/>
            <a:ext cx="1035866" cy="584775"/>
          </a:xfrm>
          <a:prstGeom prst="rect">
            <a:avLst/>
          </a:prstGeom>
          <a:noFill/>
        </p:spPr>
        <p:txBody>
          <a:bodyPr wrap="square">
            <a:spAutoFit/>
          </a:bodyPr>
          <a:lstStyle/>
          <a:p>
            <a:pPr algn="ctr"/>
            <a:r>
              <a:rPr lang="en-US" sz="3200">
                <a:latin typeface="+mj-lt"/>
              </a:rPr>
              <a:t>.x</a:t>
            </a:r>
            <a:endParaRPr lang="en-US" sz="3200"/>
          </a:p>
        </p:txBody>
      </p:sp>
      <p:sp>
        <p:nvSpPr>
          <p:cNvPr id="11" name="Rectangle 10">
            <a:extLst>
              <a:ext uri="{FF2B5EF4-FFF2-40B4-BE49-F238E27FC236}">
                <a16:creationId xmlns:a16="http://schemas.microsoft.com/office/drawing/2014/main" id="{15741EB0-7F18-D897-643D-D2BCAE9737B8}"/>
              </a:ext>
            </a:extLst>
          </p:cNvPr>
          <p:cNvSpPr/>
          <p:nvPr/>
        </p:nvSpPr>
        <p:spPr>
          <a:xfrm>
            <a:off x="2751578" y="3629884"/>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3.0</a:t>
            </a:r>
            <a:endParaRPr lang="en-US" sz="2800">
              <a:solidFill>
                <a:schemeClr val="accent1"/>
              </a:solidFill>
              <a:latin typeface="Consolas" panose="020B0609020204030204" pitchFamily="49" charset="0"/>
              <a:cs typeface="Consolas" panose="020B0609020204030204" pitchFamily="49" charset="0"/>
            </a:endParaRPr>
          </a:p>
        </p:txBody>
      </p:sp>
      <p:sp>
        <p:nvSpPr>
          <p:cNvPr id="12" name="TextBox 11">
            <a:extLst>
              <a:ext uri="{FF2B5EF4-FFF2-40B4-BE49-F238E27FC236}">
                <a16:creationId xmlns:a16="http://schemas.microsoft.com/office/drawing/2014/main" id="{09DD48FC-4A64-05EE-EC4B-693419788368}"/>
              </a:ext>
            </a:extLst>
          </p:cNvPr>
          <p:cNvSpPr txBox="1"/>
          <p:nvPr/>
        </p:nvSpPr>
        <p:spPr>
          <a:xfrm>
            <a:off x="3787442" y="2982614"/>
            <a:ext cx="1035866" cy="584775"/>
          </a:xfrm>
          <a:prstGeom prst="rect">
            <a:avLst/>
          </a:prstGeom>
          <a:noFill/>
        </p:spPr>
        <p:txBody>
          <a:bodyPr wrap="square">
            <a:spAutoFit/>
          </a:bodyPr>
          <a:lstStyle/>
          <a:p>
            <a:pPr algn="ctr"/>
            <a:r>
              <a:rPr lang="en-US" sz="3200">
                <a:latin typeface="+mj-lt"/>
              </a:rPr>
              <a:t>.y</a:t>
            </a:r>
            <a:endParaRPr lang="en-US" sz="3200"/>
          </a:p>
        </p:txBody>
      </p:sp>
      <p:sp>
        <p:nvSpPr>
          <p:cNvPr id="13" name="Rectangle 12">
            <a:extLst>
              <a:ext uri="{FF2B5EF4-FFF2-40B4-BE49-F238E27FC236}">
                <a16:creationId xmlns:a16="http://schemas.microsoft.com/office/drawing/2014/main" id="{194E8133-ED81-053A-40FF-3B24A7D23771}"/>
              </a:ext>
            </a:extLst>
          </p:cNvPr>
          <p:cNvSpPr/>
          <p:nvPr/>
        </p:nvSpPr>
        <p:spPr>
          <a:xfrm>
            <a:off x="3787442" y="3631283"/>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0.0</a:t>
            </a:r>
            <a:endParaRPr lang="en-US" sz="2800">
              <a:solidFill>
                <a:schemeClr val="accent1"/>
              </a:solidFill>
              <a:latin typeface="Consolas" panose="020B0609020204030204" pitchFamily="49" charset="0"/>
              <a:cs typeface="Consolas" panose="020B0609020204030204" pitchFamily="49" charset="0"/>
            </a:endParaRPr>
          </a:p>
        </p:txBody>
      </p:sp>
      <p:cxnSp>
        <p:nvCxnSpPr>
          <p:cNvPr id="14" name="Straight Arrow Connector 10">
            <a:extLst>
              <a:ext uri="{FF2B5EF4-FFF2-40B4-BE49-F238E27FC236}">
                <a16:creationId xmlns:a16="http://schemas.microsoft.com/office/drawing/2014/main" id="{5F440462-95B6-E7CA-E9CE-B0FBEF5E4954}"/>
              </a:ext>
            </a:extLst>
          </p:cNvPr>
          <p:cNvCxnSpPr>
            <a:cxnSpLocks/>
            <a:endCxn id="11" idx="1"/>
          </p:cNvCxnSpPr>
          <p:nvPr/>
        </p:nvCxnSpPr>
        <p:spPr>
          <a:xfrm rot="16200000" flipH="1">
            <a:off x="1196026" y="2339222"/>
            <a:ext cx="2321505" cy="789599"/>
          </a:xfrm>
          <a:prstGeom prst="bentConnector2">
            <a:avLst/>
          </a:prstGeom>
          <a:ln w="63500" cap="rnd">
            <a:solidFill>
              <a:schemeClr val="accent6">
                <a:lumMod val="50000"/>
              </a:schemeClr>
            </a:solidFill>
            <a:headEnd type="oval"/>
            <a:tailEnd type="triangle"/>
          </a:ln>
        </p:spPr>
        <p:style>
          <a:lnRef idx="1">
            <a:schemeClr val="accent6"/>
          </a:lnRef>
          <a:fillRef idx="0">
            <a:schemeClr val="accent6"/>
          </a:fillRef>
          <a:effectRef idx="0">
            <a:schemeClr val="accent6"/>
          </a:effectRef>
          <a:fontRef idx="minor">
            <a:schemeClr val="tx1"/>
          </a:fontRef>
        </p:style>
      </p:cxnSp>
      <p:sp>
        <p:nvSpPr>
          <p:cNvPr id="4" name="Rectangle 3">
            <a:extLst>
              <a:ext uri="{FF2B5EF4-FFF2-40B4-BE49-F238E27FC236}">
                <a16:creationId xmlns:a16="http://schemas.microsoft.com/office/drawing/2014/main" id="{69E3B793-26BF-F277-C513-377E1FCC2176}"/>
              </a:ext>
            </a:extLst>
          </p:cNvPr>
          <p:cNvSpPr/>
          <p:nvPr/>
        </p:nvSpPr>
        <p:spPr>
          <a:xfrm>
            <a:off x="1444047" y="1043490"/>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latin typeface="+mj-lt"/>
              </a:rPr>
              <a:t>0xb7</a:t>
            </a:r>
            <a:endParaRPr lang="en-US" sz="2800">
              <a:solidFill>
                <a:schemeClr val="accent6">
                  <a:lumMod val="75000"/>
                </a:schemeClr>
              </a:solidFill>
              <a:latin typeface="Consolas" panose="020B0609020204030204" pitchFamily="49" charset="0"/>
              <a:cs typeface="Consolas" panose="020B0609020204030204" pitchFamily="49" charset="0"/>
            </a:endParaRPr>
          </a:p>
        </p:txBody>
      </p:sp>
      <p:grpSp>
        <p:nvGrpSpPr>
          <p:cNvPr id="7" name="Group 6">
            <a:extLst>
              <a:ext uri="{FF2B5EF4-FFF2-40B4-BE49-F238E27FC236}">
                <a16:creationId xmlns:a16="http://schemas.microsoft.com/office/drawing/2014/main" id="{CA02AD60-BC49-2BD3-AC9D-BE71A6254C71}"/>
              </a:ext>
            </a:extLst>
          </p:cNvPr>
          <p:cNvGrpSpPr/>
          <p:nvPr/>
        </p:nvGrpSpPr>
        <p:grpSpPr>
          <a:xfrm>
            <a:off x="991886" y="106117"/>
            <a:ext cx="3400547" cy="1874745"/>
            <a:chOff x="247891" y="497710"/>
            <a:chExt cx="2402712" cy="1874745"/>
          </a:xfrm>
        </p:grpSpPr>
        <p:sp>
          <p:nvSpPr>
            <p:cNvPr id="15" name="Rectangle 14">
              <a:extLst>
                <a:ext uri="{FF2B5EF4-FFF2-40B4-BE49-F238E27FC236}">
                  <a16:creationId xmlns:a16="http://schemas.microsoft.com/office/drawing/2014/main" id="{DAF7D5AD-00ED-61DE-BD01-80B6158F544A}"/>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16" name="TextBox 15">
              <a:extLst>
                <a:ext uri="{FF2B5EF4-FFF2-40B4-BE49-F238E27FC236}">
                  <a16:creationId xmlns:a16="http://schemas.microsoft.com/office/drawing/2014/main" id="{A6772FA7-3B88-7B14-DECF-539EB9296591}"/>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foo</a:t>
              </a:r>
            </a:p>
          </p:txBody>
        </p:sp>
      </p:grpSp>
    </p:spTree>
    <p:extLst>
      <p:ext uri="{BB962C8B-B14F-4D97-AF65-F5344CB8AC3E}">
        <p14:creationId xmlns:p14="http://schemas.microsoft.com/office/powerpoint/2010/main" val="17215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67592-5E4A-6F5A-BFB2-DBAAAF5CB926}"/>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296F44D1-5E77-9BBF-6831-A74EBAF76756}"/>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E2DD6569-3885-C948-0364-78B4DA176C05}"/>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0F6D1D4D-8325-3ABE-2D7C-B092C7E2AE5E}"/>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highlight>
                  <a:srgbClr val="FFFF00"/>
                </a:highlight>
                <a:latin typeface="+mj-lt"/>
              </a:rPr>
              <a:t>void foo(</a:t>
            </a:r>
            <a:r>
              <a:rPr lang="en-US" sz="2000">
                <a:solidFill>
                  <a:srgbClr val="00007F"/>
                </a:solidFill>
                <a:highlight>
                  <a:srgbClr val="FFFF00"/>
                </a:highlight>
                <a:latin typeface="+mj-lt"/>
              </a:rPr>
              <a:t>Thing</a:t>
            </a:r>
            <a:r>
              <a:rPr lang="en-US" sz="2000">
                <a:solidFill>
                  <a:schemeClr val="tx1"/>
                </a:solidFill>
                <a:highlight>
                  <a:srgbClr val="FFFF00"/>
                </a:highlight>
                <a:latin typeface="+mj-lt"/>
              </a:rPr>
              <a:t> a) {</a:t>
            </a:r>
          </a:p>
          <a:p>
            <a:r>
              <a:rPr lang="en-US" sz="2000">
                <a:solidFill>
                  <a:schemeClr val="tx1"/>
                </a:solidFill>
                <a:latin typeface="+mj-lt"/>
              </a:rPr>
              <a:t>  a.y = </a:t>
            </a:r>
            <a:r>
              <a:rPr lang="en-US" sz="2000">
                <a:solidFill>
                  <a:srgbClr val="09B5B6"/>
                </a:solidFill>
                <a:latin typeface="+mj-lt"/>
              </a:rPr>
              <a:t>4.0</a:t>
            </a:r>
            <a:r>
              <a:rPr lang="en-US" sz="2000">
                <a:solidFill>
                  <a:schemeClr val="tx1"/>
                </a:solidFill>
                <a:latin typeface="+mj-lt"/>
              </a:rPr>
              <a:t>;</a:t>
            </a:r>
          </a:p>
          <a:p>
            <a:r>
              <a:rPr lang="en-US" sz="2000">
                <a:solidFill>
                  <a:schemeClr val="tx1"/>
                </a:solidFill>
                <a:latin typeface="+mj-lt"/>
              </a:rPr>
              <a:t>  a = </a:t>
            </a:r>
            <a:r>
              <a:rPr lang="en-US" sz="2000">
                <a:solidFill>
                  <a:srgbClr val="0432FF"/>
                </a:solidFill>
                <a:latin typeface="+mj-lt"/>
              </a:rPr>
              <a:t>null</a:t>
            </a:r>
            <a:r>
              <a:rPr lang="en-US" sz="2000">
                <a:solidFill>
                  <a:schemeClr val="tx1"/>
                </a:solidFill>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rgbClr val="00007F"/>
                </a:solidFill>
                <a:latin typeface="+mj-lt"/>
              </a:rPr>
              <a:t>  Thing</a:t>
            </a:r>
            <a:r>
              <a:rPr lang="en-US" sz="2000">
                <a:solidFill>
                  <a:schemeClr val="tx1"/>
                </a:solidFill>
                <a:latin typeface="+mj-lt"/>
              </a:rPr>
              <a:t> a;</a:t>
            </a:r>
          </a:p>
          <a:p>
            <a:r>
              <a:rPr lang="en-US" sz="2000">
                <a:solidFill>
                  <a:schemeClr val="tx1"/>
                </a:solidFill>
                <a:latin typeface="+mj-lt"/>
              </a:rPr>
              <a:t>  a = new </a:t>
            </a:r>
            <a:r>
              <a:rPr lang="en-US" sz="2000">
                <a:solidFill>
                  <a:srgbClr val="00007F"/>
                </a:solidFill>
                <a:latin typeface="+mj-lt"/>
              </a:rPr>
              <a:t>Thing</a:t>
            </a:r>
            <a:r>
              <a:rPr lang="en-US" sz="2000">
                <a:solidFill>
                  <a:schemeClr val="tx1"/>
                </a:solidFill>
                <a:latin typeface="+mj-lt"/>
              </a:rPr>
              <a:t>();</a:t>
            </a:r>
          </a:p>
          <a:p>
            <a:r>
              <a:rPr lang="en-US" sz="2000">
                <a:solidFill>
                  <a:schemeClr val="tx1"/>
                </a:solidFill>
                <a:latin typeface="+mj-lt"/>
              </a:rPr>
              <a:t>  a.x = </a:t>
            </a:r>
            <a:r>
              <a:rPr lang="en-US" sz="2000">
                <a:solidFill>
                  <a:srgbClr val="09B5B6"/>
                </a:solidFill>
                <a:latin typeface="+mj-lt"/>
              </a:rPr>
              <a:t>3.0</a:t>
            </a:r>
            <a:r>
              <a:rPr lang="en-US" sz="2000">
                <a:solidFill>
                  <a:schemeClr val="tx1"/>
                </a:solidFill>
                <a:latin typeface="+mj-lt"/>
              </a:rPr>
              <a:t>;</a:t>
            </a:r>
          </a:p>
          <a:p>
            <a:r>
              <a:rPr lang="en-US" sz="2000">
                <a:solidFill>
                  <a:schemeClr val="tx1"/>
                </a:solidFill>
                <a:highlight>
                  <a:srgbClr val="C0C0C0"/>
                </a:highlight>
                <a:latin typeface="+mj-lt"/>
              </a:rPr>
              <a:t>  foo(a);</a:t>
            </a:r>
          </a:p>
          <a:p>
            <a:r>
              <a:rPr lang="en-US" sz="2000">
                <a:solidFill>
                  <a:schemeClr val="tx1"/>
                </a:solidFill>
                <a:latin typeface="+mj-lt"/>
              </a:rPr>
              <a:t>  a.y = </a:t>
            </a:r>
            <a:r>
              <a:rPr lang="en-US" sz="2000">
                <a:solidFill>
                  <a:srgbClr val="09B5B6"/>
                </a:solidFill>
                <a:latin typeface="+mj-lt"/>
              </a:rPr>
              <a:t>5.0</a:t>
            </a:r>
            <a:r>
              <a:rPr lang="en-US" sz="2000">
                <a:solidFill>
                  <a:schemeClr val="tx1"/>
                </a:solidFill>
                <a:latin typeface="+mj-lt"/>
              </a:rPr>
              <a:t>;</a:t>
            </a:r>
          </a:p>
          <a:p>
            <a:r>
              <a:rPr lang="en-US" sz="2000">
                <a:solidFill>
                  <a:schemeClr val="tx1"/>
                </a:solidFill>
                <a:latin typeface="+mj-lt"/>
              </a:rPr>
              <a:t>}</a:t>
            </a:r>
          </a:p>
        </p:txBody>
      </p:sp>
      <p:grpSp>
        <p:nvGrpSpPr>
          <p:cNvPr id="9" name="Group 8">
            <a:extLst>
              <a:ext uri="{FF2B5EF4-FFF2-40B4-BE49-F238E27FC236}">
                <a16:creationId xmlns:a16="http://schemas.microsoft.com/office/drawing/2014/main" id="{35EE754D-BB9E-FEA1-0EAD-37780D58A37A}"/>
              </a:ext>
            </a:extLst>
          </p:cNvPr>
          <p:cNvGrpSpPr/>
          <p:nvPr/>
        </p:nvGrpSpPr>
        <p:grpSpPr>
          <a:xfrm>
            <a:off x="372798" y="371008"/>
            <a:ext cx="3400547" cy="1874745"/>
            <a:chOff x="247891" y="497710"/>
            <a:chExt cx="2402712" cy="1874745"/>
          </a:xfrm>
        </p:grpSpPr>
        <p:sp>
          <p:nvSpPr>
            <p:cNvPr id="5" name="Rectangle 4">
              <a:extLst>
                <a:ext uri="{FF2B5EF4-FFF2-40B4-BE49-F238E27FC236}">
                  <a16:creationId xmlns:a16="http://schemas.microsoft.com/office/drawing/2014/main" id="{39B0CEA1-A94C-FE22-CA10-AD3AEE10961A}"/>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8" name="TextBox 7">
              <a:extLst>
                <a:ext uri="{FF2B5EF4-FFF2-40B4-BE49-F238E27FC236}">
                  <a16:creationId xmlns:a16="http://schemas.microsoft.com/office/drawing/2014/main" id="{C32B4BF5-B770-DC7E-30F2-6F9D3B66891C}"/>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main</a:t>
              </a:r>
            </a:p>
          </p:txBody>
        </p:sp>
      </p:grpSp>
      <p:sp>
        <p:nvSpPr>
          <p:cNvPr id="6" name="TextBox 5">
            <a:extLst>
              <a:ext uri="{FF2B5EF4-FFF2-40B4-BE49-F238E27FC236}">
                <a16:creationId xmlns:a16="http://schemas.microsoft.com/office/drawing/2014/main" id="{671D1E92-A8FC-01E1-8466-0632B5FEB858}"/>
              </a:ext>
            </a:extLst>
          </p:cNvPr>
          <p:cNvSpPr txBox="1"/>
          <p:nvPr/>
        </p:nvSpPr>
        <p:spPr>
          <a:xfrm>
            <a:off x="1669683" y="458714"/>
            <a:ext cx="584592" cy="584775"/>
          </a:xfrm>
          <a:prstGeom prst="rect">
            <a:avLst/>
          </a:prstGeom>
          <a:noFill/>
        </p:spPr>
        <p:txBody>
          <a:bodyPr wrap="square">
            <a:spAutoFit/>
          </a:bodyPr>
          <a:lstStyle/>
          <a:p>
            <a:pPr algn="ctr"/>
            <a:r>
              <a:rPr lang="en-US" sz="3200">
                <a:latin typeface="+mj-lt"/>
              </a:rPr>
              <a:t>a</a:t>
            </a:r>
            <a:endParaRPr lang="en-US" sz="3200"/>
          </a:p>
        </p:txBody>
      </p:sp>
      <p:sp>
        <p:nvSpPr>
          <p:cNvPr id="10" name="TextBox 9">
            <a:extLst>
              <a:ext uri="{FF2B5EF4-FFF2-40B4-BE49-F238E27FC236}">
                <a16:creationId xmlns:a16="http://schemas.microsoft.com/office/drawing/2014/main" id="{292C7E31-7213-D526-CB2B-74B3B98183FB}"/>
              </a:ext>
            </a:extLst>
          </p:cNvPr>
          <p:cNvSpPr txBox="1"/>
          <p:nvPr/>
        </p:nvSpPr>
        <p:spPr>
          <a:xfrm>
            <a:off x="2751578" y="2981215"/>
            <a:ext cx="1035866" cy="584775"/>
          </a:xfrm>
          <a:prstGeom prst="rect">
            <a:avLst/>
          </a:prstGeom>
          <a:noFill/>
        </p:spPr>
        <p:txBody>
          <a:bodyPr wrap="square">
            <a:spAutoFit/>
          </a:bodyPr>
          <a:lstStyle/>
          <a:p>
            <a:pPr algn="ctr"/>
            <a:r>
              <a:rPr lang="en-US" sz="3200">
                <a:latin typeface="+mj-lt"/>
              </a:rPr>
              <a:t>.x</a:t>
            </a:r>
            <a:endParaRPr lang="en-US" sz="3200"/>
          </a:p>
        </p:txBody>
      </p:sp>
      <p:sp>
        <p:nvSpPr>
          <p:cNvPr id="11" name="Rectangle 10">
            <a:extLst>
              <a:ext uri="{FF2B5EF4-FFF2-40B4-BE49-F238E27FC236}">
                <a16:creationId xmlns:a16="http://schemas.microsoft.com/office/drawing/2014/main" id="{0E0B26AD-B799-84EB-F2AD-CE62560B6DCF}"/>
              </a:ext>
            </a:extLst>
          </p:cNvPr>
          <p:cNvSpPr/>
          <p:nvPr/>
        </p:nvSpPr>
        <p:spPr>
          <a:xfrm>
            <a:off x="2751578" y="3629884"/>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3.0</a:t>
            </a:r>
            <a:endParaRPr lang="en-US" sz="2800">
              <a:solidFill>
                <a:schemeClr val="accent1"/>
              </a:solidFill>
              <a:latin typeface="Consolas" panose="020B0609020204030204" pitchFamily="49" charset="0"/>
              <a:cs typeface="Consolas" panose="020B0609020204030204" pitchFamily="49" charset="0"/>
            </a:endParaRPr>
          </a:p>
        </p:txBody>
      </p:sp>
      <p:sp>
        <p:nvSpPr>
          <p:cNvPr id="12" name="TextBox 11">
            <a:extLst>
              <a:ext uri="{FF2B5EF4-FFF2-40B4-BE49-F238E27FC236}">
                <a16:creationId xmlns:a16="http://schemas.microsoft.com/office/drawing/2014/main" id="{3867EA95-218D-963B-8551-9BACE919864F}"/>
              </a:ext>
            </a:extLst>
          </p:cNvPr>
          <p:cNvSpPr txBox="1"/>
          <p:nvPr/>
        </p:nvSpPr>
        <p:spPr>
          <a:xfrm>
            <a:off x="3787442" y="2982614"/>
            <a:ext cx="1035866" cy="584775"/>
          </a:xfrm>
          <a:prstGeom prst="rect">
            <a:avLst/>
          </a:prstGeom>
          <a:noFill/>
        </p:spPr>
        <p:txBody>
          <a:bodyPr wrap="square">
            <a:spAutoFit/>
          </a:bodyPr>
          <a:lstStyle/>
          <a:p>
            <a:pPr algn="ctr"/>
            <a:r>
              <a:rPr lang="en-US" sz="3200">
                <a:latin typeface="+mj-lt"/>
              </a:rPr>
              <a:t>.y</a:t>
            </a:r>
            <a:endParaRPr lang="en-US" sz="3200"/>
          </a:p>
        </p:txBody>
      </p:sp>
      <p:sp>
        <p:nvSpPr>
          <p:cNvPr id="13" name="Rectangle 12">
            <a:extLst>
              <a:ext uri="{FF2B5EF4-FFF2-40B4-BE49-F238E27FC236}">
                <a16:creationId xmlns:a16="http://schemas.microsoft.com/office/drawing/2014/main" id="{54942A04-9FDD-1B7B-FC0C-CF7E30ACCA26}"/>
              </a:ext>
            </a:extLst>
          </p:cNvPr>
          <p:cNvSpPr/>
          <p:nvPr/>
        </p:nvSpPr>
        <p:spPr>
          <a:xfrm>
            <a:off x="3787442" y="3631283"/>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0.0</a:t>
            </a:r>
            <a:endParaRPr lang="en-US" sz="2800">
              <a:solidFill>
                <a:schemeClr val="accent1"/>
              </a:solidFill>
              <a:latin typeface="Consolas" panose="020B0609020204030204" pitchFamily="49" charset="0"/>
              <a:cs typeface="Consolas" panose="020B0609020204030204" pitchFamily="49" charset="0"/>
            </a:endParaRPr>
          </a:p>
        </p:txBody>
      </p:sp>
      <p:cxnSp>
        <p:nvCxnSpPr>
          <p:cNvPr id="14" name="Straight Arrow Connector 10">
            <a:extLst>
              <a:ext uri="{FF2B5EF4-FFF2-40B4-BE49-F238E27FC236}">
                <a16:creationId xmlns:a16="http://schemas.microsoft.com/office/drawing/2014/main" id="{099A3509-03D9-3A45-4CC3-6A7EDF0299EC}"/>
              </a:ext>
            </a:extLst>
          </p:cNvPr>
          <p:cNvCxnSpPr>
            <a:cxnSpLocks/>
            <a:endCxn id="11" idx="1"/>
          </p:cNvCxnSpPr>
          <p:nvPr/>
        </p:nvCxnSpPr>
        <p:spPr>
          <a:xfrm rot="16200000" flipH="1">
            <a:off x="1196026" y="2339222"/>
            <a:ext cx="2321505" cy="789599"/>
          </a:xfrm>
          <a:prstGeom prst="bentConnector2">
            <a:avLst/>
          </a:prstGeom>
          <a:ln w="63500" cap="rnd">
            <a:solidFill>
              <a:schemeClr val="accent6">
                <a:lumMod val="50000"/>
              </a:schemeClr>
            </a:solidFill>
            <a:headEnd type="oval"/>
            <a:tailEnd type="triangle"/>
          </a:ln>
        </p:spPr>
        <p:style>
          <a:lnRef idx="1">
            <a:schemeClr val="accent6"/>
          </a:lnRef>
          <a:fillRef idx="0">
            <a:schemeClr val="accent6"/>
          </a:fillRef>
          <a:effectRef idx="0">
            <a:schemeClr val="accent6"/>
          </a:effectRef>
          <a:fontRef idx="minor">
            <a:schemeClr val="tx1"/>
          </a:fontRef>
        </p:style>
      </p:cxnSp>
      <p:sp>
        <p:nvSpPr>
          <p:cNvPr id="4" name="Rectangle 3">
            <a:extLst>
              <a:ext uri="{FF2B5EF4-FFF2-40B4-BE49-F238E27FC236}">
                <a16:creationId xmlns:a16="http://schemas.microsoft.com/office/drawing/2014/main" id="{54135C8E-2A12-A120-EF44-BC254BAD46CD}"/>
              </a:ext>
            </a:extLst>
          </p:cNvPr>
          <p:cNvSpPr/>
          <p:nvPr/>
        </p:nvSpPr>
        <p:spPr>
          <a:xfrm>
            <a:off x="1444047" y="1043490"/>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latin typeface="+mj-lt"/>
              </a:rPr>
              <a:t>0xb7</a:t>
            </a:r>
            <a:endParaRPr lang="en-US" sz="2800">
              <a:solidFill>
                <a:schemeClr val="accent6">
                  <a:lumMod val="75000"/>
                </a:schemeClr>
              </a:solidFill>
              <a:latin typeface="Consolas" panose="020B0609020204030204" pitchFamily="49" charset="0"/>
              <a:cs typeface="Consolas" panose="020B0609020204030204" pitchFamily="49" charset="0"/>
            </a:endParaRPr>
          </a:p>
        </p:txBody>
      </p:sp>
      <p:grpSp>
        <p:nvGrpSpPr>
          <p:cNvPr id="7" name="Group 6">
            <a:extLst>
              <a:ext uri="{FF2B5EF4-FFF2-40B4-BE49-F238E27FC236}">
                <a16:creationId xmlns:a16="http://schemas.microsoft.com/office/drawing/2014/main" id="{ACF77EBD-9323-1E42-08D3-F50581F6AB4E}"/>
              </a:ext>
            </a:extLst>
          </p:cNvPr>
          <p:cNvGrpSpPr/>
          <p:nvPr/>
        </p:nvGrpSpPr>
        <p:grpSpPr>
          <a:xfrm>
            <a:off x="991886" y="106117"/>
            <a:ext cx="3400547" cy="1874745"/>
            <a:chOff x="247891" y="497710"/>
            <a:chExt cx="2402712" cy="1874745"/>
          </a:xfrm>
        </p:grpSpPr>
        <p:sp>
          <p:nvSpPr>
            <p:cNvPr id="15" name="Rectangle 14">
              <a:extLst>
                <a:ext uri="{FF2B5EF4-FFF2-40B4-BE49-F238E27FC236}">
                  <a16:creationId xmlns:a16="http://schemas.microsoft.com/office/drawing/2014/main" id="{5762C86E-D2C1-342A-31DA-04D3DFB29412}"/>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16" name="TextBox 15">
              <a:extLst>
                <a:ext uri="{FF2B5EF4-FFF2-40B4-BE49-F238E27FC236}">
                  <a16:creationId xmlns:a16="http://schemas.microsoft.com/office/drawing/2014/main" id="{660A1CC9-44F7-02E4-15D3-4E3B8AC59596}"/>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foo</a:t>
              </a:r>
            </a:p>
          </p:txBody>
        </p:sp>
      </p:grpSp>
      <p:sp>
        <p:nvSpPr>
          <p:cNvPr id="17" name="TextBox 16">
            <a:extLst>
              <a:ext uri="{FF2B5EF4-FFF2-40B4-BE49-F238E27FC236}">
                <a16:creationId xmlns:a16="http://schemas.microsoft.com/office/drawing/2014/main" id="{1D64DA99-2767-02D4-E6C1-1A0E3235AC1C}"/>
              </a:ext>
            </a:extLst>
          </p:cNvPr>
          <p:cNvSpPr txBox="1"/>
          <p:nvPr/>
        </p:nvSpPr>
        <p:spPr>
          <a:xfrm>
            <a:off x="2458203" y="227150"/>
            <a:ext cx="584592" cy="584775"/>
          </a:xfrm>
          <a:prstGeom prst="rect">
            <a:avLst/>
          </a:prstGeom>
          <a:noFill/>
        </p:spPr>
        <p:txBody>
          <a:bodyPr wrap="square">
            <a:spAutoFit/>
          </a:bodyPr>
          <a:lstStyle/>
          <a:p>
            <a:pPr algn="ctr"/>
            <a:r>
              <a:rPr lang="en-US" sz="3200">
                <a:latin typeface="+mj-lt"/>
              </a:rPr>
              <a:t>a</a:t>
            </a:r>
            <a:endParaRPr lang="en-US" sz="3200"/>
          </a:p>
        </p:txBody>
      </p:sp>
      <p:cxnSp>
        <p:nvCxnSpPr>
          <p:cNvPr id="18" name="Straight Arrow Connector 10">
            <a:extLst>
              <a:ext uri="{FF2B5EF4-FFF2-40B4-BE49-F238E27FC236}">
                <a16:creationId xmlns:a16="http://schemas.microsoft.com/office/drawing/2014/main" id="{B935D828-7FFB-6DF9-3FB5-A8E7B044DDFA}"/>
              </a:ext>
            </a:extLst>
          </p:cNvPr>
          <p:cNvCxnSpPr>
            <a:cxnSpLocks/>
            <a:stCxn id="19" idx="2"/>
            <a:endCxn id="11" idx="1"/>
          </p:cNvCxnSpPr>
          <p:nvPr/>
        </p:nvCxnSpPr>
        <p:spPr>
          <a:xfrm rot="16200000" flipH="1">
            <a:off x="1474504" y="2617701"/>
            <a:ext cx="2553068" cy="1079"/>
          </a:xfrm>
          <a:prstGeom prst="bentConnector2">
            <a:avLst/>
          </a:prstGeom>
          <a:ln w="63500" cap="rnd">
            <a:solidFill>
              <a:schemeClr val="accent6">
                <a:lumMod val="50000"/>
              </a:schemeClr>
            </a:solidFill>
            <a:headEnd type="oval"/>
            <a:tailEnd type="triangle"/>
          </a:ln>
        </p:spPr>
        <p:style>
          <a:lnRef idx="1">
            <a:schemeClr val="accent6"/>
          </a:lnRef>
          <a:fillRef idx="0">
            <a:schemeClr val="accent6"/>
          </a:fillRef>
          <a:effectRef idx="0">
            <a:schemeClr val="accent6"/>
          </a:effectRef>
          <a:fontRef idx="minor">
            <a:schemeClr val="tx1"/>
          </a:fontRef>
        </p:style>
      </p:cxnSp>
      <p:sp>
        <p:nvSpPr>
          <p:cNvPr id="19" name="Rectangle 18">
            <a:extLst>
              <a:ext uri="{FF2B5EF4-FFF2-40B4-BE49-F238E27FC236}">
                <a16:creationId xmlns:a16="http://schemas.microsoft.com/office/drawing/2014/main" id="{3EBFD720-1AA8-C9A7-FCD5-73BE41C47798}"/>
              </a:ext>
            </a:extLst>
          </p:cNvPr>
          <p:cNvSpPr/>
          <p:nvPr/>
        </p:nvSpPr>
        <p:spPr>
          <a:xfrm>
            <a:off x="2232567" y="811926"/>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highlight>
                  <a:srgbClr val="FFFF00"/>
                </a:highlight>
                <a:latin typeface="+mj-lt"/>
              </a:rPr>
              <a:t>0xb7</a:t>
            </a:r>
            <a:endParaRPr lang="en-US" sz="2800">
              <a:solidFill>
                <a:schemeClr val="accent6">
                  <a:lumMod val="75000"/>
                </a:schemeClr>
              </a:solidFill>
              <a:highlight>
                <a:srgbClr val="FFFF00"/>
              </a:highlight>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382598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A9B09-3826-15DB-FEEF-37DD68BE14FF}"/>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7A28C684-8A37-2FF6-4DFE-6AC1C9881FEF}"/>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15088940-7872-45EE-9EFF-2C0F38AE928B}"/>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B386B448-8DFC-0C34-6D1B-779D90F846F8}"/>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latin typeface="+mj-lt"/>
              </a:rPr>
              <a:t>void foo(</a:t>
            </a:r>
            <a:r>
              <a:rPr lang="en-US" sz="2000">
                <a:solidFill>
                  <a:srgbClr val="00007F"/>
                </a:solidFill>
                <a:latin typeface="+mj-lt"/>
              </a:rPr>
              <a:t>Thing</a:t>
            </a:r>
            <a:r>
              <a:rPr lang="en-US" sz="2000">
                <a:solidFill>
                  <a:schemeClr val="tx1"/>
                </a:solidFill>
                <a:latin typeface="+mj-lt"/>
              </a:rPr>
              <a:t> a) {</a:t>
            </a:r>
          </a:p>
          <a:p>
            <a:r>
              <a:rPr lang="en-US" sz="2000">
                <a:solidFill>
                  <a:schemeClr val="tx1"/>
                </a:solidFill>
                <a:highlight>
                  <a:srgbClr val="FFFF00"/>
                </a:highlight>
                <a:latin typeface="+mj-lt"/>
              </a:rPr>
              <a:t>  a.y = </a:t>
            </a:r>
            <a:r>
              <a:rPr lang="en-US" sz="2000">
                <a:solidFill>
                  <a:srgbClr val="09B5B6"/>
                </a:solidFill>
                <a:highlight>
                  <a:srgbClr val="FFFF00"/>
                </a:highlight>
                <a:latin typeface="+mj-lt"/>
              </a:rPr>
              <a:t>4.0</a:t>
            </a:r>
            <a:r>
              <a:rPr lang="en-US" sz="2000">
                <a:solidFill>
                  <a:schemeClr val="tx1"/>
                </a:solidFill>
                <a:highlight>
                  <a:srgbClr val="FFFF00"/>
                </a:highlight>
                <a:latin typeface="+mj-lt"/>
              </a:rPr>
              <a:t>;</a:t>
            </a:r>
          </a:p>
          <a:p>
            <a:r>
              <a:rPr lang="en-US" sz="2000">
                <a:solidFill>
                  <a:schemeClr val="tx1"/>
                </a:solidFill>
                <a:latin typeface="+mj-lt"/>
              </a:rPr>
              <a:t>  a = </a:t>
            </a:r>
            <a:r>
              <a:rPr lang="en-US" sz="2000">
                <a:solidFill>
                  <a:srgbClr val="0432FF"/>
                </a:solidFill>
                <a:latin typeface="+mj-lt"/>
              </a:rPr>
              <a:t>null</a:t>
            </a:r>
            <a:r>
              <a:rPr lang="en-US" sz="2000">
                <a:solidFill>
                  <a:schemeClr val="tx1"/>
                </a:solidFill>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rgbClr val="00007F"/>
                </a:solidFill>
                <a:latin typeface="+mj-lt"/>
              </a:rPr>
              <a:t>  Thing</a:t>
            </a:r>
            <a:r>
              <a:rPr lang="en-US" sz="2000">
                <a:solidFill>
                  <a:schemeClr val="tx1"/>
                </a:solidFill>
                <a:latin typeface="+mj-lt"/>
              </a:rPr>
              <a:t> a;</a:t>
            </a:r>
          </a:p>
          <a:p>
            <a:r>
              <a:rPr lang="en-US" sz="2000">
                <a:solidFill>
                  <a:schemeClr val="tx1"/>
                </a:solidFill>
                <a:latin typeface="+mj-lt"/>
              </a:rPr>
              <a:t>  a = new </a:t>
            </a:r>
            <a:r>
              <a:rPr lang="en-US" sz="2000">
                <a:solidFill>
                  <a:srgbClr val="00007F"/>
                </a:solidFill>
                <a:latin typeface="+mj-lt"/>
              </a:rPr>
              <a:t>Thing</a:t>
            </a:r>
            <a:r>
              <a:rPr lang="en-US" sz="2000">
                <a:solidFill>
                  <a:schemeClr val="tx1"/>
                </a:solidFill>
                <a:latin typeface="+mj-lt"/>
              </a:rPr>
              <a:t>();</a:t>
            </a:r>
          </a:p>
          <a:p>
            <a:r>
              <a:rPr lang="en-US" sz="2000">
                <a:solidFill>
                  <a:schemeClr val="tx1"/>
                </a:solidFill>
                <a:latin typeface="+mj-lt"/>
              </a:rPr>
              <a:t>  a.x = </a:t>
            </a:r>
            <a:r>
              <a:rPr lang="en-US" sz="2000">
                <a:solidFill>
                  <a:srgbClr val="09B5B6"/>
                </a:solidFill>
                <a:latin typeface="+mj-lt"/>
              </a:rPr>
              <a:t>3.0</a:t>
            </a:r>
            <a:r>
              <a:rPr lang="en-US" sz="2000">
                <a:solidFill>
                  <a:schemeClr val="tx1"/>
                </a:solidFill>
                <a:latin typeface="+mj-lt"/>
              </a:rPr>
              <a:t>;</a:t>
            </a:r>
          </a:p>
          <a:p>
            <a:r>
              <a:rPr lang="en-US" sz="2000">
                <a:solidFill>
                  <a:schemeClr val="tx1"/>
                </a:solidFill>
                <a:highlight>
                  <a:srgbClr val="C0C0C0"/>
                </a:highlight>
                <a:latin typeface="+mj-lt"/>
              </a:rPr>
              <a:t>  foo(a);</a:t>
            </a:r>
          </a:p>
          <a:p>
            <a:r>
              <a:rPr lang="en-US" sz="2000">
                <a:solidFill>
                  <a:schemeClr val="tx1"/>
                </a:solidFill>
                <a:latin typeface="+mj-lt"/>
              </a:rPr>
              <a:t>  a.y = </a:t>
            </a:r>
            <a:r>
              <a:rPr lang="en-US" sz="2000">
                <a:solidFill>
                  <a:srgbClr val="09B5B6"/>
                </a:solidFill>
                <a:latin typeface="+mj-lt"/>
              </a:rPr>
              <a:t>5.0</a:t>
            </a:r>
            <a:r>
              <a:rPr lang="en-US" sz="2000">
                <a:solidFill>
                  <a:schemeClr val="tx1"/>
                </a:solidFill>
                <a:latin typeface="+mj-lt"/>
              </a:rPr>
              <a:t>;</a:t>
            </a:r>
          </a:p>
          <a:p>
            <a:r>
              <a:rPr lang="en-US" sz="2000">
                <a:solidFill>
                  <a:schemeClr val="tx1"/>
                </a:solidFill>
                <a:latin typeface="+mj-lt"/>
              </a:rPr>
              <a:t>}</a:t>
            </a:r>
          </a:p>
        </p:txBody>
      </p:sp>
      <p:grpSp>
        <p:nvGrpSpPr>
          <p:cNvPr id="9" name="Group 8">
            <a:extLst>
              <a:ext uri="{FF2B5EF4-FFF2-40B4-BE49-F238E27FC236}">
                <a16:creationId xmlns:a16="http://schemas.microsoft.com/office/drawing/2014/main" id="{359FB0AE-2089-E044-738E-D547FC112525}"/>
              </a:ext>
            </a:extLst>
          </p:cNvPr>
          <p:cNvGrpSpPr/>
          <p:nvPr/>
        </p:nvGrpSpPr>
        <p:grpSpPr>
          <a:xfrm>
            <a:off x="372798" y="371008"/>
            <a:ext cx="3400547" cy="1874745"/>
            <a:chOff x="247891" y="497710"/>
            <a:chExt cx="2402712" cy="1874745"/>
          </a:xfrm>
        </p:grpSpPr>
        <p:sp>
          <p:nvSpPr>
            <p:cNvPr id="5" name="Rectangle 4">
              <a:extLst>
                <a:ext uri="{FF2B5EF4-FFF2-40B4-BE49-F238E27FC236}">
                  <a16:creationId xmlns:a16="http://schemas.microsoft.com/office/drawing/2014/main" id="{94C76884-5604-A4C3-ABD4-6F7FF583C38B}"/>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8" name="TextBox 7">
              <a:extLst>
                <a:ext uri="{FF2B5EF4-FFF2-40B4-BE49-F238E27FC236}">
                  <a16:creationId xmlns:a16="http://schemas.microsoft.com/office/drawing/2014/main" id="{0A4F8045-E282-668E-0339-E3D2EC8C08A3}"/>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main</a:t>
              </a:r>
            </a:p>
          </p:txBody>
        </p:sp>
      </p:grpSp>
      <p:sp>
        <p:nvSpPr>
          <p:cNvPr id="6" name="TextBox 5">
            <a:extLst>
              <a:ext uri="{FF2B5EF4-FFF2-40B4-BE49-F238E27FC236}">
                <a16:creationId xmlns:a16="http://schemas.microsoft.com/office/drawing/2014/main" id="{301E54EC-C9A5-8219-642C-90DCBAB7DB76}"/>
              </a:ext>
            </a:extLst>
          </p:cNvPr>
          <p:cNvSpPr txBox="1"/>
          <p:nvPr/>
        </p:nvSpPr>
        <p:spPr>
          <a:xfrm>
            <a:off x="1669683" y="458714"/>
            <a:ext cx="584592" cy="584775"/>
          </a:xfrm>
          <a:prstGeom prst="rect">
            <a:avLst/>
          </a:prstGeom>
          <a:noFill/>
        </p:spPr>
        <p:txBody>
          <a:bodyPr wrap="square">
            <a:spAutoFit/>
          </a:bodyPr>
          <a:lstStyle/>
          <a:p>
            <a:pPr algn="ctr"/>
            <a:r>
              <a:rPr lang="en-US" sz="3200">
                <a:latin typeface="+mj-lt"/>
              </a:rPr>
              <a:t>a</a:t>
            </a:r>
            <a:endParaRPr lang="en-US" sz="3200"/>
          </a:p>
        </p:txBody>
      </p:sp>
      <p:sp>
        <p:nvSpPr>
          <p:cNvPr id="10" name="TextBox 9">
            <a:extLst>
              <a:ext uri="{FF2B5EF4-FFF2-40B4-BE49-F238E27FC236}">
                <a16:creationId xmlns:a16="http://schemas.microsoft.com/office/drawing/2014/main" id="{464A9151-AAB0-2A86-0DDE-BBC0010D3D87}"/>
              </a:ext>
            </a:extLst>
          </p:cNvPr>
          <p:cNvSpPr txBox="1"/>
          <p:nvPr/>
        </p:nvSpPr>
        <p:spPr>
          <a:xfrm>
            <a:off x="2751578" y="2981215"/>
            <a:ext cx="1035866" cy="584775"/>
          </a:xfrm>
          <a:prstGeom prst="rect">
            <a:avLst/>
          </a:prstGeom>
          <a:noFill/>
        </p:spPr>
        <p:txBody>
          <a:bodyPr wrap="square">
            <a:spAutoFit/>
          </a:bodyPr>
          <a:lstStyle/>
          <a:p>
            <a:pPr algn="ctr"/>
            <a:r>
              <a:rPr lang="en-US" sz="3200">
                <a:latin typeface="+mj-lt"/>
              </a:rPr>
              <a:t>.x</a:t>
            </a:r>
            <a:endParaRPr lang="en-US" sz="3200"/>
          </a:p>
        </p:txBody>
      </p:sp>
      <p:sp>
        <p:nvSpPr>
          <p:cNvPr id="11" name="Rectangle 10">
            <a:extLst>
              <a:ext uri="{FF2B5EF4-FFF2-40B4-BE49-F238E27FC236}">
                <a16:creationId xmlns:a16="http://schemas.microsoft.com/office/drawing/2014/main" id="{35018B78-4517-55F1-1F61-294A4D2CF9E7}"/>
              </a:ext>
            </a:extLst>
          </p:cNvPr>
          <p:cNvSpPr/>
          <p:nvPr/>
        </p:nvSpPr>
        <p:spPr>
          <a:xfrm>
            <a:off x="2751578" y="3629884"/>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3.0</a:t>
            </a:r>
            <a:endParaRPr lang="en-US" sz="2800">
              <a:solidFill>
                <a:schemeClr val="accent1"/>
              </a:solidFill>
              <a:latin typeface="Consolas" panose="020B0609020204030204" pitchFamily="49" charset="0"/>
              <a:cs typeface="Consolas" panose="020B0609020204030204" pitchFamily="49" charset="0"/>
            </a:endParaRPr>
          </a:p>
        </p:txBody>
      </p:sp>
      <p:sp>
        <p:nvSpPr>
          <p:cNvPr id="12" name="TextBox 11">
            <a:extLst>
              <a:ext uri="{FF2B5EF4-FFF2-40B4-BE49-F238E27FC236}">
                <a16:creationId xmlns:a16="http://schemas.microsoft.com/office/drawing/2014/main" id="{A41070BC-C3A0-CFBA-2290-ED3F1509305F}"/>
              </a:ext>
            </a:extLst>
          </p:cNvPr>
          <p:cNvSpPr txBox="1"/>
          <p:nvPr/>
        </p:nvSpPr>
        <p:spPr>
          <a:xfrm>
            <a:off x="3787442" y="2982614"/>
            <a:ext cx="1035866" cy="584775"/>
          </a:xfrm>
          <a:prstGeom prst="rect">
            <a:avLst/>
          </a:prstGeom>
          <a:noFill/>
        </p:spPr>
        <p:txBody>
          <a:bodyPr wrap="square">
            <a:spAutoFit/>
          </a:bodyPr>
          <a:lstStyle/>
          <a:p>
            <a:pPr algn="ctr"/>
            <a:r>
              <a:rPr lang="en-US" sz="3200">
                <a:latin typeface="+mj-lt"/>
              </a:rPr>
              <a:t>.y</a:t>
            </a:r>
            <a:endParaRPr lang="en-US" sz="3200"/>
          </a:p>
        </p:txBody>
      </p:sp>
      <p:sp>
        <p:nvSpPr>
          <p:cNvPr id="13" name="Rectangle 12">
            <a:extLst>
              <a:ext uri="{FF2B5EF4-FFF2-40B4-BE49-F238E27FC236}">
                <a16:creationId xmlns:a16="http://schemas.microsoft.com/office/drawing/2014/main" id="{935E8153-243C-D444-A1F7-A7A4577CCD08}"/>
              </a:ext>
            </a:extLst>
          </p:cNvPr>
          <p:cNvSpPr/>
          <p:nvPr/>
        </p:nvSpPr>
        <p:spPr>
          <a:xfrm>
            <a:off x="3787442" y="3631283"/>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highlight>
                  <a:srgbClr val="FFFF00"/>
                </a:highlight>
                <a:latin typeface="+mj-lt"/>
                <a:cs typeface="Consolas" panose="020B0609020204030204" pitchFamily="49" charset="0"/>
              </a:rPr>
              <a:t>4.0</a:t>
            </a:r>
            <a:endParaRPr lang="en-US" sz="2800">
              <a:solidFill>
                <a:schemeClr val="accent1"/>
              </a:solidFill>
              <a:highlight>
                <a:srgbClr val="FFFF00"/>
              </a:highlight>
              <a:latin typeface="Consolas" panose="020B0609020204030204" pitchFamily="49" charset="0"/>
              <a:cs typeface="Consolas" panose="020B0609020204030204" pitchFamily="49" charset="0"/>
            </a:endParaRPr>
          </a:p>
        </p:txBody>
      </p:sp>
      <p:cxnSp>
        <p:nvCxnSpPr>
          <p:cNvPr id="14" name="Straight Arrow Connector 10">
            <a:extLst>
              <a:ext uri="{FF2B5EF4-FFF2-40B4-BE49-F238E27FC236}">
                <a16:creationId xmlns:a16="http://schemas.microsoft.com/office/drawing/2014/main" id="{76A846FA-A6C3-91F7-635C-C08EB9C7A348}"/>
              </a:ext>
            </a:extLst>
          </p:cNvPr>
          <p:cNvCxnSpPr>
            <a:cxnSpLocks/>
            <a:endCxn id="11" idx="1"/>
          </p:cNvCxnSpPr>
          <p:nvPr/>
        </p:nvCxnSpPr>
        <p:spPr>
          <a:xfrm rot="16200000" flipH="1">
            <a:off x="1196026" y="2339222"/>
            <a:ext cx="2321505" cy="789599"/>
          </a:xfrm>
          <a:prstGeom prst="bentConnector2">
            <a:avLst/>
          </a:prstGeom>
          <a:ln w="63500" cap="rnd">
            <a:solidFill>
              <a:schemeClr val="accent6">
                <a:lumMod val="50000"/>
              </a:schemeClr>
            </a:solidFill>
            <a:headEnd type="oval"/>
            <a:tailEnd type="triangle"/>
          </a:ln>
        </p:spPr>
        <p:style>
          <a:lnRef idx="1">
            <a:schemeClr val="accent6"/>
          </a:lnRef>
          <a:fillRef idx="0">
            <a:schemeClr val="accent6"/>
          </a:fillRef>
          <a:effectRef idx="0">
            <a:schemeClr val="accent6"/>
          </a:effectRef>
          <a:fontRef idx="minor">
            <a:schemeClr val="tx1"/>
          </a:fontRef>
        </p:style>
      </p:cxnSp>
      <p:sp>
        <p:nvSpPr>
          <p:cNvPr id="4" name="Rectangle 3">
            <a:extLst>
              <a:ext uri="{FF2B5EF4-FFF2-40B4-BE49-F238E27FC236}">
                <a16:creationId xmlns:a16="http://schemas.microsoft.com/office/drawing/2014/main" id="{B977A755-2534-391B-C93B-39CB2C809456}"/>
              </a:ext>
            </a:extLst>
          </p:cNvPr>
          <p:cNvSpPr/>
          <p:nvPr/>
        </p:nvSpPr>
        <p:spPr>
          <a:xfrm>
            <a:off x="1444047" y="1043490"/>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latin typeface="+mj-lt"/>
              </a:rPr>
              <a:t>0xb7</a:t>
            </a:r>
            <a:endParaRPr lang="en-US" sz="2800">
              <a:solidFill>
                <a:schemeClr val="accent6">
                  <a:lumMod val="75000"/>
                </a:schemeClr>
              </a:solidFill>
              <a:latin typeface="Consolas" panose="020B0609020204030204" pitchFamily="49" charset="0"/>
              <a:cs typeface="Consolas" panose="020B0609020204030204" pitchFamily="49" charset="0"/>
            </a:endParaRPr>
          </a:p>
        </p:txBody>
      </p:sp>
      <p:grpSp>
        <p:nvGrpSpPr>
          <p:cNvPr id="7" name="Group 6">
            <a:extLst>
              <a:ext uri="{FF2B5EF4-FFF2-40B4-BE49-F238E27FC236}">
                <a16:creationId xmlns:a16="http://schemas.microsoft.com/office/drawing/2014/main" id="{538854A6-4BB1-BE9D-4DD3-37B55975D3E8}"/>
              </a:ext>
            </a:extLst>
          </p:cNvPr>
          <p:cNvGrpSpPr/>
          <p:nvPr/>
        </p:nvGrpSpPr>
        <p:grpSpPr>
          <a:xfrm>
            <a:off x="991886" y="106117"/>
            <a:ext cx="3400547" cy="1874745"/>
            <a:chOff x="247891" y="497710"/>
            <a:chExt cx="2402712" cy="1874745"/>
          </a:xfrm>
        </p:grpSpPr>
        <p:sp>
          <p:nvSpPr>
            <p:cNvPr id="15" name="Rectangle 14">
              <a:extLst>
                <a:ext uri="{FF2B5EF4-FFF2-40B4-BE49-F238E27FC236}">
                  <a16:creationId xmlns:a16="http://schemas.microsoft.com/office/drawing/2014/main" id="{DA4B37BC-FDA7-FAE3-3AEF-D88964025F14}"/>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16" name="TextBox 15">
              <a:extLst>
                <a:ext uri="{FF2B5EF4-FFF2-40B4-BE49-F238E27FC236}">
                  <a16:creationId xmlns:a16="http://schemas.microsoft.com/office/drawing/2014/main" id="{48AB1E14-4F83-E4F3-0862-F0B027FBBEFC}"/>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foo</a:t>
              </a:r>
            </a:p>
          </p:txBody>
        </p:sp>
      </p:grpSp>
      <p:sp>
        <p:nvSpPr>
          <p:cNvPr id="17" name="TextBox 16">
            <a:extLst>
              <a:ext uri="{FF2B5EF4-FFF2-40B4-BE49-F238E27FC236}">
                <a16:creationId xmlns:a16="http://schemas.microsoft.com/office/drawing/2014/main" id="{91BEAD83-4E3B-C2E9-E8E5-DD8584748678}"/>
              </a:ext>
            </a:extLst>
          </p:cNvPr>
          <p:cNvSpPr txBox="1"/>
          <p:nvPr/>
        </p:nvSpPr>
        <p:spPr>
          <a:xfrm>
            <a:off x="2458203" y="227150"/>
            <a:ext cx="584592" cy="584775"/>
          </a:xfrm>
          <a:prstGeom prst="rect">
            <a:avLst/>
          </a:prstGeom>
          <a:noFill/>
        </p:spPr>
        <p:txBody>
          <a:bodyPr wrap="square">
            <a:spAutoFit/>
          </a:bodyPr>
          <a:lstStyle/>
          <a:p>
            <a:pPr algn="ctr"/>
            <a:r>
              <a:rPr lang="en-US" sz="3200">
                <a:latin typeface="+mj-lt"/>
              </a:rPr>
              <a:t>a</a:t>
            </a:r>
            <a:endParaRPr lang="en-US" sz="3200"/>
          </a:p>
        </p:txBody>
      </p:sp>
      <p:cxnSp>
        <p:nvCxnSpPr>
          <p:cNvPr id="18" name="Straight Arrow Connector 10">
            <a:extLst>
              <a:ext uri="{FF2B5EF4-FFF2-40B4-BE49-F238E27FC236}">
                <a16:creationId xmlns:a16="http://schemas.microsoft.com/office/drawing/2014/main" id="{064AA1CE-2BD9-7C4E-3B84-FE4B5E7C1A24}"/>
              </a:ext>
            </a:extLst>
          </p:cNvPr>
          <p:cNvCxnSpPr>
            <a:cxnSpLocks/>
            <a:stCxn id="19" idx="2"/>
            <a:endCxn id="11" idx="1"/>
          </p:cNvCxnSpPr>
          <p:nvPr/>
        </p:nvCxnSpPr>
        <p:spPr>
          <a:xfrm rot="16200000" flipH="1">
            <a:off x="1474504" y="2617701"/>
            <a:ext cx="2553068" cy="1079"/>
          </a:xfrm>
          <a:prstGeom prst="bentConnector2">
            <a:avLst/>
          </a:prstGeom>
          <a:ln w="63500" cap="rnd">
            <a:solidFill>
              <a:schemeClr val="accent6">
                <a:lumMod val="50000"/>
              </a:schemeClr>
            </a:solidFill>
            <a:headEnd type="oval"/>
            <a:tailEnd type="triangle"/>
          </a:ln>
        </p:spPr>
        <p:style>
          <a:lnRef idx="1">
            <a:schemeClr val="accent6"/>
          </a:lnRef>
          <a:fillRef idx="0">
            <a:schemeClr val="accent6"/>
          </a:fillRef>
          <a:effectRef idx="0">
            <a:schemeClr val="accent6"/>
          </a:effectRef>
          <a:fontRef idx="minor">
            <a:schemeClr val="tx1"/>
          </a:fontRef>
        </p:style>
      </p:cxnSp>
      <p:sp>
        <p:nvSpPr>
          <p:cNvPr id="19" name="Rectangle 18">
            <a:extLst>
              <a:ext uri="{FF2B5EF4-FFF2-40B4-BE49-F238E27FC236}">
                <a16:creationId xmlns:a16="http://schemas.microsoft.com/office/drawing/2014/main" id="{A24C8F66-E5B3-62E8-49B1-682242AC0091}"/>
              </a:ext>
            </a:extLst>
          </p:cNvPr>
          <p:cNvSpPr/>
          <p:nvPr/>
        </p:nvSpPr>
        <p:spPr>
          <a:xfrm>
            <a:off x="2232567" y="811926"/>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latin typeface="+mj-lt"/>
              </a:rPr>
              <a:t>0xb7</a:t>
            </a:r>
            <a:endParaRPr lang="en-US" sz="2800">
              <a:solidFill>
                <a:schemeClr val="accent6">
                  <a:lumMod val="75000"/>
                </a:schemeClr>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417996171"/>
      </p:ext>
    </p:extLst>
  </p:cSld>
  <p:clrMapOvr>
    <a:masterClrMapping/>
  </p:clrMapOvr>
</p:sld>
</file>

<file path=ppt/slides/slide4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FEE92-3236-5844-7C0F-C73DD179FE24}"/>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C02F7B72-4C32-B84B-0DF9-78B148223BB6}"/>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4CEF3634-E23B-F4AF-594D-E567F7A8683A}"/>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95E1EFF0-DE4D-F727-3FFD-22167D41F2F3}"/>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latin typeface="+mj-lt"/>
              </a:rPr>
              <a:t>void foo(</a:t>
            </a:r>
            <a:r>
              <a:rPr lang="en-US" sz="2000">
                <a:solidFill>
                  <a:srgbClr val="00007F"/>
                </a:solidFill>
                <a:latin typeface="+mj-lt"/>
              </a:rPr>
              <a:t>Thing</a:t>
            </a:r>
            <a:r>
              <a:rPr lang="en-US" sz="2000">
                <a:solidFill>
                  <a:schemeClr val="tx1"/>
                </a:solidFill>
                <a:latin typeface="+mj-lt"/>
              </a:rPr>
              <a:t> a) {</a:t>
            </a:r>
          </a:p>
          <a:p>
            <a:r>
              <a:rPr lang="en-US" sz="2000">
                <a:solidFill>
                  <a:schemeClr val="tx1"/>
                </a:solidFill>
                <a:latin typeface="+mj-lt"/>
              </a:rPr>
              <a:t>  a.y = </a:t>
            </a:r>
            <a:r>
              <a:rPr lang="en-US" sz="2000">
                <a:solidFill>
                  <a:srgbClr val="09B5B6"/>
                </a:solidFill>
                <a:latin typeface="+mj-lt"/>
              </a:rPr>
              <a:t>4.0</a:t>
            </a:r>
            <a:r>
              <a:rPr lang="en-US" sz="2000">
                <a:solidFill>
                  <a:schemeClr val="tx1"/>
                </a:solidFill>
                <a:latin typeface="+mj-lt"/>
              </a:rPr>
              <a:t>;</a:t>
            </a:r>
          </a:p>
          <a:p>
            <a:r>
              <a:rPr lang="en-US" sz="2000">
                <a:solidFill>
                  <a:schemeClr val="tx1"/>
                </a:solidFill>
                <a:highlight>
                  <a:srgbClr val="FFFF00"/>
                </a:highlight>
                <a:latin typeface="+mj-lt"/>
              </a:rPr>
              <a:t>  a = </a:t>
            </a:r>
            <a:r>
              <a:rPr lang="en-US" sz="2000">
                <a:solidFill>
                  <a:srgbClr val="0432FF"/>
                </a:solidFill>
                <a:highlight>
                  <a:srgbClr val="FFFF00"/>
                </a:highlight>
                <a:latin typeface="+mj-lt"/>
              </a:rPr>
              <a:t>null</a:t>
            </a:r>
            <a:r>
              <a:rPr lang="en-US" sz="2000">
                <a:solidFill>
                  <a:schemeClr val="tx1"/>
                </a:solidFill>
                <a:highlight>
                  <a:srgbClr val="FFFF00"/>
                </a:highlight>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rgbClr val="00007F"/>
                </a:solidFill>
                <a:latin typeface="+mj-lt"/>
              </a:rPr>
              <a:t>  Thing</a:t>
            </a:r>
            <a:r>
              <a:rPr lang="en-US" sz="2000">
                <a:solidFill>
                  <a:schemeClr val="tx1"/>
                </a:solidFill>
                <a:latin typeface="+mj-lt"/>
              </a:rPr>
              <a:t> a;</a:t>
            </a:r>
          </a:p>
          <a:p>
            <a:r>
              <a:rPr lang="en-US" sz="2000">
                <a:solidFill>
                  <a:schemeClr val="tx1"/>
                </a:solidFill>
                <a:latin typeface="+mj-lt"/>
              </a:rPr>
              <a:t>  a = new </a:t>
            </a:r>
            <a:r>
              <a:rPr lang="en-US" sz="2000">
                <a:solidFill>
                  <a:srgbClr val="00007F"/>
                </a:solidFill>
                <a:latin typeface="+mj-lt"/>
              </a:rPr>
              <a:t>Thing</a:t>
            </a:r>
            <a:r>
              <a:rPr lang="en-US" sz="2000">
                <a:solidFill>
                  <a:schemeClr val="tx1"/>
                </a:solidFill>
                <a:latin typeface="+mj-lt"/>
              </a:rPr>
              <a:t>();</a:t>
            </a:r>
          </a:p>
          <a:p>
            <a:r>
              <a:rPr lang="en-US" sz="2000">
                <a:solidFill>
                  <a:schemeClr val="tx1"/>
                </a:solidFill>
                <a:latin typeface="+mj-lt"/>
              </a:rPr>
              <a:t>  a.x = </a:t>
            </a:r>
            <a:r>
              <a:rPr lang="en-US" sz="2000">
                <a:solidFill>
                  <a:srgbClr val="09B5B6"/>
                </a:solidFill>
                <a:latin typeface="+mj-lt"/>
              </a:rPr>
              <a:t>3.0</a:t>
            </a:r>
            <a:r>
              <a:rPr lang="en-US" sz="2000">
                <a:solidFill>
                  <a:schemeClr val="tx1"/>
                </a:solidFill>
                <a:latin typeface="+mj-lt"/>
              </a:rPr>
              <a:t>;</a:t>
            </a:r>
          </a:p>
          <a:p>
            <a:r>
              <a:rPr lang="en-US" sz="2000">
                <a:solidFill>
                  <a:schemeClr val="tx1"/>
                </a:solidFill>
                <a:highlight>
                  <a:srgbClr val="C0C0C0"/>
                </a:highlight>
                <a:latin typeface="+mj-lt"/>
              </a:rPr>
              <a:t>  foo(a);</a:t>
            </a:r>
          </a:p>
          <a:p>
            <a:r>
              <a:rPr lang="en-US" sz="2000">
                <a:solidFill>
                  <a:schemeClr val="tx1"/>
                </a:solidFill>
                <a:latin typeface="+mj-lt"/>
              </a:rPr>
              <a:t>  a.y = </a:t>
            </a:r>
            <a:r>
              <a:rPr lang="en-US" sz="2000">
                <a:solidFill>
                  <a:srgbClr val="09B5B6"/>
                </a:solidFill>
                <a:latin typeface="+mj-lt"/>
              </a:rPr>
              <a:t>5.0</a:t>
            </a:r>
            <a:r>
              <a:rPr lang="en-US" sz="2000">
                <a:solidFill>
                  <a:schemeClr val="tx1"/>
                </a:solidFill>
                <a:latin typeface="+mj-lt"/>
              </a:rPr>
              <a:t>;</a:t>
            </a:r>
          </a:p>
          <a:p>
            <a:r>
              <a:rPr lang="en-US" sz="2000">
                <a:solidFill>
                  <a:schemeClr val="tx1"/>
                </a:solidFill>
                <a:latin typeface="+mj-lt"/>
              </a:rPr>
              <a:t>}</a:t>
            </a:r>
          </a:p>
        </p:txBody>
      </p:sp>
      <p:grpSp>
        <p:nvGrpSpPr>
          <p:cNvPr id="9" name="Group 8">
            <a:extLst>
              <a:ext uri="{FF2B5EF4-FFF2-40B4-BE49-F238E27FC236}">
                <a16:creationId xmlns:a16="http://schemas.microsoft.com/office/drawing/2014/main" id="{DB15166B-B9D6-7A4B-EE70-19D890901D39}"/>
              </a:ext>
            </a:extLst>
          </p:cNvPr>
          <p:cNvGrpSpPr/>
          <p:nvPr/>
        </p:nvGrpSpPr>
        <p:grpSpPr>
          <a:xfrm>
            <a:off x="372798" y="371008"/>
            <a:ext cx="3400547" cy="1874745"/>
            <a:chOff x="247891" y="497710"/>
            <a:chExt cx="2402712" cy="1874745"/>
          </a:xfrm>
        </p:grpSpPr>
        <p:sp>
          <p:nvSpPr>
            <p:cNvPr id="5" name="Rectangle 4">
              <a:extLst>
                <a:ext uri="{FF2B5EF4-FFF2-40B4-BE49-F238E27FC236}">
                  <a16:creationId xmlns:a16="http://schemas.microsoft.com/office/drawing/2014/main" id="{A5D9C140-4497-D145-8135-79C728E741FB}"/>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8" name="TextBox 7">
              <a:extLst>
                <a:ext uri="{FF2B5EF4-FFF2-40B4-BE49-F238E27FC236}">
                  <a16:creationId xmlns:a16="http://schemas.microsoft.com/office/drawing/2014/main" id="{B2F94C76-3FF2-A0BE-35F5-A5E36961DA74}"/>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main</a:t>
              </a:r>
            </a:p>
          </p:txBody>
        </p:sp>
      </p:grpSp>
      <p:sp>
        <p:nvSpPr>
          <p:cNvPr id="6" name="TextBox 5">
            <a:extLst>
              <a:ext uri="{FF2B5EF4-FFF2-40B4-BE49-F238E27FC236}">
                <a16:creationId xmlns:a16="http://schemas.microsoft.com/office/drawing/2014/main" id="{89FB3905-3E28-0D27-BA32-3F37192406F2}"/>
              </a:ext>
            </a:extLst>
          </p:cNvPr>
          <p:cNvSpPr txBox="1"/>
          <p:nvPr/>
        </p:nvSpPr>
        <p:spPr>
          <a:xfrm>
            <a:off x="1669683" y="458714"/>
            <a:ext cx="584592" cy="584775"/>
          </a:xfrm>
          <a:prstGeom prst="rect">
            <a:avLst/>
          </a:prstGeom>
          <a:noFill/>
        </p:spPr>
        <p:txBody>
          <a:bodyPr wrap="square">
            <a:spAutoFit/>
          </a:bodyPr>
          <a:lstStyle/>
          <a:p>
            <a:pPr algn="ctr"/>
            <a:r>
              <a:rPr lang="en-US" sz="3200">
                <a:latin typeface="+mj-lt"/>
              </a:rPr>
              <a:t>a</a:t>
            </a:r>
            <a:endParaRPr lang="en-US" sz="3200"/>
          </a:p>
        </p:txBody>
      </p:sp>
      <p:sp>
        <p:nvSpPr>
          <p:cNvPr id="10" name="TextBox 9">
            <a:extLst>
              <a:ext uri="{FF2B5EF4-FFF2-40B4-BE49-F238E27FC236}">
                <a16:creationId xmlns:a16="http://schemas.microsoft.com/office/drawing/2014/main" id="{42284CC2-E7F3-2C9D-415A-FF04A7FF6566}"/>
              </a:ext>
            </a:extLst>
          </p:cNvPr>
          <p:cNvSpPr txBox="1"/>
          <p:nvPr/>
        </p:nvSpPr>
        <p:spPr>
          <a:xfrm>
            <a:off x="2751578" y="2981215"/>
            <a:ext cx="1035866" cy="584775"/>
          </a:xfrm>
          <a:prstGeom prst="rect">
            <a:avLst/>
          </a:prstGeom>
          <a:noFill/>
        </p:spPr>
        <p:txBody>
          <a:bodyPr wrap="square">
            <a:spAutoFit/>
          </a:bodyPr>
          <a:lstStyle/>
          <a:p>
            <a:pPr algn="ctr"/>
            <a:r>
              <a:rPr lang="en-US" sz="3200">
                <a:latin typeface="+mj-lt"/>
              </a:rPr>
              <a:t>.x</a:t>
            </a:r>
            <a:endParaRPr lang="en-US" sz="3200"/>
          </a:p>
        </p:txBody>
      </p:sp>
      <p:sp>
        <p:nvSpPr>
          <p:cNvPr id="11" name="Rectangle 10">
            <a:extLst>
              <a:ext uri="{FF2B5EF4-FFF2-40B4-BE49-F238E27FC236}">
                <a16:creationId xmlns:a16="http://schemas.microsoft.com/office/drawing/2014/main" id="{4B473BC3-BC2F-6B3A-07B1-4D96BC62E51F}"/>
              </a:ext>
            </a:extLst>
          </p:cNvPr>
          <p:cNvSpPr/>
          <p:nvPr/>
        </p:nvSpPr>
        <p:spPr>
          <a:xfrm>
            <a:off x="2751578" y="3629884"/>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3.0</a:t>
            </a:r>
            <a:endParaRPr lang="en-US" sz="2800">
              <a:solidFill>
                <a:schemeClr val="accent1"/>
              </a:solidFill>
              <a:latin typeface="Consolas" panose="020B0609020204030204" pitchFamily="49" charset="0"/>
              <a:cs typeface="Consolas" panose="020B0609020204030204" pitchFamily="49" charset="0"/>
            </a:endParaRPr>
          </a:p>
        </p:txBody>
      </p:sp>
      <p:sp>
        <p:nvSpPr>
          <p:cNvPr id="12" name="TextBox 11">
            <a:extLst>
              <a:ext uri="{FF2B5EF4-FFF2-40B4-BE49-F238E27FC236}">
                <a16:creationId xmlns:a16="http://schemas.microsoft.com/office/drawing/2014/main" id="{88966FE8-607A-93C6-A63C-A6E2274357DF}"/>
              </a:ext>
            </a:extLst>
          </p:cNvPr>
          <p:cNvSpPr txBox="1"/>
          <p:nvPr/>
        </p:nvSpPr>
        <p:spPr>
          <a:xfrm>
            <a:off x="3787442" y="2982614"/>
            <a:ext cx="1035866" cy="584775"/>
          </a:xfrm>
          <a:prstGeom prst="rect">
            <a:avLst/>
          </a:prstGeom>
          <a:noFill/>
        </p:spPr>
        <p:txBody>
          <a:bodyPr wrap="square">
            <a:spAutoFit/>
          </a:bodyPr>
          <a:lstStyle/>
          <a:p>
            <a:pPr algn="ctr"/>
            <a:r>
              <a:rPr lang="en-US" sz="3200">
                <a:latin typeface="+mj-lt"/>
              </a:rPr>
              <a:t>.y</a:t>
            </a:r>
            <a:endParaRPr lang="en-US" sz="3200"/>
          </a:p>
        </p:txBody>
      </p:sp>
      <p:sp>
        <p:nvSpPr>
          <p:cNvPr id="13" name="Rectangle 12">
            <a:extLst>
              <a:ext uri="{FF2B5EF4-FFF2-40B4-BE49-F238E27FC236}">
                <a16:creationId xmlns:a16="http://schemas.microsoft.com/office/drawing/2014/main" id="{2AA1BFF5-13FF-EF48-9D5E-1E63700A614D}"/>
              </a:ext>
            </a:extLst>
          </p:cNvPr>
          <p:cNvSpPr/>
          <p:nvPr/>
        </p:nvSpPr>
        <p:spPr>
          <a:xfrm>
            <a:off x="3787442" y="3631283"/>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cs typeface="Consolas" panose="020B0609020204030204" pitchFamily="49" charset="0"/>
              </a:rPr>
              <a:t>4.0</a:t>
            </a:r>
            <a:endParaRPr lang="en-US" sz="2800">
              <a:solidFill>
                <a:schemeClr val="accent1"/>
              </a:solidFill>
              <a:latin typeface="Consolas" panose="020B0609020204030204" pitchFamily="49" charset="0"/>
              <a:cs typeface="Consolas" panose="020B0609020204030204" pitchFamily="49" charset="0"/>
            </a:endParaRPr>
          </a:p>
        </p:txBody>
      </p:sp>
      <p:cxnSp>
        <p:nvCxnSpPr>
          <p:cNvPr id="14" name="Straight Arrow Connector 10">
            <a:extLst>
              <a:ext uri="{FF2B5EF4-FFF2-40B4-BE49-F238E27FC236}">
                <a16:creationId xmlns:a16="http://schemas.microsoft.com/office/drawing/2014/main" id="{656CC27F-5294-7E6A-BCB6-D221ED02F423}"/>
              </a:ext>
            </a:extLst>
          </p:cNvPr>
          <p:cNvCxnSpPr>
            <a:cxnSpLocks/>
            <a:endCxn id="11" idx="1"/>
          </p:cNvCxnSpPr>
          <p:nvPr/>
        </p:nvCxnSpPr>
        <p:spPr>
          <a:xfrm rot="16200000" flipH="1">
            <a:off x="1196026" y="2339222"/>
            <a:ext cx="2321505" cy="789599"/>
          </a:xfrm>
          <a:prstGeom prst="bentConnector2">
            <a:avLst/>
          </a:prstGeom>
          <a:ln w="63500" cap="rnd">
            <a:solidFill>
              <a:schemeClr val="accent6">
                <a:lumMod val="50000"/>
              </a:schemeClr>
            </a:solidFill>
            <a:headEnd type="oval"/>
            <a:tailEnd type="triangle"/>
          </a:ln>
        </p:spPr>
        <p:style>
          <a:lnRef idx="1">
            <a:schemeClr val="accent6"/>
          </a:lnRef>
          <a:fillRef idx="0">
            <a:schemeClr val="accent6"/>
          </a:fillRef>
          <a:effectRef idx="0">
            <a:schemeClr val="accent6"/>
          </a:effectRef>
          <a:fontRef idx="minor">
            <a:schemeClr val="tx1"/>
          </a:fontRef>
        </p:style>
      </p:cxnSp>
      <p:sp>
        <p:nvSpPr>
          <p:cNvPr id="4" name="Rectangle 3">
            <a:extLst>
              <a:ext uri="{FF2B5EF4-FFF2-40B4-BE49-F238E27FC236}">
                <a16:creationId xmlns:a16="http://schemas.microsoft.com/office/drawing/2014/main" id="{C08D2B67-8021-2875-8C55-5F40E7FA9E29}"/>
              </a:ext>
            </a:extLst>
          </p:cNvPr>
          <p:cNvSpPr/>
          <p:nvPr/>
        </p:nvSpPr>
        <p:spPr>
          <a:xfrm>
            <a:off x="1444047" y="1043490"/>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latin typeface="+mj-lt"/>
              </a:rPr>
              <a:t>0xb7</a:t>
            </a:r>
            <a:endParaRPr lang="en-US" sz="2800">
              <a:solidFill>
                <a:schemeClr val="accent6">
                  <a:lumMod val="75000"/>
                </a:schemeClr>
              </a:solidFill>
              <a:latin typeface="Consolas" panose="020B0609020204030204" pitchFamily="49" charset="0"/>
              <a:cs typeface="Consolas" panose="020B0609020204030204" pitchFamily="49" charset="0"/>
            </a:endParaRPr>
          </a:p>
        </p:txBody>
      </p:sp>
      <p:grpSp>
        <p:nvGrpSpPr>
          <p:cNvPr id="7" name="Group 6">
            <a:extLst>
              <a:ext uri="{FF2B5EF4-FFF2-40B4-BE49-F238E27FC236}">
                <a16:creationId xmlns:a16="http://schemas.microsoft.com/office/drawing/2014/main" id="{75D45105-061F-CEC9-FB23-9F5F4551284D}"/>
              </a:ext>
            </a:extLst>
          </p:cNvPr>
          <p:cNvGrpSpPr/>
          <p:nvPr/>
        </p:nvGrpSpPr>
        <p:grpSpPr>
          <a:xfrm>
            <a:off x="991886" y="106117"/>
            <a:ext cx="3400547" cy="1874745"/>
            <a:chOff x="247891" y="497710"/>
            <a:chExt cx="2402712" cy="1874745"/>
          </a:xfrm>
        </p:grpSpPr>
        <p:sp>
          <p:nvSpPr>
            <p:cNvPr id="15" name="Rectangle 14">
              <a:extLst>
                <a:ext uri="{FF2B5EF4-FFF2-40B4-BE49-F238E27FC236}">
                  <a16:creationId xmlns:a16="http://schemas.microsoft.com/office/drawing/2014/main" id="{03391405-3088-4BFB-12E3-74DC1269D79F}"/>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16" name="TextBox 15">
              <a:extLst>
                <a:ext uri="{FF2B5EF4-FFF2-40B4-BE49-F238E27FC236}">
                  <a16:creationId xmlns:a16="http://schemas.microsoft.com/office/drawing/2014/main" id="{3C2FD0F3-4E32-6BDD-0AD6-EB439BCEDC5E}"/>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foo</a:t>
              </a:r>
            </a:p>
          </p:txBody>
        </p:sp>
      </p:grpSp>
      <p:sp>
        <p:nvSpPr>
          <p:cNvPr id="17" name="TextBox 16">
            <a:extLst>
              <a:ext uri="{FF2B5EF4-FFF2-40B4-BE49-F238E27FC236}">
                <a16:creationId xmlns:a16="http://schemas.microsoft.com/office/drawing/2014/main" id="{D386B8DF-0778-89F6-A7D9-55BA19602934}"/>
              </a:ext>
            </a:extLst>
          </p:cNvPr>
          <p:cNvSpPr txBox="1"/>
          <p:nvPr/>
        </p:nvSpPr>
        <p:spPr>
          <a:xfrm>
            <a:off x="2458203" y="227150"/>
            <a:ext cx="584592" cy="584775"/>
          </a:xfrm>
          <a:prstGeom prst="rect">
            <a:avLst/>
          </a:prstGeom>
          <a:noFill/>
        </p:spPr>
        <p:txBody>
          <a:bodyPr wrap="square">
            <a:spAutoFit/>
          </a:bodyPr>
          <a:lstStyle/>
          <a:p>
            <a:pPr algn="ctr"/>
            <a:r>
              <a:rPr lang="en-US" sz="3200">
                <a:latin typeface="+mj-lt"/>
              </a:rPr>
              <a:t>a</a:t>
            </a:r>
            <a:endParaRPr lang="en-US" sz="3200"/>
          </a:p>
        </p:txBody>
      </p:sp>
      <p:sp>
        <p:nvSpPr>
          <p:cNvPr id="19" name="Rectangle 18">
            <a:extLst>
              <a:ext uri="{FF2B5EF4-FFF2-40B4-BE49-F238E27FC236}">
                <a16:creationId xmlns:a16="http://schemas.microsoft.com/office/drawing/2014/main" id="{473918A2-04F1-2FE3-4F2C-9BA5A6AF2360}"/>
              </a:ext>
            </a:extLst>
          </p:cNvPr>
          <p:cNvSpPr/>
          <p:nvPr/>
        </p:nvSpPr>
        <p:spPr>
          <a:xfrm>
            <a:off x="2232567" y="811926"/>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1"/>
                </a:solidFill>
                <a:highlight>
                  <a:srgbClr val="FFFF00"/>
                </a:highlight>
                <a:latin typeface="+mj-lt"/>
              </a:rPr>
              <a:t>0x00</a:t>
            </a:r>
            <a:endParaRPr lang="en-US" sz="2800">
              <a:solidFill>
                <a:schemeClr val="accent1"/>
              </a:solidFill>
              <a:highlight>
                <a:srgbClr val="FFFF00"/>
              </a:highlight>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741201916"/>
      </p:ext>
    </p:extLst>
  </p:cSld>
  <p:clrMapOvr>
    <a:masterClrMapping/>
  </p:clrMapOvr>
</p:sld>
</file>

<file path=ppt/slides/slide4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2F2DC-62F6-A3E1-B5AB-1E9BD07477F9}"/>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9A0D8E7A-051C-D114-4929-D09514E0AF86}"/>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AC817DDD-FE86-7EEB-3E73-8D3C85F16BD6}"/>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B3DE8C54-5367-EDA7-79C9-B7E5D2628B05}"/>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latin typeface="+mj-lt"/>
              </a:rPr>
              <a:t>void foo(</a:t>
            </a:r>
            <a:r>
              <a:rPr lang="en-US" sz="2000">
                <a:solidFill>
                  <a:srgbClr val="00007F"/>
                </a:solidFill>
                <a:latin typeface="+mj-lt"/>
              </a:rPr>
              <a:t>Thing</a:t>
            </a:r>
            <a:r>
              <a:rPr lang="en-US" sz="2000">
                <a:solidFill>
                  <a:schemeClr val="tx1"/>
                </a:solidFill>
                <a:latin typeface="+mj-lt"/>
              </a:rPr>
              <a:t> a) {</a:t>
            </a:r>
          </a:p>
          <a:p>
            <a:r>
              <a:rPr lang="en-US" sz="2000">
                <a:solidFill>
                  <a:schemeClr val="tx1"/>
                </a:solidFill>
                <a:latin typeface="+mj-lt"/>
              </a:rPr>
              <a:t>  a.y = </a:t>
            </a:r>
            <a:r>
              <a:rPr lang="en-US" sz="2000">
                <a:solidFill>
                  <a:srgbClr val="09B5B6"/>
                </a:solidFill>
                <a:latin typeface="+mj-lt"/>
              </a:rPr>
              <a:t>4.0</a:t>
            </a:r>
            <a:r>
              <a:rPr lang="en-US" sz="2000">
                <a:solidFill>
                  <a:schemeClr val="tx1"/>
                </a:solidFill>
                <a:latin typeface="+mj-lt"/>
              </a:rPr>
              <a:t>;</a:t>
            </a:r>
          </a:p>
          <a:p>
            <a:r>
              <a:rPr lang="en-US" sz="2000">
                <a:solidFill>
                  <a:schemeClr val="tx1"/>
                </a:solidFill>
                <a:latin typeface="+mj-lt"/>
              </a:rPr>
              <a:t>  a = </a:t>
            </a:r>
            <a:r>
              <a:rPr lang="en-US" sz="2000">
                <a:solidFill>
                  <a:srgbClr val="0432FF"/>
                </a:solidFill>
                <a:latin typeface="+mj-lt"/>
              </a:rPr>
              <a:t>null</a:t>
            </a:r>
            <a:r>
              <a:rPr lang="en-US" sz="2000">
                <a:solidFill>
                  <a:schemeClr val="tx1"/>
                </a:solidFill>
                <a:latin typeface="+mj-lt"/>
              </a:rPr>
              <a:t>;</a:t>
            </a:r>
          </a:p>
          <a:p>
            <a:r>
              <a:rPr lang="en-US" sz="2000">
                <a:solidFill>
                  <a:schemeClr val="tx1"/>
                </a:solidFill>
                <a:highlight>
                  <a:srgbClr val="FFFF00"/>
                </a:highlight>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rgbClr val="00007F"/>
                </a:solidFill>
                <a:latin typeface="+mj-lt"/>
              </a:rPr>
              <a:t>  Thing</a:t>
            </a:r>
            <a:r>
              <a:rPr lang="en-US" sz="2000">
                <a:solidFill>
                  <a:schemeClr val="tx1"/>
                </a:solidFill>
                <a:latin typeface="+mj-lt"/>
              </a:rPr>
              <a:t> a;</a:t>
            </a:r>
          </a:p>
          <a:p>
            <a:r>
              <a:rPr lang="en-US" sz="2000">
                <a:solidFill>
                  <a:schemeClr val="tx1"/>
                </a:solidFill>
                <a:latin typeface="+mj-lt"/>
              </a:rPr>
              <a:t>  a = new </a:t>
            </a:r>
            <a:r>
              <a:rPr lang="en-US" sz="2000">
                <a:solidFill>
                  <a:srgbClr val="00007F"/>
                </a:solidFill>
                <a:latin typeface="+mj-lt"/>
              </a:rPr>
              <a:t>Thing</a:t>
            </a:r>
            <a:r>
              <a:rPr lang="en-US" sz="2000">
                <a:solidFill>
                  <a:schemeClr val="tx1"/>
                </a:solidFill>
                <a:latin typeface="+mj-lt"/>
              </a:rPr>
              <a:t>();</a:t>
            </a:r>
          </a:p>
          <a:p>
            <a:r>
              <a:rPr lang="en-US" sz="2000">
                <a:solidFill>
                  <a:schemeClr val="tx1"/>
                </a:solidFill>
                <a:latin typeface="+mj-lt"/>
              </a:rPr>
              <a:t>  a.x = </a:t>
            </a:r>
            <a:r>
              <a:rPr lang="en-US" sz="2000">
                <a:solidFill>
                  <a:srgbClr val="09B5B6"/>
                </a:solidFill>
                <a:latin typeface="+mj-lt"/>
              </a:rPr>
              <a:t>3.0</a:t>
            </a:r>
            <a:r>
              <a:rPr lang="en-US" sz="2000">
                <a:solidFill>
                  <a:schemeClr val="tx1"/>
                </a:solidFill>
                <a:latin typeface="+mj-lt"/>
              </a:rPr>
              <a:t>;</a:t>
            </a:r>
          </a:p>
          <a:p>
            <a:r>
              <a:rPr lang="en-US" sz="2000">
                <a:solidFill>
                  <a:schemeClr val="tx1"/>
                </a:solidFill>
                <a:highlight>
                  <a:srgbClr val="C0C0C0"/>
                </a:highlight>
                <a:latin typeface="+mj-lt"/>
              </a:rPr>
              <a:t>  foo(a);</a:t>
            </a:r>
          </a:p>
          <a:p>
            <a:r>
              <a:rPr lang="en-US" sz="2000">
                <a:solidFill>
                  <a:schemeClr val="tx1"/>
                </a:solidFill>
                <a:latin typeface="+mj-lt"/>
              </a:rPr>
              <a:t>  a.y = </a:t>
            </a:r>
            <a:r>
              <a:rPr lang="en-US" sz="2000">
                <a:solidFill>
                  <a:srgbClr val="09B5B6"/>
                </a:solidFill>
                <a:latin typeface="+mj-lt"/>
              </a:rPr>
              <a:t>5.0</a:t>
            </a:r>
            <a:r>
              <a:rPr lang="en-US" sz="2000">
                <a:solidFill>
                  <a:schemeClr val="tx1"/>
                </a:solidFill>
                <a:latin typeface="+mj-lt"/>
              </a:rPr>
              <a:t>;</a:t>
            </a:r>
          </a:p>
          <a:p>
            <a:r>
              <a:rPr lang="en-US" sz="2000">
                <a:solidFill>
                  <a:schemeClr val="tx1"/>
                </a:solidFill>
                <a:latin typeface="+mj-lt"/>
              </a:rPr>
              <a:t>}</a:t>
            </a:r>
          </a:p>
        </p:txBody>
      </p:sp>
      <p:grpSp>
        <p:nvGrpSpPr>
          <p:cNvPr id="9" name="Group 8">
            <a:extLst>
              <a:ext uri="{FF2B5EF4-FFF2-40B4-BE49-F238E27FC236}">
                <a16:creationId xmlns:a16="http://schemas.microsoft.com/office/drawing/2014/main" id="{ED9328C6-B149-B004-4942-2A803D1AC592}"/>
              </a:ext>
            </a:extLst>
          </p:cNvPr>
          <p:cNvGrpSpPr/>
          <p:nvPr/>
        </p:nvGrpSpPr>
        <p:grpSpPr>
          <a:xfrm>
            <a:off x="372798" y="371008"/>
            <a:ext cx="3400547" cy="1874745"/>
            <a:chOff x="247891" y="497710"/>
            <a:chExt cx="2402712" cy="1874745"/>
          </a:xfrm>
        </p:grpSpPr>
        <p:sp>
          <p:nvSpPr>
            <p:cNvPr id="5" name="Rectangle 4">
              <a:extLst>
                <a:ext uri="{FF2B5EF4-FFF2-40B4-BE49-F238E27FC236}">
                  <a16:creationId xmlns:a16="http://schemas.microsoft.com/office/drawing/2014/main" id="{58DC74DC-E0CF-A360-BE59-6C0919FD866A}"/>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8" name="TextBox 7">
              <a:extLst>
                <a:ext uri="{FF2B5EF4-FFF2-40B4-BE49-F238E27FC236}">
                  <a16:creationId xmlns:a16="http://schemas.microsoft.com/office/drawing/2014/main" id="{11060A4F-BF56-58C6-D6E1-B2CC3B5C8860}"/>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main</a:t>
              </a:r>
            </a:p>
          </p:txBody>
        </p:sp>
      </p:grpSp>
      <p:sp>
        <p:nvSpPr>
          <p:cNvPr id="6" name="TextBox 5">
            <a:extLst>
              <a:ext uri="{FF2B5EF4-FFF2-40B4-BE49-F238E27FC236}">
                <a16:creationId xmlns:a16="http://schemas.microsoft.com/office/drawing/2014/main" id="{7B4A5ADB-215F-023E-C83B-BDC029090B95}"/>
              </a:ext>
            </a:extLst>
          </p:cNvPr>
          <p:cNvSpPr txBox="1"/>
          <p:nvPr/>
        </p:nvSpPr>
        <p:spPr>
          <a:xfrm>
            <a:off x="1669683" y="458714"/>
            <a:ext cx="584592" cy="584775"/>
          </a:xfrm>
          <a:prstGeom prst="rect">
            <a:avLst/>
          </a:prstGeom>
          <a:noFill/>
        </p:spPr>
        <p:txBody>
          <a:bodyPr wrap="square">
            <a:spAutoFit/>
          </a:bodyPr>
          <a:lstStyle/>
          <a:p>
            <a:pPr algn="ctr"/>
            <a:r>
              <a:rPr lang="en-US" sz="3200">
                <a:latin typeface="+mj-lt"/>
              </a:rPr>
              <a:t>a</a:t>
            </a:r>
            <a:endParaRPr lang="en-US" sz="3200"/>
          </a:p>
        </p:txBody>
      </p:sp>
      <p:sp>
        <p:nvSpPr>
          <p:cNvPr id="10" name="TextBox 9">
            <a:extLst>
              <a:ext uri="{FF2B5EF4-FFF2-40B4-BE49-F238E27FC236}">
                <a16:creationId xmlns:a16="http://schemas.microsoft.com/office/drawing/2014/main" id="{36708785-1408-D589-2F8A-262E464D553A}"/>
              </a:ext>
            </a:extLst>
          </p:cNvPr>
          <p:cNvSpPr txBox="1"/>
          <p:nvPr/>
        </p:nvSpPr>
        <p:spPr>
          <a:xfrm>
            <a:off x="2751578" y="2981215"/>
            <a:ext cx="1035866" cy="584775"/>
          </a:xfrm>
          <a:prstGeom prst="rect">
            <a:avLst/>
          </a:prstGeom>
          <a:noFill/>
        </p:spPr>
        <p:txBody>
          <a:bodyPr wrap="square">
            <a:spAutoFit/>
          </a:bodyPr>
          <a:lstStyle/>
          <a:p>
            <a:pPr algn="ctr"/>
            <a:r>
              <a:rPr lang="en-US" sz="3200">
                <a:latin typeface="+mj-lt"/>
              </a:rPr>
              <a:t>.x</a:t>
            </a:r>
            <a:endParaRPr lang="en-US" sz="3200"/>
          </a:p>
        </p:txBody>
      </p:sp>
      <p:sp>
        <p:nvSpPr>
          <p:cNvPr id="11" name="Rectangle 10">
            <a:extLst>
              <a:ext uri="{FF2B5EF4-FFF2-40B4-BE49-F238E27FC236}">
                <a16:creationId xmlns:a16="http://schemas.microsoft.com/office/drawing/2014/main" id="{0B1E6695-B2A7-51E7-5294-26C3E315CEB7}"/>
              </a:ext>
            </a:extLst>
          </p:cNvPr>
          <p:cNvSpPr/>
          <p:nvPr/>
        </p:nvSpPr>
        <p:spPr>
          <a:xfrm>
            <a:off x="2751578" y="3629884"/>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3.0</a:t>
            </a:r>
            <a:endParaRPr lang="en-US" sz="2800">
              <a:solidFill>
                <a:schemeClr val="accent1"/>
              </a:solidFill>
              <a:latin typeface="Consolas" panose="020B0609020204030204" pitchFamily="49" charset="0"/>
              <a:cs typeface="Consolas" panose="020B0609020204030204" pitchFamily="49" charset="0"/>
            </a:endParaRPr>
          </a:p>
        </p:txBody>
      </p:sp>
      <p:sp>
        <p:nvSpPr>
          <p:cNvPr id="12" name="TextBox 11">
            <a:extLst>
              <a:ext uri="{FF2B5EF4-FFF2-40B4-BE49-F238E27FC236}">
                <a16:creationId xmlns:a16="http://schemas.microsoft.com/office/drawing/2014/main" id="{6704D016-C123-6FE3-A3D2-5705524B8D4A}"/>
              </a:ext>
            </a:extLst>
          </p:cNvPr>
          <p:cNvSpPr txBox="1"/>
          <p:nvPr/>
        </p:nvSpPr>
        <p:spPr>
          <a:xfrm>
            <a:off x="3787442" y="2982614"/>
            <a:ext cx="1035866" cy="584775"/>
          </a:xfrm>
          <a:prstGeom prst="rect">
            <a:avLst/>
          </a:prstGeom>
          <a:noFill/>
        </p:spPr>
        <p:txBody>
          <a:bodyPr wrap="square">
            <a:spAutoFit/>
          </a:bodyPr>
          <a:lstStyle/>
          <a:p>
            <a:pPr algn="ctr"/>
            <a:r>
              <a:rPr lang="en-US" sz="3200">
                <a:latin typeface="+mj-lt"/>
              </a:rPr>
              <a:t>.y</a:t>
            </a:r>
            <a:endParaRPr lang="en-US" sz="3200"/>
          </a:p>
        </p:txBody>
      </p:sp>
      <p:sp>
        <p:nvSpPr>
          <p:cNvPr id="13" name="Rectangle 12">
            <a:extLst>
              <a:ext uri="{FF2B5EF4-FFF2-40B4-BE49-F238E27FC236}">
                <a16:creationId xmlns:a16="http://schemas.microsoft.com/office/drawing/2014/main" id="{7467ABBD-275C-3DE5-1521-B760CD9DE721}"/>
              </a:ext>
            </a:extLst>
          </p:cNvPr>
          <p:cNvSpPr/>
          <p:nvPr/>
        </p:nvSpPr>
        <p:spPr>
          <a:xfrm>
            <a:off x="3787442" y="3631283"/>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cs typeface="Consolas" panose="020B0609020204030204" pitchFamily="49" charset="0"/>
              </a:rPr>
              <a:t>4.0</a:t>
            </a:r>
            <a:endParaRPr lang="en-US" sz="2800">
              <a:solidFill>
                <a:schemeClr val="accent1"/>
              </a:solidFill>
              <a:latin typeface="Consolas" panose="020B0609020204030204" pitchFamily="49" charset="0"/>
              <a:cs typeface="Consolas" panose="020B0609020204030204" pitchFamily="49" charset="0"/>
            </a:endParaRPr>
          </a:p>
        </p:txBody>
      </p:sp>
      <p:cxnSp>
        <p:nvCxnSpPr>
          <p:cNvPr id="14" name="Straight Arrow Connector 10">
            <a:extLst>
              <a:ext uri="{FF2B5EF4-FFF2-40B4-BE49-F238E27FC236}">
                <a16:creationId xmlns:a16="http://schemas.microsoft.com/office/drawing/2014/main" id="{82068712-46DC-32A1-7922-9B9E3DE49EC1}"/>
              </a:ext>
            </a:extLst>
          </p:cNvPr>
          <p:cNvCxnSpPr>
            <a:cxnSpLocks/>
            <a:endCxn id="11" idx="1"/>
          </p:cNvCxnSpPr>
          <p:nvPr/>
        </p:nvCxnSpPr>
        <p:spPr>
          <a:xfrm rot="16200000" flipH="1">
            <a:off x="1196026" y="2339222"/>
            <a:ext cx="2321505" cy="789599"/>
          </a:xfrm>
          <a:prstGeom prst="bentConnector2">
            <a:avLst/>
          </a:prstGeom>
          <a:ln w="63500" cap="rnd">
            <a:solidFill>
              <a:schemeClr val="accent6">
                <a:lumMod val="50000"/>
              </a:schemeClr>
            </a:solidFill>
            <a:headEnd type="oval"/>
            <a:tailEnd type="triangle"/>
          </a:ln>
        </p:spPr>
        <p:style>
          <a:lnRef idx="1">
            <a:schemeClr val="accent6"/>
          </a:lnRef>
          <a:fillRef idx="0">
            <a:schemeClr val="accent6"/>
          </a:fillRef>
          <a:effectRef idx="0">
            <a:schemeClr val="accent6"/>
          </a:effectRef>
          <a:fontRef idx="minor">
            <a:schemeClr val="tx1"/>
          </a:fontRef>
        </p:style>
      </p:cxnSp>
      <p:sp>
        <p:nvSpPr>
          <p:cNvPr id="4" name="Rectangle 3">
            <a:extLst>
              <a:ext uri="{FF2B5EF4-FFF2-40B4-BE49-F238E27FC236}">
                <a16:creationId xmlns:a16="http://schemas.microsoft.com/office/drawing/2014/main" id="{90DA31C6-77AE-7CC0-27F1-724EFF18E628}"/>
              </a:ext>
            </a:extLst>
          </p:cNvPr>
          <p:cNvSpPr/>
          <p:nvPr/>
        </p:nvSpPr>
        <p:spPr>
          <a:xfrm>
            <a:off x="1444047" y="1043490"/>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latin typeface="+mj-lt"/>
              </a:rPr>
              <a:t>0xb7</a:t>
            </a:r>
            <a:endParaRPr lang="en-US" sz="2800">
              <a:solidFill>
                <a:schemeClr val="accent6">
                  <a:lumMod val="75000"/>
                </a:schemeClr>
              </a:solidFill>
              <a:latin typeface="Consolas" panose="020B0609020204030204" pitchFamily="49" charset="0"/>
              <a:cs typeface="Consolas" panose="020B0609020204030204" pitchFamily="49" charset="0"/>
            </a:endParaRPr>
          </a:p>
        </p:txBody>
      </p:sp>
      <p:grpSp>
        <p:nvGrpSpPr>
          <p:cNvPr id="7" name="Group 6">
            <a:extLst>
              <a:ext uri="{FF2B5EF4-FFF2-40B4-BE49-F238E27FC236}">
                <a16:creationId xmlns:a16="http://schemas.microsoft.com/office/drawing/2014/main" id="{5C607F2C-F93C-DA93-3FF1-DEF18CD0545D}"/>
              </a:ext>
            </a:extLst>
          </p:cNvPr>
          <p:cNvGrpSpPr/>
          <p:nvPr/>
        </p:nvGrpSpPr>
        <p:grpSpPr>
          <a:xfrm>
            <a:off x="991886" y="106117"/>
            <a:ext cx="3400547" cy="1874745"/>
            <a:chOff x="247891" y="497710"/>
            <a:chExt cx="2402712" cy="1874745"/>
          </a:xfrm>
        </p:grpSpPr>
        <p:sp>
          <p:nvSpPr>
            <p:cNvPr id="15" name="Rectangle 14">
              <a:extLst>
                <a:ext uri="{FF2B5EF4-FFF2-40B4-BE49-F238E27FC236}">
                  <a16:creationId xmlns:a16="http://schemas.microsoft.com/office/drawing/2014/main" id="{0F93D48B-6071-1D0F-D002-3ECCF2A3DC47}"/>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16" name="TextBox 15">
              <a:extLst>
                <a:ext uri="{FF2B5EF4-FFF2-40B4-BE49-F238E27FC236}">
                  <a16:creationId xmlns:a16="http://schemas.microsoft.com/office/drawing/2014/main" id="{EBC8FA73-1BCE-8E31-887D-7AF9DE29742E}"/>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foo</a:t>
              </a:r>
            </a:p>
          </p:txBody>
        </p:sp>
      </p:grpSp>
      <p:sp>
        <p:nvSpPr>
          <p:cNvPr id="17" name="TextBox 16">
            <a:extLst>
              <a:ext uri="{FF2B5EF4-FFF2-40B4-BE49-F238E27FC236}">
                <a16:creationId xmlns:a16="http://schemas.microsoft.com/office/drawing/2014/main" id="{67692C2D-4F6F-EA63-75DA-B37AFD3A924A}"/>
              </a:ext>
            </a:extLst>
          </p:cNvPr>
          <p:cNvSpPr txBox="1"/>
          <p:nvPr/>
        </p:nvSpPr>
        <p:spPr>
          <a:xfrm>
            <a:off x="2458203" y="227150"/>
            <a:ext cx="584592" cy="584775"/>
          </a:xfrm>
          <a:prstGeom prst="rect">
            <a:avLst/>
          </a:prstGeom>
          <a:noFill/>
        </p:spPr>
        <p:txBody>
          <a:bodyPr wrap="square">
            <a:spAutoFit/>
          </a:bodyPr>
          <a:lstStyle/>
          <a:p>
            <a:pPr algn="ctr"/>
            <a:r>
              <a:rPr lang="en-US" sz="3200">
                <a:latin typeface="+mj-lt"/>
              </a:rPr>
              <a:t>a</a:t>
            </a:r>
            <a:endParaRPr lang="en-US" sz="3200"/>
          </a:p>
        </p:txBody>
      </p:sp>
      <p:sp>
        <p:nvSpPr>
          <p:cNvPr id="19" name="Rectangle 18">
            <a:extLst>
              <a:ext uri="{FF2B5EF4-FFF2-40B4-BE49-F238E27FC236}">
                <a16:creationId xmlns:a16="http://schemas.microsoft.com/office/drawing/2014/main" id="{CE538AAA-B45F-88B5-0CFF-34F954217E49}"/>
              </a:ext>
            </a:extLst>
          </p:cNvPr>
          <p:cNvSpPr/>
          <p:nvPr/>
        </p:nvSpPr>
        <p:spPr>
          <a:xfrm>
            <a:off x="2232567" y="811926"/>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1"/>
                </a:solidFill>
                <a:latin typeface="+mj-lt"/>
              </a:rPr>
              <a:t>0x00</a:t>
            </a:r>
            <a:endParaRPr lang="en-US" sz="2800">
              <a:solidFill>
                <a:schemeClr val="accent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950101871"/>
      </p:ext>
    </p:extLst>
  </p:cSld>
  <p:clrMapOvr>
    <a:masterClrMapping/>
  </p:clrMapOvr>
</p:sld>
</file>

<file path=ppt/slides/slide4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E1B77-B5BA-FCDD-1994-C6E069DB8514}"/>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CD7B0341-7ABB-0518-D48E-3BBBC3CBF93B}"/>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238AC7B3-5040-5E4A-89FA-C51F57B79DCD}"/>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5BE8ED01-6729-33B6-98D9-3F4AA695D64F}"/>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latin typeface="+mj-lt"/>
              </a:rPr>
              <a:t>void foo(</a:t>
            </a:r>
            <a:r>
              <a:rPr lang="en-US" sz="2000">
                <a:solidFill>
                  <a:srgbClr val="00007F"/>
                </a:solidFill>
                <a:latin typeface="+mj-lt"/>
              </a:rPr>
              <a:t>Thing</a:t>
            </a:r>
            <a:r>
              <a:rPr lang="en-US" sz="2000">
                <a:solidFill>
                  <a:schemeClr val="tx1"/>
                </a:solidFill>
                <a:latin typeface="+mj-lt"/>
              </a:rPr>
              <a:t> a) {</a:t>
            </a:r>
          </a:p>
          <a:p>
            <a:r>
              <a:rPr lang="en-US" sz="2000">
                <a:solidFill>
                  <a:schemeClr val="tx1"/>
                </a:solidFill>
                <a:latin typeface="+mj-lt"/>
              </a:rPr>
              <a:t>  a.y = </a:t>
            </a:r>
            <a:r>
              <a:rPr lang="en-US" sz="2000">
                <a:solidFill>
                  <a:srgbClr val="09B5B6"/>
                </a:solidFill>
                <a:latin typeface="+mj-lt"/>
              </a:rPr>
              <a:t>4.0</a:t>
            </a:r>
            <a:r>
              <a:rPr lang="en-US" sz="2000">
                <a:solidFill>
                  <a:schemeClr val="tx1"/>
                </a:solidFill>
                <a:latin typeface="+mj-lt"/>
              </a:rPr>
              <a:t>;</a:t>
            </a:r>
          </a:p>
          <a:p>
            <a:r>
              <a:rPr lang="en-US" sz="2000">
                <a:solidFill>
                  <a:schemeClr val="tx1"/>
                </a:solidFill>
                <a:latin typeface="+mj-lt"/>
              </a:rPr>
              <a:t>  a = </a:t>
            </a:r>
            <a:r>
              <a:rPr lang="en-US" sz="2000">
                <a:solidFill>
                  <a:srgbClr val="0432FF"/>
                </a:solidFill>
                <a:latin typeface="+mj-lt"/>
              </a:rPr>
              <a:t>null</a:t>
            </a:r>
            <a:r>
              <a:rPr lang="en-US" sz="2000">
                <a:solidFill>
                  <a:schemeClr val="tx1"/>
                </a:solidFill>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rgbClr val="00007F"/>
                </a:solidFill>
                <a:latin typeface="+mj-lt"/>
              </a:rPr>
              <a:t>  Thing</a:t>
            </a:r>
            <a:r>
              <a:rPr lang="en-US" sz="2000">
                <a:solidFill>
                  <a:schemeClr val="tx1"/>
                </a:solidFill>
                <a:latin typeface="+mj-lt"/>
              </a:rPr>
              <a:t> a;</a:t>
            </a:r>
          </a:p>
          <a:p>
            <a:r>
              <a:rPr lang="en-US" sz="2000">
                <a:solidFill>
                  <a:schemeClr val="tx1"/>
                </a:solidFill>
                <a:latin typeface="+mj-lt"/>
              </a:rPr>
              <a:t>  a = new </a:t>
            </a:r>
            <a:r>
              <a:rPr lang="en-US" sz="2000">
                <a:solidFill>
                  <a:srgbClr val="00007F"/>
                </a:solidFill>
                <a:latin typeface="+mj-lt"/>
              </a:rPr>
              <a:t>Thing</a:t>
            </a:r>
            <a:r>
              <a:rPr lang="en-US" sz="2000">
                <a:solidFill>
                  <a:schemeClr val="tx1"/>
                </a:solidFill>
                <a:latin typeface="+mj-lt"/>
              </a:rPr>
              <a:t>();</a:t>
            </a:r>
          </a:p>
          <a:p>
            <a:r>
              <a:rPr lang="en-US" sz="2000">
                <a:solidFill>
                  <a:schemeClr val="tx1"/>
                </a:solidFill>
                <a:latin typeface="+mj-lt"/>
              </a:rPr>
              <a:t>  a.x = </a:t>
            </a:r>
            <a:r>
              <a:rPr lang="en-US" sz="2000">
                <a:solidFill>
                  <a:srgbClr val="09B5B6"/>
                </a:solidFill>
                <a:latin typeface="+mj-lt"/>
              </a:rPr>
              <a:t>3.0</a:t>
            </a:r>
            <a:r>
              <a:rPr lang="en-US" sz="2000">
                <a:solidFill>
                  <a:schemeClr val="tx1"/>
                </a:solidFill>
                <a:latin typeface="+mj-lt"/>
              </a:rPr>
              <a:t>;</a:t>
            </a:r>
          </a:p>
          <a:p>
            <a:r>
              <a:rPr lang="en-US" sz="2000">
                <a:solidFill>
                  <a:schemeClr val="tx1"/>
                </a:solidFill>
                <a:highlight>
                  <a:srgbClr val="808000"/>
                </a:highlight>
                <a:latin typeface="+mj-lt"/>
              </a:rPr>
              <a:t>  foo(a);</a:t>
            </a:r>
          </a:p>
          <a:p>
            <a:r>
              <a:rPr lang="en-US" sz="2000">
                <a:solidFill>
                  <a:schemeClr val="tx1"/>
                </a:solidFill>
                <a:latin typeface="+mj-lt"/>
              </a:rPr>
              <a:t>  a.y = </a:t>
            </a:r>
            <a:r>
              <a:rPr lang="en-US" sz="2000">
                <a:solidFill>
                  <a:srgbClr val="09B5B6"/>
                </a:solidFill>
                <a:latin typeface="+mj-lt"/>
              </a:rPr>
              <a:t>5.0</a:t>
            </a:r>
            <a:r>
              <a:rPr lang="en-US" sz="2000">
                <a:solidFill>
                  <a:schemeClr val="tx1"/>
                </a:solidFill>
                <a:latin typeface="+mj-lt"/>
              </a:rPr>
              <a:t>;</a:t>
            </a:r>
          </a:p>
          <a:p>
            <a:r>
              <a:rPr lang="en-US" sz="2000">
                <a:solidFill>
                  <a:schemeClr val="tx1"/>
                </a:solidFill>
                <a:latin typeface="+mj-lt"/>
              </a:rPr>
              <a:t>}</a:t>
            </a:r>
          </a:p>
        </p:txBody>
      </p:sp>
      <p:grpSp>
        <p:nvGrpSpPr>
          <p:cNvPr id="9" name="Group 8">
            <a:extLst>
              <a:ext uri="{FF2B5EF4-FFF2-40B4-BE49-F238E27FC236}">
                <a16:creationId xmlns:a16="http://schemas.microsoft.com/office/drawing/2014/main" id="{5234E4BE-094A-E8DB-F40B-F769538031E3}"/>
              </a:ext>
            </a:extLst>
          </p:cNvPr>
          <p:cNvGrpSpPr/>
          <p:nvPr/>
        </p:nvGrpSpPr>
        <p:grpSpPr>
          <a:xfrm>
            <a:off x="372798" y="371008"/>
            <a:ext cx="3400547" cy="1874745"/>
            <a:chOff x="247891" y="497710"/>
            <a:chExt cx="2402712" cy="1874745"/>
          </a:xfrm>
        </p:grpSpPr>
        <p:sp>
          <p:nvSpPr>
            <p:cNvPr id="5" name="Rectangle 4">
              <a:extLst>
                <a:ext uri="{FF2B5EF4-FFF2-40B4-BE49-F238E27FC236}">
                  <a16:creationId xmlns:a16="http://schemas.microsoft.com/office/drawing/2014/main" id="{AB2A7BAF-4939-18DF-422D-4EB99034A84D}"/>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8" name="TextBox 7">
              <a:extLst>
                <a:ext uri="{FF2B5EF4-FFF2-40B4-BE49-F238E27FC236}">
                  <a16:creationId xmlns:a16="http://schemas.microsoft.com/office/drawing/2014/main" id="{826624A6-3DEB-554A-64D4-4F35B4F99C68}"/>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main</a:t>
              </a:r>
            </a:p>
          </p:txBody>
        </p:sp>
      </p:grpSp>
      <p:sp>
        <p:nvSpPr>
          <p:cNvPr id="6" name="TextBox 5">
            <a:extLst>
              <a:ext uri="{FF2B5EF4-FFF2-40B4-BE49-F238E27FC236}">
                <a16:creationId xmlns:a16="http://schemas.microsoft.com/office/drawing/2014/main" id="{1A34F34B-B723-2E0E-A74D-78025B24BD53}"/>
              </a:ext>
            </a:extLst>
          </p:cNvPr>
          <p:cNvSpPr txBox="1"/>
          <p:nvPr/>
        </p:nvSpPr>
        <p:spPr>
          <a:xfrm>
            <a:off x="1669683" y="458714"/>
            <a:ext cx="584592" cy="584775"/>
          </a:xfrm>
          <a:prstGeom prst="rect">
            <a:avLst/>
          </a:prstGeom>
          <a:noFill/>
        </p:spPr>
        <p:txBody>
          <a:bodyPr wrap="square">
            <a:spAutoFit/>
          </a:bodyPr>
          <a:lstStyle/>
          <a:p>
            <a:pPr algn="ctr"/>
            <a:r>
              <a:rPr lang="en-US" sz="3200">
                <a:latin typeface="+mj-lt"/>
              </a:rPr>
              <a:t>a</a:t>
            </a:r>
            <a:endParaRPr lang="en-US" sz="3200"/>
          </a:p>
        </p:txBody>
      </p:sp>
      <p:sp>
        <p:nvSpPr>
          <p:cNvPr id="10" name="TextBox 9">
            <a:extLst>
              <a:ext uri="{FF2B5EF4-FFF2-40B4-BE49-F238E27FC236}">
                <a16:creationId xmlns:a16="http://schemas.microsoft.com/office/drawing/2014/main" id="{E18CCF61-ECF7-59CE-5CCE-4EF6CCEE759E}"/>
              </a:ext>
            </a:extLst>
          </p:cNvPr>
          <p:cNvSpPr txBox="1"/>
          <p:nvPr/>
        </p:nvSpPr>
        <p:spPr>
          <a:xfrm>
            <a:off x="2751578" y="2981215"/>
            <a:ext cx="1035866" cy="584775"/>
          </a:xfrm>
          <a:prstGeom prst="rect">
            <a:avLst/>
          </a:prstGeom>
          <a:noFill/>
        </p:spPr>
        <p:txBody>
          <a:bodyPr wrap="square">
            <a:spAutoFit/>
          </a:bodyPr>
          <a:lstStyle/>
          <a:p>
            <a:pPr algn="ctr"/>
            <a:r>
              <a:rPr lang="en-US" sz="3200">
                <a:latin typeface="+mj-lt"/>
              </a:rPr>
              <a:t>.x</a:t>
            </a:r>
            <a:endParaRPr lang="en-US" sz="3200"/>
          </a:p>
        </p:txBody>
      </p:sp>
      <p:sp>
        <p:nvSpPr>
          <p:cNvPr id="11" name="Rectangle 10">
            <a:extLst>
              <a:ext uri="{FF2B5EF4-FFF2-40B4-BE49-F238E27FC236}">
                <a16:creationId xmlns:a16="http://schemas.microsoft.com/office/drawing/2014/main" id="{3D3E5055-DBCC-CF46-7429-DCB708977A67}"/>
              </a:ext>
            </a:extLst>
          </p:cNvPr>
          <p:cNvSpPr/>
          <p:nvPr/>
        </p:nvSpPr>
        <p:spPr>
          <a:xfrm>
            <a:off x="2751578" y="3629884"/>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3.0</a:t>
            </a:r>
            <a:endParaRPr lang="en-US" sz="2800">
              <a:solidFill>
                <a:schemeClr val="accent1"/>
              </a:solidFill>
              <a:latin typeface="Consolas" panose="020B0609020204030204" pitchFamily="49" charset="0"/>
              <a:cs typeface="Consolas" panose="020B0609020204030204" pitchFamily="49" charset="0"/>
            </a:endParaRPr>
          </a:p>
        </p:txBody>
      </p:sp>
      <p:sp>
        <p:nvSpPr>
          <p:cNvPr id="12" name="TextBox 11">
            <a:extLst>
              <a:ext uri="{FF2B5EF4-FFF2-40B4-BE49-F238E27FC236}">
                <a16:creationId xmlns:a16="http://schemas.microsoft.com/office/drawing/2014/main" id="{10398C5C-9E14-A395-4F4B-7107F2CA88AD}"/>
              </a:ext>
            </a:extLst>
          </p:cNvPr>
          <p:cNvSpPr txBox="1"/>
          <p:nvPr/>
        </p:nvSpPr>
        <p:spPr>
          <a:xfrm>
            <a:off x="3787442" y="2982614"/>
            <a:ext cx="1035866" cy="584775"/>
          </a:xfrm>
          <a:prstGeom prst="rect">
            <a:avLst/>
          </a:prstGeom>
          <a:noFill/>
        </p:spPr>
        <p:txBody>
          <a:bodyPr wrap="square">
            <a:spAutoFit/>
          </a:bodyPr>
          <a:lstStyle/>
          <a:p>
            <a:pPr algn="ctr"/>
            <a:r>
              <a:rPr lang="en-US" sz="3200">
                <a:latin typeface="+mj-lt"/>
              </a:rPr>
              <a:t>.y</a:t>
            </a:r>
            <a:endParaRPr lang="en-US" sz="3200"/>
          </a:p>
        </p:txBody>
      </p:sp>
      <p:sp>
        <p:nvSpPr>
          <p:cNvPr id="13" name="Rectangle 12">
            <a:extLst>
              <a:ext uri="{FF2B5EF4-FFF2-40B4-BE49-F238E27FC236}">
                <a16:creationId xmlns:a16="http://schemas.microsoft.com/office/drawing/2014/main" id="{73EAEB73-9585-D4D2-341B-9BF7A9AE7800}"/>
              </a:ext>
            </a:extLst>
          </p:cNvPr>
          <p:cNvSpPr/>
          <p:nvPr/>
        </p:nvSpPr>
        <p:spPr>
          <a:xfrm>
            <a:off x="3787442" y="3631283"/>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cs typeface="Consolas" panose="020B0609020204030204" pitchFamily="49" charset="0"/>
              </a:rPr>
              <a:t>4.0</a:t>
            </a:r>
            <a:endParaRPr lang="en-US" sz="2800">
              <a:solidFill>
                <a:schemeClr val="accent1"/>
              </a:solidFill>
              <a:latin typeface="Consolas" panose="020B0609020204030204" pitchFamily="49" charset="0"/>
              <a:cs typeface="Consolas" panose="020B0609020204030204" pitchFamily="49" charset="0"/>
            </a:endParaRPr>
          </a:p>
        </p:txBody>
      </p:sp>
      <p:cxnSp>
        <p:nvCxnSpPr>
          <p:cNvPr id="14" name="Straight Arrow Connector 10">
            <a:extLst>
              <a:ext uri="{FF2B5EF4-FFF2-40B4-BE49-F238E27FC236}">
                <a16:creationId xmlns:a16="http://schemas.microsoft.com/office/drawing/2014/main" id="{877B2A03-88BA-272C-77AA-1CB1E7B3A940}"/>
              </a:ext>
            </a:extLst>
          </p:cNvPr>
          <p:cNvCxnSpPr>
            <a:cxnSpLocks/>
            <a:endCxn id="11" idx="1"/>
          </p:cNvCxnSpPr>
          <p:nvPr/>
        </p:nvCxnSpPr>
        <p:spPr>
          <a:xfrm rot="16200000" flipH="1">
            <a:off x="1196026" y="2339222"/>
            <a:ext cx="2321505" cy="789599"/>
          </a:xfrm>
          <a:prstGeom prst="bentConnector2">
            <a:avLst/>
          </a:prstGeom>
          <a:ln w="63500" cap="rnd">
            <a:solidFill>
              <a:schemeClr val="accent6">
                <a:lumMod val="50000"/>
              </a:schemeClr>
            </a:solidFill>
            <a:headEnd type="oval"/>
            <a:tailEnd type="triangle"/>
          </a:ln>
        </p:spPr>
        <p:style>
          <a:lnRef idx="1">
            <a:schemeClr val="accent6"/>
          </a:lnRef>
          <a:fillRef idx="0">
            <a:schemeClr val="accent6"/>
          </a:fillRef>
          <a:effectRef idx="0">
            <a:schemeClr val="accent6"/>
          </a:effectRef>
          <a:fontRef idx="minor">
            <a:schemeClr val="tx1"/>
          </a:fontRef>
        </p:style>
      </p:cxnSp>
      <p:sp>
        <p:nvSpPr>
          <p:cNvPr id="4" name="Rectangle 3">
            <a:extLst>
              <a:ext uri="{FF2B5EF4-FFF2-40B4-BE49-F238E27FC236}">
                <a16:creationId xmlns:a16="http://schemas.microsoft.com/office/drawing/2014/main" id="{259AF930-E1FC-6171-6106-47FDB5E792F2}"/>
              </a:ext>
            </a:extLst>
          </p:cNvPr>
          <p:cNvSpPr/>
          <p:nvPr/>
        </p:nvSpPr>
        <p:spPr>
          <a:xfrm>
            <a:off x="1444047" y="1043490"/>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latin typeface="+mj-lt"/>
              </a:rPr>
              <a:t>0xb7</a:t>
            </a:r>
            <a:endParaRPr lang="en-US" sz="2800">
              <a:solidFill>
                <a:schemeClr val="accent6">
                  <a:lumMod val="75000"/>
                </a:schemeClr>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153863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88E27-5BA1-9669-BDD3-5C9AFAA15DAB}"/>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6B3C8743-1266-D769-349B-B7386394FF6E}"/>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9E144565-5230-0ECB-7F34-77BC7D2ABBFD}"/>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F1133E87-7CA7-A0CF-C6A2-359C6C6A3AEA}"/>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latin typeface="+mj-lt"/>
              </a:rPr>
              <a:t>void foo(</a:t>
            </a:r>
            <a:r>
              <a:rPr lang="en-US" sz="2000">
                <a:solidFill>
                  <a:srgbClr val="00007F"/>
                </a:solidFill>
                <a:latin typeface="+mj-lt"/>
              </a:rPr>
              <a:t>Thing</a:t>
            </a:r>
            <a:r>
              <a:rPr lang="en-US" sz="2000">
                <a:solidFill>
                  <a:schemeClr val="tx1"/>
                </a:solidFill>
                <a:latin typeface="+mj-lt"/>
              </a:rPr>
              <a:t> a) {</a:t>
            </a:r>
          </a:p>
          <a:p>
            <a:r>
              <a:rPr lang="en-US" sz="2000">
                <a:solidFill>
                  <a:schemeClr val="tx1"/>
                </a:solidFill>
                <a:latin typeface="+mj-lt"/>
              </a:rPr>
              <a:t>  a.y = </a:t>
            </a:r>
            <a:r>
              <a:rPr lang="en-US" sz="2000">
                <a:solidFill>
                  <a:srgbClr val="09B5B6"/>
                </a:solidFill>
                <a:latin typeface="+mj-lt"/>
              </a:rPr>
              <a:t>4.0</a:t>
            </a:r>
            <a:r>
              <a:rPr lang="en-US" sz="2000">
                <a:solidFill>
                  <a:schemeClr val="tx1"/>
                </a:solidFill>
                <a:latin typeface="+mj-lt"/>
              </a:rPr>
              <a:t>;</a:t>
            </a:r>
          </a:p>
          <a:p>
            <a:r>
              <a:rPr lang="en-US" sz="2000">
                <a:solidFill>
                  <a:schemeClr val="tx1"/>
                </a:solidFill>
                <a:latin typeface="+mj-lt"/>
              </a:rPr>
              <a:t>  a = </a:t>
            </a:r>
            <a:r>
              <a:rPr lang="en-US" sz="2000">
                <a:solidFill>
                  <a:srgbClr val="0432FF"/>
                </a:solidFill>
                <a:latin typeface="+mj-lt"/>
              </a:rPr>
              <a:t>null</a:t>
            </a:r>
            <a:r>
              <a:rPr lang="en-US" sz="2000">
                <a:solidFill>
                  <a:schemeClr val="tx1"/>
                </a:solidFill>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rgbClr val="00007F"/>
                </a:solidFill>
                <a:latin typeface="+mj-lt"/>
              </a:rPr>
              <a:t>  Thing</a:t>
            </a:r>
            <a:r>
              <a:rPr lang="en-US" sz="2000">
                <a:solidFill>
                  <a:schemeClr val="tx1"/>
                </a:solidFill>
                <a:latin typeface="+mj-lt"/>
              </a:rPr>
              <a:t> a;</a:t>
            </a:r>
          </a:p>
          <a:p>
            <a:r>
              <a:rPr lang="en-US" sz="2000">
                <a:solidFill>
                  <a:schemeClr val="tx1"/>
                </a:solidFill>
                <a:latin typeface="+mj-lt"/>
              </a:rPr>
              <a:t>  a = new </a:t>
            </a:r>
            <a:r>
              <a:rPr lang="en-US" sz="2000">
                <a:solidFill>
                  <a:srgbClr val="00007F"/>
                </a:solidFill>
                <a:latin typeface="+mj-lt"/>
              </a:rPr>
              <a:t>Thing</a:t>
            </a:r>
            <a:r>
              <a:rPr lang="en-US" sz="2000">
                <a:solidFill>
                  <a:schemeClr val="tx1"/>
                </a:solidFill>
                <a:latin typeface="+mj-lt"/>
              </a:rPr>
              <a:t>();</a:t>
            </a:r>
          </a:p>
          <a:p>
            <a:r>
              <a:rPr lang="en-US" sz="2000">
                <a:solidFill>
                  <a:schemeClr val="tx1"/>
                </a:solidFill>
                <a:latin typeface="+mj-lt"/>
              </a:rPr>
              <a:t>  a.x = </a:t>
            </a:r>
            <a:r>
              <a:rPr lang="en-US" sz="2000">
                <a:solidFill>
                  <a:srgbClr val="09B5B6"/>
                </a:solidFill>
                <a:latin typeface="+mj-lt"/>
              </a:rPr>
              <a:t>3.0</a:t>
            </a:r>
            <a:r>
              <a:rPr lang="en-US" sz="2000">
                <a:solidFill>
                  <a:schemeClr val="tx1"/>
                </a:solidFill>
                <a:latin typeface="+mj-lt"/>
              </a:rPr>
              <a:t>;</a:t>
            </a:r>
          </a:p>
          <a:p>
            <a:r>
              <a:rPr lang="en-US" sz="2000">
                <a:solidFill>
                  <a:schemeClr val="tx1"/>
                </a:solidFill>
                <a:latin typeface="+mj-lt"/>
              </a:rPr>
              <a:t>  foo(a);</a:t>
            </a:r>
          </a:p>
          <a:p>
            <a:r>
              <a:rPr lang="en-US" sz="2000">
                <a:solidFill>
                  <a:schemeClr val="tx1"/>
                </a:solidFill>
                <a:highlight>
                  <a:srgbClr val="FFFF00"/>
                </a:highlight>
                <a:latin typeface="+mj-lt"/>
              </a:rPr>
              <a:t>  a.y = </a:t>
            </a:r>
            <a:r>
              <a:rPr lang="en-US" sz="2000">
                <a:solidFill>
                  <a:srgbClr val="09B5B6"/>
                </a:solidFill>
                <a:highlight>
                  <a:srgbClr val="FFFF00"/>
                </a:highlight>
                <a:latin typeface="+mj-lt"/>
              </a:rPr>
              <a:t>5.0</a:t>
            </a:r>
            <a:r>
              <a:rPr lang="en-US" sz="2000">
                <a:solidFill>
                  <a:schemeClr val="tx1"/>
                </a:solidFill>
                <a:highlight>
                  <a:srgbClr val="FFFF00"/>
                </a:highlight>
                <a:latin typeface="+mj-lt"/>
              </a:rPr>
              <a:t>;</a:t>
            </a:r>
          </a:p>
          <a:p>
            <a:r>
              <a:rPr lang="en-US" sz="2000">
                <a:solidFill>
                  <a:schemeClr val="tx1"/>
                </a:solidFill>
                <a:latin typeface="+mj-lt"/>
              </a:rPr>
              <a:t>}</a:t>
            </a:r>
          </a:p>
        </p:txBody>
      </p:sp>
      <p:grpSp>
        <p:nvGrpSpPr>
          <p:cNvPr id="9" name="Group 8">
            <a:extLst>
              <a:ext uri="{FF2B5EF4-FFF2-40B4-BE49-F238E27FC236}">
                <a16:creationId xmlns:a16="http://schemas.microsoft.com/office/drawing/2014/main" id="{D6131A01-1001-37B0-112D-1F84E137B19D}"/>
              </a:ext>
            </a:extLst>
          </p:cNvPr>
          <p:cNvGrpSpPr/>
          <p:nvPr/>
        </p:nvGrpSpPr>
        <p:grpSpPr>
          <a:xfrm>
            <a:off x="372798" y="371008"/>
            <a:ext cx="3400547" cy="1874745"/>
            <a:chOff x="247891" y="497710"/>
            <a:chExt cx="2402712" cy="1874745"/>
          </a:xfrm>
        </p:grpSpPr>
        <p:sp>
          <p:nvSpPr>
            <p:cNvPr id="5" name="Rectangle 4">
              <a:extLst>
                <a:ext uri="{FF2B5EF4-FFF2-40B4-BE49-F238E27FC236}">
                  <a16:creationId xmlns:a16="http://schemas.microsoft.com/office/drawing/2014/main" id="{A52526CF-19B7-55D7-4046-43B6DCBCB2B3}"/>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8" name="TextBox 7">
              <a:extLst>
                <a:ext uri="{FF2B5EF4-FFF2-40B4-BE49-F238E27FC236}">
                  <a16:creationId xmlns:a16="http://schemas.microsoft.com/office/drawing/2014/main" id="{7D8989FE-9657-D955-1AD7-89B7AEE9789B}"/>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main</a:t>
              </a:r>
            </a:p>
          </p:txBody>
        </p:sp>
      </p:grpSp>
      <p:sp>
        <p:nvSpPr>
          <p:cNvPr id="6" name="TextBox 5">
            <a:extLst>
              <a:ext uri="{FF2B5EF4-FFF2-40B4-BE49-F238E27FC236}">
                <a16:creationId xmlns:a16="http://schemas.microsoft.com/office/drawing/2014/main" id="{600991FD-9878-1EB5-4703-C230E56B462E}"/>
              </a:ext>
            </a:extLst>
          </p:cNvPr>
          <p:cNvSpPr txBox="1"/>
          <p:nvPr/>
        </p:nvSpPr>
        <p:spPr>
          <a:xfrm>
            <a:off x="1669683" y="458714"/>
            <a:ext cx="584592" cy="584775"/>
          </a:xfrm>
          <a:prstGeom prst="rect">
            <a:avLst/>
          </a:prstGeom>
          <a:noFill/>
        </p:spPr>
        <p:txBody>
          <a:bodyPr wrap="square">
            <a:spAutoFit/>
          </a:bodyPr>
          <a:lstStyle/>
          <a:p>
            <a:pPr algn="ctr"/>
            <a:r>
              <a:rPr lang="en-US" sz="3200">
                <a:latin typeface="+mj-lt"/>
              </a:rPr>
              <a:t>a</a:t>
            </a:r>
            <a:endParaRPr lang="en-US" sz="3200"/>
          </a:p>
        </p:txBody>
      </p:sp>
      <p:sp>
        <p:nvSpPr>
          <p:cNvPr id="10" name="TextBox 9">
            <a:extLst>
              <a:ext uri="{FF2B5EF4-FFF2-40B4-BE49-F238E27FC236}">
                <a16:creationId xmlns:a16="http://schemas.microsoft.com/office/drawing/2014/main" id="{40D573EC-D5E3-69CA-17E3-99C08901FF8A}"/>
              </a:ext>
            </a:extLst>
          </p:cNvPr>
          <p:cNvSpPr txBox="1"/>
          <p:nvPr/>
        </p:nvSpPr>
        <p:spPr>
          <a:xfrm>
            <a:off x="2751578" y="2981215"/>
            <a:ext cx="1035866" cy="584775"/>
          </a:xfrm>
          <a:prstGeom prst="rect">
            <a:avLst/>
          </a:prstGeom>
          <a:noFill/>
        </p:spPr>
        <p:txBody>
          <a:bodyPr wrap="square">
            <a:spAutoFit/>
          </a:bodyPr>
          <a:lstStyle/>
          <a:p>
            <a:pPr algn="ctr"/>
            <a:r>
              <a:rPr lang="en-US" sz="3200">
                <a:latin typeface="+mj-lt"/>
              </a:rPr>
              <a:t>.x</a:t>
            </a:r>
            <a:endParaRPr lang="en-US" sz="3200"/>
          </a:p>
        </p:txBody>
      </p:sp>
      <p:sp>
        <p:nvSpPr>
          <p:cNvPr id="11" name="Rectangle 10">
            <a:extLst>
              <a:ext uri="{FF2B5EF4-FFF2-40B4-BE49-F238E27FC236}">
                <a16:creationId xmlns:a16="http://schemas.microsoft.com/office/drawing/2014/main" id="{C5126FCA-E062-29A5-F7F9-8BEC4B88D8F9}"/>
              </a:ext>
            </a:extLst>
          </p:cNvPr>
          <p:cNvSpPr/>
          <p:nvPr/>
        </p:nvSpPr>
        <p:spPr>
          <a:xfrm>
            <a:off x="2751578" y="3629884"/>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3.0</a:t>
            </a:r>
            <a:endParaRPr lang="en-US" sz="2800">
              <a:solidFill>
                <a:schemeClr val="accent1"/>
              </a:solidFill>
              <a:latin typeface="Consolas" panose="020B0609020204030204" pitchFamily="49" charset="0"/>
              <a:cs typeface="Consolas" panose="020B0609020204030204" pitchFamily="49" charset="0"/>
            </a:endParaRPr>
          </a:p>
        </p:txBody>
      </p:sp>
      <p:sp>
        <p:nvSpPr>
          <p:cNvPr id="12" name="TextBox 11">
            <a:extLst>
              <a:ext uri="{FF2B5EF4-FFF2-40B4-BE49-F238E27FC236}">
                <a16:creationId xmlns:a16="http://schemas.microsoft.com/office/drawing/2014/main" id="{472018DD-3702-12A0-9AC7-FD7638FB23AC}"/>
              </a:ext>
            </a:extLst>
          </p:cNvPr>
          <p:cNvSpPr txBox="1"/>
          <p:nvPr/>
        </p:nvSpPr>
        <p:spPr>
          <a:xfrm>
            <a:off x="3787442" y="2982614"/>
            <a:ext cx="1035866" cy="584775"/>
          </a:xfrm>
          <a:prstGeom prst="rect">
            <a:avLst/>
          </a:prstGeom>
          <a:noFill/>
        </p:spPr>
        <p:txBody>
          <a:bodyPr wrap="square">
            <a:spAutoFit/>
          </a:bodyPr>
          <a:lstStyle/>
          <a:p>
            <a:pPr algn="ctr"/>
            <a:r>
              <a:rPr lang="en-US" sz="3200">
                <a:latin typeface="+mj-lt"/>
              </a:rPr>
              <a:t>.y</a:t>
            </a:r>
            <a:endParaRPr lang="en-US" sz="3200"/>
          </a:p>
        </p:txBody>
      </p:sp>
      <p:sp>
        <p:nvSpPr>
          <p:cNvPr id="13" name="Rectangle 12">
            <a:extLst>
              <a:ext uri="{FF2B5EF4-FFF2-40B4-BE49-F238E27FC236}">
                <a16:creationId xmlns:a16="http://schemas.microsoft.com/office/drawing/2014/main" id="{1B240F44-0654-B6EE-B0E5-2E8BA23C361C}"/>
              </a:ext>
            </a:extLst>
          </p:cNvPr>
          <p:cNvSpPr/>
          <p:nvPr/>
        </p:nvSpPr>
        <p:spPr>
          <a:xfrm>
            <a:off x="3787442" y="3631283"/>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highlight>
                  <a:srgbClr val="FFFF00"/>
                </a:highlight>
                <a:latin typeface="+mj-lt"/>
                <a:cs typeface="Consolas" panose="020B0609020204030204" pitchFamily="49" charset="0"/>
              </a:rPr>
              <a:t>5.0</a:t>
            </a:r>
            <a:endParaRPr lang="en-US" sz="2800">
              <a:solidFill>
                <a:schemeClr val="accent1"/>
              </a:solidFill>
              <a:highlight>
                <a:srgbClr val="FFFF00"/>
              </a:highlight>
              <a:latin typeface="Consolas" panose="020B0609020204030204" pitchFamily="49" charset="0"/>
              <a:cs typeface="Consolas" panose="020B0609020204030204" pitchFamily="49" charset="0"/>
            </a:endParaRPr>
          </a:p>
        </p:txBody>
      </p:sp>
      <p:cxnSp>
        <p:nvCxnSpPr>
          <p:cNvPr id="14" name="Straight Arrow Connector 10">
            <a:extLst>
              <a:ext uri="{FF2B5EF4-FFF2-40B4-BE49-F238E27FC236}">
                <a16:creationId xmlns:a16="http://schemas.microsoft.com/office/drawing/2014/main" id="{E2844F72-3D3E-CB7B-1AAC-D1B8A2A041FE}"/>
              </a:ext>
            </a:extLst>
          </p:cNvPr>
          <p:cNvCxnSpPr>
            <a:cxnSpLocks/>
            <a:endCxn id="11" idx="1"/>
          </p:cNvCxnSpPr>
          <p:nvPr/>
        </p:nvCxnSpPr>
        <p:spPr>
          <a:xfrm rot="16200000" flipH="1">
            <a:off x="1196026" y="2339222"/>
            <a:ext cx="2321505" cy="789599"/>
          </a:xfrm>
          <a:prstGeom prst="bentConnector2">
            <a:avLst/>
          </a:prstGeom>
          <a:ln w="63500" cap="rnd">
            <a:solidFill>
              <a:schemeClr val="accent6">
                <a:lumMod val="50000"/>
              </a:schemeClr>
            </a:solidFill>
            <a:headEnd type="oval"/>
            <a:tailEnd type="triangle"/>
          </a:ln>
        </p:spPr>
        <p:style>
          <a:lnRef idx="1">
            <a:schemeClr val="accent6"/>
          </a:lnRef>
          <a:fillRef idx="0">
            <a:schemeClr val="accent6"/>
          </a:fillRef>
          <a:effectRef idx="0">
            <a:schemeClr val="accent6"/>
          </a:effectRef>
          <a:fontRef idx="minor">
            <a:schemeClr val="tx1"/>
          </a:fontRef>
        </p:style>
      </p:cxnSp>
      <p:sp>
        <p:nvSpPr>
          <p:cNvPr id="4" name="Rectangle 3">
            <a:extLst>
              <a:ext uri="{FF2B5EF4-FFF2-40B4-BE49-F238E27FC236}">
                <a16:creationId xmlns:a16="http://schemas.microsoft.com/office/drawing/2014/main" id="{012B3455-EA4B-1304-6BAA-71B8E55CC656}"/>
              </a:ext>
            </a:extLst>
          </p:cNvPr>
          <p:cNvSpPr/>
          <p:nvPr/>
        </p:nvSpPr>
        <p:spPr>
          <a:xfrm>
            <a:off x="1444047" y="1043490"/>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latin typeface="+mj-lt"/>
              </a:rPr>
              <a:t>0xb7</a:t>
            </a:r>
            <a:endParaRPr lang="en-US" sz="2800">
              <a:solidFill>
                <a:schemeClr val="accent6">
                  <a:lumMod val="75000"/>
                </a:schemeClr>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823693652"/>
      </p:ext>
    </p:extLst>
  </p:cSld>
  <p:clrMapOvr>
    <a:masterClrMapping/>
  </p:clrMapOvr>
</p:sld>
</file>

<file path=ppt/slides/slide5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9BB05-AF4E-AC3B-6F30-732DFF4A5B72}"/>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9007CDFD-F7A7-96E4-F115-4AB74CADCCFE}"/>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FC9C74B7-F983-DF8E-290C-65E0E4E60CD0}"/>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1EF59481-2BA9-E9DD-6C0F-DF4B87EE68FC}"/>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latin typeface="+mj-lt"/>
              </a:rPr>
              <a:t>void foo(</a:t>
            </a:r>
            <a:r>
              <a:rPr lang="en-US" sz="2000">
                <a:solidFill>
                  <a:srgbClr val="00007F"/>
                </a:solidFill>
                <a:latin typeface="+mj-lt"/>
              </a:rPr>
              <a:t>Thing</a:t>
            </a:r>
            <a:r>
              <a:rPr lang="en-US" sz="2000">
                <a:solidFill>
                  <a:schemeClr val="tx1"/>
                </a:solidFill>
                <a:latin typeface="+mj-lt"/>
              </a:rPr>
              <a:t> a) {</a:t>
            </a:r>
          </a:p>
          <a:p>
            <a:r>
              <a:rPr lang="en-US" sz="2000">
                <a:solidFill>
                  <a:schemeClr val="tx1"/>
                </a:solidFill>
                <a:latin typeface="+mj-lt"/>
              </a:rPr>
              <a:t>  a.y = </a:t>
            </a:r>
            <a:r>
              <a:rPr lang="en-US" sz="2000">
                <a:solidFill>
                  <a:srgbClr val="09B5B6"/>
                </a:solidFill>
                <a:latin typeface="+mj-lt"/>
              </a:rPr>
              <a:t>4.0</a:t>
            </a:r>
            <a:r>
              <a:rPr lang="en-US" sz="2000">
                <a:solidFill>
                  <a:schemeClr val="tx1"/>
                </a:solidFill>
                <a:latin typeface="+mj-lt"/>
              </a:rPr>
              <a:t>;</a:t>
            </a:r>
          </a:p>
          <a:p>
            <a:r>
              <a:rPr lang="en-US" sz="2000">
                <a:solidFill>
                  <a:schemeClr val="tx1"/>
                </a:solidFill>
                <a:latin typeface="+mj-lt"/>
              </a:rPr>
              <a:t>  a = </a:t>
            </a:r>
            <a:r>
              <a:rPr lang="en-US" sz="2000">
                <a:solidFill>
                  <a:srgbClr val="0432FF"/>
                </a:solidFill>
                <a:latin typeface="+mj-lt"/>
              </a:rPr>
              <a:t>null</a:t>
            </a:r>
            <a:r>
              <a:rPr lang="en-US" sz="2000">
                <a:solidFill>
                  <a:schemeClr val="tx1"/>
                </a:solidFill>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rgbClr val="00007F"/>
                </a:solidFill>
                <a:latin typeface="+mj-lt"/>
              </a:rPr>
              <a:t>  Thing</a:t>
            </a:r>
            <a:r>
              <a:rPr lang="en-US" sz="2000">
                <a:solidFill>
                  <a:schemeClr val="tx1"/>
                </a:solidFill>
                <a:latin typeface="+mj-lt"/>
              </a:rPr>
              <a:t> a;</a:t>
            </a:r>
          </a:p>
          <a:p>
            <a:r>
              <a:rPr lang="en-US" sz="2000">
                <a:solidFill>
                  <a:schemeClr val="tx1"/>
                </a:solidFill>
                <a:latin typeface="+mj-lt"/>
              </a:rPr>
              <a:t>  a = new </a:t>
            </a:r>
            <a:r>
              <a:rPr lang="en-US" sz="2000">
                <a:solidFill>
                  <a:srgbClr val="00007F"/>
                </a:solidFill>
                <a:latin typeface="+mj-lt"/>
              </a:rPr>
              <a:t>Thing</a:t>
            </a:r>
            <a:r>
              <a:rPr lang="en-US" sz="2000">
                <a:solidFill>
                  <a:schemeClr val="tx1"/>
                </a:solidFill>
                <a:latin typeface="+mj-lt"/>
              </a:rPr>
              <a:t>();</a:t>
            </a:r>
          </a:p>
          <a:p>
            <a:r>
              <a:rPr lang="en-US" sz="2000">
                <a:solidFill>
                  <a:schemeClr val="tx1"/>
                </a:solidFill>
                <a:latin typeface="+mj-lt"/>
              </a:rPr>
              <a:t>  a.x = </a:t>
            </a:r>
            <a:r>
              <a:rPr lang="en-US" sz="2000">
                <a:solidFill>
                  <a:srgbClr val="09B5B6"/>
                </a:solidFill>
                <a:latin typeface="+mj-lt"/>
              </a:rPr>
              <a:t>3.0</a:t>
            </a:r>
            <a:r>
              <a:rPr lang="en-US" sz="2000">
                <a:solidFill>
                  <a:schemeClr val="tx1"/>
                </a:solidFill>
                <a:latin typeface="+mj-lt"/>
              </a:rPr>
              <a:t>;</a:t>
            </a:r>
          </a:p>
          <a:p>
            <a:r>
              <a:rPr lang="en-US" sz="2000">
                <a:solidFill>
                  <a:schemeClr val="tx1"/>
                </a:solidFill>
                <a:latin typeface="+mj-lt"/>
              </a:rPr>
              <a:t>  foo(a);</a:t>
            </a:r>
          </a:p>
          <a:p>
            <a:r>
              <a:rPr lang="en-US" sz="2000">
                <a:solidFill>
                  <a:schemeClr val="tx1"/>
                </a:solidFill>
                <a:latin typeface="+mj-lt"/>
              </a:rPr>
              <a:t>  a.y = </a:t>
            </a:r>
            <a:r>
              <a:rPr lang="en-US" sz="2000">
                <a:solidFill>
                  <a:srgbClr val="09B5B6"/>
                </a:solidFill>
                <a:latin typeface="+mj-lt"/>
              </a:rPr>
              <a:t>5.0</a:t>
            </a:r>
            <a:r>
              <a:rPr lang="en-US" sz="2000">
                <a:solidFill>
                  <a:schemeClr val="tx1"/>
                </a:solidFill>
                <a:latin typeface="+mj-lt"/>
              </a:rPr>
              <a:t>;</a:t>
            </a:r>
          </a:p>
          <a:p>
            <a:r>
              <a:rPr lang="en-US" sz="2000">
                <a:solidFill>
                  <a:schemeClr val="tx1"/>
                </a:solidFill>
                <a:highlight>
                  <a:srgbClr val="FFFF00"/>
                </a:highlight>
                <a:latin typeface="+mj-lt"/>
              </a:rPr>
              <a:t>}</a:t>
            </a:r>
          </a:p>
        </p:txBody>
      </p:sp>
      <p:grpSp>
        <p:nvGrpSpPr>
          <p:cNvPr id="9" name="Group 8">
            <a:extLst>
              <a:ext uri="{FF2B5EF4-FFF2-40B4-BE49-F238E27FC236}">
                <a16:creationId xmlns:a16="http://schemas.microsoft.com/office/drawing/2014/main" id="{039E8C8A-717A-7453-368A-216C0609A1C2}"/>
              </a:ext>
            </a:extLst>
          </p:cNvPr>
          <p:cNvGrpSpPr/>
          <p:nvPr/>
        </p:nvGrpSpPr>
        <p:grpSpPr>
          <a:xfrm>
            <a:off x="372798" y="371008"/>
            <a:ext cx="3400547" cy="1874745"/>
            <a:chOff x="247891" y="497710"/>
            <a:chExt cx="2402712" cy="1874745"/>
          </a:xfrm>
        </p:grpSpPr>
        <p:sp>
          <p:nvSpPr>
            <p:cNvPr id="5" name="Rectangle 4">
              <a:extLst>
                <a:ext uri="{FF2B5EF4-FFF2-40B4-BE49-F238E27FC236}">
                  <a16:creationId xmlns:a16="http://schemas.microsoft.com/office/drawing/2014/main" id="{96A16432-8526-46C1-6EB1-6EDD1C7928D4}"/>
                </a:ext>
              </a:extLst>
            </p:cNvPr>
            <p:cNvSpPr/>
            <p:nvPr/>
          </p:nvSpPr>
          <p:spPr>
            <a:xfrm>
              <a:off x="247891" y="497711"/>
              <a:ext cx="2402712" cy="1874744"/>
            </a:xfrm>
            <a:prstGeom prst="rect">
              <a:avLst/>
            </a:prstGeom>
            <a:solidFill>
              <a:schemeClr val="bg1">
                <a:alpha val="90000"/>
              </a:schemeClr>
            </a:solidFill>
            <a:ln w="38100">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endParaRPr lang="en-US" sz="2000">
                <a:solidFill>
                  <a:schemeClr val="tx1"/>
                </a:solidFill>
                <a:latin typeface="+mj-lt"/>
              </a:endParaRPr>
            </a:p>
          </p:txBody>
        </p:sp>
        <p:sp>
          <p:nvSpPr>
            <p:cNvPr id="8" name="TextBox 7">
              <a:extLst>
                <a:ext uri="{FF2B5EF4-FFF2-40B4-BE49-F238E27FC236}">
                  <a16:creationId xmlns:a16="http://schemas.microsoft.com/office/drawing/2014/main" id="{FED193A6-7825-F49A-300E-0354089161C8}"/>
                </a:ext>
              </a:extLst>
            </p:cNvPr>
            <p:cNvSpPr txBox="1"/>
            <p:nvPr/>
          </p:nvSpPr>
          <p:spPr>
            <a:xfrm>
              <a:off x="1886674" y="497710"/>
              <a:ext cx="763929" cy="369332"/>
            </a:xfrm>
            <a:prstGeom prst="rect">
              <a:avLst/>
            </a:prstGeom>
            <a:noFill/>
          </p:spPr>
          <p:txBody>
            <a:bodyPr wrap="square" rtlCol="0">
              <a:spAutoFit/>
            </a:bodyPr>
            <a:lstStyle/>
            <a:p>
              <a:pPr algn="r"/>
              <a:r>
                <a:rPr lang="en-US">
                  <a:latin typeface="Consolas" panose="020B0609020204030204" pitchFamily="49" charset="0"/>
                  <a:cs typeface="Consolas" panose="020B0609020204030204" pitchFamily="49" charset="0"/>
                </a:rPr>
                <a:t>main</a:t>
              </a:r>
            </a:p>
          </p:txBody>
        </p:sp>
      </p:grpSp>
      <p:sp>
        <p:nvSpPr>
          <p:cNvPr id="6" name="TextBox 5">
            <a:extLst>
              <a:ext uri="{FF2B5EF4-FFF2-40B4-BE49-F238E27FC236}">
                <a16:creationId xmlns:a16="http://schemas.microsoft.com/office/drawing/2014/main" id="{99AB8D12-C901-6A65-5E20-E1D1AD3E2B63}"/>
              </a:ext>
            </a:extLst>
          </p:cNvPr>
          <p:cNvSpPr txBox="1"/>
          <p:nvPr/>
        </p:nvSpPr>
        <p:spPr>
          <a:xfrm>
            <a:off x="1669683" y="458714"/>
            <a:ext cx="584592" cy="584775"/>
          </a:xfrm>
          <a:prstGeom prst="rect">
            <a:avLst/>
          </a:prstGeom>
          <a:noFill/>
        </p:spPr>
        <p:txBody>
          <a:bodyPr wrap="square">
            <a:spAutoFit/>
          </a:bodyPr>
          <a:lstStyle/>
          <a:p>
            <a:pPr algn="ctr"/>
            <a:r>
              <a:rPr lang="en-US" sz="3200">
                <a:latin typeface="+mj-lt"/>
              </a:rPr>
              <a:t>a</a:t>
            </a:r>
            <a:endParaRPr lang="en-US" sz="3200"/>
          </a:p>
        </p:txBody>
      </p:sp>
      <p:sp>
        <p:nvSpPr>
          <p:cNvPr id="10" name="TextBox 9">
            <a:extLst>
              <a:ext uri="{FF2B5EF4-FFF2-40B4-BE49-F238E27FC236}">
                <a16:creationId xmlns:a16="http://schemas.microsoft.com/office/drawing/2014/main" id="{31DE912B-8123-5598-0427-1280AF0670CC}"/>
              </a:ext>
            </a:extLst>
          </p:cNvPr>
          <p:cNvSpPr txBox="1"/>
          <p:nvPr/>
        </p:nvSpPr>
        <p:spPr>
          <a:xfrm>
            <a:off x="2751578" y="2981215"/>
            <a:ext cx="1035866" cy="584775"/>
          </a:xfrm>
          <a:prstGeom prst="rect">
            <a:avLst/>
          </a:prstGeom>
          <a:noFill/>
        </p:spPr>
        <p:txBody>
          <a:bodyPr wrap="square">
            <a:spAutoFit/>
          </a:bodyPr>
          <a:lstStyle/>
          <a:p>
            <a:pPr algn="ctr"/>
            <a:r>
              <a:rPr lang="en-US" sz="3200">
                <a:latin typeface="+mj-lt"/>
              </a:rPr>
              <a:t>.x</a:t>
            </a:r>
            <a:endParaRPr lang="en-US" sz="3200"/>
          </a:p>
        </p:txBody>
      </p:sp>
      <p:sp>
        <p:nvSpPr>
          <p:cNvPr id="11" name="Rectangle 10">
            <a:extLst>
              <a:ext uri="{FF2B5EF4-FFF2-40B4-BE49-F238E27FC236}">
                <a16:creationId xmlns:a16="http://schemas.microsoft.com/office/drawing/2014/main" id="{9C92040F-62E6-64AB-DFC0-CE3831D7F209}"/>
              </a:ext>
            </a:extLst>
          </p:cNvPr>
          <p:cNvSpPr/>
          <p:nvPr/>
        </p:nvSpPr>
        <p:spPr>
          <a:xfrm>
            <a:off x="2751578" y="3629884"/>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3.0</a:t>
            </a:r>
            <a:endParaRPr lang="en-US" sz="2800">
              <a:solidFill>
                <a:schemeClr val="accent1"/>
              </a:solidFill>
              <a:latin typeface="Consolas" panose="020B0609020204030204" pitchFamily="49" charset="0"/>
              <a:cs typeface="Consolas" panose="020B0609020204030204" pitchFamily="49" charset="0"/>
            </a:endParaRPr>
          </a:p>
        </p:txBody>
      </p:sp>
      <p:sp>
        <p:nvSpPr>
          <p:cNvPr id="12" name="TextBox 11">
            <a:extLst>
              <a:ext uri="{FF2B5EF4-FFF2-40B4-BE49-F238E27FC236}">
                <a16:creationId xmlns:a16="http://schemas.microsoft.com/office/drawing/2014/main" id="{F7FAE4F1-CF4D-D32F-A7F8-11DCF7ADCBB6}"/>
              </a:ext>
            </a:extLst>
          </p:cNvPr>
          <p:cNvSpPr txBox="1"/>
          <p:nvPr/>
        </p:nvSpPr>
        <p:spPr>
          <a:xfrm>
            <a:off x="3787442" y="2982614"/>
            <a:ext cx="1035866" cy="584775"/>
          </a:xfrm>
          <a:prstGeom prst="rect">
            <a:avLst/>
          </a:prstGeom>
          <a:noFill/>
        </p:spPr>
        <p:txBody>
          <a:bodyPr wrap="square">
            <a:spAutoFit/>
          </a:bodyPr>
          <a:lstStyle/>
          <a:p>
            <a:pPr algn="ctr"/>
            <a:r>
              <a:rPr lang="en-US" sz="3200">
                <a:latin typeface="+mj-lt"/>
              </a:rPr>
              <a:t>.y</a:t>
            </a:r>
            <a:endParaRPr lang="en-US" sz="3200"/>
          </a:p>
        </p:txBody>
      </p:sp>
      <p:sp>
        <p:nvSpPr>
          <p:cNvPr id="13" name="Rectangle 12">
            <a:extLst>
              <a:ext uri="{FF2B5EF4-FFF2-40B4-BE49-F238E27FC236}">
                <a16:creationId xmlns:a16="http://schemas.microsoft.com/office/drawing/2014/main" id="{FF6A7EB6-81FD-02EA-FF80-9F30BBD33B90}"/>
              </a:ext>
            </a:extLst>
          </p:cNvPr>
          <p:cNvSpPr/>
          <p:nvPr/>
        </p:nvSpPr>
        <p:spPr>
          <a:xfrm>
            <a:off x="3787442" y="3631283"/>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cs typeface="Consolas" panose="020B0609020204030204" pitchFamily="49" charset="0"/>
              </a:rPr>
              <a:t>5.0</a:t>
            </a:r>
            <a:endParaRPr lang="en-US" sz="2800">
              <a:solidFill>
                <a:schemeClr val="accent1"/>
              </a:solidFill>
              <a:latin typeface="Consolas" panose="020B0609020204030204" pitchFamily="49" charset="0"/>
              <a:cs typeface="Consolas" panose="020B0609020204030204" pitchFamily="49" charset="0"/>
            </a:endParaRPr>
          </a:p>
        </p:txBody>
      </p:sp>
      <p:cxnSp>
        <p:nvCxnSpPr>
          <p:cNvPr id="14" name="Straight Arrow Connector 10">
            <a:extLst>
              <a:ext uri="{FF2B5EF4-FFF2-40B4-BE49-F238E27FC236}">
                <a16:creationId xmlns:a16="http://schemas.microsoft.com/office/drawing/2014/main" id="{9B6E6E28-6396-57E3-3931-E4A4229459F8}"/>
              </a:ext>
            </a:extLst>
          </p:cNvPr>
          <p:cNvCxnSpPr>
            <a:cxnSpLocks/>
            <a:endCxn id="11" idx="1"/>
          </p:cNvCxnSpPr>
          <p:nvPr/>
        </p:nvCxnSpPr>
        <p:spPr>
          <a:xfrm rot="16200000" flipH="1">
            <a:off x="1196026" y="2339222"/>
            <a:ext cx="2321505" cy="789599"/>
          </a:xfrm>
          <a:prstGeom prst="bentConnector2">
            <a:avLst/>
          </a:prstGeom>
          <a:ln w="63500" cap="rnd">
            <a:solidFill>
              <a:schemeClr val="accent6">
                <a:lumMod val="50000"/>
              </a:schemeClr>
            </a:solidFill>
            <a:headEnd type="oval"/>
            <a:tailEnd type="triangle"/>
          </a:ln>
        </p:spPr>
        <p:style>
          <a:lnRef idx="1">
            <a:schemeClr val="accent6"/>
          </a:lnRef>
          <a:fillRef idx="0">
            <a:schemeClr val="accent6"/>
          </a:fillRef>
          <a:effectRef idx="0">
            <a:schemeClr val="accent6"/>
          </a:effectRef>
          <a:fontRef idx="minor">
            <a:schemeClr val="tx1"/>
          </a:fontRef>
        </p:style>
      </p:cxnSp>
      <p:sp>
        <p:nvSpPr>
          <p:cNvPr id="4" name="Rectangle 3">
            <a:extLst>
              <a:ext uri="{FF2B5EF4-FFF2-40B4-BE49-F238E27FC236}">
                <a16:creationId xmlns:a16="http://schemas.microsoft.com/office/drawing/2014/main" id="{DD4165AD-907C-4570-7A18-E71A849DD0B7}"/>
              </a:ext>
            </a:extLst>
          </p:cNvPr>
          <p:cNvSpPr/>
          <p:nvPr/>
        </p:nvSpPr>
        <p:spPr>
          <a:xfrm>
            <a:off x="1444047" y="1043490"/>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chemeClr val="accent6">
                    <a:lumMod val="75000"/>
                  </a:schemeClr>
                </a:solidFill>
                <a:latin typeface="+mj-lt"/>
              </a:rPr>
              <a:t>0xb7</a:t>
            </a:r>
            <a:endParaRPr lang="en-US" sz="2800">
              <a:solidFill>
                <a:schemeClr val="accent6">
                  <a:lumMod val="75000"/>
                </a:schemeClr>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480739695"/>
      </p:ext>
    </p:extLst>
  </p:cSld>
  <p:clrMapOvr>
    <a:masterClrMapping/>
  </p:clrMapOvr>
</p:sld>
</file>

<file path=ppt/slides/slide5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0C14B-A7FA-2513-4CBB-77CBF4BBDDEA}"/>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1B9DA95A-8AD9-E1F8-E187-B806C1CBEBFE}"/>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8EC95125-3C2E-E0C1-5AD2-2032B443CD57}"/>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9CB97501-F7BF-D1C1-684E-A32CE3BA3497}"/>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latin typeface="+mj-lt"/>
              </a:rPr>
              <a:t>void foo(</a:t>
            </a:r>
            <a:r>
              <a:rPr lang="en-US" sz="2000">
                <a:solidFill>
                  <a:srgbClr val="00007F"/>
                </a:solidFill>
                <a:latin typeface="+mj-lt"/>
              </a:rPr>
              <a:t>Thing</a:t>
            </a:r>
            <a:r>
              <a:rPr lang="en-US" sz="2000">
                <a:solidFill>
                  <a:schemeClr val="tx1"/>
                </a:solidFill>
                <a:latin typeface="+mj-lt"/>
              </a:rPr>
              <a:t> a) {</a:t>
            </a:r>
          </a:p>
          <a:p>
            <a:r>
              <a:rPr lang="en-US" sz="2000">
                <a:solidFill>
                  <a:schemeClr val="tx1"/>
                </a:solidFill>
                <a:latin typeface="+mj-lt"/>
              </a:rPr>
              <a:t>  a.y = </a:t>
            </a:r>
            <a:r>
              <a:rPr lang="en-US" sz="2000">
                <a:solidFill>
                  <a:srgbClr val="09B5B6"/>
                </a:solidFill>
                <a:latin typeface="+mj-lt"/>
              </a:rPr>
              <a:t>4.0</a:t>
            </a:r>
            <a:r>
              <a:rPr lang="en-US" sz="2000">
                <a:solidFill>
                  <a:schemeClr val="tx1"/>
                </a:solidFill>
                <a:latin typeface="+mj-lt"/>
              </a:rPr>
              <a:t>;</a:t>
            </a:r>
          </a:p>
          <a:p>
            <a:r>
              <a:rPr lang="en-US" sz="2000">
                <a:solidFill>
                  <a:schemeClr val="tx1"/>
                </a:solidFill>
                <a:latin typeface="+mj-lt"/>
              </a:rPr>
              <a:t>  a = </a:t>
            </a:r>
            <a:r>
              <a:rPr lang="en-US" sz="2000">
                <a:solidFill>
                  <a:srgbClr val="0432FF"/>
                </a:solidFill>
                <a:latin typeface="+mj-lt"/>
              </a:rPr>
              <a:t>null</a:t>
            </a:r>
            <a:r>
              <a:rPr lang="en-US" sz="2000">
                <a:solidFill>
                  <a:schemeClr val="tx1"/>
                </a:solidFill>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rgbClr val="00007F"/>
                </a:solidFill>
                <a:latin typeface="+mj-lt"/>
              </a:rPr>
              <a:t>  Thing</a:t>
            </a:r>
            <a:r>
              <a:rPr lang="en-US" sz="2000">
                <a:solidFill>
                  <a:schemeClr val="tx1"/>
                </a:solidFill>
                <a:latin typeface="+mj-lt"/>
              </a:rPr>
              <a:t> a;</a:t>
            </a:r>
          </a:p>
          <a:p>
            <a:r>
              <a:rPr lang="en-US" sz="2000">
                <a:solidFill>
                  <a:schemeClr val="tx1"/>
                </a:solidFill>
                <a:latin typeface="+mj-lt"/>
              </a:rPr>
              <a:t>  a = new </a:t>
            </a:r>
            <a:r>
              <a:rPr lang="en-US" sz="2000">
                <a:solidFill>
                  <a:srgbClr val="00007F"/>
                </a:solidFill>
                <a:latin typeface="+mj-lt"/>
              </a:rPr>
              <a:t>Thing</a:t>
            </a:r>
            <a:r>
              <a:rPr lang="en-US" sz="2000">
                <a:solidFill>
                  <a:schemeClr val="tx1"/>
                </a:solidFill>
                <a:latin typeface="+mj-lt"/>
              </a:rPr>
              <a:t>();</a:t>
            </a:r>
          </a:p>
          <a:p>
            <a:r>
              <a:rPr lang="en-US" sz="2000">
                <a:solidFill>
                  <a:schemeClr val="tx1"/>
                </a:solidFill>
                <a:latin typeface="+mj-lt"/>
              </a:rPr>
              <a:t>  a.x = </a:t>
            </a:r>
            <a:r>
              <a:rPr lang="en-US" sz="2000">
                <a:solidFill>
                  <a:srgbClr val="09B5B6"/>
                </a:solidFill>
                <a:latin typeface="+mj-lt"/>
              </a:rPr>
              <a:t>3.0</a:t>
            </a:r>
            <a:r>
              <a:rPr lang="en-US" sz="2000">
                <a:solidFill>
                  <a:schemeClr val="tx1"/>
                </a:solidFill>
                <a:latin typeface="+mj-lt"/>
              </a:rPr>
              <a:t>;</a:t>
            </a:r>
          </a:p>
          <a:p>
            <a:r>
              <a:rPr lang="en-US" sz="2000">
                <a:solidFill>
                  <a:schemeClr val="tx1"/>
                </a:solidFill>
                <a:latin typeface="+mj-lt"/>
              </a:rPr>
              <a:t>  foo(a);</a:t>
            </a:r>
          </a:p>
          <a:p>
            <a:r>
              <a:rPr lang="en-US" sz="2000">
                <a:solidFill>
                  <a:schemeClr val="tx1"/>
                </a:solidFill>
                <a:latin typeface="+mj-lt"/>
              </a:rPr>
              <a:t>  a.y = </a:t>
            </a:r>
            <a:r>
              <a:rPr lang="en-US" sz="2000">
                <a:solidFill>
                  <a:srgbClr val="09B5B6"/>
                </a:solidFill>
                <a:latin typeface="+mj-lt"/>
              </a:rPr>
              <a:t>5.0</a:t>
            </a:r>
            <a:r>
              <a:rPr lang="en-US" sz="2000">
                <a:solidFill>
                  <a:schemeClr val="tx1"/>
                </a:solidFill>
                <a:latin typeface="+mj-lt"/>
              </a:rPr>
              <a:t>;</a:t>
            </a:r>
          </a:p>
          <a:p>
            <a:r>
              <a:rPr lang="en-US" sz="2000">
                <a:solidFill>
                  <a:schemeClr val="tx1"/>
                </a:solidFill>
                <a:latin typeface="+mj-lt"/>
              </a:rPr>
              <a:t>}</a:t>
            </a:r>
          </a:p>
        </p:txBody>
      </p:sp>
      <p:sp>
        <p:nvSpPr>
          <p:cNvPr id="11" name="Rectangle 10">
            <a:extLst>
              <a:ext uri="{FF2B5EF4-FFF2-40B4-BE49-F238E27FC236}">
                <a16:creationId xmlns:a16="http://schemas.microsoft.com/office/drawing/2014/main" id="{849D6500-2BD3-D2B5-9464-760E4FAB05BB}"/>
              </a:ext>
            </a:extLst>
          </p:cNvPr>
          <p:cNvSpPr/>
          <p:nvPr/>
        </p:nvSpPr>
        <p:spPr>
          <a:xfrm>
            <a:off x="2751578" y="3629884"/>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3.0</a:t>
            </a:r>
            <a:endParaRPr lang="en-US" sz="2800">
              <a:solidFill>
                <a:schemeClr val="accent1"/>
              </a:solidFill>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35A635F4-D834-EFEA-E9D5-079938B77FF8}"/>
              </a:ext>
            </a:extLst>
          </p:cNvPr>
          <p:cNvSpPr/>
          <p:nvPr/>
        </p:nvSpPr>
        <p:spPr>
          <a:xfrm>
            <a:off x="3787442" y="3631283"/>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cs typeface="Consolas" panose="020B0609020204030204" pitchFamily="49" charset="0"/>
              </a:rPr>
              <a:t>5.0</a:t>
            </a:r>
            <a:endParaRPr lang="en-US" sz="2800">
              <a:solidFill>
                <a:schemeClr val="accent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93040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5F258-51DA-0681-4A6F-1DDB65B0D0D1}"/>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6F0B535B-BEB8-D526-5184-E115A3AA86D3}"/>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3EDBD78B-723E-59A1-CDBE-9365A353D1DC}"/>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67276FE5-842C-7F72-CAF8-09F74ECFCFEA}"/>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latin typeface="+mj-lt"/>
              </a:rPr>
              <a:t>void foo(</a:t>
            </a:r>
            <a:r>
              <a:rPr lang="en-US" sz="2000">
                <a:solidFill>
                  <a:srgbClr val="00007F"/>
                </a:solidFill>
                <a:latin typeface="+mj-lt"/>
              </a:rPr>
              <a:t>Thing</a:t>
            </a:r>
            <a:r>
              <a:rPr lang="en-US" sz="2000">
                <a:solidFill>
                  <a:schemeClr val="tx1"/>
                </a:solidFill>
                <a:latin typeface="+mj-lt"/>
              </a:rPr>
              <a:t> a) {</a:t>
            </a:r>
          </a:p>
          <a:p>
            <a:r>
              <a:rPr lang="en-US" sz="2000">
                <a:solidFill>
                  <a:schemeClr val="tx1"/>
                </a:solidFill>
                <a:latin typeface="+mj-lt"/>
              </a:rPr>
              <a:t>  a.y = </a:t>
            </a:r>
            <a:r>
              <a:rPr lang="en-US" sz="2000">
                <a:solidFill>
                  <a:srgbClr val="09B5B6"/>
                </a:solidFill>
                <a:latin typeface="+mj-lt"/>
              </a:rPr>
              <a:t>4.0</a:t>
            </a:r>
            <a:r>
              <a:rPr lang="en-US" sz="2000">
                <a:solidFill>
                  <a:schemeClr val="tx1"/>
                </a:solidFill>
                <a:latin typeface="+mj-lt"/>
              </a:rPr>
              <a:t>;</a:t>
            </a:r>
          </a:p>
          <a:p>
            <a:r>
              <a:rPr lang="en-US" sz="2000">
                <a:solidFill>
                  <a:schemeClr val="tx1"/>
                </a:solidFill>
                <a:latin typeface="+mj-lt"/>
              </a:rPr>
              <a:t>  a = </a:t>
            </a:r>
            <a:r>
              <a:rPr lang="en-US" sz="2000">
                <a:solidFill>
                  <a:srgbClr val="0432FF"/>
                </a:solidFill>
                <a:latin typeface="+mj-lt"/>
              </a:rPr>
              <a:t>null</a:t>
            </a:r>
            <a:r>
              <a:rPr lang="en-US" sz="2000">
                <a:solidFill>
                  <a:schemeClr val="tx1"/>
                </a:solidFill>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rgbClr val="00007F"/>
                </a:solidFill>
                <a:latin typeface="+mj-lt"/>
              </a:rPr>
              <a:t>  Thing</a:t>
            </a:r>
            <a:r>
              <a:rPr lang="en-US" sz="2000">
                <a:solidFill>
                  <a:schemeClr val="tx1"/>
                </a:solidFill>
                <a:latin typeface="+mj-lt"/>
              </a:rPr>
              <a:t> a;</a:t>
            </a:r>
          </a:p>
          <a:p>
            <a:r>
              <a:rPr lang="en-US" sz="2000">
                <a:solidFill>
                  <a:schemeClr val="tx1"/>
                </a:solidFill>
                <a:latin typeface="+mj-lt"/>
              </a:rPr>
              <a:t>  a = new </a:t>
            </a:r>
            <a:r>
              <a:rPr lang="en-US" sz="2000">
                <a:solidFill>
                  <a:srgbClr val="00007F"/>
                </a:solidFill>
                <a:latin typeface="+mj-lt"/>
              </a:rPr>
              <a:t>Thing</a:t>
            </a:r>
            <a:r>
              <a:rPr lang="en-US" sz="2000">
                <a:solidFill>
                  <a:schemeClr val="tx1"/>
                </a:solidFill>
                <a:latin typeface="+mj-lt"/>
              </a:rPr>
              <a:t>();</a:t>
            </a:r>
          </a:p>
          <a:p>
            <a:r>
              <a:rPr lang="en-US" sz="2000">
                <a:solidFill>
                  <a:schemeClr val="tx1"/>
                </a:solidFill>
                <a:latin typeface="+mj-lt"/>
              </a:rPr>
              <a:t>  a.x = </a:t>
            </a:r>
            <a:r>
              <a:rPr lang="en-US" sz="2000">
                <a:solidFill>
                  <a:srgbClr val="09B5B6"/>
                </a:solidFill>
                <a:latin typeface="+mj-lt"/>
              </a:rPr>
              <a:t>3.0</a:t>
            </a:r>
            <a:r>
              <a:rPr lang="en-US" sz="2000">
                <a:solidFill>
                  <a:schemeClr val="tx1"/>
                </a:solidFill>
                <a:latin typeface="+mj-lt"/>
              </a:rPr>
              <a:t>;</a:t>
            </a:r>
          </a:p>
          <a:p>
            <a:r>
              <a:rPr lang="en-US" sz="2000">
                <a:solidFill>
                  <a:schemeClr val="tx1"/>
                </a:solidFill>
                <a:latin typeface="+mj-lt"/>
              </a:rPr>
              <a:t>  foo(a);</a:t>
            </a:r>
          </a:p>
          <a:p>
            <a:r>
              <a:rPr lang="en-US" sz="2000">
                <a:solidFill>
                  <a:schemeClr val="tx1"/>
                </a:solidFill>
                <a:latin typeface="+mj-lt"/>
              </a:rPr>
              <a:t>  a.y = </a:t>
            </a:r>
            <a:r>
              <a:rPr lang="en-US" sz="2000">
                <a:solidFill>
                  <a:srgbClr val="09B5B6"/>
                </a:solidFill>
                <a:latin typeface="+mj-lt"/>
              </a:rPr>
              <a:t>5.0</a:t>
            </a:r>
            <a:r>
              <a:rPr lang="en-US" sz="2000">
                <a:solidFill>
                  <a:schemeClr val="tx1"/>
                </a:solidFill>
                <a:latin typeface="+mj-lt"/>
              </a:rPr>
              <a:t>;</a:t>
            </a:r>
          </a:p>
          <a:p>
            <a:r>
              <a:rPr lang="en-US" sz="2000">
                <a:solidFill>
                  <a:schemeClr val="tx1"/>
                </a:solidFill>
                <a:latin typeface="+mj-lt"/>
              </a:rPr>
              <a:t>}</a:t>
            </a:r>
          </a:p>
        </p:txBody>
      </p:sp>
      <p:grpSp>
        <p:nvGrpSpPr>
          <p:cNvPr id="5" name="Group 4">
            <a:extLst>
              <a:ext uri="{FF2B5EF4-FFF2-40B4-BE49-F238E27FC236}">
                <a16:creationId xmlns:a16="http://schemas.microsoft.com/office/drawing/2014/main" id="{B6C09746-DBD8-E2AE-A815-6D0301E317FE}"/>
              </a:ext>
            </a:extLst>
          </p:cNvPr>
          <p:cNvGrpSpPr/>
          <p:nvPr/>
        </p:nvGrpSpPr>
        <p:grpSpPr>
          <a:xfrm>
            <a:off x="2751578" y="3629884"/>
            <a:ext cx="2071728" cy="531180"/>
            <a:chOff x="2751578" y="3629884"/>
            <a:chExt cx="2071728" cy="531180"/>
          </a:xfrm>
        </p:grpSpPr>
        <p:sp>
          <p:nvSpPr>
            <p:cNvPr id="11" name="Rectangle 10">
              <a:extLst>
                <a:ext uri="{FF2B5EF4-FFF2-40B4-BE49-F238E27FC236}">
                  <a16:creationId xmlns:a16="http://schemas.microsoft.com/office/drawing/2014/main" id="{CC34449D-8847-9B15-FA71-D3ABF5B6FD67}"/>
                </a:ext>
              </a:extLst>
            </p:cNvPr>
            <p:cNvSpPr/>
            <p:nvPr/>
          </p:nvSpPr>
          <p:spPr>
            <a:xfrm>
              <a:off x="2751578" y="3629884"/>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rPr>
                <a:t>3.0</a:t>
              </a:r>
              <a:endParaRPr lang="en-US" sz="2800">
                <a:solidFill>
                  <a:schemeClr val="accent1"/>
                </a:solidFill>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296538CA-0D74-EDAA-0741-B4978E30AB29}"/>
                </a:ext>
              </a:extLst>
            </p:cNvPr>
            <p:cNvSpPr/>
            <p:nvPr/>
          </p:nvSpPr>
          <p:spPr>
            <a:xfrm>
              <a:off x="3787442" y="3631283"/>
              <a:ext cx="1035864" cy="529781"/>
            </a:xfrm>
            <a:prstGeom prst="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9B5B6"/>
                  </a:solidFill>
                  <a:latin typeface="+mj-lt"/>
                  <a:cs typeface="Consolas" panose="020B0609020204030204" pitchFamily="49" charset="0"/>
                </a:rPr>
                <a:t>5.0</a:t>
              </a:r>
              <a:endParaRPr lang="en-US" sz="2800">
                <a:solidFill>
                  <a:schemeClr val="accent1"/>
                </a:solidFill>
                <a:latin typeface="Consolas" panose="020B0609020204030204" pitchFamily="49" charset="0"/>
                <a:cs typeface="Consolas" panose="020B0609020204030204" pitchFamily="49" charset="0"/>
              </a:endParaRPr>
            </a:p>
          </p:txBody>
        </p:sp>
      </p:grpSp>
      <p:sp>
        <p:nvSpPr>
          <p:cNvPr id="4" name="TextBox 3">
            <a:extLst>
              <a:ext uri="{FF2B5EF4-FFF2-40B4-BE49-F238E27FC236}">
                <a16:creationId xmlns:a16="http://schemas.microsoft.com/office/drawing/2014/main" id="{4602FC4E-F242-C09E-A75F-D22C30CC8F27}"/>
              </a:ext>
            </a:extLst>
          </p:cNvPr>
          <p:cNvSpPr txBox="1"/>
          <p:nvPr/>
        </p:nvSpPr>
        <p:spPr>
          <a:xfrm>
            <a:off x="3428837" y="3861555"/>
            <a:ext cx="468086" cy="1323439"/>
          </a:xfrm>
          <a:prstGeom prst="rect">
            <a:avLst/>
          </a:prstGeom>
          <a:noFill/>
        </p:spPr>
        <p:txBody>
          <a:bodyPr wrap="square">
            <a:spAutoFit/>
          </a:bodyPr>
          <a:lstStyle/>
          <a:p>
            <a:pPr algn="ctr"/>
            <a:r>
              <a:rPr kumimoji="0" lang="en-US" sz="8000" b="0" i="0" u="none" strike="noStrike" kern="1200" cap="none" spc="0" normalizeH="0" baseline="0" noProof="0">
                <a:ln>
                  <a:noFill/>
                </a:ln>
                <a:solidFill>
                  <a:srgbClr val="000000"/>
                </a:solidFill>
                <a:effectLst/>
                <a:uLnTx/>
                <a:uFillTx/>
                <a:latin typeface="Consolas"/>
                <a:ea typeface="Segoe UI Emoji" panose="020B0502040204020203" pitchFamily="34" charset="0"/>
                <a:cs typeface="+mn-cs"/>
              </a:rPr>
              <a:t>🚛</a:t>
            </a:r>
            <a:endParaRPr lang="en-US" sz="8800"/>
          </a:p>
        </p:txBody>
      </p:sp>
    </p:spTree>
    <p:extLst>
      <p:ext uri="{BB962C8B-B14F-4D97-AF65-F5344CB8AC3E}">
        <p14:creationId xmlns:p14="http://schemas.microsoft.com/office/powerpoint/2010/main" val="2780946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3000" fill="hold"/>
                                        <p:tgtEl>
                                          <p:spTgt spid="4"/>
                                        </p:tgtEl>
                                        <p:attrNameLst>
                                          <p:attrName>ppt_x</p:attrName>
                                        </p:attrNameLst>
                                      </p:cBhvr>
                                      <p:tavLst>
                                        <p:tav tm="0">
                                          <p:val>
                                            <p:strVal val="1+#ppt_w/2"/>
                                          </p:val>
                                        </p:tav>
                                        <p:tav tm="100000">
                                          <p:val>
                                            <p:strVal val="#ppt_x"/>
                                          </p:val>
                                        </p:tav>
                                      </p:tavLst>
                                    </p:anim>
                                    <p:anim calcmode="lin" valueType="num">
                                      <p:cBhvr additive="base">
                                        <p:cTn id="8" dur="3000" fill="hold"/>
                                        <p:tgtEl>
                                          <p:spTgt spid="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xit" presetSubtype="8" fill="hold" grpId="1" nodeType="clickEffect">
                                  <p:stCondLst>
                                    <p:cond delay="0"/>
                                  </p:stCondLst>
                                  <p:childTnLst>
                                    <p:anim calcmode="lin" valueType="num">
                                      <p:cBhvr additive="base">
                                        <p:cTn id="12" dur="3000"/>
                                        <p:tgtEl>
                                          <p:spTgt spid="4"/>
                                        </p:tgtEl>
                                        <p:attrNameLst>
                                          <p:attrName>ppt_x</p:attrName>
                                        </p:attrNameLst>
                                      </p:cBhvr>
                                      <p:tavLst>
                                        <p:tav tm="0">
                                          <p:val>
                                            <p:strVal val="ppt_x"/>
                                          </p:val>
                                        </p:tav>
                                        <p:tav tm="100000">
                                          <p:val>
                                            <p:strVal val="0-ppt_w/2"/>
                                          </p:val>
                                        </p:tav>
                                      </p:tavLst>
                                    </p:anim>
                                    <p:anim calcmode="lin" valueType="num">
                                      <p:cBhvr additive="base">
                                        <p:cTn id="13" dur="3000"/>
                                        <p:tgtEl>
                                          <p:spTgt spid="4"/>
                                        </p:tgtEl>
                                        <p:attrNameLst>
                                          <p:attrName>ppt_y</p:attrName>
                                        </p:attrNameLst>
                                      </p:cBhvr>
                                      <p:tavLst>
                                        <p:tav tm="0">
                                          <p:val>
                                            <p:strVal val="ppt_y"/>
                                          </p:val>
                                        </p:tav>
                                        <p:tav tm="100000">
                                          <p:val>
                                            <p:strVal val="ppt_y"/>
                                          </p:val>
                                        </p:tav>
                                      </p:tavLst>
                                    </p:anim>
                                    <p:set>
                                      <p:cBhvr>
                                        <p:cTn id="14" dur="1" fill="hold">
                                          <p:stCondLst>
                                            <p:cond delay="2999"/>
                                          </p:stCondLst>
                                        </p:cTn>
                                        <p:tgtEl>
                                          <p:spTgt spid="4"/>
                                        </p:tgtEl>
                                        <p:attrNameLst>
                                          <p:attrName>style.visibility</p:attrName>
                                        </p:attrNameLst>
                                      </p:cBhvr>
                                      <p:to>
                                        <p:strVal val="hidden"/>
                                      </p:to>
                                    </p:set>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par>
                                <p:cTn id="15" presetID="2" presetClass="exit" presetSubtype="8" fill="hold" nodeType="withEffect">
                                  <p:stCondLst>
                                    <p:cond delay="0"/>
                                  </p:stCondLst>
                                  <p:childTnLst>
                                    <p:anim calcmode="lin" valueType="num">
                                      <p:cBhvr additive="base">
                                        <p:cTn id="16" dur="3000"/>
                                        <p:tgtEl>
                                          <p:spTgt spid="5"/>
                                        </p:tgtEl>
                                        <p:attrNameLst>
                                          <p:attrName>ppt_x</p:attrName>
                                        </p:attrNameLst>
                                      </p:cBhvr>
                                      <p:tavLst>
                                        <p:tav tm="0">
                                          <p:val>
                                            <p:strVal val="ppt_x"/>
                                          </p:val>
                                        </p:tav>
                                        <p:tav tm="100000">
                                          <p:val>
                                            <p:strVal val="0-ppt_w/2"/>
                                          </p:val>
                                        </p:tav>
                                      </p:tavLst>
                                    </p:anim>
                                    <p:anim calcmode="lin" valueType="num">
                                      <p:cBhvr additive="base">
                                        <p:cTn id="17" dur="3000"/>
                                        <p:tgtEl>
                                          <p:spTgt spid="5"/>
                                        </p:tgtEl>
                                        <p:attrNameLst>
                                          <p:attrName>ppt_y</p:attrName>
                                        </p:attrNameLst>
                                      </p:cBhvr>
                                      <p:tavLst>
                                        <p:tav tm="0">
                                          <p:val>
                                            <p:strVal val="ppt_y"/>
                                          </p:val>
                                        </p:tav>
                                        <p:tav tm="100000">
                                          <p:val>
                                            <p:strVal val="ppt_y"/>
                                          </p:val>
                                        </p:tav>
                                      </p:tavLst>
                                    </p:anim>
                                    <p:set>
                                      <p:cBhvr>
                                        <p:cTn id="18" dur="1" fill="hold">
                                          <p:stCondLst>
                                            <p:cond delay="29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5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79E15-2E3B-0632-F4F8-259D9FD8FE5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D246090-B914-0B6A-979B-695CDA682D2E}"/>
              </a:ext>
            </a:extLst>
          </p:cNvPr>
          <p:cNvSpPr>
            <a:spLocks noGrp="1"/>
          </p:cNvSpPr>
          <p:nvPr>
            <p:ph type="title"/>
          </p:nvPr>
        </p:nvSpPr>
        <p:spPr/>
        <p:txBody>
          <a:bodyPr/>
          <a:lstStyle/>
          <a:p>
            <a:r>
              <a:rPr lang="en-US"/>
              <a:t>b-b-b-b-bonus question!</a:t>
            </a:r>
          </a:p>
        </p:txBody>
      </p:sp>
    </p:spTree>
    <p:extLst>
      <p:ext uri="{BB962C8B-B14F-4D97-AF65-F5344CB8AC3E}">
        <p14:creationId xmlns:p14="http://schemas.microsoft.com/office/powerpoint/2010/main" val="2899826845"/>
      </p:ext>
    </p:extLst>
  </p:cSld>
  <p:clrMapOvr>
    <a:masterClrMapping/>
  </p:clrMapOvr>
</p:sld>
</file>

<file path=ppt/slides/slide5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2CD2B-6FD4-C5AF-F9B7-AFC79B638AFE}"/>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261B05A7-12C5-C137-8999-9690CF794D60}"/>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B15F7AFE-6F39-181C-DCB3-FD66A74DBCE8}"/>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951F4A87-EBCA-4048-6616-6791186CA028}"/>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lang="en-US" sz="2000">
                <a:solidFill>
                  <a:schemeClr val="tx1"/>
                </a:solidFill>
                <a:latin typeface="+mj-lt"/>
              </a:rPr>
              <a:t>void foo(</a:t>
            </a:r>
            <a:r>
              <a:rPr lang="en-US" sz="2000">
                <a:solidFill>
                  <a:srgbClr val="00007F"/>
                </a:solidFill>
                <a:latin typeface="+mj-lt"/>
              </a:rPr>
              <a:t>int</a:t>
            </a:r>
            <a:r>
              <a:rPr lang="en-US" sz="2000">
                <a:solidFill>
                  <a:schemeClr val="tx1"/>
                </a:solidFill>
                <a:latin typeface="+mj-lt"/>
              </a:rPr>
              <a:t> a) {</a:t>
            </a:r>
          </a:p>
          <a:p>
            <a:r>
              <a:rPr lang="en-US" sz="2000">
                <a:solidFill>
                  <a:schemeClr val="tx1"/>
                </a:solidFill>
                <a:latin typeface="+mj-lt"/>
              </a:rPr>
              <a:t>    a = </a:t>
            </a:r>
            <a:r>
              <a:rPr lang="en-US" sz="2000">
                <a:solidFill>
                  <a:srgbClr val="09B5B6"/>
                </a:solidFill>
                <a:latin typeface="+mj-lt"/>
              </a:rPr>
              <a:t>8</a:t>
            </a:r>
            <a:r>
              <a:rPr lang="en-US" sz="2000">
                <a:solidFill>
                  <a:schemeClr val="tx1"/>
                </a:solidFill>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chemeClr val="tx1"/>
                </a:solidFill>
                <a:latin typeface="+mj-lt"/>
              </a:rPr>
              <a:t>    </a:t>
            </a:r>
            <a:r>
              <a:rPr lang="en-US" sz="2000">
                <a:solidFill>
                  <a:srgbClr val="00007F"/>
                </a:solidFill>
                <a:latin typeface="+mj-lt"/>
              </a:rPr>
              <a:t>int</a:t>
            </a:r>
            <a:r>
              <a:rPr lang="en-US" sz="2000">
                <a:solidFill>
                  <a:schemeClr val="tx1"/>
                </a:solidFill>
                <a:latin typeface="+mj-lt"/>
              </a:rPr>
              <a:t> a = </a:t>
            </a:r>
            <a:r>
              <a:rPr lang="en-US" sz="2000">
                <a:solidFill>
                  <a:srgbClr val="09B5B6"/>
                </a:solidFill>
                <a:latin typeface="+mj-lt"/>
              </a:rPr>
              <a:t>7</a:t>
            </a:r>
            <a:r>
              <a:rPr lang="en-US" sz="2000">
                <a:solidFill>
                  <a:schemeClr val="tx1"/>
                </a:solidFill>
                <a:latin typeface="+mj-lt"/>
              </a:rPr>
              <a:t>;</a:t>
            </a:r>
          </a:p>
          <a:p>
            <a:r>
              <a:rPr lang="en-US" sz="2000">
                <a:solidFill>
                  <a:schemeClr val="tx1"/>
                </a:solidFill>
                <a:latin typeface="+mj-lt"/>
              </a:rPr>
              <a:t>    foo(a);</a:t>
            </a:r>
          </a:p>
          <a:p>
            <a:r>
              <a:rPr lang="en-US" sz="2000">
                <a:solidFill>
                  <a:schemeClr val="tx1"/>
                </a:solidFill>
                <a:latin typeface="+mj-lt"/>
              </a:rPr>
              <a:t>}</a:t>
            </a:r>
          </a:p>
          <a:p>
            <a:endParaRPr lang="en-US" sz="2000">
              <a:solidFill>
                <a:schemeClr val="tx1"/>
              </a:solidFill>
              <a:latin typeface="+mj-lt"/>
            </a:endParaRPr>
          </a:p>
        </p:txBody>
      </p:sp>
      <p:sp>
        <p:nvSpPr>
          <p:cNvPr id="4" name="TextBox 3">
            <a:extLst>
              <a:ext uri="{FF2B5EF4-FFF2-40B4-BE49-F238E27FC236}">
                <a16:creationId xmlns:a16="http://schemas.microsoft.com/office/drawing/2014/main" id="{8ABC6511-9AF5-8122-1FB0-5D8FD976C76C}"/>
              </a:ext>
            </a:extLst>
          </p:cNvPr>
          <p:cNvSpPr txBox="1"/>
          <p:nvPr/>
        </p:nvSpPr>
        <p:spPr>
          <a:xfrm>
            <a:off x="891152" y="480449"/>
            <a:ext cx="4386021" cy="1384995"/>
          </a:xfrm>
          <a:prstGeom prst="rect">
            <a:avLst/>
          </a:prstGeom>
          <a:solidFill>
            <a:schemeClr val="accent3"/>
          </a:solidFill>
          <a:ln>
            <a:solidFill>
              <a:schemeClr val="tx1"/>
            </a:solidFill>
          </a:ln>
        </p:spPr>
        <p:txBody>
          <a:bodyPr wrap="square" rtlCol="0">
            <a:spAutoFit/>
          </a:bodyPr>
          <a:lstStyle/>
          <a:p>
            <a:r>
              <a:rPr lang="en-US" sz="2800"/>
              <a:t>How can I make this code actually change</a:t>
            </a:r>
          </a:p>
          <a:p>
            <a:r>
              <a:rPr lang="en-US" sz="2800"/>
              <a:t>the value of a?</a:t>
            </a:r>
          </a:p>
        </p:txBody>
      </p:sp>
    </p:spTree>
    <p:extLst>
      <p:ext uri="{BB962C8B-B14F-4D97-AF65-F5344CB8AC3E}">
        <p14:creationId xmlns:p14="http://schemas.microsoft.com/office/powerpoint/2010/main" val="585353841"/>
      </p:ext>
    </p:extLst>
  </p:cSld>
  <p:clrMapOvr>
    <a:masterClrMapping/>
  </p:clrMapOvr>
</p:sld>
</file>

<file path=ppt/slides/slide5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8D2E8-DE68-5B0A-306F-375E7B31527F}"/>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F2DD7A07-8A00-1763-0532-52E5BF11D295}"/>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8654EFA0-7F4A-BB98-046E-253ED0F81603}"/>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07695954-C0B9-9550-7A8F-214B5FFB6A9F}"/>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kumimoji="0" lang="en-US" sz="2000" b="0" i="0" u="none" strike="noStrike" kern="1200" cap="none" spc="0" normalizeH="0" baseline="0" noProof="0">
                <a:ln>
                  <a:noFill/>
                </a:ln>
                <a:solidFill>
                  <a:srgbClr val="00007F"/>
                </a:solidFill>
                <a:effectLst/>
                <a:uLnTx/>
                <a:uFillTx/>
                <a:latin typeface="Consolas"/>
                <a:ea typeface="+mn-ea"/>
                <a:cs typeface="+mn-cs"/>
              </a:rPr>
              <a:t>int</a:t>
            </a:r>
            <a:r>
              <a:rPr lang="en-US" sz="2000">
                <a:solidFill>
                  <a:schemeClr val="tx1"/>
                </a:solidFill>
                <a:latin typeface="+mj-lt"/>
              </a:rPr>
              <a:t> foo(</a:t>
            </a:r>
            <a:r>
              <a:rPr lang="en-US" sz="2000">
                <a:solidFill>
                  <a:srgbClr val="00007F"/>
                </a:solidFill>
                <a:latin typeface="+mj-lt"/>
              </a:rPr>
              <a:t>int</a:t>
            </a:r>
            <a:r>
              <a:rPr lang="en-US" sz="2000">
                <a:solidFill>
                  <a:schemeClr val="tx1"/>
                </a:solidFill>
                <a:latin typeface="+mj-lt"/>
              </a:rPr>
              <a:t> a) {</a:t>
            </a:r>
          </a:p>
          <a:p>
            <a:r>
              <a:rPr lang="en-US" sz="2000">
                <a:solidFill>
                  <a:schemeClr val="tx1"/>
                </a:solidFill>
                <a:latin typeface="+mj-lt"/>
              </a:rPr>
              <a:t>    a = </a:t>
            </a:r>
            <a:r>
              <a:rPr lang="en-US" sz="2000">
                <a:solidFill>
                  <a:srgbClr val="09B5B6"/>
                </a:solidFill>
                <a:latin typeface="+mj-lt"/>
              </a:rPr>
              <a:t>8</a:t>
            </a:r>
            <a:r>
              <a:rPr lang="en-US" sz="2000">
                <a:solidFill>
                  <a:schemeClr val="tx1"/>
                </a:solidFill>
                <a:latin typeface="+mj-lt"/>
              </a:rPr>
              <a:t>;</a:t>
            </a:r>
          </a:p>
          <a:p>
            <a:r>
              <a:rPr lang="en-US" sz="2000">
                <a:solidFill>
                  <a:schemeClr val="tx1"/>
                </a:solidFill>
                <a:latin typeface="+mj-lt"/>
              </a:rPr>
              <a:t>    </a:t>
            </a:r>
            <a:r>
              <a:rPr lang="en-US" sz="2000">
                <a:solidFill>
                  <a:srgbClr val="0432FF"/>
                </a:solidFill>
                <a:latin typeface="+mj-lt"/>
              </a:rPr>
              <a:t>return</a:t>
            </a:r>
            <a:r>
              <a:rPr lang="en-US" sz="2000">
                <a:solidFill>
                  <a:schemeClr val="tx1"/>
                </a:solidFill>
                <a:latin typeface="+mj-lt"/>
              </a:rPr>
              <a:t> a;</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chemeClr val="tx1"/>
                </a:solidFill>
                <a:latin typeface="+mj-lt"/>
              </a:rPr>
              <a:t>    </a:t>
            </a:r>
            <a:r>
              <a:rPr lang="en-US" sz="2000">
                <a:solidFill>
                  <a:srgbClr val="00007F"/>
                </a:solidFill>
                <a:latin typeface="+mj-lt"/>
              </a:rPr>
              <a:t>int</a:t>
            </a:r>
            <a:r>
              <a:rPr lang="en-US" sz="2000">
                <a:solidFill>
                  <a:schemeClr val="tx1"/>
                </a:solidFill>
                <a:latin typeface="+mj-lt"/>
              </a:rPr>
              <a:t> a = </a:t>
            </a:r>
            <a:r>
              <a:rPr lang="en-US" sz="2000">
                <a:solidFill>
                  <a:srgbClr val="09B5B6"/>
                </a:solidFill>
                <a:latin typeface="+mj-lt"/>
              </a:rPr>
              <a:t>7</a:t>
            </a:r>
            <a:r>
              <a:rPr lang="en-US" sz="2000">
                <a:solidFill>
                  <a:schemeClr val="tx1"/>
                </a:solidFill>
                <a:latin typeface="+mj-lt"/>
              </a:rPr>
              <a:t>;</a:t>
            </a:r>
          </a:p>
          <a:p>
            <a:r>
              <a:rPr lang="en-US" sz="2000">
                <a:solidFill>
                  <a:schemeClr val="tx1"/>
                </a:solidFill>
                <a:latin typeface="+mj-lt"/>
              </a:rPr>
              <a:t>    a = foo(a);</a:t>
            </a:r>
          </a:p>
          <a:p>
            <a:r>
              <a:rPr lang="en-US" sz="2000">
                <a:solidFill>
                  <a:schemeClr val="tx1"/>
                </a:solidFill>
                <a:latin typeface="+mj-lt"/>
              </a:rPr>
              <a:t>}</a:t>
            </a:r>
          </a:p>
          <a:p>
            <a:endParaRPr lang="en-US" sz="2000">
              <a:solidFill>
                <a:schemeClr val="tx1"/>
              </a:solidFill>
              <a:latin typeface="+mj-lt"/>
            </a:endParaRPr>
          </a:p>
        </p:txBody>
      </p:sp>
      <p:sp>
        <p:nvSpPr>
          <p:cNvPr id="4" name="TextBox 3">
            <a:extLst>
              <a:ext uri="{FF2B5EF4-FFF2-40B4-BE49-F238E27FC236}">
                <a16:creationId xmlns:a16="http://schemas.microsoft.com/office/drawing/2014/main" id="{E69A2908-D0B7-FF14-A970-479AB478CD0B}"/>
              </a:ext>
            </a:extLst>
          </p:cNvPr>
          <p:cNvSpPr txBox="1"/>
          <p:nvPr/>
        </p:nvSpPr>
        <p:spPr>
          <a:xfrm>
            <a:off x="891152" y="480449"/>
            <a:ext cx="4386021" cy="523220"/>
          </a:xfrm>
          <a:prstGeom prst="rect">
            <a:avLst/>
          </a:prstGeom>
          <a:solidFill>
            <a:schemeClr val="accent4"/>
          </a:solidFill>
          <a:ln>
            <a:solidFill>
              <a:schemeClr val="tx1"/>
            </a:solidFill>
          </a:ln>
        </p:spPr>
        <p:txBody>
          <a:bodyPr wrap="square" rtlCol="0">
            <a:spAutoFit/>
          </a:bodyPr>
          <a:lstStyle/>
          <a:p>
            <a:r>
              <a:rPr lang="en-US" sz="2800"/>
              <a:t>Option A: return the value!</a:t>
            </a:r>
          </a:p>
        </p:txBody>
      </p:sp>
    </p:spTree>
    <p:extLst>
      <p:ext uri="{BB962C8B-B14F-4D97-AF65-F5344CB8AC3E}">
        <p14:creationId xmlns:p14="http://schemas.microsoft.com/office/powerpoint/2010/main" val="3479285759"/>
      </p:ext>
    </p:extLst>
  </p:cSld>
  <p:clrMapOvr>
    <a:masterClrMapping/>
  </p:clrMapOvr>
</p:sld>
</file>

<file path=ppt/slides/slide5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AE469-3F08-19D8-3339-392662B08E94}"/>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2D57B151-7429-071F-40FD-AEAAEA432523}"/>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E3FE5672-C543-C2F2-BD53-8CE64385F57D}"/>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9F187D35-F1B8-55DA-737D-9187F90C6E79}"/>
              </a:ext>
            </a:extLst>
          </p:cNvPr>
          <p:cNvSpPr/>
          <p:nvPr/>
        </p:nvSpPr>
        <p:spPr>
          <a:xfrm>
            <a:off x="6021092" y="-2"/>
            <a:ext cx="3122907"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kumimoji="0" lang="en-US" sz="2000" b="0" i="0" u="none" strike="noStrike" kern="1200" cap="none" spc="0" normalizeH="0" baseline="0" noProof="0">
                <a:ln>
                  <a:noFill/>
                </a:ln>
                <a:solidFill>
                  <a:srgbClr val="00007F"/>
                </a:solidFill>
                <a:effectLst/>
                <a:uLnTx/>
                <a:uFillTx/>
                <a:latin typeface="Consolas"/>
                <a:ea typeface="+mn-ea"/>
                <a:cs typeface="+mn-cs"/>
              </a:rPr>
              <a:t>void</a:t>
            </a:r>
            <a:r>
              <a:rPr lang="en-US" sz="2000">
                <a:solidFill>
                  <a:schemeClr val="tx1"/>
                </a:solidFill>
                <a:latin typeface="+mj-lt"/>
              </a:rPr>
              <a:t> foo(</a:t>
            </a:r>
            <a:r>
              <a:rPr lang="en-US" sz="2000">
                <a:solidFill>
                  <a:srgbClr val="00007F"/>
                </a:solidFill>
                <a:latin typeface="+mj-lt"/>
              </a:rPr>
              <a:t>int[]</a:t>
            </a:r>
            <a:r>
              <a:rPr lang="en-US" sz="2000">
                <a:solidFill>
                  <a:schemeClr val="tx1"/>
                </a:solidFill>
                <a:latin typeface="+mj-lt"/>
              </a:rPr>
              <a:t> a) {</a:t>
            </a:r>
          </a:p>
          <a:p>
            <a:r>
              <a:rPr lang="en-US" sz="2000">
                <a:solidFill>
                  <a:schemeClr val="tx1"/>
                </a:solidFill>
                <a:latin typeface="+mj-lt"/>
              </a:rPr>
              <a:t>    a[</a:t>
            </a:r>
            <a:r>
              <a:rPr kumimoji="0" lang="en-US" sz="2000" b="0" i="0" u="none" strike="noStrike" kern="1200" cap="none" spc="0" normalizeH="0" baseline="0" noProof="0">
                <a:ln>
                  <a:noFill/>
                </a:ln>
                <a:solidFill>
                  <a:srgbClr val="09B5B6"/>
                </a:solidFill>
                <a:effectLst/>
                <a:uLnTx/>
                <a:uFillTx/>
                <a:latin typeface="Consolas"/>
                <a:ea typeface="+mn-ea"/>
                <a:cs typeface="+mn-cs"/>
              </a:rPr>
              <a:t>0</a:t>
            </a:r>
            <a:r>
              <a:rPr lang="en-US" sz="2000">
                <a:solidFill>
                  <a:schemeClr val="tx1"/>
                </a:solidFill>
                <a:latin typeface="+mj-lt"/>
              </a:rPr>
              <a:t>] = </a:t>
            </a:r>
            <a:r>
              <a:rPr lang="en-US" sz="2000">
                <a:solidFill>
                  <a:srgbClr val="09B5B6"/>
                </a:solidFill>
                <a:latin typeface="+mj-lt"/>
              </a:rPr>
              <a:t>8</a:t>
            </a:r>
            <a:r>
              <a:rPr lang="en-US" sz="2000">
                <a:solidFill>
                  <a:schemeClr val="tx1"/>
                </a:solidFill>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chemeClr val="tx1"/>
                </a:solidFill>
                <a:latin typeface="+mj-lt"/>
              </a:rPr>
              <a:t>    </a:t>
            </a:r>
            <a:r>
              <a:rPr lang="en-US" sz="2000">
                <a:solidFill>
                  <a:srgbClr val="00007F"/>
                </a:solidFill>
                <a:latin typeface="+mj-lt"/>
              </a:rPr>
              <a:t>int[]</a:t>
            </a:r>
            <a:r>
              <a:rPr lang="en-US" sz="2000">
                <a:solidFill>
                  <a:schemeClr val="tx1"/>
                </a:solidFill>
                <a:latin typeface="+mj-lt"/>
              </a:rPr>
              <a:t> a = { </a:t>
            </a:r>
            <a:r>
              <a:rPr lang="en-US" sz="2000">
                <a:solidFill>
                  <a:srgbClr val="09B5B6"/>
                </a:solidFill>
                <a:latin typeface="+mj-lt"/>
              </a:rPr>
              <a:t>7</a:t>
            </a:r>
            <a:r>
              <a:rPr lang="en-US" sz="2000">
                <a:solidFill>
                  <a:schemeClr val="tx1"/>
                </a:solidFill>
                <a:latin typeface="+mj-lt"/>
              </a:rPr>
              <a:t> };</a:t>
            </a:r>
          </a:p>
          <a:p>
            <a:r>
              <a:rPr lang="en-US" sz="2000">
                <a:solidFill>
                  <a:schemeClr val="tx1"/>
                </a:solidFill>
                <a:latin typeface="+mj-lt"/>
              </a:rPr>
              <a:t>    a = foo(a);</a:t>
            </a:r>
          </a:p>
          <a:p>
            <a:r>
              <a:rPr lang="en-US" sz="2000">
                <a:solidFill>
                  <a:schemeClr val="tx1"/>
                </a:solidFill>
                <a:latin typeface="+mj-lt"/>
              </a:rPr>
              <a:t>}</a:t>
            </a:r>
          </a:p>
          <a:p>
            <a:endParaRPr lang="en-US" sz="2000">
              <a:solidFill>
                <a:schemeClr val="tx1"/>
              </a:solidFill>
              <a:latin typeface="+mj-lt"/>
            </a:endParaRPr>
          </a:p>
        </p:txBody>
      </p:sp>
      <p:sp>
        <p:nvSpPr>
          <p:cNvPr id="4" name="TextBox 3">
            <a:extLst>
              <a:ext uri="{FF2B5EF4-FFF2-40B4-BE49-F238E27FC236}">
                <a16:creationId xmlns:a16="http://schemas.microsoft.com/office/drawing/2014/main" id="{D32E59FC-B115-F253-9506-34DD506E48EB}"/>
              </a:ext>
            </a:extLst>
          </p:cNvPr>
          <p:cNvSpPr txBox="1"/>
          <p:nvPr/>
        </p:nvSpPr>
        <p:spPr>
          <a:xfrm>
            <a:off x="891152" y="480449"/>
            <a:ext cx="4386021" cy="954107"/>
          </a:xfrm>
          <a:prstGeom prst="rect">
            <a:avLst/>
          </a:prstGeom>
          <a:solidFill>
            <a:schemeClr val="accent5"/>
          </a:solidFill>
          <a:ln>
            <a:solidFill>
              <a:schemeClr val="tx1"/>
            </a:solidFill>
          </a:ln>
        </p:spPr>
        <p:txBody>
          <a:bodyPr wrap="square" rtlCol="0">
            <a:spAutoFit/>
          </a:bodyPr>
          <a:lstStyle/>
          <a:p>
            <a:r>
              <a:rPr lang="en-US" sz="2800"/>
              <a:t>Option B: store the value on the heap!</a:t>
            </a:r>
          </a:p>
        </p:txBody>
      </p:sp>
    </p:spTree>
    <p:extLst>
      <p:ext uri="{BB962C8B-B14F-4D97-AF65-F5344CB8AC3E}">
        <p14:creationId xmlns:p14="http://schemas.microsoft.com/office/powerpoint/2010/main" val="965231516"/>
      </p:ext>
    </p:extLst>
  </p:cSld>
  <p:clrMapOvr>
    <a:masterClrMapping/>
  </p:clrMapOvr>
</p:sld>
</file>

<file path=ppt/slides/slide5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0539D-4178-E31B-CBB1-AA37AE3407D7}"/>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4FAEE4A8-E05D-03EE-B8D6-D7E35B88DCDA}"/>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1DAF8211-7DDC-5131-A408-5355F1F13901}"/>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17148D32-2A0D-5AEA-AB30-A5F68E0EA02D}"/>
              </a:ext>
            </a:extLst>
          </p:cNvPr>
          <p:cNvSpPr/>
          <p:nvPr/>
        </p:nvSpPr>
        <p:spPr>
          <a:xfrm>
            <a:off x="2945081" y="-2"/>
            <a:ext cx="6198919"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kumimoji="0" lang="en-US" sz="2000" b="0" i="0" u="none" strike="noStrike" kern="1200" cap="none" spc="0" normalizeH="0" baseline="0" noProof="0">
                <a:ln>
                  <a:noFill/>
                </a:ln>
                <a:solidFill>
                  <a:srgbClr val="0432FF"/>
                </a:solidFill>
                <a:effectLst/>
                <a:uLnTx/>
                <a:uFillTx/>
                <a:latin typeface="Consolas"/>
                <a:ea typeface="+mn-ea"/>
                <a:cs typeface="+mn-cs"/>
              </a:rPr>
              <a:t>class</a:t>
            </a:r>
            <a:r>
              <a:rPr kumimoji="0" lang="en-US" sz="2000" b="0" i="0" u="none" strike="noStrike" kern="1200" cap="none" spc="0" normalizeH="0" baseline="0" noProof="0">
                <a:ln>
                  <a:noFill/>
                </a:ln>
                <a:solidFill>
                  <a:srgbClr val="00007F"/>
                </a:solidFill>
                <a:effectLst/>
                <a:uLnTx/>
                <a:uFillTx/>
                <a:latin typeface="Consolas"/>
                <a:ea typeface="+mn-ea"/>
                <a:cs typeface="+mn-cs"/>
              </a:rPr>
              <a:t> IntWrapper {</a:t>
            </a:r>
          </a:p>
          <a:p>
            <a:r>
              <a:rPr lang="en-US" sz="2000">
                <a:solidFill>
                  <a:srgbClr val="00007F"/>
                </a:solidFill>
                <a:latin typeface="Consolas"/>
              </a:rPr>
              <a:t>    int a;</a:t>
            </a:r>
            <a:endParaRPr kumimoji="0" lang="en-US" sz="2000" b="0" i="0" u="none" strike="noStrike" kern="1200" cap="none" spc="0" normalizeH="0" baseline="0" noProof="0">
              <a:ln>
                <a:noFill/>
              </a:ln>
              <a:solidFill>
                <a:srgbClr val="00007F"/>
              </a:solidFill>
              <a:effectLst/>
              <a:uLnTx/>
              <a:uFillTx/>
              <a:latin typeface="Consolas"/>
              <a:ea typeface="+mn-ea"/>
              <a:cs typeface="+mn-cs"/>
            </a:endParaRPr>
          </a:p>
          <a:p>
            <a:r>
              <a:rPr lang="en-US" sz="2000">
                <a:solidFill>
                  <a:srgbClr val="00007F"/>
                </a:solidFill>
                <a:latin typeface="Consolas"/>
              </a:rPr>
              <a:t>}</a:t>
            </a:r>
            <a:endParaRPr kumimoji="0" lang="en-US" sz="2000" b="0" i="0" u="none" strike="noStrike" kern="1200" cap="none" spc="0" normalizeH="0" baseline="0" noProof="0">
              <a:ln>
                <a:noFill/>
              </a:ln>
              <a:solidFill>
                <a:srgbClr val="00007F"/>
              </a:solidFill>
              <a:effectLst/>
              <a:uLnTx/>
              <a:uFillTx/>
              <a:latin typeface="Consolas"/>
              <a:ea typeface="+mn-ea"/>
              <a:cs typeface="+mn-cs"/>
            </a:endParaRPr>
          </a:p>
          <a:p>
            <a:endParaRPr kumimoji="0" lang="en-US" sz="2000" b="0" i="0" u="none" strike="noStrike" kern="1200" cap="none" spc="0" normalizeH="0" baseline="0" noProof="0">
              <a:ln>
                <a:noFill/>
              </a:ln>
              <a:solidFill>
                <a:srgbClr val="00007F"/>
              </a:solidFill>
              <a:effectLst/>
              <a:uLnTx/>
              <a:uFillTx/>
              <a:latin typeface="Consolas"/>
              <a:ea typeface="+mn-ea"/>
              <a:cs typeface="+mn-cs"/>
            </a:endParaRPr>
          </a:p>
          <a:p>
            <a:r>
              <a:rPr kumimoji="0" lang="en-US" sz="2000" b="0" i="0" u="none" strike="noStrike" kern="1200" cap="none" spc="0" normalizeH="0" baseline="0" noProof="0">
                <a:ln>
                  <a:noFill/>
                </a:ln>
                <a:solidFill>
                  <a:srgbClr val="00007F"/>
                </a:solidFill>
                <a:effectLst/>
                <a:uLnTx/>
                <a:uFillTx/>
                <a:latin typeface="Consolas"/>
                <a:ea typeface="+mn-ea"/>
                <a:cs typeface="+mn-cs"/>
              </a:rPr>
              <a:t>void</a:t>
            </a:r>
            <a:r>
              <a:rPr lang="en-US" sz="2000">
                <a:solidFill>
                  <a:schemeClr val="tx1"/>
                </a:solidFill>
                <a:latin typeface="+mj-lt"/>
              </a:rPr>
              <a:t> foo(</a:t>
            </a:r>
            <a:r>
              <a:rPr lang="en-US" sz="2000">
                <a:solidFill>
                  <a:srgbClr val="00007F"/>
                </a:solidFill>
                <a:latin typeface="Consolas"/>
              </a:rPr>
              <a:t>IntWrapper</a:t>
            </a:r>
            <a:r>
              <a:rPr lang="en-US" sz="2000">
                <a:solidFill>
                  <a:schemeClr val="tx1"/>
                </a:solidFill>
                <a:latin typeface="+mj-lt"/>
              </a:rPr>
              <a:t> wrapper) {</a:t>
            </a:r>
          </a:p>
          <a:p>
            <a:r>
              <a:rPr lang="en-US" sz="2000">
                <a:solidFill>
                  <a:schemeClr val="tx1"/>
                </a:solidFill>
                <a:latin typeface="+mj-lt"/>
              </a:rPr>
              <a:t>    wrapper.a = </a:t>
            </a:r>
            <a:r>
              <a:rPr lang="en-US" sz="2000">
                <a:solidFill>
                  <a:srgbClr val="09B5B6"/>
                </a:solidFill>
                <a:latin typeface="+mj-lt"/>
              </a:rPr>
              <a:t>8</a:t>
            </a:r>
            <a:r>
              <a:rPr lang="en-US" sz="2000">
                <a:solidFill>
                  <a:schemeClr val="tx1"/>
                </a:solidFill>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chemeClr val="tx1"/>
                </a:solidFill>
                <a:latin typeface="+mj-lt"/>
              </a:rPr>
              <a:t>    </a:t>
            </a:r>
            <a:r>
              <a:rPr lang="en-US" sz="2000">
                <a:solidFill>
                  <a:srgbClr val="00007F"/>
                </a:solidFill>
                <a:latin typeface="+mj-lt"/>
              </a:rPr>
              <a:t>IntWrapper</a:t>
            </a:r>
            <a:r>
              <a:rPr lang="en-US" sz="2000">
                <a:solidFill>
                  <a:schemeClr val="tx1"/>
                </a:solidFill>
                <a:latin typeface="+mj-lt"/>
              </a:rPr>
              <a:t> wrapper = new </a:t>
            </a:r>
            <a:r>
              <a:rPr kumimoji="0" lang="en-US" sz="2000" b="0" i="0" u="none" strike="noStrike" kern="1200" cap="none" spc="0" normalizeH="0" baseline="0" noProof="0">
                <a:ln>
                  <a:noFill/>
                </a:ln>
                <a:solidFill>
                  <a:srgbClr val="00007F"/>
                </a:solidFill>
                <a:effectLst/>
                <a:uLnTx/>
                <a:uFillTx/>
                <a:latin typeface="Consolas"/>
                <a:ea typeface="+mn-ea"/>
                <a:cs typeface="+mn-cs"/>
              </a:rPr>
              <a:t>IntWrapper</a:t>
            </a:r>
            <a:r>
              <a:rPr lang="en-US" sz="2000">
                <a:solidFill>
                  <a:schemeClr val="tx1"/>
                </a:solidFill>
                <a:latin typeface="+mj-lt"/>
              </a:rPr>
              <a:t>();</a:t>
            </a:r>
          </a:p>
          <a:p>
            <a:r>
              <a:rPr lang="en-US" sz="2000">
                <a:solidFill>
                  <a:schemeClr val="tx1"/>
                </a:solidFill>
                <a:latin typeface="+mj-lt"/>
              </a:rPr>
              <a:t>    wrapper.a = 7;</a:t>
            </a:r>
          </a:p>
          <a:p>
            <a:r>
              <a:rPr lang="en-US" sz="2000">
                <a:solidFill>
                  <a:schemeClr val="tx1"/>
                </a:solidFill>
                <a:latin typeface="+mj-lt"/>
              </a:rPr>
              <a:t>    foo(wrapper);</a:t>
            </a:r>
          </a:p>
          <a:p>
            <a:r>
              <a:rPr lang="en-US" sz="2000">
                <a:solidFill>
                  <a:schemeClr val="tx1"/>
                </a:solidFill>
                <a:latin typeface="+mj-lt"/>
              </a:rPr>
              <a:t>}</a:t>
            </a:r>
          </a:p>
          <a:p>
            <a:endParaRPr lang="en-US" sz="2000">
              <a:solidFill>
                <a:schemeClr val="tx1"/>
              </a:solidFill>
              <a:latin typeface="+mj-lt"/>
            </a:endParaRPr>
          </a:p>
        </p:txBody>
      </p:sp>
      <p:sp>
        <p:nvSpPr>
          <p:cNvPr id="4" name="TextBox 3">
            <a:extLst>
              <a:ext uri="{FF2B5EF4-FFF2-40B4-BE49-F238E27FC236}">
                <a16:creationId xmlns:a16="http://schemas.microsoft.com/office/drawing/2014/main" id="{55B7BD38-F0A7-E784-F98D-E2B26CBD56D6}"/>
              </a:ext>
            </a:extLst>
          </p:cNvPr>
          <p:cNvSpPr txBox="1"/>
          <p:nvPr/>
        </p:nvSpPr>
        <p:spPr>
          <a:xfrm>
            <a:off x="62799" y="2384567"/>
            <a:ext cx="2952427" cy="523220"/>
          </a:xfrm>
          <a:prstGeom prst="rect">
            <a:avLst/>
          </a:prstGeom>
          <a:solidFill>
            <a:srgbClr val="1B6BE3"/>
          </a:solidFill>
          <a:ln>
            <a:solidFill>
              <a:schemeClr val="tx1"/>
            </a:solidFill>
          </a:ln>
        </p:spPr>
        <p:txBody>
          <a:bodyPr wrap="square" rtlCol="0">
            <a:spAutoFit/>
          </a:bodyPr>
          <a:lstStyle/>
          <a:p>
            <a:r>
              <a:rPr lang="en-US" sz="2800"/>
              <a:t>Option C: oh no!</a:t>
            </a:r>
          </a:p>
        </p:txBody>
      </p:sp>
    </p:spTree>
    <p:extLst>
      <p:ext uri="{BB962C8B-B14F-4D97-AF65-F5344CB8AC3E}">
        <p14:creationId xmlns:p14="http://schemas.microsoft.com/office/powerpoint/2010/main" val="3290858848"/>
      </p:ext>
    </p:extLst>
  </p:cSld>
  <p:clrMapOvr>
    <a:masterClrMapping/>
  </p:clrMapOvr>
</p:sld>
</file>

<file path=ppt/slides/slide5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6008D-3162-9D48-DC9B-618F9F19953E}"/>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0DC6C809-32E1-1D63-63CD-5CFD42A8ED34}"/>
              </a:ext>
            </a:extLst>
          </p:cNvPr>
          <p:cNvSpPr/>
          <p:nvPr/>
        </p:nvSpPr>
        <p:spPr>
          <a:xfrm>
            <a:off x="0" y="2571750"/>
            <a:ext cx="9144000" cy="257174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C3405D25-126B-3200-6A84-C4CA81895DC6}"/>
              </a:ext>
            </a:extLst>
          </p:cNvPr>
          <p:cNvCxnSpPr>
            <a:cxnSpLocks/>
          </p:cNvCxnSpPr>
          <p:nvPr/>
        </p:nvCxnSpPr>
        <p:spPr>
          <a:xfrm flipH="1">
            <a:off x="-1" y="2604554"/>
            <a:ext cx="9144000" cy="0"/>
          </a:xfrm>
          <a:prstGeom prst="line">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18CDAB27-0F58-7C25-2FEE-FFF6FD8333D7}"/>
              </a:ext>
            </a:extLst>
          </p:cNvPr>
          <p:cNvSpPr/>
          <p:nvPr/>
        </p:nvSpPr>
        <p:spPr>
          <a:xfrm>
            <a:off x="6111433" y="-2"/>
            <a:ext cx="3032566" cy="5143501"/>
          </a:xfrm>
          <a:prstGeom prst="rect">
            <a:avLst/>
          </a:prstGeom>
          <a:solidFill>
            <a:schemeClr val="bg1">
              <a:lumMod val="95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lIns="228600" rtlCol="0" anchor="ctr"/>
          <a:lstStyle/>
          <a:p>
            <a:r>
              <a:rPr kumimoji="0" lang="en-US" sz="2000" b="0" i="0" u="none" strike="noStrike" kern="1200" cap="none" spc="0" normalizeH="0" baseline="0" noProof="0">
                <a:ln>
                  <a:noFill/>
                </a:ln>
                <a:solidFill>
                  <a:srgbClr val="00007F"/>
                </a:solidFill>
                <a:effectLst/>
                <a:uLnTx/>
                <a:uFillTx/>
                <a:latin typeface="Consolas"/>
                <a:ea typeface="+mn-ea"/>
                <a:cs typeface="+mn-cs"/>
              </a:rPr>
              <a:t>static int a;</a:t>
            </a:r>
          </a:p>
          <a:p>
            <a:endParaRPr lang="en-US" sz="2000">
              <a:solidFill>
                <a:srgbClr val="00007F"/>
              </a:solidFill>
              <a:latin typeface="Consolas"/>
            </a:endParaRPr>
          </a:p>
          <a:p>
            <a:r>
              <a:rPr kumimoji="0" lang="en-US" sz="2000" b="0" i="0" u="none" strike="noStrike" kern="1200" cap="none" spc="0" normalizeH="0" baseline="0" noProof="0">
                <a:ln>
                  <a:noFill/>
                </a:ln>
                <a:solidFill>
                  <a:srgbClr val="00007F"/>
                </a:solidFill>
                <a:effectLst/>
                <a:uLnTx/>
                <a:uFillTx/>
                <a:latin typeface="Consolas"/>
                <a:ea typeface="+mn-ea"/>
                <a:cs typeface="+mn-cs"/>
              </a:rPr>
              <a:t>void</a:t>
            </a:r>
            <a:r>
              <a:rPr lang="en-US" sz="2000">
                <a:solidFill>
                  <a:schemeClr val="tx1"/>
                </a:solidFill>
                <a:latin typeface="+mj-lt"/>
              </a:rPr>
              <a:t> foo() {</a:t>
            </a:r>
          </a:p>
          <a:p>
            <a:r>
              <a:rPr lang="en-US" sz="2000">
                <a:solidFill>
                  <a:schemeClr val="tx1"/>
                </a:solidFill>
                <a:latin typeface="+mj-lt"/>
              </a:rPr>
              <a:t>    a = </a:t>
            </a:r>
            <a:r>
              <a:rPr lang="en-US" sz="2000">
                <a:solidFill>
                  <a:srgbClr val="09B5B6"/>
                </a:solidFill>
                <a:latin typeface="+mj-lt"/>
              </a:rPr>
              <a:t>8</a:t>
            </a:r>
            <a:r>
              <a:rPr lang="en-US" sz="2000">
                <a:solidFill>
                  <a:schemeClr val="tx1"/>
                </a:solidFill>
                <a:latin typeface="+mj-lt"/>
              </a:rPr>
              <a:t>;</a:t>
            </a:r>
          </a:p>
          <a:p>
            <a:r>
              <a:rPr lang="en-US" sz="2000">
                <a:solidFill>
                  <a:schemeClr val="tx1"/>
                </a:solidFill>
                <a:latin typeface="+mj-lt"/>
              </a:rPr>
              <a:t>}</a:t>
            </a:r>
          </a:p>
          <a:p>
            <a:endParaRPr lang="en-US" sz="2000">
              <a:solidFill>
                <a:schemeClr val="tx1"/>
              </a:solidFill>
              <a:latin typeface="+mj-lt"/>
            </a:endParaRPr>
          </a:p>
          <a:p>
            <a:endParaRPr lang="en-US" sz="2000">
              <a:solidFill>
                <a:schemeClr val="tx1"/>
              </a:solidFill>
              <a:latin typeface="+mj-lt"/>
            </a:endParaRPr>
          </a:p>
          <a:p>
            <a:r>
              <a:rPr lang="en-US" sz="2000">
                <a:solidFill>
                  <a:schemeClr val="tx1"/>
                </a:solidFill>
                <a:latin typeface="+mj-lt"/>
              </a:rPr>
              <a:t>void main() {</a:t>
            </a:r>
          </a:p>
          <a:p>
            <a:r>
              <a:rPr lang="en-US" sz="2000">
                <a:solidFill>
                  <a:schemeClr val="tx1"/>
                </a:solidFill>
                <a:latin typeface="+mj-lt"/>
              </a:rPr>
              <a:t>    foo();</a:t>
            </a:r>
          </a:p>
          <a:p>
            <a:r>
              <a:rPr lang="en-US" sz="2000">
                <a:solidFill>
                  <a:schemeClr val="tx1"/>
                </a:solidFill>
                <a:latin typeface="+mj-lt"/>
              </a:rPr>
              <a:t>}</a:t>
            </a:r>
          </a:p>
          <a:p>
            <a:endParaRPr lang="en-US" sz="2000">
              <a:solidFill>
                <a:schemeClr val="tx1"/>
              </a:solidFill>
              <a:latin typeface="+mj-lt"/>
            </a:endParaRPr>
          </a:p>
        </p:txBody>
      </p:sp>
      <p:sp>
        <p:nvSpPr>
          <p:cNvPr id="4" name="TextBox 3">
            <a:extLst>
              <a:ext uri="{FF2B5EF4-FFF2-40B4-BE49-F238E27FC236}">
                <a16:creationId xmlns:a16="http://schemas.microsoft.com/office/drawing/2014/main" id="{3C46DB81-1EC3-FC65-9B2F-C1533D64004B}"/>
              </a:ext>
            </a:extLst>
          </p:cNvPr>
          <p:cNvSpPr txBox="1"/>
          <p:nvPr/>
        </p:nvSpPr>
        <p:spPr>
          <a:xfrm>
            <a:off x="891152" y="480449"/>
            <a:ext cx="4386021" cy="954107"/>
          </a:xfrm>
          <a:prstGeom prst="rect">
            <a:avLst/>
          </a:prstGeom>
          <a:solidFill>
            <a:schemeClr val="accent6"/>
          </a:solidFill>
          <a:ln>
            <a:solidFill>
              <a:schemeClr val="tx1"/>
            </a:solidFill>
          </a:ln>
        </p:spPr>
        <p:txBody>
          <a:bodyPr wrap="square" rtlCol="0">
            <a:spAutoFit/>
          </a:bodyPr>
          <a:lstStyle/>
          <a:p>
            <a:r>
              <a:rPr lang="en-US" sz="2800"/>
              <a:t>Option D: make a global (static)</a:t>
            </a:r>
          </a:p>
        </p:txBody>
      </p:sp>
    </p:spTree>
    <p:extLst>
      <p:ext uri="{BB962C8B-B14F-4D97-AF65-F5344CB8AC3E}">
        <p14:creationId xmlns:p14="http://schemas.microsoft.com/office/powerpoint/2010/main" val="40186224"/>
      </p:ext>
    </p:extLst>
  </p:cSld>
  <p:clrMapOvr>
    <a:masterClrMapping/>
  </p:clrMapOvr>
</p:sld>
</file>

<file path=ppt/slides/slide5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5A971-36DA-1102-6502-57EFA2E6B79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01B0FCA-693C-5ABB-49EC-98100B03581C}"/>
              </a:ext>
            </a:extLst>
          </p:cNvPr>
          <p:cNvSpPr>
            <a:spLocks noGrp="1"/>
          </p:cNvSpPr>
          <p:nvPr>
            <p:ph type="title"/>
          </p:nvPr>
        </p:nvSpPr>
        <p:spPr>
          <a:xfrm>
            <a:off x="457200" y="254916"/>
            <a:ext cx="8229600" cy="1893924"/>
          </a:xfrm>
        </p:spPr>
        <p:txBody>
          <a:bodyPr/>
          <a:lstStyle/>
          <a:p>
            <a:pPr>
              <a:tabLst>
                <a:tab pos="7769225" algn="l"/>
              </a:tabLst>
            </a:pPr>
            <a:r>
              <a:rPr lang="en-US" sz="8800"/>
              <a:t>Week03c</a:t>
            </a:r>
          </a:p>
        </p:txBody>
      </p:sp>
      <p:sp>
        <p:nvSpPr>
          <p:cNvPr id="6" name="Content Placeholder 5">
            <a:extLst>
              <a:ext uri="{FF2B5EF4-FFF2-40B4-BE49-F238E27FC236}">
                <a16:creationId xmlns:a16="http://schemas.microsoft.com/office/drawing/2014/main" id="{5DED133A-E790-7F5C-1329-6A98B256D10A}"/>
              </a:ext>
            </a:extLst>
          </p:cNvPr>
          <p:cNvSpPr>
            <a:spLocks noGrp="1"/>
          </p:cNvSpPr>
          <p:nvPr>
            <p:ph sz="quarter" idx="10"/>
          </p:nvPr>
        </p:nvSpPr>
        <p:spPr>
          <a:xfrm>
            <a:off x="457200" y="1993732"/>
            <a:ext cx="8229600" cy="2894013"/>
          </a:xfrm>
        </p:spPr>
        <p:txBody>
          <a:bodyPr>
            <a:noAutofit/>
          </a:bodyPr>
          <a:lstStyle/>
          <a:p>
            <a:r>
              <a:rPr lang="en-US"/>
              <a:t>String</a:t>
            </a:r>
          </a:p>
          <a:p>
            <a:r>
              <a:rPr lang="en-US"/>
              <a:t>HW03 questions</a:t>
            </a:r>
          </a:p>
          <a:p>
            <a:r>
              <a:rPr lang="en-US"/>
              <a:t>review</a:t>
            </a:r>
          </a:p>
        </p:txBody>
      </p:sp>
      <p:sp>
        <p:nvSpPr>
          <p:cNvPr id="3" name="TextBox 2">
            <a:extLst>
              <a:ext uri="{FF2B5EF4-FFF2-40B4-BE49-F238E27FC236}">
                <a16:creationId xmlns:a16="http://schemas.microsoft.com/office/drawing/2014/main" id="{69CED0B6-6773-09CD-9848-4CB8B7477878}"/>
              </a:ext>
            </a:extLst>
          </p:cNvPr>
          <p:cNvSpPr txBox="1"/>
          <p:nvPr/>
        </p:nvSpPr>
        <p:spPr>
          <a:xfrm>
            <a:off x="7345935" y="1564208"/>
            <a:ext cx="1202991" cy="1938992"/>
          </a:xfrm>
          <a:prstGeom prst="rect">
            <a:avLst/>
          </a:prstGeom>
          <a:noFill/>
        </p:spPr>
        <p:txBody>
          <a:bodyPr wrap="square">
            <a:spAutoFit/>
          </a:bodyPr>
          <a:lstStyle/>
          <a:p>
            <a:pPr algn="r"/>
            <a:r>
              <a:rPr kumimoji="0" lang="en-US" sz="8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600"/>
          </a:p>
          <a:p>
            <a:pPr algn="r"/>
            <a:endParaRPr lang="en-US" sz="4000"/>
          </a:p>
        </p:txBody>
      </p:sp>
      <p:sp>
        <p:nvSpPr>
          <p:cNvPr id="13" name="TextBox 12">
            <a:extLst>
              <a:ext uri="{FF2B5EF4-FFF2-40B4-BE49-F238E27FC236}">
                <a16:creationId xmlns:a16="http://schemas.microsoft.com/office/drawing/2014/main" id="{884D7B4F-2729-A7B1-7FF4-B3C4D9AB5336}"/>
              </a:ext>
            </a:extLst>
          </p:cNvPr>
          <p:cNvSpPr txBox="1"/>
          <p:nvPr/>
        </p:nvSpPr>
        <p:spPr>
          <a:xfrm>
            <a:off x="3470036" y="1800173"/>
            <a:ext cx="4477394" cy="461665"/>
          </a:xfrm>
          <a:prstGeom prst="rect">
            <a:avLst/>
          </a:prstGeom>
          <a:noFill/>
        </p:spPr>
        <p:txBody>
          <a:bodyPr wrap="square" rtlCol="0">
            <a:spAutoFit/>
          </a:bodyPr>
          <a:lstStyle/>
          <a:p>
            <a:r>
              <a:rPr lang="en-US" sz="2400" b="1">
                <a:solidFill>
                  <a:srgbClr val="F80B8D"/>
                </a:solidFill>
                <a:latin typeface="Arial" panose="020B0604020202020204" pitchFamily="34" charset="0"/>
                <a:ea typeface="Segoe UI Emoji" panose="020B0502040204020203" pitchFamily="34" charset="0"/>
                <a:cs typeface="Arial" panose="020B0604020202020204" pitchFamily="34" charset="0"/>
              </a:rPr>
              <a:t>Today is... ✨Fun Friday!✨</a:t>
            </a:r>
          </a:p>
        </p:txBody>
      </p:sp>
      <p:sp>
        <p:nvSpPr>
          <p:cNvPr id="14" name="TextBox 13">
            <a:extLst>
              <a:ext uri="{FF2B5EF4-FFF2-40B4-BE49-F238E27FC236}">
                <a16:creationId xmlns:a16="http://schemas.microsoft.com/office/drawing/2014/main" id="{2A10DB46-B4A0-7878-CED0-7A702BFC8178}"/>
              </a:ext>
            </a:extLst>
          </p:cNvPr>
          <p:cNvSpPr txBox="1"/>
          <p:nvPr/>
        </p:nvSpPr>
        <p:spPr>
          <a:xfrm>
            <a:off x="6065045" y="2733462"/>
            <a:ext cx="2321747" cy="1569660"/>
          </a:xfrm>
          <a:prstGeom prst="rect">
            <a:avLst/>
          </a:prstGeom>
          <a:solidFill>
            <a:schemeClr val="accent3"/>
          </a:solidFill>
          <a:ln>
            <a:solidFill>
              <a:schemeClr val="tx1"/>
            </a:solidFill>
          </a:ln>
        </p:spPr>
        <p:txBody>
          <a:bodyPr wrap="square" rtlCol="0">
            <a:spAutoFit/>
          </a:bodyPr>
          <a:lstStyle/>
          <a:p>
            <a:pPr algn="ctr"/>
            <a:r>
              <a:rPr lang="en-US" sz="3200" b="1"/>
              <a:t>WARMUP</a:t>
            </a:r>
          </a:p>
          <a:p>
            <a:pPr algn="ctr"/>
            <a:r>
              <a:rPr lang="en-US" sz="3200"/>
              <a:t>what </a:t>
            </a:r>
            <a:r>
              <a:rPr lang="en-US" sz="3200" i="1"/>
              <a:t>is</a:t>
            </a:r>
            <a:r>
              <a:rPr lang="en-US" sz="3200"/>
              <a:t> a string?</a:t>
            </a:r>
          </a:p>
        </p:txBody>
      </p:sp>
      <p:sp>
        <p:nvSpPr>
          <p:cNvPr id="4" name="TextBox 3">
            <a:extLst>
              <a:ext uri="{FF2B5EF4-FFF2-40B4-BE49-F238E27FC236}">
                <a16:creationId xmlns:a16="http://schemas.microsoft.com/office/drawing/2014/main" id="{C455E08A-DC59-FA75-4FFC-8DE46BB2878E}"/>
              </a:ext>
            </a:extLst>
          </p:cNvPr>
          <p:cNvSpPr txBox="1"/>
          <p:nvPr/>
        </p:nvSpPr>
        <p:spPr>
          <a:xfrm rot="5400000">
            <a:off x="8000999" y="1966894"/>
            <a:ext cx="1202991" cy="1938992"/>
          </a:xfrm>
          <a:prstGeom prst="rect">
            <a:avLst/>
          </a:prstGeom>
          <a:noFill/>
        </p:spPr>
        <p:txBody>
          <a:bodyPr wrap="square">
            <a:spAutoFit/>
          </a:bodyPr>
          <a:lstStyle/>
          <a:p>
            <a:pPr algn="r"/>
            <a:r>
              <a:rPr kumimoji="0" lang="en-US" sz="8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600"/>
          </a:p>
          <a:p>
            <a:pPr algn="r"/>
            <a:endParaRPr lang="en-US" sz="4000"/>
          </a:p>
        </p:txBody>
      </p:sp>
      <p:sp>
        <p:nvSpPr>
          <p:cNvPr id="5" name="TextBox 4">
            <a:extLst>
              <a:ext uri="{FF2B5EF4-FFF2-40B4-BE49-F238E27FC236}">
                <a16:creationId xmlns:a16="http://schemas.microsoft.com/office/drawing/2014/main" id="{3B86F7D0-EAC9-5D75-E89D-3D04120FE6B2}"/>
              </a:ext>
            </a:extLst>
          </p:cNvPr>
          <p:cNvSpPr txBox="1"/>
          <p:nvPr/>
        </p:nvSpPr>
        <p:spPr>
          <a:xfrm rot="5400000">
            <a:off x="8000998" y="2994078"/>
            <a:ext cx="1202991" cy="1938992"/>
          </a:xfrm>
          <a:prstGeom prst="rect">
            <a:avLst/>
          </a:prstGeom>
          <a:noFill/>
        </p:spPr>
        <p:txBody>
          <a:bodyPr wrap="square">
            <a:spAutoFit/>
          </a:bodyPr>
          <a:lstStyle/>
          <a:p>
            <a:pPr algn="r"/>
            <a:r>
              <a:rPr kumimoji="0" lang="en-US" sz="8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1600"/>
          </a:p>
          <a:p>
            <a:pPr algn="r"/>
            <a:endParaRPr lang="en-US" sz="4000"/>
          </a:p>
        </p:txBody>
      </p:sp>
    </p:spTree>
    <p:extLst>
      <p:ext uri="{BB962C8B-B14F-4D97-AF65-F5344CB8AC3E}">
        <p14:creationId xmlns:p14="http://schemas.microsoft.com/office/powerpoint/2010/main" val="1679211014"/>
      </p:ext>
    </p:extLst>
  </p:cSld>
  <p:clrMapOvr>
    <a:masterClrMapping/>
  </p:clrMapOvr>
</p:sld>
</file>

<file path=ppt/slides/slide5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64630"/>
      </p:ext>
    </p:extLst>
  </p:cSld>
  <p:clrMapOvr>
    <a:masterClrMapping/>
  </p:clrMapOvr>
</p:sld>
</file>

<file path=ppt/slides/slide5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20C87D-223A-ED1C-9056-7DBFB18B52C7}"/>
              </a:ext>
            </a:extLst>
          </p:cNvPr>
          <p:cNvPicPr>
            <a:picLocks noChangeAspect="1"/>
          </p:cNvPicPr>
          <p:nvPr/>
        </p:nvPicPr>
        <p:blipFill>
          <a:blip r:embed="rId2"/>
          <a:stretch>
            <a:fillRect/>
          </a:stretch>
        </p:blipFill>
        <p:spPr>
          <a:xfrm>
            <a:off x="685800" y="1479988"/>
            <a:ext cx="7772400" cy="2183524"/>
          </a:xfrm>
          <a:prstGeom prst="rect">
            <a:avLst/>
          </a:prstGeom>
        </p:spPr>
      </p:pic>
    </p:spTree>
    <p:extLst>
      <p:ext uri="{BB962C8B-B14F-4D97-AF65-F5344CB8AC3E}">
        <p14:creationId xmlns:p14="http://schemas.microsoft.com/office/powerpoint/2010/main" val="2470627227"/>
      </p:ext>
    </p:extLst>
  </p:cSld>
  <p:clrMapOvr>
    <a:masterClrMapping/>
  </p:clrMapOvr>
</p:sld>
</file>

<file path=ppt/slides/slide5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AB3B9-2354-DA6F-5A89-1310EA91C22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1B0321B-0991-1132-5470-F5421A043126}"/>
              </a:ext>
            </a:extLst>
          </p:cNvPr>
          <p:cNvPicPr>
            <a:picLocks noChangeAspect="1"/>
          </p:cNvPicPr>
          <p:nvPr/>
        </p:nvPicPr>
        <p:blipFill>
          <a:blip r:embed="rId2"/>
          <a:stretch>
            <a:fillRect/>
          </a:stretch>
        </p:blipFill>
        <p:spPr>
          <a:xfrm>
            <a:off x="3016250" y="527050"/>
            <a:ext cx="3111500" cy="4089400"/>
          </a:xfrm>
          <a:prstGeom prst="rect">
            <a:avLst/>
          </a:prstGeom>
        </p:spPr>
      </p:pic>
    </p:spTree>
    <p:extLst>
      <p:ext uri="{BB962C8B-B14F-4D97-AF65-F5344CB8AC3E}">
        <p14:creationId xmlns:p14="http://schemas.microsoft.com/office/powerpoint/2010/main" val="603770"/>
      </p:ext>
    </p:extLst>
  </p:cSld>
  <p:clrMapOvr>
    <a:masterClrMapping/>
  </p:clrMapOvr>
</p:sld>
</file>

<file path=ppt/slides/slide5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To Do If Your Cat Ate String, Thread, Or Ribbon">
            <a:extLst>
              <a:ext uri="{FF2B5EF4-FFF2-40B4-BE49-F238E27FC236}">
                <a16:creationId xmlns:a16="http://schemas.microsoft.com/office/drawing/2014/main" id="{EBCA1762-AB5A-B579-058C-C2708FCBB4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350" y="38100"/>
            <a:ext cx="7607300" cy="506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3601404"/>
      </p:ext>
    </p:extLst>
  </p:cSld>
  <p:clrMapOvr>
    <a:masterClrMapping/>
  </p:clrMapOvr>
</p:sld>
</file>

<file path=ppt/slides/slide5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CB37385-4A18-988B-E132-EF03BEC2B56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06DE186-D63C-5980-BA82-12F132C6BEF7}"/>
              </a:ext>
            </a:extLst>
          </p:cNvPr>
          <p:cNvSpPr>
            <a:spLocks noGrp="1"/>
          </p:cNvSpPr>
          <p:nvPr>
            <p:ph type="title"/>
          </p:nvPr>
        </p:nvSpPr>
        <p:spPr/>
        <p:txBody>
          <a:bodyPr/>
          <a:lstStyle/>
          <a:p>
            <a:r>
              <a:rPr lang="en-US"/>
              <a:t>conference photos</a:t>
            </a:r>
          </a:p>
        </p:txBody>
      </p:sp>
    </p:spTree>
    <p:extLst>
      <p:ext uri="{BB962C8B-B14F-4D97-AF65-F5344CB8AC3E}">
        <p14:creationId xmlns:p14="http://schemas.microsoft.com/office/powerpoint/2010/main" val="3044420948"/>
      </p:ext>
    </p:extLst>
  </p:cSld>
  <p:clrMapOvr>
    <a:masterClrMapping/>
  </p:clrMapOvr>
</p:sld>
</file>

<file path=ppt/slides/slide5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8CA4890-730B-30E9-9010-7590FED8E896}"/>
              </a:ext>
            </a:extLst>
          </p:cNvPr>
          <p:cNvSpPr>
            <a:spLocks noGrp="1"/>
          </p:cNvSpPr>
          <p:nvPr>
            <p:ph type="title"/>
          </p:nvPr>
        </p:nvSpPr>
        <p:spPr/>
        <p:txBody>
          <a:bodyPr/>
          <a:lstStyle/>
          <a:p>
            <a:r>
              <a:rPr lang="en-US"/>
              <a:t>built-in classes</a:t>
            </a:r>
            <a:br>
              <a:rPr lang="en-US"/>
            </a:br>
            <a:r>
              <a:rPr lang="en-US" sz="3600"/>
              <a:t>(classes that are "built in" to Java)</a:t>
            </a:r>
            <a:endParaRPr lang="en-US"/>
          </a:p>
        </p:txBody>
      </p:sp>
    </p:spTree>
    <p:extLst>
      <p:ext uri="{BB962C8B-B14F-4D97-AF65-F5344CB8AC3E}">
        <p14:creationId xmlns:p14="http://schemas.microsoft.com/office/powerpoint/2010/main" val="2323956684"/>
      </p:ext>
    </p:extLst>
  </p:cSld>
  <p:clrMapOvr>
    <a:masterClrMapping/>
  </p:clrMapOvr>
</p:sld>
</file>

<file path=ppt/slides/slide5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7E5C23E-2ADA-E237-85A4-095F740EC88E}"/>
              </a:ext>
            </a:extLst>
          </p:cNvPr>
          <p:cNvSpPr>
            <a:spLocks noGrp="1"/>
          </p:cNvSpPr>
          <p:nvPr>
            <p:ph type="title"/>
          </p:nvPr>
        </p:nvSpPr>
        <p:spPr/>
        <p:txBody>
          <a:bodyPr/>
          <a:lstStyle/>
          <a:p>
            <a:r>
              <a:rPr lang="en-US" sz="4000"/>
              <a:t>built-in classes tend to be "special"</a:t>
            </a:r>
            <a:br>
              <a:rPr lang="en-US" sz="4000"/>
            </a:br>
            <a:r>
              <a:rPr lang="en-US" sz="1800" b="1">
                <a:solidFill>
                  <a:schemeClr val="accent1">
                    <a:lumMod val="50000"/>
                  </a:schemeClr>
                </a:solidFill>
              </a:rPr>
              <a:t>(they break the rules of other classes in Java)</a:t>
            </a:r>
            <a:endParaRPr lang="en-US" sz="4000" b="1">
              <a:solidFill>
                <a:schemeClr val="accent1">
                  <a:lumMod val="50000"/>
                </a:schemeClr>
              </a:solidFill>
            </a:endParaRPr>
          </a:p>
        </p:txBody>
      </p:sp>
    </p:spTree>
    <p:extLst>
      <p:ext uri="{BB962C8B-B14F-4D97-AF65-F5344CB8AC3E}">
        <p14:creationId xmlns:p14="http://schemas.microsoft.com/office/powerpoint/2010/main" val="1346389828"/>
      </p:ext>
    </p:extLst>
  </p:cSld>
  <p:clrMapOvr>
    <a:masterClrMapping/>
  </p:clrMapOvr>
</p:sld>
</file>

<file path=ppt/slides/slide5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CD83B-CC50-0D0A-A316-73D3C96F15D1}"/>
              </a:ext>
            </a:extLst>
          </p:cNvPr>
          <p:cNvSpPr>
            <a:spLocks noGrp="1"/>
          </p:cNvSpPr>
          <p:nvPr>
            <p:ph type="title"/>
          </p:nvPr>
        </p:nvSpPr>
        <p:spPr/>
        <p:txBody>
          <a:bodyPr/>
          <a:lstStyle/>
          <a:p>
            <a:r>
              <a:rPr lang="en-US" b="1"/>
              <a:t>review:</a:t>
            </a:r>
            <a:br>
              <a:rPr lang="en-US" b="1"/>
            </a:br>
            <a:r>
              <a:rPr lang="en-US"/>
              <a:t>instantiating a class</a:t>
            </a:r>
            <a:br>
              <a:rPr lang="en-US"/>
            </a:br>
            <a:r>
              <a:rPr lang="en-US"/>
              <a:t>(creating an object)</a:t>
            </a:r>
            <a:endParaRPr lang="en-US" b="1"/>
          </a:p>
        </p:txBody>
      </p:sp>
    </p:spTree>
    <p:extLst>
      <p:ext uri="{BB962C8B-B14F-4D97-AF65-F5344CB8AC3E}">
        <p14:creationId xmlns:p14="http://schemas.microsoft.com/office/powerpoint/2010/main" val="2740423358"/>
      </p:ext>
    </p:extLst>
  </p:cSld>
  <p:clrMapOvr>
    <a:masterClrMapping/>
  </p:clrMapOvr>
</p:sld>
</file>

<file path=ppt/slides/slide5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4F0F9-F9A4-142C-E057-BD1DBD5C6BB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CD82042-EC5D-F48D-4660-8BFF25D55068}"/>
              </a:ext>
            </a:extLst>
          </p:cNvPr>
          <p:cNvSpPr>
            <a:spLocks noGrp="1"/>
          </p:cNvSpPr>
          <p:nvPr>
            <p:ph type="title"/>
          </p:nvPr>
        </p:nvSpPr>
        <p:spPr/>
        <p:txBody>
          <a:bodyPr/>
          <a:lstStyle/>
          <a:p>
            <a:r>
              <a:rPr lang="en-US"/>
              <a:t>constructors</a:t>
            </a:r>
          </a:p>
        </p:txBody>
      </p:sp>
      <p:sp>
        <p:nvSpPr>
          <p:cNvPr id="2" name="TextBox 1">
            <a:extLst>
              <a:ext uri="{FF2B5EF4-FFF2-40B4-BE49-F238E27FC236}">
                <a16:creationId xmlns:a16="http://schemas.microsoft.com/office/drawing/2014/main" id="{1F299089-EBCD-8AD3-F2E5-BCE75E77659D}"/>
              </a:ext>
            </a:extLst>
          </p:cNvPr>
          <p:cNvSpPr txBox="1"/>
          <p:nvPr/>
        </p:nvSpPr>
        <p:spPr>
          <a:xfrm>
            <a:off x="457200" y="2892290"/>
            <a:ext cx="8229600" cy="646331"/>
          </a:xfrm>
          <a:prstGeom prst="rect">
            <a:avLst/>
          </a:prstGeom>
          <a:solidFill>
            <a:schemeClr val="bg1"/>
          </a:solidFill>
          <a:ln>
            <a:solidFill>
              <a:schemeClr val="tx1"/>
            </a:solidFill>
          </a:ln>
        </p:spPr>
        <p:txBody>
          <a:bodyPr wrap="square" rtlCol="0">
            <a:spAutoFit/>
          </a:bodyPr>
          <a:lstStyle/>
          <a:p>
            <a:r>
              <a:rPr lang="en-US">
                <a:solidFill>
                  <a:srgbClr val="007B00"/>
                </a:solidFill>
                <a:latin typeface="Consolas" panose="020B0609020204030204" pitchFamily="49" charset="0"/>
                <a:cs typeface="Consolas" panose="020B0609020204030204" pitchFamily="49" charset="0"/>
              </a:rPr>
              <a:t>// </a:t>
            </a:r>
            <a:r>
              <a:rPr lang="en-US" b="1">
                <a:solidFill>
                  <a:srgbClr val="007B00"/>
                </a:solidFill>
                <a:latin typeface="Consolas" panose="020B0609020204030204" pitchFamily="49" charset="0"/>
                <a:cs typeface="Consolas" panose="020B0609020204030204" pitchFamily="49" charset="0"/>
              </a:rPr>
              <a:t>Option B:</a:t>
            </a:r>
            <a:r>
              <a:rPr lang="en-US">
                <a:solidFill>
                  <a:srgbClr val="007B00"/>
                </a:solidFill>
                <a:latin typeface="Consolas" panose="020B0609020204030204" pitchFamily="49" charset="0"/>
                <a:cs typeface="Consolas" panose="020B0609020204030204" pitchFamily="49" charset="0"/>
              </a:rPr>
              <a:t> Use a custom constructor</a:t>
            </a:r>
            <a:endParaRPr lang="en-US">
              <a:solidFill>
                <a:srgbClr val="000080"/>
              </a:solidFill>
              <a:latin typeface="Consolas" panose="020B0609020204030204" pitchFamily="49" charset="0"/>
              <a:cs typeface="Consolas" panose="020B0609020204030204" pitchFamily="49" charset="0"/>
            </a:endParaRPr>
          </a:p>
          <a:p>
            <a:r>
              <a:rPr lang="en-US">
                <a:solidFill>
                  <a:srgbClr val="000080"/>
                </a:solidFill>
                <a:latin typeface="Consolas" panose="020B0609020204030204" pitchFamily="49" charset="0"/>
                <a:cs typeface="Consolas" panose="020B0609020204030204" pitchFamily="49" charset="0"/>
              </a:rPr>
              <a:t>Color</a:t>
            </a:r>
            <a:r>
              <a:rPr lang="en-US">
                <a:latin typeface="Consolas" panose="020B0609020204030204" pitchFamily="49" charset="0"/>
                <a:cs typeface="Consolas" panose="020B0609020204030204" pitchFamily="49" charset="0"/>
              </a:rPr>
              <a:t> color = </a:t>
            </a:r>
            <a:r>
              <a:rPr lang="en-US">
                <a:solidFill>
                  <a:srgbClr val="0000FF"/>
                </a:solidFill>
                <a:latin typeface="Consolas" panose="020B0609020204030204" pitchFamily="49" charset="0"/>
                <a:cs typeface="Consolas" panose="020B0609020204030204" pitchFamily="49" charset="0"/>
              </a:rPr>
              <a:t>new</a:t>
            </a:r>
            <a:r>
              <a:rPr lang="en-US">
                <a:latin typeface="Consolas" panose="020B0609020204030204" pitchFamily="49" charset="0"/>
                <a:cs typeface="Consolas" panose="020B0609020204030204" pitchFamily="49" charset="0"/>
              </a:rPr>
              <a:t> </a:t>
            </a:r>
            <a:r>
              <a:rPr lang="en-US">
                <a:solidFill>
                  <a:srgbClr val="000080"/>
                </a:solidFill>
                <a:latin typeface="Consolas" panose="020B0609020204030204" pitchFamily="49" charset="0"/>
                <a:cs typeface="Consolas" panose="020B0609020204030204" pitchFamily="49" charset="0"/>
              </a:rPr>
              <a:t>Color</a:t>
            </a:r>
            <a:r>
              <a:rPr lang="en-US">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1</a:t>
            </a:r>
            <a:r>
              <a:rPr lang="en-US">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0</a:t>
            </a:r>
            <a:r>
              <a:rPr lang="en-US">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 1</a:t>
            </a:r>
            <a:r>
              <a:rPr lang="en-US">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0</a:t>
            </a:r>
            <a:r>
              <a:rPr lang="en-US">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 1.0</a:t>
            </a:r>
            <a:r>
              <a:rPr lang="en-US">
                <a:latin typeface="Consolas" panose="020B0609020204030204" pitchFamily="49" charset="0"/>
                <a:cs typeface="Consolas" panose="020B0609020204030204" pitchFamily="49" charset="0"/>
              </a:rPr>
              <a:t>); </a:t>
            </a:r>
            <a:r>
              <a:rPr lang="en-US">
                <a:solidFill>
                  <a:srgbClr val="007B00"/>
                </a:solidFill>
                <a:latin typeface="Consolas" panose="020B0609020204030204" pitchFamily="49" charset="0"/>
                <a:cs typeface="Consolas" panose="020B0609020204030204" pitchFamily="49" charset="0"/>
              </a:rPr>
              <a:t>// (r=1.0, g=1.0, b=1.0)</a:t>
            </a:r>
          </a:p>
        </p:txBody>
      </p:sp>
      <p:sp>
        <p:nvSpPr>
          <p:cNvPr id="6" name="TextBox 5">
            <a:extLst>
              <a:ext uri="{FF2B5EF4-FFF2-40B4-BE49-F238E27FC236}">
                <a16:creationId xmlns:a16="http://schemas.microsoft.com/office/drawing/2014/main" id="{338FAD08-CEB4-2D80-C70E-FFACE6F5C4F4}"/>
              </a:ext>
            </a:extLst>
          </p:cNvPr>
          <p:cNvSpPr txBox="1"/>
          <p:nvPr/>
        </p:nvSpPr>
        <p:spPr>
          <a:xfrm>
            <a:off x="457200" y="1168523"/>
            <a:ext cx="8229600" cy="1477328"/>
          </a:xfrm>
          <a:prstGeom prst="rect">
            <a:avLst/>
          </a:prstGeom>
          <a:solidFill>
            <a:schemeClr val="bg1"/>
          </a:solidFill>
          <a:ln>
            <a:solidFill>
              <a:schemeClr val="tx1"/>
            </a:solidFill>
          </a:ln>
        </p:spPr>
        <p:txBody>
          <a:bodyPr wrap="square" rtlCol="0">
            <a:spAutoFit/>
          </a:bodyPr>
          <a:lstStyle/>
          <a:p>
            <a:r>
              <a:rPr lang="en-US">
                <a:solidFill>
                  <a:srgbClr val="007B00"/>
                </a:solidFill>
                <a:latin typeface="Consolas" panose="020B0609020204030204" pitchFamily="49" charset="0"/>
                <a:cs typeface="Consolas" panose="020B0609020204030204" pitchFamily="49" charset="0"/>
              </a:rPr>
              <a:t>// </a:t>
            </a:r>
            <a:r>
              <a:rPr lang="en-US" b="1">
                <a:solidFill>
                  <a:srgbClr val="007B00"/>
                </a:solidFill>
                <a:latin typeface="Consolas" panose="020B0609020204030204" pitchFamily="49" charset="0"/>
                <a:cs typeface="Consolas" panose="020B0609020204030204" pitchFamily="49" charset="0"/>
              </a:rPr>
              <a:t>Option A: </a:t>
            </a:r>
            <a:r>
              <a:rPr lang="en-US">
                <a:solidFill>
                  <a:srgbClr val="007B00"/>
                </a:solidFill>
                <a:latin typeface="Consolas" panose="020B0609020204030204" pitchFamily="49" charset="0"/>
                <a:cs typeface="Consolas" panose="020B0609020204030204" pitchFamily="49" charset="0"/>
              </a:rPr>
              <a:t>Use default constructor and initialize using dot</a:t>
            </a:r>
            <a:endParaRPr lang="en-US">
              <a:solidFill>
                <a:srgbClr val="000080"/>
              </a:solidFill>
              <a:latin typeface="Consolas" panose="020B0609020204030204" pitchFamily="49" charset="0"/>
              <a:cs typeface="Consolas" panose="020B0609020204030204" pitchFamily="49" charset="0"/>
            </a:endParaRPr>
          </a:p>
          <a:p>
            <a:r>
              <a:rPr lang="en-US">
                <a:solidFill>
                  <a:srgbClr val="000080"/>
                </a:solidFill>
                <a:latin typeface="Consolas" panose="020B0609020204030204" pitchFamily="49" charset="0"/>
                <a:cs typeface="Consolas" panose="020B0609020204030204" pitchFamily="49" charset="0"/>
              </a:rPr>
              <a:t>Color</a:t>
            </a:r>
            <a:r>
              <a:rPr lang="en-US">
                <a:latin typeface="Consolas" panose="020B0609020204030204" pitchFamily="49" charset="0"/>
                <a:cs typeface="Consolas" panose="020B0609020204030204" pitchFamily="49" charset="0"/>
              </a:rPr>
              <a:t> color = </a:t>
            </a:r>
            <a:r>
              <a:rPr lang="en-US">
                <a:solidFill>
                  <a:srgbClr val="0000FF"/>
                </a:solidFill>
                <a:latin typeface="Consolas" panose="020B0609020204030204" pitchFamily="49" charset="0"/>
                <a:cs typeface="Consolas" panose="020B0609020204030204" pitchFamily="49" charset="0"/>
              </a:rPr>
              <a:t>new</a:t>
            </a:r>
            <a:r>
              <a:rPr lang="en-US">
                <a:latin typeface="Consolas" panose="020B0609020204030204" pitchFamily="49" charset="0"/>
                <a:cs typeface="Consolas" panose="020B0609020204030204" pitchFamily="49" charset="0"/>
              </a:rPr>
              <a:t> </a:t>
            </a:r>
            <a:r>
              <a:rPr lang="en-US">
                <a:solidFill>
                  <a:srgbClr val="000080"/>
                </a:solidFill>
                <a:latin typeface="Consolas" panose="020B0609020204030204" pitchFamily="49" charset="0"/>
                <a:cs typeface="Consolas" panose="020B0609020204030204" pitchFamily="49" charset="0"/>
              </a:rPr>
              <a:t>Color</a:t>
            </a:r>
            <a:r>
              <a:rPr lang="en-US">
                <a:latin typeface="Consolas" panose="020B0609020204030204" pitchFamily="49" charset="0"/>
                <a:cs typeface="Consolas" panose="020B0609020204030204" pitchFamily="49" charset="0"/>
              </a:rPr>
              <a:t>(); </a:t>
            </a:r>
            <a:r>
              <a:rPr lang="en-US">
                <a:solidFill>
                  <a:srgbClr val="007B00"/>
                </a:solidFill>
                <a:latin typeface="Consolas" panose="020B0609020204030204" pitchFamily="49" charset="0"/>
                <a:cs typeface="Consolas" panose="020B0609020204030204" pitchFamily="49" charset="0"/>
              </a:rPr>
              <a:t>// (r=0.0, g=0.0, b=0.0)</a:t>
            </a:r>
          </a:p>
          <a:p>
            <a:r>
              <a:rPr lang="en-US">
                <a:latin typeface="Consolas" panose="020B0609020204030204" pitchFamily="49" charset="0"/>
                <a:cs typeface="Consolas" panose="020B0609020204030204" pitchFamily="49" charset="0"/>
              </a:rPr>
              <a:t>color.r = </a:t>
            </a:r>
            <a:r>
              <a:rPr lang="en-US">
                <a:solidFill>
                  <a:srgbClr val="0CB5B5"/>
                </a:solidFill>
                <a:latin typeface="Consolas" panose="020B0609020204030204" pitchFamily="49" charset="0"/>
                <a:cs typeface="Consolas" panose="020B0609020204030204" pitchFamily="49" charset="0"/>
              </a:rPr>
              <a:t>1</a:t>
            </a:r>
            <a:r>
              <a:rPr lang="en-US">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0</a:t>
            </a:r>
            <a:r>
              <a:rPr lang="en-US">
                <a:latin typeface="Consolas" panose="020B0609020204030204" pitchFamily="49" charset="0"/>
                <a:cs typeface="Consolas" panose="020B0609020204030204" pitchFamily="49" charset="0"/>
              </a:rPr>
              <a:t>;             </a:t>
            </a:r>
            <a:r>
              <a:rPr lang="en-US">
                <a:solidFill>
                  <a:srgbClr val="007B00"/>
                </a:solidFill>
                <a:latin typeface="Consolas" panose="020B0609020204030204" pitchFamily="49" charset="0"/>
                <a:cs typeface="Consolas" panose="020B0609020204030204" pitchFamily="49" charset="0"/>
              </a:rPr>
              <a:t>// (r=1.0, g=0.0, b=0.0)</a:t>
            </a:r>
            <a:endParaRPr lang="en-US">
              <a:latin typeface="Consolas" panose="020B0609020204030204" pitchFamily="49" charset="0"/>
              <a:cs typeface="Consolas" panose="020B0609020204030204" pitchFamily="49" charset="0"/>
            </a:endParaRPr>
          </a:p>
          <a:p>
            <a:r>
              <a:rPr lang="en-US">
                <a:latin typeface="Consolas" panose="020B0609020204030204" pitchFamily="49" charset="0"/>
                <a:cs typeface="Consolas" panose="020B0609020204030204" pitchFamily="49" charset="0"/>
              </a:rPr>
              <a:t>color.g = </a:t>
            </a:r>
            <a:r>
              <a:rPr lang="en-US">
                <a:solidFill>
                  <a:srgbClr val="0CB5B5"/>
                </a:solidFill>
                <a:latin typeface="Consolas" panose="020B0609020204030204" pitchFamily="49" charset="0"/>
                <a:cs typeface="Consolas" panose="020B0609020204030204" pitchFamily="49" charset="0"/>
              </a:rPr>
              <a:t>1</a:t>
            </a:r>
            <a:r>
              <a:rPr lang="en-US">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0</a:t>
            </a:r>
            <a:r>
              <a:rPr lang="en-US">
                <a:latin typeface="Consolas" panose="020B0609020204030204" pitchFamily="49" charset="0"/>
                <a:cs typeface="Consolas" panose="020B0609020204030204" pitchFamily="49" charset="0"/>
              </a:rPr>
              <a:t>;             </a:t>
            </a:r>
            <a:r>
              <a:rPr lang="en-US">
                <a:solidFill>
                  <a:srgbClr val="007B00"/>
                </a:solidFill>
                <a:latin typeface="Consolas" panose="020B0609020204030204" pitchFamily="49" charset="0"/>
                <a:cs typeface="Consolas" panose="020B0609020204030204" pitchFamily="49" charset="0"/>
              </a:rPr>
              <a:t>// (r=1.0, g=1.0, b=0.0)</a:t>
            </a:r>
          </a:p>
          <a:p>
            <a:r>
              <a:rPr lang="en-US">
                <a:latin typeface="Consolas" panose="020B0609020204030204" pitchFamily="49" charset="0"/>
                <a:cs typeface="Consolas" panose="020B0609020204030204" pitchFamily="49" charset="0"/>
              </a:rPr>
              <a:t>color.b = </a:t>
            </a:r>
            <a:r>
              <a:rPr lang="en-US">
                <a:solidFill>
                  <a:srgbClr val="0CB5B5"/>
                </a:solidFill>
                <a:latin typeface="Consolas" panose="020B0609020204030204" pitchFamily="49" charset="0"/>
                <a:cs typeface="Consolas" panose="020B0609020204030204" pitchFamily="49" charset="0"/>
              </a:rPr>
              <a:t>1</a:t>
            </a:r>
            <a:r>
              <a:rPr lang="en-US">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0</a:t>
            </a:r>
            <a:r>
              <a:rPr lang="en-US">
                <a:latin typeface="Consolas" panose="020B0609020204030204" pitchFamily="49" charset="0"/>
                <a:cs typeface="Consolas" panose="020B0609020204030204" pitchFamily="49" charset="0"/>
              </a:rPr>
              <a:t>;             </a:t>
            </a:r>
            <a:r>
              <a:rPr lang="en-US">
                <a:solidFill>
                  <a:srgbClr val="007B00"/>
                </a:solidFill>
                <a:latin typeface="Consolas" panose="020B0609020204030204" pitchFamily="49" charset="0"/>
                <a:cs typeface="Consolas" panose="020B0609020204030204" pitchFamily="49" charset="0"/>
              </a:rPr>
              <a:t>// (r=1.0, g=1.0, b=1.0)</a:t>
            </a:r>
            <a:endParaRPr lang="en-US">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807559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5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C8B9C64-4BD3-BEC9-379C-4F9AFC3DDBB7}"/>
              </a:ext>
            </a:extLst>
          </p:cNvPr>
          <p:cNvSpPr>
            <a:spLocks noGrp="1"/>
          </p:cNvSpPr>
          <p:nvPr>
            <p:ph type="title"/>
          </p:nvPr>
        </p:nvSpPr>
        <p:spPr/>
        <p:txBody>
          <a:bodyPr/>
          <a:lstStyle/>
          <a:p>
            <a:r>
              <a:rPr lang="en-US" b="1"/>
              <a:t>review: </a:t>
            </a:r>
            <a:r>
              <a:rPr lang="en-US"/>
              <a:t>array</a:t>
            </a:r>
          </a:p>
        </p:txBody>
      </p:sp>
    </p:spTree>
    <p:extLst>
      <p:ext uri="{BB962C8B-B14F-4D97-AF65-F5344CB8AC3E}">
        <p14:creationId xmlns:p14="http://schemas.microsoft.com/office/powerpoint/2010/main" val="3336085835"/>
      </p:ext>
    </p:extLst>
  </p:cSld>
  <p:clrMapOvr>
    <a:masterClrMapping/>
  </p:clrMapOvr>
</p:sld>
</file>

<file path=ppt/slides/slide5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99547-07C7-6644-4D8F-1235CEE6D32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BF82D9C-D095-FFBC-67C4-34477693306F}"/>
              </a:ext>
            </a:extLst>
          </p:cNvPr>
          <p:cNvSpPr>
            <a:spLocks noGrp="1"/>
          </p:cNvSpPr>
          <p:nvPr>
            <p:ph type="title"/>
          </p:nvPr>
        </p:nvSpPr>
        <p:spPr/>
        <p:txBody>
          <a:bodyPr/>
          <a:lstStyle/>
          <a:p>
            <a:r>
              <a:rPr lang="en-US"/>
              <a:t>creating an array (1/2)</a:t>
            </a:r>
          </a:p>
        </p:txBody>
      </p:sp>
      <p:sp>
        <p:nvSpPr>
          <p:cNvPr id="4" name="Content Placeholder 3">
            <a:extLst>
              <a:ext uri="{FF2B5EF4-FFF2-40B4-BE49-F238E27FC236}">
                <a16:creationId xmlns:a16="http://schemas.microsoft.com/office/drawing/2014/main" id="{76264FA2-A4B6-1600-0932-C77BDCB60171}"/>
              </a:ext>
            </a:extLst>
          </p:cNvPr>
          <p:cNvSpPr>
            <a:spLocks noGrp="1"/>
          </p:cNvSpPr>
          <p:nvPr>
            <p:ph sz="quarter" idx="10"/>
          </p:nvPr>
        </p:nvSpPr>
        <p:spPr/>
        <p:txBody>
          <a:bodyPr/>
          <a:lstStyle/>
          <a:p>
            <a:r>
              <a:rPr lang="en-US"/>
              <a:t>you can create a new array by</a:t>
            </a:r>
            <a:br>
              <a:rPr lang="en-US"/>
            </a:br>
            <a:r>
              <a:rPr lang="en-US" b="1">
                <a:solidFill>
                  <a:schemeClr val="accent1">
                    <a:lumMod val="50000"/>
                  </a:schemeClr>
                </a:solidFill>
              </a:rPr>
              <a:t>specifying its length inside of square brackets;</a:t>
            </a:r>
            <a:br>
              <a:rPr lang="en-US"/>
            </a:br>
            <a:r>
              <a:rPr lang="en-US"/>
              <a:t>if you do, the array is </a:t>
            </a:r>
            <a:r>
              <a:rPr lang="en-US" b="1"/>
              <a:t>zero-initialized</a:t>
            </a:r>
            <a:r>
              <a:rPr lang="en-US"/>
              <a:t> (all elements are initially set to zero)</a:t>
            </a:r>
          </a:p>
          <a:p>
            <a:pPr lvl="1"/>
            <a:r>
              <a:rPr lang="en-US">
                <a:solidFill>
                  <a:srgbClr val="000080"/>
                </a:solidFill>
                <a:latin typeface="+mj-lt"/>
              </a:rPr>
              <a:t>int</a:t>
            </a:r>
            <a:r>
              <a:rPr lang="en-US">
                <a:latin typeface="+mj-lt"/>
              </a:rPr>
              <a:t>[]     A = </a:t>
            </a:r>
            <a:r>
              <a:rPr lang="en-US">
                <a:solidFill>
                  <a:srgbClr val="0432FF"/>
                </a:solidFill>
                <a:latin typeface="+mj-lt"/>
              </a:rPr>
              <a:t>new</a:t>
            </a:r>
            <a:r>
              <a:rPr lang="en-US">
                <a:latin typeface="+mj-lt"/>
              </a:rPr>
              <a:t> </a:t>
            </a:r>
            <a:r>
              <a:rPr lang="en-US">
                <a:solidFill>
                  <a:srgbClr val="000080"/>
                </a:solidFill>
                <a:latin typeface="+mj-lt"/>
              </a:rPr>
              <a:t>int</a:t>
            </a:r>
            <a:r>
              <a:rPr lang="en-US">
                <a:latin typeface="+mj-lt"/>
              </a:rPr>
              <a:t>[</a:t>
            </a:r>
            <a:r>
              <a:rPr lang="en-US">
                <a:solidFill>
                  <a:srgbClr val="0CB5B5"/>
                </a:solidFill>
                <a:latin typeface="+mj-lt"/>
              </a:rPr>
              <a:t>8</a:t>
            </a:r>
            <a:r>
              <a:rPr lang="en-US">
                <a:latin typeface="+mj-lt"/>
              </a:rPr>
              <a:t>];     </a:t>
            </a:r>
            <a:r>
              <a:rPr lang="en-US">
                <a:solidFill>
                  <a:srgbClr val="007B00"/>
                </a:solidFill>
                <a:latin typeface="+mj-lt"/>
              </a:rPr>
              <a:t>// { 0, 0, 0, 0, 0, 0, 0, 0 }</a:t>
            </a:r>
          </a:p>
          <a:p>
            <a:pPr lvl="1"/>
            <a:r>
              <a:rPr lang="en-US">
                <a:solidFill>
                  <a:srgbClr val="000080"/>
                </a:solidFill>
                <a:latin typeface="+mj-lt"/>
              </a:rPr>
              <a:t>double</a:t>
            </a:r>
            <a:r>
              <a:rPr lang="en-US">
                <a:latin typeface="+mj-lt"/>
              </a:rPr>
              <a:t>[]  B = </a:t>
            </a:r>
            <a:r>
              <a:rPr lang="en-US">
                <a:solidFill>
                  <a:srgbClr val="0432FF"/>
                </a:solidFill>
                <a:latin typeface="Consolas"/>
              </a:rPr>
              <a:t>new</a:t>
            </a:r>
            <a:r>
              <a:rPr lang="en-US">
                <a:latin typeface="+mj-lt"/>
              </a:rPr>
              <a:t> </a:t>
            </a:r>
            <a:r>
              <a:rPr lang="en-US">
                <a:solidFill>
                  <a:srgbClr val="000080"/>
                </a:solidFill>
                <a:latin typeface="+mj-lt"/>
              </a:rPr>
              <a:t>double</a:t>
            </a:r>
            <a:r>
              <a:rPr lang="en-US">
                <a:latin typeface="+mj-lt"/>
              </a:rPr>
              <a:t>[</a:t>
            </a:r>
            <a:r>
              <a:rPr lang="en-US">
                <a:solidFill>
                  <a:srgbClr val="0CB5B5"/>
                </a:solidFill>
                <a:latin typeface="+mj-lt"/>
              </a:rPr>
              <a:t>1</a:t>
            </a:r>
            <a:r>
              <a:rPr lang="en-US">
                <a:latin typeface="+mj-lt"/>
              </a:rPr>
              <a:t>];  </a:t>
            </a:r>
            <a:r>
              <a:rPr lang="en-US">
                <a:solidFill>
                  <a:srgbClr val="007B00"/>
                </a:solidFill>
                <a:latin typeface="+mj-lt"/>
              </a:rPr>
              <a:t>// { 0.0 }</a:t>
            </a:r>
          </a:p>
          <a:p>
            <a:pPr lvl="1"/>
            <a:r>
              <a:rPr lang="en-US" err="1">
                <a:solidFill>
                  <a:srgbClr val="000080"/>
                </a:solidFill>
                <a:latin typeface="+mj-lt"/>
              </a:rPr>
              <a:t>boolean</a:t>
            </a:r>
            <a:r>
              <a:rPr lang="en-US">
                <a:latin typeface="+mj-lt"/>
              </a:rPr>
              <a:t>[] C = </a:t>
            </a:r>
            <a:r>
              <a:rPr lang="en-US">
                <a:solidFill>
                  <a:srgbClr val="0432FF"/>
                </a:solidFill>
                <a:latin typeface="Consolas"/>
              </a:rPr>
              <a:t>new</a:t>
            </a:r>
            <a:r>
              <a:rPr lang="en-US">
                <a:latin typeface="+mj-lt"/>
              </a:rPr>
              <a:t> </a:t>
            </a:r>
            <a:r>
              <a:rPr lang="en-US" err="1">
                <a:solidFill>
                  <a:srgbClr val="000080"/>
                </a:solidFill>
                <a:latin typeface="+mj-lt"/>
              </a:rPr>
              <a:t>boolean</a:t>
            </a:r>
            <a:r>
              <a:rPr lang="en-US">
                <a:latin typeface="+mj-lt"/>
              </a:rPr>
              <a:t>[</a:t>
            </a:r>
            <a:r>
              <a:rPr lang="en-US">
                <a:solidFill>
                  <a:srgbClr val="0CB5B5"/>
                </a:solidFill>
                <a:latin typeface="+mj-lt"/>
              </a:rPr>
              <a:t>2</a:t>
            </a:r>
            <a:r>
              <a:rPr lang="en-US">
                <a:latin typeface="+mj-lt"/>
              </a:rPr>
              <a:t>]; </a:t>
            </a:r>
            <a:r>
              <a:rPr lang="en-US">
                <a:solidFill>
                  <a:srgbClr val="007B00"/>
                </a:solidFill>
                <a:latin typeface="+mj-lt"/>
              </a:rPr>
              <a:t>// { false, false }</a:t>
            </a:r>
          </a:p>
          <a:p>
            <a:pPr lvl="1"/>
            <a:r>
              <a:rPr lang="en-US">
                <a:solidFill>
                  <a:srgbClr val="000080"/>
                </a:solidFill>
                <a:latin typeface="+mj-lt"/>
              </a:rPr>
              <a:t>char</a:t>
            </a:r>
            <a:r>
              <a:rPr lang="en-US">
                <a:latin typeface="+mj-lt"/>
              </a:rPr>
              <a:t>[]    D = </a:t>
            </a:r>
            <a:r>
              <a:rPr lang="en-US">
                <a:solidFill>
                  <a:srgbClr val="0432FF"/>
                </a:solidFill>
                <a:latin typeface="Consolas"/>
              </a:rPr>
              <a:t>new</a:t>
            </a:r>
            <a:r>
              <a:rPr lang="en-US">
                <a:latin typeface="+mj-lt"/>
              </a:rPr>
              <a:t> </a:t>
            </a:r>
            <a:r>
              <a:rPr lang="en-US">
                <a:solidFill>
                  <a:srgbClr val="000080"/>
                </a:solidFill>
                <a:latin typeface="+mj-lt"/>
              </a:rPr>
              <a:t>char</a:t>
            </a:r>
            <a:r>
              <a:rPr lang="en-US">
                <a:latin typeface="+mj-lt"/>
              </a:rPr>
              <a:t>[</a:t>
            </a:r>
            <a:r>
              <a:rPr lang="en-US">
                <a:solidFill>
                  <a:srgbClr val="0CB5B5"/>
                </a:solidFill>
                <a:latin typeface="+mj-lt"/>
              </a:rPr>
              <a:t>4</a:t>
            </a:r>
            <a:r>
              <a:rPr lang="en-US">
                <a:latin typeface="+mj-lt"/>
              </a:rPr>
              <a:t>];    </a:t>
            </a:r>
            <a:r>
              <a:rPr lang="en-US">
                <a:solidFill>
                  <a:srgbClr val="007B00"/>
                </a:solidFill>
                <a:latin typeface="+mj-lt"/>
              </a:rPr>
              <a:t>// { '\0', '\0', '\0', '\0' }</a:t>
            </a:r>
          </a:p>
          <a:p>
            <a:pPr lvl="1"/>
            <a:r>
              <a:rPr lang="en-US">
                <a:solidFill>
                  <a:srgbClr val="000080"/>
                </a:solidFill>
                <a:latin typeface="+mj-lt"/>
              </a:rPr>
              <a:t>String</a:t>
            </a:r>
            <a:r>
              <a:rPr lang="en-US">
                <a:latin typeface="+mj-lt"/>
              </a:rPr>
              <a:t>[]  E = </a:t>
            </a:r>
            <a:r>
              <a:rPr lang="en-US">
                <a:solidFill>
                  <a:srgbClr val="0432FF"/>
                </a:solidFill>
                <a:latin typeface="Consolas"/>
              </a:rPr>
              <a:t>new</a:t>
            </a:r>
            <a:r>
              <a:rPr lang="en-US">
                <a:latin typeface="+mj-lt"/>
              </a:rPr>
              <a:t> </a:t>
            </a:r>
            <a:r>
              <a:rPr lang="en-US">
                <a:solidFill>
                  <a:srgbClr val="000080"/>
                </a:solidFill>
                <a:latin typeface="+mj-lt"/>
              </a:rPr>
              <a:t>String</a:t>
            </a:r>
            <a:r>
              <a:rPr lang="en-US">
                <a:latin typeface="+mj-lt"/>
              </a:rPr>
              <a:t>[</a:t>
            </a:r>
            <a:r>
              <a:rPr lang="en-US">
                <a:solidFill>
                  <a:srgbClr val="0CB5B5"/>
                </a:solidFill>
                <a:latin typeface="+mj-lt"/>
              </a:rPr>
              <a:t>3</a:t>
            </a:r>
            <a:r>
              <a:rPr lang="en-US">
                <a:latin typeface="+mj-lt"/>
              </a:rPr>
              <a:t>];  </a:t>
            </a:r>
            <a:r>
              <a:rPr lang="en-US">
                <a:solidFill>
                  <a:srgbClr val="007B00"/>
                </a:solidFill>
                <a:latin typeface="+mj-lt"/>
              </a:rPr>
              <a:t>// { null, null, null }</a:t>
            </a:r>
          </a:p>
          <a:p>
            <a:pPr lvl="1"/>
            <a:endParaRPr lang="en-US"/>
          </a:p>
        </p:txBody>
      </p:sp>
    </p:spTree>
    <p:extLst>
      <p:ext uri="{BB962C8B-B14F-4D97-AF65-F5344CB8AC3E}">
        <p14:creationId xmlns:p14="http://schemas.microsoft.com/office/powerpoint/2010/main" val="765808154"/>
      </p:ext>
    </p:extLst>
  </p:cSld>
  <p:clrMapOvr>
    <a:masterClrMapping/>
  </p:clrMapOvr>
</p:sld>
</file>

<file path=ppt/slides/slide5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95183-D9B3-7999-63D9-AA6A7F40842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0B232A5-C9FA-1F36-6597-EB424D4FE7B2}"/>
              </a:ext>
            </a:extLst>
          </p:cNvPr>
          <p:cNvSpPr>
            <a:spLocks noGrp="1"/>
          </p:cNvSpPr>
          <p:nvPr>
            <p:ph type="title"/>
          </p:nvPr>
        </p:nvSpPr>
        <p:spPr/>
        <p:txBody>
          <a:bodyPr/>
          <a:lstStyle/>
          <a:p>
            <a:r>
              <a:rPr lang="en-US"/>
              <a:t>creating an array (2/2)</a:t>
            </a:r>
          </a:p>
        </p:txBody>
      </p:sp>
      <p:sp>
        <p:nvSpPr>
          <p:cNvPr id="4" name="Content Placeholder 3">
            <a:extLst>
              <a:ext uri="{FF2B5EF4-FFF2-40B4-BE49-F238E27FC236}">
                <a16:creationId xmlns:a16="http://schemas.microsoft.com/office/drawing/2014/main" id="{A92B77FF-CF9D-2B76-8757-5EEB33B3819C}"/>
              </a:ext>
            </a:extLst>
          </p:cNvPr>
          <p:cNvSpPr>
            <a:spLocks noGrp="1"/>
          </p:cNvSpPr>
          <p:nvPr>
            <p:ph sz="quarter" idx="10"/>
          </p:nvPr>
        </p:nvSpPr>
        <p:spPr/>
        <p:txBody>
          <a:bodyPr/>
          <a:lstStyle/>
          <a:p>
            <a:r>
              <a:rPr lang="en-US"/>
              <a:t>you can also create a new array by</a:t>
            </a:r>
            <a:br>
              <a:rPr lang="en-US"/>
            </a:br>
            <a:r>
              <a:rPr lang="en-US" b="1">
                <a:solidFill>
                  <a:schemeClr val="accent1">
                    <a:lumMod val="50000"/>
                  </a:schemeClr>
                </a:solidFill>
              </a:rPr>
              <a:t>specifying its elements inside of curly braces;</a:t>
            </a:r>
            <a:br>
              <a:rPr lang="en-US"/>
            </a:br>
            <a:r>
              <a:rPr lang="en-US"/>
              <a:t>if you do, the array's length is the number of elements you specified</a:t>
            </a:r>
          </a:p>
          <a:p>
            <a:pPr lvl="1"/>
            <a:r>
              <a:rPr lang="en-US">
                <a:solidFill>
                  <a:srgbClr val="000080"/>
                </a:solidFill>
                <a:latin typeface="+mj-lt"/>
              </a:rPr>
              <a:t>int</a:t>
            </a:r>
            <a:r>
              <a:rPr lang="en-US">
                <a:latin typeface="+mj-lt"/>
              </a:rPr>
              <a:t>[] array = { </a:t>
            </a:r>
            <a:r>
              <a:rPr lang="en-US">
                <a:solidFill>
                  <a:srgbClr val="0CB5B5"/>
                </a:solidFill>
                <a:latin typeface="+mj-lt"/>
              </a:rPr>
              <a:t>7</a:t>
            </a:r>
            <a:r>
              <a:rPr lang="en-US">
                <a:latin typeface="+mj-lt"/>
              </a:rPr>
              <a:t>, </a:t>
            </a:r>
            <a:r>
              <a:rPr lang="en-US">
                <a:solidFill>
                  <a:srgbClr val="0CB5B5"/>
                </a:solidFill>
                <a:latin typeface="+mj-lt"/>
              </a:rPr>
              <a:t>7</a:t>
            </a:r>
            <a:r>
              <a:rPr lang="en-US">
                <a:latin typeface="+mj-lt"/>
              </a:rPr>
              <a:t>, </a:t>
            </a:r>
            <a:r>
              <a:rPr lang="en-US">
                <a:solidFill>
                  <a:srgbClr val="0CB5B5"/>
                </a:solidFill>
                <a:latin typeface="+mj-lt"/>
              </a:rPr>
              <a:t>9</a:t>
            </a:r>
            <a:r>
              <a:rPr lang="en-US">
                <a:latin typeface="+mj-lt"/>
              </a:rPr>
              <a:t> }; </a:t>
            </a:r>
            <a:r>
              <a:rPr lang="en-US">
                <a:solidFill>
                  <a:srgbClr val="007B00"/>
                </a:solidFill>
                <a:latin typeface="+mj-lt"/>
              </a:rPr>
              <a:t>// </a:t>
            </a:r>
            <a:r>
              <a:rPr lang="en-US" b="1">
                <a:solidFill>
                  <a:srgbClr val="007B00"/>
                </a:solidFill>
                <a:latin typeface="+mj-lt"/>
              </a:rPr>
              <a:t>new int[3]</a:t>
            </a:r>
            <a:r>
              <a:rPr lang="en-US">
                <a:solidFill>
                  <a:srgbClr val="007B00"/>
                </a:solidFill>
                <a:latin typeface="+mj-lt"/>
              </a:rPr>
              <a:t> is implied</a:t>
            </a:r>
          </a:p>
          <a:p>
            <a:pPr lvl="2"/>
            <a:r>
              <a:rPr lang="en-US">
                <a:solidFill>
                  <a:srgbClr val="007B00"/>
                </a:solidFill>
                <a:latin typeface="+mj-lt"/>
              </a:rPr>
              <a:t>NOTE: this syntax can only be used for </a:t>
            </a:r>
            <a:r>
              <a:rPr lang="en-US" b="1">
                <a:solidFill>
                  <a:srgbClr val="007B00"/>
                </a:solidFill>
                <a:latin typeface="+mj-lt"/>
              </a:rPr>
              <a:t>creation</a:t>
            </a:r>
            <a:endParaRPr lang="en-US">
              <a:solidFill>
                <a:srgbClr val="007B00"/>
              </a:solidFill>
              <a:latin typeface="+mj-lt"/>
            </a:endParaRPr>
          </a:p>
          <a:p>
            <a:pPr lvl="3"/>
            <a:r>
              <a:rPr lang="en-US">
                <a:solidFill>
                  <a:srgbClr val="007B00"/>
                </a:solidFill>
                <a:latin typeface="+mj-lt"/>
              </a:rPr>
              <a:t>🙅 NOT okay to do later: array = { 4, 5, 6 };</a:t>
            </a:r>
          </a:p>
          <a:p>
            <a:pPr lvl="3"/>
            <a:r>
              <a:rPr lang="en-US">
                <a:solidFill>
                  <a:srgbClr val="007B00"/>
                </a:solidFill>
                <a:latin typeface="+mj-lt"/>
              </a:rPr>
              <a:t>🙆 OKAY to do later:</a:t>
            </a:r>
          </a:p>
          <a:p>
            <a:pPr lvl="4"/>
            <a:r>
              <a:rPr lang="en-US">
                <a:solidFill>
                  <a:srgbClr val="007B00"/>
                </a:solidFill>
                <a:latin typeface="+mj-lt"/>
              </a:rPr>
              <a:t>array[0] = 4;</a:t>
            </a:r>
          </a:p>
          <a:p>
            <a:pPr lvl="4"/>
            <a:r>
              <a:rPr lang="en-US">
                <a:solidFill>
                  <a:srgbClr val="007B00"/>
                </a:solidFill>
                <a:latin typeface="+mj-lt"/>
              </a:rPr>
              <a:t>array[1] = 5;</a:t>
            </a:r>
          </a:p>
          <a:p>
            <a:pPr lvl="4"/>
            <a:r>
              <a:rPr lang="en-US">
                <a:solidFill>
                  <a:srgbClr val="007B00"/>
                </a:solidFill>
                <a:latin typeface="+mj-lt"/>
              </a:rPr>
              <a:t>array[2] = 6;</a:t>
            </a:r>
          </a:p>
          <a:p>
            <a:pPr lvl="1"/>
            <a:r>
              <a:rPr lang="en-US">
                <a:solidFill>
                  <a:srgbClr val="000080"/>
                </a:solidFill>
                <a:latin typeface="+mj-lt"/>
              </a:rPr>
              <a:t>boolean</a:t>
            </a:r>
            <a:r>
              <a:rPr lang="en-US">
                <a:latin typeface="+mj-lt"/>
              </a:rPr>
              <a:t>[] array = </a:t>
            </a:r>
            <a:r>
              <a:rPr lang="en-US">
                <a:solidFill>
                  <a:srgbClr val="000080"/>
                </a:solidFill>
                <a:latin typeface="+mj-lt"/>
              </a:rPr>
              <a:t>{ </a:t>
            </a:r>
            <a:r>
              <a:rPr lang="en-US">
                <a:solidFill>
                  <a:srgbClr val="0000FF"/>
                </a:solidFill>
                <a:latin typeface="+mj-lt"/>
              </a:rPr>
              <a:t>true</a:t>
            </a:r>
            <a:r>
              <a:rPr lang="en-US">
                <a:latin typeface="+mj-lt"/>
              </a:rPr>
              <a:t> };</a:t>
            </a:r>
            <a:endParaRPr lang="en-US">
              <a:solidFill>
                <a:srgbClr val="007B00"/>
              </a:solidFill>
              <a:latin typeface="+mj-lt"/>
            </a:endParaRPr>
          </a:p>
          <a:p>
            <a:pPr lvl="1"/>
            <a:r>
              <a:rPr lang="en-US">
                <a:solidFill>
                  <a:srgbClr val="000080"/>
                </a:solidFill>
                <a:latin typeface="+mj-lt"/>
              </a:rPr>
              <a:t>String</a:t>
            </a:r>
            <a:r>
              <a:rPr lang="en-US">
                <a:latin typeface="+mj-lt"/>
              </a:rPr>
              <a:t>[] array = { </a:t>
            </a:r>
            <a:r>
              <a:rPr lang="en-US">
                <a:solidFill>
                  <a:srgbClr val="B60E0E"/>
                </a:solidFill>
                <a:latin typeface="+mj-lt"/>
              </a:rPr>
              <a:t>"hello"</a:t>
            </a:r>
            <a:r>
              <a:rPr lang="en-US">
                <a:latin typeface="+mj-lt"/>
              </a:rPr>
              <a:t>, </a:t>
            </a:r>
            <a:r>
              <a:rPr lang="en-US">
                <a:solidFill>
                  <a:srgbClr val="B60E0E"/>
                </a:solidFill>
                <a:latin typeface="+mj-lt"/>
              </a:rPr>
              <a:t>"world"</a:t>
            </a:r>
            <a:r>
              <a:rPr lang="en-US">
                <a:latin typeface="+mj-lt"/>
              </a:rPr>
              <a:t> };</a:t>
            </a:r>
            <a:endParaRPr lang="en-US">
              <a:solidFill>
                <a:srgbClr val="007B00"/>
              </a:solidFill>
              <a:latin typeface="+mj-lt"/>
            </a:endParaRPr>
          </a:p>
        </p:txBody>
      </p:sp>
    </p:spTree>
    <p:extLst>
      <p:ext uri="{BB962C8B-B14F-4D97-AF65-F5344CB8AC3E}">
        <p14:creationId xmlns:p14="http://schemas.microsoft.com/office/powerpoint/2010/main" val="182071238"/>
      </p:ext>
    </p:extLst>
  </p:cSld>
  <p:clrMapOvr>
    <a:masterClrMapping/>
  </p:clrMapOvr>
</p:sld>
</file>

<file path=ppt/slides/slide5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39440-7287-DC43-2BF0-FF293B529F4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959059-66F9-3B28-6988-FE4B714EFE9C}"/>
              </a:ext>
            </a:extLst>
          </p:cNvPr>
          <p:cNvSpPr>
            <a:spLocks noGrp="1"/>
          </p:cNvSpPr>
          <p:nvPr>
            <p:ph type="title"/>
          </p:nvPr>
        </p:nvSpPr>
        <p:spPr/>
        <p:txBody>
          <a:bodyPr/>
          <a:lstStyle/>
          <a:p>
            <a:r>
              <a:rPr lang="en-US"/>
              <a:t>String</a:t>
            </a:r>
          </a:p>
        </p:txBody>
      </p:sp>
    </p:spTree>
    <p:extLst>
      <p:ext uri="{BB962C8B-B14F-4D97-AF65-F5344CB8AC3E}">
        <p14:creationId xmlns:p14="http://schemas.microsoft.com/office/powerpoint/2010/main" val="1556741676"/>
      </p:ext>
    </p:extLst>
  </p:cSld>
  <p:clrMapOvr>
    <a:masterClrMapping/>
  </p:clrMapOvr>
</p:sld>
</file>

<file path=ppt/slides/slide5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7C30B-E79F-B1A1-D3DB-33A13AB50922}"/>
              </a:ext>
            </a:extLst>
          </p:cNvPr>
          <p:cNvSpPr>
            <a:spLocks noGrp="1"/>
          </p:cNvSpPr>
          <p:nvPr>
            <p:ph type="title"/>
          </p:nvPr>
        </p:nvSpPr>
        <p:spPr/>
        <p:txBody>
          <a:bodyPr/>
          <a:lstStyle/>
          <a:p>
            <a:r>
              <a:rPr lang="en-US">
                <a:solidFill>
                  <a:srgbClr val="000080"/>
                </a:solidFill>
                <a:latin typeface="Consolas" panose="020B0609020204030204" pitchFamily="49" charset="0"/>
              </a:rPr>
              <a:t>String</a:t>
            </a:r>
            <a:r>
              <a:rPr lang="en-US">
                <a:solidFill>
                  <a:srgbClr val="000080"/>
                </a:solidFill>
              </a:rPr>
              <a:t> </a:t>
            </a:r>
            <a:r>
              <a:rPr lang="en-US"/>
              <a:t>(1/2)</a:t>
            </a:r>
            <a:endParaRPr lang="en-US">
              <a:solidFill>
                <a:srgbClr val="000080"/>
              </a:solidFill>
            </a:endParaRPr>
          </a:p>
        </p:txBody>
      </p:sp>
      <p:sp>
        <p:nvSpPr>
          <p:cNvPr id="3" name="Content Placeholder 2">
            <a:extLst>
              <a:ext uri="{FF2B5EF4-FFF2-40B4-BE49-F238E27FC236}">
                <a16:creationId xmlns:a16="http://schemas.microsoft.com/office/drawing/2014/main" id="{222668E8-97E0-BF67-4DE3-5BAFA549F915}"/>
              </a:ext>
            </a:extLst>
          </p:cNvPr>
          <p:cNvSpPr>
            <a:spLocks noGrp="1"/>
          </p:cNvSpPr>
          <p:nvPr>
            <p:ph sz="quarter" idx="10"/>
          </p:nvPr>
        </p:nvSpPr>
        <p:spPr/>
        <p:txBody>
          <a:bodyPr/>
          <a:lstStyle/>
          <a:p>
            <a:r>
              <a:rPr lang="en-US"/>
              <a:t>a </a:t>
            </a:r>
            <a:r>
              <a:rPr lang="en-US" sz="1800" b="1" err="1">
                <a:solidFill>
                  <a:srgbClr val="000080"/>
                </a:solidFill>
                <a:effectLst/>
                <a:latin typeface="Consolas" panose="020B0609020204030204" pitchFamily="49" charset="0"/>
              </a:rPr>
              <a:t>String</a:t>
            </a:r>
            <a:r>
              <a:rPr lang="en-US"/>
              <a:t> is a sequence of characters</a:t>
            </a:r>
          </a:p>
          <a:p>
            <a:pPr lvl="1"/>
            <a:r>
              <a:rPr lang="en-US">
                <a:solidFill>
                  <a:srgbClr val="B71111"/>
                </a:solidFill>
                <a:latin typeface="+mj-lt"/>
              </a:rPr>
              <a:t>"Hello World"</a:t>
            </a:r>
            <a:r>
              <a:rPr lang="en-US">
                <a:latin typeface="+mj-lt"/>
              </a:rPr>
              <a:t>, </a:t>
            </a:r>
            <a:r>
              <a:rPr lang="en-US">
                <a:solidFill>
                  <a:srgbClr val="B71111"/>
                </a:solidFill>
                <a:latin typeface="+mj-lt"/>
              </a:rPr>
              <a:t>"Foo123"</a:t>
            </a:r>
          </a:p>
        </p:txBody>
      </p:sp>
    </p:spTree>
    <p:extLst>
      <p:ext uri="{BB962C8B-B14F-4D97-AF65-F5344CB8AC3E}">
        <p14:creationId xmlns:p14="http://schemas.microsoft.com/office/powerpoint/2010/main" val="3495518372"/>
      </p:ext>
    </p:extLst>
  </p:cSld>
  <p:clrMapOvr>
    <a:masterClrMapping/>
  </p:clrMapOvr>
</p:sld>
</file>

<file path=ppt/slides/slide5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7C30B-E79F-B1A1-D3DB-33A13AB50922}"/>
              </a:ext>
            </a:extLst>
          </p:cNvPr>
          <p:cNvSpPr>
            <a:spLocks noGrp="1"/>
          </p:cNvSpPr>
          <p:nvPr>
            <p:ph type="title"/>
          </p:nvPr>
        </p:nvSpPr>
        <p:spPr/>
        <p:txBody>
          <a:bodyPr/>
          <a:lstStyle/>
          <a:p>
            <a:r>
              <a:rPr lang="en-US">
                <a:solidFill>
                  <a:srgbClr val="000080"/>
                </a:solidFill>
                <a:latin typeface="Consolas" panose="020B0609020204030204" pitchFamily="49" charset="0"/>
              </a:rPr>
              <a:t>String</a:t>
            </a:r>
            <a:r>
              <a:rPr lang="en-US">
                <a:solidFill>
                  <a:srgbClr val="000080"/>
                </a:solidFill>
              </a:rPr>
              <a:t> </a:t>
            </a:r>
            <a:r>
              <a:rPr lang="en-US"/>
              <a:t>(2/2)</a:t>
            </a:r>
            <a:endParaRPr lang="en-US">
              <a:solidFill>
                <a:srgbClr val="000080"/>
              </a:solidFill>
            </a:endParaRPr>
          </a:p>
        </p:txBody>
      </p:sp>
      <p:sp>
        <p:nvSpPr>
          <p:cNvPr id="3" name="Content Placeholder 2">
            <a:extLst>
              <a:ext uri="{FF2B5EF4-FFF2-40B4-BE49-F238E27FC236}">
                <a16:creationId xmlns:a16="http://schemas.microsoft.com/office/drawing/2014/main" id="{222668E8-97E0-BF67-4DE3-5BAFA549F915}"/>
              </a:ext>
            </a:extLst>
          </p:cNvPr>
          <p:cNvSpPr>
            <a:spLocks noGrp="1"/>
          </p:cNvSpPr>
          <p:nvPr>
            <p:ph sz="quarter" idx="10"/>
          </p:nvPr>
        </p:nvSpPr>
        <p:spPr/>
        <p:txBody>
          <a:bodyPr/>
          <a:lstStyle/>
          <a:p>
            <a:r>
              <a:rPr lang="en-US"/>
              <a:t>you can create a new String by</a:t>
            </a:r>
            <a:br>
              <a:rPr lang="en-US"/>
            </a:br>
            <a:r>
              <a:rPr lang="en-US" b="1">
                <a:solidFill>
                  <a:schemeClr val="accent1">
                    <a:lumMod val="50000"/>
                  </a:schemeClr>
                </a:solidFill>
              </a:rPr>
              <a:t>specifying its elements inside of double quotation marks</a:t>
            </a:r>
          </a:p>
          <a:p>
            <a:pPr lvl="1">
              <a:buClr>
                <a:srgbClr val="FFFFFF">
                  <a:lumMod val="65000"/>
                </a:srgbClr>
              </a:buClr>
            </a:pPr>
            <a:r>
              <a:rPr lang="en-US">
                <a:solidFill>
                  <a:srgbClr val="000080"/>
                </a:solidFill>
                <a:latin typeface="Consolas"/>
              </a:rPr>
              <a:t>String</a:t>
            </a:r>
            <a:r>
              <a:rPr lang="en-US">
                <a:solidFill>
                  <a:srgbClr val="000000"/>
                </a:solidFill>
                <a:latin typeface="Consolas"/>
              </a:rPr>
              <a:t> string = </a:t>
            </a:r>
            <a:r>
              <a:rPr lang="en-US">
                <a:solidFill>
                  <a:srgbClr val="B71111"/>
                </a:solidFill>
                <a:latin typeface="Consolas"/>
              </a:rPr>
              <a:t>"Hello"</a:t>
            </a:r>
            <a:r>
              <a:rPr lang="en-US">
                <a:solidFill>
                  <a:srgbClr val="000000"/>
                </a:solidFill>
                <a:latin typeface="Consolas"/>
              </a:rPr>
              <a:t>;</a:t>
            </a:r>
          </a:p>
          <a:p>
            <a:pPr marL="0" indent="0">
              <a:buNone/>
            </a:pPr>
            <a:endParaRPr lang="en-US">
              <a:solidFill>
                <a:srgbClr val="000080"/>
              </a:solidFill>
              <a:latin typeface="Consolas" panose="020B0609020204030204" pitchFamily="49" charset="0"/>
            </a:endParaRPr>
          </a:p>
          <a:p>
            <a:r>
              <a:rPr lang="en-US" sz="1800">
                <a:solidFill>
                  <a:srgbClr val="000080"/>
                </a:solidFill>
                <a:effectLst/>
                <a:latin typeface="Consolas" panose="020B0609020204030204" pitchFamily="49" charset="0"/>
              </a:rPr>
              <a:t>String</a:t>
            </a:r>
            <a:r>
              <a:rPr lang="en-US"/>
              <a:t> has some useful instance methods (see Docs)</a:t>
            </a:r>
          </a:p>
          <a:p>
            <a:pPr lvl="1"/>
            <a:r>
              <a:rPr lang="en-US" err="1">
                <a:solidFill>
                  <a:srgbClr val="000080"/>
                </a:solidFill>
                <a:effectLst/>
                <a:latin typeface="+mj-lt"/>
              </a:rPr>
              <a:t>PRINT</a:t>
            </a:r>
            <a:r>
              <a:rPr lang="en-US">
                <a:latin typeface="+mj-lt"/>
              </a:rPr>
              <a:t>(</a:t>
            </a:r>
            <a:r>
              <a:rPr lang="en-US" err="1">
                <a:effectLst/>
                <a:latin typeface="+mj-lt"/>
              </a:rPr>
              <a:t>string</a:t>
            </a:r>
            <a:r>
              <a:rPr lang="en-US" err="1">
                <a:latin typeface="+mj-lt"/>
              </a:rPr>
              <a:t>.</a:t>
            </a:r>
            <a:r>
              <a:rPr lang="en-US" err="1">
                <a:effectLst/>
                <a:latin typeface="+mj-lt"/>
              </a:rPr>
              <a:t>length</a:t>
            </a:r>
            <a:r>
              <a:rPr lang="en-US">
                <a:latin typeface="+mj-lt"/>
              </a:rPr>
              <a:t>()); </a:t>
            </a:r>
            <a:r>
              <a:rPr lang="en-US">
                <a:solidFill>
                  <a:srgbClr val="007B00"/>
                </a:solidFill>
                <a:effectLst/>
                <a:latin typeface="+mj-lt"/>
              </a:rPr>
              <a:t>// 5</a:t>
            </a:r>
            <a:r>
              <a:rPr lang="en-US">
                <a:solidFill>
                  <a:srgbClr val="007B00"/>
                </a:solidFill>
                <a:latin typeface="+mj-lt"/>
              </a:rPr>
              <a:t> </a:t>
            </a:r>
          </a:p>
          <a:p>
            <a:pPr lvl="1"/>
            <a:r>
              <a:rPr lang="en-US" err="1">
                <a:solidFill>
                  <a:srgbClr val="000080"/>
                </a:solidFill>
                <a:effectLst/>
                <a:latin typeface="+mj-lt"/>
              </a:rPr>
              <a:t>PRINT</a:t>
            </a:r>
            <a:r>
              <a:rPr lang="en-US">
                <a:latin typeface="+mj-lt"/>
              </a:rPr>
              <a:t>(</a:t>
            </a:r>
            <a:r>
              <a:rPr lang="en-US" err="1">
                <a:effectLst/>
                <a:latin typeface="+mj-lt"/>
              </a:rPr>
              <a:t>string</a:t>
            </a:r>
            <a:r>
              <a:rPr lang="en-US" err="1">
                <a:latin typeface="+mj-lt"/>
              </a:rPr>
              <a:t>.</a:t>
            </a:r>
            <a:r>
              <a:rPr lang="en-US" err="1">
                <a:effectLst/>
                <a:latin typeface="+mj-lt"/>
              </a:rPr>
              <a:t>charAt</a:t>
            </a:r>
            <a:r>
              <a:rPr lang="en-US">
                <a:latin typeface="+mj-lt"/>
              </a:rPr>
              <a:t>(</a:t>
            </a:r>
            <a:r>
              <a:rPr lang="en-US">
                <a:solidFill>
                  <a:schemeClr val="accent5">
                    <a:lumMod val="75000"/>
                  </a:schemeClr>
                </a:solidFill>
                <a:effectLst/>
                <a:latin typeface="+mj-lt"/>
              </a:rPr>
              <a:t>1</a:t>
            </a:r>
            <a:r>
              <a:rPr lang="en-US">
                <a:latin typeface="+mj-lt"/>
              </a:rPr>
              <a:t>)); </a:t>
            </a:r>
            <a:r>
              <a:rPr lang="en-US">
                <a:solidFill>
                  <a:srgbClr val="007B00"/>
                </a:solidFill>
                <a:effectLst/>
                <a:latin typeface="+mj-lt"/>
              </a:rPr>
              <a:t>// 'e'</a:t>
            </a:r>
            <a:r>
              <a:rPr lang="en-US">
                <a:latin typeface="+mj-lt"/>
              </a:rPr>
              <a:t> </a:t>
            </a:r>
          </a:p>
          <a:p>
            <a:pPr lvl="1"/>
            <a:r>
              <a:rPr lang="en-US" err="1">
                <a:solidFill>
                  <a:srgbClr val="000080"/>
                </a:solidFill>
                <a:effectLst/>
                <a:latin typeface="+mj-lt"/>
              </a:rPr>
              <a:t>PRINT</a:t>
            </a:r>
            <a:r>
              <a:rPr lang="en-US">
                <a:latin typeface="+mj-lt"/>
              </a:rPr>
              <a:t>(</a:t>
            </a:r>
            <a:r>
              <a:rPr lang="en-US" err="1">
                <a:effectLst/>
                <a:latin typeface="+mj-lt"/>
              </a:rPr>
              <a:t>string</a:t>
            </a:r>
            <a:r>
              <a:rPr lang="en-US" err="1">
                <a:latin typeface="+mj-lt"/>
              </a:rPr>
              <a:t>.</a:t>
            </a:r>
            <a:r>
              <a:rPr lang="en-US" err="1">
                <a:effectLst/>
                <a:latin typeface="+mj-lt"/>
              </a:rPr>
              <a:t>substring</a:t>
            </a:r>
            <a:r>
              <a:rPr lang="en-US">
                <a:latin typeface="+mj-lt"/>
              </a:rPr>
              <a:t>(</a:t>
            </a:r>
            <a:r>
              <a:rPr lang="en-US">
                <a:solidFill>
                  <a:schemeClr val="accent5">
                    <a:lumMod val="75000"/>
                  </a:schemeClr>
                </a:solidFill>
                <a:latin typeface="+mj-lt"/>
              </a:rPr>
              <a:t>1</a:t>
            </a:r>
            <a:r>
              <a:rPr lang="en-US">
                <a:latin typeface="+mj-lt"/>
              </a:rPr>
              <a:t>, </a:t>
            </a:r>
            <a:r>
              <a:rPr lang="en-US">
                <a:solidFill>
                  <a:schemeClr val="accent5">
                    <a:lumMod val="75000"/>
                  </a:schemeClr>
                </a:solidFill>
                <a:effectLst/>
                <a:latin typeface="+mj-lt"/>
              </a:rPr>
              <a:t>3</a:t>
            </a:r>
            <a:r>
              <a:rPr lang="en-US">
                <a:latin typeface="+mj-lt"/>
              </a:rPr>
              <a:t>)); </a:t>
            </a:r>
            <a:r>
              <a:rPr lang="en-US">
                <a:solidFill>
                  <a:srgbClr val="007B00"/>
                </a:solidFill>
                <a:effectLst/>
                <a:latin typeface="+mj-lt"/>
              </a:rPr>
              <a:t>// "el"</a:t>
            </a:r>
          </a:p>
          <a:p>
            <a:pPr lvl="2"/>
            <a:r>
              <a:rPr lang="en-US">
                <a:solidFill>
                  <a:srgbClr val="007B00"/>
                </a:solidFill>
                <a:latin typeface="+mj-lt"/>
              </a:rPr>
              <a:t>// [start, one_past_end)</a:t>
            </a:r>
          </a:p>
        </p:txBody>
      </p:sp>
    </p:spTree>
    <p:extLst>
      <p:ext uri="{BB962C8B-B14F-4D97-AF65-F5344CB8AC3E}">
        <p14:creationId xmlns:p14="http://schemas.microsoft.com/office/powerpoint/2010/main" val="3174266713"/>
      </p:ext>
    </p:extLst>
  </p:cSld>
  <p:clrMapOvr>
    <a:masterClrMapping/>
  </p:clrMapOvr>
</p:sld>
</file>

<file path=ppt/slides/slide5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64882-3508-2153-1B50-9FDD94A77F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C845F0-5059-82FB-CEF3-9470EECC3260}"/>
              </a:ext>
            </a:extLst>
          </p:cNvPr>
          <p:cNvSpPr>
            <a:spLocks noGrp="1"/>
          </p:cNvSpPr>
          <p:nvPr>
            <p:ph type="title"/>
          </p:nvPr>
        </p:nvSpPr>
        <p:spPr/>
        <p:txBody>
          <a:bodyPr/>
          <a:lstStyle/>
          <a:p>
            <a:r>
              <a:rPr lang="en-US">
                <a:solidFill>
                  <a:srgbClr val="000080"/>
                </a:solidFill>
                <a:latin typeface="Consolas" panose="020B0609020204030204" pitchFamily="49" charset="0"/>
              </a:rPr>
              <a:t>String</a:t>
            </a:r>
            <a:r>
              <a:rPr lang="en-US"/>
              <a:t> concatenation (1/2)</a:t>
            </a:r>
          </a:p>
        </p:txBody>
      </p:sp>
      <p:sp>
        <p:nvSpPr>
          <p:cNvPr id="3" name="Content Placeholder 2">
            <a:extLst>
              <a:ext uri="{FF2B5EF4-FFF2-40B4-BE49-F238E27FC236}">
                <a16:creationId xmlns:a16="http://schemas.microsoft.com/office/drawing/2014/main" id="{AACD4F7F-C7F8-4EEF-D6C6-7C245B2CE8A1}"/>
              </a:ext>
            </a:extLst>
          </p:cNvPr>
          <p:cNvSpPr>
            <a:spLocks noGrp="1"/>
          </p:cNvSpPr>
          <p:nvPr>
            <p:ph sz="quarter" idx="10"/>
          </p:nvPr>
        </p:nvSpPr>
        <p:spPr/>
        <p:txBody>
          <a:bodyPr/>
          <a:lstStyle/>
          <a:p>
            <a:r>
              <a:rPr lang="en-US" b="1">
                <a:solidFill>
                  <a:schemeClr val="accent1">
                    <a:lumMod val="50000"/>
                  </a:schemeClr>
                </a:solidFill>
              </a:rPr>
              <a:t>+ concatenates two </a:t>
            </a:r>
            <a:r>
              <a:rPr lang="en-US" b="1">
                <a:solidFill>
                  <a:schemeClr val="accent1">
                    <a:lumMod val="50000"/>
                  </a:schemeClr>
                </a:solidFill>
                <a:latin typeface="Consolas" panose="020B0609020204030204" pitchFamily="49" charset="0"/>
              </a:rPr>
              <a:t>String</a:t>
            </a:r>
            <a:r>
              <a:rPr lang="en-US" b="1">
                <a:solidFill>
                  <a:schemeClr val="accent1">
                    <a:lumMod val="50000"/>
                  </a:schemeClr>
                </a:solidFill>
              </a:rPr>
              <a:t>'s</a:t>
            </a:r>
            <a:endParaRPr lang="en-US">
              <a:latin typeface="Consolas" panose="020B0609020204030204" pitchFamily="49" charset="0"/>
            </a:endParaRPr>
          </a:p>
          <a:p>
            <a:pPr lvl="1"/>
            <a:r>
              <a:rPr lang="en-US">
                <a:solidFill>
                  <a:srgbClr val="007B00"/>
                </a:solidFill>
                <a:effectLst/>
                <a:latin typeface="+mj-lt"/>
              </a:rPr>
              <a:t>// String</a:t>
            </a:r>
            <a:r>
              <a:rPr lang="en-US">
                <a:solidFill>
                  <a:srgbClr val="007B00"/>
                </a:solidFill>
                <a:latin typeface="+mj-lt"/>
              </a:rPr>
              <a:t> foo </a:t>
            </a:r>
            <a:r>
              <a:rPr lang="en-US">
                <a:solidFill>
                  <a:srgbClr val="007B00"/>
                </a:solidFill>
                <a:effectLst/>
                <a:latin typeface="+mj-lt"/>
              </a:rPr>
              <a:t>=</a:t>
            </a:r>
            <a:r>
              <a:rPr lang="en-US">
                <a:solidFill>
                  <a:srgbClr val="007B00"/>
                </a:solidFill>
                <a:latin typeface="+mj-lt"/>
              </a:rPr>
              <a:t> </a:t>
            </a:r>
            <a:r>
              <a:rPr lang="en-US">
                <a:solidFill>
                  <a:srgbClr val="007B00"/>
                </a:solidFill>
                <a:effectLst/>
                <a:latin typeface="+mj-lt"/>
              </a:rPr>
              <a:t>"Hello"</a:t>
            </a:r>
            <a:r>
              <a:rPr lang="en-US">
                <a:solidFill>
                  <a:srgbClr val="007B00"/>
                </a:solidFill>
                <a:latin typeface="+mj-lt"/>
              </a:rPr>
              <a:t>.</a:t>
            </a:r>
            <a:r>
              <a:rPr lang="en-US" err="1">
                <a:solidFill>
                  <a:srgbClr val="007B00"/>
                </a:solidFill>
                <a:effectLst/>
                <a:latin typeface="+mj-lt"/>
              </a:rPr>
              <a:t>concat</a:t>
            </a:r>
            <a:r>
              <a:rPr lang="en-US">
                <a:solidFill>
                  <a:srgbClr val="007B00"/>
                </a:solidFill>
                <a:latin typeface="+mj-lt"/>
              </a:rPr>
              <a:t>(</a:t>
            </a:r>
            <a:r>
              <a:rPr lang="en-US">
                <a:solidFill>
                  <a:srgbClr val="007B00"/>
                </a:solidFill>
                <a:effectLst/>
                <a:latin typeface="+mj-lt"/>
              </a:rPr>
              <a:t>"World"</a:t>
            </a:r>
            <a:r>
              <a:rPr lang="en-US">
                <a:solidFill>
                  <a:srgbClr val="007B00"/>
                </a:solidFill>
                <a:latin typeface="+mj-lt"/>
              </a:rPr>
              <a:t>);</a:t>
            </a:r>
            <a:br>
              <a:rPr lang="en-US">
                <a:latin typeface="+mj-lt"/>
              </a:rPr>
            </a:br>
            <a:r>
              <a:rPr lang="en-US">
                <a:latin typeface="Consolas" panose="020B0609020204030204" pitchFamily="49" charset="0"/>
              </a:rPr>
              <a:t>   </a:t>
            </a:r>
            <a:r>
              <a:rPr lang="en-US">
                <a:solidFill>
                  <a:srgbClr val="000080"/>
                </a:solidFill>
                <a:latin typeface="Consolas" panose="020B0609020204030204" pitchFamily="49" charset="0"/>
              </a:rPr>
              <a:t>String</a:t>
            </a:r>
            <a:r>
              <a:rPr lang="en-US">
                <a:latin typeface="Consolas" panose="020B0609020204030204" pitchFamily="49" charset="0"/>
              </a:rPr>
              <a:t> foo = </a:t>
            </a:r>
            <a:r>
              <a:rPr lang="en-US">
                <a:solidFill>
                  <a:srgbClr val="B71111"/>
                </a:solidFill>
                <a:latin typeface="Consolas" panose="020B0609020204030204" pitchFamily="49" charset="0"/>
              </a:rPr>
              <a:t>"Hello"</a:t>
            </a:r>
            <a:r>
              <a:rPr lang="en-US">
                <a:latin typeface="Consolas" panose="020B0609020204030204" pitchFamily="49" charset="0"/>
              </a:rPr>
              <a:t> + </a:t>
            </a:r>
            <a:r>
              <a:rPr lang="en-US">
                <a:solidFill>
                  <a:srgbClr val="B71111"/>
                </a:solidFill>
                <a:latin typeface="Consolas" panose="020B0609020204030204" pitchFamily="49" charset="0"/>
              </a:rPr>
              <a:t>"World"</a:t>
            </a:r>
            <a:r>
              <a:rPr lang="en-US">
                <a:latin typeface="Consolas" panose="020B0609020204030204" pitchFamily="49" charset="0"/>
              </a:rPr>
              <a:t>; </a:t>
            </a:r>
            <a:r>
              <a:rPr lang="en-US">
                <a:solidFill>
                  <a:srgbClr val="007B00"/>
                </a:solidFill>
                <a:latin typeface="Consolas" panose="020B0609020204030204" pitchFamily="49" charset="0"/>
              </a:rPr>
              <a:t>// "HelloWorld"</a:t>
            </a:r>
            <a:endParaRPr lang="en-US">
              <a:solidFill>
                <a:srgbClr val="007B00"/>
              </a:solidFill>
              <a:latin typeface="+mj-lt"/>
            </a:endParaRPr>
          </a:p>
          <a:p>
            <a:endParaRPr lang="en-US">
              <a:latin typeface="Consolas" panose="020B0609020204030204" pitchFamily="49" charset="0"/>
            </a:endParaRPr>
          </a:p>
          <a:p>
            <a:r>
              <a:rPr lang="en-US" b="1">
                <a:solidFill>
                  <a:schemeClr val="accent1">
                    <a:lumMod val="50000"/>
                  </a:schemeClr>
                </a:solidFill>
              </a:rPr>
              <a:t>it also does some conversions for you</a:t>
            </a:r>
            <a:br>
              <a:rPr lang="en-US" b="1">
                <a:solidFill>
                  <a:schemeClr val="accent1">
                    <a:lumMod val="50000"/>
                  </a:schemeClr>
                </a:solidFill>
              </a:rPr>
            </a:br>
            <a:r>
              <a:rPr lang="en-US" b="1">
                <a:solidFill>
                  <a:schemeClr val="accent1">
                    <a:lumMod val="50000"/>
                  </a:schemeClr>
                </a:solidFill>
              </a:rPr>
              <a:t>(very convenient; kind of confusing)</a:t>
            </a:r>
            <a:endParaRPr lang="en-US"/>
          </a:p>
          <a:p>
            <a:pPr lvl="1"/>
            <a:r>
              <a:rPr lang="en-US">
                <a:solidFill>
                  <a:srgbClr val="007B00"/>
                </a:solidFill>
                <a:effectLst/>
                <a:latin typeface="+mj-lt"/>
              </a:rPr>
              <a:t>// String</a:t>
            </a:r>
            <a:r>
              <a:rPr lang="en-US">
                <a:solidFill>
                  <a:srgbClr val="007B00"/>
                </a:solidFill>
                <a:latin typeface="+mj-lt"/>
              </a:rPr>
              <a:t> foo </a:t>
            </a:r>
            <a:r>
              <a:rPr lang="en-US">
                <a:solidFill>
                  <a:srgbClr val="007B00"/>
                </a:solidFill>
                <a:effectLst/>
                <a:latin typeface="+mj-lt"/>
              </a:rPr>
              <a:t>=</a:t>
            </a:r>
            <a:r>
              <a:rPr lang="en-US">
                <a:solidFill>
                  <a:srgbClr val="007B00"/>
                </a:solidFill>
                <a:latin typeface="+mj-lt"/>
              </a:rPr>
              <a:t> </a:t>
            </a:r>
            <a:r>
              <a:rPr lang="en-US">
                <a:solidFill>
                  <a:srgbClr val="007B00"/>
                </a:solidFill>
                <a:effectLst/>
                <a:latin typeface="+mj-lt"/>
              </a:rPr>
              <a:t>"Hello"</a:t>
            </a:r>
            <a:r>
              <a:rPr lang="en-US">
                <a:solidFill>
                  <a:srgbClr val="007B00"/>
                </a:solidFill>
                <a:latin typeface="+mj-lt"/>
              </a:rPr>
              <a:t>.</a:t>
            </a:r>
            <a:r>
              <a:rPr lang="en-US" err="1">
                <a:solidFill>
                  <a:srgbClr val="007B00"/>
                </a:solidFill>
                <a:effectLst/>
                <a:latin typeface="+mj-lt"/>
              </a:rPr>
              <a:t>concat</a:t>
            </a:r>
            <a:r>
              <a:rPr lang="en-US">
                <a:solidFill>
                  <a:srgbClr val="007B00"/>
                </a:solidFill>
                <a:latin typeface="+mj-lt"/>
              </a:rPr>
              <a:t>(</a:t>
            </a:r>
            <a:r>
              <a:rPr lang="en-US" err="1">
                <a:solidFill>
                  <a:srgbClr val="007B00"/>
                </a:solidFill>
                <a:effectLst/>
                <a:latin typeface="+mj-lt"/>
              </a:rPr>
              <a:t>Integer.toString</a:t>
            </a:r>
            <a:r>
              <a:rPr lang="en-US">
                <a:solidFill>
                  <a:srgbClr val="007B00"/>
                </a:solidFill>
                <a:effectLst/>
                <a:latin typeface="+mj-lt"/>
              </a:rPr>
              <a:t>(2)</a:t>
            </a:r>
            <a:r>
              <a:rPr lang="en-US">
                <a:solidFill>
                  <a:srgbClr val="007B00"/>
                </a:solidFill>
                <a:latin typeface="+mj-lt"/>
              </a:rPr>
              <a:t>);</a:t>
            </a:r>
            <a:br>
              <a:rPr lang="en-US">
                <a:latin typeface="+mj-lt"/>
              </a:rPr>
            </a:br>
            <a:r>
              <a:rPr lang="en-US">
                <a:latin typeface="Consolas" panose="020B0609020204030204" pitchFamily="49" charset="0"/>
              </a:rPr>
              <a:t>   </a:t>
            </a:r>
            <a:r>
              <a:rPr lang="en-US">
                <a:solidFill>
                  <a:srgbClr val="000080"/>
                </a:solidFill>
                <a:latin typeface="Consolas" panose="020B0609020204030204" pitchFamily="49" charset="0"/>
              </a:rPr>
              <a:t>String</a:t>
            </a:r>
            <a:r>
              <a:rPr lang="en-US">
                <a:latin typeface="Consolas" panose="020B0609020204030204" pitchFamily="49" charset="0"/>
              </a:rPr>
              <a:t> foo = </a:t>
            </a:r>
            <a:r>
              <a:rPr lang="en-US">
                <a:solidFill>
                  <a:srgbClr val="B71111"/>
                </a:solidFill>
                <a:latin typeface="Consolas" panose="020B0609020204030204" pitchFamily="49" charset="0"/>
              </a:rPr>
              <a:t>"Hello"</a:t>
            </a:r>
            <a:r>
              <a:rPr lang="en-US">
                <a:latin typeface="Consolas" panose="020B0609020204030204" pitchFamily="49" charset="0"/>
              </a:rPr>
              <a:t> + </a:t>
            </a:r>
            <a:r>
              <a:rPr lang="en-US">
                <a:solidFill>
                  <a:srgbClr val="02B5B5"/>
                </a:solidFill>
                <a:effectLst/>
                <a:latin typeface="+mj-lt"/>
              </a:rPr>
              <a:t>2</a:t>
            </a:r>
            <a:r>
              <a:rPr lang="en-US">
                <a:latin typeface="Consolas" panose="020B0609020204030204" pitchFamily="49" charset="0"/>
              </a:rPr>
              <a:t>; </a:t>
            </a:r>
            <a:r>
              <a:rPr lang="en-US">
                <a:solidFill>
                  <a:srgbClr val="007B00"/>
                </a:solidFill>
                <a:latin typeface="Consolas" panose="020B0609020204030204" pitchFamily="49" charset="0"/>
              </a:rPr>
              <a:t>// "Hello2"</a:t>
            </a:r>
            <a:endParaRPr lang="en-US">
              <a:solidFill>
                <a:srgbClr val="007B00"/>
              </a:solidFill>
            </a:endParaRPr>
          </a:p>
          <a:p>
            <a:pPr marL="342886" lvl="1" indent="0">
              <a:buNone/>
            </a:pPr>
            <a:endParaRPr lang="en-US">
              <a:latin typeface="+mj-lt"/>
            </a:endParaRPr>
          </a:p>
          <a:p>
            <a:endParaRPr lang="en-US"/>
          </a:p>
        </p:txBody>
      </p:sp>
    </p:spTree>
    <p:extLst>
      <p:ext uri="{BB962C8B-B14F-4D97-AF65-F5344CB8AC3E}">
        <p14:creationId xmlns:p14="http://schemas.microsoft.com/office/powerpoint/2010/main" val="2615573385"/>
      </p:ext>
    </p:extLst>
  </p:cSld>
  <p:clrMapOvr>
    <a:masterClrMapping/>
  </p:clrMapOvr>
</p:sld>
</file>

<file path=ppt/slides/slide5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5DE36-C35C-52D1-10BD-D47F49913F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B40642-EAF4-4969-3554-863D49D32616}"/>
              </a:ext>
            </a:extLst>
          </p:cNvPr>
          <p:cNvSpPr>
            <a:spLocks noGrp="1"/>
          </p:cNvSpPr>
          <p:nvPr>
            <p:ph type="title"/>
          </p:nvPr>
        </p:nvSpPr>
        <p:spPr/>
        <p:txBody>
          <a:bodyPr/>
          <a:lstStyle/>
          <a:p>
            <a:r>
              <a:rPr lang="en-US">
                <a:solidFill>
                  <a:srgbClr val="000080"/>
                </a:solidFill>
                <a:latin typeface="Consolas" panose="020B0609020204030204" pitchFamily="49" charset="0"/>
              </a:rPr>
              <a:t>String</a:t>
            </a:r>
            <a:r>
              <a:rPr lang="en-US"/>
              <a:t> concatenation (2/2)</a:t>
            </a:r>
          </a:p>
        </p:txBody>
      </p:sp>
      <p:sp>
        <p:nvSpPr>
          <p:cNvPr id="3" name="Content Placeholder 2">
            <a:extLst>
              <a:ext uri="{FF2B5EF4-FFF2-40B4-BE49-F238E27FC236}">
                <a16:creationId xmlns:a16="http://schemas.microsoft.com/office/drawing/2014/main" id="{1A21B3C5-E1ED-C930-127E-64C2DDF986DB}"/>
              </a:ext>
            </a:extLst>
          </p:cNvPr>
          <p:cNvSpPr>
            <a:spLocks noGrp="1"/>
          </p:cNvSpPr>
          <p:nvPr>
            <p:ph sz="quarter" idx="10"/>
          </p:nvPr>
        </p:nvSpPr>
        <p:spPr/>
        <p:txBody>
          <a:bodyPr/>
          <a:lstStyle/>
          <a:p>
            <a:r>
              <a:rPr lang="en-US">
                <a:solidFill>
                  <a:schemeClr val="accent1">
                    <a:lumMod val="75000"/>
                  </a:schemeClr>
                </a:solidFill>
                <a:latin typeface="Consolas" panose="020B0609020204030204" pitchFamily="49" charset="0"/>
                <a:cs typeface="Consolas" panose="020B0609020204030204" pitchFamily="49" charset="0"/>
              </a:rPr>
              <a:t>stringA + foo</a:t>
            </a:r>
            <a:r>
              <a:rPr lang="en-US">
                <a:solidFill>
                  <a:schemeClr val="accent1">
                    <a:lumMod val="75000"/>
                  </a:schemeClr>
                </a:solidFill>
              </a:rPr>
              <a:t> is the ONLY example of weird</a:t>
            </a:r>
            <a:br>
              <a:rPr lang="en-US">
                <a:solidFill>
                  <a:schemeClr val="accent1">
                    <a:lumMod val="75000"/>
                  </a:schemeClr>
                </a:solidFill>
              </a:rPr>
            </a:br>
            <a:r>
              <a:rPr lang="en-US" b="1">
                <a:solidFill>
                  <a:schemeClr val="accent1">
                    <a:lumMod val="75000"/>
                  </a:schemeClr>
                </a:solidFill>
              </a:rPr>
              <a:t>operator overloading </a:t>
            </a:r>
            <a:r>
              <a:rPr lang="en-US">
                <a:solidFill>
                  <a:schemeClr val="accent1">
                    <a:lumMod val="75000"/>
                  </a:schemeClr>
                </a:solidFill>
              </a:rPr>
              <a:t>in Java</a:t>
            </a:r>
          </a:p>
          <a:p>
            <a:pPr lvl="1"/>
            <a:r>
              <a:rPr lang="en-US"/>
              <a:t>(the * operator just does multiplication)</a:t>
            </a:r>
          </a:p>
          <a:p>
            <a:pPr lvl="1"/>
            <a:r>
              <a:rPr lang="en-US"/>
              <a:t>(the / operator just  does division)</a:t>
            </a:r>
          </a:p>
          <a:p>
            <a:pPr lvl="1"/>
            <a:r>
              <a:rPr lang="en-US"/>
              <a:t>...but the + operator does both addition and string concatenation</a:t>
            </a:r>
          </a:p>
          <a:p>
            <a:endParaRPr lang="en-US"/>
          </a:p>
          <a:p>
            <a:r>
              <a:rPr lang="en-US" b="1">
                <a:solidFill>
                  <a:schemeClr val="bg2"/>
                </a:solidFill>
              </a:rPr>
              <a:t>🐍 </a:t>
            </a:r>
            <a:r>
              <a:rPr lang="en-US">
                <a:solidFill>
                  <a:schemeClr val="bg2"/>
                </a:solidFill>
              </a:rPr>
              <a:t>Python and </a:t>
            </a:r>
            <a:r>
              <a:rPr lang="en-US" b="1">
                <a:solidFill>
                  <a:schemeClr val="bg2"/>
                </a:solidFill>
              </a:rPr>
              <a:t>👹</a:t>
            </a:r>
            <a:r>
              <a:rPr lang="en-US">
                <a:solidFill>
                  <a:schemeClr val="bg2"/>
                </a:solidFill>
              </a:rPr>
              <a:t>C++ let you implement your </a:t>
            </a:r>
            <a:r>
              <a:rPr lang="en-US" i="1">
                <a:solidFill>
                  <a:schemeClr val="bg2"/>
                </a:solidFill>
              </a:rPr>
              <a:t>own</a:t>
            </a:r>
            <a:r>
              <a:rPr lang="en-US">
                <a:solidFill>
                  <a:schemeClr val="bg2"/>
                </a:solidFill>
              </a:rPr>
              <a:t> operator overloading</a:t>
            </a:r>
          </a:p>
          <a:p>
            <a:pPr lvl="1"/>
            <a:r>
              <a:rPr lang="en-US">
                <a:solidFill>
                  <a:schemeClr val="bg2"/>
                </a:solidFill>
              </a:rPr>
              <a:t>(very fun; very confusing)</a:t>
            </a:r>
          </a:p>
          <a:p>
            <a:pPr lvl="1"/>
            <a:endParaRPr lang="en-US">
              <a:solidFill>
                <a:schemeClr val="bg2"/>
              </a:solidFill>
            </a:endParaRPr>
          </a:p>
          <a:p>
            <a:pPr lvl="1"/>
            <a:r>
              <a:rPr lang="en-US">
                <a:solidFill>
                  <a:schemeClr val="bg2"/>
                </a:solidFill>
              </a:rPr>
              <a:t>NOTE: Python's default operator overloading kinda weird....</a:t>
            </a:r>
          </a:p>
        </p:txBody>
      </p:sp>
    </p:spTree>
    <p:extLst>
      <p:ext uri="{BB962C8B-B14F-4D97-AF65-F5344CB8AC3E}">
        <p14:creationId xmlns:p14="http://schemas.microsoft.com/office/powerpoint/2010/main" val="3642298665"/>
      </p:ext>
    </p:extLst>
  </p:cSld>
  <p:clrMapOvr>
    <a:masterClrMapping/>
  </p:clrMapOvr>
</p:sld>
</file>

<file path=ppt/slides/slide5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fference between + and += operator in Python - Python Help - Discussions  on Python.org">
            <a:extLst>
              <a:ext uri="{FF2B5EF4-FFF2-40B4-BE49-F238E27FC236}">
                <a16:creationId xmlns:a16="http://schemas.microsoft.com/office/drawing/2014/main" id="{FD6A1954-350F-A6D0-CFEA-F66F3487ECAF}"/>
              </a:ext>
            </a:extLst>
          </p:cNvPr>
          <p:cNvPicPr>
            <a:picLocks noChangeAspect="1"/>
          </p:cNvPicPr>
          <p:nvPr/>
        </p:nvPicPr>
        <p:blipFill>
          <a:blip r:embed="rId2"/>
          <a:stretch>
            <a:fillRect/>
          </a:stretch>
        </p:blipFill>
        <p:spPr>
          <a:xfrm>
            <a:off x="1644650" y="891116"/>
            <a:ext cx="5854700" cy="3365500"/>
          </a:xfrm>
          <a:prstGeom prst="rect">
            <a:avLst/>
          </a:prstGeom>
        </p:spPr>
      </p:pic>
      <p:sp>
        <p:nvSpPr>
          <p:cNvPr id="5" name="TextBox 4">
            <a:extLst>
              <a:ext uri="{FF2B5EF4-FFF2-40B4-BE49-F238E27FC236}">
                <a16:creationId xmlns:a16="http://schemas.microsoft.com/office/drawing/2014/main" id="{53A56917-E4FD-4FF6-50FA-FCACBB1CA1DE}"/>
              </a:ext>
            </a:extLst>
          </p:cNvPr>
          <p:cNvSpPr txBox="1"/>
          <p:nvPr/>
        </p:nvSpPr>
        <p:spPr>
          <a:xfrm>
            <a:off x="3789892" y="3293531"/>
            <a:ext cx="1750483" cy="1323439"/>
          </a:xfrm>
          <a:prstGeom prst="rect">
            <a:avLst/>
          </a:prstGeom>
          <a:noFill/>
        </p:spPr>
        <p:txBody>
          <a:bodyPr wrap="square" rtlCol="0">
            <a:spAutoFit/>
          </a:bodyPr>
          <a:lstStyle/>
          <a:p>
            <a:r>
              <a:rPr lang="en-US" sz="8000"/>
              <a:t>🤨</a:t>
            </a:r>
          </a:p>
        </p:txBody>
      </p:sp>
    </p:spTree>
    <p:extLst>
      <p:ext uri="{BB962C8B-B14F-4D97-AF65-F5344CB8AC3E}">
        <p14:creationId xmlns:p14="http://schemas.microsoft.com/office/powerpoint/2010/main" val="4260299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B95E0-F7A6-8774-3709-7E2F787DF321}"/>
              </a:ext>
            </a:extLst>
          </p:cNvPr>
          <p:cNvSpPr>
            <a:spLocks noGrp="1"/>
          </p:cNvSpPr>
          <p:nvPr>
            <p:ph type="title"/>
          </p:nvPr>
        </p:nvSpPr>
        <p:spPr/>
        <p:txBody>
          <a:bodyPr/>
          <a:lstStyle/>
          <a:p>
            <a:r>
              <a:rPr lang="en-US"/>
              <a:t>inside of a String (1/4)</a:t>
            </a:r>
          </a:p>
        </p:txBody>
      </p:sp>
      <p:sp>
        <p:nvSpPr>
          <p:cNvPr id="3" name="Content Placeholder 2">
            <a:extLst>
              <a:ext uri="{FF2B5EF4-FFF2-40B4-BE49-F238E27FC236}">
                <a16:creationId xmlns:a16="http://schemas.microsoft.com/office/drawing/2014/main" id="{98D256C0-DE3A-FEFA-5052-124CCEB8BA9C}"/>
              </a:ext>
            </a:extLst>
          </p:cNvPr>
          <p:cNvSpPr>
            <a:spLocks noGrp="1"/>
          </p:cNvSpPr>
          <p:nvPr>
            <p:ph sz="quarter" idx="10"/>
          </p:nvPr>
        </p:nvSpPr>
        <p:spPr/>
        <p:txBody>
          <a:bodyPr/>
          <a:lstStyle/>
          <a:p>
            <a:r>
              <a:rPr lang="en-US"/>
              <a:t>inside of </a:t>
            </a:r>
            <a:r>
              <a:rPr lang="en-US" sz="1800" err="1">
                <a:solidFill>
                  <a:srgbClr val="000080"/>
                </a:solidFill>
                <a:effectLst/>
                <a:latin typeface="Consolas" panose="020B0609020204030204" pitchFamily="49" charset="0"/>
              </a:rPr>
              <a:t>String</a:t>
            </a:r>
            <a:r>
              <a:rPr lang="en-US"/>
              <a:t>, there is a </a:t>
            </a:r>
            <a:r>
              <a:rPr lang="en-US" sz="1800" err="1">
                <a:solidFill>
                  <a:srgbClr val="000080"/>
                </a:solidFill>
                <a:effectLst/>
                <a:latin typeface="Consolas" panose="020B0609020204030204" pitchFamily="49" charset="0"/>
              </a:rPr>
              <a:t>char[]</a:t>
            </a:r>
          </a:p>
          <a:p>
            <a:pPr lvl="1"/>
            <a:r>
              <a:rPr lang="en-US" b="1"/>
              <a:t>motivation: </a:t>
            </a:r>
            <a:r>
              <a:rPr lang="en-US"/>
              <a:t>as you experienced in HW02, working directly with</a:t>
            </a:r>
            <a:br>
              <a:rPr lang="en-US"/>
            </a:br>
            <a:r>
              <a:rPr lang="en-US"/>
              <a:t>character arrays is hard / painful</a:t>
            </a:r>
          </a:p>
          <a:p>
            <a:pPr lvl="1"/>
            <a:r>
              <a:rPr lang="en-US" b="1"/>
              <a:t>idea: </a:t>
            </a:r>
            <a:r>
              <a:rPr lang="en-US" err="1">
                <a:solidFill>
                  <a:srgbClr val="000080"/>
                </a:solidFill>
                <a:effectLst/>
                <a:latin typeface="Consolas" panose="020B0609020204030204" pitchFamily="49" charset="0"/>
              </a:rPr>
              <a:t>String</a:t>
            </a:r>
            <a:r>
              <a:rPr lang="en-US"/>
              <a:t> "wraps up" a </a:t>
            </a:r>
            <a:r>
              <a:rPr lang="en-US" err="1">
                <a:solidFill>
                  <a:srgbClr val="000080"/>
                </a:solidFill>
                <a:effectLst/>
                <a:latin typeface="Consolas" panose="020B0609020204030204" pitchFamily="49" charset="0"/>
              </a:rPr>
              <a:t>char[] </a:t>
            </a:r>
            <a:r>
              <a:rPr lang="en-US"/>
              <a:t>into an easy-to-use package</a:t>
            </a:r>
          </a:p>
        </p:txBody>
      </p:sp>
    </p:spTree>
    <p:extLst>
      <p:ext uri="{BB962C8B-B14F-4D97-AF65-F5344CB8AC3E}">
        <p14:creationId xmlns:p14="http://schemas.microsoft.com/office/powerpoint/2010/main" val="2882382237"/>
      </p:ext>
    </p:extLst>
  </p:cSld>
  <p:clrMapOvr>
    <a:masterClrMapping/>
  </p:clrMapOvr>
</p:sld>
</file>

<file path=ppt/slides/slide5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66782-DD69-DD36-CE91-68B8FA9A00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3EE17B-3E7A-C087-B116-10C7CECDD762}"/>
              </a:ext>
            </a:extLst>
          </p:cNvPr>
          <p:cNvSpPr>
            <a:spLocks noGrp="1"/>
          </p:cNvSpPr>
          <p:nvPr>
            <p:ph type="title"/>
          </p:nvPr>
        </p:nvSpPr>
        <p:spPr/>
        <p:txBody>
          <a:bodyPr/>
          <a:lstStyle/>
          <a:p>
            <a:r>
              <a:rPr lang="en-US"/>
              <a:t>inside of a String (2/4)</a:t>
            </a:r>
          </a:p>
        </p:txBody>
      </p:sp>
      <p:sp>
        <p:nvSpPr>
          <p:cNvPr id="3" name="Content Placeholder 2">
            <a:extLst>
              <a:ext uri="{FF2B5EF4-FFF2-40B4-BE49-F238E27FC236}">
                <a16:creationId xmlns:a16="http://schemas.microsoft.com/office/drawing/2014/main" id="{D0E5DC97-E3C9-8045-95A6-C87EF6AEAEA2}"/>
              </a:ext>
            </a:extLst>
          </p:cNvPr>
          <p:cNvSpPr>
            <a:spLocks noGrp="1"/>
          </p:cNvSpPr>
          <p:nvPr>
            <p:ph sz="quarter" idx="10"/>
          </p:nvPr>
        </p:nvSpPr>
        <p:spPr/>
        <p:txBody>
          <a:bodyPr/>
          <a:lstStyle/>
          <a:p>
            <a:r>
              <a:rPr lang="en-US"/>
              <a:t>if a </a:t>
            </a:r>
            <a:r>
              <a:rPr lang="en-US">
                <a:solidFill>
                  <a:srgbClr val="000080"/>
                </a:solidFill>
                <a:latin typeface="Consolas" panose="020B0609020204030204" pitchFamily="49" charset="0"/>
                <a:cs typeface="Consolas" panose="020B0609020204030204" pitchFamily="49" charset="0"/>
              </a:rPr>
              <a:t>String</a:t>
            </a:r>
            <a:r>
              <a:rPr lang="en-US"/>
              <a:t> is really just a </a:t>
            </a:r>
            <a:r>
              <a:rPr lang="en-US">
                <a:solidFill>
                  <a:srgbClr val="000080"/>
                </a:solidFill>
                <a:latin typeface="Consolas" panose="020B0609020204030204" pitchFamily="49" charset="0"/>
                <a:cs typeface="Consolas" panose="020B0609020204030204" pitchFamily="49" charset="0"/>
              </a:rPr>
              <a:t>char[]</a:t>
            </a:r>
            <a:r>
              <a:rPr lang="en-US"/>
              <a:t>...</a:t>
            </a:r>
          </a:p>
          <a:p>
            <a:pPr lvl="1"/>
            <a:r>
              <a:rPr lang="en-US"/>
              <a:t>...then what does this code actually </a:t>
            </a:r>
            <a:r>
              <a:rPr lang="en-US" i="1"/>
              <a:t>do</a:t>
            </a:r>
            <a:r>
              <a:rPr lang="en-US"/>
              <a:t>? 🧠</a:t>
            </a:r>
          </a:p>
          <a:p>
            <a:endParaRPr lang="en-US"/>
          </a:p>
          <a:p>
            <a:endParaRPr lang="en-US"/>
          </a:p>
        </p:txBody>
      </p:sp>
      <p:sp>
        <p:nvSpPr>
          <p:cNvPr id="4" name="TextBox 3">
            <a:extLst>
              <a:ext uri="{FF2B5EF4-FFF2-40B4-BE49-F238E27FC236}">
                <a16:creationId xmlns:a16="http://schemas.microsoft.com/office/drawing/2014/main" id="{C33F464A-F19C-3179-F94F-0625B5102FB0}"/>
              </a:ext>
            </a:extLst>
          </p:cNvPr>
          <p:cNvSpPr txBox="1"/>
          <p:nvPr/>
        </p:nvSpPr>
        <p:spPr>
          <a:xfrm>
            <a:off x="457200" y="1860086"/>
            <a:ext cx="8229600" cy="1200329"/>
          </a:xfrm>
          <a:prstGeom prst="rect">
            <a:avLst/>
          </a:prstGeom>
          <a:solidFill>
            <a:schemeClr val="bg1"/>
          </a:solidFill>
          <a:ln>
            <a:solidFill>
              <a:schemeClr val="tx1"/>
            </a:solidFill>
          </a:ln>
        </p:spPr>
        <p:txBody>
          <a:bodyPr wrap="square" rtlCol="0">
            <a:spAutoFit/>
          </a:bodyPr>
          <a:lstStyle/>
          <a:p>
            <a:r>
              <a:rPr lang="en-US">
                <a:solidFill>
                  <a:srgbClr val="000080"/>
                </a:solidFill>
                <a:latin typeface="Consolas" panose="020B0609020204030204" pitchFamily="49" charset="0"/>
                <a:cs typeface="Consolas" panose="020B0609020204030204" pitchFamily="49" charset="0"/>
              </a:rPr>
              <a:t>String</a:t>
            </a:r>
            <a:r>
              <a:rPr lang="en-US">
                <a:latin typeface="Consolas" panose="020B0609020204030204" pitchFamily="49" charset="0"/>
                <a:cs typeface="Consolas" panose="020B0609020204030204" pitchFamily="49" charset="0"/>
              </a:rPr>
              <a:t> a = </a:t>
            </a:r>
            <a:r>
              <a:rPr lang="en-US">
                <a:solidFill>
                  <a:srgbClr val="C00000"/>
                </a:solidFill>
                <a:latin typeface="Consolas" panose="020B0609020204030204" pitchFamily="49" charset="0"/>
                <a:cs typeface="Consolas" panose="020B0609020204030204" pitchFamily="49" charset="0"/>
              </a:rPr>
              <a:t>"Hello"</a:t>
            </a:r>
            <a:r>
              <a:rPr lang="en-US">
                <a:latin typeface="Consolas" panose="020B0609020204030204" pitchFamily="49" charset="0"/>
                <a:cs typeface="Consolas" panose="020B0609020204030204" pitchFamily="49" charset="0"/>
              </a:rPr>
              <a:t>;</a:t>
            </a:r>
          </a:p>
          <a:p>
            <a:r>
              <a:rPr lang="en-US">
                <a:solidFill>
                  <a:srgbClr val="000080"/>
                </a:solidFill>
                <a:latin typeface="Consolas" panose="020B0609020204030204" pitchFamily="49" charset="0"/>
                <a:cs typeface="Consolas" panose="020B0609020204030204" pitchFamily="49" charset="0"/>
              </a:rPr>
              <a:t>String</a:t>
            </a:r>
            <a:r>
              <a:rPr lang="en-US">
                <a:latin typeface="Consolas" panose="020B0609020204030204" pitchFamily="49" charset="0"/>
                <a:cs typeface="Consolas" panose="020B0609020204030204" pitchFamily="49" charset="0"/>
              </a:rPr>
              <a:t> b = </a:t>
            </a:r>
            <a:r>
              <a:rPr lang="en-US">
                <a:solidFill>
                  <a:srgbClr val="C00000"/>
                </a:solidFill>
                <a:latin typeface="Consolas" panose="020B0609020204030204" pitchFamily="49" charset="0"/>
                <a:cs typeface="Consolas" panose="020B0609020204030204" pitchFamily="49" charset="0"/>
              </a:rPr>
              <a:t>"World"</a:t>
            </a:r>
            <a:r>
              <a:rPr lang="en-US">
                <a:latin typeface="Consolas" panose="020B0609020204030204" pitchFamily="49" charset="0"/>
                <a:cs typeface="Consolas" panose="020B0609020204030204" pitchFamily="49" charset="0"/>
              </a:rPr>
              <a:t>;</a:t>
            </a:r>
          </a:p>
          <a:p>
            <a:r>
              <a:rPr lang="en-US">
                <a:solidFill>
                  <a:srgbClr val="000080"/>
                </a:solidFill>
                <a:latin typeface="Consolas" panose="020B0609020204030204" pitchFamily="49" charset="0"/>
                <a:cs typeface="Consolas" panose="020B0609020204030204" pitchFamily="49" charset="0"/>
              </a:rPr>
              <a:t>String</a:t>
            </a:r>
            <a:r>
              <a:rPr lang="en-US">
                <a:latin typeface="Consolas" panose="020B0609020204030204" pitchFamily="49" charset="0"/>
                <a:cs typeface="Consolas" panose="020B0609020204030204" pitchFamily="49" charset="0"/>
              </a:rPr>
              <a:t> c = a + b;</a:t>
            </a:r>
          </a:p>
          <a:p>
            <a:r>
              <a:rPr lang="en-US" err="1">
                <a:solidFill>
                  <a:srgbClr val="000080"/>
                </a:solidFill>
                <a:latin typeface="+mj-lt"/>
              </a:rPr>
              <a:t>PRINT</a:t>
            </a:r>
            <a:r>
              <a:rPr lang="en-US">
                <a:latin typeface="Consolas" panose="020B0609020204030204" pitchFamily="49" charset="0"/>
                <a:cs typeface="Consolas" panose="020B0609020204030204" pitchFamily="49" charset="0"/>
              </a:rPr>
              <a:t>(c); </a:t>
            </a:r>
            <a:r>
              <a:rPr lang="en-US">
                <a:solidFill>
                  <a:srgbClr val="007B00"/>
                </a:solidFill>
                <a:latin typeface="Consolas" panose="020B0609020204030204" pitchFamily="49" charset="0"/>
                <a:cs typeface="Consolas" panose="020B0609020204030204" pitchFamily="49" charset="0"/>
              </a:rPr>
              <a:t>// "HelloWorld"</a:t>
            </a:r>
          </a:p>
        </p:txBody>
      </p:sp>
    </p:spTree>
    <p:extLst>
      <p:ext uri="{BB962C8B-B14F-4D97-AF65-F5344CB8AC3E}">
        <p14:creationId xmlns:p14="http://schemas.microsoft.com/office/powerpoint/2010/main" val="3200123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155FD90-4CFC-179A-D564-9E7D378C06A7}"/>
              </a:ext>
            </a:extLst>
          </p:cNvPr>
          <p:cNvSpPr>
            <a:spLocks noGrp="1"/>
          </p:cNvSpPr>
          <p:nvPr>
            <p:ph type="title"/>
          </p:nvPr>
        </p:nvSpPr>
        <p:spPr/>
        <p:txBody>
          <a:bodyPr>
            <a:noAutofit/>
          </a:bodyPr>
          <a:lstStyle/>
          <a:p>
            <a:r>
              <a:rPr lang="en-US" sz="3600">
                <a:effectLst/>
                <a:latin typeface="Menlo" panose="020B0609030804020204" pitchFamily="49" charset="0"/>
              </a:rPr>
              <a:t>XStringExample</a:t>
            </a:r>
            <a:endParaRPr lang="en-US" sz="13800"/>
          </a:p>
        </p:txBody>
      </p:sp>
      <p:sp>
        <p:nvSpPr>
          <p:cNvPr id="6" name="Content Placeholder 5">
            <a:extLst>
              <a:ext uri="{FF2B5EF4-FFF2-40B4-BE49-F238E27FC236}">
                <a16:creationId xmlns:a16="http://schemas.microsoft.com/office/drawing/2014/main" id="{0D6AA6DB-4DF5-17B1-D067-3EA8A265E360}"/>
              </a:ext>
            </a:extLst>
          </p:cNvPr>
          <p:cNvSpPr>
            <a:spLocks noGrp="1"/>
          </p:cNvSpPr>
          <p:nvPr>
            <p:ph sz="quarter" idx="10"/>
          </p:nvPr>
        </p:nvSpPr>
        <p:spPr/>
        <p:txBody>
          <a:bodyPr>
            <a:noAutofit/>
          </a:bodyPr>
          <a:lstStyle/>
          <a:p>
            <a:pPr marL="0" indent="0">
              <a:buNone/>
            </a:pPr>
            <a:r>
              <a:rPr lang="en-US" sz="400" b="1">
                <a:solidFill>
                  <a:srgbClr val="7F0055"/>
                </a:solidFill>
                <a:effectLst/>
                <a:latin typeface="Menlo" panose="020B0609030804020204" pitchFamily="49" charset="0"/>
              </a:rPr>
              <a:t>class</a:t>
            </a:r>
            <a:r>
              <a:rPr lang="en-US" sz="400">
                <a:effectLst/>
                <a:latin typeface="Menlo" panose="020B0609030804020204" pitchFamily="49" charset="0"/>
              </a:rPr>
              <a:t> XStringExample </a:t>
            </a:r>
            <a:r>
              <a:rPr lang="en-US" sz="400" b="1">
                <a:solidFill>
                  <a:srgbClr val="7F0055"/>
                </a:solidFill>
                <a:effectLst/>
                <a:latin typeface="Menlo" panose="020B0609030804020204" pitchFamily="49" charset="0"/>
              </a:rPr>
              <a:t>extends</a:t>
            </a:r>
            <a:r>
              <a:rPr lang="en-US" sz="400">
                <a:effectLst/>
                <a:latin typeface="Menlo" panose="020B0609030804020204" pitchFamily="49" charset="0"/>
              </a:rPr>
              <a:t> SuperCow { </a:t>
            </a:r>
          </a:p>
          <a:p>
            <a:pPr marL="0" indent="0">
              <a:buNone/>
            </a:pPr>
            <a:r>
              <a:rPr lang="en-US" sz="400">
                <a:effectLst/>
                <a:latin typeface="Menlo" panose="020B0609030804020204" pitchFamily="49" charset="0"/>
              </a:rPr>
              <a:t>    </a:t>
            </a:r>
            <a:r>
              <a:rPr lang="en-US" sz="400" b="1">
                <a:solidFill>
                  <a:srgbClr val="7F0055"/>
                </a:solidFill>
                <a:effectLst/>
                <a:latin typeface="Menlo" panose="020B0609030804020204" pitchFamily="49" charset="0"/>
              </a:rPr>
              <a:t>static</a:t>
            </a:r>
            <a:r>
              <a:rPr lang="en-US" sz="400">
                <a:effectLst/>
                <a:latin typeface="Menlo" panose="020B0609030804020204" pitchFamily="49" charset="0"/>
              </a:rPr>
              <a:t> </a:t>
            </a:r>
            <a:r>
              <a:rPr lang="en-US" sz="400" b="1">
                <a:solidFill>
                  <a:srgbClr val="7F0055"/>
                </a:solidFill>
                <a:effectLst/>
                <a:latin typeface="Menlo" panose="020B0609030804020204" pitchFamily="49" charset="0"/>
              </a:rPr>
              <a:t>class</a:t>
            </a:r>
            <a:r>
              <a:rPr lang="en-US" sz="400">
                <a:effectLst/>
                <a:latin typeface="Menlo" panose="020B0609030804020204" pitchFamily="49" charset="0"/>
              </a:rPr>
              <a:t> XString {</a:t>
            </a:r>
          </a:p>
          <a:p>
            <a:pPr marL="0" indent="0">
              <a:buNone/>
            </a:pPr>
            <a:r>
              <a:rPr lang="en-US" sz="400">
                <a:effectLst/>
                <a:latin typeface="Menlo" panose="020B0609030804020204" pitchFamily="49" charset="0"/>
              </a:rPr>
              <a:t>        </a:t>
            </a:r>
            <a:r>
              <a:rPr lang="en-US" sz="400" b="1">
                <a:solidFill>
                  <a:srgbClr val="7F0055"/>
                </a:solidFill>
                <a:effectLst/>
                <a:latin typeface="Menlo" panose="020B0609030804020204" pitchFamily="49" charset="0"/>
              </a:rPr>
              <a:t>char</a:t>
            </a:r>
            <a:r>
              <a:rPr lang="en-US" sz="400">
                <a:effectLst/>
                <a:latin typeface="Menlo" panose="020B0609030804020204" pitchFamily="49" charset="0"/>
              </a:rPr>
              <a:t>[] </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a:t>
            </a:r>
          </a:p>
          <a:p>
            <a:pPr marL="0" indent="0">
              <a:buNone/>
            </a:pPr>
            <a:br>
              <a:rPr lang="en-US" sz="400">
                <a:effectLst/>
                <a:latin typeface="Menlo" panose="020B0609030804020204" pitchFamily="49" charset="0"/>
              </a:rPr>
            </a:br>
            <a:endParaRPr lang="en-US" sz="400">
              <a:effectLst/>
              <a:latin typeface="Menlo" panose="020B0609030804020204" pitchFamily="49" charset="0"/>
            </a:endParaRPr>
          </a:p>
          <a:p>
            <a:pPr marL="0" indent="0">
              <a:buNone/>
            </a:pPr>
            <a:r>
              <a:rPr lang="en-US" sz="400">
                <a:effectLst/>
                <a:latin typeface="Menlo" panose="020B0609030804020204" pitchFamily="49" charset="0"/>
              </a:rPr>
              <a:t>        </a:t>
            </a:r>
            <a:r>
              <a:rPr lang="en-US" sz="400" b="1">
                <a:solidFill>
                  <a:srgbClr val="7F0055"/>
                </a:solidFill>
                <a:effectLst/>
                <a:latin typeface="Menlo" panose="020B0609030804020204" pitchFamily="49" charset="0"/>
              </a:rPr>
              <a:t>static</a:t>
            </a:r>
            <a:r>
              <a:rPr lang="en-US" sz="400">
                <a:effectLst/>
                <a:latin typeface="Menlo" panose="020B0609030804020204" pitchFamily="49" charset="0"/>
              </a:rPr>
              <a:t> XString plus(XString </a:t>
            </a:r>
            <a:r>
              <a:rPr lang="en-US" sz="400">
                <a:solidFill>
                  <a:srgbClr val="6A3E3E"/>
                </a:solidFill>
                <a:effectLst/>
                <a:latin typeface="Menlo" panose="020B0609030804020204" pitchFamily="49" charset="0"/>
              </a:rPr>
              <a:t>a</a:t>
            </a:r>
            <a:r>
              <a:rPr lang="en-US" sz="400">
                <a:effectLst/>
                <a:latin typeface="Menlo" panose="020B0609030804020204" pitchFamily="49" charset="0"/>
              </a:rPr>
              <a:t>, XString </a:t>
            </a:r>
            <a:r>
              <a:rPr lang="en-US" sz="400">
                <a:solidFill>
                  <a:srgbClr val="6A3E3E"/>
                </a:solidFill>
                <a:effectLst/>
                <a:latin typeface="Menlo" panose="020B0609030804020204" pitchFamily="49" charset="0"/>
              </a:rPr>
              <a:t>b</a:t>
            </a:r>
            <a:r>
              <a:rPr lang="en-US" sz="400">
                <a:effectLst/>
                <a:latin typeface="Menlo" panose="020B0609030804020204" pitchFamily="49" charset="0"/>
              </a:rPr>
              <a:t>) {</a:t>
            </a:r>
          </a:p>
          <a:p>
            <a:pPr marL="0" indent="0">
              <a:buNone/>
            </a:pPr>
            <a:r>
              <a:rPr lang="en-US" sz="400">
                <a:effectLst/>
                <a:latin typeface="Menlo" panose="020B0609030804020204" pitchFamily="49" charset="0"/>
              </a:rPr>
              <a:t>            XString </a:t>
            </a:r>
            <a:r>
              <a:rPr lang="en-US" sz="400">
                <a:solidFill>
                  <a:srgbClr val="6A3E3E"/>
                </a:solidFill>
                <a:effectLst/>
                <a:latin typeface="Menlo" panose="020B0609030804020204" pitchFamily="49" charset="0"/>
              </a:rPr>
              <a:t>result</a:t>
            </a:r>
            <a:r>
              <a:rPr lang="en-US" sz="400">
                <a:effectLst/>
                <a:latin typeface="Menlo" panose="020B0609030804020204" pitchFamily="49" charset="0"/>
              </a:rPr>
              <a:t> = </a:t>
            </a:r>
            <a:r>
              <a:rPr lang="en-US" sz="400" b="1">
                <a:solidFill>
                  <a:srgbClr val="7F0055"/>
                </a:solidFill>
                <a:effectLst/>
                <a:latin typeface="Menlo" panose="020B0609030804020204" pitchFamily="49" charset="0"/>
              </a:rPr>
              <a:t>new</a:t>
            </a:r>
            <a:r>
              <a:rPr lang="en-US" sz="400">
                <a:effectLst/>
                <a:latin typeface="Menlo" panose="020B0609030804020204" pitchFamily="49" charset="0"/>
              </a:rPr>
              <a:t> XString();</a:t>
            </a:r>
            <a:br>
              <a:rPr lang="en-US" sz="400">
                <a:effectLst/>
                <a:latin typeface="Menlo" panose="020B0609030804020204" pitchFamily="49" charset="0"/>
              </a:rPr>
            </a:br>
            <a:endParaRPr lang="en-US" sz="400">
              <a:effectLst/>
              <a:latin typeface="Menlo" panose="020B0609030804020204" pitchFamily="49" charset="0"/>
            </a:endParaRPr>
          </a:p>
          <a:p>
            <a:pPr marL="0" indent="0">
              <a:buNone/>
            </a:pPr>
            <a:r>
              <a:rPr lang="en-US" sz="400">
                <a:solidFill>
                  <a:srgbClr val="000000"/>
                </a:solidFill>
                <a:effectLst/>
                <a:latin typeface="Menlo" panose="020B0609030804020204" pitchFamily="49" charset="0"/>
              </a:rPr>
              <a:t>            </a:t>
            </a:r>
            <a:r>
              <a:rPr lang="en-US" sz="400">
                <a:solidFill>
                  <a:srgbClr val="3F7F5F"/>
                </a:solidFill>
                <a:effectLst/>
                <a:latin typeface="Menlo" panose="020B0609030804020204" pitchFamily="49" charset="0"/>
              </a:rPr>
              <a:t>// allocates new array that's the sum of both lengths</a:t>
            </a:r>
          </a:p>
          <a:p>
            <a:pPr marL="0" indent="0">
              <a:buNone/>
            </a:pPr>
            <a:r>
              <a:rPr lang="en-US" sz="400">
                <a:solidFill>
                  <a:srgbClr val="000000"/>
                </a:solidFill>
                <a:effectLst/>
                <a:latin typeface="Menlo" panose="020B0609030804020204" pitchFamily="49" charset="0"/>
              </a:rPr>
              <a:t>            </a:t>
            </a:r>
            <a:r>
              <a:rPr lang="en-US" sz="400">
                <a:solidFill>
                  <a:srgbClr val="3F7F5F"/>
                </a:solidFill>
                <a:effectLst/>
                <a:latin typeface="Menlo" panose="020B0609030804020204" pitchFamily="49" charset="0"/>
              </a:rPr>
              <a:t>// O(n) runtime</a:t>
            </a:r>
          </a:p>
          <a:p>
            <a:pPr marL="0" indent="0">
              <a:buNone/>
            </a:pPr>
            <a:r>
              <a:rPr lang="en-US" sz="400">
                <a:effectLst/>
                <a:latin typeface="Menlo" panose="020B0609030804020204" pitchFamily="49" charset="0"/>
              </a:rPr>
              <a:t>            </a:t>
            </a:r>
            <a:r>
              <a:rPr lang="en-US" sz="400">
                <a:solidFill>
                  <a:srgbClr val="6A3E3E"/>
                </a:solidFill>
                <a:effectLst/>
                <a:latin typeface="Menlo" panose="020B0609030804020204" pitchFamily="49" charset="0"/>
              </a:rPr>
              <a:t>result</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 = </a:t>
            </a:r>
            <a:r>
              <a:rPr lang="en-US" sz="400" b="1">
                <a:solidFill>
                  <a:srgbClr val="7F0055"/>
                </a:solidFill>
                <a:effectLst/>
                <a:latin typeface="Menlo" panose="020B0609030804020204" pitchFamily="49" charset="0"/>
              </a:rPr>
              <a:t>new</a:t>
            </a:r>
            <a:r>
              <a:rPr lang="en-US" sz="400">
                <a:effectLst/>
                <a:latin typeface="Menlo" panose="020B0609030804020204" pitchFamily="49" charset="0"/>
              </a:rPr>
              <a:t> </a:t>
            </a:r>
            <a:r>
              <a:rPr lang="en-US" sz="400" b="1">
                <a:solidFill>
                  <a:srgbClr val="7F0055"/>
                </a:solidFill>
                <a:effectLst/>
                <a:latin typeface="Menlo" panose="020B0609030804020204" pitchFamily="49" charset="0"/>
              </a:rPr>
              <a:t>char</a:t>
            </a:r>
            <a:r>
              <a:rPr lang="en-US" sz="400">
                <a:effectLst/>
                <a:latin typeface="Menlo" panose="020B0609030804020204" pitchFamily="49" charset="0"/>
              </a:rPr>
              <a:t>[</a:t>
            </a:r>
            <a:r>
              <a:rPr lang="en-US" sz="400">
                <a:solidFill>
                  <a:srgbClr val="6A3E3E"/>
                </a:solidFill>
                <a:effectLst/>
                <a:latin typeface="Menlo" panose="020B0609030804020204" pitchFamily="49" charset="0"/>
              </a:rPr>
              <a:t>a</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a:t>
            </a:r>
            <a:r>
              <a:rPr lang="en-US" sz="400">
                <a:solidFill>
                  <a:srgbClr val="0000C0"/>
                </a:solidFill>
                <a:effectLst/>
                <a:latin typeface="Menlo" panose="020B0609030804020204" pitchFamily="49" charset="0"/>
              </a:rPr>
              <a:t>length</a:t>
            </a:r>
            <a:r>
              <a:rPr lang="en-US" sz="400">
                <a:effectLst/>
                <a:latin typeface="Menlo" panose="020B0609030804020204" pitchFamily="49" charset="0"/>
              </a:rPr>
              <a:t> + </a:t>
            </a:r>
            <a:r>
              <a:rPr lang="en-US" sz="400">
                <a:solidFill>
                  <a:srgbClr val="6A3E3E"/>
                </a:solidFill>
                <a:effectLst/>
                <a:latin typeface="Menlo" panose="020B0609030804020204" pitchFamily="49" charset="0"/>
              </a:rPr>
              <a:t>b</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a:t>
            </a:r>
            <a:r>
              <a:rPr lang="en-US" sz="400">
                <a:solidFill>
                  <a:srgbClr val="0000C0"/>
                </a:solidFill>
                <a:effectLst/>
                <a:latin typeface="Menlo" panose="020B0609030804020204" pitchFamily="49" charset="0"/>
              </a:rPr>
              <a:t>length</a:t>
            </a:r>
            <a:r>
              <a:rPr lang="en-US" sz="400">
                <a:effectLst/>
                <a:latin typeface="Menlo" panose="020B0609030804020204" pitchFamily="49" charset="0"/>
              </a:rPr>
              <a:t>];</a:t>
            </a:r>
            <a:br>
              <a:rPr lang="en-US" sz="400">
                <a:effectLst/>
                <a:latin typeface="Menlo" panose="020B0609030804020204" pitchFamily="49" charset="0"/>
              </a:rPr>
            </a:br>
            <a:endParaRPr lang="en-US" sz="400">
              <a:effectLst/>
              <a:latin typeface="Menlo" panose="020B0609030804020204" pitchFamily="49" charset="0"/>
            </a:endParaRPr>
          </a:p>
          <a:p>
            <a:pPr marL="0" indent="0">
              <a:buNone/>
            </a:pPr>
            <a:r>
              <a:rPr lang="en-US" sz="400">
                <a:solidFill>
                  <a:srgbClr val="000000"/>
                </a:solidFill>
                <a:effectLst/>
                <a:latin typeface="Menlo" panose="020B0609030804020204" pitchFamily="49" charset="0"/>
              </a:rPr>
              <a:t>            </a:t>
            </a:r>
            <a:r>
              <a:rPr lang="en-US" sz="400">
                <a:solidFill>
                  <a:srgbClr val="3F7F5F"/>
                </a:solidFill>
                <a:effectLst/>
                <a:latin typeface="Menlo" panose="020B0609030804020204" pitchFamily="49" charset="0"/>
              </a:rPr>
              <a:t>// copies over a</a:t>
            </a:r>
          </a:p>
          <a:p>
            <a:pPr marL="0" indent="0">
              <a:buNone/>
            </a:pPr>
            <a:r>
              <a:rPr lang="en-US" sz="400">
                <a:effectLst/>
                <a:latin typeface="Menlo" panose="020B0609030804020204" pitchFamily="49" charset="0"/>
              </a:rPr>
              <a:t>            </a:t>
            </a:r>
            <a:r>
              <a:rPr lang="en-US" sz="400">
                <a:solidFill>
                  <a:srgbClr val="3F7F5F"/>
                </a:solidFill>
                <a:effectLst/>
                <a:latin typeface="Menlo" panose="020B0609030804020204" pitchFamily="49" charset="0"/>
              </a:rPr>
              <a:t>// O(n)</a:t>
            </a:r>
            <a:endParaRPr lang="en-US" sz="400">
              <a:effectLst/>
              <a:latin typeface="Menlo" panose="020B0609030804020204" pitchFamily="49" charset="0"/>
            </a:endParaRPr>
          </a:p>
          <a:p>
            <a:pPr marL="0" indent="0">
              <a:buNone/>
            </a:pPr>
            <a:r>
              <a:rPr lang="en-US" sz="400">
                <a:effectLst/>
                <a:latin typeface="Menlo" panose="020B0609030804020204" pitchFamily="49" charset="0"/>
              </a:rPr>
              <a:t>            </a:t>
            </a:r>
            <a:r>
              <a:rPr lang="en-US" sz="400" b="1">
                <a:solidFill>
                  <a:srgbClr val="7F0055"/>
                </a:solidFill>
                <a:effectLst/>
                <a:latin typeface="Menlo" panose="020B0609030804020204" pitchFamily="49" charset="0"/>
              </a:rPr>
              <a:t>for</a:t>
            </a:r>
            <a:r>
              <a:rPr lang="en-US" sz="400">
                <a:effectLst/>
                <a:latin typeface="Menlo" panose="020B0609030804020204" pitchFamily="49" charset="0"/>
              </a:rPr>
              <a:t> (</a:t>
            </a:r>
            <a:r>
              <a:rPr lang="en-US" sz="400" b="1">
                <a:solidFill>
                  <a:srgbClr val="7F0055"/>
                </a:solidFill>
                <a:effectLst/>
                <a:latin typeface="Menlo" panose="020B0609030804020204" pitchFamily="49" charset="0"/>
              </a:rPr>
              <a:t>int</a:t>
            </a:r>
            <a:r>
              <a:rPr lang="en-US" sz="400">
                <a:effectLst/>
                <a:latin typeface="Menlo" panose="020B0609030804020204" pitchFamily="49" charset="0"/>
              </a:rPr>
              <a:t> </a:t>
            </a:r>
            <a:r>
              <a:rPr lang="en-US" sz="400">
                <a:solidFill>
                  <a:srgbClr val="6A3E3E"/>
                </a:solidFill>
                <a:effectLst/>
                <a:latin typeface="Menlo" panose="020B0609030804020204" pitchFamily="49" charset="0"/>
              </a:rPr>
              <a:t>i</a:t>
            </a:r>
            <a:r>
              <a:rPr lang="en-US" sz="400">
                <a:effectLst/>
                <a:latin typeface="Menlo" panose="020B0609030804020204" pitchFamily="49" charset="0"/>
              </a:rPr>
              <a:t> = 0; </a:t>
            </a:r>
            <a:r>
              <a:rPr lang="en-US" sz="400">
                <a:solidFill>
                  <a:srgbClr val="6A3E3E"/>
                </a:solidFill>
                <a:effectLst/>
                <a:latin typeface="Menlo" panose="020B0609030804020204" pitchFamily="49" charset="0"/>
              </a:rPr>
              <a:t>i</a:t>
            </a:r>
            <a:r>
              <a:rPr lang="en-US" sz="400">
                <a:effectLst/>
                <a:latin typeface="Menlo" panose="020B0609030804020204" pitchFamily="49" charset="0"/>
              </a:rPr>
              <a:t> &lt; </a:t>
            </a:r>
            <a:r>
              <a:rPr lang="en-US" sz="400">
                <a:solidFill>
                  <a:srgbClr val="6A3E3E"/>
                </a:solidFill>
                <a:effectLst/>
                <a:latin typeface="Menlo" panose="020B0609030804020204" pitchFamily="49" charset="0"/>
              </a:rPr>
              <a:t>a</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a:t>
            </a:r>
            <a:r>
              <a:rPr lang="en-US" sz="400">
                <a:solidFill>
                  <a:srgbClr val="0000C0"/>
                </a:solidFill>
                <a:effectLst/>
                <a:latin typeface="Menlo" panose="020B0609030804020204" pitchFamily="49" charset="0"/>
              </a:rPr>
              <a:t>length</a:t>
            </a:r>
            <a:r>
              <a:rPr lang="en-US" sz="400">
                <a:effectLst/>
                <a:latin typeface="Menlo" panose="020B0609030804020204" pitchFamily="49" charset="0"/>
              </a:rPr>
              <a:t>; ++</a:t>
            </a:r>
            <a:r>
              <a:rPr lang="en-US" sz="400">
                <a:solidFill>
                  <a:srgbClr val="6A3E3E"/>
                </a:solidFill>
                <a:effectLst/>
                <a:latin typeface="Menlo" panose="020B0609030804020204" pitchFamily="49" charset="0"/>
              </a:rPr>
              <a:t>i</a:t>
            </a:r>
            <a:r>
              <a:rPr lang="en-US" sz="400">
                <a:effectLst/>
                <a:latin typeface="Menlo" panose="020B0609030804020204" pitchFamily="49" charset="0"/>
              </a:rPr>
              <a:t>) { </a:t>
            </a:r>
            <a:r>
              <a:rPr lang="en-US" sz="400">
                <a:solidFill>
                  <a:srgbClr val="3F7F5F"/>
                </a:solidFill>
                <a:effectLst/>
                <a:latin typeface="Menlo" panose="020B0609030804020204" pitchFamily="49" charset="0"/>
              </a:rPr>
              <a:t>// O(n)</a:t>
            </a:r>
            <a:endParaRPr lang="en-US" sz="400">
              <a:effectLst/>
              <a:latin typeface="Menlo" panose="020B0609030804020204" pitchFamily="49" charset="0"/>
            </a:endParaRPr>
          </a:p>
          <a:p>
            <a:pPr marL="0" indent="0">
              <a:buNone/>
            </a:pPr>
            <a:r>
              <a:rPr lang="en-US" sz="400">
                <a:effectLst/>
                <a:latin typeface="Menlo" panose="020B0609030804020204" pitchFamily="49" charset="0"/>
              </a:rPr>
              <a:t>                </a:t>
            </a:r>
            <a:r>
              <a:rPr lang="en-US" sz="400">
                <a:solidFill>
                  <a:srgbClr val="6A3E3E"/>
                </a:solidFill>
                <a:effectLst/>
                <a:latin typeface="Menlo" panose="020B0609030804020204" pitchFamily="49" charset="0"/>
              </a:rPr>
              <a:t>result</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a:t>
            </a:r>
            <a:r>
              <a:rPr lang="en-US" sz="400">
                <a:solidFill>
                  <a:srgbClr val="6A3E3E"/>
                </a:solidFill>
                <a:effectLst/>
                <a:latin typeface="Menlo" panose="020B0609030804020204" pitchFamily="49" charset="0"/>
              </a:rPr>
              <a:t>i</a:t>
            </a:r>
            <a:r>
              <a:rPr lang="en-US" sz="400">
                <a:effectLst/>
                <a:latin typeface="Menlo" panose="020B0609030804020204" pitchFamily="49" charset="0"/>
              </a:rPr>
              <a:t>] = </a:t>
            </a:r>
            <a:r>
              <a:rPr lang="en-US" sz="400">
                <a:solidFill>
                  <a:srgbClr val="6A3E3E"/>
                </a:solidFill>
                <a:effectLst/>
                <a:latin typeface="Menlo" panose="020B0609030804020204" pitchFamily="49" charset="0"/>
              </a:rPr>
              <a:t>a</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a:t>
            </a:r>
            <a:r>
              <a:rPr lang="en-US" sz="400">
                <a:solidFill>
                  <a:srgbClr val="6A3E3E"/>
                </a:solidFill>
                <a:effectLst/>
                <a:latin typeface="Menlo" panose="020B0609030804020204" pitchFamily="49" charset="0"/>
              </a:rPr>
              <a:t>i</a:t>
            </a:r>
            <a:r>
              <a:rPr lang="en-US" sz="400">
                <a:effectLst/>
                <a:latin typeface="Menlo" panose="020B0609030804020204" pitchFamily="49" charset="0"/>
              </a:rPr>
              <a:t>]; </a:t>
            </a:r>
            <a:r>
              <a:rPr lang="en-US" sz="400">
                <a:solidFill>
                  <a:srgbClr val="3F7F5F"/>
                </a:solidFill>
                <a:effectLst/>
                <a:latin typeface="Menlo" panose="020B0609030804020204" pitchFamily="49" charset="0"/>
              </a:rPr>
              <a:t>// O(1)</a:t>
            </a:r>
            <a:endParaRPr lang="en-US" sz="400">
              <a:effectLst/>
              <a:latin typeface="Menlo" panose="020B0609030804020204" pitchFamily="49" charset="0"/>
            </a:endParaRPr>
          </a:p>
          <a:p>
            <a:pPr marL="0" indent="0">
              <a:buNone/>
            </a:pPr>
            <a:r>
              <a:rPr lang="en-US" sz="400">
                <a:effectLst/>
                <a:latin typeface="Menlo" panose="020B0609030804020204" pitchFamily="49" charset="0"/>
              </a:rPr>
              <a:t>            }</a:t>
            </a:r>
          </a:p>
          <a:p>
            <a:pPr marL="0" indent="0">
              <a:buNone/>
            </a:pPr>
            <a:endParaRPr lang="en-US" sz="400">
              <a:effectLst/>
              <a:latin typeface="Menlo" panose="020B0609030804020204" pitchFamily="49" charset="0"/>
            </a:endParaRPr>
          </a:p>
          <a:p>
            <a:pPr marL="0" indent="0">
              <a:buNone/>
            </a:pPr>
            <a:r>
              <a:rPr lang="en-US" sz="400">
                <a:solidFill>
                  <a:srgbClr val="000000"/>
                </a:solidFill>
                <a:effectLst/>
                <a:latin typeface="Menlo" panose="020B0609030804020204" pitchFamily="49" charset="0"/>
              </a:rPr>
              <a:t>            </a:t>
            </a:r>
            <a:r>
              <a:rPr lang="en-US" sz="400">
                <a:solidFill>
                  <a:srgbClr val="3F7F5F"/>
                </a:solidFill>
                <a:effectLst/>
                <a:latin typeface="Menlo" panose="020B0609030804020204" pitchFamily="49" charset="0"/>
              </a:rPr>
              <a:t>// copies over b</a:t>
            </a:r>
          </a:p>
          <a:p>
            <a:pPr marL="0" indent="0">
              <a:buNone/>
            </a:pPr>
            <a:r>
              <a:rPr lang="en-US" sz="400">
                <a:effectLst/>
                <a:latin typeface="Menlo" panose="020B0609030804020204" pitchFamily="49" charset="0"/>
              </a:rPr>
              <a:t>            </a:t>
            </a:r>
            <a:r>
              <a:rPr lang="en-US" sz="400">
                <a:solidFill>
                  <a:srgbClr val="3F7F5F"/>
                </a:solidFill>
                <a:effectLst/>
                <a:latin typeface="Menlo" panose="020B0609030804020204" pitchFamily="49" charset="0"/>
              </a:rPr>
              <a:t>// O(n)</a:t>
            </a:r>
            <a:endParaRPr lang="en-US" sz="400">
              <a:effectLst/>
              <a:latin typeface="Menlo" panose="020B0609030804020204" pitchFamily="49" charset="0"/>
            </a:endParaRPr>
          </a:p>
          <a:p>
            <a:pPr marL="0" indent="0">
              <a:buNone/>
            </a:pPr>
            <a:r>
              <a:rPr lang="en-US" sz="400">
                <a:effectLst/>
                <a:latin typeface="Menlo" panose="020B0609030804020204" pitchFamily="49" charset="0"/>
              </a:rPr>
              <a:t>            </a:t>
            </a:r>
            <a:r>
              <a:rPr lang="en-US" sz="400" b="1">
                <a:solidFill>
                  <a:srgbClr val="7F0055"/>
                </a:solidFill>
                <a:effectLst/>
                <a:latin typeface="Menlo" panose="020B0609030804020204" pitchFamily="49" charset="0"/>
              </a:rPr>
              <a:t>for</a:t>
            </a:r>
            <a:r>
              <a:rPr lang="en-US" sz="400">
                <a:effectLst/>
                <a:latin typeface="Menlo" panose="020B0609030804020204" pitchFamily="49" charset="0"/>
              </a:rPr>
              <a:t> (</a:t>
            </a:r>
            <a:r>
              <a:rPr lang="en-US" sz="400" b="1">
                <a:solidFill>
                  <a:srgbClr val="7F0055"/>
                </a:solidFill>
                <a:effectLst/>
                <a:latin typeface="Menlo" panose="020B0609030804020204" pitchFamily="49" charset="0"/>
              </a:rPr>
              <a:t>int</a:t>
            </a:r>
            <a:r>
              <a:rPr lang="en-US" sz="400">
                <a:effectLst/>
                <a:latin typeface="Menlo" panose="020B0609030804020204" pitchFamily="49" charset="0"/>
              </a:rPr>
              <a:t> </a:t>
            </a:r>
            <a:r>
              <a:rPr lang="en-US" sz="400">
                <a:solidFill>
                  <a:srgbClr val="6A3E3E"/>
                </a:solidFill>
                <a:effectLst/>
                <a:latin typeface="Menlo" panose="020B0609030804020204" pitchFamily="49" charset="0"/>
              </a:rPr>
              <a:t>i</a:t>
            </a:r>
            <a:r>
              <a:rPr lang="en-US" sz="400">
                <a:effectLst/>
                <a:latin typeface="Menlo" panose="020B0609030804020204" pitchFamily="49" charset="0"/>
              </a:rPr>
              <a:t> = 0; </a:t>
            </a:r>
            <a:r>
              <a:rPr lang="en-US" sz="400">
                <a:solidFill>
                  <a:srgbClr val="6A3E3E"/>
                </a:solidFill>
                <a:effectLst/>
                <a:latin typeface="Menlo" panose="020B0609030804020204" pitchFamily="49" charset="0"/>
              </a:rPr>
              <a:t>i</a:t>
            </a:r>
            <a:r>
              <a:rPr lang="en-US" sz="400">
                <a:effectLst/>
                <a:latin typeface="Menlo" panose="020B0609030804020204" pitchFamily="49" charset="0"/>
              </a:rPr>
              <a:t> &lt; </a:t>
            </a:r>
            <a:r>
              <a:rPr lang="en-US" sz="400">
                <a:solidFill>
                  <a:srgbClr val="6A3E3E"/>
                </a:solidFill>
                <a:effectLst/>
                <a:latin typeface="Menlo" panose="020B0609030804020204" pitchFamily="49" charset="0"/>
              </a:rPr>
              <a:t>b</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a:t>
            </a:r>
            <a:r>
              <a:rPr lang="en-US" sz="400">
                <a:solidFill>
                  <a:srgbClr val="0000C0"/>
                </a:solidFill>
                <a:effectLst/>
                <a:latin typeface="Menlo" panose="020B0609030804020204" pitchFamily="49" charset="0"/>
              </a:rPr>
              <a:t>length</a:t>
            </a:r>
            <a:r>
              <a:rPr lang="en-US" sz="400">
                <a:effectLst/>
                <a:latin typeface="Menlo" panose="020B0609030804020204" pitchFamily="49" charset="0"/>
              </a:rPr>
              <a:t>; ++</a:t>
            </a:r>
            <a:r>
              <a:rPr lang="en-US" sz="400">
                <a:solidFill>
                  <a:srgbClr val="6A3E3E"/>
                </a:solidFill>
                <a:effectLst/>
                <a:latin typeface="Menlo" panose="020B0609030804020204" pitchFamily="49" charset="0"/>
              </a:rPr>
              <a:t>i</a:t>
            </a:r>
            <a:r>
              <a:rPr lang="en-US" sz="400">
                <a:effectLst/>
                <a:latin typeface="Menlo" panose="020B0609030804020204" pitchFamily="49" charset="0"/>
              </a:rPr>
              <a:t>) {</a:t>
            </a:r>
          </a:p>
          <a:p>
            <a:pPr marL="0" indent="0">
              <a:buNone/>
            </a:pPr>
            <a:r>
              <a:rPr lang="en-US" sz="400">
                <a:effectLst/>
                <a:latin typeface="Menlo" panose="020B0609030804020204" pitchFamily="49" charset="0"/>
              </a:rPr>
              <a:t>                </a:t>
            </a:r>
            <a:r>
              <a:rPr lang="en-US" sz="400">
                <a:solidFill>
                  <a:srgbClr val="6A3E3E"/>
                </a:solidFill>
                <a:effectLst/>
                <a:latin typeface="Menlo" panose="020B0609030804020204" pitchFamily="49" charset="0"/>
              </a:rPr>
              <a:t>result</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a:t>
            </a:r>
            <a:r>
              <a:rPr lang="en-US" sz="400">
                <a:solidFill>
                  <a:srgbClr val="6A3E3E"/>
                </a:solidFill>
                <a:effectLst/>
                <a:latin typeface="Menlo" panose="020B0609030804020204" pitchFamily="49" charset="0"/>
              </a:rPr>
              <a:t>a</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a:t>
            </a:r>
            <a:r>
              <a:rPr lang="en-US" sz="400">
                <a:solidFill>
                  <a:srgbClr val="0000C0"/>
                </a:solidFill>
                <a:effectLst/>
                <a:latin typeface="Menlo" panose="020B0609030804020204" pitchFamily="49" charset="0"/>
              </a:rPr>
              <a:t>length</a:t>
            </a:r>
            <a:r>
              <a:rPr lang="en-US" sz="400">
                <a:effectLst/>
                <a:latin typeface="Menlo" panose="020B0609030804020204" pitchFamily="49" charset="0"/>
              </a:rPr>
              <a:t> + </a:t>
            </a:r>
            <a:r>
              <a:rPr lang="en-US" sz="400">
                <a:solidFill>
                  <a:srgbClr val="6A3E3E"/>
                </a:solidFill>
                <a:effectLst/>
                <a:latin typeface="Menlo" panose="020B0609030804020204" pitchFamily="49" charset="0"/>
              </a:rPr>
              <a:t>i</a:t>
            </a:r>
            <a:r>
              <a:rPr lang="en-US" sz="400">
                <a:effectLst/>
                <a:latin typeface="Menlo" panose="020B0609030804020204" pitchFamily="49" charset="0"/>
              </a:rPr>
              <a:t>] = </a:t>
            </a:r>
            <a:r>
              <a:rPr lang="en-US" sz="400">
                <a:solidFill>
                  <a:srgbClr val="6A3E3E"/>
                </a:solidFill>
                <a:effectLst/>
                <a:latin typeface="Menlo" panose="020B0609030804020204" pitchFamily="49" charset="0"/>
              </a:rPr>
              <a:t>b</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a:t>
            </a:r>
            <a:r>
              <a:rPr lang="en-US" sz="400">
                <a:solidFill>
                  <a:srgbClr val="6A3E3E"/>
                </a:solidFill>
                <a:effectLst/>
                <a:latin typeface="Menlo" panose="020B0609030804020204" pitchFamily="49" charset="0"/>
              </a:rPr>
              <a:t>i</a:t>
            </a:r>
            <a:r>
              <a:rPr lang="en-US" sz="400">
                <a:effectLst/>
                <a:latin typeface="Menlo" panose="020B0609030804020204" pitchFamily="49" charset="0"/>
              </a:rPr>
              <a:t>];</a:t>
            </a:r>
          </a:p>
          <a:p>
            <a:pPr marL="0" indent="0">
              <a:buNone/>
            </a:pPr>
            <a:r>
              <a:rPr lang="en-US" sz="400">
                <a:effectLst/>
                <a:latin typeface="Menlo" panose="020B0609030804020204" pitchFamily="49" charset="0"/>
              </a:rPr>
              <a:t>            }</a:t>
            </a:r>
            <a:br>
              <a:rPr lang="en-US" sz="400">
                <a:effectLst/>
                <a:latin typeface="Menlo" panose="020B0609030804020204" pitchFamily="49" charset="0"/>
              </a:rPr>
            </a:br>
            <a:endParaRPr lang="en-US" sz="400">
              <a:effectLst/>
              <a:latin typeface="Menlo" panose="020B0609030804020204" pitchFamily="49" charset="0"/>
            </a:endParaRPr>
          </a:p>
          <a:p>
            <a:pPr marL="0" indent="0">
              <a:buNone/>
            </a:pPr>
            <a:r>
              <a:rPr lang="en-US" sz="400">
                <a:solidFill>
                  <a:srgbClr val="000000"/>
                </a:solidFill>
                <a:effectLst/>
                <a:latin typeface="Menlo" panose="020B0609030804020204" pitchFamily="49" charset="0"/>
              </a:rPr>
              <a:t>            </a:t>
            </a:r>
            <a:r>
              <a:rPr lang="en-US" sz="400">
                <a:solidFill>
                  <a:srgbClr val="3F7F5F"/>
                </a:solidFill>
                <a:effectLst/>
                <a:latin typeface="Menlo" panose="020B0609030804020204" pitchFamily="49" charset="0"/>
              </a:rPr>
              <a:t>// returning result</a:t>
            </a:r>
          </a:p>
          <a:p>
            <a:pPr marL="0" indent="0">
              <a:buNone/>
            </a:pPr>
            <a:r>
              <a:rPr lang="en-US" sz="400">
                <a:effectLst/>
                <a:latin typeface="Menlo" panose="020B0609030804020204" pitchFamily="49" charset="0"/>
              </a:rPr>
              <a:t>            </a:t>
            </a:r>
            <a:r>
              <a:rPr lang="en-US" sz="400">
                <a:solidFill>
                  <a:srgbClr val="3F7F5F"/>
                </a:solidFill>
                <a:effectLst/>
                <a:latin typeface="Menlo" panose="020B0609030804020204" pitchFamily="49" charset="0"/>
              </a:rPr>
              <a:t>// O(1)</a:t>
            </a:r>
            <a:endParaRPr lang="en-US" sz="400">
              <a:effectLst/>
              <a:latin typeface="Menlo" panose="020B0609030804020204" pitchFamily="49" charset="0"/>
            </a:endParaRPr>
          </a:p>
          <a:p>
            <a:pPr marL="0" indent="0">
              <a:buNone/>
            </a:pPr>
            <a:r>
              <a:rPr lang="en-US" sz="400">
                <a:effectLst/>
                <a:latin typeface="Menlo" panose="020B0609030804020204" pitchFamily="49" charset="0"/>
              </a:rPr>
              <a:t>            </a:t>
            </a:r>
            <a:r>
              <a:rPr lang="en-US" sz="400" b="1">
                <a:solidFill>
                  <a:srgbClr val="7F0055"/>
                </a:solidFill>
                <a:effectLst/>
                <a:latin typeface="Menlo" panose="020B0609030804020204" pitchFamily="49" charset="0"/>
              </a:rPr>
              <a:t>return</a:t>
            </a:r>
            <a:r>
              <a:rPr lang="en-US" sz="400">
                <a:effectLst/>
                <a:latin typeface="Menlo" panose="020B0609030804020204" pitchFamily="49" charset="0"/>
              </a:rPr>
              <a:t> </a:t>
            </a:r>
            <a:r>
              <a:rPr lang="en-US" sz="400">
                <a:solidFill>
                  <a:srgbClr val="6A3E3E"/>
                </a:solidFill>
                <a:effectLst/>
                <a:latin typeface="Menlo" panose="020B0609030804020204" pitchFamily="49" charset="0"/>
              </a:rPr>
              <a:t>result</a:t>
            </a:r>
            <a:r>
              <a:rPr lang="en-US" sz="400">
                <a:effectLst/>
                <a:latin typeface="Menlo" panose="020B0609030804020204" pitchFamily="49" charset="0"/>
              </a:rPr>
              <a:t>;</a:t>
            </a:r>
          </a:p>
          <a:p>
            <a:pPr marL="0" indent="0">
              <a:buNone/>
            </a:pPr>
            <a:r>
              <a:rPr lang="en-US" sz="400">
                <a:effectLst/>
                <a:latin typeface="Menlo" panose="020B0609030804020204" pitchFamily="49" charset="0"/>
              </a:rPr>
              <a:t>        }</a:t>
            </a:r>
          </a:p>
          <a:p>
            <a:pPr marL="0" indent="0">
              <a:buNone/>
            </a:pPr>
            <a:r>
              <a:rPr lang="en-US" sz="400">
                <a:effectLst/>
                <a:latin typeface="Menlo" panose="020B0609030804020204" pitchFamily="49" charset="0"/>
              </a:rPr>
              <a:t>    }</a:t>
            </a:r>
          </a:p>
          <a:p>
            <a:pPr marL="0" indent="0">
              <a:buNone/>
            </a:pPr>
            <a:br>
              <a:rPr lang="en-US" sz="400">
                <a:effectLst/>
                <a:latin typeface="Menlo" panose="020B0609030804020204" pitchFamily="49" charset="0"/>
              </a:rPr>
            </a:br>
            <a:endParaRPr lang="en-US" sz="400">
              <a:effectLst/>
              <a:latin typeface="Menlo" panose="020B0609030804020204" pitchFamily="49" charset="0"/>
            </a:endParaRPr>
          </a:p>
          <a:p>
            <a:pPr marL="0" indent="0">
              <a:buNone/>
            </a:pPr>
            <a:r>
              <a:rPr lang="en-US" sz="400">
                <a:effectLst/>
                <a:latin typeface="Menlo" panose="020B0609030804020204" pitchFamily="49" charset="0"/>
              </a:rPr>
              <a:t>    </a:t>
            </a:r>
            <a:r>
              <a:rPr lang="en-US" sz="400" b="1">
                <a:solidFill>
                  <a:srgbClr val="7F0055"/>
                </a:solidFill>
                <a:effectLst/>
                <a:latin typeface="Menlo" panose="020B0609030804020204" pitchFamily="49" charset="0"/>
              </a:rPr>
              <a:t>public</a:t>
            </a:r>
            <a:r>
              <a:rPr lang="en-US" sz="400">
                <a:effectLst/>
                <a:latin typeface="Menlo" panose="020B0609030804020204" pitchFamily="49" charset="0"/>
              </a:rPr>
              <a:t> </a:t>
            </a:r>
            <a:r>
              <a:rPr lang="en-US" sz="400" b="1">
                <a:solidFill>
                  <a:srgbClr val="7F0055"/>
                </a:solidFill>
                <a:effectLst/>
                <a:latin typeface="Menlo" panose="020B0609030804020204" pitchFamily="49" charset="0"/>
              </a:rPr>
              <a:t>static</a:t>
            </a:r>
            <a:r>
              <a:rPr lang="en-US" sz="400">
                <a:effectLst/>
                <a:latin typeface="Menlo" panose="020B0609030804020204" pitchFamily="49" charset="0"/>
              </a:rPr>
              <a:t> </a:t>
            </a:r>
            <a:r>
              <a:rPr lang="en-US" sz="400" b="1">
                <a:solidFill>
                  <a:srgbClr val="7F0055"/>
                </a:solidFill>
                <a:effectLst/>
                <a:latin typeface="Menlo" panose="020B0609030804020204" pitchFamily="49" charset="0"/>
              </a:rPr>
              <a:t>void</a:t>
            </a:r>
            <a:r>
              <a:rPr lang="en-US" sz="400">
                <a:effectLst/>
                <a:latin typeface="Menlo" panose="020B0609030804020204" pitchFamily="49" charset="0"/>
              </a:rPr>
              <a:t> main(String[] </a:t>
            </a:r>
            <a:r>
              <a:rPr lang="en-US" sz="400">
                <a:solidFill>
                  <a:srgbClr val="6A3E3E"/>
                </a:solidFill>
                <a:effectLst/>
                <a:latin typeface="Menlo" panose="020B0609030804020204" pitchFamily="49" charset="0"/>
              </a:rPr>
              <a:t>arguments</a:t>
            </a:r>
            <a:r>
              <a:rPr lang="en-US" sz="400">
                <a:effectLst/>
                <a:latin typeface="Menlo" panose="020B0609030804020204" pitchFamily="49" charset="0"/>
              </a:rPr>
              <a:t>) {</a:t>
            </a:r>
          </a:p>
          <a:p>
            <a:pPr marL="0" indent="0">
              <a:buNone/>
            </a:pPr>
            <a:r>
              <a:rPr lang="en-US" sz="400">
                <a:effectLst/>
                <a:latin typeface="Menlo" panose="020B0609030804020204" pitchFamily="49" charset="0"/>
              </a:rPr>
              <a:t>        XString </a:t>
            </a:r>
            <a:r>
              <a:rPr lang="en-US" sz="400">
                <a:solidFill>
                  <a:srgbClr val="6A3E3E"/>
                </a:solidFill>
                <a:effectLst/>
                <a:latin typeface="Menlo" panose="020B0609030804020204" pitchFamily="49" charset="0"/>
              </a:rPr>
              <a:t>a</a:t>
            </a:r>
            <a:r>
              <a:rPr lang="en-US" sz="400">
                <a:effectLst/>
                <a:latin typeface="Menlo" panose="020B0609030804020204" pitchFamily="49" charset="0"/>
              </a:rPr>
              <a:t> = </a:t>
            </a:r>
            <a:r>
              <a:rPr lang="en-US" sz="400" b="1">
                <a:solidFill>
                  <a:srgbClr val="7F0055"/>
                </a:solidFill>
                <a:effectLst/>
                <a:latin typeface="Menlo" panose="020B0609030804020204" pitchFamily="49" charset="0"/>
              </a:rPr>
              <a:t>new</a:t>
            </a:r>
            <a:r>
              <a:rPr lang="en-US" sz="400">
                <a:effectLst/>
                <a:latin typeface="Menlo" panose="020B0609030804020204" pitchFamily="49" charset="0"/>
              </a:rPr>
              <a:t> XString();</a:t>
            </a:r>
          </a:p>
          <a:p>
            <a:pPr marL="0" indent="0">
              <a:buNone/>
            </a:pPr>
            <a:r>
              <a:rPr lang="en-US" sz="400">
                <a:effectLst/>
                <a:latin typeface="Menlo" panose="020B0609030804020204" pitchFamily="49" charset="0"/>
              </a:rPr>
              <a:t>        </a:t>
            </a:r>
            <a:r>
              <a:rPr lang="en-US" sz="400">
                <a:solidFill>
                  <a:srgbClr val="6A3E3E"/>
                </a:solidFill>
                <a:effectLst/>
                <a:latin typeface="Menlo" panose="020B0609030804020204" pitchFamily="49" charset="0"/>
              </a:rPr>
              <a:t>a</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 = </a:t>
            </a:r>
            <a:r>
              <a:rPr lang="en-US" sz="400" b="1">
                <a:solidFill>
                  <a:srgbClr val="7F0055"/>
                </a:solidFill>
                <a:effectLst/>
                <a:latin typeface="Menlo" panose="020B0609030804020204" pitchFamily="49" charset="0"/>
              </a:rPr>
              <a:t>new</a:t>
            </a:r>
            <a:r>
              <a:rPr lang="en-US" sz="400">
                <a:effectLst/>
                <a:latin typeface="Menlo" panose="020B0609030804020204" pitchFamily="49" charset="0"/>
              </a:rPr>
              <a:t> </a:t>
            </a:r>
            <a:r>
              <a:rPr lang="en-US" sz="400" b="1">
                <a:solidFill>
                  <a:srgbClr val="7F0055"/>
                </a:solidFill>
                <a:effectLst/>
                <a:latin typeface="Menlo" panose="020B0609030804020204" pitchFamily="49" charset="0"/>
              </a:rPr>
              <a:t>char</a:t>
            </a:r>
            <a:r>
              <a:rPr lang="en-US" sz="400">
                <a:effectLst/>
                <a:latin typeface="Menlo" panose="020B0609030804020204" pitchFamily="49" charset="0"/>
              </a:rPr>
              <a:t>[6];</a:t>
            </a:r>
          </a:p>
          <a:p>
            <a:pPr marL="0" indent="0">
              <a:buNone/>
            </a:pPr>
            <a:r>
              <a:rPr lang="en-US" sz="400">
                <a:effectLst/>
                <a:latin typeface="Menlo" panose="020B0609030804020204" pitchFamily="49" charset="0"/>
              </a:rPr>
              <a:t>        </a:t>
            </a:r>
            <a:r>
              <a:rPr lang="en-US" sz="400">
                <a:solidFill>
                  <a:srgbClr val="6A3E3E"/>
                </a:solidFill>
                <a:effectLst/>
                <a:latin typeface="Menlo" panose="020B0609030804020204" pitchFamily="49" charset="0"/>
              </a:rPr>
              <a:t>a</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[0] = </a:t>
            </a:r>
            <a:r>
              <a:rPr lang="en-US" sz="400">
                <a:solidFill>
                  <a:srgbClr val="2A00FF"/>
                </a:solidFill>
                <a:effectLst/>
                <a:latin typeface="Menlo" panose="020B0609030804020204" pitchFamily="49" charset="0"/>
              </a:rPr>
              <a:t>'H'</a:t>
            </a:r>
            <a:r>
              <a:rPr lang="en-US" sz="400">
                <a:effectLst/>
                <a:latin typeface="Menlo" panose="020B0609030804020204" pitchFamily="49" charset="0"/>
              </a:rPr>
              <a:t>;</a:t>
            </a:r>
          </a:p>
          <a:p>
            <a:pPr marL="0" indent="0">
              <a:buNone/>
            </a:pPr>
            <a:r>
              <a:rPr lang="en-US" sz="400">
                <a:effectLst/>
                <a:latin typeface="Menlo" panose="020B0609030804020204" pitchFamily="49" charset="0"/>
              </a:rPr>
              <a:t>        </a:t>
            </a:r>
            <a:r>
              <a:rPr lang="en-US" sz="400">
                <a:solidFill>
                  <a:srgbClr val="6A3E3E"/>
                </a:solidFill>
                <a:effectLst/>
                <a:latin typeface="Menlo" panose="020B0609030804020204" pitchFamily="49" charset="0"/>
              </a:rPr>
              <a:t>a</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[1] = </a:t>
            </a:r>
            <a:r>
              <a:rPr lang="en-US" sz="400">
                <a:solidFill>
                  <a:srgbClr val="2A00FF"/>
                </a:solidFill>
                <a:effectLst/>
                <a:latin typeface="Menlo" panose="020B0609030804020204" pitchFamily="49" charset="0"/>
              </a:rPr>
              <a:t>'e'</a:t>
            </a:r>
            <a:r>
              <a:rPr lang="en-US" sz="400">
                <a:effectLst/>
                <a:latin typeface="Menlo" panose="020B0609030804020204" pitchFamily="49" charset="0"/>
              </a:rPr>
              <a:t>;</a:t>
            </a:r>
          </a:p>
          <a:p>
            <a:pPr marL="0" indent="0">
              <a:buNone/>
            </a:pPr>
            <a:r>
              <a:rPr lang="en-US" sz="400">
                <a:effectLst/>
                <a:latin typeface="Menlo" panose="020B0609030804020204" pitchFamily="49" charset="0"/>
              </a:rPr>
              <a:t>        </a:t>
            </a:r>
            <a:r>
              <a:rPr lang="en-US" sz="400">
                <a:solidFill>
                  <a:srgbClr val="6A3E3E"/>
                </a:solidFill>
                <a:effectLst/>
                <a:latin typeface="Menlo" panose="020B0609030804020204" pitchFamily="49" charset="0"/>
              </a:rPr>
              <a:t>a</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[2] = </a:t>
            </a:r>
            <a:r>
              <a:rPr lang="en-US" sz="400">
                <a:solidFill>
                  <a:srgbClr val="2A00FF"/>
                </a:solidFill>
                <a:effectLst/>
                <a:latin typeface="Menlo" panose="020B0609030804020204" pitchFamily="49" charset="0"/>
              </a:rPr>
              <a:t>'l'</a:t>
            </a:r>
            <a:r>
              <a:rPr lang="en-US" sz="400">
                <a:effectLst/>
                <a:latin typeface="Menlo" panose="020B0609030804020204" pitchFamily="49" charset="0"/>
              </a:rPr>
              <a:t>;</a:t>
            </a:r>
          </a:p>
          <a:p>
            <a:pPr marL="0" indent="0">
              <a:buNone/>
            </a:pPr>
            <a:r>
              <a:rPr lang="en-US" sz="400">
                <a:effectLst/>
                <a:latin typeface="Menlo" panose="020B0609030804020204" pitchFamily="49" charset="0"/>
              </a:rPr>
              <a:t>        </a:t>
            </a:r>
            <a:r>
              <a:rPr lang="en-US" sz="400">
                <a:solidFill>
                  <a:srgbClr val="6A3E3E"/>
                </a:solidFill>
                <a:effectLst/>
                <a:latin typeface="Menlo" panose="020B0609030804020204" pitchFamily="49" charset="0"/>
              </a:rPr>
              <a:t>a</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[3] = </a:t>
            </a:r>
            <a:r>
              <a:rPr lang="en-US" sz="400">
                <a:solidFill>
                  <a:srgbClr val="2A00FF"/>
                </a:solidFill>
                <a:effectLst/>
                <a:latin typeface="Menlo" panose="020B0609030804020204" pitchFamily="49" charset="0"/>
              </a:rPr>
              <a:t>'l'</a:t>
            </a:r>
            <a:r>
              <a:rPr lang="en-US" sz="400">
                <a:effectLst/>
                <a:latin typeface="Menlo" panose="020B0609030804020204" pitchFamily="49" charset="0"/>
              </a:rPr>
              <a:t>;</a:t>
            </a:r>
          </a:p>
          <a:p>
            <a:pPr marL="0" indent="0">
              <a:buNone/>
            </a:pPr>
            <a:r>
              <a:rPr lang="en-US" sz="400">
                <a:effectLst/>
                <a:latin typeface="Menlo" panose="020B0609030804020204" pitchFamily="49" charset="0"/>
              </a:rPr>
              <a:t>        </a:t>
            </a:r>
            <a:r>
              <a:rPr lang="en-US" sz="400">
                <a:solidFill>
                  <a:srgbClr val="6A3E3E"/>
                </a:solidFill>
                <a:effectLst/>
                <a:latin typeface="Menlo" panose="020B0609030804020204" pitchFamily="49" charset="0"/>
              </a:rPr>
              <a:t>a</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[4] = </a:t>
            </a:r>
            <a:r>
              <a:rPr lang="en-US" sz="400">
                <a:solidFill>
                  <a:srgbClr val="2A00FF"/>
                </a:solidFill>
                <a:effectLst/>
                <a:latin typeface="Menlo" panose="020B0609030804020204" pitchFamily="49" charset="0"/>
              </a:rPr>
              <a:t>'l'</a:t>
            </a:r>
            <a:r>
              <a:rPr lang="en-US" sz="400">
                <a:effectLst/>
                <a:latin typeface="Menlo" panose="020B0609030804020204" pitchFamily="49" charset="0"/>
              </a:rPr>
              <a:t>;</a:t>
            </a:r>
          </a:p>
          <a:p>
            <a:pPr marL="0" indent="0">
              <a:buNone/>
            </a:pPr>
            <a:r>
              <a:rPr lang="en-US" sz="400">
                <a:effectLst/>
                <a:latin typeface="Menlo" panose="020B0609030804020204" pitchFamily="49" charset="0"/>
              </a:rPr>
              <a:t>        </a:t>
            </a:r>
            <a:r>
              <a:rPr lang="en-US" sz="400">
                <a:solidFill>
                  <a:srgbClr val="6A3E3E"/>
                </a:solidFill>
                <a:effectLst/>
                <a:latin typeface="Menlo" panose="020B0609030804020204" pitchFamily="49" charset="0"/>
              </a:rPr>
              <a:t>a</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[5] = </a:t>
            </a:r>
            <a:r>
              <a:rPr lang="en-US" sz="400">
                <a:solidFill>
                  <a:srgbClr val="2A00FF"/>
                </a:solidFill>
                <a:effectLst/>
                <a:latin typeface="Menlo" panose="020B0609030804020204" pitchFamily="49" charset="0"/>
              </a:rPr>
              <a:t>'o'</a:t>
            </a:r>
            <a:r>
              <a:rPr lang="en-US" sz="400">
                <a:effectLst/>
                <a:latin typeface="Menlo" panose="020B0609030804020204" pitchFamily="49" charset="0"/>
              </a:rPr>
              <a:t>;</a:t>
            </a:r>
          </a:p>
          <a:p>
            <a:pPr marL="0" indent="0">
              <a:buNone/>
            </a:pPr>
            <a:br>
              <a:rPr lang="en-US" sz="400">
                <a:effectLst/>
                <a:latin typeface="Menlo" panose="020B0609030804020204" pitchFamily="49" charset="0"/>
              </a:rPr>
            </a:br>
            <a:endParaRPr lang="en-US" sz="400">
              <a:effectLst/>
              <a:latin typeface="Menlo" panose="020B0609030804020204" pitchFamily="49" charset="0"/>
            </a:endParaRPr>
          </a:p>
          <a:p>
            <a:pPr marL="0" indent="0">
              <a:buNone/>
            </a:pPr>
            <a:r>
              <a:rPr lang="en-US" sz="400">
                <a:effectLst/>
                <a:latin typeface="Menlo" panose="020B0609030804020204" pitchFamily="49" charset="0"/>
              </a:rPr>
              <a:t>        XString </a:t>
            </a:r>
            <a:r>
              <a:rPr lang="en-US" sz="400">
                <a:solidFill>
                  <a:srgbClr val="6A3E3E"/>
                </a:solidFill>
                <a:effectLst/>
                <a:latin typeface="Menlo" panose="020B0609030804020204" pitchFamily="49" charset="0"/>
              </a:rPr>
              <a:t>b</a:t>
            </a:r>
            <a:r>
              <a:rPr lang="en-US" sz="400">
                <a:effectLst/>
                <a:latin typeface="Menlo" panose="020B0609030804020204" pitchFamily="49" charset="0"/>
              </a:rPr>
              <a:t> = </a:t>
            </a:r>
            <a:r>
              <a:rPr lang="en-US" sz="400" b="1">
                <a:solidFill>
                  <a:srgbClr val="7F0055"/>
                </a:solidFill>
                <a:effectLst/>
                <a:latin typeface="Menlo" panose="020B0609030804020204" pitchFamily="49" charset="0"/>
              </a:rPr>
              <a:t>new</a:t>
            </a:r>
            <a:r>
              <a:rPr lang="en-US" sz="400">
                <a:effectLst/>
                <a:latin typeface="Menlo" panose="020B0609030804020204" pitchFamily="49" charset="0"/>
              </a:rPr>
              <a:t> XString();</a:t>
            </a:r>
          </a:p>
          <a:p>
            <a:pPr marL="0" indent="0">
              <a:buNone/>
            </a:pPr>
            <a:r>
              <a:rPr lang="en-US" sz="400">
                <a:effectLst/>
                <a:latin typeface="Menlo" panose="020B0609030804020204" pitchFamily="49" charset="0"/>
              </a:rPr>
              <a:t>        </a:t>
            </a:r>
            <a:r>
              <a:rPr lang="en-US" sz="400">
                <a:solidFill>
                  <a:srgbClr val="6A3E3E"/>
                </a:solidFill>
                <a:effectLst/>
                <a:latin typeface="Menlo" panose="020B0609030804020204" pitchFamily="49" charset="0"/>
              </a:rPr>
              <a:t>b</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 = </a:t>
            </a:r>
            <a:r>
              <a:rPr lang="en-US" sz="400" b="1">
                <a:solidFill>
                  <a:srgbClr val="7F0055"/>
                </a:solidFill>
                <a:effectLst/>
                <a:latin typeface="Menlo" panose="020B0609030804020204" pitchFamily="49" charset="0"/>
              </a:rPr>
              <a:t>new</a:t>
            </a:r>
            <a:r>
              <a:rPr lang="en-US" sz="400">
                <a:effectLst/>
                <a:latin typeface="Menlo" panose="020B0609030804020204" pitchFamily="49" charset="0"/>
              </a:rPr>
              <a:t> </a:t>
            </a:r>
            <a:r>
              <a:rPr lang="en-US" sz="400" b="1">
                <a:solidFill>
                  <a:srgbClr val="7F0055"/>
                </a:solidFill>
                <a:effectLst/>
                <a:latin typeface="Menlo" panose="020B0609030804020204" pitchFamily="49" charset="0"/>
              </a:rPr>
              <a:t>char</a:t>
            </a:r>
            <a:r>
              <a:rPr lang="en-US" sz="400">
                <a:effectLst/>
                <a:latin typeface="Menlo" panose="020B0609030804020204" pitchFamily="49" charset="0"/>
              </a:rPr>
              <a:t>[5];</a:t>
            </a:r>
          </a:p>
          <a:p>
            <a:pPr marL="0" indent="0">
              <a:buNone/>
            </a:pPr>
            <a:r>
              <a:rPr lang="en-US" sz="400">
                <a:effectLst/>
                <a:latin typeface="Menlo" panose="020B0609030804020204" pitchFamily="49" charset="0"/>
              </a:rPr>
              <a:t>        </a:t>
            </a:r>
            <a:r>
              <a:rPr lang="en-US" sz="400">
                <a:solidFill>
                  <a:srgbClr val="6A3E3E"/>
                </a:solidFill>
                <a:effectLst/>
                <a:latin typeface="Menlo" panose="020B0609030804020204" pitchFamily="49" charset="0"/>
              </a:rPr>
              <a:t>b</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[0] = </a:t>
            </a:r>
            <a:r>
              <a:rPr lang="en-US" sz="400">
                <a:solidFill>
                  <a:srgbClr val="2A00FF"/>
                </a:solidFill>
                <a:effectLst/>
                <a:latin typeface="Menlo" panose="020B0609030804020204" pitchFamily="49" charset="0"/>
              </a:rPr>
              <a:t>'W'</a:t>
            </a:r>
            <a:r>
              <a:rPr lang="en-US" sz="400">
                <a:effectLst/>
                <a:latin typeface="Menlo" panose="020B0609030804020204" pitchFamily="49" charset="0"/>
              </a:rPr>
              <a:t>;</a:t>
            </a:r>
          </a:p>
          <a:p>
            <a:pPr marL="0" indent="0">
              <a:buNone/>
            </a:pPr>
            <a:r>
              <a:rPr lang="en-US" sz="400">
                <a:effectLst/>
                <a:latin typeface="Menlo" panose="020B0609030804020204" pitchFamily="49" charset="0"/>
              </a:rPr>
              <a:t>        </a:t>
            </a:r>
            <a:r>
              <a:rPr lang="en-US" sz="400">
                <a:solidFill>
                  <a:srgbClr val="6A3E3E"/>
                </a:solidFill>
                <a:effectLst/>
                <a:latin typeface="Menlo" panose="020B0609030804020204" pitchFamily="49" charset="0"/>
              </a:rPr>
              <a:t>b</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[1] = </a:t>
            </a:r>
            <a:r>
              <a:rPr lang="en-US" sz="400">
                <a:solidFill>
                  <a:srgbClr val="2A00FF"/>
                </a:solidFill>
                <a:effectLst/>
                <a:latin typeface="Menlo" panose="020B0609030804020204" pitchFamily="49" charset="0"/>
              </a:rPr>
              <a:t>'o'</a:t>
            </a:r>
            <a:r>
              <a:rPr lang="en-US" sz="400">
                <a:effectLst/>
                <a:latin typeface="Menlo" panose="020B0609030804020204" pitchFamily="49" charset="0"/>
              </a:rPr>
              <a:t>;</a:t>
            </a:r>
          </a:p>
          <a:p>
            <a:pPr marL="0" indent="0">
              <a:buNone/>
            </a:pPr>
            <a:r>
              <a:rPr lang="en-US" sz="400">
                <a:effectLst/>
                <a:latin typeface="Menlo" panose="020B0609030804020204" pitchFamily="49" charset="0"/>
              </a:rPr>
              <a:t>        </a:t>
            </a:r>
            <a:r>
              <a:rPr lang="en-US" sz="400">
                <a:solidFill>
                  <a:srgbClr val="6A3E3E"/>
                </a:solidFill>
                <a:effectLst/>
                <a:latin typeface="Menlo" panose="020B0609030804020204" pitchFamily="49" charset="0"/>
              </a:rPr>
              <a:t>b</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[2] = </a:t>
            </a:r>
            <a:r>
              <a:rPr lang="en-US" sz="400">
                <a:solidFill>
                  <a:srgbClr val="2A00FF"/>
                </a:solidFill>
                <a:effectLst/>
                <a:latin typeface="Menlo" panose="020B0609030804020204" pitchFamily="49" charset="0"/>
              </a:rPr>
              <a:t>'r'</a:t>
            </a:r>
            <a:r>
              <a:rPr lang="en-US" sz="400">
                <a:effectLst/>
                <a:latin typeface="Menlo" panose="020B0609030804020204" pitchFamily="49" charset="0"/>
              </a:rPr>
              <a:t>;</a:t>
            </a:r>
          </a:p>
          <a:p>
            <a:pPr marL="0" indent="0">
              <a:buNone/>
            </a:pPr>
            <a:r>
              <a:rPr lang="en-US" sz="400">
                <a:effectLst/>
                <a:latin typeface="Menlo" panose="020B0609030804020204" pitchFamily="49" charset="0"/>
              </a:rPr>
              <a:t>        </a:t>
            </a:r>
            <a:r>
              <a:rPr lang="en-US" sz="400">
                <a:solidFill>
                  <a:srgbClr val="6A3E3E"/>
                </a:solidFill>
                <a:effectLst/>
                <a:latin typeface="Menlo" panose="020B0609030804020204" pitchFamily="49" charset="0"/>
              </a:rPr>
              <a:t>b</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[3] = </a:t>
            </a:r>
            <a:r>
              <a:rPr lang="en-US" sz="400">
                <a:solidFill>
                  <a:srgbClr val="2A00FF"/>
                </a:solidFill>
                <a:effectLst/>
                <a:latin typeface="Menlo" panose="020B0609030804020204" pitchFamily="49" charset="0"/>
              </a:rPr>
              <a:t>'l'</a:t>
            </a:r>
            <a:r>
              <a:rPr lang="en-US" sz="400">
                <a:effectLst/>
                <a:latin typeface="Menlo" panose="020B0609030804020204" pitchFamily="49" charset="0"/>
              </a:rPr>
              <a:t>;</a:t>
            </a:r>
          </a:p>
          <a:p>
            <a:pPr marL="0" indent="0">
              <a:buNone/>
            </a:pPr>
            <a:r>
              <a:rPr lang="en-US" sz="400">
                <a:effectLst/>
                <a:latin typeface="Menlo" panose="020B0609030804020204" pitchFamily="49" charset="0"/>
              </a:rPr>
              <a:t>        </a:t>
            </a:r>
            <a:r>
              <a:rPr lang="en-US" sz="400">
                <a:solidFill>
                  <a:srgbClr val="6A3E3E"/>
                </a:solidFill>
                <a:effectLst/>
                <a:latin typeface="Menlo" panose="020B0609030804020204" pitchFamily="49" charset="0"/>
              </a:rPr>
              <a:t>b</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[4] = </a:t>
            </a:r>
            <a:r>
              <a:rPr lang="en-US" sz="400">
                <a:solidFill>
                  <a:srgbClr val="2A00FF"/>
                </a:solidFill>
                <a:effectLst/>
                <a:latin typeface="Menlo" panose="020B0609030804020204" pitchFamily="49" charset="0"/>
              </a:rPr>
              <a:t>'d'</a:t>
            </a:r>
            <a:r>
              <a:rPr lang="en-US" sz="400">
                <a:effectLst/>
                <a:latin typeface="Menlo" panose="020B0609030804020204" pitchFamily="49" charset="0"/>
              </a:rPr>
              <a:t>;</a:t>
            </a:r>
          </a:p>
          <a:p>
            <a:pPr marL="0" indent="0">
              <a:buNone/>
            </a:pPr>
            <a:br>
              <a:rPr lang="en-US" sz="400">
                <a:effectLst/>
                <a:latin typeface="Menlo" panose="020B0609030804020204" pitchFamily="49" charset="0"/>
              </a:rPr>
            </a:br>
            <a:endParaRPr lang="en-US" sz="400">
              <a:effectLst/>
              <a:latin typeface="Menlo" panose="020B0609030804020204" pitchFamily="49" charset="0"/>
            </a:endParaRPr>
          </a:p>
          <a:p>
            <a:pPr marL="0" indent="0">
              <a:buNone/>
            </a:pPr>
            <a:r>
              <a:rPr lang="en-US" sz="400">
                <a:effectLst/>
                <a:latin typeface="Menlo" panose="020B0609030804020204" pitchFamily="49" charset="0"/>
              </a:rPr>
              <a:t>        XString </a:t>
            </a:r>
            <a:r>
              <a:rPr lang="en-US" sz="400">
                <a:solidFill>
                  <a:srgbClr val="6A3E3E"/>
                </a:solidFill>
                <a:effectLst/>
                <a:latin typeface="Menlo" panose="020B0609030804020204" pitchFamily="49" charset="0"/>
              </a:rPr>
              <a:t>c</a:t>
            </a:r>
            <a:r>
              <a:rPr lang="en-US" sz="400">
                <a:effectLst/>
                <a:latin typeface="Menlo" panose="020B0609030804020204" pitchFamily="49" charset="0"/>
              </a:rPr>
              <a:t> = XString.</a:t>
            </a:r>
            <a:r>
              <a:rPr lang="en-US" sz="400" i="1">
                <a:effectLst/>
                <a:latin typeface="Menlo" panose="020B0609030804020204" pitchFamily="49" charset="0"/>
              </a:rPr>
              <a:t>plus</a:t>
            </a:r>
            <a:r>
              <a:rPr lang="en-US" sz="400">
                <a:effectLst/>
                <a:latin typeface="Menlo" panose="020B0609030804020204" pitchFamily="49" charset="0"/>
              </a:rPr>
              <a:t>(</a:t>
            </a:r>
            <a:r>
              <a:rPr lang="en-US" sz="400">
                <a:solidFill>
                  <a:srgbClr val="6A3E3E"/>
                </a:solidFill>
                <a:effectLst/>
                <a:latin typeface="Menlo" panose="020B0609030804020204" pitchFamily="49" charset="0"/>
              </a:rPr>
              <a:t>a</a:t>
            </a:r>
            <a:r>
              <a:rPr lang="en-US" sz="400">
                <a:effectLst/>
                <a:latin typeface="Menlo" panose="020B0609030804020204" pitchFamily="49" charset="0"/>
              </a:rPr>
              <a:t>, </a:t>
            </a:r>
            <a:r>
              <a:rPr lang="en-US" sz="400">
                <a:solidFill>
                  <a:srgbClr val="6A3E3E"/>
                </a:solidFill>
                <a:effectLst/>
                <a:latin typeface="Menlo" panose="020B0609030804020204" pitchFamily="49" charset="0"/>
              </a:rPr>
              <a:t>b</a:t>
            </a:r>
            <a:r>
              <a:rPr lang="en-US" sz="400">
                <a:effectLst/>
                <a:latin typeface="Menlo" panose="020B0609030804020204" pitchFamily="49" charset="0"/>
              </a:rPr>
              <a:t>);</a:t>
            </a:r>
          </a:p>
          <a:p>
            <a:pPr marL="0" indent="0">
              <a:buNone/>
            </a:pPr>
            <a:r>
              <a:rPr lang="en-US" sz="400">
                <a:effectLst/>
                <a:latin typeface="Menlo" panose="020B0609030804020204" pitchFamily="49" charset="0"/>
              </a:rPr>
              <a:t>        </a:t>
            </a:r>
            <a:r>
              <a:rPr lang="en-US" sz="400" i="1">
                <a:effectLst/>
                <a:latin typeface="Menlo" panose="020B0609030804020204" pitchFamily="49" charset="0"/>
              </a:rPr>
              <a:t>PRINT</a:t>
            </a:r>
            <a:r>
              <a:rPr lang="en-US" sz="400">
                <a:effectLst/>
                <a:latin typeface="Menlo" panose="020B0609030804020204" pitchFamily="49" charset="0"/>
              </a:rPr>
              <a:t>(</a:t>
            </a:r>
            <a:r>
              <a:rPr lang="en-US" sz="400">
                <a:solidFill>
                  <a:srgbClr val="6A3E3E"/>
                </a:solidFill>
                <a:effectLst/>
                <a:latin typeface="Menlo" panose="020B0609030804020204" pitchFamily="49" charset="0"/>
              </a:rPr>
              <a:t>a</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a:t>
            </a:r>
          </a:p>
          <a:p>
            <a:pPr marL="0" indent="0">
              <a:buNone/>
            </a:pPr>
            <a:r>
              <a:rPr lang="en-US" sz="400">
                <a:effectLst/>
                <a:latin typeface="Menlo" panose="020B0609030804020204" pitchFamily="49" charset="0"/>
              </a:rPr>
              <a:t>        </a:t>
            </a:r>
            <a:r>
              <a:rPr lang="en-US" sz="400" i="1">
                <a:effectLst/>
                <a:latin typeface="Menlo" panose="020B0609030804020204" pitchFamily="49" charset="0"/>
              </a:rPr>
              <a:t>PRINT</a:t>
            </a:r>
            <a:r>
              <a:rPr lang="en-US" sz="400">
                <a:effectLst/>
                <a:latin typeface="Menlo" panose="020B0609030804020204" pitchFamily="49" charset="0"/>
              </a:rPr>
              <a:t>(</a:t>
            </a:r>
            <a:r>
              <a:rPr lang="en-US" sz="400">
                <a:solidFill>
                  <a:srgbClr val="6A3E3E"/>
                </a:solidFill>
                <a:effectLst/>
                <a:latin typeface="Menlo" panose="020B0609030804020204" pitchFamily="49" charset="0"/>
              </a:rPr>
              <a:t>b</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a:t>
            </a:r>
          </a:p>
          <a:p>
            <a:pPr marL="0" indent="0">
              <a:buNone/>
            </a:pPr>
            <a:r>
              <a:rPr lang="en-US" sz="400">
                <a:effectLst/>
                <a:latin typeface="Menlo" panose="020B0609030804020204" pitchFamily="49" charset="0"/>
              </a:rPr>
              <a:t>        </a:t>
            </a:r>
            <a:r>
              <a:rPr lang="en-US" sz="400" i="1">
                <a:effectLst/>
                <a:latin typeface="Menlo" panose="020B0609030804020204" pitchFamily="49" charset="0"/>
              </a:rPr>
              <a:t>PRINT</a:t>
            </a:r>
            <a:r>
              <a:rPr lang="en-US" sz="400">
                <a:effectLst/>
                <a:latin typeface="Menlo" panose="020B0609030804020204" pitchFamily="49" charset="0"/>
              </a:rPr>
              <a:t>(</a:t>
            </a:r>
            <a:r>
              <a:rPr lang="en-US" sz="400">
                <a:solidFill>
                  <a:srgbClr val="6A3E3E"/>
                </a:solidFill>
                <a:effectLst/>
                <a:latin typeface="Menlo" panose="020B0609030804020204" pitchFamily="49" charset="0"/>
              </a:rPr>
              <a:t>c</a:t>
            </a:r>
            <a:r>
              <a:rPr lang="en-US" sz="400">
                <a:effectLst/>
                <a:latin typeface="Menlo" panose="020B0609030804020204" pitchFamily="49" charset="0"/>
              </a:rPr>
              <a:t>.</a:t>
            </a:r>
            <a:r>
              <a:rPr lang="en-US" sz="400">
                <a:solidFill>
                  <a:srgbClr val="0000C0"/>
                </a:solidFill>
                <a:effectLst/>
                <a:latin typeface="Menlo" panose="020B0609030804020204" pitchFamily="49" charset="0"/>
              </a:rPr>
              <a:t>array</a:t>
            </a:r>
            <a:r>
              <a:rPr lang="en-US" sz="400">
                <a:effectLst/>
                <a:latin typeface="Menlo" panose="020B0609030804020204" pitchFamily="49" charset="0"/>
              </a:rPr>
              <a:t>);</a:t>
            </a:r>
          </a:p>
          <a:p>
            <a:pPr marL="0" indent="0">
              <a:buNone/>
            </a:pPr>
            <a:r>
              <a:rPr lang="en-US" sz="400">
                <a:effectLst/>
                <a:latin typeface="Menlo" panose="020B0609030804020204" pitchFamily="49" charset="0"/>
              </a:rPr>
              <a:t>    }</a:t>
            </a:r>
          </a:p>
          <a:p>
            <a:pPr marL="0" indent="0">
              <a:buNone/>
            </a:pPr>
            <a:r>
              <a:rPr lang="en-US" sz="400">
                <a:effectLst/>
                <a:latin typeface="Menlo" panose="020B0609030804020204" pitchFamily="49" charset="0"/>
              </a:rPr>
              <a:t>}</a:t>
            </a:r>
          </a:p>
          <a:p>
            <a:pPr marL="0" indent="0">
              <a:buNone/>
            </a:pPr>
            <a:endParaRPr lang="en-US" sz="400"/>
          </a:p>
        </p:txBody>
      </p:sp>
    </p:spTree>
    <p:extLst>
      <p:ext uri="{BB962C8B-B14F-4D97-AF65-F5344CB8AC3E}">
        <p14:creationId xmlns:p14="http://schemas.microsoft.com/office/powerpoint/2010/main" val="161162805"/>
      </p:ext>
    </p:extLst>
  </p:cSld>
  <p:clrMapOvr>
    <a:masterClrMapping/>
  </p:clrMapOvr>
</p:sld>
</file>

<file path=ppt/slides/slide5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36904-10E7-9987-08BE-3354BA5F18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300C4A-6FC5-8B8D-53A5-5E30B8EBE418}"/>
              </a:ext>
            </a:extLst>
          </p:cNvPr>
          <p:cNvSpPr>
            <a:spLocks noGrp="1"/>
          </p:cNvSpPr>
          <p:nvPr>
            <p:ph type="title"/>
          </p:nvPr>
        </p:nvSpPr>
        <p:spPr/>
        <p:txBody>
          <a:bodyPr/>
          <a:lstStyle/>
          <a:p>
            <a:r>
              <a:rPr lang="en-US"/>
              <a:t>inside of a String (3/4)</a:t>
            </a:r>
          </a:p>
        </p:txBody>
      </p:sp>
      <p:sp>
        <p:nvSpPr>
          <p:cNvPr id="3" name="Content Placeholder 2">
            <a:extLst>
              <a:ext uri="{FF2B5EF4-FFF2-40B4-BE49-F238E27FC236}">
                <a16:creationId xmlns:a16="http://schemas.microsoft.com/office/drawing/2014/main" id="{22350844-B450-076A-8047-C939AB35573E}"/>
              </a:ext>
            </a:extLst>
          </p:cNvPr>
          <p:cNvSpPr>
            <a:spLocks noGrp="1"/>
          </p:cNvSpPr>
          <p:nvPr>
            <p:ph sz="quarter" idx="10"/>
          </p:nvPr>
        </p:nvSpPr>
        <p:spPr/>
        <p:txBody>
          <a:bodyPr/>
          <a:lstStyle/>
          <a:p>
            <a:r>
              <a:rPr lang="en-US"/>
              <a:t>if a </a:t>
            </a:r>
            <a:r>
              <a:rPr lang="en-US">
                <a:solidFill>
                  <a:srgbClr val="000080"/>
                </a:solidFill>
                <a:latin typeface="Consolas" panose="020B0609020204030204" pitchFamily="49" charset="0"/>
                <a:cs typeface="Consolas" panose="020B0609020204030204" pitchFamily="49" charset="0"/>
              </a:rPr>
              <a:t>String</a:t>
            </a:r>
            <a:r>
              <a:rPr lang="en-US"/>
              <a:t> is really just a </a:t>
            </a:r>
            <a:r>
              <a:rPr lang="en-US">
                <a:solidFill>
                  <a:srgbClr val="000080"/>
                </a:solidFill>
                <a:latin typeface="Consolas" panose="020B0609020204030204" pitchFamily="49" charset="0"/>
                <a:cs typeface="Consolas" panose="020B0609020204030204" pitchFamily="49" charset="0"/>
              </a:rPr>
              <a:t>char[]</a:t>
            </a:r>
            <a:r>
              <a:rPr lang="en-US"/>
              <a:t>...</a:t>
            </a:r>
          </a:p>
          <a:p>
            <a:pPr lvl="1"/>
            <a:r>
              <a:rPr lang="en-US"/>
              <a:t>...then what does this code actually </a:t>
            </a:r>
            <a:r>
              <a:rPr lang="en-US" i="1"/>
              <a:t>do</a:t>
            </a:r>
            <a:r>
              <a:rPr lang="en-US"/>
              <a:t>? 🧠</a:t>
            </a:r>
          </a:p>
          <a:p>
            <a:pPr lvl="1"/>
            <a:r>
              <a:rPr lang="en-US"/>
              <a:t>.. how many new </a:t>
            </a:r>
            <a:r>
              <a:rPr lang="en-US">
                <a:solidFill>
                  <a:srgbClr val="000080"/>
                </a:solidFill>
                <a:latin typeface="Consolas" panose="020B0609020204030204" pitchFamily="49" charset="0"/>
                <a:cs typeface="Consolas" panose="020B0609020204030204" pitchFamily="49" charset="0"/>
              </a:rPr>
              <a:t>char[]</a:t>
            </a:r>
            <a:r>
              <a:rPr lang="en-US"/>
              <a:t>'s are created?</a:t>
            </a:r>
          </a:p>
          <a:p>
            <a:endParaRPr lang="en-US"/>
          </a:p>
          <a:p>
            <a:endParaRPr lang="en-US"/>
          </a:p>
        </p:txBody>
      </p:sp>
      <p:sp>
        <p:nvSpPr>
          <p:cNvPr id="4" name="TextBox 3">
            <a:extLst>
              <a:ext uri="{FF2B5EF4-FFF2-40B4-BE49-F238E27FC236}">
                <a16:creationId xmlns:a16="http://schemas.microsoft.com/office/drawing/2014/main" id="{0A9E441A-EA53-0D2C-88F3-DD66EC43C99D}"/>
              </a:ext>
            </a:extLst>
          </p:cNvPr>
          <p:cNvSpPr txBox="1"/>
          <p:nvPr/>
        </p:nvSpPr>
        <p:spPr>
          <a:xfrm>
            <a:off x="457200" y="2126309"/>
            <a:ext cx="8229600" cy="1754326"/>
          </a:xfrm>
          <a:prstGeom prst="rect">
            <a:avLst/>
          </a:prstGeom>
          <a:solidFill>
            <a:schemeClr val="bg1"/>
          </a:solidFill>
          <a:ln>
            <a:solidFill>
              <a:schemeClr val="tx1"/>
            </a:solidFill>
          </a:ln>
        </p:spPr>
        <p:txBody>
          <a:bodyPr wrap="square" rtlCol="0">
            <a:spAutoFit/>
          </a:bodyPr>
          <a:lstStyle/>
          <a:p>
            <a:r>
              <a:rPr lang="en-US">
                <a:solidFill>
                  <a:srgbClr val="000080"/>
                </a:solidFill>
                <a:latin typeface="Consolas" panose="020B0609020204030204" pitchFamily="49" charset="0"/>
                <a:cs typeface="Consolas" panose="020B0609020204030204" pitchFamily="49" charset="0"/>
              </a:rPr>
              <a:t>String</a:t>
            </a:r>
            <a:r>
              <a:rPr lang="en-US">
                <a:latin typeface="Consolas" panose="020B0609020204030204" pitchFamily="49" charset="0"/>
                <a:cs typeface="Consolas" panose="020B0609020204030204" pitchFamily="49" charset="0"/>
              </a:rPr>
              <a:t> a = </a:t>
            </a:r>
            <a:r>
              <a:rPr lang="en-US">
                <a:solidFill>
                  <a:srgbClr val="C00000"/>
                </a:solidFill>
                <a:latin typeface="Consolas" panose="020B0609020204030204" pitchFamily="49" charset="0"/>
                <a:cs typeface="Consolas" panose="020B0609020204030204" pitchFamily="49" charset="0"/>
              </a:rPr>
              <a:t>"Hello"</a:t>
            </a:r>
            <a:r>
              <a:rPr lang="en-US">
                <a:latin typeface="Consolas" panose="020B0609020204030204" pitchFamily="49" charset="0"/>
                <a:cs typeface="Consolas" panose="020B0609020204030204" pitchFamily="49" charset="0"/>
              </a:rPr>
              <a:t>;</a:t>
            </a:r>
          </a:p>
          <a:p>
            <a:r>
              <a:rPr lang="en-US">
                <a:solidFill>
                  <a:srgbClr val="000080"/>
                </a:solidFill>
                <a:latin typeface="Consolas" panose="020B0609020204030204" pitchFamily="49" charset="0"/>
                <a:cs typeface="Consolas" panose="020B0609020204030204" pitchFamily="49" charset="0"/>
              </a:rPr>
              <a:t>String</a:t>
            </a:r>
            <a:r>
              <a:rPr lang="en-US">
                <a:latin typeface="Consolas" panose="020B0609020204030204" pitchFamily="49" charset="0"/>
                <a:cs typeface="Consolas" panose="020B0609020204030204" pitchFamily="49" charset="0"/>
              </a:rPr>
              <a:t> b = </a:t>
            </a:r>
            <a:r>
              <a:rPr lang="en-US">
                <a:solidFill>
                  <a:srgbClr val="C00000"/>
                </a:solidFill>
                <a:latin typeface="Consolas" panose="020B0609020204030204" pitchFamily="49" charset="0"/>
                <a:cs typeface="Consolas" panose="020B0609020204030204" pitchFamily="49" charset="0"/>
              </a:rPr>
              <a:t>" "</a:t>
            </a:r>
            <a:r>
              <a:rPr lang="en-US">
                <a:latin typeface="Consolas" panose="020B0609020204030204" pitchFamily="49" charset="0"/>
                <a:cs typeface="Consolas" panose="020B0609020204030204" pitchFamily="49" charset="0"/>
              </a:rPr>
              <a:t>;</a:t>
            </a:r>
          </a:p>
          <a:p>
            <a:r>
              <a:rPr lang="en-US">
                <a:solidFill>
                  <a:srgbClr val="000080"/>
                </a:solidFill>
                <a:latin typeface="Consolas" panose="020B0609020204030204" pitchFamily="49" charset="0"/>
                <a:cs typeface="Consolas" panose="020B0609020204030204" pitchFamily="49" charset="0"/>
              </a:rPr>
              <a:t>String</a:t>
            </a:r>
            <a:r>
              <a:rPr lang="en-US">
                <a:latin typeface="Consolas" panose="020B0609020204030204" pitchFamily="49" charset="0"/>
                <a:cs typeface="Consolas" panose="020B0609020204030204" pitchFamily="49" charset="0"/>
              </a:rPr>
              <a:t> c = </a:t>
            </a:r>
            <a:r>
              <a:rPr lang="en-US">
                <a:solidFill>
                  <a:srgbClr val="C00000"/>
                </a:solidFill>
                <a:latin typeface="Consolas" panose="020B0609020204030204" pitchFamily="49" charset="0"/>
                <a:cs typeface="Consolas" panose="020B0609020204030204" pitchFamily="49" charset="0"/>
              </a:rPr>
              <a:t>"World"</a:t>
            </a:r>
            <a:r>
              <a:rPr lang="en-US">
                <a:latin typeface="Consolas" panose="020B0609020204030204" pitchFamily="49" charset="0"/>
                <a:cs typeface="Consolas" panose="020B0609020204030204" pitchFamily="49" charset="0"/>
              </a:rPr>
              <a:t>;</a:t>
            </a:r>
          </a:p>
          <a:p>
            <a:r>
              <a:rPr lang="en-US">
                <a:solidFill>
                  <a:srgbClr val="000080"/>
                </a:solidFill>
                <a:latin typeface="Consolas" panose="020B0609020204030204" pitchFamily="49" charset="0"/>
                <a:cs typeface="Consolas" panose="020B0609020204030204" pitchFamily="49" charset="0"/>
              </a:rPr>
              <a:t>String</a:t>
            </a:r>
            <a:r>
              <a:rPr lang="en-US">
                <a:latin typeface="Consolas" panose="020B0609020204030204" pitchFamily="49" charset="0"/>
                <a:cs typeface="Consolas" panose="020B0609020204030204" pitchFamily="49" charset="0"/>
              </a:rPr>
              <a:t> d = </a:t>
            </a:r>
            <a:r>
              <a:rPr lang="en-US">
                <a:solidFill>
                  <a:srgbClr val="C00000"/>
                </a:solidFill>
                <a:latin typeface="Consolas" panose="020B0609020204030204" pitchFamily="49" charset="0"/>
                <a:cs typeface="Consolas" panose="020B0609020204030204" pitchFamily="49" charset="0"/>
              </a:rPr>
              <a:t>"!"</a:t>
            </a:r>
            <a:r>
              <a:rPr lang="en-US">
                <a:latin typeface="Consolas" panose="020B0609020204030204" pitchFamily="49" charset="0"/>
                <a:cs typeface="Consolas" panose="020B0609020204030204" pitchFamily="49" charset="0"/>
              </a:rPr>
              <a:t>;</a:t>
            </a:r>
          </a:p>
          <a:p>
            <a:r>
              <a:rPr lang="en-US">
                <a:solidFill>
                  <a:srgbClr val="000080"/>
                </a:solidFill>
                <a:latin typeface="Consolas" panose="020B0609020204030204" pitchFamily="49" charset="0"/>
                <a:cs typeface="Consolas" panose="020B0609020204030204" pitchFamily="49" charset="0"/>
              </a:rPr>
              <a:t>String</a:t>
            </a:r>
            <a:r>
              <a:rPr lang="en-US">
                <a:latin typeface="Consolas" panose="020B0609020204030204" pitchFamily="49" charset="0"/>
                <a:cs typeface="Consolas" panose="020B0609020204030204" pitchFamily="49" charset="0"/>
              </a:rPr>
              <a:t> e = a + b + c + d;</a:t>
            </a:r>
          </a:p>
          <a:p>
            <a:r>
              <a:rPr lang="en-US" err="1">
                <a:solidFill>
                  <a:srgbClr val="000080"/>
                </a:solidFill>
                <a:latin typeface="+mj-lt"/>
              </a:rPr>
              <a:t>PRINT</a:t>
            </a:r>
            <a:r>
              <a:rPr lang="en-US">
                <a:latin typeface="Consolas" panose="020B0609020204030204" pitchFamily="49" charset="0"/>
                <a:cs typeface="Consolas" panose="020B0609020204030204" pitchFamily="49" charset="0"/>
              </a:rPr>
              <a:t>(e); </a:t>
            </a:r>
            <a:r>
              <a:rPr lang="en-US">
                <a:solidFill>
                  <a:srgbClr val="007B00"/>
                </a:solidFill>
                <a:latin typeface="Consolas" panose="020B0609020204030204" pitchFamily="49" charset="0"/>
                <a:cs typeface="Consolas" panose="020B0609020204030204" pitchFamily="49" charset="0"/>
              </a:rPr>
              <a:t>// "Hello World!"</a:t>
            </a:r>
          </a:p>
        </p:txBody>
      </p:sp>
    </p:spTree>
    <p:extLst>
      <p:ext uri="{BB962C8B-B14F-4D97-AF65-F5344CB8AC3E}">
        <p14:creationId xmlns:p14="http://schemas.microsoft.com/office/powerpoint/2010/main" val="1458943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DA9BB-4618-81C1-3DE2-D48EBD9178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04EF63-70F4-0B0E-35D0-D942CB383CF0}"/>
              </a:ext>
            </a:extLst>
          </p:cNvPr>
          <p:cNvSpPr>
            <a:spLocks noGrp="1"/>
          </p:cNvSpPr>
          <p:nvPr>
            <p:ph type="title"/>
          </p:nvPr>
        </p:nvSpPr>
        <p:spPr/>
        <p:txBody>
          <a:bodyPr/>
          <a:lstStyle/>
          <a:p>
            <a:r>
              <a:rPr lang="en-US"/>
              <a:t>interlude</a:t>
            </a:r>
          </a:p>
        </p:txBody>
      </p:sp>
      <p:sp>
        <p:nvSpPr>
          <p:cNvPr id="3" name="Content Placeholder 2">
            <a:extLst>
              <a:ext uri="{FF2B5EF4-FFF2-40B4-BE49-F238E27FC236}">
                <a16:creationId xmlns:a16="http://schemas.microsoft.com/office/drawing/2014/main" id="{0A691FBA-4A8B-DFEB-747D-73E838DD01C5}"/>
              </a:ext>
            </a:extLst>
          </p:cNvPr>
          <p:cNvSpPr>
            <a:spLocks noGrp="1"/>
          </p:cNvSpPr>
          <p:nvPr>
            <p:ph sz="quarter" idx="10"/>
          </p:nvPr>
        </p:nvSpPr>
        <p:spPr/>
        <p:txBody>
          <a:bodyPr/>
          <a:lstStyle/>
          <a:p>
            <a:r>
              <a:rPr lang="en-US">
                <a:solidFill>
                  <a:schemeClr val="bg1"/>
                </a:solidFill>
              </a:rPr>
              <a:t>if a </a:t>
            </a:r>
            <a:r>
              <a:rPr lang="en-US">
                <a:solidFill>
                  <a:schemeClr val="bg1"/>
                </a:solidFill>
                <a:latin typeface="Consolas" panose="020B0609020204030204" pitchFamily="49" charset="0"/>
                <a:cs typeface="Consolas" panose="020B0609020204030204" pitchFamily="49" charset="0"/>
              </a:rPr>
              <a:t>String</a:t>
            </a:r>
            <a:r>
              <a:rPr lang="en-US">
                <a:solidFill>
                  <a:schemeClr val="bg1"/>
                </a:solidFill>
              </a:rPr>
              <a:t> is really just a </a:t>
            </a:r>
            <a:r>
              <a:rPr lang="en-US">
                <a:solidFill>
                  <a:schemeClr val="bg1"/>
                </a:solidFill>
                <a:latin typeface="Consolas" panose="020B0609020204030204" pitchFamily="49" charset="0"/>
                <a:cs typeface="Consolas" panose="020B0609020204030204" pitchFamily="49" charset="0"/>
              </a:rPr>
              <a:t>char[]</a:t>
            </a:r>
            <a:r>
              <a:rPr lang="en-US">
                <a:solidFill>
                  <a:schemeClr val="bg1"/>
                </a:solidFill>
              </a:rPr>
              <a:t>...</a:t>
            </a:r>
          </a:p>
          <a:p>
            <a:pPr lvl="1"/>
            <a:r>
              <a:rPr lang="en-US">
                <a:solidFill>
                  <a:schemeClr val="bg1"/>
                </a:solidFill>
              </a:rPr>
              <a:t>...then what does this code </a:t>
            </a:r>
            <a:r>
              <a:rPr lang="en-US" i="1">
                <a:solidFill>
                  <a:schemeClr val="bg1"/>
                </a:solidFill>
              </a:rPr>
              <a:t>do</a:t>
            </a:r>
            <a:r>
              <a:rPr lang="en-US">
                <a:solidFill>
                  <a:schemeClr val="bg1"/>
                </a:solidFill>
              </a:rPr>
              <a:t>?</a:t>
            </a:r>
          </a:p>
          <a:p>
            <a:pPr lvl="1"/>
            <a:r>
              <a:rPr lang="en-US"/>
              <a:t>...what is this code's big O runtime? 🧠</a:t>
            </a:r>
          </a:p>
          <a:p>
            <a:endParaRPr lang="en-US"/>
          </a:p>
          <a:p>
            <a:endParaRPr lang="en-US"/>
          </a:p>
        </p:txBody>
      </p:sp>
      <p:sp>
        <p:nvSpPr>
          <p:cNvPr id="4" name="TextBox 3">
            <a:extLst>
              <a:ext uri="{FF2B5EF4-FFF2-40B4-BE49-F238E27FC236}">
                <a16:creationId xmlns:a16="http://schemas.microsoft.com/office/drawing/2014/main" id="{6D55D40C-3DEF-55BE-8341-BF697C600BD9}"/>
              </a:ext>
            </a:extLst>
          </p:cNvPr>
          <p:cNvSpPr txBox="1"/>
          <p:nvPr/>
        </p:nvSpPr>
        <p:spPr>
          <a:xfrm>
            <a:off x="457200" y="2200107"/>
            <a:ext cx="8229600" cy="1477328"/>
          </a:xfrm>
          <a:prstGeom prst="rect">
            <a:avLst/>
          </a:prstGeom>
          <a:solidFill>
            <a:schemeClr val="bg1"/>
          </a:solidFill>
          <a:ln>
            <a:solidFill>
              <a:schemeClr val="tx1"/>
            </a:solidFill>
          </a:ln>
        </p:spPr>
        <p:txBody>
          <a:bodyPr wrap="square" rtlCol="0">
            <a:spAutoFit/>
          </a:bodyPr>
          <a:lstStyle/>
          <a:p>
            <a:r>
              <a:rPr lang="en-US">
                <a:solidFill>
                  <a:srgbClr val="00007F"/>
                </a:solidFill>
                <a:latin typeface="Consolas" panose="020B0609020204030204" pitchFamily="49" charset="0"/>
                <a:cs typeface="Consolas" panose="020B0609020204030204" pitchFamily="49" charset="0"/>
              </a:rPr>
              <a:t>int</a:t>
            </a:r>
            <a:r>
              <a:rPr lang="en-US">
                <a:latin typeface="Consolas" panose="020B0609020204030204" pitchFamily="49" charset="0"/>
                <a:cs typeface="Consolas" panose="020B0609020204030204" pitchFamily="49" charset="0"/>
              </a:rPr>
              <a:t> foo = </a:t>
            </a:r>
            <a:r>
              <a:rPr lang="en-US">
                <a:solidFill>
                  <a:srgbClr val="09B5B6"/>
                </a:solidFill>
                <a:latin typeface="Consolas"/>
                <a:cs typeface="Consolas" panose="020B0609020204030204" pitchFamily="49" charset="0"/>
              </a:rPr>
              <a:t>0</a:t>
            </a:r>
            <a:r>
              <a:rPr lang="en-US">
                <a:latin typeface="Consolas" panose="020B0609020204030204" pitchFamily="49" charset="0"/>
                <a:cs typeface="Consolas" panose="020B0609020204030204" pitchFamily="49" charset="0"/>
              </a:rPr>
              <a:t>;</a:t>
            </a:r>
          </a:p>
          <a:p>
            <a:r>
              <a:rPr lang="en-US">
                <a:solidFill>
                  <a:srgbClr val="0432FF"/>
                </a:solidFill>
                <a:latin typeface="Consolas" panose="020B0609020204030204" pitchFamily="49" charset="0"/>
                <a:cs typeface="Consolas" panose="020B0609020204030204" pitchFamily="49" charset="0"/>
              </a:rPr>
              <a:t>for</a:t>
            </a:r>
            <a:r>
              <a:rPr lang="en-US">
                <a:latin typeface="Consolas" panose="020B0609020204030204" pitchFamily="49" charset="0"/>
                <a:cs typeface="Consolas" panose="020B0609020204030204" pitchFamily="49" charset="0"/>
              </a:rPr>
              <a:t> (</a:t>
            </a:r>
            <a:r>
              <a:rPr lang="en-US">
                <a:solidFill>
                  <a:srgbClr val="00007F"/>
                </a:solidFill>
                <a:latin typeface="Consolas" panose="020B0609020204030204" pitchFamily="49" charset="0"/>
                <a:cs typeface="Consolas" panose="020B0609020204030204" pitchFamily="49" charset="0"/>
              </a:rPr>
              <a:t>int</a:t>
            </a:r>
            <a:r>
              <a:rPr lang="en-US">
                <a:latin typeface="Consolas" panose="020B0609020204030204" pitchFamily="49" charset="0"/>
                <a:cs typeface="Consolas" panose="020B0609020204030204" pitchFamily="49" charset="0"/>
              </a:rPr>
              <a:t> i = </a:t>
            </a:r>
            <a:r>
              <a:rPr lang="en-US">
                <a:solidFill>
                  <a:srgbClr val="09B5B6"/>
                </a:solidFill>
                <a:latin typeface="Consolas"/>
                <a:cs typeface="Consolas" panose="020B0609020204030204" pitchFamily="49" charset="0"/>
              </a:rPr>
              <a:t>0</a:t>
            </a:r>
            <a:r>
              <a:rPr lang="en-US">
                <a:latin typeface="Consolas" panose="020B0609020204030204" pitchFamily="49" charset="0"/>
                <a:cs typeface="Consolas" panose="020B0609020204030204" pitchFamily="49" charset="0"/>
              </a:rPr>
              <a:t>; i &lt; n; ++i) {</a:t>
            </a:r>
            <a:r>
              <a:rPr lang="en-US">
                <a:solidFill>
                  <a:srgbClr val="007B00"/>
                </a:solidFill>
                <a:latin typeface="Consolas" panose="020B0609020204030204" pitchFamily="49" charset="0"/>
                <a:cs typeface="Consolas" panose="020B0609020204030204" pitchFamily="49" charset="0"/>
              </a:rPr>
              <a:t> // O(n)</a:t>
            </a:r>
          </a:p>
          <a:p>
            <a:r>
              <a:rPr lang="en-US">
                <a:latin typeface="Consolas" panose="020B0609020204030204" pitchFamily="49" charset="0"/>
                <a:cs typeface="Consolas" panose="020B0609020204030204" pitchFamily="49" charset="0"/>
              </a:rPr>
              <a:t>    foo += </a:t>
            </a:r>
            <a:r>
              <a:rPr lang="en-US">
                <a:solidFill>
                  <a:srgbClr val="09B5B6"/>
                </a:solidFill>
                <a:latin typeface="Consolas"/>
                <a:cs typeface="Consolas" panose="020B0609020204030204" pitchFamily="49" charset="0"/>
              </a:rPr>
              <a:t>1</a:t>
            </a:r>
            <a:r>
              <a:rPr lang="en-US">
                <a:latin typeface="Consolas" panose="020B0609020204030204" pitchFamily="49" charset="0"/>
                <a:cs typeface="Consolas" panose="020B0609020204030204" pitchFamily="49" charset="0"/>
              </a:rPr>
              <a:t>;                 </a:t>
            </a:r>
            <a:r>
              <a:rPr lang="en-US">
                <a:solidFill>
                  <a:srgbClr val="007B00"/>
                </a:solidFill>
                <a:latin typeface="Consolas" panose="020B0609020204030204" pitchFamily="49" charset="0"/>
                <a:cs typeface="Consolas" panose="020B0609020204030204" pitchFamily="49" charset="0"/>
              </a:rPr>
              <a:t>// * O(1)</a:t>
            </a:r>
            <a:endParaRPr lang="en-US">
              <a:latin typeface="Consolas" panose="020B0609020204030204" pitchFamily="49" charset="0"/>
              <a:cs typeface="Consolas" panose="020B0609020204030204" pitchFamily="49" charset="0"/>
            </a:endParaRPr>
          </a:p>
          <a:p>
            <a:r>
              <a:rPr lang="en-US">
                <a:latin typeface="Consolas" panose="020B0609020204030204" pitchFamily="49" charset="0"/>
                <a:cs typeface="Consolas" panose="020B0609020204030204" pitchFamily="49" charset="0"/>
              </a:rPr>
              <a:t>}</a:t>
            </a:r>
          </a:p>
          <a:p>
            <a:r>
              <a:rPr lang="en-US">
                <a:solidFill>
                  <a:srgbClr val="00007F"/>
                </a:solidFill>
                <a:latin typeface="Consolas" panose="020B0609020204030204" pitchFamily="49" charset="0"/>
                <a:cs typeface="Consolas" panose="020B0609020204030204" pitchFamily="49" charset="0"/>
              </a:rPr>
              <a:t>PRINT</a:t>
            </a:r>
            <a:r>
              <a:rPr lang="en-US">
                <a:latin typeface="Consolas" panose="020B0609020204030204" pitchFamily="49" charset="0"/>
                <a:cs typeface="Consolas" panose="020B0609020204030204" pitchFamily="49" charset="0"/>
              </a:rPr>
              <a:t>(foo);</a:t>
            </a:r>
          </a:p>
        </p:txBody>
      </p:sp>
    </p:spTree>
    <p:extLst>
      <p:ext uri="{BB962C8B-B14F-4D97-AF65-F5344CB8AC3E}">
        <p14:creationId xmlns:p14="http://schemas.microsoft.com/office/powerpoint/2010/main" val="3120937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2FA2F-742A-AB7B-C964-3B2DA85C63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714C7B-63A3-B285-361A-8448AB0AB5A8}"/>
              </a:ext>
            </a:extLst>
          </p:cNvPr>
          <p:cNvSpPr>
            <a:spLocks noGrp="1"/>
          </p:cNvSpPr>
          <p:nvPr>
            <p:ph type="title"/>
          </p:nvPr>
        </p:nvSpPr>
        <p:spPr/>
        <p:txBody>
          <a:bodyPr>
            <a:noAutofit/>
          </a:bodyPr>
          <a:lstStyle/>
          <a:p>
            <a:r>
              <a:rPr lang="en-US"/>
              <a:t>inside a String (4/4)</a:t>
            </a:r>
          </a:p>
        </p:txBody>
      </p:sp>
      <p:sp>
        <p:nvSpPr>
          <p:cNvPr id="3" name="Content Placeholder 2">
            <a:extLst>
              <a:ext uri="{FF2B5EF4-FFF2-40B4-BE49-F238E27FC236}">
                <a16:creationId xmlns:a16="http://schemas.microsoft.com/office/drawing/2014/main" id="{3FA5A11B-A747-DC4B-0BD4-B547997D5A0A}"/>
              </a:ext>
            </a:extLst>
          </p:cNvPr>
          <p:cNvSpPr>
            <a:spLocks noGrp="1"/>
          </p:cNvSpPr>
          <p:nvPr>
            <p:ph sz="quarter" idx="10"/>
          </p:nvPr>
        </p:nvSpPr>
        <p:spPr/>
        <p:txBody>
          <a:bodyPr/>
          <a:lstStyle/>
          <a:p>
            <a:r>
              <a:rPr lang="en-US" sz="2400"/>
              <a:t>if a </a:t>
            </a:r>
            <a:r>
              <a:rPr lang="en-US" sz="2400">
                <a:solidFill>
                  <a:srgbClr val="000080"/>
                </a:solidFill>
                <a:latin typeface="Consolas" panose="020B0609020204030204" pitchFamily="49" charset="0"/>
                <a:cs typeface="Consolas" panose="020B0609020204030204" pitchFamily="49" charset="0"/>
              </a:rPr>
              <a:t>String</a:t>
            </a:r>
            <a:r>
              <a:rPr lang="en-US" sz="2400"/>
              <a:t> is really just a </a:t>
            </a:r>
            <a:r>
              <a:rPr lang="en-US" sz="2400">
                <a:solidFill>
                  <a:srgbClr val="000080"/>
                </a:solidFill>
                <a:latin typeface="Consolas" panose="020B0609020204030204" pitchFamily="49" charset="0"/>
                <a:cs typeface="Consolas" panose="020B0609020204030204" pitchFamily="49" charset="0"/>
              </a:rPr>
              <a:t>char[]</a:t>
            </a:r>
            <a:r>
              <a:rPr lang="en-US" sz="2400"/>
              <a:t>...</a:t>
            </a:r>
          </a:p>
          <a:p>
            <a:pPr lvl="1"/>
            <a:r>
              <a:rPr lang="en-US" sz="2400"/>
              <a:t>...then what does this code </a:t>
            </a:r>
            <a:r>
              <a:rPr lang="en-US" sz="2400" i="1"/>
              <a:t>do</a:t>
            </a:r>
            <a:r>
              <a:rPr lang="en-US" sz="2400"/>
              <a:t>?</a:t>
            </a:r>
          </a:p>
          <a:p>
            <a:pPr lvl="1"/>
            <a:r>
              <a:rPr lang="en-US" sz="2400"/>
              <a:t>...what is its big O runtime? 🧠</a:t>
            </a:r>
          </a:p>
          <a:p>
            <a:endParaRPr lang="en-US" sz="2400"/>
          </a:p>
          <a:p>
            <a:endParaRPr lang="en-US" sz="2400"/>
          </a:p>
        </p:txBody>
      </p:sp>
      <p:sp>
        <p:nvSpPr>
          <p:cNvPr id="4" name="TextBox 3">
            <a:extLst>
              <a:ext uri="{FF2B5EF4-FFF2-40B4-BE49-F238E27FC236}">
                <a16:creationId xmlns:a16="http://schemas.microsoft.com/office/drawing/2014/main" id="{65E30C50-4C36-9826-293C-13E6591C8FDE}"/>
              </a:ext>
            </a:extLst>
          </p:cNvPr>
          <p:cNvSpPr txBox="1"/>
          <p:nvPr/>
        </p:nvSpPr>
        <p:spPr>
          <a:xfrm>
            <a:off x="457200" y="2571750"/>
            <a:ext cx="8229600" cy="1938992"/>
          </a:xfrm>
          <a:prstGeom prst="rect">
            <a:avLst/>
          </a:prstGeom>
          <a:solidFill>
            <a:schemeClr val="bg1"/>
          </a:solidFill>
          <a:ln>
            <a:solidFill>
              <a:schemeClr val="tx1"/>
            </a:solidFill>
          </a:ln>
        </p:spPr>
        <p:txBody>
          <a:bodyPr wrap="square" rtlCol="0">
            <a:spAutoFit/>
          </a:bodyPr>
          <a:lstStyle/>
          <a:p>
            <a:r>
              <a:rPr lang="en-US" sz="2400">
                <a:solidFill>
                  <a:srgbClr val="00007F"/>
                </a:solidFill>
                <a:latin typeface="Consolas" panose="020B0609020204030204" pitchFamily="49" charset="0"/>
                <a:cs typeface="Consolas" panose="020B0609020204030204" pitchFamily="49" charset="0"/>
              </a:rPr>
              <a:t>String</a:t>
            </a:r>
            <a:r>
              <a:rPr lang="en-US" sz="2400">
                <a:latin typeface="Consolas" panose="020B0609020204030204" pitchFamily="49" charset="0"/>
                <a:cs typeface="Consolas" panose="020B0609020204030204" pitchFamily="49" charset="0"/>
              </a:rPr>
              <a:t> scream = </a:t>
            </a:r>
            <a:r>
              <a:rPr lang="en-US" sz="2400">
                <a:solidFill>
                  <a:srgbClr val="C00000"/>
                </a:solidFill>
                <a:latin typeface="Consolas" panose="020B0609020204030204" pitchFamily="49" charset="0"/>
                <a:cs typeface="Consolas" panose="020B0609020204030204" pitchFamily="49" charset="0"/>
              </a:rPr>
              <a:t>""</a:t>
            </a:r>
            <a:r>
              <a:rPr lang="en-US" sz="2400">
                <a:latin typeface="Consolas" panose="020B0609020204030204" pitchFamily="49" charset="0"/>
                <a:cs typeface="Consolas" panose="020B0609020204030204" pitchFamily="49" charset="0"/>
              </a:rPr>
              <a:t>;</a:t>
            </a:r>
          </a:p>
          <a:p>
            <a:r>
              <a:rPr lang="en-US" sz="2400">
                <a:solidFill>
                  <a:srgbClr val="0432FF"/>
                </a:solidFill>
                <a:latin typeface="Consolas" panose="020B0609020204030204" pitchFamily="49" charset="0"/>
                <a:cs typeface="Consolas" panose="020B0609020204030204" pitchFamily="49" charset="0"/>
              </a:rPr>
              <a:t>for</a:t>
            </a:r>
            <a:r>
              <a:rPr lang="en-US" sz="2400">
                <a:latin typeface="Consolas" panose="020B0609020204030204" pitchFamily="49" charset="0"/>
                <a:cs typeface="Consolas" panose="020B0609020204030204" pitchFamily="49" charset="0"/>
              </a:rPr>
              <a:t> (</a:t>
            </a:r>
            <a:r>
              <a:rPr lang="en-US" sz="2400">
                <a:solidFill>
                  <a:srgbClr val="00007F"/>
                </a:solidFill>
                <a:latin typeface="Consolas" panose="020B0609020204030204" pitchFamily="49" charset="0"/>
                <a:cs typeface="Consolas" panose="020B0609020204030204" pitchFamily="49" charset="0"/>
              </a:rPr>
              <a:t>int</a:t>
            </a:r>
            <a:r>
              <a:rPr lang="en-US" sz="2400">
                <a:latin typeface="Consolas" panose="020B0609020204030204" pitchFamily="49" charset="0"/>
                <a:cs typeface="Consolas" panose="020B0609020204030204" pitchFamily="49" charset="0"/>
              </a:rPr>
              <a:t> i = </a:t>
            </a:r>
            <a:r>
              <a:rPr lang="en-US" sz="2400">
                <a:solidFill>
                  <a:srgbClr val="09B5B6"/>
                </a:solidFill>
                <a:latin typeface="Consolas"/>
                <a:cs typeface="Consolas" panose="020B0609020204030204" pitchFamily="49" charset="0"/>
              </a:rPr>
              <a:t>0</a:t>
            </a:r>
            <a:r>
              <a:rPr lang="en-US" sz="2400">
                <a:latin typeface="Consolas" panose="020B0609020204030204" pitchFamily="49" charset="0"/>
                <a:cs typeface="Consolas" panose="020B0609020204030204" pitchFamily="49" charset="0"/>
              </a:rPr>
              <a:t>; i &lt; n; ++i) { // n</a:t>
            </a:r>
          </a:p>
          <a:p>
            <a:r>
              <a:rPr lang="en-US" sz="2400">
                <a:latin typeface="Consolas" panose="020B0609020204030204" pitchFamily="49" charset="0"/>
                <a:cs typeface="Consolas" panose="020B0609020204030204" pitchFamily="49" charset="0"/>
              </a:rPr>
              <a:t>    scream += </a:t>
            </a:r>
            <a:r>
              <a:rPr lang="en-US" sz="2400">
                <a:solidFill>
                  <a:srgbClr val="C00000"/>
                </a:solidFill>
                <a:latin typeface="Consolas" panose="020B0609020204030204" pitchFamily="49" charset="0"/>
                <a:cs typeface="Consolas" panose="020B0609020204030204" pitchFamily="49" charset="0"/>
              </a:rPr>
              <a:t>"A"</a:t>
            </a:r>
            <a:r>
              <a:rPr lang="en-US" sz="2400">
                <a:latin typeface="Consolas" panose="020B0609020204030204" pitchFamily="49" charset="0"/>
                <a:cs typeface="Consolas" panose="020B0609020204030204" pitchFamily="49" charset="0"/>
              </a:rPr>
              <a:t>; // O(n)</a:t>
            </a:r>
          </a:p>
          <a:p>
            <a:r>
              <a:rPr lang="en-US" sz="2400">
                <a:latin typeface="Consolas" panose="020B0609020204030204" pitchFamily="49" charset="0"/>
                <a:cs typeface="Consolas" panose="020B0609020204030204" pitchFamily="49" charset="0"/>
              </a:rPr>
              <a:t>}</a:t>
            </a:r>
          </a:p>
          <a:p>
            <a:r>
              <a:rPr lang="en-US" sz="2400">
                <a:solidFill>
                  <a:srgbClr val="00007F"/>
                </a:solidFill>
                <a:latin typeface="Consolas" panose="020B0609020204030204" pitchFamily="49" charset="0"/>
                <a:cs typeface="Consolas" panose="020B0609020204030204" pitchFamily="49" charset="0"/>
              </a:rPr>
              <a:t>PRINT</a:t>
            </a:r>
            <a:r>
              <a:rPr lang="en-US" sz="2400">
                <a:latin typeface="Consolas" panose="020B0609020204030204" pitchFamily="49" charset="0"/>
                <a:cs typeface="Consolas" panose="020B0609020204030204" pitchFamily="49" charset="0"/>
              </a:rPr>
              <a:t>(scream);</a:t>
            </a:r>
          </a:p>
        </p:txBody>
      </p:sp>
    </p:spTree>
    <p:extLst>
      <p:ext uri="{BB962C8B-B14F-4D97-AF65-F5344CB8AC3E}">
        <p14:creationId xmlns:p14="http://schemas.microsoft.com/office/powerpoint/2010/main" val="2027380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AE1636-D118-AD28-A33C-8ACC7C414D5E}"/>
              </a:ext>
            </a:extLst>
          </p:cNvPr>
          <p:cNvSpPr>
            <a:spLocks noGrp="1"/>
          </p:cNvSpPr>
          <p:nvPr>
            <p:ph type="title"/>
          </p:nvPr>
        </p:nvSpPr>
        <p:spPr/>
        <p:txBody>
          <a:bodyPr/>
          <a:lstStyle/>
          <a:p>
            <a:r>
              <a:rPr lang="en-US" sz="3600"/>
              <a:t>questions on</a:t>
            </a:r>
            <a:br>
              <a:rPr lang="en-US" sz="3600"/>
            </a:br>
            <a:r>
              <a:rPr lang="en-US" sz="3600" b="1"/>
              <a:t>HW03 </a:t>
            </a:r>
            <a:r>
              <a:rPr lang="en-US" sz="3600"/>
              <a:t>?</a:t>
            </a:r>
            <a:br>
              <a:rPr lang="en-US"/>
            </a:br>
            <a:r>
              <a:rPr lang="en-US"/>
              <a:t>👻</a:t>
            </a:r>
          </a:p>
        </p:txBody>
      </p:sp>
    </p:spTree>
    <p:extLst>
      <p:ext uri="{BB962C8B-B14F-4D97-AF65-F5344CB8AC3E}">
        <p14:creationId xmlns:p14="http://schemas.microsoft.com/office/powerpoint/2010/main" val="302706543"/>
      </p:ext>
    </p:extLst>
  </p:cSld>
  <p:clrMapOvr>
    <a:masterClrMapping/>
  </p:clrMapOvr>
</p:sld>
</file>

<file path=ppt/slides/slide5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C5DA3-600C-B22E-1C76-1FCEA8180A3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68590E2-DBAB-BBC2-A269-2A5D89B25992}"/>
              </a:ext>
            </a:extLst>
          </p:cNvPr>
          <p:cNvSpPr>
            <a:spLocks noGrp="1"/>
          </p:cNvSpPr>
          <p:nvPr>
            <p:ph type="title"/>
          </p:nvPr>
        </p:nvSpPr>
        <p:spPr/>
        <p:txBody>
          <a:bodyPr/>
          <a:lstStyle/>
          <a:p>
            <a:r>
              <a:rPr lang="en-US" sz="4000">
                <a:latin typeface="+mj-lt"/>
              </a:rPr>
              <a:t>pool[i]</a:t>
            </a:r>
            <a:r>
              <a:rPr lang="en-US" sz="4000"/>
              <a:t> inside of specific updates</a:t>
            </a:r>
            <a:br>
              <a:rPr lang="en-US"/>
            </a:br>
            <a:r>
              <a:rPr lang="en-US" sz="3200"/>
              <a:t>(don't use </a:t>
            </a:r>
            <a:r>
              <a:rPr lang="en-US" sz="3200">
                <a:latin typeface="+mj-lt"/>
              </a:rPr>
              <a:t>enemy1</a:t>
            </a:r>
            <a:r>
              <a:rPr lang="en-US" sz="3200"/>
              <a:t> and </a:t>
            </a:r>
            <a:r>
              <a:rPr lang="en-US" sz="3200">
                <a:latin typeface="+mj-lt"/>
              </a:rPr>
              <a:t>enemy2</a:t>
            </a:r>
            <a:r>
              <a:rPr lang="en-US" sz="3200"/>
              <a:t>)</a:t>
            </a:r>
            <a:endParaRPr lang="en-US"/>
          </a:p>
        </p:txBody>
      </p:sp>
    </p:spTree>
    <p:extLst>
      <p:ext uri="{BB962C8B-B14F-4D97-AF65-F5344CB8AC3E}">
        <p14:creationId xmlns:p14="http://schemas.microsoft.com/office/powerpoint/2010/main" val="3095864633"/>
      </p:ext>
    </p:extLst>
  </p:cSld>
  <p:clrMapOvr>
    <a:masterClrMapping/>
  </p:clrMapOvr>
</p:sld>
</file>

<file path=ppt/slides/slide5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13E5B-7A4B-40EA-8035-AC2E0ED9CC8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F6352D1-2870-ABA8-53F6-401BCA015872}"/>
              </a:ext>
            </a:extLst>
          </p:cNvPr>
          <p:cNvSpPr>
            <a:spLocks noGrp="1"/>
          </p:cNvSpPr>
          <p:nvPr>
            <p:ph type="title"/>
          </p:nvPr>
        </p:nvSpPr>
        <p:spPr/>
        <p:txBody>
          <a:bodyPr/>
          <a:lstStyle/>
          <a:p>
            <a:r>
              <a:rPr lang="en-US" sz="4000"/>
              <a:t>why i gave you a </a:t>
            </a:r>
            <a:r>
              <a:rPr lang="en-US" sz="4000">
                <a:latin typeface="+mj-lt"/>
              </a:rPr>
              <a:t>player</a:t>
            </a:r>
            <a:r>
              <a:rPr lang="en-US" sz="4000"/>
              <a:t> reference</a:t>
            </a:r>
            <a:endParaRPr lang="en-US"/>
          </a:p>
        </p:txBody>
      </p:sp>
    </p:spTree>
    <p:extLst>
      <p:ext uri="{BB962C8B-B14F-4D97-AF65-F5344CB8AC3E}">
        <p14:creationId xmlns:p14="http://schemas.microsoft.com/office/powerpoint/2010/main" val="505391934"/>
      </p:ext>
    </p:extLst>
  </p:cSld>
  <p:clrMapOvr>
    <a:masterClrMapping/>
  </p:clrMapOvr>
</p:sld>
</file>

<file path=ppt/slides/slide5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A3E38-4F72-12AE-D67E-5EFB2E70414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963FF6A-315B-604F-78AB-A0E116146C38}"/>
              </a:ext>
            </a:extLst>
          </p:cNvPr>
          <p:cNvSpPr>
            <a:spLocks noGrp="1"/>
          </p:cNvSpPr>
          <p:nvPr>
            <p:ph type="title"/>
          </p:nvPr>
        </p:nvSpPr>
        <p:spPr/>
        <p:txBody>
          <a:bodyPr/>
          <a:lstStyle/>
          <a:p>
            <a:r>
              <a:rPr lang="en-US">
                <a:latin typeface="+mj-lt"/>
              </a:rPr>
              <a:t>this</a:t>
            </a:r>
            <a:r>
              <a:rPr lang="en-US"/>
              <a:t> inside of </a:t>
            </a:r>
            <a:r>
              <a:rPr lang="en-US">
                <a:latin typeface="+mj-lt"/>
              </a:rPr>
              <a:t>fireBullet</a:t>
            </a:r>
            <a:endParaRPr lang="en-US"/>
          </a:p>
        </p:txBody>
      </p:sp>
    </p:spTree>
    <p:extLst>
      <p:ext uri="{BB962C8B-B14F-4D97-AF65-F5344CB8AC3E}">
        <p14:creationId xmlns:p14="http://schemas.microsoft.com/office/powerpoint/2010/main" val="1791793175"/>
      </p:ext>
    </p:extLst>
  </p:cSld>
  <p:clrMapOvr>
    <a:masterClrMapping/>
  </p:clrMapOvr>
</p:sld>
</file>

<file path=ppt/slides/slide5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27072C-66F5-3745-4688-2EFF7724592F}"/>
              </a:ext>
            </a:extLst>
          </p:cNvPr>
          <p:cNvSpPr>
            <a:spLocks noGrp="1"/>
          </p:cNvSpPr>
          <p:nvPr>
            <p:ph type="title"/>
          </p:nvPr>
        </p:nvSpPr>
        <p:spPr/>
        <p:txBody>
          <a:bodyPr/>
          <a:lstStyle/>
          <a:p>
            <a:r>
              <a:rPr lang="en-US" sz="8800"/>
              <a:t>☕️ the art of coding things in the right order</a:t>
            </a:r>
            <a:br>
              <a:rPr lang="en-US" sz="8800"/>
            </a:br>
            <a:r>
              <a:rPr lang="en-US" sz="2800" i="1"/>
              <a:t>compile and run early, compile and run often</a:t>
            </a:r>
            <a:endParaRPr lang="en-US" sz="8800" i="1"/>
          </a:p>
        </p:txBody>
      </p:sp>
    </p:spTree>
    <p:extLst>
      <p:ext uri="{BB962C8B-B14F-4D97-AF65-F5344CB8AC3E}">
        <p14:creationId xmlns:p14="http://schemas.microsoft.com/office/powerpoint/2010/main" val="1936420293"/>
      </p:ext>
    </p:extLst>
  </p:cSld>
  <p:clrMapOvr>
    <a:masterClrMapping/>
  </p:clrMapOvr>
</p:sld>
</file>

<file path=ppt/slides/slide5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7D884EB-7D07-9324-EC1D-15CB8A702F82}"/>
              </a:ext>
            </a:extLst>
          </p:cNvPr>
          <p:cNvSpPr>
            <a:spLocks noGrp="1"/>
          </p:cNvSpPr>
          <p:nvPr>
            <p:ph type="title"/>
          </p:nvPr>
        </p:nvSpPr>
        <p:spPr/>
        <p:txBody>
          <a:bodyPr/>
          <a:lstStyle/>
          <a:p>
            <a:r>
              <a:rPr lang="en-US" sz="2400"/>
              <a:t>well, let us imagine...</a:t>
            </a:r>
          </a:p>
        </p:txBody>
      </p:sp>
      <p:pic>
        <p:nvPicPr>
          <p:cNvPr id="1026" name="Picture 2" descr="Imagination Spongebob | Know Your Meme">
            <a:extLst>
              <a:ext uri="{FF2B5EF4-FFF2-40B4-BE49-F238E27FC236}">
                <a16:creationId xmlns:a16="http://schemas.microsoft.com/office/drawing/2014/main" id="{172367CC-380E-FA1E-C168-020B809BAA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2884394"/>
            <a:ext cx="304800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452461"/>
      </p:ext>
    </p:extLst>
  </p:cSld>
  <p:clrMapOvr>
    <a:masterClrMapping/>
  </p:clrMapOvr>
</p:sld>
</file>

<file path=ppt/slides/slide5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47AA5E1-FAB1-E245-7CA5-1336C4D07795}"/>
              </a:ext>
            </a:extLst>
          </p:cNvPr>
          <p:cNvSpPr>
            <a:spLocks noGrp="1"/>
          </p:cNvSpPr>
          <p:nvPr>
            <p:ph type="title"/>
          </p:nvPr>
        </p:nvSpPr>
        <p:spPr/>
        <p:txBody>
          <a:bodyPr/>
          <a:lstStyle/>
          <a:p>
            <a:r>
              <a:rPr lang="en-US"/>
              <a:t>let's imagine...</a:t>
            </a:r>
          </a:p>
        </p:txBody>
      </p:sp>
      <mc:AlternateContent xmlns:mc="http://schemas.openxmlformats.org/markup-compatibility/2006" xmlns:a14="http://schemas.microsoft.com/office/drawing/2010/main">
        <mc:Choice Requires="a14">
          <p:sp>
            <p:nvSpPr>
              <p:cNvPr id="2" name="Text Placeholder 1"/>
              <p:cNvSpPr>
                <a:spLocks noGrp="1"/>
              </p:cNvSpPr>
              <p:nvPr>
                <p:ph sz="quarter" idx="10"/>
              </p:nvPr>
            </p:nvSpPr>
            <p:spPr>
              <a:xfrm>
                <a:off x="457200" y="963337"/>
                <a:ext cx="8229600" cy="4080271"/>
              </a:xfrm>
            </p:spPr>
            <p:txBody>
              <a:bodyPr>
                <a:normAutofit/>
              </a:bodyPr>
              <a:lstStyle/>
              <a:p>
                <a:r>
                  <a:rPr lang="en-US"/>
                  <a:t>...you decide to develop </a:t>
                </a:r>
                <a14:m>
                  <m:oMath xmlns:m="http://schemas.openxmlformats.org/officeDocument/2006/math">
                    <m:r>
                      <a:rPr lang="en-US" b="0" i="1">
                        <a:latin typeface="Cambria Math" panose="02040503050406030204" pitchFamily="18" charset="0"/>
                      </a:rPr>
                      <m:t>𝑛</m:t>
                    </m:r>
                  </m:oMath>
                </a14:m>
                <a:r>
                  <a:rPr lang="en-US"/>
                  <a:t> different things at once...</a:t>
                </a:r>
              </a:p>
              <a:p>
                <a:pPr lvl="1"/>
                <a:r>
                  <a:rPr lang="en-US"/>
                  <a:t>...and then, finally, you compile and run...</a:t>
                </a:r>
              </a:p>
              <a:p>
                <a:pPr lvl="2"/>
                <a:r>
                  <a:rPr lang="en-US"/>
                  <a:t>...aaaaand you have a bug! 🐛</a:t>
                </a:r>
              </a:p>
              <a:p>
                <a:endParaRPr lang="en-US"/>
              </a:p>
              <a:p>
                <a:r>
                  <a:rPr lang="en-US"/>
                  <a:t>so...what is the cause of the bug? what code is broken? 🤔</a:t>
                </a:r>
              </a:p>
              <a:p>
                <a:pPr lvl="1"/>
                <a:r>
                  <a:rPr lang="en-US"/>
                  <a:t>well...i guess it could be any of the </a:t>
                </a:r>
                <a14:m>
                  <m:oMath xmlns:m="http://schemas.openxmlformats.org/officeDocument/2006/math">
                    <m:r>
                      <a:rPr lang="en-US" i="1">
                        <a:latin typeface="Cambria Math" panose="02040503050406030204" pitchFamily="18" charset="0"/>
                      </a:rPr>
                      <m:t>𝑛</m:t>
                    </m:r>
                  </m:oMath>
                </a14:m>
                <a:r>
                  <a:rPr lang="en-US"/>
                  <a:t> things you just wrote!</a:t>
                </a:r>
              </a:p>
              <a:p>
                <a:pPr lvl="1"/>
                <a:endParaRPr lang="en-US"/>
              </a:p>
              <a:p>
                <a:pPr lvl="1"/>
                <a:endParaRPr lang="en-US"/>
              </a:p>
              <a:p>
                <a:r>
                  <a:rPr lang="en-US" b="1"/>
                  <a:t>and while </a:t>
                </a:r>
                <a14:m>
                  <m:oMath xmlns:m="http://schemas.openxmlformats.org/officeDocument/2006/math">
                    <m:r>
                      <a:rPr lang="en-US" b="0" i="1">
                        <a:latin typeface="Cambria Math" panose="02040503050406030204" pitchFamily="18" charset="0"/>
                        <a:ea typeface="Cambria Math" panose="02040503050406030204" pitchFamily="18" charset="0"/>
                      </a:rPr>
                      <m:t>𝒪</m:t>
                    </m:r>
                    <m:r>
                      <a:rPr lang="en-US" b="0" i="1">
                        <a:latin typeface="Cambria Math" panose="02040503050406030204" pitchFamily="18" charset="0"/>
                      </a:rPr>
                      <m:t>(</m:t>
                    </m:r>
                    <m:r>
                      <a:rPr lang="en-US" b="0" i="1">
                        <a:latin typeface="Cambria Math" panose="02040503050406030204" pitchFamily="18" charset="0"/>
                      </a:rPr>
                      <m:t>𝑛</m:t>
                    </m:r>
                    <m:r>
                      <a:rPr lang="en-US" b="0" i="1">
                        <a:latin typeface="Cambria Math" panose="02040503050406030204" pitchFamily="18" charset="0"/>
                      </a:rPr>
                      <m:t>)</m:t>
                    </m:r>
                  </m:oMath>
                </a14:m>
                <a:r>
                  <a:rPr lang="en-US" b="1"/>
                  <a:t> possible sources of bugs might seem bad...</a:t>
                </a:r>
              </a:p>
            </p:txBody>
          </p:sp>
        </mc:Choice>
        <mc:Fallback xmlns="">
          <p:sp>
            <p:nvSpPr>
              <p:cNvPr id="2" name="Text Placeholder 1"/>
              <p:cNvSpPr>
                <a:spLocks noGrp="1" noRot="1" noChangeAspect="1" noMove="1" noResize="1" noEditPoints="1" noAdjustHandles="1" noChangeArrowheads="1" noChangeShapeType="1" noTextEdit="1"/>
              </p:cNvSpPr>
              <p:nvPr>
                <p:ph sz="quarter" idx="10"/>
              </p:nvPr>
            </p:nvSpPr>
            <p:spPr>
              <a:xfrm>
                <a:off x="457200" y="963337"/>
                <a:ext cx="8229600" cy="4080271"/>
              </a:xfrm>
              <a:blipFill>
                <a:blip r:embed="rId2"/>
                <a:stretch>
                  <a:fillRect l="-617" t="-621"/>
                </a:stretch>
              </a:blipFill>
            </p:spPr>
            <p:txBody>
              <a:bodyPr/>
              <a:lstStyle/>
              <a:p>
                <a:r>
                  <a:rPr lang="en-US">
                    <a:noFill/>
                  </a:rPr>
                  <a:t> </a:t>
                </a:r>
              </a:p>
            </p:txBody>
          </p:sp>
        </mc:Fallback>
      </mc:AlternateContent>
    </p:spTree>
    <p:extLst>
      <p:ext uri="{BB962C8B-B14F-4D97-AF65-F5344CB8AC3E}">
        <p14:creationId xmlns:p14="http://schemas.microsoft.com/office/powerpoint/2010/main" val="1369168518"/>
      </p:ext>
    </p:extLst>
  </p:cSld>
  <p:clrMapOvr>
    <a:masterClrMapping/>
  </p:clrMapOvr>
</p:sld>
</file>

<file path=ppt/slides/slide5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00A2601-21EF-645F-E506-0C34CD3E0C95}"/>
              </a:ext>
            </a:extLst>
          </p:cNvPr>
          <p:cNvSpPr>
            <a:spLocks noGrp="1"/>
          </p:cNvSpPr>
          <p:nvPr>
            <p:ph type="title"/>
          </p:nvPr>
        </p:nvSpPr>
        <p:spPr/>
        <p:txBody>
          <a:bodyPr/>
          <a:lstStyle/>
          <a:p>
            <a:r>
              <a:rPr lang="en-US" sz="2800"/>
              <a:t>...the reality is</a:t>
            </a:r>
            <a:br>
              <a:rPr lang="en-US" sz="4400"/>
            </a:br>
            <a:r>
              <a:rPr lang="en-US" sz="4400"/>
              <a:t>✨</a:t>
            </a:r>
            <a:r>
              <a:rPr lang="en-US" sz="4400" b="1"/>
              <a:t>so much worse</a:t>
            </a:r>
            <a:r>
              <a:rPr lang="en-US" sz="4400"/>
              <a:t>✨!</a:t>
            </a:r>
            <a:endParaRPr lang="en-US"/>
          </a:p>
        </p:txBody>
      </p:sp>
    </p:spTree>
    <p:extLst>
      <p:ext uri="{BB962C8B-B14F-4D97-AF65-F5344CB8AC3E}">
        <p14:creationId xmlns:p14="http://schemas.microsoft.com/office/powerpoint/2010/main" val="2220965279"/>
      </p:ext>
    </p:extLst>
  </p:cSld>
  <p:clrMapOvr>
    <a:masterClrMapping/>
  </p:clrMapOvr>
</p:sld>
</file>

<file path=ppt/slides/slide5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5D7B99-B367-1C0D-D0EE-254EB1AFE327}"/>
              </a:ext>
            </a:extLst>
          </p:cNvPr>
          <p:cNvSpPr>
            <a:spLocks noGrp="1"/>
          </p:cNvSpPr>
          <p:nvPr>
            <p:ph type="title"/>
          </p:nvPr>
        </p:nvSpPr>
        <p:spPr/>
        <p:txBody>
          <a:bodyPr>
            <a:noAutofit/>
          </a:bodyPr>
          <a:lstStyle/>
          <a:p>
            <a:r>
              <a:rPr lang="en-US" sz="2800"/>
              <a:t>because broken code likes to interact with</a:t>
            </a:r>
            <a:br>
              <a:rPr lang="en-US" sz="2800"/>
            </a:br>
            <a:r>
              <a:rPr lang="en-US" sz="2800"/>
              <a:t>other broken code, to make✨</a:t>
            </a:r>
            <a:r>
              <a:rPr lang="en-US" sz="2800" b="1"/>
              <a:t>super bugs</a:t>
            </a:r>
            <a:r>
              <a:rPr lang="en-US" sz="2800"/>
              <a:t>✨!</a:t>
            </a:r>
          </a:p>
        </p:txBody>
      </p:sp>
      <p:pic>
        <p:nvPicPr>
          <p:cNvPr id="4098" name="Picture 2" descr="Super Bug Encyclopedia: The Biggest, Fastest, Deadliest Creepy-Crawlers on  the Planet (Super Encyclopedias): DK, Smithsonian Institution:  9781465446008: Amazon.com: Books">
            <a:extLst>
              <a:ext uri="{FF2B5EF4-FFF2-40B4-BE49-F238E27FC236}">
                <a16:creationId xmlns:a16="http://schemas.microsoft.com/office/drawing/2014/main" id="{44A737A0-369C-B4B7-96D8-7D5CFF60FDF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4894" y="1247486"/>
            <a:ext cx="2994212" cy="3560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8491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0302872"/>
      </p:ext>
    </p:extLst>
  </p:cSld>
  <p:clrMapOvr>
    <a:masterClrMapping/>
  </p:clrMapOvr>
</p:sld>
</file>

<file path=ppt/slides/slide5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upload.wikimedia.org/wikipedia/commons/thumb/1/16/Powers_of_two_cuboids.svg/800px-Powers_of_two_cuboids.svg.png"/>
          <p:cNvPicPr>
            <a:picLocks noChangeAspect="1" noChangeArrowheads="1"/>
          </p:cNvPicPr>
          <p:nvPr/>
        </p:nvPicPr>
        <p:blipFill rotWithShape="1">
          <a:blip r:embed="rId2">
            <a:extLst>
              <a:ext uri="{28A0092B-C50C-407E-A947-70E740481C1C}">
                <a14:useLocalDpi xmlns:a14="http://schemas.microsoft.com/office/drawing/2010/main" val="0"/>
              </a:ext>
            </a:extLst>
          </a:blip>
          <a:srcRect l="7579" t="10763" r="83160" b="79224"/>
          <a:stretch/>
        </p:blipFill>
        <p:spPr bwMode="auto">
          <a:xfrm>
            <a:off x="2754086" y="903514"/>
            <a:ext cx="402771" cy="43542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BA8B44D-DF6B-FE78-B300-BD1528E2EDE2}"/>
              </a:ext>
            </a:extLst>
          </p:cNvPr>
          <p:cNvSpPr txBox="1"/>
          <p:nvPr/>
        </p:nvSpPr>
        <p:spPr>
          <a:xfrm>
            <a:off x="1480456" y="1534884"/>
            <a:ext cx="3015343" cy="923330"/>
          </a:xfrm>
          <a:prstGeom prst="rect">
            <a:avLst/>
          </a:prstGeom>
          <a:noFill/>
        </p:spPr>
        <p:txBody>
          <a:bodyPr wrap="square" rtlCol="0">
            <a:spAutoFit/>
          </a:bodyPr>
          <a:lstStyle/>
          <a:p>
            <a:pPr algn="ctr"/>
            <a:r>
              <a:rPr lang="en-US" sz="2700"/>
              <a:t>developing one thing at a time</a:t>
            </a:r>
          </a:p>
        </p:txBody>
      </p:sp>
      <p:cxnSp>
        <p:nvCxnSpPr>
          <p:cNvPr id="6" name="Straight Connector 5">
            <a:extLst>
              <a:ext uri="{FF2B5EF4-FFF2-40B4-BE49-F238E27FC236}">
                <a16:creationId xmlns:a16="http://schemas.microsoft.com/office/drawing/2014/main" id="{E70372E2-AD2C-4016-757B-F5567BD915F5}"/>
              </a:ext>
            </a:extLst>
          </p:cNvPr>
          <p:cNvCxnSpPr>
            <a:cxnSpLocks/>
          </p:cNvCxnSpPr>
          <p:nvPr/>
        </p:nvCxnSpPr>
        <p:spPr>
          <a:xfrm flipH="1" flipV="1">
            <a:off x="2667000" y="707572"/>
            <a:ext cx="217714" cy="381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95A1764-035B-7474-E4F8-E146F3F38EFA}"/>
              </a:ext>
            </a:extLst>
          </p:cNvPr>
          <p:cNvCxnSpPr>
            <a:cxnSpLocks/>
          </p:cNvCxnSpPr>
          <p:nvPr/>
        </p:nvCxnSpPr>
        <p:spPr>
          <a:xfrm flipV="1">
            <a:off x="2982686" y="685800"/>
            <a:ext cx="315686" cy="3483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814F9F9-8343-3F11-4D95-685764A56ABD}"/>
              </a:ext>
            </a:extLst>
          </p:cNvPr>
          <p:cNvSpPr txBox="1"/>
          <p:nvPr/>
        </p:nvSpPr>
        <p:spPr>
          <a:xfrm>
            <a:off x="2136642" y="174794"/>
            <a:ext cx="1060716" cy="553998"/>
          </a:xfrm>
          <a:prstGeom prst="rect">
            <a:avLst/>
          </a:prstGeom>
          <a:noFill/>
        </p:spPr>
        <p:txBody>
          <a:bodyPr wrap="square" rtlCol="0">
            <a:spAutoFit/>
          </a:bodyPr>
          <a:lstStyle/>
          <a:p>
            <a:pPr algn="l"/>
            <a:r>
              <a:rPr lang="en-US" sz="1500"/>
              <a:t>not broken</a:t>
            </a:r>
          </a:p>
        </p:txBody>
      </p:sp>
      <p:sp>
        <p:nvSpPr>
          <p:cNvPr id="11" name="TextBox 10">
            <a:extLst>
              <a:ext uri="{FF2B5EF4-FFF2-40B4-BE49-F238E27FC236}">
                <a16:creationId xmlns:a16="http://schemas.microsoft.com/office/drawing/2014/main" id="{C2D1915C-0818-F569-6E19-439004F55E8F}"/>
              </a:ext>
            </a:extLst>
          </p:cNvPr>
          <p:cNvSpPr txBox="1"/>
          <p:nvPr/>
        </p:nvSpPr>
        <p:spPr>
          <a:xfrm>
            <a:off x="3156856" y="374833"/>
            <a:ext cx="886545" cy="323165"/>
          </a:xfrm>
          <a:prstGeom prst="rect">
            <a:avLst/>
          </a:prstGeom>
          <a:noFill/>
        </p:spPr>
        <p:txBody>
          <a:bodyPr wrap="square" rtlCol="0">
            <a:spAutoFit/>
          </a:bodyPr>
          <a:lstStyle/>
          <a:p>
            <a:pPr algn="l"/>
            <a:r>
              <a:rPr lang="en-US" sz="1500"/>
              <a:t>broken</a:t>
            </a:r>
          </a:p>
        </p:txBody>
      </p:sp>
    </p:spTree>
    <p:extLst>
      <p:ext uri="{BB962C8B-B14F-4D97-AF65-F5344CB8AC3E}">
        <p14:creationId xmlns:p14="http://schemas.microsoft.com/office/powerpoint/2010/main" val="3623956336"/>
      </p:ext>
    </p:extLst>
  </p:cSld>
  <p:clrMapOvr>
    <a:masterClrMapping/>
  </p:clrMapOvr>
</p:sld>
</file>

<file path=ppt/slides/slide5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upload.wikimedia.org/wikipedia/commons/thumb/1/16/Powers_of_two_cuboids.svg/800px-Powers_of_two_cuboids.svg.png"/>
          <p:cNvPicPr>
            <a:picLocks noChangeAspect="1" noChangeArrowheads="1"/>
          </p:cNvPicPr>
          <p:nvPr/>
        </p:nvPicPr>
        <p:blipFill rotWithShape="1">
          <a:blip r:embed="rId2">
            <a:extLst>
              <a:ext uri="{28A0092B-C50C-407E-A947-70E740481C1C}">
                <a14:useLocalDpi xmlns:a14="http://schemas.microsoft.com/office/drawing/2010/main" val="0"/>
              </a:ext>
            </a:extLst>
          </a:blip>
          <a:srcRect l="16591" t="9261" r="71645" b="79724"/>
          <a:stretch/>
        </p:blipFill>
        <p:spPr bwMode="auto">
          <a:xfrm>
            <a:off x="2754086" y="903514"/>
            <a:ext cx="511629" cy="478972"/>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a:extLst>
              <a:ext uri="{FF2B5EF4-FFF2-40B4-BE49-F238E27FC236}">
                <a16:creationId xmlns:a16="http://schemas.microsoft.com/office/drawing/2014/main" id="{16B09033-80A9-1689-C25E-93E3DB83FCD1}"/>
              </a:ext>
            </a:extLst>
          </p:cNvPr>
          <p:cNvCxnSpPr>
            <a:cxnSpLocks/>
            <a:endCxn id="2" idx="2"/>
          </p:cNvCxnSpPr>
          <p:nvPr/>
        </p:nvCxnSpPr>
        <p:spPr>
          <a:xfrm flipH="1" flipV="1">
            <a:off x="2534920" y="759272"/>
            <a:ext cx="349794" cy="3293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ACDAD58-C2A8-B318-653E-966D9DB4E977}"/>
              </a:ext>
            </a:extLst>
          </p:cNvPr>
          <p:cNvCxnSpPr>
            <a:cxnSpLocks/>
          </p:cNvCxnSpPr>
          <p:nvPr/>
        </p:nvCxnSpPr>
        <p:spPr>
          <a:xfrm flipV="1">
            <a:off x="2982686" y="685800"/>
            <a:ext cx="315686" cy="3483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998FBCB-7316-1DBD-CC12-2183129A40D1}"/>
              </a:ext>
            </a:extLst>
          </p:cNvPr>
          <p:cNvSpPr txBox="1"/>
          <p:nvPr/>
        </p:nvSpPr>
        <p:spPr>
          <a:xfrm>
            <a:off x="3347356" y="370115"/>
            <a:ext cx="1224643" cy="323165"/>
          </a:xfrm>
          <a:prstGeom prst="rect">
            <a:avLst/>
          </a:prstGeom>
          <a:noFill/>
        </p:spPr>
        <p:txBody>
          <a:bodyPr wrap="square" rtlCol="0">
            <a:spAutoFit/>
          </a:bodyPr>
          <a:lstStyle/>
          <a:p>
            <a:pPr algn="l"/>
            <a:r>
              <a:rPr lang="en-US" sz="1500"/>
              <a:t>A is broken</a:t>
            </a:r>
          </a:p>
        </p:txBody>
      </p:sp>
      <p:cxnSp>
        <p:nvCxnSpPr>
          <p:cNvPr id="13" name="Straight Connector 12">
            <a:extLst>
              <a:ext uri="{FF2B5EF4-FFF2-40B4-BE49-F238E27FC236}">
                <a16:creationId xmlns:a16="http://schemas.microsoft.com/office/drawing/2014/main" id="{1D254A4B-2843-DFD5-6EDD-CF60CD9F3DD6}"/>
              </a:ext>
            </a:extLst>
          </p:cNvPr>
          <p:cNvCxnSpPr>
            <a:cxnSpLocks/>
          </p:cNvCxnSpPr>
          <p:nvPr/>
        </p:nvCxnSpPr>
        <p:spPr>
          <a:xfrm flipV="1">
            <a:off x="2645229" y="1159327"/>
            <a:ext cx="315686" cy="3483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481E36F-E362-C00A-F58D-2C85401ED384}"/>
              </a:ext>
            </a:extLst>
          </p:cNvPr>
          <p:cNvSpPr txBox="1"/>
          <p:nvPr/>
        </p:nvSpPr>
        <p:spPr>
          <a:xfrm>
            <a:off x="2032427" y="1519107"/>
            <a:ext cx="1211515" cy="323165"/>
          </a:xfrm>
          <a:prstGeom prst="rect">
            <a:avLst/>
          </a:prstGeom>
          <a:noFill/>
        </p:spPr>
        <p:txBody>
          <a:bodyPr wrap="square" rtlCol="0">
            <a:spAutoFit/>
          </a:bodyPr>
          <a:lstStyle/>
          <a:p>
            <a:pPr algn="l"/>
            <a:r>
              <a:rPr lang="en-US" sz="1500"/>
              <a:t>B is broken</a:t>
            </a:r>
          </a:p>
        </p:txBody>
      </p:sp>
      <p:cxnSp>
        <p:nvCxnSpPr>
          <p:cNvPr id="15" name="Straight Connector 14">
            <a:extLst>
              <a:ext uri="{FF2B5EF4-FFF2-40B4-BE49-F238E27FC236}">
                <a16:creationId xmlns:a16="http://schemas.microsoft.com/office/drawing/2014/main" id="{7A0BFCBF-44CD-3067-7341-48127C7B3861}"/>
              </a:ext>
            </a:extLst>
          </p:cNvPr>
          <p:cNvCxnSpPr>
            <a:cxnSpLocks/>
          </p:cNvCxnSpPr>
          <p:nvPr/>
        </p:nvCxnSpPr>
        <p:spPr>
          <a:xfrm flipH="1" flipV="1">
            <a:off x="3091543" y="1088570"/>
            <a:ext cx="462642" cy="50926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3B7C8B1-0298-EA9C-C403-FB729DB2DCCF}"/>
              </a:ext>
            </a:extLst>
          </p:cNvPr>
          <p:cNvSpPr txBox="1"/>
          <p:nvPr/>
        </p:nvSpPr>
        <p:spPr>
          <a:xfrm>
            <a:off x="3545539" y="1560594"/>
            <a:ext cx="2296206" cy="323165"/>
          </a:xfrm>
          <a:prstGeom prst="rect">
            <a:avLst/>
          </a:prstGeom>
          <a:noFill/>
        </p:spPr>
        <p:txBody>
          <a:bodyPr wrap="square" rtlCol="0">
            <a:spAutoFit/>
          </a:bodyPr>
          <a:lstStyle/>
          <a:p>
            <a:pPr algn="l"/>
            <a:r>
              <a:rPr lang="en-US" sz="1500"/>
              <a:t>A and B are both broken</a:t>
            </a:r>
          </a:p>
        </p:txBody>
      </p:sp>
      <p:sp>
        <p:nvSpPr>
          <p:cNvPr id="19" name="TextBox 18">
            <a:extLst>
              <a:ext uri="{FF2B5EF4-FFF2-40B4-BE49-F238E27FC236}">
                <a16:creationId xmlns:a16="http://schemas.microsoft.com/office/drawing/2014/main" id="{76C2C7F4-57C8-78A7-5971-8101BAD8DC8D}"/>
              </a:ext>
            </a:extLst>
          </p:cNvPr>
          <p:cNvSpPr txBox="1"/>
          <p:nvPr/>
        </p:nvSpPr>
        <p:spPr>
          <a:xfrm>
            <a:off x="1839684" y="2110085"/>
            <a:ext cx="3015343" cy="923330"/>
          </a:xfrm>
          <a:prstGeom prst="rect">
            <a:avLst/>
          </a:prstGeom>
          <a:noFill/>
        </p:spPr>
        <p:txBody>
          <a:bodyPr wrap="square" rtlCol="0">
            <a:spAutoFit/>
          </a:bodyPr>
          <a:lstStyle/>
          <a:p>
            <a:pPr algn="ctr"/>
            <a:r>
              <a:rPr lang="en-US" sz="2700"/>
              <a:t>developing two things at a time</a:t>
            </a:r>
          </a:p>
        </p:txBody>
      </p:sp>
      <p:sp>
        <p:nvSpPr>
          <p:cNvPr id="2" name="TextBox 1">
            <a:extLst>
              <a:ext uri="{FF2B5EF4-FFF2-40B4-BE49-F238E27FC236}">
                <a16:creationId xmlns:a16="http://schemas.microsoft.com/office/drawing/2014/main" id="{1714F25F-C179-0E16-093F-A8764D5FBE84}"/>
              </a:ext>
            </a:extLst>
          </p:cNvPr>
          <p:cNvSpPr txBox="1"/>
          <p:nvPr/>
        </p:nvSpPr>
        <p:spPr>
          <a:xfrm>
            <a:off x="2004562" y="205274"/>
            <a:ext cx="1060716" cy="553998"/>
          </a:xfrm>
          <a:prstGeom prst="rect">
            <a:avLst/>
          </a:prstGeom>
          <a:noFill/>
        </p:spPr>
        <p:txBody>
          <a:bodyPr wrap="square" rtlCol="0">
            <a:spAutoFit/>
          </a:bodyPr>
          <a:lstStyle/>
          <a:p>
            <a:pPr algn="l"/>
            <a:r>
              <a:rPr lang="en-US" sz="1500"/>
              <a:t>not broken</a:t>
            </a:r>
          </a:p>
        </p:txBody>
      </p:sp>
    </p:spTree>
    <p:extLst>
      <p:ext uri="{BB962C8B-B14F-4D97-AF65-F5344CB8AC3E}">
        <p14:creationId xmlns:p14="http://schemas.microsoft.com/office/powerpoint/2010/main" val="4087658816"/>
      </p:ext>
    </p:extLst>
  </p:cSld>
  <p:clrMapOvr>
    <a:masterClrMapping/>
  </p:clrMapOvr>
</p:sld>
</file>

<file path=ppt/slides/slide5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84C8C-0731-EF4F-72A0-2AB649D04C8E}"/>
            </a:ext>
          </a:extLst>
        </p:cNvPr>
        <p:cNvGrpSpPr/>
        <p:nvPr/>
      </p:nvGrpSpPr>
      <p:grpSpPr>
        <a:xfrm>
          <a:off x="0" y="0"/>
          <a:ext cx="0" cy="0"/>
          <a:chOff x="0" y="0"/>
          <a:chExt cx="0" cy="0"/>
        </a:xfrm>
      </p:grpSpPr>
      <p:sp>
        <p:nvSpPr>
          <p:cNvPr id="35" name="TextBox 34">
            <a:extLst>
              <a:ext uri="{FF2B5EF4-FFF2-40B4-BE49-F238E27FC236}">
                <a16:creationId xmlns:a16="http://schemas.microsoft.com/office/drawing/2014/main" id="{BC9D5D6B-2555-C67A-9D33-912B2B9E4ABD}"/>
              </a:ext>
            </a:extLst>
          </p:cNvPr>
          <p:cNvSpPr txBox="1"/>
          <p:nvPr/>
        </p:nvSpPr>
        <p:spPr>
          <a:xfrm>
            <a:off x="1763129" y="2427328"/>
            <a:ext cx="3015343" cy="923330"/>
          </a:xfrm>
          <a:prstGeom prst="rect">
            <a:avLst/>
          </a:prstGeom>
          <a:noFill/>
        </p:spPr>
        <p:txBody>
          <a:bodyPr wrap="square" rtlCol="0">
            <a:spAutoFit/>
          </a:bodyPr>
          <a:lstStyle/>
          <a:p>
            <a:pPr algn="ctr"/>
            <a:r>
              <a:rPr lang="en-US" sz="2700"/>
              <a:t>developing three things at a time</a:t>
            </a:r>
          </a:p>
        </p:txBody>
      </p:sp>
      <p:grpSp>
        <p:nvGrpSpPr>
          <p:cNvPr id="37" name="Group 36">
            <a:extLst>
              <a:ext uri="{FF2B5EF4-FFF2-40B4-BE49-F238E27FC236}">
                <a16:creationId xmlns:a16="http://schemas.microsoft.com/office/drawing/2014/main" id="{B7539B49-E8C3-5D35-148A-036115317909}"/>
              </a:ext>
            </a:extLst>
          </p:cNvPr>
          <p:cNvGrpSpPr/>
          <p:nvPr/>
        </p:nvGrpSpPr>
        <p:grpSpPr>
          <a:xfrm>
            <a:off x="1467317" y="151941"/>
            <a:ext cx="4447088" cy="2023538"/>
            <a:chOff x="2005797" y="182421"/>
            <a:chExt cx="4447088" cy="2023538"/>
          </a:xfrm>
        </p:grpSpPr>
        <p:cxnSp>
          <p:nvCxnSpPr>
            <p:cNvPr id="38" name="Straight Connector 37">
              <a:extLst>
                <a:ext uri="{FF2B5EF4-FFF2-40B4-BE49-F238E27FC236}">
                  <a16:creationId xmlns:a16="http://schemas.microsoft.com/office/drawing/2014/main" id="{D60802DF-A6EB-8EFB-AFAA-3546D4F262D3}"/>
                </a:ext>
              </a:extLst>
            </p:cNvPr>
            <p:cNvCxnSpPr>
              <a:cxnSpLocks/>
            </p:cNvCxnSpPr>
            <p:nvPr/>
          </p:nvCxnSpPr>
          <p:spPr>
            <a:xfrm flipV="1">
              <a:off x="3545626" y="1000157"/>
              <a:ext cx="380399" cy="214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39" name="Picture 2" descr="https://upload.wikimedia.org/wikipedia/commons/thumb/1/16/Powers_of_two_cuboids.svg/800px-Powers_of_two_cuboids.svg.png">
              <a:extLst>
                <a:ext uri="{FF2B5EF4-FFF2-40B4-BE49-F238E27FC236}">
                  <a16:creationId xmlns:a16="http://schemas.microsoft.com/office/drawing/2014/main" id="{482DB284-C2F5-BBD1-8C34-35CB45A3AF4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137" t="9285" r="61142" b="77915"/>
            <a:stretch/>
          </p:blipFill>
          <p:spPr bwMode="auto">
            <a:xfrm>
              <a:off x="3299792" y="904461"/>
              <a:ext cx="422786" cy="556591"/>
            </a:xfrm>
            <a:prstGeom prst="rect">
              <a:avLst/>
            </a:prstGeom>
            <a:noFill/>
            <a:extLst>
              <a:ext uri="{909E8E84-426E-40DD-AFC4-6F175D3DCCD1}">
                <a14:hiddenFill xmlns:a14="http://schemas.microsoft.com/office/drawing/2010/main">
                  <a:solidFill>
                    <a:srgbClr val="FFFFFF"/>
                  </a:solidFill>
                </a14:hiddenFill>
              </a:ext>
            </a:extLst>
          </p:spPr>
        </p:pic>
        <p:cxnSp>
          <p:nvCxnSpPr>
            <p:cNvPr id="40" name="Straight Connector 39">
              <a:extLst>
                <a:ext uri="{FF2B5EF4-FFF2-40B4-BE49-F238E27FC236}">
                  <a16:creationId xmlns:a16="http://schemas.microsoft.com/office/drawing/2014/main" id="{858A4568-85F4-0A5F-B62E-2F3895AF57C3}"/>
                </a:ext>
              </a:extLst>
            </p:cNvPr>
            <p:cNvCxnSpPr>
              <a:cxnSpLocks/>
            </p:cNvCxnSpPr>
            <p:nvPr/>
          </p:nvCxnSpPr>
          <p:spPr>
            <a:xfrm flipH="1" flipV="1">
              <a:off x="3203711" y="707572"/>
              <a:ext cx="217714" cy="381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942BDE0-1F6D-438D-FBF7-6A6E32182C42}"/>
                </a:ext>
              </a:extLst>
            </p:cNvPr>
            <p:cNvCxnSpPr>
              <a:cxnSpLocks/>
            </p:cNvCxnSpPr>
            <p:nvPr/>
          </p:nvCxnSpPr>
          <p:spPr>
            <a:xfrm flipV="1">
              <a:off x="3519397" y="685800"/>
              <a:ext cx="315686" cy="3483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25ADE6A7-FAFB-F3C3-B0BB-962FB41F9D9D}"/>
                </a:ext>
              </a:extLst>
            </p:cNvPr>
            <p:cNvSpPr txBox="1"/>
            <p:nvPr/>
          </p:nvSpPr>
          <p:spPr>
            <a:xfrm>
              <a:off x="3833267" y="410755"/>
              <a:ext cx="1224643" cy="323165"/>
            </a:xfrm>
            <a:prstGeom prst="rect">
              <a:avLst/>
            </a:prstGeom>
            <a:noFill/>
          </p:spPr>
          <p:txBody>
            <a:bodyPr wrap="square" rtlCol="0">
              <a:spAutoFit/>
            </a:bodyPr>
            <a:lstStyle/>
            <a:p>
              <a:pPr algn="l"/>
              <a:r>
                <a:rPr lang="en-US" sz="1500"/>
                <a:t>A broken</a:t>
              </a:r>
            </a:p>
          </p:txBody>
        </p:sp>
        <p:cxnSp>
          <p:nvCxnSpPr>
            <p:cNvPr id="43" name="Straight Connector 42">
              <a:extLst>
                <a:ext uri="{FF2B5EF4-FFF2-40B4-BE49-F238E27FC236}">
                  <a16:creationId xmlns:a16="http://schemas.microsoft.com/office/drawing/2014/main" id="{BAC7DD6B-E85F-21A2-3860-D55CF5213CF4}"/>
                </a:ext>
              </a:extLst>
            </p:cNvPr>
            <p:cNvCxnSpPr>
              <a:cxnSpLocks/>
            </p:cNvCxnSpPr>
            <p:nvPr/>
          </p:nvCxnSpPr>
          <p:spPr>
            <a:xfrm flipV="1">
              <a:off x="3181940" y="1159327"/>
              <a:ext cx="315686" cy="3483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ED98692A-3C3A-0646-1C4F-A628D0789282}"/>
                </a:ext>
              </a:extLst>
            </p:cNvPr>
            <p:cNvSpPr txBox="1"/>
            <p:nvPr/>
          </p:nvSpPr>
          <p:spPr>
            <a:xfrm>
              <a:off x="2301609" y="1444080"/>
              <a:ext cx="1211515" cy="323165"/>
            </a:xfrm>
            <a:prstGeom prst="rect">
              <a:avLst/>
            </a:prstGeom>
            <a:noFill/>
          </p:spPr>
          <p:txBody>
            <a:bodyPr wrap="square" rtlCol="0">
              <a:spAutoFit/>
            </a:bodyPr>
            <a:lstStyle/>
            <a:p>
              <a:pPr algn="l"/>
              <a:r>
                <a:rPr lang="en-US" sz="1500"/>
                <a:t>B broken</a:t>
              </a:r>
            </a:p>
          </p:txBody>
        </p:sp>
        <p:cxnSp>
          <p:nvCxnSpPr>
            <p:cNvPr id="45" name="Straight Connector 44">
              <a:extLst>
                <a:ext uri="{FF2B5EF4-FFF2-40B4-BE49-F238E27FC236}">
                  <a16:creationId xmlns:a16="http://schemas.microsoft.com/office/drawing/2014/main" id="{98ED7FA8-65E6-B5EE-70B6-BCE9BF4DAB5E}"/>
                </a:ext>
              </a:extLst>
            </p:cNvPr>
            <p:cNvCxnSpPr>
              <a:cxnSpLocks/>
            </p:cNvCxnSpPr>
            <p:nvPr/>
          </p:nvCxnSpPr>
          <p:spPr>
            <a:xfrm flipH="1" flipV="1">
              <a:off x="3655974" y="1173759"/>
              <a:ext cx="515885" cy="25283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0B3FBE04-79C6-F697-CDFD-EEA705EA5DB1}"/>
                </a:ext>
              </a:extLst>
            </p:cNvPr>
            <p:cNvSpPr txBox="1"/>
            <p:nvPr/>
          </p:nvSpPr>
          <p:spPr>
            <a:xfrm>
              <a:off x="4156679" y="1278438"/>
              <a:ext cx="2296206" cy="323165"/>
            </a:xfrm>
            <a:prstGeom prst="rect">
              <a:avLst/>
            </a:prstGeom>
            <a:noFill/>
          </p:spPr>
          <p:txBody>
            <a:bodyPr wrap="square" rtlCol="0">
              <a:spAutoFit/>
            </a:bodyPr>
            <a:lstStyle/>
            <a:p>
              <a:pPr algn="l"/>
              <a:r>
                <a:rPr lang="en-US" sz="1500"/>
                <a:t>A and B broken</a:t>
              </a:r>
            </a:p>
          </p:txBody>
        </p:sp>
        <p:sp>
          <p:nvSpPr>
            <p:cNvPr id="47" name="TextBox 46">
              <a:extLst>
                <a:ext uri="{FF2B5EF4-FFF2-40B4-BE49-F238E27FC236}">
                  <a16:creationId xmlns:a16="http://schemas.microsoft.com/office/drawing/2014/main" id="{A25EBD3E-8E59-A02D-E7F9-37D3F972C853}"/>
                </a:ext>
              </a:extLst>
            </p:cNvPr>
            <p:cNvSpPr txBox="1"/>
            <p:nvPr/>
          </p:nvSpPr>
          <p:spPr>
            <a:xfrm>
              <a:off x="2559640" y="182421"/>
              <a:ext cx="954550" cy="553998"/>
            </a:xfrm>
            <a:prstGeom prst="rect">
              <a:avLst/>
            </a:prstGeom>
            <a:noFill/>
          </p:spPr>
          <p:txBody>
            <a:bodyPr wrap="square" rtlCol="0">
              <a:spAutoFit/>
            </a:bodyPr>
            <a:lstStyle/>
            <a:p>
              <a:pPr algn="l"/>
              <a:r>
                <a:rPr lang="en-US" sz="1500"/>
                <a:t>not broken</a:t>
              </a:r>
            </a:p>
          </p:txBody>
        </p:sp>
        <p:cxnSp>
          <p:nvCxnSpPr>
            <p:cNvPr id="48" name="Straight Connector 47">
              <a:extLst>
                <a:ext uri="{FF2B5EF4-FFF2-40B4-BE49-F238E27FC236}">
                  <a16:creationId xmlns:a16="http://schemas.microsoft.com/office/drawing/2014/main" id="{0D7E05C4-3DCA-E7AE-65C9-66F3D2F4BE39}"/>
                </a:ext>
              </a:extLst>
            </p:cNvPr>
            <p:cNvCxnSpPr>
              <a:cxnSpLocks/>
            </p:cNvCxnSpPr>
            <p:nvPr/>
          </p:nvCxnSpPr>
          <p:spPr>
            <a:xfrm flipH="1" flipV="1">
              <a:off x="2945142" y="1143207"/>
              <a:ext cx="408043" cy="115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D9131024-8EDF-1E8C-6770-07FFFDE66F8E}"/>
                </a:ext>
              </a:extLst>
            </p:cNvPr>
            <p:cNvSpPr txBox="1"/>
            <p:nvPr/>
          </p:nvSpPr>
          <p:spPr>
            <a:xfrm>
              <a:off x="3937768" y="829707"/>
              <a:ext cx="1628836" cy="323165"/>
            </a:xfrm>
            <a:prstGeom prst="rect">
              <a:avLst/>
            </a:prstGeom>
            <a:noFill/>
          </p:spPr>
          <p:txBody>
            <a:bodyPr wrap="square" rtlCol="0">
              <a:spAutoFit/>
            </a:bodyPr>
            <a:lstStyle/>
            <a:p>
              <a:pPr algn="l"/>
              <a:r>
                <a:rPr lang="en-US" sz="1500"/>
                <a:t>A and C broken</a:t>
              </a:r>
            </a:p>
          </p:txBody>
        </p:sp>
        <p:cxnSp>
          <p:nvCxnSpPr>
            <p:cNvPr id="50" name="Straight Connector 49">
              <a:extLst>
                <a:ext uri="{FF2B5EF4-FFF2-40B4-BE49-F238E27FC236}">
                  <a16:creationId xmlns:a16="http://schemas.microsoft.com/office/drawing/2014/main" id="{59DBB653-FD5B-6F62-7A41-538416F71AF5}"/>
                </a:ext>
              </a:extLst>
            </p:cNvPr>
            <p:cNvCxnSpPr>
              <a:cxnSpLocks/>
            </p:cNvCxnSpPr>
            <p:nvPr/>
          </p:nvCxnSpPr>
          <p:spPr>
            <a:xfrm flipH="1" flipV="1">
              <a:off x="3510882" y="1351483"/>
              <a:ext cx="16085" cy="50926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76A5DADC-3A12-B49A-1B5C-38FC0A6E7231}"/>
                </a:ext>
              </a:extLst>
            </p:cNvPr>
            <p:cNvSpPr txBox="1"/>
            <p:nvPr/>
          </p:nvSpPr>
          <p:spPr>
            <a:xfrm>
              <a:off x="2340764" y="1882794"/>
              <a:ext cx="1725893" cy="323165"/>
            </a:xfrm>
            <a:prstGeom prst="rect">
              <a:avLst/>
            </a:prstGeom>
            <a:noFill/>
          </p:spPr>
          <p:txBody>
            <a:bodyPr wrap="square" rtlCol="0">
              <a:spAutoFit/>
            </a:bodyPr>
            <a:lstStyle/>
            <a:p>
              <a:pPr algn="l"/>
              <a:r>
                <a:rPr lang="en-US" sz="1500"/>
                <a:t>B and C broken</a:t>
              </a:r>
            </a:p>
          </p:txBody>
        </p:sp>
        <p:cxnSp>
          <p:nvCxnSpPr>
            <p:cNvPr id="52" name="Straight Connector 51">
              <a:extLst>
                <a:ext uri="{FF2B5EF4-FFF2-40B4-BE49-F238E27FC236}">
                  <a16:creationId xmlns:a16="http://schemas.microsoft.com/office/drawing/2014/main" id="{17948B86-7262-BF6B-AD61-926271EC8D91}"/>
                </a:ext>
              </a:extLst>
            </p:cNvPr>
            <p:cNvCxnSpPr>
              <a:cxnSpLocks/>
            </p:cNvCxnSpPr>
            <p:nvPr/>
          </p:nvCxnSpPr>
          <p:spPr>
            <a:xfrm flipH="1" flipV="1">
              <a:off x="3651634" y="1308566"/>
              <a:ext cx="397015" cy="5708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6BD22303-8625-A803-A5F3-B237482786BA}"/>
                </a:ext>
              </a:extLst>
            </p:cNvPr>
            <p:cNvSpPr txBox="1"/>
            <p:nvPr/>
          </p:nvSpPr>
          <p:spPr>
            <a:xfrm>
              <a:off x="4097347" y="1780616"/>
              <a:ext cx="2296206" cy="323165"/>
            </a:xfrm>
            <a:prstGeom prst="rect">
              <a:avLst/>
            </a:prstGeom>
            <a:noFill/>
          </p:spPr>
          <p:txBody>
            <a:bodyPr wrap="square" rtlCol="0">
              <a:spAutoFit/>
            </a:bodyPr>
            <a:lstStyle/>
            <a:p>
              <a:pPr algn="l"/>
              <a:r>
                <a:rPr lang="en-US" sz="1500"/>
                <a:t>A, B, and C broken</a:t>
              </a:r>
            </a:p>
          </p:txBody>
        </p:sp>
        <p:sp>
          <p:nvSpPr>
            <p:cNvPr id="54" name="TextBox 53">
              <a:extLst>
                <a:ext uri="{FF2B5EF4-FFF2-40B4-BE49-F238E27FC236}">
                  <a16:creationId xmlns:a16="http://schemas.microsoft.com/office/drawing/2014/main" id="{24069583-713A-A8A4-C1C5-55D88D906703}"/>
                </a:ext>
              </a:extLst>
            </p:cNvPr>
            <p:cNvSpPr txBox="1"/>
            <p:nvPr/>
          </p:nvSpPr>
          <p:spPr>
            <a:xfrm>
              <a:off x="2005797" y="930824"/>
              <a:ext cx="993947" cy="323165"/>
            </a:xfrm>
            <a:prstGeom prst="rect">
              <a:avLst/>
            </a:prstGeom>
            <a:noFill/>
          </p:spPr>
          <p:txBody>
            <a:bodyPr wrap="square" rtlCol="0">
              <a:spAutoFit/>
            </a:bodyPr>
            <a:lstStyle/>
            <a:p>
              <a:pPr algn="l"/>
              <a:r>
                <a:rPr lang="en-US" sz="1500"/>
                <a:t>C broken</a:t>
              </a:r>
            </a:p>
          </p:txBody>
        </p:sp>
      </p:grpSp>
    </p:spTree>
    <p:extLst>
      <p:ext uri="{BB962C8B-B14F-4D97-AF65-F5344CB8AC3E}">
        <p14:creationId xmlns:p14="http://schemas.microsoft.com/office/powerpoint/2010/main" val="928219394"/>
      </p:ext>
    </p:extLst>
  </p:cSld>
  <p:clrMapOvr>
    <a:masterClrMapping/>
  </p:clrMapOvr>
</p:sld>
</file>

<file path=ppt/slides/slide5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Who's That Pokémon? | Know Your Meme">
            <a:extLst>
              <a:ext uri="{FF2B5EF4-FFF2-40B4-BE49-F238E27FC236}">
                <a16:creationId xmlns:a16="http://schemas.microsoft.com/office/drawing/2014/main" id="{11C60ACC-8E9C-C509-0694-E145B6C1E2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2" y="0"/>
            <a:ext cx="9138047"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Freeform: Shape 1">
            <a:extLst>
              <a:ext uri="{FF2B5EF4-FFF2-40B4-BE49-F238E27FC236}">
                <a16:creationId xmlns:a16="http://schemas.microsoft.com/office/drawing/2014/main" id="{7E5E8C96-DFDF-4191-6C1E-53E06A470608}"/>
              </a:ext>
            </a:extLst>
          </p:cNvPr>
          <p:cNvSpPr/>
          <p:nvPr/>
        </p:nvSpPr>
        <p:spPr>
          <a:xfrm>
            <a:off x="4588933" y="3691467"/>
            <a:ext cx="3564467" cy="900638"/>
          </a:xfrm>
          <a:custGeom>
            <a:avLst/>
            <a:gdLst>
              <a:gd name="connsiteX0" fmla="*/ 0 w 4752622"/>
              <a:gd name="connsiteY0" fmla="*/ 880533 h 1200850"/>
              <a:gd name="connsiteX1" fmla="*/ 45155 w 4752622"/>
              <a:gd name="connsiteY1" fmla="*/ 812800 h 1200850"/>
              <a:gd name="connsiteX2" fmla="*/ 1727200 w 4752622"/>
              <a:gd name="connsiteY2" fmla="*/ 0 h 1200850"/>
              <a:gd name="connsiteX3" fmla="*/ 1614311 w 4752622"/>
              <a:gd name="connsiteY3" fmla="*/ 541866 h 1200850"/>
              <a:gd name="connsiteX4" fmla="*/ 1580444 w 4752622"/>
              <a:gd name="connsiteY4" fmla="*/ 733777 h 1200850"/>
              <a:gd name="connsiteX5" fmla="*/ 2111022 w 4752622"/>
              <a:gd name="connsiteY5" fmla="*/ 372533 h 1200850"/>
              <a:gd name="connsiteX6" fmla="*/ 2111022 w 4752622"/>
              <a:gd name="connsiteY6" fmla="*/ 880533 h 1200850"/>
              <a:gd name="connsiteX7" fmla="*/ 2065866 w 4752622"/>
              <a:gd name="connsiteY7" fmla="*/ 1196622 h 1200850"/>
              <a:gd name="connsiteX8" fmla="*/ 2077155 w 4752622"/>
              <a:gd name="connsiteY8" fmla="*/ 1128888 h 1200850"/>
              <a:gd name="connsiteX9" fmla="*/ 2765778 w 4752622"/>
              <a:gd name="connsiteY9" fmla="*/ 575733 h 1200850"/>
              <a:gd name="connsiteX10" fmla="*/ 3025422 w 4752622"/>
              <a:gd name="connsiteY10" fmla="*/ 462844 h 1200850"/>
              <a:gd name="connsiteX11" fmla="*/ 3036711 w 4752622"/>
              <a:gd name="connsiteY11" fmla="*/ 824088 h 1200850"/>
              <a:gd name="connsiteX12" fmla="*/ 4154311 w 4752622"/>
              <a:gd name="connsiteY12" fmla="*/ 203200 h 1200850"/>
              <a:gd name="connsiteX13" fmla="*/ 4459111 w 4752622"/>
              <a:gd name="connsiteY13" fmla="*/ 519288 h 1200850"/>
              <a:gd name="connsiteX14" fmla="*/ 4718755 w 4752622"/>
              <a:gd name="connsiteY14" fmla="*/ 654755 h 1200850"/>
              <a:gd name="connsiteX15" fmla="*/ 4752622 w 4752622"/>
              <a:gd name="connsiteY15" fmla="*/ 677333 h 1200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52622" h="1200850">
                <a:moveTo>
                  <a:pt x="0" y="880533"/>
                </a:moveTo>
                <a:cubicBezTo>
                  <a:pt x="15052" y="857955"/>
                  <a:pt x="23056" y="828546"/>
                  <a:pt x="45155" y="812800"/>
                </a:cubicBezTo>
                <a:cubicBezTo>
                  <a:pt x="1033599" y="108533"/>
                  <a:pt x="660812" y="306768"/>
                  <a:pt x="1727200" y="0"/>
                </a:cubicBezTo>
                <a:cubicBezTo>
                  <a:pt x="1792466" y="326337"/>
                  <a:pt x="1770047" y="55191"/>
                  <a:pt x="1614311" y="541866"/>
                </a:cubicBezTo>
                <a:cubicBezTo>
                  <a:pt x="1594513" y="603734"/>
                  <a:pt x="1518960" y="754737"/>
                  <a:pt x="1580444" y="733777"/>
                </a:cubicBezTo>
                <a:cubicBezTo>
                  <a:pt x="1782959" y="664738"/>
                  <a:pt x="1934163" y="492948"/>
                  <a:pt x="2111022" y="372533"/>
                </a:cubicBezTo>
                <a:cubicBezTo>
                  <a:pt x="2191797" y="587930"/>
                  <a:pt x="2156785" y="455593"/>
                  <a:pt x="2111022" y="880533"/>
                </a:cubicBezTo>
                <a:cubicBezTo>
                  <a:pt x="2099626" y="986354"/>
                  <a:pt x="2080247" y="1091165"/>
                  <a:pt x="2065866" y="1196622"/>
                </a:cubicBezTo>
                <a:cubicBezTo>
                  <a:pt x="2062773" y="1219302"/>
                  <a:pt x="2060032" y="1144078"/>
                  <a:pt x="2077155" y="1128888"/>
                </a:cubicBezTo>
                <a:cubicBezTo>
                  <a:pt x="2297408" y="933502"/>
                  <a:pt x="2524844" y="744960"/>
                  <a:pt x="2765778" y="575733"/>
                </a:cubicBezTo>
                <a:cubicBezTo>
                  <a:pt x="2843006" y="521489"/>
                  <a:pt x="2938874" y="500474"/>
                  <a:pt x="3025422" y="462844"/>
                </a:cubicBezTo>
                <a:cubicBezTo>
                  <a:pt x="3029185" y="583259"/>
                  <a:pt x="3028516" y="703894"/>
                  <a:pt x="3036711" y="824088"/>
                </a:cubicBezTo>
                <a:cubicBezTo>
                  <a:pt x="3078321" y="1434362"/>
                  <a:pt x="3543921" y="624809"/>
                  <a:pt x="4154311" y="203200"/>
                </a:cubicBezTo>
                <a:cubicBezTo>
                  <a:pt x="4359894" y="244314"/>
                  <a:pt x="4057745" y="171437"/>
                  <a:pt x="4459111" y="519288"/>
                </a:cubicBezTo>
                <a:cubicBezTo>
                  <a:pt x="4532881" y="583222"/>
                  <a:pt x="4632804" y="608473"/>
                  <a:pt x="4718755" y="654755"/>
                </a:cubicBezTo>
                <a:cubicBezTo>
                  <a:pt x="4730701" y="661187"/>
                  <a:pt x="4741333" y="669807"/>
                  <a:pt x="4752622" y="677333"/>
                </a:cubicBezTo>
              </a:path>
            </a:pathLst>
          </a:custGeom>
          <a:noFill/>
          <a:ln w="3048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 name="TextBox 3">
            <a:extLst>
              <a:ext uri="{FF2B5EF4-FFF2-40B4-BE49-F238E27FC236}">
                <a16:creationId xmlns:a16="http://schemas.microsoft.com/office/drawing/2014/main" id="{BD8F2414-7B91-772A-31EF-142FABFF57D4}"/>
              </a:ext>
            </a:extLst>
          </p:cNvPr>
          <p:cNvSpPr txBox="1"/>
          <p:nvPr/>
        </p:nvSpPr>
        <p:spPr>
          <a:xfrm>
            <a:off x="5219140" y="3710205"/>
            <a:ext cx="3924860" cy="1200329"/>
          </a:xfrm>
          <a:prstGeom prst="rect">
            <a:avLst/>
          </a:prstGeom>
          <a:noFill/>
        </p:spPr>
        <p:txBody>
          <a:bodyPr wrap="square" rtlCol="0">
            <a:spAutoFit/>
          </a:bodyPr>
          <a:lstStyle/>
          <a:p>
            <a:pPr algn="l"/>
            <a:r>
              <a:rPr lang="en-US" sz="3600">
                <a:solidFill>
                  <a:srgbClr val="0000FF"/>
                </a:solidFill>
                <a:highlight>
                  <a:srgbClr val="FFFF00"/>
                </a:highlight>
                <a:latin typeface="Comic Sans MS" panose="030F0702030302020204" pitchFamily="66" charset="0"/>
              </a:rPr>
              <a:t>asymptotic</a:t>
            </a:r>
            <a:br>
              <a:rPr lang="en-US" sz="3600">
                <a:solidFill>
                  <a:srgbClr val="0000FF"/>
                </a:solidFill>
                <a:highlight>
                  <a:srgbClr val="FFFF00"/>
                </a:highlight>
                <a:latin typeface="Comic Sans MS" panose="030F0702030302020204" pitchFamily="66" charset="0"/>
              </a:rPr>
            </a:br>
            <a:r>
              <a:rPr lang="en-US" sz="3600">
                <a:solidFill>
                  <a:srgbClr val="0000FF"/>
                </a:solidFill>
                <a:highlight>
                  <a:srgbClr val="FFFF00"/>
                </a:highlight>
                <a:latin typeface="Comic Sans MS" panose="030F0702030302020204" pitchFamily="66" charset="0"/>
              </a:rPr>
              <a:t>bug-finding time</a:t>
            </a:r>
          </a:p>
        </p:txBody>
      </p:sp>
    </p:spTree>
    <p:extLst>
      <p:ext uri="{BB962C8B-B14F-4D97-AF65-F5344CB8AC3E}">
        <p14:creationId xmlns:p14="http://schemas.microsoft.com/office/powerpoint/2010/main" val="44974225"/>
      </p:ext>
    </p:extLst>
  </p:cSld>
  <p:clrMapOvr>
    <a:masterClrMapping/>
  </p:clrMapOvr>
</p:sld>
</file>

<file path=ppt/slides/slide5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p:cNvSpPr txBox="1"/>
              <p:nvPr/>
            </p:nvSpPr>
            <p:spPr>
              <a:xfrm>
                <a:off x="6473941" y="3064330"/>
                <a:ext cx="1616529" cy="646331"/>
              </a:xfrm>
              <a:prstGeom prst="rect">
                <a:avLst/>
              </a:prstGeom>
              <a:noFill/>
            </p:spPr>
            <p:txBody>
              <a:bodyPr wrap="square" rtlCol="0">
                <a:spAutoFit/>
              </a:bodyPr>
              <a:lstStyle/>
              <a:p>
                <a:pPr algn="ctr"/>
                <a14:m>
                  <m:oMathPara xmlns:m="http://schemas.openxmlformats.org/officeDocument/2006/math">
                    <m:oMath>
                      <m:r>
                        <a:rPr lang="en-US" sz="3600" i="1">
                          <a:solidFill>
                            <a:schemeClr val="tx1"/>
                          </a:solidFill>
                          <a:latin typeface="Cambria Math" panose="02040503050406030204" pitchFamily="18" charset="0"/>
                          <a:ea typeface="Cambria Math" panose="02040503050406030204" pitchFamily="18" charset="0"/>
                        </a:rPr>
                        <m:t>𝒪</m:t>
                      </m:r>
                      <m:r>
                        <a:rPr lang="en-US" sz="3600" i="1">
                          <a:solidFill>
                            <a:schemeClr val="tx1"/>
                          </a:solidFill>
                          <a:latin typeface="Cambria Math" panose="02040503050406030204" pitchFamily="18" charset="0"/>
                        </a:rPr>
                        <m:t>(</m:t>
                      </m:r>
                      <m:sSup>
                        <m:sSupPr>
                          <m:ctrlPr>
                            <a:rPr lang="en-US" sz="3600" i="1">
                              <a:solidFill>
                                <a:schemeClr val="tx1"/>
                              </a:solidFill>
                              <a:latin typeface="Cambria Math" panose="02040503050406030204" pitchFamily="18" charset="0"/>
                            </a:rPr>
                          </m:ctrlPr>
                        </m:sSupPr>
                        <m:e>
                          <m:r>
                            <a:rPr lang="en-US" sz="3600" i="1">
                              <a:solidFill>
                                <a:schemeClr val="tx1"/>
                              </a:solidFill>
                              <a:latin typeface="Cambria Math" panose="02040503050406030204" pitchFamily="18" charset="0"/>
                            </a:rPr>
                            <m:t>2</m:t>
                          </m:r>
                        </m:e>
                        <m:sup>
                          <m:r>
                            <a:rPr lang="en-US" sz="3600" i="1">
                              <a:solidFill>
                                <a:schemeClr val="tx1"/>
                              </a:solidFill>
                              <a:latin typeface="Cambria Math" panose="02040503050406030204" pitchFamily="18" charset="0"/>
                            </a:rPr>
                            <m:t>𝑛</m:t>
                          </m:r>
                        </m:sup>
                      </m:sSup>
                      <m:r>
                        <a:rPr lang="en-US" sz="3600" i="1">
                          <a:solidFill>
                            <a:schemeClr val="tx1"/>
                          </a:solidFill>
                          <a:latin typeface="Cambria Math" panose="02040503050406030204" pitchFamily="18" charset="0"/>
                        </a:rPr>
                        <m:t>)</m:t>
                      </m:r>
                    </m:oMath>
                  </m:oMathPara>
                </a14:m>
                <a:endParaRPr lang="en-US" sz="3600">
                  <a:solidFill>
                    <a:schemeClr val="tx1"/>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6473941" y="3064330"/>
                <a:ext cx="1616529" cy="646331"/>
              </a:xfrm>
              <a:prstGeom prst="rect">
                <a:avLst/>
              </a:prstGeom>
              <a:blipFill>
                <a:blip r:embed="rId2"/>
                <a:stretch>
                  <a:fillRect b="-23077"/>
                </a:stretch>
              </a:blipFill>
            </p:spPr>
            <p:txBody>
              <a:bodyPr/>
              <a:lstStyle/>
              <a:p>
                <a:r>
                  <a:rPr lang="en-US">
                    <a:noFill/>
                  </a:rPr>
                  <a:t> </a:t>
                </a:r>
              </a:p>
            </p:txBody>
          </p:sp>
        </mc:Fallback>
      </mc:AlternateContent>
      <p:pic>
        <p:nvPicPr>
          <p:cNvPr id="4" name="Picture 2" descr="https://upload.wikimedia.org/wikipedia/commons/thumb/1/16/Powers_of_two_cuboids.svg/800px-Powers_of_two_cuboids.svg.png">
            <a:extLst>
              <a:ext uri="{FF2B5EF4-FFF2-40B4-BE49-F238E27FC236}">
                <a16:creationId xmlns:a16="http://schemas.microsoft.com/office/drawing/2014/main" id="{CF8F0C63-BF27-82CD-458F-A03C35D4C58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9" r="314" b="-138"/>
          <a:stretch/>
        </p:blipFill>
        <p:spPr bwMode="auto">
          <a:xfrm>
            <a:off x="2024743" y="500743"/>
            <a:ext cx="4343400" cy="435428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F32425E-D47D-8B53-034D-F83680F3FF37}"/>
              </a:ext>
            </a:extLst>
          </p:cNvPr>
          <p:cNvSpPr txBox="1"/>
          <p:nvPr/>
        </p:nvSpPr>
        <p:spPr>
          <a:xfrm>
            <a:off x="7028328" y="3917576"/>
            <a:ext cx="1891553" cy="461665"/>
          </a:xfrm>
          <a:prstGeom prst="rect">
            <a:avLst/>
          </a:prstGeom>
          <a:noFill/>
        </p:spPr>
        <p:txBody>
          <a:bodyPr wrap="square" rtlCol="0">
            <a:spAutoFit/>
          </a:bodyPr>
          <a:lstStyle/>
          <a:p>
            <a:r>
              <a:rPr lang="en-US" sz="2400">
                <a:latin typeface="Arial" panose="020B0604020202020204" pitchFamily="34" charset="0"/>
                <a:cs typeface="Arial" panose="020B0604020202020204" pitchFamily="34" charset="0"/>
              </a:rPr>
              <a:t>gl;hf </a:t>
            </a:r>
            <a:r>
              <a:rPr kumimoji="0" lang="en-US" sz="2400" b="0" i="0" u="none" strike="noStrike" kern="1200" cap="none" spc="0" normalizeH="0" baseline="0" noProof="0">
                <a:ln>
                  <a:noFill/>
                </a:ln>
                <a:solidFill>
                  <a:srgbClr val="FFFFFF"/>
                </a:solidFill>
                <a:effectLst/>
                <a:uLnTx/>
                <a:uFillTx/>
                <a:latin typeface="Arial"/>
                <a:ea typeface="Segoe UI Emoji" panose="020B0502040204020203" pitchFamily="34" charset="0"/>
                <a:cs typeface="+mj-cs"/>
              </a:rPr>
              <a:t>🙂👍</a:t>
            </a:r>
            <a:endParaRPr lang="en-US" sz="2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45767488"/>
      </p:ext>
    </p:extLst>
  </p:cSld>
  <p:clrMapOvr>
    <a:masterClrMapping/>
  </p:clrMapOvr>
</p:sld>
</file>

<file path=ppt/slides/slide5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A21F7-0C96-82E0-9F4C-7039E08A5B59}"/>
              </a:ext>
            </a:extLst>
          </p:cNvPr>
          <p:cNvSpPr>
            <a:spLocks noGrp="1"/>
          </p:cNvSpPr>
          <p:nvPr>
            <p:ph type="title"/>
          </p:nvPr>
        </p:nvSpPr>
        <p:spPr/>
        <p:txBody>
          <a:bodyPr/>
          <a:lstStyle/>
          <a:p>
            <a:r>
              <a:rPr lang="en-US"/>
              <a:t>big lesson</a:t>
            </a:r>
          </a:p>
        </p:txBody>
      </p:sp>
      <p:sp>
        <p:nvSpPr>
          <p:cNvPr id="3" name="Content Placeholder 2">
            <a:extLst>
              <a:ext uri="{FF2B5EF4-FFF2-40B4-BE49-F238E27FC236}">
                <a16:creationId xmlns:a16="http://schemas.microsoft.com/office/drawing/2014/main" id="{48FE2DD7-42E6-0464-E3AA-EA7EB604CA6E}"/>
              </a:ext>
            </a:extLst>
          </p:cNvPr>
          <p:cNvSpPr>
            <a:spLocks noGrp="1"/>
          </p:cNvSpPr>
          <p:nvPr>
            <p:ph sz="quarter" idx="10"/>
          </p:nvPr>
        </p:nvSpPr>
        <p:spPr/>
        <p:txBody>
          <a:bodyPr/>
          <a:lstStyle/>
          <a:p>
            <a:r>
              <a:rPr lang="en-US"/>
              <a:t>implement code one thing at a time</a:t>
            </a:r>
          </a:p>
          <a:p>
            <a:r>
              <a:rPr lang="en-US"/>
              <a:t>compile and run and test after implementing every single thing</a:t>
            </a:r>
          </a:p>
          <a:p>
            <a:r>
              <a:rPr lang="en-US"/>
              <a:t>figuring out the order to do things in is a learned skill!</a:t>
            </a:r>
          </a:p>
          <a:p>
            <a:pPr lvl="1"/>
            <a:r>
              <a:rPr lang="en-US"/>
              <a:t>sometimes i choose the wrong order...</a:t>
            </a:r>
          </a:p>
          <a:p>
            <a:pPr lvl="1"/>
            <a:r>
              <a:rPr lang="en-US"/>
              <a:t>...and then i usually have to start over 🙂👍</a:t>
            </a:r>
          </a:p>
        </p:txBody>
      </p:sp>
    </p:spTree>
    <p:extLst>
      <p:ext uri="{BB962C8B-B14F-4D97-AF65-F5344CB8AC3E}">
        <p14:creationId xmlns:p14="http://schemas.microsoft.com/office/powerpoint/2010/main" val="997340684"/>
      </p:ext>
    </p:extLst>
  </p:cSld>
  <p:clrMapOvr>
    <a:masterClrMapping/>
  </p:clrMapOvr>
</p:sld>
</file>

<file path=ppt/slides/slide5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8496D-E586-1C31-551C-5E6940EE0881}"/>
              </a:ext>
            </a:extLst>
          </p:cNvPr>
          <p:cNvSpPr>
            <a:spLocks noGrp="1"/>
          </p:cNvSpPr>
          <p:nvPr>
            <p:ph type="title"/>
          </p:nvPr>
        </p:nvSpPr>
        <p:spPr/>
        <p:txBody>
          <a:bodyPr/>
          <a:lstStyle/>
          <a:p>
            <a:r>
              <a:rPr lang="en-US"/>
              <a:t>this is a learned skill!</a:t>
            </a:r>
          </a:p>
        </p:txBody>
      </p:sp>
    </p:spTree>
    <p:extLst>
      <p:ext uri="{BB962C8B-B14F-4D97-AF65-F5344CB8AC3E}">
        <p14:creationId xmlns:p14="http://schemas.microsoft.com/office/powerpoint/2010/main" val="3871874503"/>
      </p:ext>
    </p:extLst>
  </p:cSld>
  <p:clrMapOvr>
    <a:masterClrMapping/>
  </p:clrMapOvr>
</p:sld>
</file>

<file path=ppt/slides/slide5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2946D-A084-BC44-E240-AC703B9EF756}"/>
              </a:ext>
            </a:extLst>
          </p:cNvPr>
          <p:cNvSpPr>
            <a:spLocks noGrp="1"/>
          </p:cNvSpPr>
          <p:nvPr>
            <p:ph type="title"/>
          </p:nvPr>
        </p:nvSpPr>
        <p:spPr/>
        <p:txBody>
          <a:bodyPr/>
          <a:lstStyle/>
          <a:p>
            <a:r>
              <a:rPr lang="en-US"/>
              <a:t>in summary</a:t>
            </a:r>
          </a:p>
        </p:txBody>
      </p:sp>
      <p:pic>
        <p:nvPicPr>
          <p:cNvPr id="3" name="Picture 4" descr="Housing Market 'In Free Fall' As New Construction Plummets—Here's When  'Reset' Could Cool Prices">
            <a:extLst>
              <a:ext uri="{FF2B5EF4-FFF2-40B4-BE49-F238E27FC236}">
                <a16:creationId xmlns:a16="http://schemas.microsoft.com/office/drawing/2014/main" id="{9D9F8BA9-C8D1-772B-6D0E-DCC85E8126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9212" y="1425742"/>
            <a:ext cx="4074696" cy="229201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Most Efficient Solar Panels Of 2023 – Forbes Home">
            <a:extLst>
              <a:ext uri="{FF2B5EF4-FFF2-40B4-BE49-F238E27FC236}">
                <a16:creationId xmlns:a16="http://schemas.microsoft.com/office/drawing/2014/main" id="{0504C028-0748-9D8D-8D79-BCA97521C9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092" y="1425742"/>
            <a:ext cx="4076709" cy="2292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8262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2AE2C-B205-A5D5-0B7B-6B2376397C9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7DBF180-F54A-16F5-3F13-D098171E19E9}"/>
              </a:ext>
            </a:extLst>
          </p:cNvPr>
          <p:cNvSpPr>
            <a:spLocks noGrp="1"/>
          </p:cNvSpPr>
          <p:nvPr>
            <p:ph type="title"/>
          </p:nvPr>
        </p:nvSpPr>
        <p:spPr>
          <a:xfrm>
            <a:off x="457200" y="254916"/>
            <a:ext cx="8229600" cy="1893924"/>
          </a:xfrm>
        </p:spPr>
        <p:txBody>
          <a:bodyPr/>
          <a:lstStyle/>
          <a:p>
            <a:r>
              <a:rPr lang="en-US" sz="8800"/>
              <a:t>Week02</a:t>
            </a:r>
          </a:p>
        </p:txBody>
      </p:sp>
      <p:sp>
        <p:nvSpPr>
          <p:cNvPr id="6" name="Content Placeholder 5">
            <a:extLst>
              <a:ext uri="{FF2B5EF4-FFF2-40B4-BE49-F238E27FC236}">
                <a16:creationId xmlns:a16="http://schemas.microsoft.com/office/drawing/2014/main" id="{A2E3E412-9DEB-BF40-8A92-1E74A79082E4}"/>
              </a:ext>
            </a:extLst>
          </p:cNvPr>
          <p:cNvSpPr>
            <a:spLocks noGrp="1"/>
          </p:cNvSpPr>
          <p:nvPr>
            <p:ph sz="quarter" idx="10"/>
          </p:nvPr>
        </p:nvSpPr>
        <p:spPr>
          <a:xfrm>
            <a:off x="457200" y="1993732"/>
            <a:ext cx="8229600" cy="2894013"/>
          </a:xfrm>
        </p:spPr>
        <p:txBody>
          <a:bodyPr>
            <a:noAutofit/>
          </a:bodyPr>
          <a:lstStyle/>
          <a:p>
            <a:r>
              <a:rPr lang="en-US"/>
              <a:t>arrays</a:t>
            </a:r>
          </a:p>
          <a:p>
            <a:r>
              <a:rPr lang="en-US"/>
              <a:t>big O</a:t>
            </a:r>
          </a:p>
          <a:p>
            <a:r>
              <a:rPr lang="en-US"/>
              <a:t>array examples</a:t>
            </a:r>
          </a:p>
          <a:p>
            <a:r>
              <a:rPr lang="en-US"/>
              <a:t>swap</a:t>
            </a:r>
          </a:p>
          <a:p>
            <a:r>
              <a:rPr lang="en-US"/>
              <a:t>array examples</a:t>
            </a:r>
            <a:br>
              <a:rPr lang="en-US"/>
            </a:br>
            <a:r>
              <a:rPr lang="en-US"/>
              <a:t>that use swaps</a:t>
            </a:r>
          </a:p>
        </p:txBody>
      </p:sp>
      <p:pic>
        <p:nvPicPr>
          <p:cNvPr id="1026" name="Picture 2" descr="Dice 2 Clip Art at Clker.com - vector clip art online, royalty free &amp;  public domain">
            <a:extLst>
              <a:ext uri="{FF2B5EF4-FFF2-40B4-BE49-F238E27FC236}">
                <a16:creationId xmlns:a16="http://schemas.microsoft.com/office/drawing/2014/main" id="{2FDC3743-1FD2-1908-A30F-2F8B693059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33452" y="382684"/>
            <a:ext cx="1720028" cy="170265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F475090-78B7-1D19-935C-F431799F3516}"/>
              </a:ext>
            </a:extLst>
          </p:cNvPr>
          <p:cNvSpPr txBox="1"/>
          <p:nvPr/>
        </p:nvSpPr>
        <p:spPr>
          <a:xfrm>
            <a:off x="4995225" y="1109795"/>
            <a:ext cx="1088673" cy="923330"/>
          </a:xfrm>
          <a:prstGeom prst="rect">
            <a:avLst/>
          </a:prstGeom>
          <a:noFill/>
        </p:spPr>
        <p:txBody>
          <a:bodyPr wrap="square">
            <a:spAutoFit/>
          </a:bodyPr>
          <a:lstStyle/>
          <a:p>
            <a:pPr algn="r"/>
            <a:r>
              <a:rPr kumimoji="0" lang="en-US" sz="54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2400"/>
          </a:p>
        </p:txBody>
      </p:sp>
      <p:sp>
        <p:nvSpPr>
          <p:cNvPr id="5" name="TextBox 4">
            <a:extLst>
              <a:ext uri="{FF2B5EF4-FFF2-40B4-BE49-F238E27FC236}">
                <a16:creationId xmlns:a16="http://schemas.microsoft.com/office/drawing/2014/main" id="{E4CB899E-4B54-6CDC-E58B-C8A9F452E59B}"/>
              </a:ext>
            </a:extLst>
          </p:cNvPr>
          <p:cNvSpPr txBox="1"/>
          <p:nvPr/>
        </p:nvSpPr>
        <p:spPr>
          <a:xfrm rot="10800000">
            <a:off x="5810815" y="307606"/>
            <a:ext cx="1088673" cy="923330"/>
          </a:xfrm>
          <a:prstGeom prst="rect">
            <a:avLst/>
          </a:prstGeom>
          <a:noFill/>
        </p:spPr>
        <p:txBody>
          <a:bodyPr wrap="square">
            <a:spAutoFit/>
          </a:bodyPr>
          <a:lstStyle/>
          <a:p>
            <a:pPr algn="r"/>
            <a:r>
              <a:rPr kumimoji="0" lang="en-US" sz="54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2400"/>
          </a:p>
        </p:txBody>
      </p:sp>
      <p:sp>
        <p:nvSpPr>
          <p:cNvPr id="2" name="TextBox 1">
            <a:extLst>
              <a:ext uri="{FF2B5EF4-FFF2-40B4-BE49-F238E27FC236}">
                <a16:creationId xmlns:a16="http://schemas.microsoft.com/office/drawing/2014/main" id="{C3B1CC70-EBED-30B2-2894-3B2C89DFCB3E}"/>
              </a:ext>
            </a:extLst>
          </p:cNvPr>
          <p:cNvSpPr txBox="1"/>
          <p:nvPr/>
        </p:nvSpPr>
        <p:spPr>
          <a:xfrm>
            <a:off x="2984160" y="2207072"/>
            <a:ext cx="5702640" cy="954107"/>
          </a:xfrm>
          <a:prstGeom prst="rect">
            <a:avLst/>
          </a:prstGeom>
          <a:noFill/>
        </p:spPr>
        <p:txBody>
          <a:bodyPr wrap="square" rtlCol="0">
            <a:spAutoFit/>
          </a:bodyPr>
          <a:lstStyle/>
          <a:p>
            <a:pPr algn="ctr"/>
            <a:r>
              <a:rPr lang="en-US" sz="2800" b="1">
                <a:solidFill>
                  <a:srgbClr val="F80B8D"/>
                </a:solidFill>
                <a:latin typeface="Arial" panose="020B0604020202020204" pitchFamily="34" charset="0"/>
                <a:ea typeface="Segoe UI Emoji" panose="020B0502040204020203" pitchFamily="34" charset="0"/>
                <a:cs typeface="Arial" panose="020B0604020202020204" pitchFamily="34" charset="0"/>
              </a:rPr>
              <a:t>NOTE: </a:t>
            </a:r>
            <a:r>
              <a:rPr lang="en-US" sz="2800">
                <a:solidFill>
                  <a:srgbClr val="F80B8D"/>
                </a:solidFill>
                <a:latin typeface="Arial" panose="020B0604020202020204" pitchFamily="34" charset="0"/>
                <a:ea typeface="Segoe UI Emoji" panose="020B0502040204020203" pitchFamily="34" charset="0"/>
                <a:cs typeface="Arial" panose="020B0604020202020204" pitchFamily="34" charset="0"/>
              </a:rPr>
              <a:t>Happy No-Laptop Monday!</a:t>
            </a:r>
          </a:p>
          <a:p>
            <a:pPr algn="ctr"/>
            <a:r>
              <a:rPr lang="en-US" sz="2800">
                <a:solidFill>
                  <a:srgbClr val="F80B8D"/>
                </a:solidFill>
                <a:latin typeface="Arial" panose="020B0604020202020204" pitchFamily="34" charset="0"/>
                <a:ea typeface="Segoe UI Emoji" panose="020B0502040204020203" pitchFamily="34" charset="0"/>
                <a:cs typeface="Arial" panose="020B0604020202020204" pitchFamily="34" charset="0"/>
              </a:rPr>
              <a:t>🚫💻</a:t>
            </a:r>
          </a:p>
        </p:txBody>
      </p:sp>
      <p:sp>
        <p:nvSpPr>
          <p:cNvPr id="3" name="TextBox 2">
            <a:extLst>
              <a:ext uri="{FF2B5EF4-FFF2-40B4-BE49-F238E27FC236}">
                <a16:creationId xmlns:a16="http://schemas.microsoft.com/office/drawing/2014/main" id="{BE6C9103-2B00-B6FC-67A5-69A878E154E2}"/>
              </a:ext>
            </a:extLst>
          </p:cNvPr>
          <p:cNvSpPr txBox="1"/>
          <p:nvPr/>
        </p:nvSpPr>
        <p:spPr>
          <a:xfrm>
            <a:off x="4572000" y="3643745"/>
            <a:ext cx="4281055" cy="1077218"/>
          </a:xfrm>
          <a:prstGeom prst="rect">
            <a:avLst/>
          </a:prstGeom>
          <a:noFill/>
        </p:spPr>
        <p:txBody>
          <a:bodyPr wrap="square" rtlCol="0">
            <a:spAutoFit/>
          </a:bodyPr>
          <a:lstStyle/>
          <a:p>
            <a:pPr algn="r"/>
            <a:r>
              <a:rPr lang="en-US" sz="3200" b="1"/>
              <a:t>WARMUP:</a:t>
            </a:r>
            <a:r>
              <a:rPr lang="en-US" sz="3200"/>
              <a:t> how big is 2</a:t>
            </a:r>
            <a:r>
              <a:rPr lang="en-US" sz="3200" baseline="30000"/>
              <a:t>270</a:t>
            </a:r>
            <a:r>
              <a:rPr lang="en-US" sz="3200"/>
              <a:t> ?</a:t>
            </a:r>
          </a:p>
        </p:txBody>
      </p:sp>
    </p:spTree>
    <p:extLst>
      <p:ext uri="{BB962C8B-B14F-4D97-AF65-F5344CB8AC3E}">
        <p14:creationId xmlns:p14="http://schemas.microsoft.com/office/powerpoint/2010/main" val="1292939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E34597-B32F-DCBF-CC47-6589A34D1242}"/>
              </a:ext>
            </a:extLst>
          </p:cNvPr>
          <p:cNvSpPr>
            <a:spLocks noGrp="1"/>
          </p:cNvSpPr>
          <p:nvPr>
            <p:ph type="title"/>
          </p:nvPr>
        </p:nvSpPr>
        <p:spPr/>
        <p:txBody>
          <a:bodyPr/>
          <a:lstStyle/>
          <a:p>
            <a:r>
              <a:rPr lang="en-US"/>
              <a:t>arrays</a:t>
            </a:r>
          </a:p>
        </p:txBody>
      </p:sp>
    </p:spTree>
    <p:extLst>
      <p:ext uri="{BB962C8B-B14F-4D97-AF65-F5344CB8AC3E}">
        <p14:creationId xmlns:p14="http://schemas.microsoft.com/office/powerpoint/2010/main" val="3811954092"/>
      </p:ext>
    </p:extLst>
  </p:cSld>
  <p:clrMapOvr>
    <a:masterClrMapping/>
  </p:clrMapOvr>
</p:sld>
</file>

<file path=ppt/slides/slide5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718A7-8190-7C6A-6921-7BAB770212E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4490EB8-24A8-840A-642F-93EAC36E581B}"/>
              </a:ext>
            </a:extLst>
          </p:cNvPr>
          <p:cNvSpPr>
            <a:spLocks noGrp="1"/>
          </p:cNvSpPr>
          <p:nvPr>
            <p:ph type="title"/>
          </p:nvPr>
        </p:nvSpPr>
        <p:spPr/>
        <p:txBody>
          <a:bodyPr/>
          <a:lstStyle/>
          <a:p>
            <a:r>
              <a:rPr lang="en-US"/>
              <a:t>metaphor</a:t>
            </a:r>
          </a:p>
        </p:txBody>
      </p:sp>
    </p:spTree>
    <p:extLst>
      <p:ext uri="{BB962C8B-B14F-4D97-AF65-F5344CB8AC3E}">
        <p14:creationId xmlns:p14="http://schemas.microsoft.com/office/powerpoint/2010/main" val="3386451263"/>
      </p:ext>
    </p:extLst>
  </p:cSld>
  <p:clrMapOvr>
    <a:masterClrMapping/>
  </p:clrMapOvr>
</p:sld>
</file>

<file path=ppt/slides/slide5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7E6B08D-F06B-C122-40AE-D1EB49721692}"/>
              </a:ext>
            </a:extLst>
          </p:cNvPr>
          <p:cNvSpPr>
            <a:spLocks noGrp="1"/>
          </p:cNvSpPr>
          <p:nvPr>
            <p:ph type="title"/>
          </p:nvPr>
        </p:nvSpPr>
        <p:spPr/>
        <p:txBody>
          <a:bodyPr/>
          <a:lstStyle/>
          <a:p>
            <a:pPr algn="l"/>
            <a:r>
              <a:rPr lang="en-US"/>
              <a:t>an array is like a very organized person's flower planter</a:t>
            </a:r>
            <a:br>
              <a:rPr lang="en-US"/>
            </a:br>
            <a:br>
              <a:rPr lang="en-US"/>
            </a:br>
            <a:r>
              <a:rPr lang="en-US"/>
              <a:t>- one flower per square</a:t>
            </a:r>
            <a:br>
              <a:rPr lang="en-US"/>
            </a:br>
            <a:r>
              <a:rPr lang="en-US"/>
              <a:t>- the planter can't change size</a:t>
            </a:r>
            <a:br>
              <a:rPr lang="en-US"/>
            </a:br>
            <a:r>
              <a:rPr lang="en-US" sz="4000"/>
              <a:t>  </a:t>
            </a:r>
            <a:r>
              <a:rPr lang="en-US" sz="2800"/>
              <a:t>(it is made of artisinal woods or something)</a:t>
            </a:r>
            <a:endParaRPr lang="en-US"/>
          </a:p>
        </p:txBody>
      </p:sp>
    </p:spTree>
    <p:extLst>
      <p:ext uri="{BB962C8B-B14F-4D97-AF65-F5344CB8AC3E}">
        <p14:creationId xmlns:p14="http://schemas.microsoft.com/office/powerpoint/2010/main" val="3415677504"/>
      </p:ext>
    </p:extLst>
  </p:cSld>
  <p:clrMapOvr>
    <a:masterClrMapping/>
  </p:clrMapOvr>
</p:sld>
</file>

<file path=ppt/slides/slide5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B7E7D51-A90B-97D7-71FE-B67BB0128E02}"/>
              </a:ext>
            </a:extLst>
          </p:cNvPr>
          <p:cNvSpPr/>
          <p:nvPr/>
        </p:nvSpPr>
        <p:spPr>
          <a:xfrm>
            <a:off x="1003852" y="1610139"/>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D2AB208-D909-A994-82A3-8E5AEF15500F}"/>
              </a:ext>
            </a:extLst>
          </p:cNvPr>
          <p:cNvSpPr/>
          <p:nvPr/>
        </p:nvSpPr>
        <p:spPr>
          <a:xfrm>
            <a:off x="1003852" y="3294823"/>
            <a:ext cx="6877878"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BEFD7D-6D76-F2FD-43F4-8A5EA321E4F0}"/>
              </a:ext>
            </a:extLst>
          </p:cNvPr>
          <p:cNvSpPr/>
          <p:nvPr/>
        </p:nvSpPr>
        <p:spPr>
          <a:xfrm rot="5400000">
            <a:off x="153271" y="2452481"/>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7679F3F-C3A7-FBB5-5AC1-A6655981265B}"/>
              </a:ext>
            </a:extLst>
          </p:cNvPr>
          <p:cNvSpPr/>
          <p:nvPr/>
        </p:nvSpPr>
        <p:spPr>
          <a:xfrm rot="5400000">
            <a:off x="6800849" y="2452480"/>
            <a:ext cx="1923223" cy="238539"/>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292C7CC-00B0-0E66-4352-B85C24BC88D3}"/>
              </a:ext>
            </a:extLst>
          </p:cNvPr>
          <p:cNvSpPr/>
          <p:nvPr/>
        </p:nvSpPr>
        <p:spPr>
          <a:xfrm rot="5400000">
            <a:off x="1778903" y="2503314"/>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96CA029-F4E8-D7B0-2B91-21477FD49B17}"/>
              </a:ext>
            </a:extLst>
          </p:cNvPr>
          <p:cNvSpPr/>
          <p:nvPr/>
        </p:nvSpPr>
        <p:spPr>
          <a:xfrm rot="5400000">
            <a:off x="3404503" y="2503315"/>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BFC32A9-2087-5AD8-4C18-18CAC98B7C85}"/>
              </a:ext>
            </a:extLst>
          </p:cNvPr>
          <p:cNvSpPr/>
          <p:nvPr/>
        </p:nvSpPr>
        <p:spPr>
          <a:xfrm rot="5400000">
            <a:off x="5080903" y="2503316"/>
            <a:ext cx="1923223" cy="13687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16047D5-522F-61CB-B9E4-15526F0CB491}"/>
              </a:ext>
            </a:extLst>
          </p:cNvPr>
          <p:cNvSpPr txBox="1"/>
          <p:nvPr/>
        </p:nvSpPr>
        <p:spPr>
          <a:xfrm>
            <a:off x="1148080" y="2187028"/>
            <a:ext cx="1574799" cy="769441"/>
          </a:xfrm>
          <a:prstGeom prst="rect">
            <a:avLst/>
          </a:prstGeom>
          <a:noFill/>
        </p:spPr>
        <p:txBody>
          <a:bodyPr wrap="square">
            <a:spAutoFit/>
          </a:bodyPr>
          <a:lstStyle/>
          <a:p>
            <a:pPr algn="ctr"/>
            <a:r>
              <a:rPr kumimoji="0" lang="en-US" sz="44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a:p>
        </p:txBody>
      </p:sp>
      <p:sp>
        <p:nvSpPr>
          <p:cNvPr id="15" name="TextBox 14">
            <a:extLst>
              <a:ext uri="{FF2B5EF4-FFF2-40B4-BE49-F238E27FC236}">
                <a16:creationId xmlns:a16="http://schemas.microsoft.com/office/drawing/2014/main" id="{EE6AEB97-7E6A-6825-DFA4-B78B11059F17}"/>
              </a:ext>
            </a:extLst>
          </p:cNvPr>
          <p:cNvSpPr txBox="1"/>
          <p:nvPr/>
        </p:nvSpPr>
        <p:spPr>
          <a:xfrm>
            <a:off x="2730643" y="2063716"/>
            <a:ext cx="1574799" cy="923330"/>
          </a:xfrm>
          <a:prstGeom prst="rect">
            <a:avLst/>
          </a:prstGeom>
          <a:noFill/>
        </p:spPr>
        <p:txBody>
          <a:bodyPr wrap="square">
            <a:spAutoFit/>
          </a:bodyPr>
          <a:lstStyle/>
          <a:p>
            <a:pPr algn="ctr"/>
            <a:r>
              <a:rPr kumimoji="0" lang="en-US" sz="54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2400"/>
          </a:p>
        </p:txBody>
      </p:sp>
      <p:sp>
        <p:nvSpPr>
          <p:cNvPr id="16" name="TextBox 15">
            <a:extLst>
              <a:ext uri="{FF2B5EF4-FFF2-40B4-BE49-F238E27FC236}">
                <a16:creationId xmlns:a16="http://schemas.microsoft.com/office/drawing/2014/main" id="{70F9A2B8-0AAD-5FB2-77B3-6BB20CD1FC48}"/>
              </a:ext>
            </a:extLst>
          </p:cNvPr>
          <p:cNvSpPr txBox="1"/>
          <p:nvPr/>
        </p:nvSpPr>
        <p:spPr>
          <a:xfrm>
            <a:off x="4383752" y="1848476"/>
            <a:ext cx="1574799" cy="1446550"/>
          </a:xfrm>
          <a:prstGeom prst="rect">
            <a:avLst/>
          </a:prstGeom>
          <a:noFill/>
        </p:spPr>
        <p:txBody>
          <a:bodyPr wrap="square">
            <a:spAutoFit/>
          </a:bodyPr>
          <a:lstStyle/>
          <a:p>
            <a:pPr algn="ctr"/>
            <a:r>
              <a:rPr kumimoji="0" lang="en-US" sz="8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4400"/>
          </a:p>
        </p:txBody>
      </p:sp>
      <p:sp>
        <p:nvSpPr>
          <p:cNvPr id="20" name="TextBox 19">
            <a:extLst>
              <a:ext uri="{FF2B5EF4-FFF2-40B4-BE49-F238E27FC236}">
                <a16:creationId xmlns:a16="http://schemas.microsoft.com/office/drawing/2014/main" id="{0BBCC858-08ED-795A-E080-53D77446DECA}"/>
              </a:ext>
            </a:extLst>
          </p:cNvPr>
          <p:cNvSpPr txBox="1"/>
          <p:nvPr/>
        </p:nvSpPr>
        <p:spPr>
          <a:xfrm>
            <a:off x="6070312" y="2140661"/>
            <a:ext cx="1574799" cy="769441"/>
          </a:xfrm>
          <a:prstGeom prst="rect">
            <a:avLst/>
          </a:prstGeom>
          <a:noFill/>
        </p:spPr>
        <p:txBody>
          <a:bodyPr wrap="square">
            <a:spAutoFit/>
          </a:bodyPr>
          <a:lstStyle/>
          <a:p>
            <a:pPr algn="ctr"/>
            <a:r>
              <a:rPr kumimoji="0" lang="en-US" sz="44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a:p>
        </p:txBody>
      </p:sp>
    </p:spTree>
    <p:extLst>
      <p:ext uri="{BB962C8B-B14F-4D97-AF65-F5344CB8AC3E}">
        <p14:creationId xmlns:p14="http://schemas.microsoft.com/office/powerpoint/2010/main" val="33634015"/>
      </p:ext>
    </p:extLst>
  </p:cSld>
  <p:clrMapOvr>
    <a:masterClrMapping/>
  </p:clrMapOvr>
</p:sld>
</file>

<file path=ppt/slides/slide5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B4E1E-CD3F-2417-1B75-673E3AFD128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B8E0479-BE7B-9B6B-458E-C3DCA645FE77}"/>
              </a:ext>
            </a:extLst>
          </p:cNvPr>
          <p:cNvSpPr>
            <a:spLocks noGrp="1"/>
          </p:cNvSpPr>
          <p:nvPr>
            <p:ph type="title"/>
          </p:nvPr>
        </p:nvSpPr>
        <p:spPr/>
        <p:txBody>
          <a:bodyPr/>
          <a:lstStyle/>
          <a:p>
            <a:r>
              <a:rPr lang="en-US"/>
              <a:t>mental model of an array</a:t>
            </a:r>
          </a:p>
        </p:txBody>
      </p:sp>
    </p:spTree>
    <p:extLst>
      <p:ext uri="{BB962C8B-B14F-4D97-AF65-F5344CB8AC3E}">
        <p14:creationId xmlns:p14="http://schemas.microsoft.com/office/powerpoint/2010/main" val="1855570258"/>
      </p:ext>
    </p:extLst>
  </p:cSld>
  <p:clrMapOvr>
    <a:masterClrMapping/>
  </p:clrMapOvr>
</p:sld>
</file>

<file path=ppt/slides/slide5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4E65E-E5B6-19C0-36DC-635001BF0EE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FA99A2-004F-6209-97B8-D7CDFF043ADE}"/>
              </a:ext>
            </a:extLst>
          </p:cNvPr>
          <p:cNvSpPr>
            <a:spLocks noGrp="1"/>
          </p:cNvSpPr>
          <p:nvPr>
            <p:ph type="title"/>
          </p:nvPr>
        </p:nvSpPr>
        <p:spPr>
          <a:xfrm>
            <a:off x="457200" y="254916"/>
            <a:ext cx="8229600" cy="667168"/>
          </a:xfrm>
        </p:spPr>
        <p:txBody>
          <a:bodyPr/>
          <a:lstStyle/>
          <a:p>
            <a:r>
              <a:rPr lang="en-US"/>
              <a:t>mental model of an array</a:t>
            </a:r>
          </a:p>
        </p:txBody>
      </p:sp>
      <p:sp>
        <p:nvSpPr>
          <p:cNvPr id="4" name="Content Placeholder 3">
            <a:extLst>
              <a:ext uri="{FF2B5EF4-FFF2-40B4-BE49-F238E27FC236}">
                <a16:creationId xmlns:a16="http://schemas.microsoft.com/office/drawing/2014/main" id="{79B1AFB1-7FF1-4963-CF8C-420D1060D1A5}"/>
              </a:ext>
            </a:extLst>
          </p:cNvPr>
          <p:cNvSpPr>
            <a:spLocks noGrp="1"/>
          </p:cNvSpPr>
          <p:nvPr>
            <p:ph sz="quarter" idx="10"/>
          </p:nvPr>
        </p:nvSpPr>
        <p:spPr>
          <a:xfrm>
            <a:off x="457200" y="963613"/>
            <a:ext cx="8229600" cy="865187"/>
          </a:xfrm>
        </p:spPr>
        <p:txBody>
          <a:bodyPr/>
          <a:lstStyle/>
          <a:p>
            <a:r>
              <a:rPr lang="en-US"/>
              <a:t>a fixed number of equally-sized boxes, all right next to each other</a:t>
            </a:r>
          </a:p>
          <a:p>
            <a:r>
              <a:rPr lang="en-US"/>
              <a:t>the array itself lives "in memory"</a:t>
            </a:r>
          </a:p>
          <a:p>
            <a:pPr lvl="0"/>
            <a:endParaRPr lang="en-US" noProof="0"/>
          </a:p>
        </p:txBody>
      </p:sp>
      <p:graphicFrame>
        <p:nvGraphicFramePr>
          <p:cNvPr id="9" name="Table 8">
            <a:extLst>
              <a:ext uri="{FF2B5EF4-FFF2-40B4-BE49-F238E27FC236}">
                <a16:creationId xmlns:a16="http://schemas.microsoft.com/office/drawing/2014/main" id="{AA24E3DE-BD43-79EB-D32D-BCE48B20ED83}"/>
              </a:ext>
            </a:extLst>
          </p:cNvPr>
          <p:cNvGraphicFramePr>
            <a:graphicFrameLocks noGrp="1"/>
          </p:cNvGraphicFramePr>
          <p:nvPr>
            <p:extLst>
              <p:ext uri="{D42A27DB-BD31-4B8C-83A1-F6EECF244321}">
                <p14:modId xmlns:p14="http://schemas.microsoft.com/office/powerpoint/2010/main" val="719702349"/>
              </p:ext>
            </p:extLst>
          </p:nvPr>
        </p:nvGraphicFramePr>
        <p:xfrm>
          <a:off x="750280" y="1798482"/>
          <a:ext cx="3899715" cy="746439"/>
        </p:xfrm>
        <a:graphic>
          <a:graphicData uri="http://schemas.openxmlformats.org/drawingml/2006/table">
            <a:tbl>
              <a:tblPr firstRow="1" bandRow="1">
                <a:effectLst/>
                <a:tableStyleId>{5C22544A-7EE6-4342-B048-85BDC9FD1C3A}</a:tableStyleId>
              </a:tblPr>
              <a:tblGrid>
                <a:gridCol w="779943">
                  <a:extLst>
                    <a:ext uri="{9D8B030D-6E8A-4147-A177-3AD203B41FA5}">
                      <a16:colId xmlns:a16="http://schemas.microsoft.com/office/drawing/2014/main" val="3664931643"/>
                    </a:ext>
                  </a:extLst>
                </a:gridCol>
                <a:gridCol w="779943">
                  <a:extLst>
                    <a:ext uri="{9D8B030D-6E8A-4147-A177-3AD203B41FA5}">
                      <a16:colId xmlns:a16="http://schemas.microsoft.com/office/drawing/2014/main" val="3465706583"/>
                    </a:ext>
                  </a:extLst>
                </a:gridCol>
                <a:gridCol w="779943">
                  <a:extLst>
                    <a:ext uri="{9D8B030D-6E8A-4147-A177-3AD203B41FA5}">
                      <a16:colId xmlns:a16="http://schemas.microsoft.com/office/drawing/2014/main" val="310093362"/>
                    </a:ext>
                  </a:extLst>
                </a:gridCol>
                <a:gridCol w="779943">
                  <a:extLst>
                    <a:ext uri="{9D8B030D-6E8A-4147-A177-3AD203B41FA5}">
                      <a16:colId xmlns:a16="http://schemas.microsoft.com/office/drawing/2014/main" val="3174344614"/>
                    </a:ext>
                  </a:extLst>
                </a:gridCol>
                <a:gridCol w="779943">
                  <a:extLst>
                    <a:ext uri="{9D8B030D-6E8A-4147-A177-3AD203B41FA5}">
                      <a16:colId xmlns:a16="http://schemas.microsoft.com/office/drawing/2014/main" val="1032840509"/>
                    </a:ext>
                  </a:extLst>
                </a:gridCol>
              </a:tblGrid>
              <a:tr h="746439">
                <a:tc>
                  <a:txBody>
                    <a:bodyPr/>
                    <a:lstStyle/>
                    <a:p>
                      <a:pPr algn="ctr"/>
                      <a:r>
                        <a:rPr lang="en-US" sz="4000">
                          <a:solidFill>
                            <a:schemeClr val="tx1"/>
                          </a:solidFill>
                        </a:rPr>
                        <a:t>1</a:t>
                      </a:r>
                    </a:p>
                  </a:txBody>
                  <a:tcPr>
                    <a:lnL w="38100" cap="flat" cmpd="sng" algn="ctr">
                      <a:solidFill>
                        <a:schemeClr val="accent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r>
                        <a:rPr lang="en-US" sz="400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r>
                        <a:rPr lang="en-US" sz="400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r>
                        <a:rPr lang="en-US" sz="400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r>
                        <a:rPr lang="en-US" sz="4000">
                          <a:solidFill>
                            <a:schemeClr val="tx1"/>
                          </a:solidFill>
                        </a:rPr>
                        <a:t>7</a:t>
                      </a:r>
                    </a:p>
                  </a:txBody>
                  <a:tcPr>
                    <a:lnL w="12700" cap="flat" cmpd="sng" algn="ctr">
                      <a:solidFill>
                        <a:schemeClr val="tx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879007476"/>
                  </a:ext>
                </a:extLst>
              </a:tr>
            </a:tbl>
          </a:graphicData>
        </a:graphic>
      </p:graphicFrame>
      <p:sp>
        <p:nvSpPr>
          <p:cNvPr id="10" name="TextBox 9">
            <a:extLst>
              <a:ext uri="{FF2B5EF4-FFF2-40B4-BE49-F238E27FC236}">
                <a16:creationId xmlns:a16="http://schemas.microsoft.com/office/drawing/2014/main" id="{693D69BF-5023-3EB9-2AC6-AFDB04DC2E41}"/>
              </a:ext>
            </a:extLst>
          </p:cNvPr>
          <p:cNvSpPr txBox="1"/>
          <p:nvPr/>
        </p:nvSpPr>
        <p:spPr>
          <a:xfrm>
            <a:off x="750280" y="2794427"/>
            <a:ext cx="8229600" cy="1938992"/>
          </a:xfrm>
          <a:prstGeom prst="rect">
            <a:avLst/>
          </a:prstGeom>
          <a:solidFill>
            <a:schemeClr val="bg1"/>
          </a:solidFill>
          <a:ln w="12700">
            <a:solidFill>
              <a:schemeClr val="tx1"/>
            </a:solidFill>
          </a:ln>
        </p:spPr>
        <p:txBody>
          <a:bodyPr wrap="square" rtlCol="0">
            <a:spAutoFit/>
          </a:bodyPr>
          <a:lstStyle/>
          <a:p>
            <a:pPr lvl="0"/>
            <a:r>
              <a:rPr lang="en-US" sz="2000">
                <a:latin typeface="Consolas"/>
              </a:rPr>
              <a:t>int[] foo = new int[5];</a:t>
            </a:r>
          </a:p>
          <a:p>
            <a:pPr lvl="0"/>
            <a:r>
              <a:rPr lang="en-US" sz="2000">
                <a:latin typeface="Consolas"/>
              </a:rPr>
              <a:t>foo[0] = 1;</a:t>
            </a:r>
          </a:p>
          <a:p>
            <a:pPr lvl="0"/>
            <a:r>
              <a:rPr lang="en-US" sz="2000">
                <a:latin typeface="Consolas"/>
              </a:rPr>
              <a:t>foo[1] = 5;</a:t>
            </a:r>
          </a:p>
          <a:p>
            <a:pPr lvl="0"/>
            <a:r>
              <a:rPr lang="en-US" sz="2000">
                <a:latin typeface="Consolas"/>
              </a:rPr>
              <a:t>foo[2] = 3;</a:t>
            </a:r>
          </a:p>
          <a:p>
            <a:pPr lvl="0"/>
            <a:r>
              <a:rPr lang="en-US" sz="2000">
                <a:latin typeface="Consolas"/>
              </a:rPr>
              <a:t>foo[3] = 2;</a:t>
            </a:r>
          </a:p>
          <a:p>
            <a:pPr lvl="0"/>
            <a:r>
              <a:rPr lang="en-US" sz="2000">
                <a:latin typeface="Consolas"/>
              </a:rPr>
              <a:t>foo[4] = 7;</a:t>
            </a:r>
          </a:p>
        </p:txBody>
      </p:sp>
    </p:spTree>
    <p:extLst>
      <p:ext uri="{BB962C8B-B14F-4D97-AF65-F5344CB8AC3E}">
        <p14:creationId xmlns:p14="http://schemas.microsoft.com/office/powerpoint/2010/main" val="1846587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F912A-8117-3F25-DE31-3A844F17630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0C487DF-0AE0-E78D-51E3-F02A2759830E}"/>
              </a:ext>
            </a:extLst>
          </p:cNvPr>
          <p:cNvSpPr/>
          <p:nvPr/>
        </p:nvSpPr>
        <p:spPr>
          <a:xfrm>
            <a:off x="-451413" y="1798481"/>
            <a:ext cx="10046826" cy="746439"/>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graphicFrame>
        <p:nvGraphicFramePr>
          <p:cNvPr id="9" name="Table 8">
            <a:extLst>
              <a:ext uri="{FF2B5EF4-FFF2-40B4-BE49-F238E27FC236}">
                <a16:creationId xmlns:a16="http://schemas.microsoft.com/office/drawing/2014/main" id="{6812C5E4-79F2-F88C-328C-09D080EA4F95}"/>
              </a:ext>
            </a:extLst>
          </p:cNvPr>
          <p:cNvGraphicFramePr>
            <a:graphicFrameLocks noGrp="1"/>
          </p:cNvGraphicFramePr>
          <p:nvPr>
            <p:extLst>
              <p:ext uri="{D42A27DB-BD31-4B8C-83A1-F6EECF244321}">
                <p14:modId xmlns:p14="http://schemas.microsoft.com/office/powerpoint/2010/main" val="3973364360"/>
              </p:ext>
            </p:extLst>
          </p:nvPr>
        </p:nvGraphicFramePr>
        <p:xfrm>
          <a:off x="750280" y="1798482"/>
          <a:ext cx="3899715" cy="746439"/>
        </p:xfrm>
        <a:graphic>
          <a:graphicData uri="http://schemas.openxmlformats.org/drawingml/2006/table">
            <a:tbl>
              <a:tblPr firstRow="1" bandRow="1">
                <a:tableStyleId>{5C22544A-7EE6-4342-B048-85BDC9FD1C3A}</a:tableStyleId>
              </a:tblPr>
              <a:tblGrid>
                <a:gridCol w="779943">
                  <a:extLst>
                    <a:ext uri="{9D8B030D-6E8A-4147-A177-3AD203B41FA5}">
                      <a16:colId xmlns:a16="http://schemas.microsoft.com/office/drawing/2014/main" val="3664931643"/>
                    </a:ext>
                  </a:extLst>
                </a:gridCol>
                <a:gridCol w="779943">
                  <a:extLst>
                    <a:ext uri="{9D8B030D-6E8A-4147-A177-3AD203B41FA5}">
                      <a16:colId xmlns:a16="http://schemas.microsoft.com/office/drawing/2014/main" val="3465706583"/>
                    </a:ext>
                  </a:extLst>
                </a:gridCol>
                <a:gridCol w="779943">
                  <a:extLst>
                    <a:ext uri="{9D8B030D-6E8A-4147-A177-3AD203B41FA5}">
                      <a16:colId xmlns:a16="http://schemas.microsoft.com/office/drawing/2014/main" val="310093362"/>
                    </a:ext>
                  </a:extLst>
                </a:gridCol>
                <a:gridCol w="779943">
                  <a:extLst>
                    <a:ext uri="{9D8B030D-6E8A-4147-A177-3AD203B41FA5}">
                      <a16:colId xmlns:a16="http://schemas.microsoft.com/office/drawing/2014/main" val="3174344614"/>
                    </a:ext>
                  </a:extLst>
                </a:gridCol>
                <a:gridCol w="779943">
                  <a:extLst>
                    <a:ext uri="{9D8B030D-6E8A-4147-A177-3AD203B41FA5}">
                      <a16:colId xmlns:a16="http://schemas.microsoft.com/office/drawing/2014/main" val="1032840509"/>
                    </a:ext>
                  </a:extLst>
                </a:gridCol>
              </a:tblGrid>
              <a:tr h="746439">
                <a:tc>
                  <a:txBody>
                    <a:bodyPr/>
                    <a:lstStyle/>
                    <a:p>
                      <a:pPr algn="ctr"/>
                      <a:r>
                        <a:rPr lang="en-US" sz="400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400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400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400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400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879007476"/>
                  </a:ext>
                </a:extLst>
              </a:tr>
            </a:tbl>
          </a:graphicData>
        </a:graphic>
      </p:graphicFrame>
      <p:sp>
        <p:nvSpPr>
          <p:cNvPr id="5" name="Content Placeholder 3">
            <a:extLst>
              <a:ext uri="{FF2B5EF4-FFF2-40B4-BE49-F238E27FC236}">
                <a16:creationId xmlns:a16="http://schemas.microsoft.com/office/drawing/2014/main" id="{0C0AAB8B-0378-994F-24EC-A400ECC49173}"/>
              </a:ext>
            </a:extLst>
          </p:cNvPr>
          <p:cNvSpPr txBox="1">
            <a:spLocks/>
          </p:cNvSpPr>
          <p:nvPr/>
        </p:nvSpPr>
        <p:spPr>
          <a:xfrm>
            <a:off x="457200" y="963613"/>
            <a:ext cx="8229600" cy="865187"/>
          </a:xfrm>
          <a:prstGeom prst="rect">
            <a:avLst/>
          </a:prstGeom>
        </p:spPr>
        <p:txBody>
          <a:bodyPr/>
          <a:lstStyle>
            <a:lvl1pPr marL="285739"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1pPr>
            <a:lvl2pPr marL="628625"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2pPr>
            <a:lvl3pPr marL="971511"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3pPr>
            <a:lvl4pPr marL="1314397"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4pPr>
            <a:lvl5pPr marL="1657284" indent="-285739" algn="l" defTabSz="342886" rtl="0" eaLnBrk="1" latinLnBrk="0" hangingPunct="1">
              <a:spcBef>
                <a:spcPct val="20000"/>
              </a:spcBef>
              <a:buClr>
                <a:schemeClr val="bg1">
                  <a:lumMod val="65000"/>
                </a:schemeClr>
              </a:buClr>
              <a:buFont typeface="System Font Regular"/>
              <a:buChar char="−"/>
              <a:defRPr sz="1800" kern="1200">
                <a:solidFill>
                  <a:schemeClr val="tx1"/>
                </a:solidFill>
                <a:latin typeface="+mn-lt"/>
                <a:ea typeface="Segoe UI Emoji" panose="020B0502040204020203" pitchFamily="34" charset="0"/>
                <a:cs typeface="+mn-cs"/>
              </a:defRPr>
            </a:lvl5pPr>
            <a:lvl6pPr marL="2057318" indent="-342886" algn="l" defTabSz="342886" rtl="0" eaLnBrk="1" latinLnBrk="0" hangingPunct="1">
              <a:spcBef>
                <a:spcPct val="20000"/>
              </a:spcBef>
              <a:buFont typeface="Arial"/>
              <a:buChar char="•"/>
              <a:defRPr sz="1500" kern="1200">
                <a:solidFill>
                  <a:schemeClr val="tx1"/>
                </a:solidFill>
                <a:latin typeface="+mn-lt"/>
                <a:ea typeface="+mn-ea"/>
                <a:cs typeface="+mn-cs"/>
              </a:defRPr>
            </a:lvl6pPr>
            <a:lvl7pPr marL="2400204" indent="-342886" algn="l" defTabSz="342886" rtl="0" eaLnBrk="1" latinLnBrk="0" hangingPunct="1">
              <a:spcBef>
                <a:spcPct val="20000"/>
              </a:spcBef>
              <a:buFont typeface="Arial"/>
              <a:buChar char="•"/>
              <a:defRPr sz="1500" kern="1200">
                <a:solidFill>
                  <a:schemeClr val="tx1"/>
                </a:solidFill>
                <a:latin typeface="+mn-lt"/>
                <a:ea typeface="+mn-ea"/>
                <a:cs typeface="+mn-cs"/>
              </a:defRPr>
            </a:lvl7pPr>
            <a:lvl8pPr marL="2743090" indent="-342886" algn="l" defTabSz="342886" rtl="0" eaLnBrk="1" latinLnBrk="0" hangingPunct="1">
              <a:spcBef>
                <a:spcPct val="20000"/>
              </a:spcBef>
              <a:buFont typeface="Arial"/>
              <a:buChar char="•"/>
              <a:defRPr sz="1500" kern="1200">
                <a:solidFill>
                  <a:schemeClr val="tx1"/>
                </a:solidFill>
                <a:latin typeface="+mn-lt"/>
                <a:ea typeface="+mn-ea"/>
                <a:cs typeface="+mn-cs"/>
              </a:defRPr>
            </a:lvl8pPr>
            <a:lvl9pPr marL="3085977" indent="-342886" algn="l" defTabSz="342886" rtl="0" eaLnBrk="1" latinLnBrk="0" hangingPunct="1">
              <a:spcBef>
                <a:spcPct val="20000"/>
              </a:spcBef>
              <a:buFont typeface="Arial"/>
              <a:buChar char="•"/>
              <a:defRPr sz="1500" kern="1200">
                <a:solidFill>
                  <a:schemeClr val="tx1"/>
                </a:solidFill>
                <a:latin typeface="+mn-lt"/>
                <a:ea typeface="+mn-ea"/>
                <a:cs typeface="+mn-cs"/>
              </a:defRPr>
            </a:lvl9pPr>
          </a:lstStyle>
          <a:p>
            <a:pPr lvl="1"/>
            <a:endParaRPr lang="en-US"/>
          </a:p>
          <a:p>
            <a:r>
              <a:rPr lang="en-US"/>
              <a:t>the array itself lives "</a:t>
            </a:r>
            <a:r>
              <a:rPr lang="en-US" b="1">
                <a:solidFill>
                  <a:schemeClr val="accent4">
                    <a:lumMod val="50000"/>
                  </a:schemeClr>
                </a:solidFill>
              </a:rPr>
              <a:t>in memory</a:t>
            </a:r>
            <a:r>
              <a:rPr lang="en-US"/>
              <a:t>"</a:t>
            </a:r>
          </a:p>
          <a:p>
            <a:endParaRPr lang="en-US"/>
          </a:p>
        </p:txBody>
      </p:sp>
    </p:spTree>
    <p:extLst>
      <p:ext uri="{BB962C8B-B14F-4D97-AF65-F5344CB8AC3E}">
        <p14:creationId xmlns:p14="http://schemas.microsoft.com/office/powerpoint/2010/main" val="15801607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5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The Matrix 5 Announced, Warner Bros. Moving Ahead Without Wachowskis">
            <a:extLst>
              <a:ext uri="{FF2B5EF4-FFF2-40B4-BE49-F238E27FC236}">
                <a16:creationId xmlns:a16="http://schemas.microsoft.com/office/drawing/2014/main" id="{685BADFF-1117-EE7E-C8CA-6D13237E46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0"/>
            <a:ext cx="10287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588B4C16-03ED-A9FD-EF87-B8BC0B12086C}"/>
              </a:ext>
            </a:extLst>
          </p:cNvPr>
          <p:cNvSpPr/>
          <p:nvPr/>
        </p:nvSpPr>
        <p:spPr>
          <a:xfrm>
            <a:off x="-451413" y="1798481"/>
            <a:ext cx="10046826" cy="746439"/>
          </a:xfrm>
          <a:prstGeom prst="rect">
            <a:avLst/>
          </a:prstGeom>
          <a:solidFill>
            <a:srgbClr val="A6E22E">
              <a:alpha val="20000"/>
            </a:srgb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4188C043-244B-5F4A-2CB6-8ED9C39EDAD5}"/>
              </a:ext>
            </a:extLst>
          </p:cNvPr>
          <p:cNvGraphicFramePr>
            <a:graphicFrameLocks noGrp="1"/>
          </p:cNvGraphicFramePr>
          <p:nvPr>
            <p:extLst>
              <p:ext uri="{D42A27DB-BD31-4B8C-83A1-F6EECF244321}">
                <p14:modId xmlns:p14="http://schemas.microsoft.com/office/powerpoint/2010/main" val="68576604"/>
              </p:ext>
            </p:extLst>
          </p:nvPr>
        </p:nvGraphicFramePr>
        <p:xfrm>
          <a:off x="750280" y="1798482"/>
          <a:ext cx="3899715" cy="746439"/>
        </p:xfrm>
        <a:graphic>
          <a:graphicData uri="http://schemas.openxmlformats.org/drawingml/2006/table">
            <a:tbl>
              <a:tblPr firstRow="1" bandRow="1">
                <a:tableStyleId>{5C22544A-7EE6-4342-B048-85BDC9FD1C3A}</a:tableStyleId>
              </a:tblPr>
              <a:tblGrid>
                <a:gridCol w="779943">
                  <a:extLst>
                    <a:ext uri="{9D8B030D-6E8A-4147-A177-3AD203B41FA5}">
                      <a16:colId xmlns:a16="http://schemas.microsoft.com/office/drawing/2014/main" val="3664931643"/>
                    </a:ext>
                  </a:extLst>
                </a:gridCol>
                <a:gridCol w="779943">
                  <a:extLst>
                    <a:ext uri="{9D8B030D-6E8A-4147-A177-3AD203B41FA5}">
                      <a16:colId xmlns:a16="http://schemas.microsoft.com/office/drawing/2014/main" val="3465706583"/>
                    </a:ext>
                  </a:extLst>
                </a:gridCol>
                <a:gridCol w="779943">
                  <a:extLst>
                    <a:ext uri="{9D8B030D-6E8A-4147-A177-3AD203B41FA5}">
                      <a16:colId xmlns:a16="http://schemas.microsoft.com/office/drawing/2014/main" val="310093362"/>
                    </a:ext>
                  </a:extLst>
                </a:gridCol>
                <a:gridCol w="779943">
                  <a:extLst>
                    <a:ext uri="{9D8B030D-6E8A-4147-A177-3AD203B41FA5}">
                      <a16:colId xmlns:a16="http://schemas.microsoft.com/office/drawing/2014/main" val="3174344614"/>
                    </a:ext>
                  </a:extLst>
                </a:gridCol>
                <a:gridCol w="779943">
                  <a:extLst>
                    <a:ext uri="{9D8B030D-6E8A-4147-A177-3AD203B41FA5}">
                      <a16:colId xmlns:a16="http://schemas.microsoft.com/office/drawing/2014/main" val="1032840509"/>
                    </a:ext>
                  </a:extLst>
                </a:gridCol>
              </a:tblGrid>
              <a:tr h="746439">
                <a:tc>
                  <a:txBody>
                    <a:bodyPr/>
                    <a:lstStyle/>
                    <a:p>
                      <a:pPr algn="ctr"/>
                      <a:r>
                        <a:rPr lang="en-US" sz="400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F9D5">
                        <a:alpha val="20000"/>
                      </a:srgbClr>
                    </a:solidFill>
                  </a:tcPr>
                </a:tc>
                <a:tc>
                  <a:txBody>
                    <a:bodyPr/>
                    <a:lstStyle/>
                    <a:p>
                      <a:pPr algn="ctr"/>
                      <a:r>
                        <a:rPr lang="en-US" sz="400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F9D5">
                        <a:alpha val="20000"/>
                      </a:srgbClr>
                    </a:solidFill>
                  </a:tcPr>
                </a:tc>
                <a:tc>
                  <a:txBody>
                    <a:bodyPr/>
                    <a:lstStyle/>
                    <a:p>
                      <a:pPr algn="ctr"/>
                      <a:r>
                        <a:rPr lang="en-US" sz="400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F9D5">
                        <a:alpha val="20000"/>
                      </a:srgbClr>
                    </a:solidFill>
                  </a:tcPr>
                </a:tc>
                <a:tc>
                  <a:txBody>
                    <a:bodyPr/>
                    <a:lstStyle/>
                    <a:p>
                      <a:pPr algn="ctr"/>
                      <a:r>
                        <a:rPr lang="en-US" sz="400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F9D5">
                        <a:alpha val="20000"/>
                      </a:srgbClr>
                    </a:solidFill>
                  </a:tcPr>
                </a:tc>
                <a:tc>
                  <a:txBody>
                    <a:bodyPr/>
                    <a:lstStyle/>
                    <a:p>
                      <a:pPr algn="ctr"/>
                      <a:r>
                        <a:rPr lang="en-US" sz="400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F9D5">
                        <a:alpha val="20000"/>
                      </a:srgbClr>
                    </a:solidFill>
                  </a:tcPr>
                </a:tc>
                <a:extLst>
                  <a:ext uri="{0D108BD9-81ED-4DB2-BD59-A6C34878D82A}">
                    <a16:rowId xmlns:a16="http://schemas.microsoft.com/office/drawing/2014/main" val="1879007476"/>
                  </a:ext>
                </a:extLst>
              </a:tr>
            </a:tbl>
          </a:graphicData>
        </a:graphic>
      </p:graphicFrame>
    </p:spTree>
    <p:extLst>
      <p:ext uri="{BB962C8B-B14F-4D97-AF65-F5344CB8AC3E}">
        <p14:creationId xmlns:p14="http://schemas.microsoft.com/office/powerpoint/2010/main" val="3407149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1642F-0FE4-7A11-D8BC-45442E855206}"/>
              </a:ext>
            </a:extLst>
          </p:cNvPr>
          <p:cNvSpPr>
            <a:spLocks noGrp="1"/>
          </p:cNvSpPr>
          <p:nvPr>
            <p:ph type="title"/>
          </p:nvPr>
        </p:nvSpPr>
        <p:spPr/>
        <p:txBody>
          <a:bodyPr/>
          <a:lstStyle/>
          <a:p>
            <a:r>
              <a:rPr lang="en-US" sz="4000"/>
              <a:t>learn about </a:t>
            </a:r>
            <a:r>
              <a:rPr lang="en-US" sz="4000" b="1"/>
              <a:t>memory</a:t>
            </a:r>
            <a:r>
              <a:rPr lang="en-US" sz="4000"/>
              <a:t> and become a real CS pro</a:t>
            </a:r>
            <a:br>
              <a:rPr lang="en-US"/>
            </a:br>
            <a:br>
              <a:rPr lang="en-US"/>
            </a:br>
            <a:r>
              <a:rPr lang="en-US" sz="2800"/>
              <a:t>a couple important questions to ask yourself: </a:t>
            </a:r>
            <a:r>
              <a:rPr lang="en-US" sz="2800">
                <a:hlinkClick r:id="rId2"/>
              </a:rPr>
              <a:t>https://www.youtube.com/watch?v=BNtcWpY4YLY</a:t>
            </a:r>
            <a:endParaRPr lang="en-US"/>
          </a:p>
        </p:txBody>
      </p:sp>
    </p:spTree>
    <p:extLst>
      <p:ext uri="{BB962C8B-B14F-4D97-AF65-F5344CB8AC3E}">
        <p14:creationId xmlns:p14="http://schemas.microsoft.com/office/powerpoint/2010/main" val="2494578077"/>
      </p:ext>
    </p:extLst>
  </p:cSld>
  <p:clrMapOvr>
    <a:masterClrMapping/>
  </p:clrMapOvr>
</p:sld>
</file>

<file path=ppt/slides/slide5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82FAA-AF23-61FE-5627-06D9941ABAA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F5ADE25-ED14-38CF-996C-ED3BEFA77740}"/>
              </a:ext>
            </a:extLst>
          </p:cNvPr>
          <p:cNvSpPr>
            <a:spLocks noGrp="1"/>
          </p:cNvSpPr>
          <p:nvPr>
            <p:ph type="title"/>
          </p:nvPr>
        </p:nvSpPr>
        <p:spPr/>
        <p:txBody>
          <a:bodyPr/>
          <a:lstStyle/>
          <a:p>
            <a:r>
              <a:rPr lang="en-US"/>
              <a:t>arrays</a:t>
            </a:r>
          </a:p>
        </p:txBody>
      </p:sp>
    </p:spTree>
    <p:extLst>
      <p:ext uri="{BB962C8B-B14F-4D97-AF65-F5344CB8AC3E}">
        <p14:creationId xmlns:p14="http://schemas.microsoft.com/office/powerpoint/2010/main" val="3003917523"/>
      </p:ext>
    </p:extLst>
  </p:cSld>
  <p:clrMapOvr>
    <a:masterClrMapping/>
  </p:clrMapOvr>
</p:sld>
</file>

<file path=ppt/slides/slide5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07893-883D-46AA-7316-29D15370F8D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ABA336-6376-0FFE-E392-9ADF59C9A869}"/>
              </a:ext>
            </a:extLst>
          </p:cNvPr>
          <p:cNvSpPr>
            <a:spLocks noGrp="1"/>
          </p:cNvSpPr>
          <p:nvPr>
            <p:ph type="title"/>
          </p:nvPr>
        </p:nvSpPr>
        <p:spPr/>
        <p:txBody>
          <a:bodyPr/>
          <a:lstStyle/>
          <a:p>
            <a:r>
              <a:rPr lang="en-US"/>
              <a:t>arrays (1/2)</a:t>
            </a:r>
          </a:p>
        </p:txBody>
      </p:sp>
      <p:sp>
        <p:nvSpPr>
          <p:cNvPr id="4" name="Content Placeholder 3">
            <a:extLst>
              <a:ext uri="{FF2B5EF4-FFF2-40B4-BE49-F238E27FC236}">
                <a16:creationId xmlns:a16="http://schemas.microsoft.com/office/drawing/2014/main" id="{1F291C5A-FF56-ACF0-43DB-143238FE8166}"/>
              </a:ext>
            </a:extLst>
          </p:cNvPr>
          <p:cNvSpPr>
            <a:spLocks noGrp="1"/>
          </p:cNvSpPr>
          <p:nvPr>
            <p:ph sz="quarter" idx="10"/>
          </p:nvPr>
        </p:nvSpPr>
        <p:spPr/>
        <p:txBody>
          <a:bodyPr/>
          <a:lstStyle/>
          <a:p>
            <a:r>
              <a:rPr lang="en-US"/>
              <a:t>an </a:t>
            </a:r>
            <a:r>
              <a:rPr lang="en-US" b="1"/>
              <a:t>array</a:t>
            </a:r>
            <a:r>
              <a:rPr lang="en-US"/>
              <a:t> is a fixed-length sequence of elements, all of the same type</a:t>
            </a:r>
          </a:p>
          <a:p>
            <a:pPr lvl="1"/>
            <a:r>
              <a:rPr lang="en-US"/>
              <a:t>"an array of 4372 </a:t>
            </a:r>
            <a:r>
              <a:rPr lang="en-US">
                <a:solidFill>
                  <a:srgbClr val="000080"/>
                </a:solidFill>
                <a:latin typeface="+mj-lt"/>
              </a:rPr>
              <a:t>double</a:t>
            </a:r>
            <a:r>
              <a:rPr lang="en-US"/>
              <a:t>'s"</a:t>
            </a:r>
          </a:p>
          <a:p>
            <a:pPr lvl="1"/>
            <a:r>
              <a:rPr lang="en-US"/>
              <a:t>"an array of 1 </a:t>
            </a:r>
            <a:r>
              <a:rPr lang="en-US">
                <a:solidFill>
                  <a:srgbClr val="000080"/>
                </a:solidFill>
                <a:latin typeface="+mj-lt"/>
              </a:rPr>
              <a:t>int</a:t>
            </a:r>
            <a:r>
              <a:rPr lang="en-US"/>
              <a:t>'s"</a:t>
            </a:r>
          </a:p>
          <a:p>
            <a:pPr lvl="1"/>
            <a:r>
              <a:rPr lang="en-US"/>
              <a:t>"an array of 64 </a:t>
            </a:r>
            <a:r>
              <a:rPr lang="en-US">
                <a:solidFill>
                  <a:srgbClr val="000080"/>
                </a:solidFill>
                <a:latin typeface="+mj-lt"/>
              </a:rPr>
              <a:t>Student</a:t>
            </a:r>
            <a:r>
              <a:rPr lang="en-US"/>
              <a:t>'s"</a:t>
            </a:r>
          </a:p>
          <a:p>
            <a:pPr lvl="1"/>
            <a:endParaRPr lang="en-US"/>
          </a:p>
          <a:p>
            <a:pPr lvl="1"/>
            <a:endParaRPr lang="en-US"/>
          </a:p>
        </p:txBody>
      </p:sp>
    </p:spTree>
    <p:extLst>
      <p:ext uri="{BB962C8B-B14F-4D97-AF65-F5344CB8AC3E}">
        <p14:creationId xmlns:p14="http://schemas.microsoft.com/office/powerpoint/2010/main" val="686964118"/>
      </p:ext>
    </p:extLst>
  </p:cSld>
  <p:clrMapOvr>
    <a:masterClrMapping/>
  </p:clrMapOvr>
</p:sld>
</file>

<file path=ppt/slides/slide5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693C1-EDE1-5646-41A2-401705540F0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AAE802-670E-0F7F-BE1A-86E5C50C65BD}"/>
              </a:ext>
            </a:extLst>
          </p:cNvPr>
          <p:cNvSpPr>
            <a:spLocks noGrp="1"/>
          </p:cNvSpPr>
          <p:nvPr>
            <p:ph type="title"/>
          </p:nvPr>
        </p:nvSpPr>
        <p:spPr/>
        <p:txBody>
          <a:bodyPr/>
          <a:lstStyle/>
          <a:p>
            <a:r>
              <a:rPr lang="en-US"/>
              <a:t>arrays (2/2)</a:t>
            </a:r>
          </a:p>
        </p:txBody>
      </p:sp>
      <p:sp>
        <p:nvSpPr>
          <p:cNvPr id="4" name="Content Placeholder 3">
            <a:extLst>
              <a:ext uri="{FF2B5EF4-FFF2-40B4-BE49-F238E27FC236}">
                <a16:creationId xmlns:a16="http://schemas.microsoft.com/office/drawing/2014/main" id="{67EA77AC-6CD5-4F36-14CC-A60C15C2D2BD}"/>
              </a:ext>
            </a:extLst>
          </p:cNvPr>
          <p:cNvSpPr>
            <a:spLocks noGrp="1"/>
          </p:cNvSpPr>
          <p:nvPr>
            <p:ph sz="quarter" idx="10"/>
          </p:nvPr>
        </p:nvSpPr>
        <p:spPr/>
        <p:txBody>
          <a:bodyPr/>
          <a:lstStyle/>
          <a:p>
            <a:r>
              <a:rPr lang="en-US"/>
              <a:t>we will often write an array using curly braces</a:t>
            </a:r>
          </a:p>
          <a:p>
            <a:pPr lvl="1"/>
            <a:r>
              <a:rPr lang="en-US">
                <a:latin typeface="+mj-lt"/>
              </a:rPr>
              <a:t>{ </a:t>
            </a:r>
            <a:r>
              <a:rPr lang="en-US">
                <a:solidFill>
                  <a:srgbClr val="0CB5B5"/>
                </a:solidFill>
                <a:latin typeface="+mj-lt"/>
              </a:rPr>
              <a:t>7</a:t>
            </a:r>
            <a:r>
              <a:rPr lang="en-US">
                <a:latin typeface="+mj-lt"/>
              </a:rPr>
              <a:t>, </a:t>
            </a:r>
            <a:r>
              <a:rPr lang="en-US">
                <a:solidFill>
                  <a:srgbClr val="0CB5B5"/>
                </a:solidFill>
                <a:latin typeface="+mj-lt"/>
              </a:rPr>
              <a:t>7</a:t>
            </a:r>
            <a:r>
              <a:rPr lang="en-US">
                <a:latin typeface="+mj-lt"/>
              </a:rPr>
              <a:t>, </a:t>
            </a:r>
            <a:r>
              <a:rPr lang="en-US">
                <a:solidFill>
                  <a:srgbClr val="0CB5B5"/>
                </a:solidFill>
                <a:latin typeface="+mj-lt"/>
              </a:rPr>
              <a:t>9</a:t>
            </a:r>
            <a:r>
              <a:rPr lang="en-US">
                <a:latin typeface="+mj-lt"/>
              </a:rPr>
              <a:t> }</a:t>
            </a:r>
            <a:r>
              <a:rPr lang="en-US"/>
              <a:t> is an array containing </a:t>
            </a:r>
            <a:r>
              <a:rPr lang="en-US">
                <a:solidFill>
                  <a:srgbClr val="0CB5B5"/>
                </a:solidFill>
                <a:latin typeface="+mj-lt"/>
              </a:rPr>
              <a:t>7</a:t>
            </a:r>
            <a:r>
              <a:rPr lang="en-US"/>
              <a:t>, </a:t>
            </a:r>
            <a:r>
              <a:rPr lang="en-US">
                <a:solidFill>
                  <a:srgbClr val="0CB5B5"/>
                </a:solidFill>
                <a:latin typeface="+mj-lt"/>
              </a:rPr>
              <a:t>7</a:t>
            </a:r>
            <a:r>
              <a:rPr lang="en-US"/>
              <a:t>, and </a:t>
            </a:r>
            <a:r>
              <a:rPr lang="en-US">
                <a:solidFill>
                  <a:srgbClr val="0CB5B5"/>
                </a:solidFill>
                <a:latin typeface="+mj-lt"/>
              </a:rPr>
              <a:t>9</a:t>
            </a:r>
          </a:p>
          <a:p>
            <a:r>
              <a:rPr lang="en-US"/>
              <a:t>optionally, you can include a comma after the last element</a:t>
            </a:r>
          </a:p>
          <a:p>
            <a:pPr lvl="1"/>
            <a:r>
              <a:rPr lang="en-US">
                <a:latin typeface="+mj-lt"/>
              </a:rPr>
              <a:t>{ </a:t>
            </a:r>
            <a:r>
              <a:rPr lang="en-US">
                <a:solidFill>
                  <a:srgbClr val="0CB5B5"/>
                </a:solidFill>
                <a:latin typeface="+mj-lt"/>
              </a:rPr>
              <a:t>7</a:t>
            </a:r>
            <a:r>
              <a:rPr lang="en-US">
                <a:latin typeface="+mj-lt"/>
              </a:rPr>
              <a:t>, </a:t>
            </a:r>
            <a:r>
              <a:rPr lang="en-US">
                <a:solidFill>
                  <a:srgbClr val="0CB5B5"/>
                </a:solidFill>
                <a:latin typeface="+mj-lt"/>
              </a:rPr>
              <a:t>7</a:t>
            </a:r>
            <a:r>
              <a:rPr lang="en-US">
                <a:latin typeface="+mj-lt"/>
              </a:rPr>
              <a:t>, </a:t>
            </a:r>
            <a:r>
              <a:rPr lang="en-US">
                <a:solidFill>
                  <a:srgbClr val="0CB5B5"/>
                </a:solidFill>
                <a:latin typeface="+mj-lt"/>
              </a:rPr>
              <a:t>9</a:t>
            </a:r>
            <a:r>
              <a:rPr lang="en-US">
                <a:latin typeface="+mj-lt"/>
              </a:rPr>
              <a:t>, }</a:t>
            </a:r>
          </a:p>
          <a:p>
            <a:endParaRPr lang="en-US">
              <a:latin typeface="+mj-lt"/>
            </a:endParaRPr>
          </a:p>
          <a:p>
            <a:r>
              <a:rPr lang="en-US">
                <a:latin typeface="+mj-lt"/>
              </a:rPr>
              <a:t>☠</a:t>
            </a:r>
            <a:r>
              <a:rPr lang="en-US" b="1"/>
              <a:t> even though sets from math also use curly braces,</a:t>
            </a:r>
            <a:br>
              <a:rPr lang="en-US" b="1"/>
            </a:br>
            <a:r>
              <a:rPr lang="en-US" b="1"/>
              <a:t>Java arrays have nothing to do with sets;</a:t>
            </a:r>
            <a:br>
              <a:rPr lang="en-US" b="1"/>
            </a:br>
            <a:r>
              <a:rPr lang="en-US" b="1"/>
              <a:t>in a set, all elements must be unique;</a:t>
            </a:r>
            <a:br>
              <a:rPr lang="en-US" b="1"/>
            </a:br>
            <a:r>
              <a:rPr lang="en-US" b="1"/>
              <a:t>in an array, elements do NOT have to be unique</a:t>
            </a:r>
            <a:endParaRPr lang="en-US">
              <a:latin typeface="+mj-lt"/>
            </a:endParaRPr>
          </a:p>
          <a:p>
            <a:pPr lvl="2"/>
            <a:endParaRPr lang="en-US"/>
          </a:p>
        </p:txBody>
      </p:sp>
    </p:spTree>
    <p:extLst>
      <p:ext uri="{BB962C8B-B14F-4D97-AF65-F5344CB8AC3E}">
        <p14:creationId xmlns:p14="http://schemas.microsoft.com/office/powerpoint/2010/main" val="3827320798"/>
      </p:ext>
    </p:extLst>
  </p:cSld>
  <p:clrMapOvr>
    <a:masterClrMapping/>
  </p:clrMapOvr>
</p:sld>
</file>

<file path=ppt/slides/slide5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DA41C-2053-7933-C4CF-E168C7D659B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FBD658A-9D18-388C-E494-6EDF7CC76E07}"/>
              </a:ext>
            </a:extLst>
          </p:cNvPr>
          <p:cNvSpPr>
            <a:spLocks noGrp="1"/>
          </p:cNvSpPr>
          <p:nvPr>
            <p:ph type="title"/>
          </p:nvPr>
        </p:nvSpPr>
        <p:spPr/>
        <p:txBody>
          <a:bodyPr/>
          <a:lstStyle/>
          <a:p>
            <a:r>
              <a:rPr lang="en-US"/>
              <a:t>array operations</a:t>
            </a:r>
          </a:p>
        </p:txBody>
      </p:sp>
    </p:spTree>
    <p:extLst>
      <p:ext uri="{BB962C8B-B14F-4D97-AF65-F5344CB8AC3E}">
        <p14:creationId xmlns:p14="http://schemas.microsoft.com/office/powerpoint/2010/main" val="1631145020"/>
      </p:ext>
    </p:extLst>
  </p:cSld>
  <p:clrMapOvr>
    <a:masterClrMapping/>
  </p:clrMapOvr>
</p:sld>
</file>

<file path=ppt/slides/slide5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8C872-5D3C-0622-930C-8993A4E567B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E3C101A-20B9-60B5-8B75-04AB1F7BE86A}"/>
              </a:ext>
            </a:extLst>
          </p:cNvPr>
          <p:cNvSpPr>
            <a:spLocks noGrp="1"/>
          </p:cNvSpPr>
          <p:nvPr>
            <p:ph type="title"/>
          </p:nvPr>
        </p:nvSpPr>
        <p:spPr/>
        <p:txBody>
          <a:bodyPr/>
          <a:lstStyle/>
          <a:p>
            <a:r>
              <a:rPr lang="en-US"/>
              <a:t>array operations</a:t>
            </a:r>
          </a:p>
        </p:txBody>
      </p:sp>
    </p:spTree>
    <p:extLst>
      <p:ext uri="{BB962C8B-B14F-4D97-AF65-F5344CB8AC3E}">
        <p14:creationId xmlns:p14="http://schemas.microsoft.com/office/powerpoint/2010/main" val="1048980330"/>
      </p:ext>
    </p:extLst>
  </p:cSld>
  <p:clrMapOvr>
    <a:masterClrMapping/>
  </p:clrMapOvr>
</p:sld>
</file>

<file path=ppt/slides/slide5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A3794-0A31-A5B9-BD52-98367E78494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FD8727-5D2B-D68C-F5E9-3058D54798D1}"/>
              </a:ext>
            </a:extLst>
          </p:cNvPr>
          <p:cNvSpPr>
            <a:spLocks noGrp="1"/>
          </p:cNvSpPr>
          <p:nvPr>
            <p:ph type="title"/>
          </p:nvPr>
        </p:nvSpPr>
        <p:spPr>
          <a:xfrm>
            <a:off x="457200" y="254916"/>
            <a:ext cx="8229600" cy="667168"/>
          </a:xfrm>
        </p:spPr>
        <p:txBody>
          <a:bodyPr/>
          <a:lstStyle/>
          <a:p>
            <a:r>
              <a:rPr lang="en-US"/>
              <a:t>creating an array (1/2)</a:t>
            </a:r>
          </a:p>
        </p:txBody>
      </p:sp>
      <p:sp>
        <p:nvSpPr>
          <p:cNvPr id="4" name="Content Placeholder 3">
            <a:extLst>
              <a:ext uri="{FF2B5EF4-FFF2-40B4-BE49-F238E27FC236}">
                <a16:creationId xmlns:a16="http://schemas.microsoft.com/office/drawing/2014/main" id="{0A1BEA3D-8D7B-4C3D-66CF-734D6F394F41}"/>
              </a:ext>
            </a:extLst>
          </p:cNvPr>
          <p:cNvSpPr>
            <a:spLocks noGrp="1"/>
          </p:cNvSpPr>
          <p:nvPr>
            <p:ph sz="quarter" idx="10"/>
          </p:nvPr>
        </p:nvSpPr>
        <p:spPr>
          <a:xfrm>
            <a:off x="457200" y="963337"/>
            <a:ext cx="8229600" cy="4080271"/>
          </a:xfrm>
        </p:spPr>
        <p:txBody>
          <a:bodyPr/>
          <a:lstStyle/>
          <a:p>
            <a:r>
              <a:rPr lang="en-US"/>
              <a:t>you can create an array by specifying its </a:t>
            </a:r>
            <a:r>
              <a:rPr lang="en-US" b="1"/>
              <a:t>length</a:t>
            </a:r>
            <a:r>
              <a:rPr lang="en-US"/>
              <a:t> (the number of elements);</a:t>
            </a:r>
            <a:br>
              <a:rPr lang="en-US"/>
            </a:br>
            <a:r>
              <a:rPr lang="en-US"/>
              <a:t>if you do, the array is </a:t>
            </a:r>
            <a:r>
              <a:rPr lang="en-US" b="1"/>
              <a:t>zero-initialized</a:t>
            </a:r>
            <a:r>
              <a:rPr lang="en-US"/>
              <a:t> (all elements are initially set to zero)</a:t>
            </a:r>
          </a:p>
          <a:p>
            <a:pPr lvl="1"/>
            <a:r>
              <a:rPr lang="en-US">
                <a:solidFill>
                  <a:srgbClr val="000080"/>
                </a:solidFill>
                <a:latin typeface="+mj-lt"/>
              </a:rPr>
              <a:t>int</a:t>
            </a:r>
            <a:r>
              <a:rPr lang="en-US">
                <a:latin typeface="+mj-lt"/>
              </a:rPr>
              <a:t>[]     A = new </a:t>
            </a:r>
            <a:r>
              <a:rPr lang="en-US">
                <a:solidFill>
                  <a:srgbClr val="000080"/>
                </a:solidFill>
                <a:latin typeface="+mj-lt"/>
              </a:rPr>
              <a:t>int</a:t>
            </a:r>
            <a:r>
              <a:rPr lang="en-US">
                <a:latin typeface="+mj-lt"/>
              </a:rPr>
              <a:t>[</a:t>
            </a:r>
            <a:r>
              <a:rPr lang="en-US">
                <a:solidFill>
                  <a:srgbClr val="0CB5B5"/>
                </a:solidFill>
                <a:latin typeface="+mj-lt"/>
              </a:rPr>
              <a:t>8</a:t>
            </a:r>
            <a:r>
              <a:rPr lang="en-US">
                <a:latin typeface="+mj-lt"/>
              </a:rPr>
              <a:t>];     </a:t>
            </a:r>
            <a:r>
              <a:rPr lang="en-US">
                <a:solidFill>
                  <a:srgbClr val="007B00"/>
                </a:solidFill>
                <a:latin typeface="+mj-lt"/>
              </a:rPr>
              <a:t>// { 0, 0, 0, 0, 0, 0, 0, 0 }</a:t>
            </a:r>
          </a:p>
          <a:p>
            <a:pPr lvl="1"/>
            <a:r>
              <a:rPr lang="en-US">
                <a:solidFill>
                  <a:srgbClr val="000080"/>
                </a:solidFill>
                <a:latin typeface="+mj-lt"/>
              </a:rPr>
              <a:t>double</a:t>
            </a:r>
            <a:r>
              <a:rPr lang="en-US">
                <a:latin typeface="+mj-lt"/>
              </a:rPr>
              <a:t>[]  B = new </a:t>
            </a:r>
            <a:r>
              <a:rPr lang="en-US">
                <a:solidFill>
                  <a:srgbClr val="000080"/>
                </a:solidFill>
                <a:latin typeface="+mj-lt"/>
              </a:rPr>
              <a:t>double</a:t>
            </a:r>
            <a:r>
              <a:rPr lang="en-US">
                <a:latin typeface="+mj-lt"/>
              </a:rPr>
              <a:t>[</a:t>
            </a:r>
            <a:r>
              <a:rPr lang="en-US">
                <a:solidFill>
                  <a:srgbClr val="0CB5B5"/>
                </a:solidFill>
                <a:latin typeface="+mj-lt"/>
              </a:rPr>
              <a:t>1</a:t>
            </a:r>
            <a:r>
              <a:rPr lang="en-US">
                <a:latin typeface="+mj-lt"/>
              </a:rPr>
              <a:t>];  </a:t>
            </a:r>
            <a:r>
              <a:rPr lang="en-US">
                <a:solidFill>
                  <a:srgbClr val="007B00"/>
                </a:solidFill>
                <a:latin typeface="+mj-lt"/>
              </a:rPr>
              <a:t>// { 0.0 }</a:t>
            </a:r>
          </a:p>
          <a:p>
            <a:pPr lvl="1"/>
            <a:r>
              <a:rPr lang="en-US" err="1">
                <a:solidFill>
                  <a:srgbClr val="000080"/>
                </a:solidFill>
                <a:latin typeface="+mj-lt"/>
              </a:rPr>
              <a:t>boolean</a:t>
            </a:r>
            <a:r>
              <a:rPr lang="en-US">
                <a:latin typeface="+mj-lt"/>
              </a:rPr>
              <a:t>[] C = new </a:t>
            </a:r>
            <a:r>
              <a:rPr lang="en-US" err="1">
                <a:solidFill>
                  <a:srgbClr val="000080"/>
                </a:solidFill>
                <a:latin typeface="+mj-lt"/>
              </a:rPr>
              <a:t>boolean</a:t>
            </a:r>
            <a:r>
              <a:rPr lang="en-US">
                <a:latin typeface="+mj-lt"/>
              </a:rPr>
              <a:t>[</a:t>
            </a:r>
            <a:r>
              <a:rPr lang="en-US">
                <a:solidFill>
                  <a:srgbClr val="0CB5B5"/>
                </a:solidFill>
                <a:latin typeface="+mj-lt"/>
              </a:rPr>
              <a:t>2</a:t>
            </a:r>
            <a:r>
              <a:rPr lang="en-US">
                <a:latin typeface="+mj-lt"/>
              </a:rPr>
              <a:t>]; </a:t>
            </a:r>
            <a:r>
              <a:rPr lang="en-US">
                <a:solidFill>
                  <a:srgbClr val="007B00"/>
                </a:solidFill>
                <a:latin typeface="+mj-lt"/>
              </a:rPr>
              <a:t>// { false, false }</a:t>
            </a:r>
          </a:p>
          <a:p>
            <a:pPr lvl="1"/>
            <a:r>
              <a:rPr lang="en-US">
                <a:solidFill>
                  <a:srgbClr val="000080"/>
                </a:solidFill>
                <a:latin typeface="+mj-lt"/>
              </a:rPr>
              <a:t>char</a:t>
            </a:r>
            <a:r>
              <a:rPr lang="en-US">
                <a:latin typeface="+mj-lt"/>
              </a:rPr>
              <a:t>[]    D = new </a:t>
            </a:r>
            <a:r>
              <a:rPr lang="en-US">
                <a:solidFill>
                  <a:srgbClr val="000080"/>
                </a:solidFill>
                <a:latin typeface="+mj-lt"/>
              </a:rPr>
              <a:t>char</a:t>
            </a:r>
            <a:r>
              <a:rPr lang="en-US">
                <a:latin typeface="+mj-lt"/>
              </a:rPr>
              <a:t>[</a:t>
            </a:r>
            <a:r>
              <a:rPr lang="en-US">
                <a:solidFill>
                  <a:srgbClr val="0CB5B5"/>
                </a:solidFill>
                <a:latin typeface="+mj-lt"/>
              </a:rPr>
              <a:t>4</a:t>
            </a:r>
            <a:r>
              <a:rPr lang="en-US">
                <a:latin typeface="+mj-lt"/>
              </a:rPr>
              <a:t>];    </a:t>
            </a:r>
            <a:r>
              <a:rPr lang="en-US">
                <a:solidFill>
                  <a:srgbClr val="007B00"/>
                </a:solidFill>
                <a:latin typeface="+mj-lt"/>
              </a:rPr>
              <a:t>// { '\0', '\0', '\0', '\0' }</a:t>
            </a:r>
          </a:p>
          <a:p>
            <a:pPr lvl="1"/>
            <a:r>
              <a:rPr lang="en-US">
                <a:solidFill>
                  <a:srgbClr val="000080"/>
                </a:solidFill>
                <a:latin typeface="+mj-lt"/>
              </a:rPr>
              <a:t>String</a:t>
            </a:r>
            <a:r>
              <a:rPr lang="en-US">
                <a:latin typeface="+mj-lt"/>
              </a:rPr>
              <a:t>[]  E = new </a:t>
            </a:r>
            <a:r>
              <a:rPr lang="en-US">
                <a:solidFill>
                  <a:srgbClr val="000080"/>
                </a:solidFill>
                <a:latin typeface="+mj-lt"/>
              </a:rPr>
              <a:t>String</a:t>
            </a:r>
            <a:r>
              <a:rPr lang="en-US">
                <a:latin typeface="+mj-lt"/>
              </a:rPr>
              <a:t>[</a:t>
            </a:r>
            <a:r>
              <a:rPr lang="en-US">
                <a:solidFill>
                  <a:srgbClr val="0CB5B5"/>
                </a:solidFill>
                <a:latin typeface="+mj-lt"/>
              </a:rPr>
              <a:t>3</a:t>
            </a:r>
            <a:r>
              <a:rPr lang="en-US">
                <a:latin typeface="+mj-lt"/>
              </a:rPr>
              <a:t>];  </a:t>
            </a:r>
            <a:r>
              <a:rPr lang="en-US">
                <a:solidFill>
                  <a:srgbClr val="007B00"/>
                </a:solidFill>
                <a:latin typeface="+mj-lt"/>
              </a:rPr>
              <a:t>// { null, null, null }</a:t>
            </a:r>
          </a:p>
        </p:txBody>
      </p:sp>
    </p:spTree>
    <p:extLst>
      <p:ext uri="{BB962C8B-B14F-4D97-AF65-F5344CB8AC3E}">
        <p14:creationId xmlns:p14="http://schemas.microsoft.com/office/powerpoint/2010/main" val="1386434944"/>
      </p:ext>
    </p:extLst>
  </p:cSld>
  <p:clrMapOvr>
    <a:masterClrMapping/>
  </p:clrMapOvr>
</p:sld>
</file>

<file path=ppt/slides/slide5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53C84-1C46-790F-AB5D-A5A52484DD1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A6C02F-8AA2-3E75-5854-996B50EC9ABF}"/>
              </a:ext>
            </a:extLst>
          </p:cNvPr>
          <p:cNvSpPr>
            <a:spLocks noGrp="1"/>
          </p:cNvSpPr>
          <p:nvPr>
            <p:ph type="title"/>
          </p:nvPr>
        </p:nvSpPr>
        <p:spPr/>
        <p:txBody>
          <a:bodyPr/>
          <a:lstStyle/>
          <a:p>
            <a:r>
              <a:rPr lang="en-US"/>
              <a:t>creating an array (2/2)</a:t>
            </a:r>
          </a:p>
        </p:txBody>
      </p:sp>
      <p:sp>
        <p:nvSpPr>
          <p:cNvPr id="4" name="Content Placeholder 3">
            <a:extLst>
              <a:ext uri="{FF2B5EF4-FFF2-40B4-BE49-F238E27FC236}">
                <a16:creationId xmlns:a16="http://schemas.microsoft.com/office/drawing/2014/main" id="{4EA2B6A7-0DAC-1B6E-B33F-7BB0821A94E0}"/>
              </a:ext>
            </a:extLst>
          </p:cNvPr>
          <p:cNvSpPr>
            <a:spLocks noGrp="1"/>
          </p:cNvSpPr>
          <p:nvPr>
            <p:ph sz="quarter" idx="10"/>
          </p:nvPr>
        </p:nvSpPr>
        <p:spPr/>
        <p:txBody>
          <a:bodyPr/>
          <a:lstStyle/>
          <a:p>
            <a:r>
              <a:rPr lang="en-US"/>
              <a:t>you can also create an array by specifying its elements;</a:t>
            </a:r>
            <a:br>
              <a:rPr lang="en-US"/>
            </a:br>
            <a:r>
              <a:rPr lang="en-US"/>
              <a:t>if you do, the array's length is the number of elements you specified</a:t>
            </a:r>
          </a:p>
          <a:p>
            <a:pPr lvl="1"/>
            <a:r>
              <a:rPr lang="en-US">
                <a:solidFill>
                  <a:srgbClr val="000080"/>
                </a:solidFill>
                <a:latin typeface="+mj-lt"/>
              </a:rPr>
              <a:t>int</a:t>
            </a:r>
            <a:r>
              <a:rPr lang="en-US">
                <a:latin typeface="+mj-lt"/>
              </a:rPr>
              <a:t>[] array = { </a:t>
            </a:r>
            <a:r>
              <a:rPr lang="en-US">
                <a:solidFill>
                  <a:srgbClr val="0CB5B5"/>
                </a:solidFill>
                <a:latin typeface="+mj-lt"/>
              </a:rPr>
              <a:t>7</a:t>
            </a:r>
            <a:r>
              <a:rPr lang="en-US">
                <a:latin typeface="+mj-lt"/>
              </a:rPr>
              <a:t>, </a:t>
            </a:r>
            <a:r>
              <a:rPr lang="en-US">
                <a:solidFill>
                  <a:srgbClr val="0CB5B5"/>
                </a:solidFill>
                <a:latin typeface="+mj-lt"/>
              </a:rPr>
              <a:t>7</a:t>
            </a:r>
            <a:r>
              <a:rPr lang="en-US">
                <a:latin typeface="+mj-lt"/>
              </a:rPr>
              <a:t>, </a:t>
            </a:r>
            <a:r>
              <a:rPr lang="en-US">
                <a:solidFill>
                  <a:srgbClr val="0CB5B5"/>
                </a:solidFill>
                <a:latin typeface="+mj-lt"/>
              </a:rPr>
              <a:t>9</a:t>
            </a:r>
            <a:r>
              <a:rPr lang="en-US">
                <a:latin typeface="+mj-lt"/>
              </a:rPr>
              <a:t> }; </a:t>
            </a:r>
            <a:r>
              <a:rPr lang="en-US">
                <a:solidFill>
                  <a:srgbClr val="007B00"/>
                </a:solidFill>
                <a:latin typeface="+mj-lt"/>
              </a:rPr>
              <a:t>// </a:t>
            </a:r>
            <a:r>
              <a:rPr lang="en-US" b="1">
                <a:solidFill>
                  <a:srgbClr val="007B00"/>
                </a:solidFill>
                <a:latin typeface="+mj-lt"/>
              </a:rPr>
              <a:t>new int[3]</a:t>
            </a:r>
            <a:r>
              <a:rPr lang="en-US">
                <a:solidFill>
                  <a:srgbClr val="007B00"/>
                </a:solidFill>
                <a:latin typeface="+mj-lt"/>
              </a:rPr>
              <a:t> is implied</a:t>
            </a:r>
          </a:p>
          <a:p>
            <a:pPr lvl="2"/>
            <a:r>
              <a:rPr lang="en-US">
                <a:solidFill>
                  <a:srgbClr val="007B00"/>
                </a:solidFill>
                <a:latin typeface="+mj-lt"/>
              </a:rPr>
              <a:t>NOTE: this syntax can only be used for </a:t>
            </a:r>
            <a:r>
              <a:rPr lang="en-US" b="1">
                <a:solidFill>
                  <a:srgbClr val="007B00"/>
                </a:solidFill>
                <a:latin typeface="+mj-lt"/>
              </a:rPr>
              <a:t>creation</a:t>
            </a:r>
            <a:endParaRPr lang="en-US">
              <a:solidFill>
                <a:srgbClr val="007B00"/>
              </a:solidFill>
              <a:latin typeface="+mj-lt"/>
            </a:endParaRPr>
          </a:p>
          <a:p>
            <a:pPr lvl="3"/>
            <a:r>
              <a:rPr lang="en-US">
                <a:solidFill>
                  <a:srgbClr val="007B00"/>
                </a:solidFill>
                <a:latin typeface="+mj-lt"/>
              </a:rPr>
              <a:t>🙅 NOT okay to do later: array = { 4, 5, 6 };</a:t>
            </a:r>
          </a:p>
          <a:p>
            <a:pPr lvl="3"/>
            <a:r>
              <a:rPr lang="en-US">
                <a:solidFill>
                  <a:srgbClr val="007B00"/>
                </a:solidFill>
                <a:latin typeface="+mj-lt"/>
              </a:rPr>
              <a:t>🙆 OKAY to do later:</a:t>
            </a:r>
          </a:p>
          <a:p>
            <a:pPr lvl="4"/>
            <a:r>
              <a:rPr lang="en-US">
                <a:solidFill>
                  <a:srgbClr val="007B00"/>
                </a:solidFill>
                <a:latin typeface="+mj-lt"/>
              </a:rPr>
              <a:t>array[0] = 4;</a:t>
            </a:r>
          </a:p>
          <a:p>
            <a:pPr lvl="4"/>
            <a:r>
              <a:rPr lang="en-US">
                <a:solidFill>
                  <a:srgbClr val="007B00"/>
                </a:solidFill>
                <a:latin typeface="+mj-lt"/>
              </a:rPr>
              <a:t>array[1] = 5;</a:t>
            </a:r>
          </a:p>
          <a:p>
            <a:pPr lvl="4"/>
            <a:r>
              <a:rPr lang="en-US">
                <a:solidFill>
                  <a:srgbClr val="007B00"/>
                </a:solidFill>
                <a:latin typeface="+mj-lt"/>
              </a:rPr>
              <a:t>array[2] = 6;</a:t>
            </a:r>
          </a:p>
          <a:p>
            <a:pPr lvl="4"/>
            <a:endParaRPr lang="en-US">
              <a:solidFill>
                <a:srgbClr val="007B00"/>
              </a:solidFill>
              <a:latin typeface="+mj-lt"/>
            </a:endParaRPr>
          </a:p>
          <a:p>
            <a:pPr lvl="1"/>
            <a:r>
              <a:rPr lang="en-US">
                <a:solidFill>
                  <a:srgbClr val="000080"/>
                </a:solidFill>
                <a:latin typeface="+mj-lt"/>
              </a:rPr>
              <a:t>boolean</a:t>
            </a:r>
            <a:r>
              <a:rPr lang="en-US">
                <a:latin typeface="+mj-lt"/>
              </a:rPr>
              <a:t>[] array = </a:t>
            </a:r>
            <a:r>
              <a:rPr lang="en-US">
                <a:solidFill>
                  <a:srgbClr val="000080"/>
                </a:solidFill>
                <a:latin typeface="+mj-lt"/>
              </a:rPr>
              <a:t>{ </a:t>
            </a:r>
            <a:r>
              <a:rPr lang="en-US">
                <a:solidFill>
                  <a:srgbClr val="0000FF"/>
                </a:solidFill>
                <a:latin typeface="+mj-lt"/>
              </a:rPr>
              <a:t>true</a:t>
            </a:r>
            <a:r>
              <a:rPr lang="en-US">
                <a:latin typeface="+mj-lt"/>
              </a:rPr>
              <a:t> };</a:t>
            </a:r>
            <a:endParaRPr lang="en-US">
              <a:solidFill>
                <a:srgbClr val="007B00"/>
              </a:solidFill>
              <a:latin typeface="+mj-lt"/>
            </a:endParaRPr>
          </a:p>
          <a:p>
            <a:pPr lvl="1"/>
            <a:r>
              <a:rPr lang="en-US">
                <a:solidFill>
                  <a:srgbClr val="000080"/>
                </a:solidFill>
                <a:latin typeface="+mj-lt"/>
              </a:rPr>
              <a:t>String</a:t>
            </a:r>
            <a:r>
              <a:rPr lang="en-US">
                <a:latin typeface="+mj-lt"/>
              </a:rPr>
              <a:t>[] array = { </a:t>
            </a:r>
            <a:r>
              <a:rPr lang="en-US">
                <a:solidFill>
                  <a:srgbClr val="B60E0E"/>
                </a:solidFill>
                <a:latin typeface="+mj-lt"/>
              </a:rPr>
              <a:t>"hello"</a:t>
            </a:r>
            <a:r>
              <a:rPr lang="en-US">
                <a:latin typeface="+mj-lt"/>
              </a:rPr>
              <a:t>, </a:t>
            </a:r>
            <a:r>
              <a:rPr lang="en-US">
                <a:solidFill>
                  <a:srgbClr val="B60E0E"/>
                </a:solidFill>
                <a:latin typeface="+mj-lt"/>
              </a:rPr>
              <a:t>"world"</a:t>
            </a:r>
            <a:r>
              <a:rPr lang="en-US">
                <a:latin typeface="+mj-lt"/>
              </a:rPr>
              <a:t> };</a:t>
            </a:r>
            <a:endParaRPr lang="en-US">
              <a:solidFill>
                <a:srgbClr val="007B00"/>
              </a:solidFill>
              <a:latin typeface="+mj-lt"/>
            </a:endParaRPr>
          </a:p>
        </p:txBody>
      </p:sp>
    </p:spTree>
    <p:extLst>
      <p:ext uri="{BB962C8B-B14F-4D97-AF65-F5344CB8AC3E}">
        <p14:creationId xmlns:p14="http://schemas.microsoft.com/office/powerpoint/2010/main" val="2687986458"/>
      </p:ext>
    </p:extLst>
  </p:cSld>
  <p:clrMapOvr>
    <a:masterClrMapping/>
  </p:clrMapOvr>
</p:sld>
</file>

<file path=ppt/slides/slide5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2F133-F827-2F56-718B-A2159287019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D65F219-3DB6-11CF-63D0-327A406BB141}"/>
              </a:ext>
            </a:extLst>
          </p:cNvPr>
          <p:cNvSpPr>
            <a:spLocks noGrp="1"/>
          </p:cNvSpPr>
          <p:nvPr>
            <p:ph type="title"/>
          </p:nvPr>
        </p:nvSpPr>
        <p:spPr>
          <a:xfrm>
            <a:off x="457200" y="254916"/>
            <a:ext cx="8229600" cy="667168"/>
          </a:xfrm>
        </p:spPr>
        <p:txBody>
          <a:bodyPr>
            <a:normAutofit/>
          </a:bodyPr>
          <a:lstStyle/>
          <a:p>
            <a:r>
              <a:rPr lang="en-US"/>
              <a:t>getting an array's length</a:t>
            </a:r>
          </a:p>
        </p:txBody>
      </p:sp>
      <p:sp>
        <p:nvSpPr>
          <p:cNvPr id="4" name="Content Placeholder 3">
            <a:extLst>
              <a:ext uri="{FF2B5EF4-FFF2-40B4-BE49-F238E27FC236}">
                <a16:creationId xmlns:a16="http://schemas.microsoft.com/office/drawing/2014/main" id="{5CD9CE5F-36DB-66C3-706D-05C39409DB7E}"/>
              </a:ext>
            </a:extLst>
          </p:cNvPr>
          <p:cNvSpPr>
            <a:spLocks noGrp="1"/>
          </p:cNvSpPr>
          <p:nvPr>
            <p:ph sz="quarter" idx="10"/>
          </p:nvPr>
        </p:nvSpPr>
        <p:spPr>
          <a:xfrm>
            <a:off x="457200" y="963337"/>
            <a:ext cx="8229600" cy="4080271"/>
          </a:xfrm>
        </p:spPr>
        <p:txBody>
          <a:bodyPr/>
          <a:lstStyle/>
          <a:p>
            <a:r>
              <a:rPr lang="en-US"/>
              <a:t>after creating an array, you can get (but not set) its length</a:t>
            </a:r>
          </a:p>
          <a:p>
            <a:pPr lvl="1"/>
            <a:endParaRPr lang="en-US"/>
          </a:p>
        </p:txBody>
      </p:sp>
      <p:sp>
        <p:nvSpPr>
          <p:cNvPr id="2" name="TextBox 1">
            <a:extLst>
              <a:ext uri="{FF2B5EF4-FFF2-40B4-BE49-F238E27FC236}">
                <a16:creationId xmlns:a16="http://schemas.microsoft.com/office/drawing/2014/main" id="{A7F56DFF-55CB-ACA9-5AB1-E0993CED9103}"/>
              </a:ext>
            </a:extLst>
          </p:cNvPr>
          <p:cNvSpPr txBox="1"/>
          <p:nvPr/>
        </p:nvSpPr>
        <p:spPr>
          <a:xfrm>
            <a:off x="457200" y="1646351"/>
            <a:ext cx="8229600" cy="701731"/>
          </a:xfrm>
          <a:prstGeom prst="rect">
            <a:avLst/>
          </a:prstGeom>
          <a:solidFill>
            <a:schemeClr val="bg1"/>
          </a:solidFill>
          <a:ln>
            <a:solidFill>
              <a:schemeClr val="tx1"/>
            </a:solidFill>
          </a:ln>
        </p:spPr>
        <p:txBody>
          <a:bodyPr wrap="square" rtlCol="0">
            <a:spAutoFit/>
          </a:bodyPr>
          <a:lstStyle/>
          <a:p>
            <a:pPr indent="-114314" defTabSz="342886">
              <a:spcBef>
                <a:spcPct val="20000"/>
              </a:spcBef>
              <a:buClr>
                <a:srgbClr val="FFFFFF">
                  <a:lumMod val="65000"/>
                </a:srgbClr>
              </a:buClr>
            </a:pPr>
            <a:r>
              <a:rPr lang="en-US">
                <a:solidFill>
                  <a:srgbClr val="000080"/>
                </a:solidFill>
                <a:latin typeface="Consolas"/>
                <a:ea typeface="Segoe UI Emoji" panose="020B0502040204020203" pitchFamily="34" charset="0"/>
              </a:rPr>
              <a:t>int</a:t>
            </a:r>
            <a:r>
              <a:rPr lang="en-US">
                <a:solidFill>
                  <a:srgbClr val="000000"/>
                </a:solidFill>
                <a:latin typeface="Consolas"/>
                <a:ea typeface="Segoe UI Emoji" panose="020B0502040204020203" pitchFamily="34" charset="0"/>
              </a:rPr>
              <a:t>[] array = { </a:t>
            </a:r>
            <a:r>
              <a:rPr lang="en-US">
                <a:solidFill>
                  <a:srgbClr val="0CB5B5"/>
                </a:solidFill>
                <a:latin typeface="Consolas"/>
                <a:ea typeface="Segoe UI Emoji" panose="020B0502040204020203" pitchFamily="34" charset="0"/>
              </a:rPr>
              <a:t>7</a:t>
            </a:r>
            <a:r>
              <a:rPr lang="en-US">
                <a:solidFill>
                  <a:srgbClr val="000000"/>
                </a:solidFill>
                <a:latin typeface="Consolas"/>
                <a:ea typeface="Segoe UI Emoji" panose="020B0502040204020203" pitchFamily="34" charset="0"/>
              </a:rPr>
              <a:t>, </a:t>
            </a:r>
            <a:r>
              <a:rPr lang="en-US">
                <a:solidFill>
                  <a:srgbClr val="0CB5B5"/>
                </a:solidFill>
                <a:latin typeface="Consolas"/>
                <a:ea typeface="Segoe UI Emoji" panose="020B0502040204020203" pitchFamily="34" charset="0"/>
              </a:rPr>
              <a:t>7</a:t>
            </a:r>
            <a:r>
              <a:rPr lang="en-US">
                <a:solidFill>
                  <a:srgbClr val="000000"/>
                </a:solidFill>
                <a:latin typeface="Consolas"/>
                <a:ea typeface="Segoe UI Emoji" panose="020B0502040204020203" pitchFamily="34" charset="0"/>
              </a:rPr>
              <a:t>, </a:t>
            </a:r>
            <a:r>
              <a:rPr lang="en-US">
                <a:solidFill>
                  <a:srgbClr val="0CB5B5"/>
                </a:solidFill>
                <a:latin typeface="Consolas"/>
                <a:ea typeface="Segoe UI Emoji" panose="020B0502040204020203" pitchFamily="34" charset="0"/>
              </a:rPr>
              <a:t>9</a:t>
            </a:r>
            <a:r>
              <a:rPr lang="en-US">
                <a:solidFill>
                  <a:srgbClr val="000000"/>
                </a:solidFill>
                <a:latin typeface="Consolas"/>
                <a:ea typeface="Segoe UI Emoji" panose="020B0502040204020203" pitchFamily="34" charset="0"/>
              </a:rPr>
              <a:t> };</a:t>
            </a:r>
            <a:endParaRPr lang="en-US">
              <a:solidFill>
                <a:srgbClr val="007B00"/>
              </a:solidFill>
              <a:latin typeface="Consolas"/>
              <a:ea typeface="Segoe UI Emoji" panose="020B0502040204020203" pitchFamily="34" charset="0"/>
            </a:endParaRPr>
          </a:p>
          <a:p>
            <a:pPr indent="-114314" defTabSz="342886">
              <a:spcBef>
                <a:spcPct val="20000"/>
              </a:spcBef>
              <a:buClr>
                <a:srgbClr val="FFFFFF">
                  <a:lumMod val="65000"/>
                </a:srgbClr>
              </a:buClr>
            </a:pPr>
            <a:r>
              <a:rPr lang="en-US">
                <a:solidFill>
                  <a:srgbClr val="000080"/>
                </a:solidFill>
                <a:latin typeface="Consolas"/>
                <a:ea typeface="Segoe UI Emoji" panose="020B0502040204020203" pitchFamily="34" charset="0"/>
              </a:rPr>
              <a:t>PRINT</a:t>
            </a:r>
            <a:r>
              <a:rPr lang="en-US">
                <a:solidFill>
                  <a:srgbClr val="000000"/>
                </a:solidFill>
                <a:latin typeface="Consolas"/>
                <a:ea typeface="Segoe UI Emoji" panose="020B0502040204020203" pitchFamily="34" charset="0"/>
              </a:rPr>
              <a:t>(array.length); </a:t>
            </a:r>
            <a:r>
              <a:rPr lang="en-US">
                <a:solidFill>
                  <a:srgbClr val="007B00"/>
                </a:solidFill>
                <a:latin typeface="Consolas"/>
                <a:ea typeface="Segoe UI Emoji" panose="020B0502040204020203" pitchFamily="34" charset="0"/>
              </a:rPr>
              <a:t>// 3</a:t>
            </a:r>
          </a:p>
        </p:txBody>
      </p:sp>
      <p:sp>
        <p:nvSpPr>
          <p:cNvPr id="5" name="TextBox 4">
            <a:extLst>
              <a:ext uri="{FF2B5EF4-FFF2-40B4-BE49-F238E27FC236}">
                <a16:creationId xmlns:a16="http://schemas.microsoft.com/office/drawing/2014/main" id="{DD23D4A4-A4E7-9E2D-B0EB-377C853A32CF}"/>
              </a:ext>
            </a:extLst>
          </p:cNvPr>
          <p:cNvSpPr txBox="1"/>
          <p:nvPr/>
        </p:nvSpPr>
        <p:spPr>
          <a:xfrm>
            <a:off x="457200" y="2571750"/>
            <a:ext cx="8229600" cy="701731"/>
          </a:xfrm>
          <a:prstGeom prst="rect">
            <a:avLst/>
          </a:prstGeom>
          <a:solidFill>
            <a:schemeClr val="bg1"/>
          </a:solidFill>
          <a:ln>
            <a:solidFill>
              <a:schemeClr val="tx1"/>
            </a:solidFill>
          </a:ln>
        </p:spPr>
        <p:txBody>
          <a:bodyPr wrap="square" rtlCol="0">
            <a:spAutoFit/>
          </a:bodyPr>
          <a:lstStyle/>
          <a:p>
            <a:pPr indent="-114314" defTabSz="342886">
              <a:spcBef>
                <a:spcPct val="20000"/>
              </a:spcBef>
              <a:buClr>
                <a:srgbClr val="FFFFFF">
                  <a:lumMod val="65000"/>
                </a:srgbClr>
              </a:buClr>
            </a:pPr>
            <a:r>
              <a:rPr lang="en-US">
                <a:solidFill>
                  <a:srgbClr val="000080"/>
                </a:solidFill>
                <a:latin typeface="Consolas"/>
                <a:ea typeface="Segoe UI Emoji" panose="020B0502040204020203" pitchFamily="34" charset="0"/>
              </a:rPr>
              <a:t>int</a:t>
            </a:r>
            <a:r>
              <a:rPr lang="en-US">
                <a:solidFill>
                  <a:srgbClr val="000000"/>
                </a:solidFill>
                <a:latin typeface="Consolas"/>
                <a:ea typeface="Segoe UI Emoji" panose="020B0502040204020203" pitchFamily="34" charset="0"/>
              </a:rPr>
              <a:t>[] array = new int[</a:t>
            </a:r>
            <a:r>
              <a:rPr lang="en-US">
                <a:solidFill>
                  <a:srgbClr val="0CB5B5"/>
                </a:solidFill>
                <a:latin typeface="Consolas"/>
                <a:ea typeface="Segoe UI Emoji" panose="020B0502040204020203" pitchFamily="34" charset="0"/>
              </a:rPr>
              <a:t>8</a:t>
            </a:r>
            <a:r>
              <a:rPr lang="en-US">
                <a:solidFill>
                  <a:srgbClr val="000000"/>
                </a:solidFill>
                <a:latin typeface="Consolas"/>
                <a:ea typeface="Segoe UI Emoji" panose="020B0502040204020203" pitchFamily="34" charset="0"/>
              </a:rPr>
              <a:t>];</a:t>
            </a:r>
            <a:endParaRPr lang="en-US">
              <a:solidFill>
                <a:srgbClr val="007B00"/>
              </a:solidFill>
              <a:latin typeface="Consolas"/>
              <a:ea typeface="Segoe UI Emoji" panose="020B0502040204020203" pitchFamily="34" charset="0"/>
            </a:endParaRPr>
          </a:p>
          <a:p>
            <a:pPr indent="-114314" defTabSz="342886">
              <a:spcBef>
                <a:spcPct val="20000"/>
              </a:spcBef>
              <a:buClr>
                <a:srgbClr val="FFFFFF">
                  <a:lumMod val="65000"/>
                </a:srgbClr>
              </a:buClr>
            </a:pPr>
            <a:r>
              <a:rPr lang="en-US" err="1">
                <a:solidFill>
                  <a:srgbClr val="000080"/>
                </a:solidFill>
                <a:latin typeface="Consolas"/>
                <a:ea typeface="Segoe UI Emoji" panose="020B0502040204020203" pitchFamily="34" charset="0"/>
              </a:rPr>
              <a:t>PRINT</a:t>
            </a:r>
            <a:r>
              <a:rPr lang="en-US">
                <a:solidFill>
                  <a:srgbClr val="000000"/>
                </a:solidFill>
                <a:latin typeface="Consolas"/>
                <a:ea typeface="Segoe UI Emoji" panose="020B0502040204020203" pitchFamily="34" charset="0"/>
              </a:rPr>
              <a:t>(</a:t>
            </a:r>
            <a:r>
              <a:rPr lang="en-US" err="1">
                <a:solidFill>
                  <a:srgbClr val="000000"/>
                </a:solidFill>
                <a:latin typeface="Consolas"/>
                <a:ea typeface="Segoe UI Emoji" panose="020B0502040204020203" pitchFamily="34" charset="0"/>
              </a:rPr>
              <a:t>array.length</a:t>
            </a:r>
            <a:r>
              <a:rPr lang="en-US">
                <a:solidFill>
                  <a:srgbClr val="000000"/>
                </a:solidFill>
                <a:latin typeface="Consolas"/>
                <a:ea typeface="Segoe UI Emoji" panose="020B0502040204020203" pitchFamily="34" charset="0"/>
              </a:rPr>
              <a:t>); </a:t>
            </a:r>
            <a:r>
              <a:rPr lang="en-US">
                <a:solidFill>
                  <a:srgbClr val="007B00"/>
                </a:solidFill>
                <a:latin typeface="Consolas"/>
                <a:ea typeface="Segoe UI Emoji" panose="020B0502040204020203" pitchFamily="34" charset="0"/>
              </a:rPr>
              <a:t>// 8</a:t>
            </a:r>
          </a:p>
        </p:txBody>
      </p:sp>
      <p:sp>
        <p:nvSpPr>
          <p:cNvPr id="6" name="TextBox 5">
            <a:extLst>
              <a:ext uri="{FF2B5EF4-FFF2-40B4-BE49-F238E27FC236}">
                <a16:creationId xmlns:a16="http://schemas.microsoft.com/office/drawing/2014/main" id="{903E1F6E-DFED-B9DB-A569-983F66F326B6}"/>
              </a:ext>
            </a:extLst>
          </p:cNvPr>
          <p:cNvSpPr txBox="1"/>
          <p:nvPr/>
        </p:nvSpPr>
        <p:spPr>
          <a:xfrm>
            <a:off x="457200" y="3497149"/>
            <a:ext cx="8229600" cy="1034129"/>
          </a:xfrm>
          <a:prstGeom prst="rect">
            <a:avLst/>
          </a:prstGeom>
          <a:solidFill>
            <a:schemeClr val="bg1"/>
          </a:solidFill>
          <a:ln>
            <a:solidFill>
              <a:schemeClr val="tx1"/>
            </a:solidFill>
          </a:ln>
        </p:spPr>
        <p:txBody>
          <a:bodyPr wrap="square" rtlCol="0">
            <a:spAutoFit/>
          </a:bodyPr>
          <a:lstStyle/>
          <a:p>
            <a:pPr indent="-114314" defTabSz="342886">
              <a:spcBef>
                <a:spcPct val="20000"/>
              </a:spcBef>
              <a:buClr>
                <a:srgbClr val="FFFFFF">
                  <a:lumMod val="65000"/>
                </a:srgbClr>
              </a:buClr>
            </a:pPr>
            <a:r>
              <a:rPr lang="en-US" b="1">
                <a:solidFill>
                  <a:srgbClr val="000000"/>
                </a:solidFill>
                <a:highlight>
                  <a:srgbClr val="FFFF00"/>
                </a:highlight>
                <a:latin typeface="Consolas"/>
                <a:ea typeface="Segoe UI Emoji" panose="020B0502040204020203" pitchFamily="34" charset="0"/>
              </a:rPr>
              <a:t>Error:</a:t>
            </a:r>
            <a:r>
              <a:rPr lang="en-US">
                <a:solidFill>
                  <a:srgbClr val="000000"/>
                </a:solidFill>
                <a:highlight>
                  <a:srgbClr val="FFFF00"/>
                </a:highlight>
                <a:latin typeface="Consolas"/>
                <a:ea typeface="Segoe UI Emoji" panose="020B0502040204020203" pitchFamily="34" charset="0"/>
              </a:rPr>
              <a:t> cannot assign a value to final variable length</a:t>
            </a:r>
          </a:p>
          <a:p>
            <a:pPr indent="-114314" defTabSz="342886">
              <a:spcBef>
                <a:spcPct val="20000"/>
              </a:spcBef>
              <a:buClr>
                <a:srgbClr val="FFFFFF">
                  <a:lumMod val="65000"/>
                </a:srgbClr>
              </a:buClr>
            </a:pPr>
            <a:endParaRPr lang="en-US">
              <a:solidFill>
                <a:srgbClr val="000000"/>
              </a:solidFill>
              <a:highlight>
                <a:srgbClr val="FFFF00"/>
              </a:highlight>
              <a:latin typeface="Consolas"/>
              <a:ea typeface="Segoe UI Emoji" panose="020B0502040204020203" pitchFamily="34" charset="0"/>
            </a:endParaRPr>
          </a:p>
          <a:p>
            <a:pPr indent="-114314" defTabSz="342886">
              <a:spcBef>
                <a:spcPct val="20000"/>
              </a:spcBef>
              <a:buClr>
                <a:srgbClr val="FFFFFF">
                  <a:lumMod val="65000"/>
                </a:srgbClr>
              </a:buClr>
            </a:pPr>
            <a:r>
              <a:rPr lang="en-US">
                <a:solidFill>
                  <a:srgbClr val="000000"/>
                </a:solidFill>
                <a:highlight>
                  <a:srgbClr val="FFFF00"/>
                </a:highlight>
                <a:latin typeface="Consolas"/>
                <a:ea typeface="Segoe UI Emoji" panose="020B0502040204020203" pitchFamily="34" charset="0"/>
              </a:rPr>
              <a:t>array.length = </a:t>
            </a:r>
            <a:r>
              <a:rPr lang="en-US">
                <a:solidFill>
                  <a:srgbClr val="0CB5B5"/>
                </a:solidFill>
                <a:highlight>
                  <a:srgbClr val="FFFF00"/>
                </a:highlight>
                <a:latin typeface="Consolas"/>
                <a:ea typeface="Segoe UI Emoji" panose="020B0502040204020203" pitchFamily="34" charset="0"/>
              </a:rPr>
              <a:t>42</a:t>
            </a:r>
            <a:r>
              <a:rPr lang="en-US">
                <a:solidFill>
                  <a:srgbClr val="000000"/>
                </a:solidFill>
                <a:highlight>
                  <a:srgbClr val="FFFF00"/>
                </a:highlight>
                <a:latin typeface="Consolas"/>
                <a:ea typeface="Segoe UI Emoji" panose="020B0502040204020203" pitchFamily="34" charset="0"/>
              </a:rPr>
              <a:t>;</a:t>
            </a:r>
            <a:endParaRPr lang="en-US">
              <a:solidFill>
                <a:srgbClr val="007B00"/>
              </a:solidFill>
              <a:highlight>
                <a:srgbClr val="FFFF00"/>
              </a:highlight>
              <a:latin typeface="Consolas"/>
              <a:ea typeface="Segoe UI Emoji" panose="020B0502040204020203" pitchFamily="34" charset="0"/>
            </a:endParaRPr>
          </a:p>
        </p:txBody>
      </p:sp>
    </p:spTree>
    <p:extLst>
      <p:ext uri="{BB962C8B-B14F-4D97-AF65-F5344CB8AC3E}">
        <p14:creationId xmlns:p14="http://schemas.microsoft.com/office/powerpoint/2010/main" val="3295251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Lst>
  </p:timing>
</p:sld>
</file>

<file path=ppt/slides/slide5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5C1AD-CAA6-0498-A449-95093D48324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6DA5612-AC73-BAC0-E0DC-8C6CC745900B}"/>
              </a:ext>
            </a:extLst>
          </p:cNvPr>
          <p:cNvSpPr>
            <a:spLocks noGrp="1"/>
          </p:cNvSpPr>
          <p:nvPr>
            <p:ph type="title"/>
          </p:nvPr>
        </p:nvSpPr>
        <p:spPr>
          <a:xfrm>
            <a:off x="457200" y="254916"/>
            <a:ext cx="8229600" cy="667168"/>
          </a:xfrm>
        </p:spPr>
        <p:txBody>
          <a:bodyPr>
            <a:normAutofit/>
          </a:bodyPr>
          <a:lstStyle/>
          <a:p>
            <a:r>
              <a:rPr lang="en-US"/>
              <a:t>getting the value of an element of an array</a:t>
            </a:r>
          </a:p>
        </p:txBody>
      </p:sp>
      <p:sp>
        <p:nvSpPr>
          <p:cNvPr id="4" name="Content Placeholder 3">
            <a:extLst>
              <a:ext uri="{FF2B5EF4-FFF2-40B4-BE49-F238E27FC236}">
                <a16:creationId xmlns:a16="http://schemas.microsoft.com/office/drawing/2014/main" id="{54F7E9E3-9168-FFF4-ABA2-1C8B420125A6}"/>
              </a:ext>
            </a:extLst>
          </p:cNvPr>
          <p:cNvSpPr>
            <a:spLocks noGrp="1"/>
          </p:cNvSpPr>
          <p:nvPr>
            <p:ph sz="quarter" idx="10"/>
          </p:nvPr>
        </p:nvSpPr>
        <p:spPr>
          <a:xfrm>
            <a:off x="457200" y="963337"/>
            <a:ext cx="8229600" cy="4080271"/>
          </a:xfrm>
        </p:spPr>
        <p:txBody>
          <a:bodyPr/>
          <a:lstStyle/>
          <a:p>
            <a:r>
              <a:rPr lang="en-US"/>
              <a:t>you can </a:t>
            </a:r>
            <a:r>
              <a:rPr lang="en-US" b="1"/>
              <a:t>get</a:t>
            </a:r>
            <a:r>
              <a:rPr lang="en-US"/>
              <a:t> the value of an element of an array using the square brackets and the index of the element</a:t>
            </a:r>
          </a:p>
          <a:p>
            <a:pPr lvl="1"/>
            <a:r>
              <a:rPr lang="en-US"/>
              <a:t>this is also called "accessing the array"</a:t>
            </a:r>
          </a:p>
          <a:p>
            <a:pPr lvl="1"/>
            <a:endParaRPr lang="en-US"/>
          </a:p>
          <a:p>
            <a:pPr lvl="1"/>
            <a:endParaRPr lang="en-US"/>
          </a:p>
        </p:txBody>
      </p:sp>
      <p:sp>
        <p:nvSpPr>
          <p:cNvPr id="2" name="TextBox 1">
            <a:extLst>
              <a:ext uri="{FF2B5EF4-FFF2-40B4-BE49-F238E27FC236}">
                <a16:creationId xmlns:a16="http://schemas.microsoft.com/office/drawing/2014/main" id="{99776F58-4781-025D-C0BA-04512E7503D2}"/>
              </a:ext>
            </a:extLst>
          </p:cNvPr>
          <p:cNvSpPr txBox="1"/>
          <p:nvPr/>
        </p:nvSpPr>
        <p:spPr>
          <a:xfrm>
            <a:off x="457200" y="2084568"/>
            <a:ext cx="8229600" cy="701731"/>
          </a:xfrm>
          <a:prstGeom prst="rect">
            <a:avLst/>
          </a:prstGeom>
          <a:solidFill>
            <a:schemeClr val="bg1"/>
          </a:solidFill>
          <a:ln>
            <a:solidFill>
              <a:schemeClr val="tx1"/>
            </a:solidFill>
          </a:ln>
        </p:spPr>
        <p:txBody>
          <a:bodyPr wrap="square" rtlCol="0">
            <a:spAutoFit/>
          </a:bodyPr>
          <a:lstStyle/>
          <a:p>
            <a:pPr defTabSz="342886">
              <a:spcBef>
                <a:spcPct val="20000"/>
              </a:spcBef>
              <a:buClr>
                <a:srgbClr val="FFFFFF">
                  <a:lumMod val="65000"/>
                </a:srgbClr>
              </a:buClr>
            </a:pPr>
            <a:r>
              <a:rPr lang="en-US">
                <a:solidFill>
                  <a:srgbClr val="000080"/>
                </a:solidFill>
                <a:latin typeface="Consolas"/>
                <a:ea typeface="Segoe UI Emoji" panose="020B0502040204020203" pitchFamily="34" charset="0"/>
              </a:rPr>
              <a:t>int</a:t>
            </a:r>
            <a:r>
              <a:rPr lang="en-US">
                <a:solidFill>
                  <a:srgbClr val="000000"/>
                </a:solidFill>
                <a:latin typeface="Consolas"/>
                <a:ea typeface="Segoe UI Emoji" panose="020B0502040204020203" pitchFamily="34" charset="0"/>
              </a:rPr>
              <a:t>[] array = { </a:t>
            </a:r>
            <a:r>
              <a:rPr lang="en-US">
                <a:solidFill>
                  <a:srgbClr val="0CB5B5"/>
                </a:solidFill>
                <a:latin typeface="Consolas"/>
                <a:ea typeface="Segoe UI Emoji" panose="020B0502040204020203" pitchFamily="34" charset="0"/>
              </a:rPr>
              <a:t>3</a:t>
            </a:r>
            <a:r>
              <a:rPr lang="en-US">
                <a:solidFill>
                  <a:srgbClr val="000000"/>
                </a:solidFill>
                <a:latin typeface="Consolas"/>
                <a:ea typeface="Segoe UI Emoji" panose="020B0502040204020203" pitchFamily="34" charset="0"/>
              </a:rPr>
              <a:t>, </a:t>
            </a:r>
            <a:r>
              <a:rPr lang="en-US">
                <a:solidFill>
                  <a:srgbClr val="0CB5B5"/>
                </a:solidFill>
                <a:latin typeface="Consolas"/>
                <a:ea typeface="Segoe UI Emoji" panose="020B0502040204020203" pitchFamily="34" charset="0"/>
              </a:rPr>
              <a:t>4</a:t>
            </a:r>
            <a:r>
              <a:rPr lang="en-US">
                <a:solidFill>
                  <a:srgbClr val="000000"/>
                </a:solidFill>
                <a:latin typeface="Consolas"/>
                <a:ea typeface="Segoe UI Emoji" panose="020B0502040204020203" pitchFamily="34" charset="0"/>
              </a:rPr>
              <a:t>, </a:t>
            </a:r>
            <a:r>
              <a:rPr lang="en-US">
                <a:solidFill>
                  <a:srgbClr val="0CB5B5"/>
                </a:solidFill>
                <a:latin typeface="Consolas"/>
                <a:ea typeface="Segoe UI Emoji" panose="020B0502040204020203" pitchFamily="34" charset="0"/>
              </a:rPr>
              <a:t>5</a:t>
            </a:r>
            <a:r>
              <a:rPr lang="en-US">
                <a:solidFill>
                  <a:srgbClr val="000000"/>
                </a:solidFill>
                <a:latin typeface="Consolas"/>
                <a:ea typeface="Segoe UI Emoji" panose="020B0502040204020203" pitchFamily="34" charset="0"/>
              </a:rPr>
              <a:t> };</a:t>
            </a:r>
            <a:endParaRPr lang="en-US">
              <a:solidFill>
                <a:srgbClr val="007B00"/>
              </a:solidFill>
              <a:latin typeface="Consolas"/>
              <a:ea typeface="Segoe UI Emoji" panose="020B0502040204020203" pitchFamily="34" charset="0"/>
            </a:endParaRPr>
          </a:p>
          <a:p>
            <a:pPr defTabSz="342886">
              <a:spcBef>
                <a:spcPct val="20000"/>
              </a:spcBef>
              <a:buClr>
                <a:srgbClr val="FFFFFF">
                  <a:lumMod val="65000"/>
                </a:srgbClr>
              </a:buClr>
            </a:pPr>
            <a:r>
              <a:rPr lang="en-US">
                <a:solidFill>
                  <a:srgbClr val="000080"/>
                </a:solidFill>
                <a:latin typeface="Consolas"/>
                <a:ea typeface="Segoe UI Emoji" panose="020B0502040204020203" pitchFamily="34" charset="0"/>
              </a:rPr>
              <a:t>int</a:t>
            </a:r>
            <a:r>
              <a:rPr lang="en-US">
                <a:solidFill>
                  <a:srgbClr val="000000"/>
                </a:solidFill>
                <a:latin typeface="Consolas"/>
                <a:ea typeface="Segoe UI Emoji" panose="020B0502040204020203" pitchFamily="34" charset="0"/>
              </a:rPr>
              <a:t> foo = array[</a:t>
            </a:r>
            <a:r>
              <a:rPr lang="en-US">
                <a:solidFill>
                  <a:srgbClr val="0CB5B5"/>
                </a:solidFill>
                <a:latin typeface="Consolas"/>
                <a:ea typeface="Segoe UI Emoji" panose="020B0502040204020203" pitchFamily="34" charset="0"/>
              </a:rPr>
              <a:t>0</a:t>
            </a:r>
            <a:r>
              <a:rPr lang="en-US">
                <a:solidFill>
                  <a:srgbClr val="000000"/>
                </a:solidFill>
                <a:latin typeface="Consolas"/>
                <a:ea typeface="Segoe UI Emoji" panose="020B0502040204020203" pitchFamily="34" charset="0"/>
              </a:rPr>
              <a:t>]; </a:t>
            </a:r>
            <a:r>
              <a:rPr lang="en-US">
                <a:solidFill>
                  <a:srgbClr val="007B00"/>
                </a:solidFill>
                <a:latin typeface="Consolas"/>
                <a:ea typeface="Segoe UI Emoji" panose="020B0502040204020203" pitchFamily="34" charset="0"/>
              </a:rPr>
              <a:t>// 3</a:t>
            </a:r>
          </a:p>
        </p:txBody>
      </p:sp>
      <p:sp>
        <p:nvSpPr>
          <p:cNvPr id="5" name="TextBox 4">
            <a:extLst>
              <a:ext uri="{FF2B5EF4-FFF2-40B4-BE49-F238E27FC236}">
                <a16:creationId xmlns:a16="http://schemas.microsoft.com/office/drawing/2014/main" id="{12919B46-F7BE-9157-F568-334F020CD713}"/>
              </a:ext>
            </a:extLst>
          </p:cNvPr>
          <p:cNvSpPr txBox="1"/>
          <p:nvPr/>
        </p:nvSpPr>
        <p:spPr>
          <a:xfrm>
            <a:off x="457200" y="3030718"/>
            <a:ext cx="8229600" cy="1366528"/>
          </a:xfrm>
          <a:prstGeom prst="rect">
            <a:avLst/>
          </a:prstGeom>
          <a:solidFill>
            <a:schemeClr val="bg1"/>
          </a:solidFill>
          <a:ln>
            <a:solidFill>
              <a:schemeClr val="tx1"/>
            </a:solidFill>
          </a:ln>
        </p:spPr>
        <p:txBody>
          <a:bodyPr wrap="square" rtlCol="0">
            <a:spAutoFit/>
          </a:bodyPr>
          <a:lstStyle/>
          <a:p>
            <a:pPr defTabSz="342886">
              <a:spcBef>
                <a:spcPct val="20000"/>
              </a:spcBef>
              <a:buClr>
                <a:srgbClr val="FFFFFF">
                  <a:lumMod val="65000"/>
                </a:srgbClr>
              </a:buClr>
            </a:pPr>
            <a:r>
              <a:rPr lang="en-US">
                <a:solidFill>
                  <a:srgbClr val="000080"/>
                </a:solidFill>
                <a:latin typeface="Consolas"/>
                <a:ea typeface="Segoe UI Emoji" panose="020B0502040204020203" pitchFamily="34" charset="0"/>
              </a:rPr>
              <a:t>int</a:t>
            </a:r>
            <a:r>
              <a:rPr lang="en-US">
                <a:solidFill>
                  <a:srgbClr val="000000"/>
                </a:solidFill>
                <a:latin typeface="Consolas"/>
                <a:ea typeface="Segoe UI Emoji" panose="020B0502040204020203" pitchFamily="34" charset="0"/>
              </a:rPr>
              <a:t>[] array = { </a:t>
            </a:r>
            <a:r>
              <a:rPr lang="en-US">
                <a:solidFill>
                  <a:srgbClr val="0CB5B5"/>
                </a:solidFill>
                <a:latin typeface="Consolas"/>
                <a:ea typeface="Segoe UI Emoji" panose="020B0502040204020203" pitchFamily="34" charset="0"/>
              </a:rPr>
              <a:t>3</a:t>
            </a:r>
            <a:r>
              <a:rPr lang="en-US">
                <a:solidFill>
                  <a:srgbClr val="000000"/>
                </a:solidFill>
                <a:latin typeface="Consolas"/>
                <a:ea typeface="Segoe UI Emoji" panose="020B0502040204020203" pitchFamily="34" charset="0"/>
              </a:rPr>
              <a:t>, </a:t>
            </a:r>
            <a:r>
              <a:rPr lang="en-US">
                <a:solidFill>
                  <a:srgbClr val="0CB5B5"/>
                </a:solidFill>
                <a:latin typeface="Consolas"/>
                <a:ea typeface="Segoe UI Emoji" panose="020B0502040204020203" pitchFamily="34" charset="0"/>
              </a:rPr>
              <a:t>4</a:t>
            </a:r>
            <a:r>
              <a:rPr lang="en-US">
                <a:solidFill>
                  <a:srgbClr val="000000"/>
                </a:solidFill>
                <a:latin typeface="Consolas"/>
                <a:ea typeface="Segoe UI Emoji" panose="020B0502040204020203" pitchFamily="34" charset="0"/>
              </a:rPr>
              <a:t>, </a:t>
            </a:r>
            <a:r>
              <a:rPr lang="en-US">
                <a:solidFill>
                  <a:srgbClr val="0CB5B5"/>
                </a:solidFill>
                <a:latin typeface="Consolas"/>
                <a:ea typeface="Segoe UI Emoji" panose="020B0502040204020203" pitchFamily="34" charset="0"/>
              </a:rPr>
              <a:t>5</a:t>
            </a:r>
            <a:r>
              <a:rPr lang="en-US">
                <a:solidFill>
                  <a:srgbClr val="000000"/>
                </a:solidFill>
                <a:latin typeface="Consolas"/>
                <a:ea typeface="Segoe UI Emoji" panose="020B0502040204020203" pitchFamily="34" charset="0"/>
              </a:rPr>
              <a:t> };</a:t>
            </a:r>
            <a:endParaRPr lang="en-US">
              <a:solidFill>
                <a:srgbClr val="007B00"/>
              </a:solidFill>
              <a:latin typeface="Consolas"/>
              <a:ea typeface="Segoe UI Emoji" panose="020B0502040204020203" pitchFamily="34" charset="0"/>
            </a:endParaRPr>
          </a:p>
          <a:p>
            <a:pPr defTabSz="342886">
              <a:spcBef>
                <a:spcPct val="20000"/>
              </a:spcBef>
              <a:buClr>
                <a:srgbClr val="FFFFFF">
                  <a:lumMod val="65000"/>
                </a:srgbClr>
              </a:buClr>
            </a:pPr>
            <a:r>
              <a:rPr lang="en-US">
                <a:solidFill>
                  <a:srgbClr val="000080"/>
                </a:solidFill>
                <a:latin typeface="Consolas"/>
                <a:ea typeface="Segoe UI Emoji" panose="020B0502040204020203" pitchFamily="34" charset="0"/>
              </a:rPr>
              <a:t>int</a:t>
            </a:r>
            <a:r>
              <a:rPr lang="en-US">
                <a:solidFill>
                  <a:srgbClr val="000000"/>
                </a:solidFill>
                <a:latin typeface="Consolas"/>
                <a:ea typeface="Segoe UI Emoji" panose="020B0502040204020203" pitchFamily="34" charset="0"/>
              </a:rPr>
              <a:t> foo = array[</a:t>
            </a:r>
            <a:r>
              <a:rPr lang="en-US">
                <a:solidFill>
                  <a:srgbClr val="0CB5B5"/>
                </a:solidFill>
                <a:latin typeface="Consolas"/>
                <a:ea typeface="Segoe UI Emoji" panose="020B0502040204020203" pitchFamily="34" charset="0"/>
              </a:rPr>
              <a:t>42</a:t>
            </a:r>
            <a:r>
              <a:rPr lang="en-US">
                <a:solidFill>
                  <a:srgbClr val="000000"/>
                </a:solidFill>
                <a:latin typeface="Consolas"/>
                <a:ea typeface="Segoe UI Emoji" panose="020B0502040204020203" pitchFamily="34" charset="0"/>
              </a:rPr>
              <a:t>];</a:t>
            </a:r>
          </a:p>
          <a:p>
            <a:pPr defTabSz="342886">
              <a:spcBef>
                <a:spcPct val="20000"/>
              </a:spcBef>
              <a:buClr>
                <a:srgbClr val="FFFFFF">
                  <a:lumMod val="65000"/>
                </a:srgbClr>
              </a:buClr>
            </a:pPr>
            <a:endParaRPr lang="en-US">
              <a:solidFill>
                <a:srgbClr val="000000"/>
              </a:solidFill>
              <a:latin typeface="Consolas"/>
              <a:ea typeface="Segoe UI Emoji" panose="020B0502040204020203" pitchFamily="34" charset="0"/>
            </a:endParaRPr>
          </a:p>
          <a:p>
            <a:pPr defTabSz="342886">
              <a:spcBef>
                <a:spcPct val="20000"/>
              </a:spcBef>
              <a:buClr>
                <a:srgbClr val="FFFFFF">
                  <a:lumMod val="65000"/>
                </a:srgbClr>
              </a:buClr>
            </a:pPr>
            <a:r>
              <a:rPr lang="en-US" b="1">
                <a:solidFill>
                  <a:srgbClr val="B60E0E"/>
                </a:solidFill>
                <a:latin typeface="Consolas"/>
                <a:ea typeface="Segoe UI Emoji" panose="020B0502040204020203" pitchFamily="34" charset="0"/>
              </a:rPr>
              <a:t>java.lang.ArrayIndexOutOfBoundsException: 42</a:t>
            </a:r>
          </a:p>
        </p:txBody>
      </p:sp>
    </p:spTree>
    <p:extLst>
      <p:ext uri="{BB962C8B-B14F-4D97-AF65-F5344CB8AC3E}">
        <p14:creationId xmlns:p14="http://schemas.microsoft.com/office/powerpoint/2010/main" val="2710927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5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3A751-E939-4E6A-B2D3-408A502C16E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08A7DA3-4421-2E37-40A1-E03224FA2BE5}"/>
              </a:ext>
            </a:extLst>
          </p:cNvPr>
          <p:cNvSpPr>
            <a:spLocks noGrp="1"/>
          </p:cNvSpPr>
          <p:nvPr>
            <p:ph type="title"/>
          </p:nvPr>
        </p:nvSpPr>
        <p:spPr>
          <a:xfrm>
            <a:off x="457200" y="254916"/>
            <a:ext cx="8229600" cy="667168"/>
          </a:xfrm>
        </p:spPr>
        <p:txBody>
          <a:bodyPr/>
          <a:lstStyle/>
          <a:p>
            <a:r>
              <a:rPr lang="en-US"/>
              <a:t>setting the value of an element of an array</a:t>
            </a:r>
          </a:p>
        </p:txBody>
      </p:sp>
      <p:sp>
        <p:nvSpPr>
          <p:cNvPr id="4" name="Content Placeholder 3">
            <a:extLst>
              <a:ext uri="{FF2B5EF4-FFF2-40B4-BE49-F238E27FC236}">
                <a16:creationId xmlns:a16="http://schemas.microsoft.com/office/drawing/2014/main" id="{08F0063F-9EC6-ABDB-4AD0-C23784C1463A}"/>
              </a:ext>
            </a:extLst>
          </p:cNvPr>
          <p:cNvSpPr>
            <a:spLocks noGrp="1"/>
          </p:cNvSpPr>
          <p:nvPr>
            <p:ph sz="quarter" idx="10"/>
          </p:nvPr>
        </p:nvSpPr>
        <p:spPr>
          <a:xfrm>
            <a:off x="457200" y="963337"/>
            <a:ext cx="8229600" cy="4080271"/>
          </a:xfrm>
        </p:spPr>
        <p:txBody>
          <a:bodyPr/>
          <a:lstStyle/>
          <a:p>
            <a:r>
              <a:rPr lang="en-US"/>
              <a:t>you can </a:t>
            </a:r>
            <a:r>
              <a:rPr lang="en-US" b="1"/>
              <a:t>set</a:t>
            </a:r>
            <a:r>
              <a:rPr lang="en-US"/>
              <a:t> the value of an element of an array  using the square brackets and the  index of the element</a:t>
            </a:r>
          </a:p>
          <a:p>
            <a:endParaRPr lang="en-US"/>
          </a:p>
          <a:p>
            <a:pPr lvl="1"/>
            <a:endParaRPr lang="en-US"/>
          </a:p>
          <a:p>
            <a:pPr lvl="1"/>
            <a:endParaRPr lang="en-US"/>
          </a:p>
        </p:txBody>
      </p:sp>
      <p:sp>
        <p:nvSpPr>
          <p:cNvPr id="6" name="TextBox 5">
            <a:extLst>
              <a:ext uri="{FF2B5EF4-FFF2-40B4-BE49-F238E27FC236}">
                <a16:creationId xmlns:a16="http://schemas.microsoft.com/office/drawing/2014/main" id="{CB5E175B-654E-1B51-7E0F-AFCE6B1C1F7B}"/>
              </a:ext>
            </a:extLst>
          </p:cNvPr>
          <p:cNvSpPr txBox="1"/>
          <p:nvPr/>
        </p:nvSpPr>
        <p:spPr>
          <a:xfrm>
            <a:off x="457200" y="1700492"/>
            <a:ext cx="8229600" cy="1034129"/>
          </a:xfrm>
          <a:prstGeom prst="rect">
            <a:avLst/>
          </a:prstGeom>
          <a:solidFill>
            <a:schemeClr val="bg1"/>
          </a:solidFill>
          <a:ln>
            <a:solidFill>
              <a:schemeClr val="tx1"/>
            </a:solidFill>
          </a:ln>
        </p:spPr>
        <p:txBody>
          <a:bodyPr wrap="square" rtlCol="0">
            <a:spAutoFit/>
          </a:bodyPr>
          <a:lstStyle/>
          <a:p>
            <a:pPr indent="-114314" defTabSz="342886">
              <a:spcBef>
                <a:spcPct val="20000"/>
              </a:spcBef>
              <a:buClr>
                <a:srgbClr val="FFFFFF">
                  <a:lumMod val="65000"/>
                </a:srgbClr>
              </a:buClr>
            </a:pPr>
            <a:r>
              <a:rPr lang="en-US">
                <a:solidFill>
                  <a:srgbClr val="000080"/>
                </a:solidFill>
                <a:latin typeface="Consolas"/>
                <a:ea typeface="Segoe UI Emoji" panose="020B0502040204020203" pitchFamily="34" charset="0"/>
              </a:rPr>
              <a:t>int</a:t>
            </a:r>
            <a:r>
              <a:rPr lang="en-US">
                <a:solidFill>
                  <a:srgbClr val="000000"/>
                </a:solidFill>
                <a:latin typeface="Consolas"/>
                <a:ea typeface="Segoe UI Emoji" panose="020B0502040204020203" pitchFamily="34" charset="0"/>
              </a:rPr>
              <a:t>[] array = { </a:t>
            </a:r>
            <a:r>
              <a:rPr lang="en-US">
                <a:solidFill>
                  <a:srgbClr val="0CB5B5"/>
                </a:solidFill>
                <a:latin typeface="Consolas"/>
                <a:ea typeface="Segoe UI Emoji" panose="020B0502040204020203" pitchFamily="34" charset="0"/>
              </a:rPr>
              <a:t>7</a:t>
            </a:r>
            <a:r>
              <a:rPr lang="en-US">
                <a:solidFill>
                  <a:srgbClr val="000000"/>
                </a:solidFill>
                <a:latin typeface="Consolas"/>
                <a:ea typeface="Segoe UI Emoji" panose="020B0502040204020203" pitchFamily="34" charset="0"/>
              </a:rPr>
              <a:t>, </a:t>
            </a:r>
            <a:r>
              <a:rPr lang="en-US">
                <a:solidFill>
                  <a:srgbClr val="0CB5B5"/>
                </a:solidFill>
                <a:latin typeface="Consolas"/>
                <a:ea typeface="Segoe UI Emoji" panose="020B0502040204020203" pitchFamily="34" charset="0"/>
              </a:rPr>
              <a:t>7</a:t>
            </a:r>
            <a:r>
              <a:rPr lang="en-US">
                <a:solidFill>
                  <a:srgbClr val="000000"/>
                </a:solidFill>
                <a:latin typeface="Consolas"/>
                <a:ea typeface="Segoe UI Emoji" panose="020B0502040204020203" pitchFamily="34" charset="0"/>
              </a:rPr>
              <a:t>, </a:t>
            </a:r>
            <a:r>
              <a:rPr lang="en-US">
                <a:solidFill>
                  <a:srgbClr val="0CB5B5"/>
                </a:solidFill>
                <a:latin typeface="Consolas"/>
                <a:ea typeface="Segoe UI Emoji" panose="020B0502040204020203" pitchFamily="34" charset="0"/>
              </a:rPr>
              <a:t>9</a:t>
            </a:r>
            <a:r>
              <a:rPr lang="en-US">
                <a:solidFill>
                  <a:srgbClr val="000000"/>
                </a:solidFill>
                <a:latin typeface="Consolas"/>
                <a:ea typeface="Segoe UI Emoji" panose="020B0502040204020203" pitchFamily="34" charset="0"/>
              </a:rPr>
              <a:t> };</a:t>
            </a:r>
            <a:endParaRPr lang="en-US">
              <a:solidFill>
                <a:srgbClr val="007B00"/>
              </a:solidFill>
              <a:latin typeface="Consolas"/>
              <a:ea typeface="Segoe UI Emoji" panose="020B0502040204020203" pitchFamily="34" charset="0"/>
            </a:endParaRPr>
          </a:p>
          <a:p>
            <a:pPr indent="-114314" defTabSz="342886">
              <a:spcBef>
                <a:spcPct val="20000"/>
              </a:spcBef>
              <a:buClr>
                <a:srgbClr val="FFFFFF">
                  <a:lumMod val="65000"/>
                </a:srgbClr>
              </a:buClr>
            </a:pPr>
            <a:r>
              <a:rPr lang="en-US">
                <a:solidFill>
                  <a:srgbClr val="000000"/>
                </a:solidFill>
                <a:latin typeface="Consolas"/>
                <a:ea typeface="Segoe UI Emoji" panose="020B0502040204020203" pitchFamily="34" charset="0"/>
              </a:rPr>
              <a:t>array[</a:t>
            </a:r>
            <a:r>
              <a:rPr lang="en-US">
                <a:solidFill>
                  <a:srgbClr val="0CB5B5"/>
                </a:solidFill>
                <a:latin typeface="Consolas"/>
                <a:ea typeface="Segoe UI Emoji" panose="020B0502040204020203" pitchFamily="34" charset="0"/>
              </a:rPr>
              <a:t>1</a:t>
            </a:r>
            <a:r>
              <a:rPr lang="en-US">
                <a:solidFill>
                  <a:srgbClr val="000000"/>
                </a:solidFill>
                <a:latin typeface="Consolas"/>
                <a:ea typeface="Segoe UI Emoji" panose="020B0502040204020203" pitchFamily="34" charset="0"/>
              </a:rPr>
              <a:t>] = </a:t>
            </a:r>
            <a:r>
              <a:rPr lang="en-US">
                <a:solidFill>
                  <a:srgbClr val="0CB5B5"/>
                </a:solidFill>
                <a:latin typeface="Consolas"/>
                <a:ea typeface="Segoe UI Emoji" panose="020B0502040204020203" pitchFamily="34" charset="0"/>
              </a:rPr>
              <a:t>8</a:t>
            </a:r>
            <a:r>
              <a:rPr lang="en-US">
                <a:solidFill>
                  <a:srgbClr val="000000"/>
                </a:solidFill>
                <a:latin typeface="Consolas"/>
                <a:ea typeface="Segoe UI Emoji" panose="020B0502040204020203" pitchFamily="34" charset="0"/>
              </a:rPr>
              <a:t>;</a:t>
            </a:r>
          </a:p>
          <a:p>
            <a:pPr indent="-114314" defTabSz="342886">
              <a:spcBef>
                <a:spcPct val="20000"/>
              </a:spcBef>
              <a:buClr>
                <a:srgbClr val="FFFFFF">
                  <a:lumMod val="65000"/>
                </a:srgbClr>
              </a:buClr>
            </a:pPr>
            <a:r>
              <a:rPr lang="en-US">
                <a:solidFill>
                  <a:srgbClr val="007B00"/>
                </a:solidFill>
                <a:latin typeface="Consolas"/>
                <a:ea typeface="Segoe UI Emoji" panose="020B0502040204020203" pitchFamily="34" charset="0"/>
              </a:rPr>
              <a:t>// { 7, 8, 9 }</a:t>
            </a:r>
          </a:p>
        </p:txBody>
      </p:sp>
      <p:sp>
        <p:nvSpPr>
          <p:cNvPr id="7" name="TextBox 6">
            <a:extLst>
              <a:ext uri="{FF2B5EF4-FFF2-40B4-BE49-F238E27FC236}">
                <a16:creationId xmlns:a16="http://schemas.microsoft.com/office/drawing/2014/main" id="{B7B10D26-424C-19CC-3888-0426046B252C}"/>
              </a:ext>
            </a:extLst>
          </p:cNvPr>
          <p:cNvSpPr txBox="1"/>
          <p:nvPr/>
        </p:nvSpPr>
        <p:spPr>
          <a:xfrm>
            <a:off x="457200" y="2997479"/>
            <a:ext cx="8229600" cy="1366528"/>
          </a:xfrm>
          <a:prstGeom prst="rect">
            <a:avLst/>
          </a:prstGeom>
          <a:solidFill>
            <a:schemeClr val="bg1"/>
          </a:solidFill>
          <a:ln>
            <a:solidFill>
              <a:schemeClr val="tx1"/>
            </a:solidFill>
          </a:ln>
        </p:spPr>
        <p:txBody>
          <a:bodyPr wrap="square" rtlCol="0">
            <a:spAutoFit/>
          </a:bodyPr>
          <a:lstStyle/>
          <a:p>
            <a:pPr indent="-114314" defTabSz="342886">
              <a:spcBef>
                <a:spcPct val="20000"/>
              </a:spcBef>
              <a:buClr>
                <a:srgbClr val="FFFFFF">
                  <a:lumMod val="65000"/>
                </a:srgbClr>
              </a:buClr>
            </a:pPr>
            <a:r>
              <a:rPr lang="en-US">
                <a:solidFill>
                  <a:srgbClr val="000080"/>
                </a:solidFill>
                <a:latin typeface="Consolas"/>
                <a:ea typeface="Segoe UI Emoji" panose="020B0502040204020203" pitchFamily="34" charset="0"/>
              </a:rPr>
              <a:t>int</a:t>
            </a:r>
            <a:r>
              <a:rPr lang="en-US">
                <a:solidFill>
                  <a:srgbClr val="000000"/>
                </a:solidFill>
                <a:latin typeface="Consolas"/>
                <a:ea typeface="Segoe UI Emoji" panose="020B0502040204020203" pitchFamily="34" charset="0"/>
              </a:rPr>
              <a:t>[] array = { </a:t>
            </a:r>
            <a:r>
              <a:rPr lang="en-US">
                <a:solidFill>
                  <a:srgbClr val="0CB5B5"/>
                </a:solidFill>
                <a:latin typeface="Consolas"/>
                <a:ea typeface="Segoe UI Emoji" panose="020B0502040204020203" pitchFamily="34" charset="0"/>
              </a:rPr>
              <a:t>7</a:t>
            </a:r>
            <a:r>
              <a:rPr lang="en-US">
                <a:solidFill>
                  <a:srgbClr val="000000"/>
                </a:solidFill>
                <a:latin typeface="Consolas"/>
                <a:ea typeface="Segoe UI Emoji" panose="020B0502040204020203" pitchFamily="34" charset="0"/>
              </a:rPr>
              <a:t>, </a:t>
            </a:r>
            <a:r>
              <a:rPr lang="en-US">
                <a:solidFill>
                  <a:srgbClr val="0CB5B5"/>
                </a:solidFill>
                <a:latin typeface="Consolas"/>
                <a:ea typeface="Segoe UI Emoji" panose="020B0502040204020203" pitchFamily="34" charset="0"/>
              </a:rPr>
              <a:t>7</a:t>
            </a:r>
            <a:r>
              <a:rPr lang="en-US">
                <a:solidFill>
                  <a:srgbClr val="000000"/>
                </a:solidFill>
                <a:latin typeface="Consolas"/>
                <a:ea typeface="Segoe UI Emoji" panose="020B0502040204020203" pitchFamily="34" charset="0"/>
              </a:rPr>
              <a:t>, </a:t>
            </a:r>
            <a:r>
              <a:rPr lang="en-US">
                <a:solidFill>
                  <a:srgbClr val="0CB5B5"/>
                </a:solidFill>
                <a:latin typeface="Consolas"/>
                <a:ea typeface="Segoe UI Emoji" panose="020B0502040204020203" pitchFamily="34" charset="0"/>
              </a:rPr>
              <a:t>9</a:t>
            </a:r>
            <a:r>
              <a:rPr lang="en-US">
                <a:solidFill>
                  <a:srgbClr val="000000"/>
                </a:solidFill>
                <a:latin typeface="Consolas"/>
                <a:ea typeface="Segoe UI Emoji" panose="020B0502040204020203" pitchFamily="34" charset="0"/>
              </a:rPr>
              <a:t> };</a:t>
            </a:r>
            <a:endParaRPr lang="en-US">
              <a:solidFill>
                <a:srgbClr val="007B00"/>
              </a:solidFill>
              <a:latin typeface="Consolas"/>
              <a:ea typeface="Segoe UI Emoji" panose="020B0502040204020203" pitchFamily="34" charset="0"/>
            </a:endParaRPr>
          </a:p>
          <a:p>
            <a:pPr indent="-114314" defTabSz="342886">
              <a:spcBef>
                <a:spcPct val="20000"/>
              </a:spcBef>
              <a:buClr>
                <a:srgbClr val="FFFFFF">
                  <a:lumMod val="65000"/>
                </a:srgbClr>
              </a:buClr>
            </a:pPr>
            <a:r>
              <a:rPr lang="en-US">
                <a:solidFill>
                  <a:srgbClr val="000000"/>
                </a:solidFill>
                <a:latin typeface="Consolas"/>
                <a:ea typeface="Segoe UI Emoji" panose="020B0502040204020203" pitchFamily="34" charset="0"/>
              </a:rPr>
              <a:t>array[-</a:t>
            </a:r>
            <a:r>
              <a:rPr lang="en-US">
                <a:solidFill>
                  <a:srgbClr val="0CB5B5"/>
                </a:solidFill>
                <a:latin typeface="Consolas"/>
                <a:ea typeface="Segoe UI Emoji" panose="020B0502040204020203" pitchFamily="34" charset="0"/>
              </a:rPr>
              <a:t>1</a:t>
            </a:r>
            <a:r>
              <a:rPr lang="en-US">
                <a:solidFill>
                  <a:srgbClr val="000000"/>
                </a:solidFill>
                <a:latin typeface="Consolas"/>
                <a:ea typeface="Segoe UI Emoji" panose="020B0502040204020203" pitchFamily="34" charset="0"/>
              </a:rPr>
              <a:t>] = </a:t>
            </a:r>
            <a:r>
              <a:rPr lang="en-US">
                <a:solidFill>
                  <a:srgbClr val="0CB5B5"/>
                </a:solidFill>
                <a:latin typeface="Consolas"/>
                <a:ea typeface="Segoe UI Emoji" panose="020B0502040204020203" pitchFamily="34" charset="0"/>
              </a:rPr>
              <a:t>1000</a:t>
            </a:r>
            <a:r>
              <a:rPr lang="en-US">
                <a:solidFill>
                  <a:srgbClr val="000000"/>
                </a:solidFill>
                <a:latin typeface="Consolas"/>
                <a:ea typeface="Segoe UI Emoji" panose="020B0502040204020203" pitchFamily="34" charset="0"/>
              </a:rPr>
              <a:t>;</a:t>
            </a:r>
          </a:p>
          <a:p>
            <a:pPr indent="-114314" defTabSz="342886">
              <a:spcBef>
                <a:spcPct val="20000"/>
              </a:spcBef>
              <a:buClr>
                <a:srgbClr val="FFFFFF">
                  <a:lumMod val="65000"/>
                </a:srgbClr>
              </a:buClr>
            </a:pPr>
            <a:endParaRPr lang="en-US">
              <a:solidFill>
                <a:srgbClr val="000000"/>
              </a:solidFill>
              <a:latin typeface="Consolas"/>
              <a:ea typeface="Segoe UI Emoji" panose="020B0502040204020203" pitchFamily="34" charset="0"/>
            </a:endParaRPr>
          </a:p>
          <a:p>
            <a:pPr indent="-114314" defTabSz="342886">
              <a:spcBef>
                <a:spcPct val="20000"/>
              </a:spcBef>
              <a:buClr>
                <a:srgbClr val="FFFFFF">
                  <a:lumMod val="65000"/>
                </a:srgbClr>
              </a:buClr>
            </a:pPr>
            <a:r>
              <a:rPr lang="en-US" b="1">
                <a:solidFill>
                  <a:srgbClr val="B60E0E"/>
                </a:solidFill>
                <a:latin typeface="Consolas"/>
                <a:ea typeface="Segoe UI Emoji" panose="020B0502040204020203" pitchFamily="34" charset="0"/>
              </a:rPr>
              <a:t>java.lang.ArrayIndexOutOfBoundsException: -1</a:t>
            </a:r>
          </a:p>
        </p:txBody>
      </p:sp>
    </p:spTree>
    <p:extLst>
      <p:ext uri="{BB962C8B-B14F-4D97-AF65-F5344CB8AC3E}">
        <p14:creationId xmlns:p14="http://schemas.microsoft.com/office/powerpoint/2010/main" val="3173023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5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E265D-EAD3-2312-4BE2-E1E6E411036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0F50A5C-EFCE-C855-229B-9BF619173B02}"/>
              </a:ext>
            </a:extLst>
          </p:cNvPr>
          <p:cNvSpPr>
            <a:spLocks noGrp="1"/>
          </p:cNvSpPr>
          <p:nvPr>
            <p:ph type="title"/>
          </p:nvPr>
        </p:nvSpPr>
        <p:spPr>
          <a:xfrm>
            <a:off x="457200" y="254916"/>
            <a:ext cx="8229600" cy="667168"/>
          </a:xfrm>
        </p:spPr>
        <p:txBody>
          <a:bodyPr>
            <a:normAutofit/>
          </a:bodyPr>
          <a:lstStyle/>
          <a:p>
            <a:r>
              <a:rPr lang="en-US" b="1"/>
              <a:t>☠ printing the elements of an array</a:t>
            </a:r>
          </a:p>
        </p:txBody>
      </p:sp>
      <p:sp>
        <p:nvSpPr>
          <p:cNvPr id="4" name="Content Placeholder 3">
            <a:extLst>
              <a:ext uri="{FF2B5EF4-FFF2-40B4-BE49-F238E27FC236}">
                <a16:creationId xmlns:a16="http://schemas.microsoft.com/office/drawing/2014/main" id="{4C44E40E-DAE0-673D-C3CF-EF1DB9D86975}"/>
              </a:ext>
            </a:extLst>
          </p:cNvPr>
          <p:cNvSpPr>
            <a:spLocks noGrp="1"/>
          </p:cNvSpPr>
          <p:nvPr>
            <p:ph sz="quarter" idx="10"/>
          </p:nvPr>
        </p:nvSpPr>
        <p:spPr>
          <a:xfrm>
            <a:off x="457200" y="963337"/>
            <a:ext cx="8229600" cy="4080271"/>
          </a:xfrm>
        </p:spPr>
        <p:txBody>
          <a:bodyPr>
            <a:normAutofit/>
          </a:bodyPr>
          <a:lstStyle/>
          <a:p>
            <a:r>
              <a:rPr lang="en-US" b="1"/>
              <a:t>☠ in Java, you don't simply call </a:t>
            </a:r>
            <a:r>
              <a:rPr lang="en-US">
                <a:solidFill>
                  <a:srgbClr val="000080"/>
                </a:solidFill>
                <a:latin typeface="+mj-lt"/>
              </a:rPr>
              <a:t>System</a:t>
            </a:r>
            <a:r>
              <a:rPr lang="en-US">
                <a:latin typeface="+mj-lt"/>
              </a:rPr>
              <a:t>.out.println(array)</a:t>
            </a:r>
          </a:p>
          <a:p>
            <a:pPr lvl="1"/>
            <a:r>
              <a:rPr lang="en-US" b="1"/>
              <a:t>instead, you call </a:t>
            </a:r>
            <a:r>
              <a:rPr lang="en-US">
                <a:solidFill>
                  <a:srgbClr val="000080"/>
                </a:solidFill>
                <a:latin typeface="+mj-lt"/>
              </a:rPr>
              <a:t>System</a:t>
            </a:r>
            <a:r>
              <a:rPr lang="en-US">
                <a:latin typeface="+mj-lt"/>
              </a:rPr>
              <a:t>.out.println(</a:t>
            </a:r>
            <a:r>
              <a:rPr lang="en-US">
                <a:solidFill>
                  <a:srgbClr val="000080"/>
                </a:solidFill>
                <a:latin typeface="+mj-lt"/>
              </a:rPr>
              <a:t>Arrays</a:t>
            </a:r>
            <a:r>
              <a:rPr lang="en-US">
                <a:latin typeface="+mj-lt"/>
              </a:rPr>
              <a:t>.toString(array));</a:t>
            </a:r>
          </a:p>
          <a:p>
            <a:pPr lvl="2"/>
            <a:r>
              <a:rPr lang="en-US" b="1"/>
              <a:t>note: this prints with square brackets instead of curly brackets</a:t>
            </a:r>
          </a:p>
          <a:p>
            <a:pPr lvl="3"/>
            <a:r>
              <a:rPr lang="en-US" b="1"/>
              <a:t>🤷‍♂️</a:t>
            </a:r>
          </a:p>
          <a:p>
            <a:endParaRPr lang="en-US" b="1"/>
          </a:p>
          <a:p>
            <a:r>
              <a:rPr lang="en-US" b="1"/>
              <a:t>or just call </a:t>
            </a:r>
            <a:r>
              <a:rPr lang="en-US">
                <a:solidFill>
                  <a:srgbClr val="000080"/>
                </a:solidFill>
                <a:latin typeface="+mj-lt"/>
              </a:rPr>
              <a:t>PRINT</a:t>
            </a:r>
            <a:r>
              <a:rPr lang="en-US">
                <a:latin typeface="+mj-lt"/>
              </a:rPr>
              <a:t>(array); </a:t>
            </a:r>
          </a:p>
          <a:p>
            <a:pPr lvl="1"/>
            <a:r>
              <a:rPr lang="en-US">
                <a:latin typeface="+mj-lt"/>
              </a:rPr>
              <a:t>🐄💖✨</a:t>
            </a:r>
          </a:p>
          <a:p>
            <a:pPr lvl="1"/>
            <a:r>
              <a:rPr lang="en-US"/>
              <a:t>(note: also prints with square brackets)</a:t>
            </a:r>
            <a:endParaRPr lang="en-US" b="1"/>
          </a:p>
          <a:p>
            <a:pPr lvl="1"/>
            <a:endParaRPr lang="en-US" b="1"/>
          </a:p>
          <a:p>
            <a:pPr lvl="1"/>
            <a:endParaRPr lang="en-US" b="1"/>
          </a:p>
        </p:txBody>
      </p:sp>
    </p:spTree>
    <p:extLst>
      <p:ext uri="{BB962C8B-B14F-4D97-AF65-F5344CB8AC3E}">
        <p14:creationId xmlns:p14="http://schemas.microsoft.com/office/powerpoint/2010/main" val="1072617001"/>
      </p:ext>
    </p:extLst>
  </p:cSld>
  <p:clrMapOvr>
    <a:masterClrMapping/>
  </p:clrMapOvr>
</p:sld>
</file>

<file path=ppt/slides/slide5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D76E6-F526-C271-AE37-D3A3A75A8CC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B0B0125-896C-7D55-D10F-F4B62A8097AB}"/>
              </a:ext>
            </a:extLst>
          </p:cNvPr>
          <p:cNvSpPr>
            <a:spLocks noGrp="1"/>
          </p:cNvSpPr>
          <p:nvPr>
            <p:ph type="title"/>
          </p:nvPr>
        </p:nvSpPr>
        <p:spPr/>
        <p:txBody>
          <a:bodyPr/>
          <a:lstStyle/>
          <a:p>
            <a:r>
              <a:rPr lang="en-US"/>
              <a:t>iterating over an array</a:t>
            </a:r>
          </a:p>
        </p:txBody>
      </p:sp>
    </p:spTree>
    <p:extLst>
      <p:ext uri="{BB962C8B-B14F-4D97-AF65-F5344CB8AC3E}">
        <p14:creationId xmlns:p14="http://schemas.microsoft.com/office/powerpoint/2010/main" val="3931182333"/>
      </p:ext>
    </p:extLst>
  </p:cSld>
  <p:clrMapOvr>
    <a:masterClrMapping/>
  </p:clrMapOvr>
</p:sld>
</file>

<file path=ppt/slides/slide5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A13E1-6F37-48F3-CDBB-F77FA36464F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7ED44D1-56B3-DB45-344F-B48D4A721ED0}"/>
              </a:ext>
            </a:extLst>
          </p:cNvPr>
          <p:cNvSpPr>
            <a:spLocks noGrp="1"/>
          </p:cNvSpPr>
          <p:nvPr>
            <p:ph type="title"/>
          </p:nvPr>
        </p:nvSpPr>
        <p:spPr>
          <a:xfrm>
            <a:off x="457200" y="254916"/>
            <a:ext cx="8229600" cy="667168"/>
          </a:xfrm>
        </p:spPr>
        <p:txBody>
          <a:bodyPr>
            <a:normAutofit/>
          </a:bodyPr>
          <a:lstStyle/>
          <a:p>
            <a:r>
              <a:rPr lang="en-US"/>
              <a:t>iterating over an array</a:t>
            </a:r>
          </a:p>
        </p:txBody>
      </p:sp>
      <p:sp>
        <p:nvSpPr>
          <p:cNvPr id="4" name="Content Placeholder 3">
            <a:extLst>
              <a:ext uri="{FF2B5EF4-FFF2-40B4-BE49-F238E27FC236}">
                <a16:creationId xmlns:a16="http://schemas.microsoft.com/office/drawing/2014/main" id="{F7BBF3CA-C0EC-23AE-A39D-E54C8E9769DA}"/>
              </a:ext>
            </a:extLst>
          </p:cNvPr>
          <p:cNvSpPr>
            <a:spLocks noGrp="1"/>
          </p:cNvSpPr>
          <p:nvPr>
            <p:ph sz="quarter" idx="10"/>
          </p:nvPr>
        </p:nvSpPr>
        <p:spPr>
          <a:xfrm>
            <a:off x="457200" y="963337"/>
            <a:ext cx="8229600" cy="4080271"/>
          </a:xfrm>
        </p:spPr>
        <p:txBody>
          <a:bodyPr>
            <a:normAutofit/>
          </a:bodyPr>
          <a:lstStyle/>
          <a:p>
            <a:r>
              <a:rPr lang="en-US"/>
              <a:t>a for loop can be used to iterate over an array</a:t>
            </a:r>
          </a:p>
          <a:p>
            <a:pPr lvl="1"/>
            <a:endParaRPr lang="en-US"/>
          </a:p>
        </p:txBody>
      </p:sp>
      <p:sp>
        <p:nvSpPr>
          <p:cNvPr id="6" name="TextBox 5">
            <a:extLst>
              <a:ext uri="{FF2B5EF4-FFF2-40B4-BE49-F238E27FC236}">
                <a16:creationId xmlns:a16="http://schemas.microsoft.com/office/drawing/2014/main" id="{8A443DC0-DAF4-9059-2B38-BC36111DA8C8}"/>
              </a:ext>
            </a:extLst>
          </p:cNvPr>
          <p:cNvSpPr txBox="1"/>
          <p:nvPr/>
        </p:nvSpPr>
        <p:spPr>
          <a:xfrm>
            <a:off x="457200" y="1506643"/>
            <a:ext cx="8229600" cy="1034129"/>
          </a:xfrm>
          <a:prstGeom prst="rect">
            <a:avLst/>
          </a:prstGeom>
          <a:solidFill>
            <a:schemeClr val="bg1"/>
          </a:solidFill>
          <a:ln>
            <a:solidFill>
              <a:schemeClr val="tx1"/>
            </a:solidFill>
          </a:ln>
        </p:spPr>
        <p:txBody>
          <a:bodyPr wrap="square" rtlCol="0">
            <a:spAutoFit/>
          </a:bodyPr>
          <a:lstStyle/>
          <a:p>
            <a:pPr defTabSz="342886">
              <a:spcBef>
                <a:spcPct val="20000"/>
              </a:spcBef>
              <a:buClr>
                <a:srgbClr val="FFFFFF">
                  <a:lumMod val="65000"/>
                </a:srgbClr>
              </a:buClr>
            </a:pPr>
            <a:r>
              <a:rPr lang="en-US">
                <a:solidFill>
                  <a:srgbClr val="0000FF"/>
                </a:solidFill>
                <a:latin typeface="Consolas"/>
                <a:ea typeface="Segoe UI Emoji" panose="020B0502040204020203" pitchFamily="34" charset="0"/>
              </a:rPr>
              <a:t>for</a:t>
            </a:r>
            <a:r>
              <a:rPr lang="en-US">
                <a:latin typeface="Consolas"/>
                <a:ea typeface="Segoe UI Emoji" panose="020B0502040204020203" pitchFamily="34" charset="0"/>
              </a:rPr>
              <a:t> (</a:t>
            </a:r>
            <a:r>
              <a:rPr lang="en-US">
                <a:solidFill>
                  <a:srgbClr val="000080"/>
                </a:solidFill>
                <a:latin typeface="Consolas"/>
                <a:ea typeface="Segoe UI Emoji" panose="020B0502040204020203" pitchFamily="34" charset="0"/>
              </a:rPr>
              <a:t>int</a:t>
            </a:r>
            <a:r>
              <a:rPr lang="en-US">
                <a:latin typeface="Consolas"/>
                <a:ea typeface="Segoe UI Emoji" panose="020B0502040204020203" pitchFamily="34" charset="0"/>
              </a:rPr>
              <a:t> i = 0; i &lt; array.length; ++i) {</a:t>
            </a:r>
          </a:p>
          <a:p>
            <a:pPr defTabSz="342886">
              <a:spcBef>
                <a:spcPct val="20000"/>
              </a:spcBef>
              <a:buClr>
                <a:srgbClr val="FFFFFF">
                  <a:lumMod val="65000"/>
                </a:srgbClr>
              </a:buClr>
            </a:pPr>
            <a:r>
              <a:rPr lang="en-US">
                <a:latin typeface="Consolas"/>
                <a:ea typeface="Segoe UI Emoji" panose="020B0502040204020203" pitchFamily="34" charset="0"/>
              </a:rPr>
              <a:t>    array[i] = </a:t>
            </a:r>
            <a:r>
              <a:rPr lang="en-US">
                <a:solidFill>
                  <a:schemeClr val="bg1">
                    <a:lumMod val="50000"/>
                  </a:schemeClr>
                </a:solidFill>
                <a:latin typeface="Consolas"/>
                <a:ea typeface="Segoe UI Emoji" panose="020B0502040204020203" pitchFamily="34" charset="0"/>
              </a:rPr>
              <a:t>...</a:t>
            </a:r>
            <a:r>
              <a:rPr lang="en-US">
                <a:latin typeface="Consolas"/>
                <a:ea typeface="Segoe UI Emoji" panose="020B0502040204020203" pitchFamily="34" charset="0"/>
              </a:rPr>
              <a:t>;</a:t>
            </a:r>
          </a:p>
          <a:p>
            <a:pPr defTabSz="342886">
              <a:spcBef>
                <a:spcPct val="20000"/>
              </a:spcBef>
              <a:buClr>
                <a:srgbClr val="FFFFFF">
                  <a:lumMod val="65000"/>
                </a:srgbClr>
              </a:buClr>
            </a:pPr>
            <a:r>
              <a:rPr lang="en-US">
                <a:latin typeface="Consolas"/>
                <a:ea typeface="Segoe UI Emoji" panose="020B0502040204020203" pitchFamily="34" charset="0"/>
              </a:rPr>
              <a:t>}</a:t>
            </a:r>
          </a:p>
        </p:txBody>
      </p:sp>
    </p:spTree>
    <p:extLst>
      <p:ext uri="{BB962C8B-B14F-4D97-AF65-F5344CB8AC3E}">
        <p14:creationId xmlns:p14="http://schemas.microsoft.com/office/powerpoint/2010/main" val="1818284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30457A-6CA0-BA6F-A305-813FF688174D}"/>
              </a:ext>
            </a:extLst>
          </p:cNvPr>
          <p:cNvSpPr>
            <a:spLocks noGrp="1"/>
          </p:cNvSpPr>
          <p:nvPr>
            <p:ph type="title"/>
          </p:nvPr>
        </p:nvSpPr>
        <p:spPr/>
        <p:txBody>
          <a:bodyPr/>
          <a:lstStyle/>
          <a:p>
            <a:r>
              <a:rPr lang="en-US"/>
              <a:t>[example in DrJava]</a:t>
            </a:r>
          </a:p>
        </p:txBody>
      </p:sp>
    </p:spTree>
    <p:extLst>
      <p:ext uri="{BB962C8B-B14F-4D97-AF65-F5344CB8AC3E}">
        <p14:creationId xmlns:p14="http://schemas.microsoft.com/office/powerpoint/2010/main" val="3176230131"/>
      </p:ext>
    </p:extLst>
  </p:cSld>
  <p:clrMapOvr>
    <a:masterClrMapping/>
  </p:clrMapOvr>
</p:sld>
</file>

<file path=ppt/slides/slide57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D89C6E7-9FCE-0C31-5CD5-B9E0684BD75D}"/>
              </a:ext>
            </a:extLst>
          </p:cNvPr>
          <p:cNvSpPr txBox="1"/>
          <p:nvPr/>
        </p:nvSpPr>
        <p:spPr>
          <a:xfrm>
            <a:off x="4282155" y="2925781"/>
            <a:ext cx="2697984" cy="1138773"/>
          </a:xfrm>
          <a:prstGeom prst="rect">
            <a:avLst/>
          </a:prstGeom>
          <a:solidFill>
            <a:srgbClr val="DEE485"/>
          </a:solidFill>
          <a:ln>
            <a:solidFill>
              <a:schemeClr val="tx1"/>
            </a:solidFill>
          </a:ln>
        </p:spPr>
        <p:txBody>
          <a:bodyPr wrap="square" rtlCol="0">
            <a:spAutoFit/>
          </a:bodyPr>
          <a:lstStyle/>
          <a:p>
            <a:r>
              <a:rPr lang="en-US" b="1"/>
              <a:t>INTERLUDE</a:t>
            </a:r>
          </a:p>
          <a:p>
            <a:r>
              <a:rPr lang="en-US"/>
              <a:t>Guess how many arrays</a:t>
            </a:r>
            <a:br>
              <a:rPr lang="en-US"/>
            </a:br>
            <a:r>
              <a:rPr lang="en-US"/>
              <a:t>we used to make this:</a:t>
            </a:r>
          </a:p>
          <a:p>
            <a:r>
              <a:rPr lang="en-US" sz="1400">
                <a:hlinkClick r:id="rId2"/>
              </a:rPr>
              <a:t>https://youtu.be/dadIdXQMBi4</a:t>
            </a:r>
            <a:endParaRPr lang="en-US" sz="1400"/>
          </a:p>
        </p:txBody>
      </p:sp>
      <p:pic>
        <p:nvPicPr>
          <p:cNvPr id="2" name="Picture 4" descr="10+ Counting Jelly Beans Stock Photos, Pictures &amp; Royalty-Free Images -  iStock">
            <a:extLst>
              <a:ext uri="{FF2B5EF4-FFF2-40B4-BE49-F238E27FC236}">
                <a16:creationId xmlns:a16="http://schemas.microsoft.com/office/drawing/2014/main" id="{B7EFC185-F72F-401C-4F9E-1222EDA64A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8164" y="791967"/>
            <a:ext cx="2260879" cy="2975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1990807"/>
      </p:ext>
    </p:extLst>
  </p:cSld>
  <p:clrMapOvr>
    <a:masterClrMapping/>
  </p:clrMapOvr>
</p:sld>
</file>

<file path=ppt/slides/slide5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8781F-DED7-0890-8852-7CF334E0D1F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9D8B824-4BFA-7909-8D1D-D7B0B8D3F567}"/>
              </a:ext>
            </a:extLst>
          </p:cNvPr>
          <p:cNvSpPr>
            <a:spLocks noGrp="1"/>
          </p:cNvSpPr>
          <p:nvPr>
            <p:ph type="title"/>
          </p:nvPr>
        </p:nvSpPr>
        <p:spPr/>
        <p:txBody>
          <a:bodyPr/>
          <a:lstStyle/>
          <a:p>
            <a:r>
              <a:rPr lang="en-US"/>
              <a:t>how many arrays?</a:t>
            </a:r>
          </a:p>
        </p:txBody>
      </p:sp>
      <p:sp>
        <p:nvSpPr>
          <p:cNvPr id="6" name="Content Placeholder 5">
            <a:extLst>
              <a:ext uri="{FF2B5EF4-FFF2-40B4-BE49-F238E27FC236}">
                <a16:creationId xmlns:a16="http://schemas.microsoft.com/office/drawing/2014/main" id="{87B41288-0447-D356-26E3-C7E651B75365}"/>
              </a:ext>
            </a:extLst>
          </p:cNvPr>
          <p:cNvSpPr>
            <a:spLocks noGrp="1"/>
          </p:cNvSpPr>
          <p:nvPr>
            <p:ph sz="quarter" idx="10"/>
          </p:nvPr>
        </p:nvSpPr>
        <p:spPr/>
        <p:txBody>
          <a:bodyPr>
            <a:noAutofit/>
          </a:bodyPr>
          <a:lstStyle/>
          <a:p>
            <a:r>
              <a:rPr lang="en-US" sz="1000"/>
              <a:t>ARRAYS (not counting tiny arrays of 3 double's, which i use to represent points)</a:t>
            </a:r>
          </a:p>
          <a:p>
            <a:r>
              <a:rPr lang="en-US" sz="1000"/>
              <a:t>NOTE: Counts are very approximate</a:t>
            </a:r>
          </a:p>
          <a:p>
            <a:r>
              <a:rPr lang="en-US" sz="1000"/>
              <a:t>==========</a:t>
            </a:r>
          </a:p>
          <a:p>
            <a:r>
              <a:rPr lang="en-US" sz="1000"/>
              <a:t>strings for loading files &gt;5</a:t>
            </a:r>
          </a:p>
          <a:p>
            <a:r>
              <a:rPr lang="en-US" sz="1000"/>
              <a:t>huge arrays for drawing random stuff (the floor, etc) 2</a:t>
            </a:r>
          </a:p>
          <a:p>
            <a:r>
              <a:rPr lang="en-US" sz="1000"/>
              <a:t>random stuff in my cow.cpp library (keyboard state, OpenGL objects, etc.) &gt;20</a:t>
            </a:r>
          </a:p>
          <a:p>
            <a:r>
              <a:rPr lang="en-US" sz="1000"/>
              <a:t>random global variables 1</a:t>
            </a:r>
          </a:p>
          <a:p>
            <a:r>
              <a:rPr lang="en-US" sz="1000"/>
              <a:t>building the simulation &gt;6</a:t>
            </a:r>
          </a:p>
          <a:p>
            <a:r>
              <a:rPr lang="en-US" sz="1000"/>
              <a:t>simulation state 3</a:t>
            </a:r>
          </a:p>
          <a:p>
            <a:r>
              <a:rPr lang="en-US" sz="1000"/>
              <a:t>simulation itself &gt;20</a:t>
            </a:r>
          </a:p>
          <a:p>
            <a:r>
              <a:rPr lang="en-US" sz="1000"/>
              <a:t>dragon head mesh 7</a:t>
            </a:r>
          </a:p>
          <a:p>
            <a:r>
              <a:rPr lang="en-US" sz="1000"/>
              <a:t>dragon body mesh 7</a:t>
            </a:r>
          </a:p>
          <a:p>
            <a:r>
              <a:rPr lang="en-US" sz="1000"/>
              <a:t>dragon mesh 7</a:t>
            </a:r>
          </a:p>
          <a:p>
            <a:r>
              <a:rPr lang="en-US" sz="1000"/>
              <a:t>sphere mesh 3</a:t>
            </a:r>
          </a:p>
          <a:p>
            <a:r>
              <a:rPr lang="en-US" sz="1000"/>
              <a:t>cylinder mesh 3</a:t>
            </a:r>
          </a:p>
          <a:p>
            <a:r>
              <a:rPr lang="en-US" sz="1000"/>
              <a:t>motor configuration 3</a:t>
            </a:r>
          </a:p>
          <a:p>
            <a:r>
              <a:rPr lang="en-US" sz="1000"/>
              <a:t>arrays that just move data back and forth between C++ &lt;-&gt; unity 8</a:t>
            </a:r>
          </a:p>
          <a:p>
            <a:r>
              <a:rPr lang="en-US" sz="1000"/>
              <a:t>inverse kinematics &gt;15</a:t>
            </a:r>
          </a:p>
          <a:p>
            <a:r>
              <a:rPr lang="en-US" sz="1000"/>
              <a:t>physics &gt;10</a:t>
            </a:r>
          </a:p>
          <a:p>
            <a:r>
              <a:rPr lang="en-US" sz="1000"/>
              <a:t>----------</a:t>
            </a:r>
          </a:p>
          <a:p>
            <a:r>
              <a:rPr lang="en-US" sz="1000" b="1"/>
              <a:t>definitely at least 100; probably less than 1000</a:t>
            </a:r>
          </a:p>
        </p:txBody>
      </p:sp>
    </p:spTree>
    <p:extLst>
      <p:ext uri="{BB962C8B-B14F-4D97-AF65-F5344CB8AC3E}">
        <p14:creationId xmlns:p14="http://schemas.microsoft.com/office/powerpoint/2010/main" val="3955619726"/>
      </p:ext>
    </p:extLst>
  </p:cSld>
  <p:clrMapOvr>
    <a:masterClrMapping/>
  </p:clrMapOvr>
</p:sld>
</file>

<file path=ppt/slides/slide5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C5A97-B436-BE7C-00C5-838C75267F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09A690-12CE-DF21-2717-04B8031269C2}"/>
              </a:ext>
            </a:extLst>
          </p:cNvPr>
          <p:cNvSpPr>
            <a:spLocks noGrp="1"/>
          </p:cNvSpPr>
          <p:nvPr>
            <p:ph type="title"/>
          </p:nvPr>
        </p:nvSpPr>
        <p:spPr/>
        <p:txBody>
          <a:bodyPr/>
          <a:lstStyle/>
          <a:p>
            <a:r>
              <a:rPr lang="en-US"/>
              <a:t>big O</a:t>
            </a:r>
          </a:p>
        </p:txBody>
      </p:sp>
    </p:spTree>
    <p:extLst>
      <p:ext uri="{BB962C8B-B14F-4D97-AF65-F5344CB8AC3E}">
        <p14:creationId xmlns:p14="http://schemas.microsoft.com/office/powerpoint/2010/main" val="4114267489"/>
      </p:ext>
    </p:extLst>
  </p:cSld>
  <p:clrMapOvr>
    <a:masterClrMapping/>
  </p:clrMapOvr>
</p:sld>
</file>

<file path=ppt/slides/slide5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F9F19-E636-15A1-0029-C8C81065A73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AF709C4-FA49-0848-3F78-77602FAA39D7}"/>
              </a:ext>
            </a:extLst>
          </p:cNvPr>
          <p:cNvSpPr>
            <a:spLocks noGrp="1"/>
          </p:cNvSpPr>
          <p:nvPr>
            <p:ph type="title"/>
          </p:nvPr>
        </p:nvSpPr>
        <p:spPr/>
        <p:txBody>
          <a:bodyPr/>
          <a:lstStyle/>
          <a:p>
            <a:r>
              <a:rPr lang="en-US"/>
              <a:t>big O (math)</a:t>
            </a:r>
          </a:p>
        </p:txBody>
      </p:sp>
    </p:spTree>
    <p:extLst>
      <p:ext uri="{BB962C8B-B14F-4D97-AF65-F5344CB8AC3E}">
        <p14:creationId xmlns:p14="http://schemas.microsoft.com/office/powerpoint/2010/main" val="3970217636"/>
      </p:ext>
    </p:extLst>
  </p:cSld>
  <p:clrMapOvr>
    <a:masterClrMapping/>
  </p:clrMapOvr>
</p:sld>
</file>

<file path=ppt/slides/slide5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2A741-DAB9-2E71-06EF-D94DEC02781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4074250-4A10-6271-E8EF-F466EAF29608}"/>
              </a:ext>
            </a:extLst>
          </p:cNvPr>
          <p:cNvSpPr>
            <a:spLocks noGrp="1"/>
          </p:cNvSpPr>
          <p:nvPr>
            <p:ph type="title"/>
          </p:nvPr>
        </p:nvSpPr>
        <p:spPr/>
        <p:txBody>
          <a:bodyPr/>
          <a:lstStyle/>
          <a:p>
            <a:r>
              <a:rPr lang="en-US"/>
              <a:t>big O (1/2)</a:t>
            </a:r>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D45452EA-FA0A-104B-999D-351D3AFE26D4}"/>
                  </a:ext>
                </a:extLst>
              </p:cNvPr>
              <p:cNvSpPr>
                <a:spLocks noGrp="1"/>
              </p:cNvSpPr>
              <p:nvPr>
                <p:ph sz="quarter" idx="10"/>
              </p:nvPr>
            </p:nvSpPr>
            <p:spPr/>
            <p:txBody>
              <a:bodyPr/>
              <a:lstStyle/>
              <a:p>
                <a:r>
                  <a:rPr lang="en-US" b="1"/>
                  <a:t>big O </a:t>
                </a:r>
                <a:r>
                  <a:rPr lang="en-US"/>
                  <a:t>describes a function’s “limiting behavior”</a:t>
                </a:r>
              </a:p>
              <a:p>
                <a:pPr lvl="1"/>
                <a:r>
                  <a:rPr lang="en-US"/>
                  <a:t>to find a mathematical function’s big O notation...</a:t>
                </a:r>
              </a:p>
              <a:p>
                <a:pPr lvl="2"/>
                <a:r>
                  <a:rPr lang="en-US"/>
                  <a:t>1. throw away the coefficients</a:t>
                </a:r>
              </a:p>
              <a:p>
                <a:pPr lvl="2"/>
                <a:r>
                  <a:rPr lang="en-US"/>
                  <a:t>2. find the fastest growing term</a:t>
                </a:r>
              </a:p>
              <a:p>
                <a:pPr lvl="2"/>
                <a:r>
                  <a:rPr lang="en-US"/>
                  <a:t>3. the function is </a:t>
                </a:r>
                <a14:m>
                  <m:oMath xmlns:m="http://schemas.openxmlformats.org/officeDocument/2006/math">
                    <m:r>
                      <a:rPr lang="en-US" i="1" smtClean="0">
                        <a:latin typeface="Cambria Math" panose="02040503050406030204" pitchFamily="18" charset="0"/>
                      </a:rPr>
                      <m:t>𝒪</m:t>
                    </m:r>
                    <m:r>
                      <a:rPr lang="en-US" b="0" i="1" smtClean="0">
                        <a:latin typeface="Cambria Math" panose="02040503050406030204" pitchFamily="18" charset="0"/>
                      </a:rPr>
                      <m:t>(</m:t>
                    </m:r>
                  </m:oMath>
                </a14:m>
                <a:r>
                  <a:rPr lang="en-US"/>
                  <a:t>FASTEST_GROWING_TERM</a:t>
                </a:r>
                <a14:m>
                  <m:oMath xmlns:m="http://schemas.openxmlformats.org/officeDocument/2006/math">
                    <m:r>
                      <a:rPr lang="en-US" b="0" i="0" smtClean="0">
                        <a:latin typeface="Cambria Math" panose="02040503050406030204" pitchFamily="18" charset="0"/>
                      </a:rPr>
                      <m:t>)</m:t>
                    </m:r>
                  </m:oMath>
                </a14:m>
                <a:r>
                  <a:rPr lang="en-US"/>
                  <a:t> </a:t>
                </a:r>
              </a:p>
              <a:p>
                <a:pPr marL="342886" lvl="1" indent="0">
                  <a:buNone/>
                </a:pPr>
                <a:endParaRPr lang="en-US"/>
              </a:p>
              <a:p>
                <a:pPr lvl="1"/>
                <a:r>
                  <a:rPr lang="en-US" b="1"/>
                  <a:t>e.g.,</a:t>
                </a:r>
                <a:r>
                  <a:rPr lang="en-US"/>
                  <a:t>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0" smtClean="0">
                        <a:latin typeface="Cambria Math" panose="02040503050406030204" pitchFamily="18" charset="0"/>
                      </a:rPr>
                      <m:t>=</m:t>
                    </m:r>
                    <m:r>
                      <a:rPr lang="en-US" i="1">
                        <a:latin typeface="Cambria Math" panose="02040503050406030204" pitchFamily="18" charset="0"/>
                      </a:rPr>
                      <m:t>7</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i="1" smtClean="0">
                            <a:latin typeface="Cambria Math" panose="02040503050406030204" pitchFamily="18" charset="0"/>
                          </a:rPr>
                          <m:t>2</m:t>
                        </m:r>
                      </m:sup>
                    </m:sSup>
                    <m:r>
                      <a:rPr lang="en-US" b="0" i="1" smtClean="0">
                        <a:latin typeface="Cambria Math" panose="02040503050406030204" pitchFamily="18" charset="0"/>
                      </a:rPr>
                      <m:t>+100</m:t>
                    </m:r>
                    <m:r>
                      <a:rPr lang="en-US" b="0" i="1" smtClean="0">
                        <a:latin typeface="Cambria Math" panose="02040503050406030204" pitchFamily="18" charset="0"/>
                      </a:rPr>
                      <m:t>𝑛</m:t>
                    </m:r>
                    <m:r>
                      <a:rPr lang="en-US" b="0" i="1" smtClean="0">
                        <a:latin typeface="Cambria Math" panose="02040503050406030204" pitchFamily="18" charset="0"/>
                      </a:rPr>
                      <m:t>+4732</m:t>
                    </m:r>
                  </m:oMath>
                </a14:m>
                <a:endParaRPr lang="en-US" b="0" i="1">
                  <a:latin typeface="Cambria Math" panose="02040503050406030204" pitchFamily="18" charset="0"/>
                </a:endParaRPr>
              </a:p>
              <a:p>
                <a:pPr lvl="2"/>
                <a:r>
                  <a:rPr lang="en-US"/>
                  <a:t>1. throw away coefficients to get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i="1" smtClean="0">
                            <a:latin typeface="Cambria Math" panose="02040503050406030204" pitchFamily="18" charset="0"/>
                          </a:rPr>
                          <m:t>2</m:t>
                        </m:r>
                      </m:sup>
                    </m:sSup>
                    <m:r>
                      <a:rPr lang="en-US" b="0" i="0"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oMath>
                </a14:m>
                <a:endParaRPr lang="en-US" b="0" i="1">
                  <a:latin typeface="Cambria Math" panose="02040503050406030204" pitchFamily="18" charset="0"/>
                </a:endParaRPr>
              </a:p>
              <a:p>
                <a:pPr lvl="2"/>
                <a:r>
                  <a:rPr lang="en-US" b="0"/>
                  <a:t>2. fastest growing term is</a:t>
                </a:r>
                <a:r>
                  <a:rPr lang="en-US"/>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𝑛</m:t>
                        </m:r>
                      </m:e>
                      <m:sup>
                        <m:r>
                          <a:rPr lang="en-US" i="1">
                            <a:latin typeface="Cambria Math" panose="02040503050406030204" pitchFamily="18" charset="0"/>
                          </a:rPr>
                          <m:t>2</m:t>
                        </m:r>
                      </m:sup>
                    </m:sSup>
                  </m:oMath>
                </a14:m>
                <a:endParaRPr lang="en-US" i="1">
                  <a:latin typeface="Cambria Math" panose="02040503050406030204" pitchFamily="18" charset="0"/>
                </a:endParaRPr>
              </a:p>
              <a:p>
                <a:pPr lvl="2"/>
                <a:r>
                  <a:rPr lang="en-US"/>
                  <a:t>3. </a:t>
                </a:r>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𝑛</m:t>
                        </m:r>
                      </m:e>
                    </m:d>
                  </m:oMath>
                </a14:m>
                <a:r>
                  <a:rPr lang="en-US" b="0"/>
                  <a:t> is </a:t>
                </a:r>
                <a14:m>
                  <m:oMath xmlns:m="http://schemas.openxmlformats.org/officeDocument/2006/math">
                    <m:r>
                      <a:rPr lang="en-US" i="1" smtClean="0">
                        <a:latin typeface="Cambria Math" panose="02040503050406030204" pitchFamily="18" charset="0"/>
                      </a:rPr>
                      <m:t>𝒪</m:t>
                    </m:r>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𝑛</m:t>
                        </m:r>
                      </m:e>
                      <m:sup>
                        <m:r>
                          <a:rPr lang="en-US" i="1">
                            <a:latin typeface="Cambria Math" panose="02040503050406030204" pitchFamily="18" charset="0"/>
                          </a:rPr>
                          <m:t>2</m:t>
                        </m:r>
                      </m:sup>
                    </m:sSup>
                    <m:r>
                      <a:rPr lang="en-US" b="0" i="1" smtClean="0">
                        <a:latin typeface="Cambria Math" panose="02040503050406030204" pitchFamily="18" charset="0"/>
                      </a:rPr>
                      <m:t>)</m:t>
                    </m:r>
                  </m:oMath>
                </a14:m>
                <a:endParaRPr lang="en-US"/>
              </a:p>
            </p:txBody>
          </p:sp>
        </mc:Choice>
        <mc:Fallback xmlns="">
          <p:sp>
            <p:nvSpPr>
              <p:cNvPr id="9" name="Content Placeholder 8">
                <a:extLst>
                  <a:ext uri="{FF2B5EF4-FFF2-40B4-BE49-F238E27FC236}">
                    <a16:creationId xmlns:a16="http://schemas.microsoft.com/office/drawing/2014/main" id="{99841267-28AC-80B7-D7CA-A6B24D4AD304}"/>
                  </a:ext>
                </a:extLst>
              </p:cNvPr>
              <p:cNvSpPr>
                <a:spLocks noGrp="1" noRot="1" noChangeAspect="1" noMove="1" noResize="1" noEditPoints="1" noAdjustHandles="1" noChangeArrowheads="1" noChangeShapeType="1" noTextEdit="1"/>
              </p:cNvSpPr>
              <p:nvPr>
                <p:ph sz="quarter" idx="10"/>
              </p:nvPr>
            </p:nvSpPr>
            <p:spPr>
              <a:blipFill>
                <a:blip r:embed="rId3"/>
                <a:stretch>
                  <a:fillRect l="-593" t="-747"/>
                </a:stretch>
              </a:blipFill>
            </p:spPr>
            <p:txBody>
              <a:bodyPr/>
              <a:lstStyle/>
              <a:p>
                <a:r>
                  <a:rPr lang="en-US">
                    <a:noFill/>
                  </a:rPr>
                  <a:t> </a:t>
                </a:r>
              </a:p>
            </p:txBody>
          </p:sp>
        </mc:Fallback>
      </mc:AlternateContent>
    </p:spTree>
    <p:extLst>
      <p:ext uri="{BB962C8B-B14F-4D97-AF65-F5344CB8AC3E}">
        <p14:creationId xmlns:p14="http://schemas.microsoft.com/office/powerpoint/2010/main" val="72036019"/>
      </p:ext>
    </p:extLst>
  </p:cSld>
  <p:clrMapOvr>
    <a:masterClrMapping/>
  </p:clrMapOvr>
</p:sld>
</file>

<file path=ppt/slides/slide5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158A5-0240-EA67-350A-246FAA5AB83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F3BD9E3-0C9A-0EBF-817C-278455D3A649}"/>
              </a:ext>
            </a:extLst>
          </p:cNvPr>
          <p:cNvSpPr>
            <a:spLocks noGrp="1"/>
          </p:cNvSpPr>
          <p:nvPr>
            <p:ph type="title"/>
          </p:nvPr>
        </p:nvSpPr>
        <p:spPr/>
        <p:txBody>
          <a:bodyPr/>
          <a:lstStyle/>
          <a:p>
            <a:r>
              <a:rPr lang="en-US"/>
              <a:t>big O (2/2) </a:t>
            </a:r>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87575C34-FDDA-31FD-E5FA-83CA029F66CE}"/>
                  </a:ext>
                </a:extLst>
              </p:cNvPr>
              <p:cNvSpPr>
                <a:spLocks noGrp="1"/>
              </p:cNvSpPr>
              <p:nvPr>
                <p:ph sz="quarter" idx="10"/>
              </p:nvPr>
            </p:nvSpPr>
            <p:spPr/>
            <p:txBody>
              <a:bodyPr>
                <a:noAutofit/>
              </a:bodyPr>
              <a:lstStyle/>
              <a:p>
                <a:pPr lvl="1"/>
                <a:r>
                  <a:rPr lang="en-US" sz="1400"/>
                  <a:t>what is </a:t>
                </a:r>
                <a14:m>
                  <m:oMath xmlns:m="http://schemas.openxmlformats.org/officeDocument/2006/math">
                    <m:r>
                      <a:rPr lang="en-US" sz="1400" i="1">
                        <a:latin typeface="Cambria Math" panose="02040503050406030204" pitchFamily="18" charset="0"/>
                      </a:rPr>
                      <m:t>𝑓</m:t>
                    </m:r>
                    <m:d>
                      <m:dPr>
                        <m:ctrlPr>
                          <a:rPr lang="en-US" sz="1400" i="1">
                            <a:latin typeface="Cambria Math" panose="02040503050406030204" pitchFamily="18" charset="0"/>
                          </a:rPr>
                        </m:ctrlPr>
                      </m:dPr>
                      <m:e>
                        <m:r>
                          <a:rPr lang="en-US" sz="1400" i="1">
                            <a:latin typeface="Cambria Math" panose="02040503050406030204" pitchFamily="18" charset="0"/>
                          </a:rPr>
                          <m:t>𝑛</m:t>
                        </m:r>
                      </m:e>
                    </m:d>
                    <m:r>
                      <a:rPr lang="en-US" sz="1400">
                        <a:latin typeface="Cambria Math" panose="02040503050406030204" pitchFamily="18" charset="0"/>
                      </a:rPr>
                      <m:t>=</m:t>
                    </m:r>
                    <m:r>
                      <a:rPr lang="en-US" sz="1400" i="1">
                        <a:latin typeface="Cambria Math" panose="02040503050406030204" pitchFamily="18" charset="0"/>
                      </a:rPr>
                      <m:t>77</m:t>
                    </m:r>
                    <m:sSup>
                      <m:sSupPr>
                        <m:ctrlPr>
                          <a:rPr lang="en-US" sz="1400" i="1">
                            <a:latin typeface="Cambria Math" panose="02040503050406030204" pitchFamily="18" charset="0"/>
                          </a:rPr>
                        </m:ctrlPr>
                      </m:sSupPr>
                      <m:e>
                        <m:r>
                          <a:rPr lang="en-US" sz="1400" i="1">
                            <a:latin typeface="Cambria Math" panose="02040503050406030204" pitchFamily="18" charset="0"/>
                          </a:rPr>
                          <m:t>𝑛</m:t>
                        </m:r>
                      </m:e>
                      <m:sup>
                        <m:r>
                          <a:rPr lang="en-US" sz="1400" i="1">
                            <a:latin typeface="Cambria Math" panose="02040503050406030204" pitchFamily="18" charset="0"/>
                          </a:rPr>
                          <m:t>7</m:t>
                        </m:r>
                      </m:sup>
                    </m:sSup>
                    <m:r>
                      <a:rPr lang="en-US" sz="1400" i="1">
                        <a:latin typeface="Cambria Math" panose="02040503050406030204" pitchFamily="18" charset="0"/>
                      </a:rPr>
                      <m:t>+</m:t>
                    </m:r>
                    <m:sSup>
                      <m:sSupPr>
                        <m:ctrlPr>
                          <a:rPr lang="en-US" sz="1400" i="1">
                            <a:latin typeface="Cambria Math" panose="02040503050406030204" pitchFamily="18" charset="0"/>
                          </a:rPr>
                        </m:ctrlPr>
                      </m:sSupPr>
                      <m:e>
                        <m:r>
                          <a:rPr lang="en-US" sz="1400" i="1">
                            <a:latin typeface="Cambria Math" panose="02040503050406030204" pitchFamily="18" charset="0"/>
                          </a:rPr>
                          <m:t>2</m:t>
                        </m:r>
                      </m:e>
                      <m:sup>
                        <m:r>
                          <a:rPr lang="en-US" sz="1400" i="1">
                            <a:latin typeface="Cambria Math" panose="02040503050406030204" pitchFamily="18" charset="0"/>
                          </a:rPr>
                          <m:t>𝑛</m:t>
                        </m:r>
                      </m:sup>
                    </m:sSup>
                  </m:oMath>
                </a14:m>
                <a:r>
                  <a:rPr lang="en-US" sz="1400" i="1">
                    <a:latin typeface="Cambria Math" panose="02040503050406030204" pitchFamily="18" charset="0"/>
                  </a:rPr>
                  <a:t> </a:t>
                </a:r>
                <a:r>
                  <a:rPr lang="en-US" sz="1400"/>
                  <a:t>in big O notation?</a:t>
                </a:r>
                <a:r>
                  <a:rPr lang="en-US" sz="1400">
                    <a:latin typeface="Cambria Math" panose="02040503050406030204" pitchFamily="18" charset="0"/>
                  </a:rPr>
                  <a:t> </a:t>
                </a:r>
                <a:endParaRPr lang="en-US" sz="1400" i="1">
                  <a:latin typeface="Cambria Math" panose="02040503050406030204" pitchFamily="18" charset="0"/>
                </a:endParaRPr>
              </a:p>
              <a:p>
                <a:pPr lvl="2"/>
                <a14:m>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rPr>
                          <m:t>𝑛</m:t>
                        </m:r>
                      </m:e>
                      <m:sup>
                        <m:r>
                          <a:rPr lang="en-US" sz="1400" i="1">
                            <a:latin typeface="Cambria Math" panose="02040503050406030204" pitchFamily="18" charset="0"/>
                          </a:rPr>
                          <m:t>7</m:t>
                        </m:r>
                      </m:sup>
                    </m:sSup>
                    <m:r>
                      <a:rPr lang="en-US" sz="1400">
                        <a:latin typeface="Cambria Math" panose="02040503050406030204" pitchFamily="18" charset="0"/>
                      </a:rPr>
                      <m:t>+</m:t>
                    </m:r>
                    <m:sSup>
                      <m:sSupPr>
                        <m:ctrlPr>
                          <a:rPr lang="en-US" sz="1400" i="1">
                            <a:latin typeface="Cambria Math" panose="02040503050406030204" pitchFamily="18" charset="0"/>
                          </a:rPr>
                        </m:ctrlPr>
                      </m:sSupPr>
                      <m:e>
                        <m:r>
                          <a:rPr lang="en-US" sz="1400" i="1">
                            <a:latin typeface="Cambria Math" panose="02040503050406030204" pitchFamily="18" charset="0"/>
                          </a:rPr>
                          <m:t>2</m:t>
                        </m:r>
                      </m:e>
                      <m:sup>
                        <m:r>
                          <a:rPr lang="en-US" sz="1400" i="1">
                            <a:latin typeface="Cambria Math" panose="02040503050406030204" pitchFamily="18" charset="0"/>
                          </a:rPr>
                          <m:t>𝑛</m:t>
                        </m:r>
                      </m:sup>
                    </m:sSup>
                  </m:oMath>
                </a14:m>
                <a:endParaRPr lang="en-US" sz="1400" i="1">
                  <a:latin typeface="Cambria Math" panose="02040503050406030204" pitchFamily="18" charset="0"/>
                </a:endParaRPr>
              </a:p>
              <a:p>
                <a:pPr lvl="2"/>
                <a14:m>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rPr>
                          <m:t>2</m:t>
                        </m:r>
                      </m:e>
                      <m:sup>
                        <m:r>
                          <a:rPr lang="en-US" sz="1400" i="1">
                            <a:latin typeface="Cambria Math" panose="02040503050406030204" pitchFamily="18" charset="0"/>
                          </a:rPr>
                          <m:t>𝑛</m:t>
                        </m:r>
                      </m:sup>
                    </m:sSup>
                  </m:oMath>
                </a14:m>
                <a:r>
                  <a:rPr lang="en-US" sz="1400">
                    <a:solidFill>
                      <a:schemeClr val="accent5"/>
                    </a:solidFill>
                  </a:rPr>
                  <a:t>		🧪 </a:t>
                </a:r>
                <a:r>
                  <a:rPr lang="en-US" sz="1400">
                    <a:solidFill>
                      <a:schemeClr val="accent4"/>
                    </a:solidFill>
                  </a:rPr>
                  <a:t>is this true?</a:t>
                </a:r>
                <a:endParaRPr lang="en-US" sz="1400" i="1">
                  <a:solidFill>
                    <a:schemeClr val="accent5"/>
                  </a:solidFill>
                  <a:latin typeface="Cambria Math" panose="02040503050406030204" pitchFamily="18" charset="0"/>
                </a:endParaRPr>
              </a:p>
              <a:p>
                <a:pPr lvl="2"/>
                <a14:m>
                  <m:oMath xmlns:m="http://schemas.openxmlformats.org/officeDocument/2006/math">
                    <m:r>
                      <a:rPr lang="en-US" sz="1400" i="1">
                        <a:latin typeface="Cambria Math" panose="02040503050406030204" pitchFamily="18" charset="0"/>
                      </a:rPr>
                      <m:t>𝒪</m:t>
                    </m:r>
                    <m:r>
                      <a:rPr lang="en-US" sz="1400" i="1">
                        <a:latin typeface="Cambria Math" panose="02040503050406030204" pitchFamily="18" charset="0"/>
                      </a:rPr>
                      <m:t>(</m:t>
                    </m:r>
                    <m:sSup>
                      <m:sSupPr>
                        <m:ctrlPr>
                          <a:rPr lang="en-US" sz="1400" i="1">
                            <a:latin typeface="Cambria Math" panose="02040503050406030204" pitchFamily="18" charset="0"/>
                          </a:rPr>
                        </m:ctrlPr>
                      </m:sSupPr>
                      <m:e>
                        <m:r>
                          <a:rPr lang="en-US" sz="1400" i="1">
                            <a:latin typeface="Cambria Math" panose="02040503050406030204" pitchFamily="18" charset="0"/>
                          </a:rPr>
                          <m:t>2</m:t>
                        </m:r>
                      </m:e>
                      <m:sup>
                        <m:r>
                          <a:rPr lang="en-US" sz="1400" i="1">
                            <a:latin typeface="Cambria Math" panose="02040503050406030204" pitchFamily="18" charset="0"/>
                          </a:rPr>
                          <m:t>𝑛</m:t>
                        </m:r>
                      </m:sup>
                    </m:sSup>
                    <m:r>
                      <a:rPr lang="en-US" sz="1400" i="1">
                        <a:latin typeface="Cambria Math" panose="02040503050406030204" pitchFamily="18" charset="0"/>
                      </a:rPr>
                      <m:t>)</m:t>
                    </m:r>
                  </m:oMath>
                </a14:m>
                <a:endParaRPr lang="en-US" sz="1400"/>
              </a:p>
              <a:p>
                <a:pPr lvl="2"/>
                <a:endParaRPr lang="en-US" sz="1400">
                  <a:solidFill>
                    <a:schemeClr val="accent5"/>
                  </a:solidFill>
                </a:endParaRPr>
              </a:p>
              <a:p>
                <a:pPr lvl="1"/>
                <a:r>
                  <a:rPr lang="en-US" sz="1400"/>
                  <a:t>what is </a:t>
                </a:r>
                <a14:m>
                  <m:oMath xmlns:m="http://schemas.openxmlformats.org/officeDocument/2006/math">
                    <m:r>
                      <a:rPr lang="en-US" sz="1400" i="1">
                        <a:latin typeface="Cambria Math" panose="02040503050406030204" pitchFamily="18" charset="0"/>
                      </a:rPr>
                      <m:t>𝑓</m:t>
                    </m:r>
                    <m:d>
                      <m:dPr>
                        <m:ctrlPr>
                          <a:rPr lang="en-US" sz="1400" i="1">
                            <a:latin typeface="Cambria Math" panose="02040503050406030204" pitchFamily="18" charset="0"/>
                          </a:rPr>
                        </m:ctrlPr>
                      </m:dPr>
                      <m:e>
                        <m:r>
                          <a:rPr lang="en-US" sz="1400" i="1">
                            <a:latin typeface="Cambria Math" panose="02040503050406030204" pitchFamily="18" charset="0"/>
                          </a:rPr>
                          <m:t>𝑛</m:t>
                        </m:r>
                      </m:e>
                    </m:d>
                    <m:r>
                      <a:rPr lang="en-US" sz="1400">
                        <a:latin typeface="Cambria Math" panose="02040503050406030204" pitchFamily="18" charset="0"/>
                      </a:rPr>
                      <m:t>=</m:t>
                    </m:r>
                    <m:r>
                      <a:rPr lang="en-US" sz="1400" i="1">
                        <a:latin typeface="Cambria Math" panose="02040503050406030204" pitchFamily="18" charset="0"/>
                      </a:rPr>
                      <m:t>100</m:t>
                    </m:r>
                  </m:oMath>
                </a14:m>
                <a:r>
                  <a:rPr lang="en-US" sz="1400"/>
                  <a:t> in big O notation?</a:t>
                </a:r>
                <a:endParaRPr lang="en-US" sz="1400" i="1">
                  <a:latin typeface="Cambria Math" panose="02040503050406030204" pitchFamily="18" charset="0"/>
                </a:endParaRPr>
              </a:p>
              <a:p>
                <a:pPr lvl="2"/>
                <a14:m>
                  <m:oMath xmlns:m="http://schemas.openxmlformats.org/officeDocument/2006/math">
                    <m:r>
                      <a:rPr lang="en-US" sz="1400" i="1">
                        <a:latin typeface="Cambria Math" panose="02040503050406030204" pitchFamily="18" charset="0"/>
                      </a:rPr>
                      <m:t>1</m:t>
                    </m:r>
                  </m:oMath>
                </a14:m>
                <a:endParaRPr lang="en-US" sz="1400" i="1">
                  <a:latin typeface="Cambria Math" panose="02040503050406030204" pitchFamily="18" charset="0"/>
                </a:endParaRPr>
              </a:p>
              <a:p>
                <a:pPr lvl="2"/>
                <a14:m>
                  <m:oMath xmlns:m="http://schemas.openxmlformats.org/officeDocument/2006/math">
                    <m:r>
                      <a:rPr lang="en-US" sz="1400" i="1">
                        <a:latin typeface="Cambria Math" panose="02040503050406030204" pitchFamily="18" charset="0"/>
                      </a:rPr>
                      <m:t>1</m:t>
                    </m:r>
                  </m:oMath>
                </a14:m>
                <a:r>
                  <a:rPr lang="en-US" sz="1400">
                    <a:solidFill>
                      <a:schemeClr val="accent6"/>
                    </a:solidFill>
                  </a:rPr>
                  <a:t>		🧠</a:t>
                </a:r>
                <a:r>
                  <a:rPr lang="en-US" sz="1400">
                    <a:solidFill>
                      <a:schemeClr val="accent5"/>
                    </a:solidFill>
                  </a:rPr>
                  <a:t> </a:t>
                </a:r>
                <a:r>
                  <a:rPr lang="en-US" sz="1400">
                    <a:solidFill>
                      <a:srgbClr val="FF6DC6"/>
                    </a:solidFill>
                  </a:rPr>
                  <a:t>what does this </a:t>
                </a:r>
                <a:r>
                  <a:rPr lang="en-US" sz="1400" i="1">
                    <a:solidFill>
                      <a:srgbClr val="FF6DC6"/>
                    </a:solidFill>
                  </a:rPr>
                  <a:t>mean</a:t>
                </a:r>
                <a:r>
                  <a:rPr lang="en-US" sz="1400">
                    <a:solidFill>
                      <a:srgbClr val="FF6DC6"/>
                    </a:solidFill>
                  </a:rPr>
                  <a:t>?</a:t>
                </a:r>
              </a:p>
              <a:p>
                <a:pPr lvl="2"/>
                <a14:m>
                  <m:oMath xmlns:m="http://schemas.openxmlformats.org/officeDocument/2006/math">
                    <m:r>
                      <a:rPr lang="en-US" sz="1400" i="1">
                        <a:latin typeface="Cambria Math" panose="02040503050406030204" pitchFamily="18" charset="0"/>
                      </a:rPr>
                      <m:t>𝒪</m:t>
                    </m:r>
                    <m:r>
                      <a:rPr lang="en-US" sz="1400" i="1">
                        <a:latin typeface="Cambria Math" panose="02040503050406030204" pitchFamily="18" charset="0"/>
                      </a:rPr>
                      <m:t>(1)</m:t>
                    </m:r>
                  </m:oMath>
                </a14:m>
                <a:endParaRPr lang="en-US" sz="1400"/>
              </a:p>
              <a:p>
                <a:pPr lvl="2"/>
                <a:endParaRPr lang="en-US" sz="1400">
                  <a:solidFill>
                    <a:schemeClr val="accent5"/>
                  </a:solidFill>
                </a:endParaRPr>
              </a:p>
              <a:p>
                <a:pPr lvl="1"/>
                <a:r>
                  <a:rPr lang="en-US" sz="1400"/>
                  <a:t>what is </a:t>
                </a:r>
                <a14:m>
                  <m:oMath xmlns:m="http://schemas.openxmlformats.org/officeDocument/2006/math">
                    <m:r>
                      <a:rPr lang="en-US" sz="1400" i="1">
                        <a:latin typeface="Cambria Math" panose="02040503050406030204" pitchFamily="18" charset="0"/>
                      </a:rPr>
                      <m:t>𝑓</m:t>
                    </m:r>
                    <m:d>
                      <m:dPr>
                        <m:ctrlPr>
                          <a:rPr lang="en-US" sz="1400" i="1">
                            <a:latin typeface="Cambria Math" panose="02040503050406030204" pitchFamily="18" charset="0"/>
                          </a:rPr>
                        </m:ctrlPr>
                      </m:dPr>
                      <m:e>
                        <m:r>
                          <a:rPr lang="en-US" sz="1400" i="1">
                            <a:latin typeface="Cambria Math" panose="02040503050406030204" pitchFamily="18" charset="0"/>
                          </a:rPr>
                          <m:t>𝑛</m:t>
                        </m:r>
                      </m:e>
                    </m:d>
                    <m:r>
                      <a:rPr lang="en-US" sz="1400">
                        <a:latin typeface="Cambria Math" panose="02040503050406030204" pitchFamily="18" charset="0"/>
                      </a:rPr>
                      <m:t>=</m:t>
                    </m:r>
                    <m:r>
                      <a:rPr lang="en-US" sz="1400" i="1">
                        <a:latin typeface="Cambria Math" panose="02040503050406030204" pitchFamily="18" charset="0"/>
                      </a:rPr>
                      <m:t>𝑛</m:t>
                    </m:r>
                    <m:r>
                      <a:rPr lang="en-US" sz="1400" i="1">
                        <a:latin typeface="Cambria Math" panose="02040503050406030204" pitchFamily="18" charset="0"/>
                      </a:rPr>
                      <m:t>+</m:t>
                    </m:r>
                    <m:r>
                      <m:rPr>
                        <m:sty m:val="p"/>
                      </m:rPr>
                      <a:rPr lang="en-US" sz="1400">
                        <a:latin typeface="Cambria Math" panose="02040503050406030204" pitchFamily="18" charset="0"/>
                      </a:rPr>
                      <m:t>log</m:t>
                    </m:r>
                    <m:r>
                      <a:rPr lang="en-US" sz="1400" i="1">
                        <a:latin typeface="Cambria Math" panose="02040503050406030204" pitchFamily="18" charset="0"/>
                      </a:rPr>
                      <m:t>⁡(</m:t>
                    </m:r>
                    <m:r>
                      <a:rPr lang="en-US" sz="1400" i="1">
                        <a:latin typeface="Cambria Math" panose="02040503050406030204" pitchFamily="18" charset="0"/>
                      </a:rPr>
                      <m:t>𝑛</m:t>
                    </m:r>
                    <m:r>
                      <a:rPr lang="en-US" sz="1400" i="1">
                        <a:latin typeface="Cambria Math" panose="02040503050406030204" pitchFamily="18" charset="0"/>
                      </a:rPr>
                      <m:t>)</m:t>
                    </m:r>
                  </m:oMath>
                </a14:m>
                <a:r>
                  <a:rPr lang="en-US" sz="1400"/>
                  <a:t> in big O notation?</a:t>
                </a:r>
                <a:endParaRPr lang="en-US" sz="1400" i="1">
                  <a:latin typeface="Cambria Math" panose="02040503050406030204" pitchFamily="18" charset="0"/>
                </a:endParaRPr>
              </a:p>
              <a:p>
                <a:pPr lvl="2"/>
                <a14:m>
                  <m:oMath xmlns:m="http://schemas.openxmlformats.org/officeDocument/2006/math">
                    <m:r>
                      <a:rPr lang="en-US" sz="1400" i="1">
                        <a:latin typeface="Cambria Math" panose="02040503050406030204" pitchFamily="18" charset="0"/>
                      </a:rPr>
                      <m:t>𝑛</m:t>
                    </m:r>
                    <m:r>
                      <a:rPr lang="en-US" sz="1400" i="1">
                        <a:latin typeface="Cambria Math" panose="02040503050406030204" pitchFamily="18" charset="0"/>
                      </a:rPr>
                      <m:t>+</m:t>
                    </m:r>
                    <m:r>
                      <m:rPr>
                        <m:sty m:val="p"/>
                      </m:rPr>
                      <a:rPr lang="en-US" sz="1400">
                        <a:latin typeface="Cambria Math" panose="02040503050406030204" pitchFamily="18" charset="0"/>
                      </a:rPr>
                      <m:t>log</m:t>
                    </m:r>
                    <m:r>
                      <a:rPr lang="en-US" sz="1400" i="1">
                        <a:latin typeface="Cambria Math" panose="02040503050406030204" pitchFamily="18" charset="0"/>
                      </a:rPr>
                      <m:t>⁡(</m:t>
                    </m:r>
                    <m:r>
                      <a:rPr lang="en-US" sz="1400" i="1">
                        <a:latin typeface="Cambria Math" panose="02040503050406030204" pitchFamily="18" charset="0"/>
                      </a:rPr>
                      <m:t>𝑛</m:t>
                    </m:r>
                    <m:r>
                      <a:rPr lang="en-US" sz="1400" i="1">
                        <a:latin typeface="Cambria Math" panose="02040503050406030204" pitchFamily="18" charset="0"/>
                      </a:rPr>
                      <m:t>)</m:t>
                    </m:r>
                  </m:oMath>
                </a14:m>
                <a:endParaRPr lang="en-US" sz="1400" i="1">
                  <a:latin typeface="Cambria Math" panose="02040503050406030204" pitchFamily="18" charset="0"/>
                </a:endParaRPr>
              </a:p>
              <a:p>
                <a:pPr lvl="2"/>
                <a14:m>
                  <m:oMath xmlns:m="http://schemas.openxmlformats.org/officeDocument/2006/math">
                    <m:r>
                      <a:rPr lang="en-US" sz="1400" i="1">
                        <a:latin typeface="Cambria Math" panose="02040503050406030204" pitchFamily="18" charset="0"/>
                      </a:rPr>
                      <m:t>𝑛</m:t>
                    </m:r>
                  </m:oMath>
                </a14:m>
                <a:r>
                  <a:rPr lang="en-US" sz="1400"/>
                  <a:t>	</a:t>
                </a:r>
                <a:r>
                  <a:rPr lang="en-US" sz="1400">
                    <a:solidFill>
                      <a:schemeClr val="accent5"/>
                    </a:solidFill>
                  </a:rPr>
                  <a:t>	🧪 </a:t>
                </a:r>
                <a:r>
                  <a:rPr lang="en-US" sz="1400">
                    <a:solidFill>
                      <a:schemeClr val="accent4"/>
                    </a:solidFill>
                  </a:rPr>
                  <a:t>is this true?</a:t>
                </a:r>
              </a:p>
              <a:p>
                <a:pPr lvl="2"/>
                <a14:m>
                  <m:oMath xmlns:m="http://schemas.openxmlformats.org/officeDocument/2006/math">
                    <m:r>
                      <a:rPr lang="en-US" sz="1400" i="1">
                        <a:latin typeface="Cambria Math" panose="02040503050406030204" pitchFamily="18" charset="0"/>
                      </a:rPr>
                      <m:t>𝒪</m:t>
                    </m:r>
                    <m:r>
                      <a:rPr lang="en-US" sz="1400" i="1">
                        <a:latin typeface="Cambria Math" panose="02040503050406030204" pitchFamily="18" charset="0"/>
                      </a:rPr>
                      <m:t>(</m:t>
                    </m:r>
                    <m:r>
                      <a:rPr lang="en-US" sz="1400" i="1">
                        <a:latin typeface="Cambria Math" panose="02040503050406030204" pitchFamily="18" charset="0"/>
                      </a:rPr>
                      <m:t>𝑛</m:t>
                    </m:r>
                    <m:r>
                      <a:rPr lang="en-US" sz="1400" i="1">
                        <a:latin typeface="Cambria Math" panose="02040503050406030204" pitchFamily="18" charset="0"/>
                      </a:rPr>
                      <m:t>)</m:t>
                    </m:r>
                  </m:oMath>
                </a14:m>
                <a:endParaRPr lang="en-US" sz="1400"/>
              </a:p>
              <a:p>
                <a:pPr lvl="2"/>
                <a:endParaRPr lang="en-US" sz="1400">
                  <a:solidFill>
                    <a:schemeClr val="accent5"/>
                  </a:solidFill>
                </a:endParaRPr>
              </a:p>
              <a:p>
                <a:pPr lvl="2"/>
                <a:endParaRPr lang="en-US" sz="1400">
                  <a:solidFill>
                    <a:schemeClr val="accent5"/>
                  </a:solidFill>
                </a:endParaRPr>
              </a:p>
            </p:txBody>
          </p:sp>
        </mc:Choice>
        <mc:Fallback xmlns="">
          <p:sp>
            <p:nvSpPr>
              <p:cNvPr id="9" name="Content Placeholder 8">
                <a:extLst>
                  <a:ext uri="{FF2B5EF4-FFF2-40B4-BE49-F238E27FC236}">
                    <a16:creationId xmlns:a16="http://schemas.microsoft.com/office/drawing/2014/main" id="{99841267-28AC-80B7-D7CA-A6B24D4AD304}"/>
                  </a:ext>
                </a:extLst>
              </p:cNvPr>
              <p:cNvSpPr>
                <a:spLocks noGrp="1" noRot="1" noChangeAspect="1" noMove="1" noResize="1" noEditPoints="1" noAdjustHandles="1" noChangeArrowheads="1" noChangeShapeType="1" noTextEdit="1"/>
              </p:cNvSpPr>
              <p:nvPr>
                <p:ph sz="quarter" idx="10"/>
              </p:nvPr>
            </p:nvSpPr>
            <p:spPr>
              <a:blipFill>
                <a:blip r:embed="rId3"/>
                <a:stretch>
                  <a:fillRect t="-299"/>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6108A8B7-F877-EB2C-E5A2-B8115C69FB7B}"/>
              </a:ext>
            </a:extLst>
          </p:cNvPr>
          <p:cNvPicPr>
            <a:picLocks noChangeAspect="1"/>
          </p:cNvPicPr>
          <p:nvPr/>
        </p:nvPicPr>
        <p:blipFill>
          <a:blip r:embed="rId4"/>
          <a:stretch>
            <a:fillRect/>
          </a:stretch>
        </p:blipFill>
        <p:spPr>
          <a:xfrm>
            <a:off x="4873486" y="1279215"/>
            <a:ext cx="3654287" cy="699162"/>
          </a:xfrm>
          <a:prstGeom prst="rect">
            <a:avLst/>
          </a:prstGeom>
          <a:ln>
            <a:solidFill>
              <a:schemeClr val="tx1"/>
            </a:solidFill>
          </a:ln>
        </p:spPr>
      </p:pic>
    </p:spTree>
    <p:extLst>
      <p:ext uri="{BB962C8B-B14F-4D97-AF65-F5344CB8AC3E}">
        <p14:creationId xmlns:p14="http://schemas.microsoft.com/office/powerpoint/2010/main" val="967298440"/>
      </p:ext>
    </p:extLst>
  </p:cSld>
  <p:clrMapOvr>
    <a:masterClrMapping/>
  </p:clrMapOvr>
</p:sld>
</file>

<file path=ppt/slides/slide5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73D1409-2169-F7C1-A9B5-E291CB03DCC2}"/>
              </a:ext>
            </a:extLst>
          </p:cNvPr>
          <p:cNvSpPr>
            <a:spLocks noGrp="1"/>
          </p:cNvSpPr>
          <p:nvPr>
            <p:ph type="title"/>
          </p:nvPr>
        </p:nvSpPr>
        <p:spPr/>
        <p:txBody>
          <a:bodyPr/>
          <a:lstStyle/>
          <a:p>
            <a:r>
              <a:rPr lang="en-US"/>
              <a:t>logarithmic growth</a:t>
            </a:r>
            <a:br>
              <a:rPr lang="en-US"/>
            </a:br>
            <a:r>
              <a:rPr lang="en-US"/>
              <a:t>is the inverse of exponential growth</a:t>
            </a:r>
            <a:br>
              <a:rPr lang="en-US"/>
            </a:br>
            <a:r>
              <a:rPr lang="en-US" sz="2400"/>
              <a:t>(the best slide transition in the entire class)</a:t>
            </a:r>
            <a:endParaRPr lang="en-US"/>
          </a:p>
        </p:txBody>
      </p:sp>
    </p:spTree>
    <p:extLst>
      <p:ext uri="{BB962C8B-B14F-4D97-AF65-F5344CB8AC3E}">
        <p14:creationId xmlns:p14="http://schemas.microsoft.com/office/powerpoint/2010/main" val="461801857"/>
      </p:ext>
    </p:extLst>
  </p:cSld>
  <p:clrMapOvr>
    <a:masterClrMapping/>
  </p:clrMapOvr>
</p:sld>
</file>

<file path=ppt/slides/slide5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541955D-45F7-B595-980E-86B3AA172267}"/>
              </a:ext>
            </a:extLst>
          </p:cNvPr>
          <p:cNvSpPr>
            <a:spLocks noGrp="1"/>
          </p:cNvSpPr>
          <p:nvPr>
            <p:ph type="title"/>
          </p:nvPr>
        </p:nvSpPr>
        <p:spPr/>
        <p:txBody>
          <a:bodyPr/>
          <a:lstStyle/>
          <a:p>
            <a:pPr algn="l"/>
            <a:r>
              <a:rPr lang="en-US"/>
              <a:t>y = 2</a:t>
            </a:r>
            <a:r>
              <a:rPr lang="en-US" baseline="30000"/>
              <a:t>x</a:t>
            </a:r>
            <a:br>
              <a:rPr lang="en-US"/>
            </a:br>
            <a:br>
              <a:rPr lang="en-US" baseline="30000"/>
            </a:br>
            <a:br>
              <a:rPr lang="en-US" baseline="30000"/>
            </a:br>
            <a:br>
              <a:rPr lang="en-US" baseline="30000"/>
            </a:br>
            <a:br>
              <a:rPr lang="en-US" baseline="30000">
                <a:solidFill>
                  <a:schemeClr val="bg2">
                    <a:lumMod val="60000"/>
                    <a:lumOff val="40000"/>
                  </a:schemeClr>
                </a:solidFill>
              </a:rPr>
            </a:br>
            <a:br>
              <a:rPr lang="en-US" baseline="30000">
                <a:solidFill>
                  <a:schemeClr val="bg2">
                    <a:lumMod val="60000"/>
                    <a:lumOff val="40000"/>
                  </a:schemeClr>
                </a:solidFill>
              </a:rPr>
            </a:br>
            <a:br>
              <a:rPr lang="en-US" baseline="30000">
                <a:solidFill>
                  <a:schemeClr val="bg2">
                    <a:lumMod val="60000"/>
                    <a:lumOff val="40000"/>
                  </a:schemeClr>
                </a:solidFill>
              </a:rPr>
            </a:br>
            <a:endParaRPr lang="en-US"/>
          </a:p>
        </p:txBody>
      </p:sp>
      <p:sp>
        <p:nvSpPr>
          <p:cNvPr id="2" name="TextBox 1">
            <a:extLst>
              <a:ext uri="{FF2B5EF4-FFF2-40B4-BE49-F238E27FC236}">
                <a16:creationId xmlns:a16="http://schemas.microsoft.com/office/drawing/2014/main" id="{5839227A-B1F4-E3D8-DD8C-EE25DB384A82}"/>
              </a:ext>
            </a:extLst>
          </p:cNvPr>
          <p:cNvSpPr txBox="1"/>
          <p:nvPr/>
        </p:nvSpPr>
        <p:spPr>
          <a:xfrm>
            <a:off x="376177" y="3967551"/>
            <a:ext cx="3256969" cy="584775"/>
          </a:xfrm>
          <a:prstGeom prst="rect">
            <a:avLst/>
          </a:prstGeom>
          <a:noFill/>
        </p:spPr>
        <p:txBody>
          <a:bodyPr wrap="square" rtlCol="0">
            <a:spAutoFit/>
          </a:bodyPr>
          <a:lstStyle/>
          <a:p>
            <a:r>
              <a:rPr lang="en-US" sz="3200">
                <a:solidFill>
                  <a:srgbClr val="F80B8D"/>
                </a:solidFill>
                <a:ea typeface="Segoe UI Emoji" panose="020B0502040204020203" pitchFamily="34" charset="0"/>
                <a:cs typeface="+mj-cs"/>
              </a:rPr>
              <a:t>🧠 </a:t>
            </a:r>
            <a:r>
              <a:rPr lang="en-US" sz="3200">
                <a:solidFill>
                  <a:srgbClr val="F80B8D"/>
                </a:solidFill>
              </a:rPr>
              <a:t>solve for x.</a:t>
            </a:r>
          </a:p>
        </p:txBody>
      </p:sp>
    </p:spTree>
    <p:extLst>
      <p:ext uri="{BB962C8B-B14F-4D97-AF65-F5344CB8AC3E}">
        <p14:creationId xmlns:p14="http://schemas.microsoft.com/office/powerpoint/2010/main" val="3865996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541955D-45F7-B595-980E-86B3AA172267}"/>
              </a:ext>
            </a:extLst>
          </p:cNvPr>
          <p:cNvSpPr>
            <a:spLocks noGrp="1"/>
          </p:cNvSpPr>
          <p:nvPr>
            <p:ph type="title"/>
          </p:nvPr>
        </p:nvSpPr>
        <p:spPr/>
        <p:txBody>
          <a:bodyPr/>
          <a:lstStyle/>
          <a:p>
            <a:pPr algn="l"/>
            <a:r>
              <a:rPr lang="en-US"/>
              <a:t>y = 2</a:t>
            </a:r>
            <a:r>
              <a:rPr lang="en-US" baseline="30000"/>
              <a:t>x</a:t>
            </a:r>
            <a:br>
              <a:rPr lang="en-US"/>
            </a:br>
            <a:br>
              <a:rPr lang="en-US" baseline="30000"/>
            </a:br>
            <a:br>
              <a:rPr lang="en-US" baseline="30000"/>
            </a:br>
            <a:br>
              <a:rPr lang="en-US" baseline="30000"/>
            </a:br>
            <a:br>
              <a:rPr lang="en-US" baseline="30000">
                <a:solidFill>
                  <a:schemeClr val="bg2">
                    <a:lumMod val="60000"/>
                    <a:lumOff val="40000"/>
                  </a:schemeClr>
                </a:solidFill>
              </a:rPr>
            </a:br>
            <a:br>
              <a:rPr lang="en-US" baseline="30000">
                <a:solidFill>
                  <a:schemeClr val="bg2">
                    <a:lumMod val="60000"/>
                    <a:lumOff val="40000"/>
                  </a:schemeClr>
                </a:solidFill>
              </a:rPr>
            </a:br>
            <a:br>
              <a:rPr lang="en-US" baseline="30000">
                <a:solidFill>
                  <a:schemeClr val="bg2">
                    <a:lumMod val="60000"/>
                    <a:lumOff val="40000"/>
                  </a:schemeClr>
                </a:solidFill>
              </a:rPr>
            </a:br>
            <a:r>
              <a:rPr lang="en-US"/>
              <a:t>x = log</a:t>
            </a:r>
            <a:r>
              <a:rPr lang="en-US" baseline="-25000"/>
              <a:t>2</a:t>
            </a:r>
            <a:r>
              <a:rPr lang="en-US"/>
              <a:t> y</a:t>
            </a:r>
          </a:p>
        </p:txBody>
      </p:sp>
    </p:spTree>
    <p:extLst>
      <p:ext uri="{BB962C8B-B14F-4D97-AF65-F5344CB8AC3E}">
        <p14:creationId xmlns:p14="http://schemas.microsoft.com/office/powerpoint/2010/main" val="1159128834"/>
      </p:ext>
    </p:extLst>
  </p:cSld>
  <p:clrMapOvr>
    <a:masterClrMapping/>
  </p:clrMapOvr>
</p:sld>
</file>

<file path=ppt/slides/slide5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541955D-45F7-B595-980E-86B3AA172267}"/>
              </a:ext>
            </a:extLst>
          </p:cNvPr>
          <p:cNvSpPr>
            <a:spLocks noGrp="1"/>
          </p:cNvSpPr>
          <p:nvPr>
            <p:ph type="title"/>
          </p:nvPr>
        </p:nvSpPr>
        <p:spPr/>
        <p:txBody>
          <a:bodyPr/>
          <a:lstStyle/>
          <a:p>
            <a:pPr algn="l"/>
            <a:r>
              <a:rPr lang="en-US"/>
              <a:t>y = 2</a:t>
            </a:r>
            <a:r>
              <a:rPr lang="en-US" baseline="30000"/>
              <a:t>x</a:t>
            </a:r>
            <a:br>
              <a:rPr lang="en-US"/>
            </a:br>
            <a:br>
              <a:rPr lang="en-US" baseline="30000"/>
            </a:br>
            <a:br>
              <a:rPr lang="en-US" baseline="30000"/>
            </a:br>
            <a:br>
              <a:rPr lang="en-US" baseline="30000"/>
            </a:br>
            <a:br>
              <a:rPr lang="en-US" baseline="30000">
                <a:solidFill>
                  <a:schemeClr val="bg2">
                    <a:lumMod val="60000"/>
                    <a:lumOff val="40000"/>
                  </a:schemeClr>
                </a:solidFill>
              </a:rPr>
            </a:br>
            <a:br>
              <a:rPr lang="en-US" baseline="30000">
                <a:solidFill>
                  <a:schemeClr val="bg2">
                    <a:lumMod val="60000"/>
                    <a:lumOff val="40000"/>
                  </a:schemeClr>
                </a:solidFill>
              </a:rPr>
            </a:br>
            <a:br>
              <a:rPr lang="en-US" baseline="30000">
                <a:solidFill>
                  <a:schemeClr val="bg2">
                    <a:lumMod val="60000"/>
                    <a:lumOff val="40000"/>
                  </a:schemeClr>
                </a:solidFill>
              </a:rPr>
            </a:br>
            <a:r>
              <a:rPr lang="en-US"/>
              <a:t>x = log</a:t>
            </a:r>
            <a:r>
              <a:rPr lang="en-US" baseline="-25000"/>
              <a:t>2</a:t>
            </a:r>
            <a:r>
              <a:rPr lang="en-US"/>
              <a:t> y</a:t>
            </a:r>
          </a:p>
        </p:txBody>
      </p:sp>
      <p:grpSp>
        <p:nvGrpSpPr>
          <p:cNvPr id="9" name="Group 8">
            <a:extLst>
              <a:ext uri="{FF2B5EF4-FFF2-40B4-BE49-F238E27FC236}">
                <a16:creationId xmlns:a16="http://schemas.microsoft.com/office/drawing/2014/main" id="{C897FEE6-9D99-966A-C42D-D6C5AA17F26E}"/>
              </a:ext>
            </a:extLst>
          </p:cNvPr>
          <p:cNvGrpSpPr/>
          <p:nvPr/>
        </p:nvGrpSpPr>
        <p:grpSpPr>
          <a:xfrm>
            <a:off x="2419029" y="0"/>
            <a:ext cx="2469752" cy="2571750"/>
            <a:chOff x="3449175" y="-184666"/>
            <a:chExt cx="2523362" cy="2627574"/>
          </a:xfrm>
        </p:grpSpPr>
        <p:pic>
          <p:nvPicPr>
            <p:cNvPr id="4" name="Picture 3">
              <a:extLst>
                <a:ext uri="{FF2B5EF4-FFF2-40B4-BE49-F238E27FC236}">
                  <a16:creationId xmlns:a16="http://schemas.microsoft.com/office/drawing/2014/main" id="{57798156-6D06-A3F2-4479-6764ABE4DC8B}"/>
                </a:ext>
              </a:extLst>
            </p:cNvPr>
            <p:cNvPicPr>
              <a:picLocks noChangeAspect="1"/>
            </p:cNvPicPr>
            <p:nvPr/>
          </p:nvPicPr>
          <p:blipFill>
            <a:blip r:embed="rId2"/>
            <a:stretch>
              <a:fillRect/>
            </a:stretch>
          </p:blipFill>
          <p:spPr>
            <a:xfrm>
              <a:off x="3449175" y="190843"/>
              <a:ext cx="2245649" cy="2252065"/>
            </a:xfrm>
            <a:prstGeom prst="rect">
              <a:avLst/>
            </a:prstGeom>
          </p:spPr>
        </p:pic>
        <p:sp>
          <p:nvSpPr>
            <p:cNvPr id="7" name="TextBox 6">
              <a:extLst>
                <a:ext uri="{FF2B5EF4-FFF2-40B4-BE49-F238E27FC236}">
                  <a16:creationId xmlns:a16="http://schemas.microsoft.com/office/drawing/2014/main" id="{02522274-8688-DD71-596F-C344A1FF7206}"/>
                </a:ext>
              </a:extLst>
            </p:cNvPr>
            <p:cNvSpPr txBox="1"/>
            <p:nvPr/>
          </p:nvSpPr>
          <p:spPr>
            <a:xfrm>
              <a:off x="5706319" y="1145895"/>
              <a:ext cx="266218" cy="369332"/>
            </a:xfrm>
            <a:prstGeom prst="rect">
              <a:avLst/>
            </a:prstGeom>
            <a:noFill/>
          </p:spPr>
          <p:txBody>
            <a:bodyPr wrap="square" rtlCol="0">
              <a:spAutoFit/>
            </a:bodyPr>
            <a:lstStyle/>
            <a:p>
              <a:r>
                <a:rPr lang="en-US"/>
                <a:t>x</a:t>
              </a:r>
            </a:p>
          </p:txBody>
        </p:sp>
        <p:sp>
          <p:nvSpPr>
            <p:cNvPr id="8" name="TextBox 7">
              <a:extLst>
                <a:ext uri="{FF2B5EF4-FFF2-40B4-BE49-F238E27FC236}">
                  <a16:creationId xmlns:a16="http://schemas.microsoft.com/office/drawing/2014/main" id="{2C46B3FD-496A-99FC-9E5A-E8326BEEB4A1}"/>
                </a:ext>
              </a:extLst>
            </p:cNvPr>
            <p:cNvSpPr txBox="1"/>
            <p:nvPr/>
          </p:nvSpPr>
          <p:spPr>
            <a:xfrm>
              <a:off x="4438890" y="-184666"/>
              <a:ext cx="266218" cy="369332"/>
            </a:xfrm>
            <a:prstGeom prst="rect">
              <a:avLst/>
            </a:prstGeom>
            <a:noFill/>
          </p:spPr>
          <p:txBody>
            <a:bodyPr wrap="square" rtlCol="0">
              <a:spAutoFit/>
            </a:bodyPr>
            <a:lstStyle/>
            <a:p>
              <a:r>
                <a:rPr lang="en-US"/>
                <a:t>y</a:t>
              </a:r>
            </a:p>
          </p:txBody>
        </p:sp>
      </p:grpSp>
    </p:spTree>
    <p:extLst>
      <p:ext uri="{BB962C8B-B14F-4D97-AF65-F5344CB8AC3E}">
        <p14:creationId xmlns:p14="http://schemas.microsoft.com/office/powerpoint/2010/main" val="4289240608"/>
      </p:ext>
    </p:extLst>
  </p:cSld>
  <p:clrMapOvr>
    <a:masterClrMapping/>
  </p:clrMapOvr>
</p:sld>
</file>

<file path=ppt/slides/slide5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541955D-45F7-B595-980E-86B3AA172267}"/>
              </a:ext>
            </a:extLst>
          </p:cNvPr>
          <p:cNvSpPr>
            <a:spLocks noGrp="1"/>
          </p:cNvSpPr>
          <p:nvPr>
            <p:ph type="title"/>
          </p:nvPr>
        </p:nvSpPr>
        <p:spPr/>
        <p:txBody>
          <a:bodyPr/>
          <a:lstStyle/>
          <a:p>
            <a:pPr algn="l"/>
            <a:r>
              <a:rPr lang="en-US"/>
              <a:t>y = 2</a:t>
            </a:r>
            <a:r>
              <a:rPr lang="en-US" baseline="30000"/>
              <a:t>x</a:t>
            </a:r>
            <a:br>
              <a:rPr lang="en-US"/>
            </a:br>
            <a:br>
              <a:rPr lang="en-US" baseline="30000"/>
            </a:br>
            <a:br>
              <a:rPr lang="en-US" baseline="30000"/>
            </a:br>
            <a:br>
              <a:rPr lang="en-US" baseline="30000"/>
            </a:br>
            <a:br>
              <a:rPr lang="en-US" baseline="30000">
                <a:solidFill>
                  <a:schemeClr val="bg2">
                    <a:lumMod val="60000"/>
                    <a:lumOff val="40000"/>
                  </a:schemeClr>
                </a:solidFill>
              </a:rPr>
            </a:br>
            <a:br>
              <a:rPr lang="en-US" baseline="30000">
                <a:solidFill>
                  <a:schemeClr val="bg2">
                    <a:lumMod val="60000"/>
                    <a:lumOff val="40000"/>
                  </a:schemeClr>
                </a:solidFill>
              </a:rPr>
            </a:br>
            <a:br>
              <a:rPr lang="en-US" baseline="30000">
                <a:solidFill>
                  <a:schemeClr val="bg2">
                    <a:lumMod val="60000"/>
                    <a:lumOff val="40000"/>
                  </a:schemeClr>
                </a:solidFill>
              </a:rPr>
            </a:br>
            <a:r>
              <a:rPr lang="en-US"/>
              <a:t>x = log</a:t>
            </a:r>
            <a:r>
              <a:rPr lang="en-US" baseline="-25000"/>
              <a:t>2</a:t>
            </a:r>
            <a:r>
              <a:rPr lang="en-US"/>
              <a:t> y</a:t>
            </a:r>
          </a:p>
        </p:txBody>
      </p:sp>
      <p:grpSp>
        <p:nvGrpSpPr>
          <p:cNvPr id="9" name="Group 8">
            <a:extLst>
              <a:ext uri="{FF2B5EF4-FFF2-40B4-BE49-F238E27FC236}">
                <a16:creationId xmlns:a16="http://schemas.microsoft.com/office/drawing/2014/main" id="{C897FEE6-9D99-966A-C42D-D6C5AA17F26E}"/>
              </a:ext>
            </a:extLst>
          </p:cNvPr>
          <p:cNvGrpSpPr/>
          <p:nvPr/>
        </p:nvGrpSpPr>
        <p:grpSpPr>
          <a:xfrm rot="5400000" flipH="1">
            <a:off x="3166570" y="1921994"/>
            <a:ext cx="3160017" cy="3193799"/>
            <a:chOff x="3449175" y="-131568"/>
            <a:chExt cx="2577081" cy="2574476"/>
          </a:xfrm>
        </p:grpSpPr>
        <p:pic>
          <p:nvPicPr>
            <p:cNvPr id="4" name="Picture 3">
              <a:extLst>
                <a:ext uri="{FF2B5EF4-FFF2-40B4-BE49-F238E27FC236}">
                  <a16:creationId xmlns:a16="http://schemas.microsoft.com/office/drawing/2014/main" id="{57798156-6D06-A3F2-4479-6764ABE4DC8B}"/>
                </a:ext>
              </a:extLst>
            </p:cNvPr>
            <p:cNvPicPr>
              <a:picLocks noChangeAspect="1"/>
            </p:cNvPicPr>
            <p:nvPr/>
          </p:nvPicPr>
          <p:blipFill>
            <a:blip r:embed="rId2"/>
            <a:stretch>
              <a:fillRect/>
            </a:stretch>
          </p:blipFill>
          <p:spPr>
            <a:xfrm>
              <a:off x="3449175" y="190843"/>
              <a:ext cx="2245649" cy="2252065"/>
            </a:xfrm>
            <a:prstGeom prst="rect">
              <a:avLst/>
            </a:prstGeom>
          </p:spPr>
        </p:pic>
        <p:sp>
          <p:nvSpPr>
            <p:cNvPr id="7" name="TextBox 6">
              <a:extLst>
                <a:ext uri="{FF2B5EF4-FFF2-40B4-BE49-F238E27FC236}">
                  <a16:creationId xmlns:a16="http://schemas.microsoft.com/office/drawing/2014/main" id="{02522274-8688-DD71-596F-C344A1FF7206}"/>
                </a:ext>
              </a:extLst>
            </p:cNvPr>
            <p:cNvSpPr txBox="1"/>
            <p:nvPr/>
          </p:nvSpPr>
          <p:spPr>
            <a:xfrm rot="5400000">
              <a:off x="5707859" y="1143732"/>
              <a:ext cx="263136" cy="373658"/>
            </a:xfrm>
            <a:prstGeom prst="rect">
              <a:avLst/>
            </a:prstGeom>
            <a:noFill/>
          </p:spPr>
          <p:txBody>
            <a:bodyPr wrap="square" rtlCol="0">
              <a:spAutoFit/>
            </a:bodyPr>
            <a:lstStyle/>
            <a:p>
              <a:r>
                <a:rPr lang="en-US"/>
                <a:t>x</a:t>
              </a:r>
            </a:p>
          </p:txBody>
        </p:sp>
        <p:sp>
          <p:nvSpPr>
            <p:cNvPr id="8" name="TextBox 7">
              <a:extLst>
                <a:ext uri="{FF2B5EF4-FFF2-40B4-BE49-F238E27FC236}">
                  <a16:creationId xmlns:a16="http://schemas.microsoft.com/office/drawing/2014/main" id="{2C46B3FD-496A-99FC-9E5A-E8326BEEB4A1}"/>
                </a:ext>
              </a:extLst>
            </p:cNvPr>
            <p:cNvSpPr txBox="1"/>
            <p:nvPr/>
          </p:nvSpPr>
          <p:spPr>
            <a:xfrm rot="5400000">
              <a:off x="4440431" y="-186829"/>
              <a:ext cx="263136" cy="373658"/>
            </a:xfrm>
            <a:prstGeom prst="rect">
              <a:avLst/>
            </a:prstGeom>
            <a:noFill/>
          </p:spPr>
          <p:txBody>
            <a:bodyPr wrap="square" rtlCol="0">
              <a:spAutoFit/>
            </a:bodyPr>
            <a:lstStyle/>
            <a:p>
              <a:r>
                <a:rPr lang="en-US"/>
                <a:t>y</a:t>
              </a:r>
            </a:p>
          </p:txBody>
        </p:sp>
      </p:grpSp>
    </p:spTree>
    <p:extLst>
      <p:ext uri="{BB962C8B-B14F-4D97-AF65-F5344CB8AC3E}">
        <p14:creationId xmlns:p14="http://schemas.microsoft.com/office/powerpoint/2010/main" val="3295657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D3CB3-6D00-915E-966F-127C2BD7857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0922DD6-0506-D75F-FB73-F6A33AD5139E}"/>
              </a:ext>
            </a:extLst>
          </p:cNvPr>
          <p:cNvSpPr>
            <a:spLocks noGrp="1"/>
          </p:cNvSpPr>
          <p:nvPr>
            <p:ph type="title"/>
          </p:nvPr>
        </p:nvSpPr>
        <p:spPr/>
        <p:txBody>
          <a:bodyPr/>
          <a:lstStyle/>
          <a:p>
            <a:r>
              <a:rPr lang="en-US"/>
              <a:t>big O runtime (code)</a:t>
            </a:r>
          </a:p>
        </p:txBody>
      </p:sp>
    </p:spTree>
    <p:extLst>
      <p:ext uri="{BB962C8B-B14F-4D97-AF65-F5344CB8AC3E}">
        <p14:creationId xmlns:p14="http://schemas.microsoft.com/office/powerpoint/2010/main" val="898432883"/>
      </p:ext>
    </p:extLst>
  </p:cSld>
  <p:clrMapOvr>
    <a:masterClrMapping/>
  </p:clrMapOvr>
</p:sld>
</file>

<file path=ppt/slides/slide5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7B2D2-9908-4967-4BFB-FA29DA1FC56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2B37170-2E0F-6C2F-C18E-A8766CF2E66F}"/>
              </a:ext>
            </a:extLst>
          </p:cNvPr>
          <p:cNvSpPr>
            <a:spLocks noGrp="1"/>
          </p:cNvSpPr>
          <p:nvPr>
            <p:ph type="title"/>
          </p:nvPr>
        </p:nvSpPr>
        <p:spPr/>
        <p:txBody>
          <a:bodyPr/>
          <a:lstStyle/>
          <a:p>
            <a:r>
              <a:rPr lang="en-US"/>
              <a:t>big-O runtime (1/2)</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84286F1-8C8F-7084-0874-4F5FF8AFFA28}"/>
                  </a:ext>
                </a:extLst>
              </p:cNvPr>
              <p:cNvSpPr>
                <a:spLocks noGrp="1"/>
              </p:cNvSpPr>
              <p:nvPr>
                <p:ph sz="quarter" idx="10"/>
              </p:nvPr>
            </p:nvSpPr>
            <p:spPr/>
            <p:txBody>
              <a:bodyPr/>
              <a:lstStyle/>
              <a:p>
                <a:r>
                  <a:rPr lang="en-US" b="1"/>
                  <a:t>big-O runtime</a:t>
                </a:r>
                <a:r>
                  <a:rPr lang="en-US"/>
                  <a:t> (</a:t>
                </a:r>
                <a:r>
                  <a:rPr lang="en-US" b="1"/>
                  <a:t>running time</a:t>
                </a:r>
                <a:r>
                  <a:rPr lang="en-US"/>
                  <a:t>, </a:t>
                </a:r>
                <a:r>
                  <a:rPr lang="en-US" b="1"/>
                  <a:t>time complexity</a:t>
                </a:r>
                <a:r>
                  <a:rPr lang="en-US"/>
                  <a:t>) gives us a big-picture idea of how long a function will take to run (execute, finish)</a:t>
                </a:r>
              </a:p>
              <a:p>
                <a:pPr lvl="1"/>
                <a:r>
                  <a:rPr lang="en-US"/>
                  <a:t>a function that operates on </a:t>
                </a:r>
                <a14:m>
                  <m:oMath xmlns:m="http://schemas.openxmlformats.org/officeDocument/2006/math">
                    <m:r>
                      <a:rPr lang="en-US" b="0" i="1" smtClean="0">
                        <a:latin typeface="Cambria Math" panose="02040503050406030204" pitchFamily="18" charset="0"/>
                      </a:rPr>
                      <m:t>𝑛</m:t>
                    </m:r>
                  </m:oMath>
                </a14:m>
                <a:r>
                  <a:rPr lang="en-US"/>
                  <a:t> </a:t>
                </a:r>
                <a:r>
                  <a:rPr lang="en-US" i="1"/>
                  <a:t>things, </a:t>
                </a:r>
                <a:r>
                  <a:rPr lang="en-US"/>
                  <a:t>could be...</a:t>
                </a:r>
              </a:p>
              <a:p>
                <a:pPr lvl="2"/>
                <a14:m>
                  <m:oMath xmlns:m="http://schemas.openxmlformats.org/officeDocument/2006/math">
                    <m:r>
                      <a:rPr lang="en-US" b="0" i="1" smtClean="0">
                        <a:latin typeface="Cambria Math" panose="02040503050406030204" pitchFamily="18" charset="0"/>
                        <a:ea typeface="Cambria Math" panose="02040503050406030204" pitchFamily="18" charset="0"/>
                      </a:rPr>
                      <m:t>𝒪</m:t>
                    </m:r>
                    <m:r>
                      <a:rPr lang="en-US" b="0" i="1" smtClean="0">
                        <a:latin typeface="Cambria Math" panose="02040503050406030204" pitchFamily="18" charset="0"/>
                      </a:rPr>
                      <m:t>(1)</m:t>
                    </m:r>
                  </m:oMath>
                </a14:m>
                <a:r>
                  <a:rPr lang="en-US"/>
                  <a:t> (</a:t>
                </a:r>
                <a:r>
                  <a:rPr lang="en-US" b="1"/>
                  <a:t>constant time</a:t>
                </a:r>
                <a:r>
                  <a:rPr lang="en-US"/>
                  <a:t>)							😀 </a:t>
                </a:r>
                <a:r>
                  <a:rPr lang="en-US">
                    <a:solidFill>
                      <a:schemeClr val="accent2"/>
                    </a:solidFill>
                  </a:rPr>
                  <a:t>FAST</a:t>
                </a:r>
              </a:p>
              <a:p>
                <a:pPr lvl="2"/>
                <a14:m>
                  <m:oMath xmlns:m="http://schemas.openxmlformats.org/officeDocument/2006/math">
                    <m:r>
                      <a:rPr lang="en-US" b="0" i="1" smtClean="0">
                        <a:latin typeface="Cambria Math" panose="02040503050406030204" pitchFamily="18" charset="0"/>
                        <a:ea typeface="Cambria Math" panose="02040503050406030204" pitchFamily="18" charset="0"/>
                      </a:rPr>
                      <m:t>𝒪</m:t>
                    </m:r>
                    <m:r>
                      <a:rPr lang="en-US" b="0" i="1" smtClean="0">
                        <a:latin typeface="Cambria Math" panose="02040503050406030204" pitchFamily="18" charset="0"/>
                      </a:rPr>
                      <m:t>(</m:t>
                    </m:r>
                    <m:func>
                      <m:funcPr>
                        <m:ctrlPr>
                          <a:rPr lang="en-US" i="1">
                            <a:latin typeface="Cambria Math" panose="02040503050406030204" pitchFamily="18" charset="0"/>
                          </a:rPr>
                        </m:ctrlPr>
                      </m:funcPr>
                      <m:fName>
                        <m:sSub>
                          <m:sSubPr>
                            <m:ctrlPr>
                              <a:rPr lang="en-US">
                                <a:latin typeface="Cambria Math" panose="02040503050406030204" pitchFamily="18" charset="0"/>
                              </a:rPr>
                            </m:ctrlPr>
                          </m:sSubPr>
                          <m:e>
                            <m:r>
                              <m:rPr>
                                <m:sty m:val="p"/>
                              </m:rPr>
                              <a:rPr lang="en-US">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r>
                  <a:rPr lang="en-US"/>
                  <a:t> (</a:t>
                </a:r>
                <a:r>
                  <a:rPr lang="en-US" b="1"/>
                  <a:t>logarithmic time</a:t>
                </a:r>
                <a:r>
                  <a:rPr lang="en-US"/>
                  <a:t>, </a:t>
                </a:r>
                <a:r>
                  <a:rPr lang="en-US" b="1"/>
                  <a:t>log time</a:t>
                </a:r>
                <a:r>
                  <a:rPr lang="en-US"/>
                  <a:t>)		🙂</a:t>
                </a:r>
                <a:r>
                  <a:rPr lang="en-US">
                    <a:solidFill>
                      <a:schemeClr val="accent2"/>
                    </a:solidFill>
                  </a:rPr>
                  <a:t> fast</a:t>
                </a:r>
              </a:p>
              <a:p>
                <a:pPr lvl="2"/>
                <a14:m>
                  <m:oMath xmlns:m="http://schemas.openxmlformats.org/officeDocument/2006/math">
                    <m:r>
                      <a:rPr lang="en-US" b="0" i="1" smtClean="0">
                        <a:latin typeface="Cambria Math" panose="02040503050406030204" pitchFamily="18" charset="0"/>
                        <a:ea typeface="Cambria Math" panose="02040503050406030204" pitchFamily="18" charset="0"/>
                      </a:rPr>
                      <m:t>𝒪</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a:t> (</a:t>
                </a:r>
                <a:r>
                  <a:rPr lang="en-US" b="1"/>
                  <a:t>linear time</a:t>
                </a:r>
                <a:r>
                  <a:rPr lang="en-US"/>
                  <a:t>)								😐 </a:t>
                </a:r>
                <a:r>
                  <a:rPr lang="en-US">
                    <a:solidFill>
                      <a:schemeClr val="accent2"/>
                    </a:solidFill>
                  </a:rPr>
                  <a:t>meh</a:t>
                </a:r>
              </a:p>
              <a:p>
                <a:pPr lvl="2"/>
                <a14:m>
                  <m:oMath xmlns:m="http://schemas.openxmlformats.org/officeDocument/2006/math">
                    <m:r>
                      <a:rPr lang="en-US" b="0" i="1" smtClean="0">
                        <a:latin typeface="Cambria Math" panose="02040503050406030204" pitchFamily="18" charset="0"/>
                        <a:ea typeface="Cambria Math" panose="02040503050406030204" pitchFamily="18" charset="0"/>
                      </a:rPr>
                      <m:t>𝒪</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r>
                  <a:rPr lang="en-US"/>
                  <a:t> (</a:t>
                </a:r>
                <a:r>
                  <a:rPr lang="en-US" b="1"/>
                  <a:t>quadratic time</a:t>
                </a:r>
                <a:r>
                  <a:rPr lang="en-US"/>
                  <a:t>)							☹️ </a:t>
                </a:r>
                <a:r>
                  <a:rPr lang="en-US">
                    <a:solidFill>
                      <a:schemeClr val="accent2"/>
                    </a:solidFill>
                  </a:rPr>
                  <a:t>slow</a:t>
                </a:r>
              </a:p>
              <a:p>
                <a:pPr lvl="2"/>
                <a14:m>
                  <m:oMath xmlns:m="http://schemas.openxmlformats.org/officeDocument/2006/math">
                    <m:r>
                      <a:rPr lang="en-US" b="0" i="1" smtClean="0">
                        <a:latin typeface="Cambria Math" panose="02040503050406030204" pitchFamily="18" charset="0"/>
                        <a:ea typeface="Cambria Math" panose="02040503050406030204" pitchFamily="18" charset="0"/>
                      </a:rPr>
                      <m:t>𝒪</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m:t>
                    </m:r>
                  </m:oMath>
                </a14:m>
                <a:r>
                  <a:rPr lang="en-US"/>
                  <a:t> (</a:t>
                </a:r>
                <a:r>
                  <a:rPr lang="en-US" b="1"/>
                  <a:t>exponential time</a:t>
                </a:r>
                <a:r>
                  <a:rPr lang="en-US"/>
                  <a:t>)						😦</a:t>
                </a:r>
                <a:r>
                  <a:rPr lang="en-US">
                    <a:solidFill>
                      <a:schemeClr val="accent2"/>
                    </a:solidFill>
                  </a:rPr>
                  <a:t> SLOW</a:t>
                </a:r>
              </a:p>
              <a:p>
                <a:pPr lvl="2"/>
                <a:endParaRPr lang="en-US"/>
              </a:p>
              <a:p>
                <a:pPr lvl="2"/>
                <a:endParaRPr lang="en-US"/>
              </a:p>
              <a:p>
                <a:pPr lvl="2"/>
                <a:endParaRPr lang="en-US"/>
              </a:p>
            </p:txBody>
          </p:sp>
        </mc:Choice>
        <mc:Fallback xmlns="">
          <p:sp>
            <p:nvSpPr>
              <p:cNvPr id="4" name="Content Placeholder 3">
                <a:extLst>
                  <a:ext uri="{FF2B5EF4-FFF2-40B4-BE49-F238E27FC236}">
                    <a16:creationId xmlns:a16="http://schemas.microsoft.com/office/drawing/2014/main" id="{584286F1-8C8F-7084-0874-4F5FF8AFFA28}"/>
                  </a:ext>
                </a:extLst>
              </p:cNvPr>
              <p:cNvSpPr>
                <a:spLocks noGrp="1" noRot="1" noChangeAspect="1" noMove="1" noResize="1" noEditPoints="1" noAdjustHandles="1" noChangeArrowheads="1" noChangeShapeType="1" noTextEdit="1"/>
              </p:cNvSpPr>
              <p:nvPr>
                <p:ph sz="quarter" idx="10"/>
              </p:nvPr>
            </p:nvSpPr>
            <p:spPr>
              <a:blipFill>
                <a:blip r:embed="rId2"/>
                <a:stretch>
                  <a:fillRect l="-617" t="-621" r="-309"/>
                </a:stretch>
              </a:blipFill>
            </p:spPr>
            <p:txBody>
              <a:bodyPr/>
              <a:lstStyle/>
              <a:p>
                <a:r>
                  <a:rPr lang="en-US">
                    <a:noFill/>
                  </a:rPr>
                  <a:t> </a:t>
                </a:r>
              </a:p>
            </p:txBody>
          </p:sp>
        </mc:Fallback>
      </mc:AlternateContent>
    </p:spTree>
    <p:extLst>
      <p:ext uri="{BB962C8B-B14F-4D97-AF65-F5344CB8AC3E}">
        <p14:creationId xmlns:p14="http://schemas.microsoft.com/office/powerpoint/2010/main" val="3584276688"/>
      </p:ext>
    </p:extLst>
  </p:cSld>
  <p:clrMapOvr>
    <a:masterClrMapping/>
  </p:clrMapOvr>
</p:sld>
</file>

<file path=ppt/slides/slide5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3C5EC-E4D4-505E-B7F3-39E6FC2CD99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9934278-1872-9D01-E66A-1DA00326D37D}"/>
              </a:ext>
            </a:extLst>
          </p:cNvPr>
          <p:cNvSpPr>
            <a:spLocks noGrp="1"/>
          </p:cNvSpPr>
          <p:nvPr>
            <p:ph type="title"/>
          </p:nvPr>
        </p:nvSpPr>
        <p:spPr/>
        <p:txBody>
          <a:bodyPr/>
          <a:lstStyle/>
          <a:p>
            <a:r>
              <a:rPr lang="en-US"/>
              <a:t>big O runtime (2/2) </a:t>
            </a:r>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70EDFE1D-7929-1B10-4007-F43E3F8F0EDE}"/>
                  </a:ext>
                </a:extLst>
              </p:cNvPr>
              <p:cNvSpPr>
                <a:spLocks noGrp="1"/>
              </p:cNvSpPr>
              <p:nvPr>
                <p:ph sz="quarter" idx="10"/>
              </p:nvPr>
            </p:nvSpPr>
            <p:spPr/>
            <p:txBody>
              <a:bodyPr/>
              <a:lstStyle/>
              <a:p>
                <a:r>
                  <a:rPr lang="en-US" b="1"/>
                  <a:t>big O runtime </a:t>
                </a:r>
                <a:r>
                  <a:rPr lang="en-US"/>
                  <a:t>is how much time it takes code to run (in the worst case)</a:t>
                </a:r>
              </a:p>
              <a:p>
                <a:pPr lvl="1"/>
                <a:r>
                  <a:rPr lang="en-US" b="1"/>
                  <a:t>time</a:t>
                </a:r>
                <a:r>
                  <a:rPr lang="en-US"/>
                  <a:t> is measured in the number of </a:t>
                </a:r>
                <a14:m>
                  <m:oMath xmlns:m="http://schemas.openxmlformats.org/officeDocument/2006/math">
                    <m:r>
                      <a:rPr lang="en-US" b="0" i="1" smtClean="0">
                        <a:latin typeface="Cambria Math" panose="02040503050406030204" pitchFamily="18" charset="0"/>
                        <a:ea typeface="Cambria Math" panose="02040503050406030204" pitchFamily="18" charset="0"/>
                      </a:rPr>
                      <m:t>𝒪</m:t>
                    </m:r>
                    <m:d>
                      <m:dPr>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 </m:t>
                    </m:r>
                  </m:oMath>
                </a14:m>
                <a:r>
                  <a:rPr lang="en-US"/>
                  <a:t>(</a:t>
                </a:r>
                <a:r>
                  <a:rPr lang="en-US" b="1"/>
                  <a:t>constant time</a:t>
                </a:r>
                <a:r>
                  <a:rPr lang="en-US"/>
                  <a:t>) </a:t>
                </a:r>
                <a:r>
                  <a:rPr lang="en-US" b="1"/>
                  <a:t>operations</a:t>
                </a:r>
              </a:p>
              <a:p>
                <a:pPr lvl="1"/>
                <a:endParaRPr lang="en-US"/>
              </a:p>
              <a:p>
                <a:pPr lvl="1"/>
                <a:r>
                  <a:rPr lang="en-US"/>
                  <a:t>examples of </a:t>
                </a:r>
                <a14:m>
                  <m:oMath xmlns:m="http://schemas.openxmlformats.org/officeDocument/2006/math">
                    <m:r>
                      <a:rPr lang="en-US" b="0" i="1" smtClean="0">
                        <a:latin typeface="Cambria Math" panose="02040503050406030204" pitchFamily="18" charset="0"/>
                        <a:ea typeface="Cambria Math" panose="02040503050406030204" pitchFamily="18" charset="0"/>
                      </a:rPr>
                      <m:t>𝒪</m:t>
                    </m:r>
                    <m:d>
                      <m:dPr>
                        <m:ctrlPr>
                          <a:rPr lang="en-US" b="0" i="1" smtClean="0">
                            <a:latin typeface="Cambria Math" panose="02040503050406030204" pitchFamily="18" charset="0"/>
                          </a:rPr>
                        </m:ctrlPr>
                      </m:dPr>
                      <m:e>
                        <m:r>
                          <a:rPr lang="en-US" b="0" i="1" smtClean="0">
                            <a:latin typeface="Cambria Math" panose="02040503050406030204" pitchFamily="18" charset="0"/>
                          </a:rPr>
                          <m:t>1</m:t>
                        </m:r>
                      </m:e>
                    </m:d>
                  </m:oMath>
                </a14:m>
                <a:r>
                  <a:rPr lang="en-US"/>
                  <a:t> operations with primitive types:</a:t>
                </a:r>
              </a:p>
              <a:p>
                <a:pPr lvl="2"/>
                <a:r>
                  <a:rPr lang="en-US">
                    <a:latin typeface="Consolas" panose="020B0609020204030204" pitchFamily="49" charset="0"/>
                    <a:cs typeface="Consolas" panose="020B0609020204030204" pitchFamily="49" charset="0"/>
                  </a:rPr>
                  <a:t>a + b</a:t>
                </a:r>
              </a:p>
              <a:p>
                <a:pPr lvl="2"/>
                <a:r>
                  <a:rPr lang="en-US">
                    <a:latin typeface="Consolas" panose="020B0609020204030204" pitchFamily="49" charset="0"/>
                    <a:cs typeface="Consolas" panose="020B0609020204030204" pitchFamily="49" charset="0"/>
                  </a:rPr>
                  <a:t>a = b</a:t>
                </a:r>
              </a:p>
              <a:p>
                <a:pPr lvl="2"/>
                <a:r>
                  <a:rPr lang="en-US">
                    <a:latin typeface="Consolas" panose="020B0609020204030204" pitchFamily="49" charset="0"/>
                    <a:cs typeface="Consolas" panose="020B0609020204030204" pitchFamily="49" charset="0"/>
                  </a:rPr>
                  <a:t>a = a + b   </a:t>
                </a:r>
                <a:r>
                  <a:rPr lang="en-US">
                    <a:solidFill>
                      <a:srgbClr val="007B00"/>
                    </a:solidFill>
                    <a:latin typeface="Consolas" panose="020B0609020204030204" pitchFamily="49" charset="0"/>
                    <a:cs typeface="Consolas" panose="020B0609020204030204" pitchFamily="49" charset="0"/>
                  </a:rPr>
                  <a:t>// NOTE: O(1) + O(1)</a:t>
                </a:r>
                <a:r>
                  <a:rPr lang="en-US">
                    <a:solidFill>
                      <a:srgbClr val="007B00"/>
                    </a:solidFill>
                    <a:latin typeface="Consolas" panose="020B0609020204030204" pitchFamily="49" charset="0"/>
                    <a:cs typeface="Consolas" panose="020B0609020204030204" pitchFamily="49" charset="0"/>
                    <a:sym typeface="Wingdings" pitchFamily="2" charset="2"/>
                  </a:rPr>
                  <a:t> = O(1)</a:t>
                </a:r>
                <a:endParaRPr lang="en-US">
                  <a:latin typeface="Consolas" panose="020B0609020204030204" pitchFamily="49" charset="0"/>
                  <a:cs typeface="Consolas" panose="020B0609020204030204" pitchFamily="49" charset="0"/>
                </a:endParaRPr>
              </a:p>
              <a:p>
                <a:pPr lvl="2"/>
                <a:r>
                  <a:rPr lang="en-US">
                    <a:latin typeface="Consolas" panose="020B0609020204030204" pitchFamily="49" charset="0"/>
                    <a:cs typeface="Consolas" panose="020B0609020204030204" pitchFamily="49" charset="0"/>
                  </a:rPr>
                  <a:t>c &amp;&amp; d</a:t>
                </a:r>
              </a:p>
              <a:p>
                <a:pPr lvl="2"/>
                <a:r>
                  <a:rPr lang="en-US">
                    <a:latin typeface="Consolas" panose="020B0609020204030204" pitchFamily="49" charset="0"/>
                    <a:cs typeface="Consolas" panose="020B0609020204030204" pitchFamily="49" charset="0"/>
                  </a:rPr>
                  <a:t>!e</a:t>
                </a:r>
              </a:p>
              <a:p>
                <a:pPr lvl="2"/>
                <a:endParaRPr lang="en-US">
                  <a:latin typeface="Consolas" panose="020B0609020204030204" pitchFamily="49" charset="0"/>
                  <a:cs typeface="Consolas" panose="020B0609020204030204" pitchFamily="49" charset="0"/>
                </a:endParaRPr>
              </a:p>
              <a:p>
                <a:pPr lvl="1"/>
                <a14:m>
                  <m:oMath xmlns:m="http://schemas.openxmlformats.org/officeDocument/2006/math">
                    <m:r>
                      <a:rPr lang="en-US" i="1">
                        <a:latin typeface="Cambria Math" panose="02040503050406030204" pitchFamily="18" charset="0"/>
                        <a:ea typeface="Cambria Math" panose="02040503050406030204" pitchFamily="18" charset="0"/>
                      </a:rPr>
                      <m:t>𝒪</m:t>
                    </m:r>
                    <m:d>
                      <m:dPr>
                        <m:ctrlPr>
                          <a:rPr lang="en-US" i="1">
                            <a:latin typeface="Cambria Math" panose="02040503050406030204" pitchFamily="18" charset="0"/>
                          </a:rPr>
                        </m:ctrlPr>
                      </m:dPr>
                      <m:e>
                        <m:r>
                          <a:rPr lang="en-US" i="1">
                            <a:latin typeface="Cambria Math" panose="02040503050406030204" pitchFamily="18" charset="0"/>
                          </a:rPr>
                          <m:t>1</m:t>
                        </m:r>
                      </m:e>
                    </m:d>
                  </m:oMath>
                </a14:m>
                <a:r>
                  <a:rPr lang="en-US"/>
                  <a:t> array operation:</a:t>
                </a:r>
                <a:endParaRPr lang="en-US">
                  <a:latin typeface="Consolas" panose="020B0609020204030204" pitchFamily="49" charset="0"/>
                  <a:cs typeface="Consolas" panose="020B0609020204030204" pitchFamily="49" charset="0"/>
                </a:endParaRPr>
              </a:p>
              <a:p>
                <a:pPr lvl="2"/>
                <a:r>
                  <a:rPr lang="en-US">
                    <a:latin typeface="Consolas" panose="020B0609020204030204" pitchFamily="49" charset="0"/>
                    <a:cs typeface="Consolas" panose="020B0609020204030204" pitchFamily="49" charset="0"/>
                  </a:rPr>
                  <a:t>array[i]</a:t>
                </a:r>
                <a:endParaRPr lang="en-US">
                  <a:solidFill>
                    <a:srgbClr val="007B00"/>
                  </a:solidFill>
                  <a:latin typeface="Consolas" panose="020B0609020204030204" pitchFamily="49" charset="0"/>
                  <a:cs typeface="Consolas" panose="020B0609020204030204" pitchFamily="49" charset="0"/>
                </a:endParaRPr>
              </a:p>
            </p:txBody>
          </p:sp>
        </mc:Choice>
        <mc:Fallback xmlns="">
          <p:sp>
            <p:nvSpPr>
              <p:cNvPr id="9" name="Content Placeholder 8">
                <a:extLst>
                  <a:ext uri="{FF2B5EF4-FFF2-40B4-BE49-F238E27FC236}">
                    <a16:creationId xmlns:a16="http://schemas.microsoft.com/office/drawing/2014/main" id="{70EDFE1D-7929-1B10-4007-F43E3F8F0EDE}"/>
                  </a:ext>
                </a:extLst>
              </p:cNvPr>
              <p:cNvSpPr>
                <a:spLocks noGrp="1" noRot="1" noChangeAspect="1" noMove="1" noResize="1" noEditPoints="1" noAdjustHandles="1" noChangeArrowheads="1" noChangeShapeType="1" noTextEdit="1"/>
              </p:cNvSpPr>
              <p:nvPr>
                <p:ph sz="quarter" idx="10"/>
              </p:nvPr>
            </p:nvSpPr>
            <p:spPr>
              <a:blipFill>
                <a:blip r:embed="rId3"/>
                <a:stretch>
                  <a:fillRect l="-617" t="-621" b="-311"/>
                </a:stretch>
              </a:blipFill>
            </p:spPr>
            <p:txBody>
              <a:bodyPr/>
              <a:lstStyle/>
              <a:p>
                <a:r>
                  <a:rPr lang="en-US">
                    <a:noFill/>
                  </a:rPr>
                  <a:t> </a:t>
                </a:r>
              </a:p>
            </p:txBody>
          </p:sp>
        </mc:Fallback>
      </mc:AlternateContent>
    </p:spTree>
    <p:extLst>
      <p:ext uri="{BB962C8B-B14F-4D97-AF65-F5344CB8AC3E}">
        <p14:creationId xmlns:p14="http://schemas.microsoft.com/office/powerpoint/2010/main" val="1086898732"/>
      </p:ext>
    </p:extLst>
  </p:cSld>
  <p:clrMapOvr>
    <a:masterClrMapping/>
  </p:clrMapOvr>
</p:sld>
</file>

<file path=ppt/slides/slide5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D4A95-5697-A673-81D2-5012473F27B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B69CD63-112A-E38A-791B-AE5D3C7F0823}"/>
              </a:ext>
            </a:extLst>
          </p:cNvPr>
          <p:cNvSpPr>
            <a:spLocks noGrp="1"/>
          </p:cNvSpPr>
          <p:nvPr>
            <p:ph type="title"/>
          </p:nvPr>
        </p:nvSpPr>
        <p:spPr/>
        <p:txBody>
          <a:bodyPr/>
          <a:lstStyle/>
          <a:p>
            <a:r>
              <a:rPr lang="en-US"/>
              <a:t>fun examples</a:t>
            </a:r>
          </a:p>
        </p:txBody>
      </p:sp>
    </p:spTree>
    <p:extLst>
      <p:ext uri="{BB962C8B-B14F-4D97-AF65-F5344CB8AC3E}">
        <p14:creationId xmlns:p14="http://schemas.microsoft.com/office/powerpoint/2010/main" val="3601817872"/>
      </p:ext>
    </p:extLst>
  </p:cSld>
  <p:clrMapOvr>
    <a:masterClrMapping/>
  </p:clrMapOvr>
</p:sld>
</file>

<file path=ppt/slides/slide5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6BDC0-57E4-E8FB-6D67-3F5C06D55EC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A63B90-9D4B-5C57-755B-DB72FE81571E}"/>
              </a:ext>
            </a:extLst>
          </p:cNvPr>
          <p:cNvSpPr>
            <a:spLocks noGrp="1"/>
          </p:cNvSpPr>
          <p:nvPr>
            <p:ph type="title"/>
          </p:nvPr>
        </p:nvSpPr>
        <p:spPr/>
        <p:txBody>
          <a:bodyPr/>
          <a:lstStyle/>
          <a:p>
            <a:r>
              <a:rPr lang="en-US"/>
              <a:t>Caaaaaaaaaaaarl</a:t>
            </a:r>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101EA06D-40F8-5BCF-3B5C-D8B93A3608A9}"/>
                  </a:ext>
                </a:extLst>
              </p:cNvPr>
              <p:cNvSpPr>
                <a:spLocks noGrp="1"/>
              </p:cNvSpPr>
              <p:nvPr>
                <p:ph sz="quarter" idx="10"/>
              </p:nvPr>
            </p:nvSpPr>
            <p:spPr>
              <a:xfrm>
                <a:off x="457200" y="963337"/>
                <a:ext cx="8324850" cy="4080271"/>
              </a:xfrm>
            </p:spPr>
            <p:txBody>
              <a:bodyPr>
                <a:noAutofit/>
              </a:bodyPr>
              <a:lstStyle/>
              <a:p>
                <a:r>
                  <a:rPr lang="en-US" sz="1400" b="1"/>
                  <a:t>e.g.,</a:t>
                </a:r>
                <a:r>
                  <a:rPr lang="en-US" sz="1400"/>
                  <a:t> Imagine a classroom with </a:t>
                </a:r>
                <a14:m>
                  <m:oMath xmlns:m="http://schemas.openxmlformats.org/officeDocument/2006/math">
                    <m:r>
                      <a:rPr lang="en-US" sz="1400" i="1">
                        <a:latin typeface="Cambria Math" panose="02040503050406030204" pitchFamily="18" charset="0"/>
                      </a:rPr>
                      <m:t>𝑛</m:t>
                    </m:r>
                  </m:oMath>
                </a14:m>
                <a:r>
                  <a:rPr lang="en-US" sz="1400"/>
                  <a:t> students. I want to figure out if any students are named Carl.</a:t>
                </a:r>
              </a:p>
              <a:p>
                <a:pPr lvl="1"/>
                <a:r>
                  <a:rPr lang="en-US" sz="1400"/>
                  <a:t>I need an ✨Algorithm✨  </a:t>
                </a:r>
                <a:r>
                  <a:rPr lang="en-US" sz="1400" b="1" err="1">
                    <a:solidFill>
                      <a:srgbClr val="0000FF"/>
                    </a:solidFill>
                    <a:latin typeface="Consolas" panose="020B0609020204030204" pitchFamily="49" charset="0"/>
                    <a:cs typeface="Consolas" panose="020B0609020204030204" pitchFamily="49" charset="0"/>
                  </a:rPr>
                  <a:t>boolean</a:t>
                </a:r>
                <a:r>
                  <a:rPr lang="en-US" sz="1400" b="1">
                    <a:latin typeface="Consolas" panose="020B0609020204030204" pitchFamily="49" charset="0"/>
                    <a:cs typeface="Consolas" panose="020B0609020204030204" pitchFamily="49" charset="0"/>
                  </a:rPr>
                  <a:t> </a:t>
                </a:r>
                <a:r>
                  <a:rPr lang="en-US" sz="1400" b="1" err="1">
                    <a:latin typeface="Consolas" panose="020B0609020204030204" pitchFamily="49" charset="0"/>
                    <a:cs typeface="Consolas" panose="020B0609020204030204" pitchFamily="49" charset="0"/>
                  </a:rPr>
                  <a:t>isAnyoneNamedCarl</a:t>
                </a:r>
                <a:r>
                  <a:rPr lang="en-US" sz="1400" b="1">
                    <a:latin typeface="Consolas" panose="020B0609020204030204" pitchFamily="49" charset="0"/>
                    <a:cs typeface="Consolas" panose="020B0609020204030204" pitchFamily="49" charset="0"/>
                  </a:rPr>
                  <a:t>(</a:t>
                </a:r>
                <a:r>
                  <a:rPr lang="en-US" sz="1400" b="1">
                    <a:solidFill>
                      <a:srgbClr val="000080"/>
                    </a:solidFill>
                    <a:latin typeface="Consolas" panose="020B0609020204030204" pitchFamily="49" charset="0"/>
                    <a:cs typeface="Consolas" panose="020B0609020204030204" pitchFamily="49" charset="0"/>
                  </a:rPr>
                  <a:t>Student</a:t>
                </a:r>
                <a:r>
                  <a:rPr lang="en-US" sz="1400" b="1">
                    <a:latin typeface="Consolas" panose="020B0609020204030204" pitchFamily="49" charset="0"/>
                    <a:cs typeface="Consolas" panose="020B0609020204030204" pitchFamily="49" charset="0"/>
                  </a:rPr>
                  <a:t>[] students);</a:t>
                </a:r>
              </a:p>
              <a:p>
                <a:pPr lvl="1"/>
                <a:r>
                  <a:rPr lang="en-US" sz="1400"/>
                  <a:t>What is the big O of the following algorithms?</a:t>
                </a:r>
              </a:p>
              <a:p>
                <a:pPr lvl="2"/>
                <a:r>
                  <a:rPr lang="en-US" sz="1400" b="1"/>
                  <a:t>Algorithm 1:</a:t>
                </a:r>
                <a:r>
                  <a:rPr lang="en-US" sz="1400"/>
                  <a:t> Ask each student, one at a time, “Are you named Carl?”</a:t>
                </a:r>
              </a:p>
              <a:p>
                <a:pPr lvl="2"/>
                <a:r>
                  <a:rPr lang="en-US" sz="1400" b="1"/>
                  <a:t>Algorithm 2:</a:t>
                </a:r>
                <a:r>
                  <a:rPr lang="en-US" sz="1400"/>
                  <a:t> Pass a paper around the room, and have each student write their name on it. Then take the paper, and read through it checking if any student is named Carl.</a:t>
                </a:r>
              </a:p>
              <a:p>
                <a:pPr lvl="2"/>
                <a:r>
                  <a:rPr lang="en-US" sz="1400" b="1"/>
                  <a:t>Algorithm 3:</a:t>
                </a:r>
                <a:r>
                  <a:rPr lang="en-US" sz="1400"/>
                  <a:t> The students draw straws one at a time. The student who draws the short straw must leave. On their way out of the room, ask them whether their name is Carl. Repeat this procedure until the room is empty.</a:t>
                </a:r>
              </a:p>
              <a:p>
                <a:pPr lvl="2"/>
                <a:r>
                  <a:rPr lang="en-US" sz="1400" b="1"/>
                  <a:t>Algorithm 4:</a:t>
                </a:r>
                <a:r>
                  <a:rPr lang="en-US" sz="1400"/>
                  <a:t> Play Kahoot. The winner legally changes their name to Carl.</a:t>
                </a:r>
              </a:p>
              <a:p>
                <a:pPr lvl="1"/>
                <a:endParaRPr lang="en-US" sz="1400"/>
              </a:p>
            </p:txBody>
          </p:sp>
        </mc:Choice>
        <mc:Fallback xmlns="">
          <p:sp>
            <p:nvSpPr>
              <p:cNvPr id="9" name="Content Placeholder 8">
                <a:extLst>
                  <a:ext uri="{FF2B5EF4-FFF2-40B4-BE49-F238E27FC236}">
                    <a16:creationId xmlns:a16="http://schemas.microsoft.com/office/drawing/2014/main" id="{101EA06D-40F8-5BCF-3B5C-D8B93A3608A9}"/>
                  </a:ext>
                </a:extLst>
              </p:cNvPr>
              <p:cNvSpPr>
                <a:spLocks noGrp="1" noRot="1" noChangeAspect="1" noMove="1" noResize="1" noEditPoints="1" noAdjustHandles="1" noChangeArrowheads="1" noChangeShapeType="1" noTextEdit="1"/>
              </p:cNvSpPr>
              <p:nvPr>
                <p:ph sz="quarter" idx="10"/>
              </p:nvPr>
            </p:nvSpPr>
            <p:spPr>
              <a:xfrm>
                <a:off x="457200" y="963337"/>
                <a:ext cx="8324850" cy="4080271"/>
              </a:xfrm>
              <a:blipFill>
                <a:blip r:embed="rId3"/>
                <a:stretch>
                  <a:fillRect l="-305" t="-311" r="-305"/>
                </a:stretch>
              </a:blipFill>
            </p:spPr>
            <p:txBody>
              <a:bodyPr/>
              <a:lstStyle/>
              <a:p>
                <a:r>
                  <a:rPr lang="en-US">
                    <a:noFill/>
                  </a:rPr>
                  <a:t> </a:t>
                </a:r>
              </a:p>
            </p:txBody>
          </p:sp>
        </mc:Fallback>
      </mc:AlternateContent>
      <p:pic>
        <p:nvPicPr>
          <p:cNvPr id="1026" name="Picture 2" descr="Carl the Llama | Villains Wiki | Fandom">
            <a:extLst>
              <a:ext uri="{FF2B5EF4-FFF2-40B4-BE49-F238E27FC236}">
                <a16:creationId xmlns:a16="http://schemas.microsoft.com/office/drawing/2014/main" id="{B9202BC6-6934-BB1E-6244-340117AC63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47722" y="3556746"/>
            <a:ext cx="1586753" cy="15867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4923053"/>
      </p:ext>
    </p:extLst>
  </p:cSld>
  <p:clrMapOvr>
    <a:masterClrMapping/>
  </p:clrMapOvr>
</p:sld>
</file>

<file path=ppt/slides/slide5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F24D5-7D38-DAC3-4822-7A49BB05C8A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DE76070-F865-761D-FB64-EFECE9F232F7}"/>
              </a:ext>
            </a:extLst>
          </p:cNvPr>
          <p:cNvSpPr txBox="1"/>
          <p:nvPr/>
        </p:nvSpPr>
        <p:spPr>
          <a:xfrm>
            <a:off x="5448294" y="-196639"/>
            <a:ext cx="2495556" cy="2215991"/>
          </a:xfrm>
          <a:prstGeom prst="rect">
            <a:avLst/>
          </a:prstGeom>
          <a:noFill/>
        </p:spPr>
        <p:txBody>
          <a:bodyPr wrap="square">
            <a:spAutoFit/>
          </a:bodyPr>
          <a:lstStyle/>
          <a:p>
            <a:pPr algn="r"/>
            <a:r>
              <a:rPr kumimoji="0" lang="en-US" sz="13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2400"/>
          </a:p>
        </p:txBody>
      </p:sp>
      <p:pic>
        <p:nvPicPr>
          <p:cNvPr id="2" name="Picture 1" descr="🦜 Parrot on Microsoft Windows 11 November 2021 Update">
            <a:extLst>
              <a:ext uri="{FF2B5EF4-FFF2-40B4-BE49-F238E27FC236}">
                <a16:creationId xmlns:a16="http://schemas.microsoft.com/office/drawing/2014/main" id="{D4FB1103-71C8-1EBA-3C85-5FF6DA6638EA}"/>
              </a:ext>
            </a:extLst>
          </p:cNvPr>
          <p:cNvPicPr>
            <a:picLocks noChangeAspect="1"/>
          </p:cNvPicPr>
          <p:nvPr/>
        </p:nvPicPr>
        <p:blipFill>
          <a:blip r:embed="rId3"/>
          <a:stretch>
            <a:fillRect/>
          </a:stretch>
        </p:blipFill>
        <p:spPr>
          <a:xfrm rot="17746111" flipH="1">
            <a:off x="5816521" y="364034"/>
            <a:ext cx="1012302" cy="1069675"/>
          </a:xfrm>
          <a:prstGeom prst="rect">
            <a:avLst/>
          </a:prstGeom>
        </p:spPr>
      </p:pic>
      <p:sp>
        <p:nvSpPr>
          <p:cNvPr id="8" name="Title 7">
            <a:extLst>
              <a:ext uri="{FF2B5EF4-FFF2-40B4-BE49-F238E27FC236}">
                <a16:creationId xmlns:a16="http://schemas.microsoft.com/office/drawing/2014/main" id="{F77B6078-E92B-03BE-1212-DBB61D165AA1}"/>
              </a:ext>
            </a:extLst>
          </p:cNvPr>
          <p:cNvSpPr>
            <a:spLocks noGrp="1"/>
          </p:cNvSpPr>
          <p:nvPr>
            <p:ph type="title"/>
          </p:nvPr>
        </p:nvSpPr>
        <p:spPr>
          <a:xfrm>
            <a:off x="457200" y="254916"/>
            <a:ext cx="5135804" cy="1893924"/>
          </a:xfrm>
        </p:spPr>
        <p:txBody>
          <a:bodyPr/>
          <a:lstStyle/>
          <a:p>
            <a:r>
              <a:rPr lang="en-US" sz="8800"/>
              <a:t>Week02b</a:t>
            </a:r>
          </a:p>
        </p:txBody>
      </p:sp>
      <p:sp>
        <p:nvSpPr>
          <p:cNvPr id="6" name="Content Placeholder 5">
            <a:extLst>
              <a:ext uri="{FF2B5EF4-FFF2-40B4-BE49-F238E27FC236}">
                <a16:creationId xmlns:a16="http://schemas.microsoft.com/office/drawing/2014/main" id="{41F0DB23-3A43-5F82-E615-D78CA4CECF51}"/>
              </a:ext>
            </a:extLst>
          </p:cNvPr>
          <p:cNvSpPr>
            <a:spLocks noGrp="1"/>
          </p:cNvSpPr>
          <p:nvPr>
            <p:ph sz="quarter" idx="10"/>
          </p:nvPr>
        </p:nvSpPr>
        <p:spPr>
          <a:xfrm>
            <a:off x="457200" y="1993732"/>
            <a:ext cx="8229600" cy="2894013"/>
          </a:xfrm>
        </p:spPr>
        <p:txBody>
          <a:bodyPr>
            <a:noAutofit/>
          </a:bodyPr>
          <a:lstStyle/>
          <a:p>
            <a:r>
              <a:rPr lang="en-US"/>
              <a:t>HW01 feedback 😬</a:t>
            </a:r>
          </a:p>
          <a:p>
            <a:r>
              <a:rPr lang="en-US"/>
              <a:t>HW02 preview!</a:t>
            </a:r>
          </a:p>
          <a:p>
            <a:r>
              <a:rPr lang="en-US"/>
              <a:t>array examples</a:t>
            </a:r>
          </a:p>
          <a:p>
            <a:endParaRPr lang="en-US"/>
          </a:p>
        </p:txBody>
      </p:sp>
      <p:sp>
        <p:nvSpPr>
          <p:cNvPr id="17" name="TextBox 16">
            <a:extLst>
              <a:ext uri="{FF2B5EF4-FFF2-40B4-BE49-F238E27FC236}">
                <a16:creationId xmlns:a16="http://schemas.microsoft.com/office/drawing/2014/main" id="{685C612D-7D34-4825-214D-13CF960FFB98}"/>
              </a:ext>
            </a:extLst>
          </p:cNvPr>
          <p:cNvSpPr txBox="1"/>
          <p:nvPr/>
        </p:nvSpPr>
        <p:spPr>
          <a:xfrm>
            <a:off x="457199" y="3575365"/>
            <a:ext cx="5135803" cy="1323439"/>
          </a:xfrm>
          <a:prstGeom prst="rect">
            <a:avLst/>
          </a:prstGeom>
          <a:solidFill>
            <a:srgbClr val="DEE485"/>
          </a:solidFill>
          <a:ln>
            <a:solidFill>
              <a:schemeClr val="tx1"/>
            </a:solidFill>
          </a:ln>
        </p:spPr>
        <p:txBody>
          <a:bodyPr wrap="square" rtlCol="0">
            <a:spAutoFit/>
          </a:bodyPr>
          <a:lstStyle/>
          <a:p>
            <a:r>
              <a:rPr lang="en-US" sz="3200" b="1"/>
              <a:t>WARMUP:</a:t>
            </a:r>
          </a:p>
          <a:p>
            <a:r>
              <a:rPr lang="en-US" sz="2400"/>
              <a:t>How do you copy an array?</a:t>
            </a:r>
          </a:p>
          <a:p>
            <a:r>
              <a:rPr lang="en-US" sz="2400"/>
              <a:t>What is a shallow vs. a deep copy?</a:t>
            </a:r>
          </a:p>
        </p:txBody>
      </p:sp>
      <p:pic>
        <p:nvPicPr>
          <p:cNvPr id="14" name="Picture 13">
            <a:extLst>
              <a:ext uri="{FF2B5EF4-FFF2-40B4-BE49-F238E27FC236}">
                <a16:creationId xmlns:a16="http://schemas.microsoft.com/office/drawing/2014/main" id="{9CCFA783-4871-D9B7-1CEC-AFA4E1227EAA}"/>
              </a:ext>
            </a:extLst>
          </p:cNvPr>
          <p:cNvPicPr>
            <a:picLocks noChangeAspect="1"/>
          </p:cNvPicPr>
          <p:nvPr/>
        </p:nvPicPr>
        <p:blipFill rotWithShape="1">
          <a:blip r:embed="rId4"/>
          <a:srcRect l="27874" t="45709" r="29789" b="31403"/>
          <a:stretch/>
        </p:blipFill>
        <p:spPr>
          <a:xfrm>
            <a:off x="5746778" y="1003397"/>
            <a:ext cx="1914144" cy="845830"/>
          </a:xfrm>
          <a:prstGeom prst="rect">
            <a:avLst/>
          </a:prstGeom>
        </p:spPr>
      </p:pic>
      <p:sp>
        <p:nvSpPr>
          <p:cNvPr id="15" name="Oval 14">
            <a:extLst>
              <a:ext uri="{FF2B5EF4-FFF2-40B4-BE49-F238E27FC236}">
                <a16:creationId xmlns:a16="http://schemas.microsoft.com/office/drawing/2014/main" id="{B9AA22A5-7B9C-6ECE-DC96-2DAC014635B3}"/>
              </a:ext>
            </a:extLst>
          </p:cNvPr>
          <p:cNvSpPr/>
          <p:nvPr/>
        </p:nvSpPr>
        <p:spPr>
          <a:xfrm>
            <a:off x="6001062" y="517157"/>
            <a:ext cx="171327" cy="171327"/>
          </a:xfrm>
          <a:prstGeom prst="ellipse">
            <a:avLst/>
          </a:prstGeom>
          <a:solidFill>
            <a:srgbClr val="F80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CFDB430C-FF7F-E650-0FB9-5B48D6834764}"/>
              </a:ext>
            </a:extLst>
          </p:cNvPr>
          <p:cNvCxnSpPr>
            <a:cxnSpLocks/>
          </p:cNvCxnSpPr>
          <p:nvPr/>
        </p:nvCxnSpPr>
        <p:spPr>
          <a:xfrm flipH="1">
            <a:off x="6016064" y="557854"/>
            <a:ext cx="70440" cy="78519"/>
          </a:xfrm>
          <a:prstGeom prst="line">
            <a:avLst/>
          </a:prstGeom>
        </p:spPr>
        <p:style>
          <a:lnRef idx="2">
            <a:schemeClr val="dk1"/>
          </a:lnRef>
          <a:fillRef idx="0">
            <a:schemeClr val="dk1"/>
          </a:fillRef>
          <a:effectRef idx="1">
            <a:schemeClr val="dk1"/>
          </a:effectRef>
          <a:fontRef idx="minor">
            <a:schemeClr val="tx1"/>
          </a:fontRef>
        </p:style>
      </p:cxnSp>
      <p:pic>
        <p:nvPicPr>
          <p:cNvPr id="21" name="Picture 20">
            <a:extLst>
              <a:ext uri="{FF2B5EF4-FFF2-40B4-BE49-F238E27FC236}">
                <a16:creationId xmlns:a16="http://schemas.microsoft.com/office/drawing/2014/main" id="{D89B21C0-958F-9B36-AC75-24A35057A56A}"/>
              </a:ext>
            </a:extLst>
          </p:cNvPr>
          <p:cNvPicPr>
            <a:picLocks noChangeAspect="1"/>
          </p:cNvPicPr>
          <p:nvPr/>
        </p:nvPicPr>
        <p:blipFill rotWithShape="1">
          <a:blip r:embed="rId4"/>
          <a:srcRect l="44153" t="45122" r="33160" b="47899"/>
          <a:stretch/>
        </p:blipFill>
        <p:spPr>
          <a:xfrm rot="1270469">
            <a:off x="6435859" y="653301"/>
            <a:ext cx="490159" cy="451878"/>
          </a:xfrm>
          <a:prstGeom prst="rect">
            <a:avLst/>
          </a:prstGeom>
        </p:spPr>
      </p:pic>
      <p:sp>
        <p:nvSpPr>
          <p:cNvPr id="22" name="TextBox 21">
            <a:extLst>
              <a:ext uri="{FF2B5EF4-FFF2-40B4-BE49-F238E27FC236}">
                <a16:creationId xmlns:a16="http://schemas.microsoft.com/office/drawing/2014/main" id="{8059D68F-806E-8F42-FF85-E32C59DD013B}"/>
              </a:ext>
            </a:extLst>
          </p:cNvPr>
          <p:cNvSpPr txBox="1"/>
          <p:nvPr/>
        </p:nvSpPr>
        <p:spPr>
          <a:xfrm>
            <a:off x="6370794" y="167563"/>
            <a:ext cx="1101305" cy="369332"/>
          </a:xfrm>
          <a:prstGeom prst="rect">
            <a:avLst/>
          </a:prstGeom>
          <a:noFill/>
        </p:spPr>
        <p:txBody>
          <a:bodyPr wrap="square" rtlCol="0">
            <a:spAutoFit/>
          </a:bodyPr>
          <a:lstStyle/>
          <a:p>
            <a:r>
              <a:rPr lang="en-US">
                <a:latin typeface="Consolas" panose="020B0609020204030204" pitchFamily="49" charset="0"/>
                <a:cs typeface="Consolas" panose="020B0609020204030204" pitchFamily="49" charset="0"/>
              </a:rPr>
              <a:t>zzz...</a:t>
            </a:r>
          </a:p>
        </p:txBody>
      </p:sp>
      <p:pic>
        <p:nvPicPr>
          <p:cNvPr id="5" name="Picture 4">
            <a:extLst>
              <a:ext uri="{FF2B5EF4-FFF2-40B4-BE49-F238E27FC236}">
                <a16:creationId xmlns:a16="http://schemas.microsoft.com/office/drawing/2014/main" id="{3FDE0CA8-4657-0850-3F6A-5F79E3AC3BF3}"/>
              </a:ext>
            </a:extLst>
          </p:cNvPr>
          <p:cNvPicPr>
            <a:picLocks noChangeAspect="1"/>
          </p:cNvPicPr>
          <p:nvPr/>
        </p:nvPicPr>
        <p:blipFill>
          <a:blip r:embed="rId5"/>
          <a:stretch>
            <a:fillRect/>
          </a:stretch>
        </p:blipFill>
        <p:spPr>
          <a:xfrm>
            <a:off x="5753399" y="1797792"/>
            <a:ext cx="3127393" cy="3152715"/>
          </a:xfrm>
          <a:prstGeom prst="rect">
            <a:avLst/>
          </a:prstGeom>
        </p:spPr>
      </p:pic>
    </p:spTree>
    <p:extLst>
      <p:ext uri="{BB962C8B-B14F-4D97-AF65-F5344CB8AC3E}">
        <p14:creationId xmlns:p14="http://schemas.microsoft.com/office/powerpoint/2010/main" val="193969028"/>
      </p:ext>
    </p:extLst>
  </p:cSld>
  <p:clrMapOvr>
    <a:masterClrMapping/>
  </p:clrMapOvr>
</p:sld>
</file>

<file path=ppt/slides/slide5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8AA93-AFF5-B14F-70AF-60D7069F786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46819AC-5855-F179-BBBE-E0BA497D0DDC}"/>
              </a:ext>
            </a:extLst>
          </p:cNvPr>
          <p:cNvSpPr>
            <a:spLocks noGrp="1"/>
          </p:cNvSpPr>
          <p:nvPr>
            <p:ph type="title"/>
          </p:nvPr>
        </p:nvSpPr>
        <p:spPr/>
        <p:txBody>
          <a:bodyPr/>
          <a:lstStyle/>
          <a:p>
            <a:r>
              <a:rPr lang="en-US"/>
              <a:t>HW01</a:t>
            </a:r>
            <a:br>
              <a:rPr lang="en-US"/>
            </a:br>
            <a:r>
              <a:rPr lang="en-US"/>
              <a:t>feedback</a:t>
            </a:r>
          </a:p>
        </p:txBody>
      </p:sp>
    </p:spTree>
    <p:extLst>
      <p:ext uri="{BB962C8B-B14F-4D97-AF65-F5344CB8AC3E}">
        <p14:creationId xmlns:p14="http://schemas.microsoft.com/office/powerpoint/2010/main" val="4289016770"/>
      </p:ext>
    </p:extLst>
  </p:cSld>
  <p:clrMapOvr>
    <a:masterClrMapping/>
  </p:clrMapOvr>
</p:sld>
</file>

<file path=ppt/slides/slide5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3539C66-37B7-1E84-62C0-7170343A805F}"/>
              </a:ext>
            </a:extLst>
          </p:cNvPr>
          <p:cNvSpPr>
            <a:spLocks noGrp="1"/>
          </p:cNvSpPr>
          <p:nvPr>
            <p:ph type="title"/>
          </p:nvPr>
        </p:nvSpPr>
        <p:spPr/>
        <p:txBody>
          <a:bodyPr/>
          <a:lstStyle/>
          <a:p>
            <a:r>
              <a:rPr lang="en-US"/>
              <a:t>so......</a:t>
            </a:r>
          </a:p>
        </p:txBody>
      </p:sp>
    </p:spTree>
    <p:extLst>
      <p:ext uri="{BB962C8B-B14F-4D97-AF65-F5344CB8AC3E}">
        <p14:creationId xmlns:p14="http://schemas.microsoft.com/office/powerpoint/2010/main" val="3682876558"/>
      </p:ext>
    </p:extLst>
  </p:cSld>
  <p:clrMapOvr>
    <a:masterClrMapping/>
  </p:clrMapOvr>
</p:sld>
</file>

<file path=ppt/slides/slide5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E4B3B-0176-51A7-B878-35B670E27A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82883ED-D1A2-2DDF-0343-2DAEC7650E8D}"/>
              </a:ext>
            </a:extLst>
          </p:cNvPr>
          <p:cNvSpPr>
            <a:spLocks noGrp="1"/>
          </p:cNvSpPr>
          <p:nvPr>
            <p:ph type="title"/>
          </p:nvPr>
        </p:nvSpPr>
        <p:spPr/>
        <p:txBody>
          <a:bodyPr/>
          <a:lstStyle/>
          <a:p>
            <a:r>
              <a:rPr lang="en-US" b="1"/>
              <a:t>exciting: </a:t>
            </a:r>
            <a:r>
              <a:rPr lang="en-US"/>
              <a:t>lots of you did pong!</a:t>
            </a:r>
            <a:br>
              <a:rPr lang="en-US"/>
            </a:br>
            <a:r>
              <a:rPr lang="en-US"/>
              <a:t>fun! we're learning stuff! 😁</a:t>
            </a:r>
          </a:p>
        </p:txBody>
      </p:sp>
    </p:spTree>
    <p:extLst>
      <p:ext uri="{BB962C8B-B14F-4D97-AF65-F5344CB8AC3E}">
        <p14:creationId xmlns:p14="http://schemas.microsoft.com/office/powerpoint/2010/main" val="1608028469"/>
      </p:ext>
    </p:extLst>
  </p:cSld>
  <p:clrMapOvr>
    <a:masterClrMapping/>
  </p:clrMapOvr>
</p:sld>
</file>

<file path=ppt/slides/slide5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658CE4-FE9B-C4E9-092F-7BE8F46E833B}"/>
              </a:ext>
            </a:extLst>
          </p:cNvPr>
          <p:cNvSpPr>
            <a:spLocks noGrp="1"/>
          </p:cNvSpPr>
          <p:nvPr>
            <p:ph type="title"/>
          </p:nvPr>
        </p:nvSpPr>
        <p:spPr/>
        <p:txBody>
          <a:bodyPr/>
          <a:lstStyle/>
          <a:p>
            <a:r>
              <a:rPr lang="en-US" sz="2800" b="1"/>
              <a:t>less exciting:</a:t>
            </a:r>
            <a:br>
              <a:rPr lang="en-US" sz="2800"/>
            </a:br>
            <a:r>
              <a:rPr lang="en-US" sz="2800"/>
              <a:t>&gt; 50% of the students being interviewed today</a:t>
            </a:r>
            <a:br>
              <a:rPr lang="en-US" sz="2800"/>
            </a:br>
            <a:r>
              <a:rPr lang="en-US" sz="2800"/>
              <a:t>did not correctly follow the spec 😬</a:t>
            </a:r>
            <a:br>
              <a:rPr lang="en-US" sz="2800"/>
            </a:br>
            <a:r>
              <a:rPr lang="en-US" sz="1800"/>
              <a:t>(spec = NOTEs + TODOs + Reference Video)</a:t>
            </a:r>
            <a:endParaRPr lang="en-US" sz="2800"/>
          </a:p>
        </p:txBody>
      </p:sp>
    </p:spTree>
    <p:extLst>
      <p:ext uri="{BB962C8B-B14F-4D97-AF65-F5344CB8AC3E}">
        <p14:creationId xmlns:p14="http://schemas.microsoft.com/office/powerpoint/2010/main" val="1236395966"/>
      </p:ext>
    </p:extLst>
  </p:cSld>
  <p:clrMapOvr>
    <a:masterClrMapping/>
  </p:clrMapOvr>
</p:sld>
</file>

<file path=ppt/slides/slide5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8A2EB-76D2-D21F-6B0B-89DB6535851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112C9CA-BAB2-E8FA-2941-69D8430F53BB}"/>
              </a:ext>
            </a:extLst>
          </p:cNvPr>
          <p:cNvSpPr>
            <a:spLocks noGrp="1"/>
          </p:cNvSpPr>
          <p:nvPr>
            <p:ph type="title"/>
          </p:nvPr>
        </p:nvSpPr>
        <p:spPr/>
        <p:txBody>
          <a:bodyPr/>
          <a:lstStyle/>
          <a:p>
            <a:r>
              <a:rPr lang="en-US" sz="2400"/>
              <a:t>so, please check your email inbox 🙂</a:t>
            </a:r>
            <a:br>
              <a:rPr lang="en-US" sz="2400"/>
            </a:br>
            <a:r>
              <a:rPr lang="en-US" sz="1800"/>
              <a:t>(this week i tell you before the interview,</a:t>
            </a:r>
            <a:br>
              <a:rPr lang="en-US" sz="1800"/>
            </a:br>
            <a:r>
              <a:rPr lang="en-US" sz="1800"/>
              <a:t>next week... probably not 🙃)</a:t>
            </a:r>
            <a:endParaRPr lang="en-US" sz="2400"/>
          </a:p>
        </p:txBody>
      </p:sp>
    </p:spTree>
    <p:extLst>
      <p:ext uri="{BB962C8B-B14F-4D97-AF65-F5344CB8AC3E}">
        <p14:creationId xmlns:p14="http://schemas.microsoft.com/office/powerpoint/2010/main" val="3494556696"/>
      </p:ext>
    </p:extLst>
  </p:cSld>
  <p:clrMapOvr>
    <a:masterClrMapping/>
  </p:clrMapOvr>
</p:sld>
</file>

<file path=ppt/slides/slide5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C490A-0107-1ED3-7209-021BEA98CEE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2336C09-798E-68AE-3E1E-A49AB216FC6D}"/>
              </a:ext>
            </a:extLst>
          </p:cNvPr>
          <p:cNvSpPr>
            <a:spLocks noGrp="1"/>
          </p:cNvSpPr>
          <p:nvPr>
            <p:ph type="title"/>
          </p:nvPr>
        </p:nvSpPr>
        <p:spPr/>
        <p:txBody>
          <a:bodyPr/>
          <a:lstStyle/>
          <a:p>
            <a:r>
              <a:rPr lang="en-US" sz="1600"/>
              <a:t>please read NOTE's and TODO's carefully and</a:t>
            </a:r>
            <a:br>
              <a:rPr lang="en-US" sz="1600"/>
            </a:br>
            <a:r>
              <a:rPr lang="en-US" sz="1600"/>
              <a:t>watch the Reference Video carefully</a:t>
            </a:r>
            <a:br>
              <a:rPr lang="en-US" sz="1600"/>
            </a:br>
            <a:r>
              <a:rPr lang="en-US" sz="1600"/>
              <a:t>🙂🙏</a:t>
            </a:r>
          </a:p>
        </p:txBody>
      </p:sp>
    </p:spTree>
    <p:extLst>
      <p:ext uri="{BB962C8B-B14F-4D97-AF65-F5344CB8AC3E}">
        <p14:creationId xmlns:p14="http://schemas.microsoft.com/office/powerpoint/2010/main" val="2179776968"/>
      </p:ext>
    </p:extLst>
  </p:cSld>
  <p:clrMapOvr>
    <a:masterClrMapping/>
  </p:clrMapOvr>
</p:sld>
</file>

<file path=ppt/slides/slide6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3DFBE-A724-BF86-AAE6-D5BA58A4C02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1240A2-2D64-B3EA-129F-1C90C89E79AC}"/>
              </a:ext>
            </a:extLst>
          </p:cNvPr>
          <p:cNvSpPr>
            <a:spLocks noGrp="1"/>
          </p:cNvSpPr>
          <p:nvPr>
            <p:ph type="title"/>
          </p:nvPr>
        </p:nvSpPr>
        <p:spPr>
          <a:xfrm>
            <a:off x="3343275" y="2143125"/>
            <a:ext cx="2457450" cy="857250"/>
          </a:xfrm>
        </p:spPr>
        <p:txBody>
          <a:bodyPr/>
          <a:lstStyle/>
          <a:p>
            <a:r>
              <a:rPr lang="en-US" sz="1200"/>
              <a:t>cause i wrote HW01 and </a:t>
            </a:r>
            <a:r>
              <a:rPr lang="en-US" sz="1200" strike="sngStrike"/>
              <a:t>graphic design</a:t>
            </a:r>
            <a:r>
              <a:rPr lang="en-US" sz="1200"/>
              <a:t> teaching is my passion so</a:t>
            </a:r>
            <a:br>
              <a:rPr lang="en-US" sz="1200"/>
            </a:br>
            <a:r>
              <a:rPr lang="en-US" sz="1200"/>
              <a:t>i am defffffinitely gonna notice if your HW doesn't match the spec</a:t>
            </a:r>
            <a:br>
              <a:rPr lang="en-US" sz="1200"/>
            </a:br>
            <a:r>
              <a:rPr lang="en-US" sz="1200"/>
              <a:t>😬</a:t>
            </a:r>
          </a:p>
        </p:txBody>
      </p:sp>
    </p:spTree>
    <p:extLst>
      <p:ext uri="{BB962C8B-B14F-4D97-AF65-F5344CB8AC3E}">
        <p14:creationId xmlns:p14="http://schemas.microsoft.com/office/powerpoint/2010/main" val="15411250"/>
      </p:ext>
    </p:extLst>
  </p:cSld>
  <p:clrMapOvr>
    <a:masterClrMapping/>
  </p:clrMapOvr>
</p:sld>
</file>

<file path=ppt/slides/slide6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C6617-1714-667A-83A8-608FF89B57C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0B6F9FB-2C9C-5837-0F24-3D1B7098EDE5}"/>
              </a:ext>
            </a:extLst>
          </p:cNvPr>
          <p:cNvSpPr>
            <a:spLocks noGrp="1"/>
          </p:cNvSpPr>
          <p:nvPr>
            <p:ph type="title"/>
          </p:nvPr>
        </p:nvSpPr>
        <p:spPr/>
        <p:txBody>
          <a:bodyPr/>
          <a:lstStyle/>
          <a:p>
            <a:r>
              <a:rPr lang="en-US" sz="1200"/>
              <a:t>is like bradley cooperton says</a:t>
            </a:r>
          </a:p>
        </p:txBody>
      </p:sp>
    </p:spTree>
    <p:extLst>
      <p:ext uri="{BB962C8B-B14F-4D97-AF65-F5344CB8AC3E}">
        <p14:creationId xmlns:p14="http://schemas.microsoft.com/office/powerpoint/2010/main" val="813508563"/>
      </p:ext>
    </p:extLst>
  </p:cSld>
  <p:clrMapOvr>
    <a:masterClrMapping/>
  </p:clrMapOvr>
</p:sld>
</file>

<file path=ppt/slides/slide6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Mr. Cooper high on NZT 🤯, Thoughts on 'Limitless' 💭">
            <a:extLst>
              <a:ext uri="{FF2B5EF4-FFF2-40B4-BE49-F238E27FC236}">
                <a16:creationId xmlns:a16="http://schemas.microsoft.com/office/drawing/2014/main" id="{A7A0C1A5-E499-73AC-9A75-A11235197386}"/>
              </a:ext>
            </a:extLst>
          </p:cNvPr>
          <p:cNvPicPr>
            <a:picLocks noChangeAspect="1"/>
          </p:cNvPicPr>
          <p:nvPr/>
        </p:nvPicPr>
        <p:blipFill>
          <a:blip r:embed="rId2"/>
          <a:stretch>
            <a:fillRect/>
          </a:stretch>
        </p:blipFill>
        <p:spPr>
          <a:xfrm>
            <a:off x="3155950" y="1155700"/>
            <a:ext cx="2832100" cy="2832100"/>
          </a:xfrm>
          <a:prstGeom prst="rect">
            <a:avLst/>
          </a:prstGeom>
        </p:spPr>
      </p:pic>
    </p:spTree>
    <p:extLst>
      <p:ext uri="{BB962C8B-B14F-4D97-AF65-F5344CB8AC3E}">
        <p14:creationId xmlns:p14="http://schemas.microsoft.com/office/powerpoint/2010/main" val="548084384"/>
      </p:ext>
    </p:extLst>
  </p:cSld>
  <p:clrMapOvr>
    <a:masterClrMapping/>
  </p:clrMapOvr>
</p:sld>
</file>

<file path=ppt/slides/slide6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lamas with Hats 1-12: The Complete Series">
            <a:extLst>
              <a:ext uri="{FF2B5EF4-FFF2-40B4-BE49-F238E27FC236}">
                <a16:creationId xmlns:a16="http://schemas.microsoft.com/office/drawing/2014/main" id="{FB2D9CDC-6689-9026-EED8-BA626B4E104F}"/>
              </a:ext>
            </a:extLst>
          </p:cNvPr>
          <p:cNvPicPr>
            <a:picLocks noChangeAspect="1"/>
          </p:cNvPicPr>
          <p:nvPr/>
        </p:nvPicPr>
        <p:blipFill>
          <a:blip r:embed="rId2"/>
          <a:stretch>
            <a:fillRect/>
          </a:stretch>
        </p:blipFill>
        <p:spPr>
          <a:xfrm>
            <a:off x="3524250" y="1982390"/>
            <a:ext cx="2095500" cy="1178720"/>
          </a:xfrm>
          <a:prstGeom prst="rect">
            <a:avLst/>
          </a:prstGeom>
        </p:spPr>
      </p:pic>
    </p:spTree>
    <p:extLst>
      <p:ext uri="{BB962C8B-B14F-4D97-AF65-F5344CB8AC3E}">
        <p14:creationId xmlns:p14="http://schemas.microsoft.com/office/powerpoint/2010/main" val="4000499281"/>
      </p:ext>
    </p:extLst>
  </p:cSld>
  <p:clrMapOvr>
    <a:masterClrMapping/>
  </p:clrMapOvr>
</p:sld>
</file>

<file path=ppt/slides/slide6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0659077"/>
      </p:ext>
    </p:extLst>
  </p:cSld>
  <p:clrMapOvr>
    <a:masterClrMapping/>
  </p:clrMapOvr>
</p:sld>
</file>

<file path=ppt/slides/slide6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62DE6-6853-1344-8546-D50548F034E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880C7B8-1BCF-C6E1-3354-EEE11D98C1E0}"/>
              </a:ext>
            </a:extLst>
          </p:cNvPr>
          <p:cNvPicPr>
            <a:picLocks noChangeAspect="1"/>
          </p:cNvPicPr>
          <p:nvPr/>
        </p:nvPicPr>
        <p:blipFill>
          <a:blip r:embed="rId2"/>
          <a:stretch>
            <a:fillRect/>
          </a:stretch>
        </p:blipFill>
        <p:spPr>
          <a:xfrm>
            <a:off x="685800" y="791597"/>
            <a:ext cx="7772400" cy="3560305"/>
          </a:xfrm>
          <a:prstGeom prst="rect">
            <a:avLst/>
          </a:prstGeom>
        </p:spPr>
      </p:pic>
    </p:spTree>
    <p:extLst>
      <p:ext uri="{BB962C8B-B14F-4D97-AF65-F5344CB8AC3E}">
        <p14:creationId xmlns:p14="http://schemas.microsoft.com/office/powerpoint/2010/main" val="2768111661"/>
      </p:ext>
    </p:extLst>
  </p:cSld>
  <p:clrMapOvr>
    <a:masterClrMapping/>
  </p:clrMapOvr>
</p:sld>
</file>

<file path=ppt/slides/slide6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42163-AB13-B487-E972-554A55E73F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5BEFDA-EF1E-F8B9-0847-40294BFF0202}"/>
              </a:ext>
            </a:extLst>
          </p:cNvPr>
          <p:cNvSpPr>
            <a:spLocks noGrp="1"/>
          </p:cNvSpPr>
          <p:nvPr>
            <p:ph type="title"/>
          </p:nvPr>
        </p:nvSpPr>
        <p:spPr/>
        <p:txBody>
          <a:bodyPr/>
          <a:lstStyle/>
          <a:p>
            <a:r>
              <a:rPr lang="en-US" sz="16600"/>
              <a:t>👻</a:t>
            </a:r>
            <a:br>
              <a:rPr lang="en-US"/>
            </a:br>
            <a:r>
              <a:rPr lang="en-US" sz="3200"/>
              <a:t>[HW02 preview]</a:t>
            </a:r>
            <a:endParaRPr lang="en-US"/>
          </a:p>
        </p:txBody>
      </p:sp>
    </p:spTree>
    <p:extLst>
      <p:ext uri="{BB962C8B-B14F-4D97-AF65-F5344CB8AC3E}">
        <p14:creationId xmlns:p14="http://schemas.microsoft.com/office/powerpoint/2010/main" val="4100928305"/>
      </p:ext>
    </p:extLst>
  </p:cSld>
  <p:clrMapOvr>
    <a:masterClrMapping/>
  </p:clrMapOvr>
</p:sld>
</file>

<file path=ppt/slides/slide6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22CA2-18BF-72E5-49F4-150CF487B71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30E077-F46D-FFD7-52ED-FF633B73802F}"/>
              </a:ext>
            </a:extLst>
          </p:cNvPr>
          <p:cNvSpPr>
            <a:spLocks noGrp="1"/>
          </p:cNvSpPr>
          <p:nvPr>
            <p:ph type="title"/>
          </p:nvPr>
        </p:nvSpPr>
        <p:spPr/>
        <p:txBody>
          <a:bodyPr/>
          <a:lstStyle/>
          <a:p>
            <a:r>
              <a:rPr lang="en-US"/>
              <a:t>array examples</a:t>
            </a:r>
          </a:p>
        </p:txBody>
      </p:sp>
    </p:spTree>
    <p:extLst>
      <p:ext uri="{BB962C8B-B14F-4D97-AF65-F5344CB8AC3E}">
        <p14:creationId xmlns:p14="http://schemas.microsoft.com/office/powerpoint/2010/main" val="1013096807"/>
      </p:ext>
    </p:extLst>
  </p:cSld>
  <p:clrMapOvr>
    <a:masterClrMapping/>
  </p:clrMapOvr>
</p:sld>
</file>

<file path=ppt/slides/slide6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33883-2DE9-92E1-3FC8-FCD90B1C416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64A54A9-E60D-0819-A446-7EFA21F12414}"/>
              </a:ext>
            </a:extLst>
          </p:cNvPr>
          <p:cNvSpPr>
            <a:spLocks noGrp="1"/>
          </p:cNvSpPr>
          <p:nvPr>
            <p:ph type="title"/>
          </p:nvPr>
        </p:nvSpPr>
        <p:spPr/>
        <p:txBody>
          <a:bodyPr/>
          <a:lstStyle/>
          <a:p>
            <a:r>
              <a:rPr lang="en-US" b="1"/>
              <a:t>review:</a:t>
            </a:r>
            <a:r>
              <a:rPr lang="en-US"/>
              <a:t> creating an array of the first 100</a:t>
            </a:r>
            <a:br>
              <a:rPr lang="en-US"/>
            </a:br>
            <a:r>
              <a:rPr lang="en-US"/>
              <a:t>non-negative integers</a:t>
            </a:r>
          </a:p>
        </p:txBody>
      </p:sp>
    </p:spTree>
    <p:extLst>
      <p:ext uri="{BB962C8B-B14F-4D97-AF65-F5344CB8AC3E}">
        <p14:creationId xmlns:p14="http://schemas.microsoft.com/office/powerpoint/2010/main" val="4104178281"/>
      </p:ext>
    </p:extLst>
  </p:cSld>
  <p:clrMapOvr>
    <a:masterClrMapping/>
  </p:clrMapOvr>
</p:sld>
</file>

<file path=ppt/slides/slide6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2AFE6-A216-1465-08CC-2B21494B1E0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FF73698-F361-EB71-73A1-9E93920AD0E3}"/>
              </a:ext>
            </a:extLst>
          </p:cNvPr>
          <p:cNvSpPr>
            <a:spLocks noGrp="1"/>
          </p:cNvSpPr>
          <p:nvPr>
            <p:ph type="title"/>
          </p:nvPr>
        </p:nvSpPr>
        <p:spPr/>
        <p:txBody>
          <a:bodyPr>
            <a:normAutofit fontScale="90000"/>
          </a:bodyPr>
          <a:lstStyle/>
          <a:p>
            <a:r>
              <a:rPr lang="en-US" b="1"/>
              <a:t>example:</a:t>
            </a:r>
            <a:r>
              <a:rPr lang="en-US"/>
              <a:t> creating an array of the first 100 </a:t>
            </a:r>
            <a:br>
              <a:rPr lang="en-US"/>
            </a:br>
            <a:r>
              <a:rPr lang="en-US"/>
              <a:t>non-negative integers [ 0, 1, ..., 99 ]</a:t>
            </a:r>
            <a:endParaRPr lang="en-US" b="1"/>
          </a:p>
        </p:txBody>
      </p:sp>
      <p:sp>
        <p:nvSpPr>
          <p:cNvPr id="6" name="TextBox 5">
            <a:extLst>
              <a:ext uri="{FF2B5EF4-FFF2-40B4-BE49-F238E27FC236}">
                <a16:creationId xmlns:a16="http://schemas.microsoft.com/office/drawing/2014/main" id="{9F35305F-3139-A495-939E-7605C3BD8E92}"/>
              </a:ext>
            </a:extLst>
          </p:cNvPr>
          <p:cNvSpPr txBox="1"/>
          <p:nvPr/>
        </p:nvSpPr>
        <p:spPr>
          <a:xfrm>
            <a:off x="457200" y="1220893"/>
            <a:ext cx="8229600" cy="3477875"/>
          </a:xfrm>
          <a:prstGeom prst="rect">
            <a:avLst/>
          </a:prstGeom>
          <a:solidFill>
            <a:schemeClr val="bg1"/>
          </a:solidFill>
          <a:ln>
            <a:solidFill>
              <a:schemeClr val="tx1"/>
            </a:solidFill>
          </a:ln>
        </p:spPr>
        <p:txBody>
          <a:bodyPr wrap="square" rtlCol="0">
            <a:spAutoFit/>
          </a:bodyPr>
          <a:lstStyle/>
          <a:p>
            <a:r>
              <a:rPr lang="en-US" sz="2000">
                <a:solidFill>
                  <a:srgbClr val="0432FF"/>
                </a:solidFill>
                <a:latin typeface="Consolas" panose="020B0609020204030204" pitchFamily="49" charset="0"/>
                <a:cs typeface="Consolas" panose="020B0609020204030204" pitchFamily="49" charset="0"/>
              </a:rPr>
              <a:t>class</a:t>
            </a:r>
            <a:r>
              <a:rPr lang="en-US" sz="2000">
                <a:latin typeface="Consolas" panose="020B0609020204030204" pitchFamily="49" charset="0"/>
                <a:cs typeface="Consolas" panose="020B0609020204030204" pitchFamily="49" charset="0"/>
              </a:rPr>
              <a:t> Main </a:t>
            </a:r>
            <a:r>
              <a:rPr lang="en-US" sz="2000">
                <a:solidFill>
                  <a:srgbClr val="0432FF"/>
                </a:solidFill>
                <a:latin typeface="Consolas" panose="020B0609020204030204" pitchFamily="49" charset="0"/>
                <a:cs typeface="Consolas" panose="020B0609020204030204" pitchFamily="49" charset="0"/>
              </a:rPr>
              <a:t>extends</a:t>
            </a:r>
            <a:r>
              <a:rPr lang="en-US" sz="2000">
                <a:latin typeface="Consolas" panose="020B0609020204030204" pitchFamily="49" charset="0"/>
                <a:cs typeface="Consolas" panose="020B0609020204030204" pitchFamily="49" charset="0"/>
              </a:rPr>
              <a:t> Cow {</a:t>
            </a:r>
          </a:p>
          <a:p>
            <a:pPr lvl="1"/>
            <a:r>
              <a:rPr lang="en-US" sz="2000">
                <a:solidFill>
                  <a:srgbClr val="0432FF"/>
                </a:solidFill>
                <a:latin typeface="Consolas" panose="020B0609020204030204" pitchFamily="49" charset="0"/>
                <a:cs typeface="Consolas" panose="020B0609020204030204" pitchFamily="49" charset="0"/>
              </a:rPr>
              <a:t>public</a:t>
            </a:r>
            <a:r>
              <a:rPr lang="en-US" sz="2000">
                <a:latin typeface="Consolas" panose="020B0609020204030204" pitchFamily="49" charset="0"/>
                <a:cs typeface="Consolas" panose="020B0609020204030204" pitchFamily="49" charset="0"/>
              </a:rPr>
              <a:t> </a:t>
            </a:r>
            <a:r>
              <a:rPr lang="en-US" sz="2000">
                <a:solidFill>
                  <a:srgbClr val="0432FF"/>
                </a:solidFill>
                <a:latin typeface="Consolas" panose="020B0609020204030204" pitchFamily="49" charset="0"/>
                <a:cs typeface="Consolas" panose="020B0609020204030204" pitchFamily="49" charset="0"/>
              </a:rPr>
              <a:t>static</a:t>
            </a:r>
            <a:r>
              <a:rPr lang="en-US" sz="2000">
                <a:latin typeface="Consolas" panose="020B0609020204030204" pitchFamily="49" charset="0"/>
                <a:cs typeface="Consolas" panose="020B0609020204030204" pitchFamily="49" charset="0"/>
              </a:rPr>
              <a:t> </a:t>
            </a:r>
            <a:r>
              <a:rPr lang="en-US" sz="2000">
                <a:solidFill>
                  <a:srgbClr val="011893"/>
                </a:solidFill>
                <a:latin typeface="Consolas" panose="020B0609020204030204" pitchFamily="49" charset="0"/>
                <a:cs typeface="Consolas" panose="020B0609020204030204" pitchFamily="49" charset="0"/>
              </a:rPr>
              <a:t>void</a:t>
            </a:r>
            <a:r>
              <a:rPr lang="en-US" sz="2000">
                <a:latin typeface="Consolas" panose="020B0609020204030204" pitchFamily="49" charset="0"/>
                <a:cs typeface="Consolas" panose="020B0609020204030204" pitchFamily="49" charset="0"/>
              </a:rPr>
              <a:t> main(</a:t>
            </a:r>
            <a:r>
              <a:rPr lang="en-US" sz="2000">
                <a:solidFill>
                  <a:srgbClr val="011893"/>
                </a:solidFill>
                <a:latin typeface="Consolas" panose="020B0609020204030204" pitchFamily="49" charset="0"/>
                <a:cs typeface="Consolas" panose="020B0609020204030204" pitchFamily="49" charset="0"/>
              </a:rPr>
              <a:t>String</a:t>
            </a:r>
            <a:r>
              <a:rPr lang="en-US" sz="2000">
                <a:latin typeface="Consolas" panose="020B0609020204030204" pitchFamily="49" charset="0"/>
                <a:cs typeface="Consolas" panose="020B0609020204030204" pitchFamily="49" charset="0"/>
              </a:rPr>
              <a:t>[] arguments) {</a:t>
            </a:r>
          </a:p>
          <a:p>
            <a:pPr lvl="1"/>
            <a:endParaRPr lang="en-US" sz="2000">
              <a:latin typeface="Consolas" panose="020B0609020204030204" pitchFamily="49" charset="0"/>
              <a:cs typeface="Consolas" panose="020B0609020204030204" pitchFamily="49" charset="0"/>
            </a:endParaRPr>
          </a:p>
          <a:p>
            <a:pPr lvl="2"/>
            <a:r>
              <a:rPr lang="en-US" sz="2000">
                <a:solidFill>
                  <a:srgbClr val="011893"/>
                </a:solidFill>
                <a:latin typeface="Consolas" panose="020B0609020204030204" pitchFamily="49" charset="0"/>
                <a:cs typeface="Consolas" panose="020B0609020204030204" pitchFamily="49" charset="0"/>
              </a:rPr>
              <a:t>int</a:t>
            </a:r>
            <a:r>
              <a:rPr lang="en-US" sz="2000">
                <a:latin typeface="Consolas" panose="020B0609020204030204" pitchFamily="49" charset="0"/>
                <a:cs typeface="Consolas" panose="020B0609020204030204" pitchFamily="49" charset="0"/>
              </a:rPr>
              <a:t>[] array = </a:t>
            </a:r>
            <a:r>
              <a:rPr lang="en-US" sz="2000">
                <a:solidFill>
                  <a:srgbClr val="0432FF"/>
                </a:solidFill>
                <a:latin typeface="Consolas" panose="020B0609020204030204" pitchFamily="49" charset="0"/>
                <a:cs typeface="Consolas" panose="020B0609020204030204" pitchFamily="49" charset="0"/>
              </a:rPr>
              <a:t>new</a:t>
            </a:r>
            <a:r>
              <a:rPr lang="en-US" sz="2000">
                <a:latin typeface="Consolas" panose="020B0609020204030204" pitchFamily="49" charset="0"/>
                <a:cs typeface="Consolas" panose="020B0609020204030204" pitchFamily="49" charset="0"/>
              </a:rPr>
              <a:t> </a:t>
            </a:r>
            <a:r>
              <a:rPr lang="en-US" sz="2000">
                <a:solidFill>
                  <a:srgbClr val="011893"/>
                </a:solidFill>
                <a:latin typeface="Consolas" panose="020B0609020204030204" pitchFamily="49" charset="0"/>
                <a:cs typeface="Consolas" panose="020B0609020204030204" pitchFamily="49" charset="0"/>
              </a:rPr>
              <a:t>int</a:t>
            </a:r>
            <a:r>
              <a:rPr lang="en-US" sz="2000">
                <a:latin typeface="Consolas" panose="020B0609020204030204" pitchFamily="49" charset="0"/>
                <a:cs typeface="Consolas" panose="020B0609020204030204" pitchFamily="49" charset="0"/>
              </a:rPr>
              <a:t>[100];</a:t>
            </a:r>
          </a:p>
          <a:p>
            <a:pPr lvl="2"/>
            <a:r>
              <a:rPr lang="en-US" sz="2000">
                <a:solidFill>
                  <a:srgbClr val="0432FF"/>
                </a:solidFill>
                <a:latin typeface="Consolas" panose="020B0609020204030204" pitchFamily="49" charset="0"/>
                <a:cs typeface="Consolas" panose="020B0609020204030204" pitchFamily="49" charset="0"/>
              </a:rPr>
              <a:t>for</a:t>
            </a:r>
            <a:r>
              <a:rPr lang="en-US" sz="2000">
                <a:latin typeface="Consolas" panose="020B0609020204030204" pitchFamily="49" charset="0"/>
                <a:cs typeface="Consolas" panose="020B0609020204030204" pitchFamily="49" charset="0"/>
              </a:rPr>
              <a:t> (</a:t>
            </a:r>
            <a:r>
              <a:rPr lang="en-US" sz="2000">
                <a:solidFill>
                  <a:srgbClr val="011893"/>
                </a:solidFill>
                <a:latin typeface="Consolas" panose="020B0609020204030204" pitchFamily="49" charset="0"/>
                <a:cs typeface="Consolas" panose="020B0609020204030204" pitchFamily="49" charset="0"/>
              </a:rPr>
              <a:t>int</a:t>
            </a:r>
            <a:r>
              <a:rPr lang="en-US" sz="2000">
                <a:latin typeface="Consolas" panose="020B0609020204030204" pitchFamily="49" charset="0"/>
                <a:cs typeface="Consolas" panose="020B0609020204030204" pitchFamily="49" charset="0"/>
              </a:rPr>
              <a:t> i = </a:t>
            </a:r>
            <a:r>
              <a:rPr lang="en-US" sz="2000">
                <a:solidFill>
                  <a:srgbClr val="3AA4EC"/>
                </a:solidFill>
                <a:latin typeface="Consolas" panose="020B0609020204030204" pitchFamily="49" charset="0"/>
                <a:cs typeface="Consolas" panose="020B0609020204030204" pitchFamily="49" charset="0"/>
              </a:rPr>
              <a:t>0</a:t>
            </a:r>
            <a:r>
              <a:rPr lang="en-US" sz="2000">
                <a:latin typeface="Consolas" panose="020B0609020204030204" pitchFamily="49" charset="0"/>
                <a:cs typeface="Consolas" panose="020B0609020204030204" pitchFamily="49" charset="0"/>
              </a:rPr>
              <a:t>; i &lt; array.length; ++i) {</a:t>
            </a:r>
          </a:p>
          <a:p>
            <a:pPr lvl="2"/>
            <a:r>
              <a:rPr lang="en-US" sz="2000">
                <a:latin typeface="Consolas" panose="020B0609020204030204" pitchFamily="49" charset="0"/>
                <a:cs typeface="Consolas" panose="020B0609020204030204" pitchFamily="49" charset="0"/>
              </a:rPr>
              <a:t>	array[i] = i;</a:t>
            </a:r>
          </a:p>
          <a:p>
            <a:pPr lvl="2"/>
            <a:r>
              <a:rPr lang="en-US" sz="2000">
                <a:latin typeface="Consolas" panose="020B0609020204030204" pitchFamily="49" charset="0"/>
                <a:cs typeface="Consolas" panose="020B0609020204030204" pitchFamily="49" charset="0"/>
              </a:rPr>
              <a:t>}</a:t>
            </a:r>
          </a:p>
          <a:p>
            <a:pPr lvl="2"/>
            <a:endParaRPr lang="en-US" sz="2000">
              <a:latin typeface="Consolas" panose="020B0609020204030204" pitchFamily="49" charset="0"/>
              <a:cs typeface="Consolas" panose="020B0609020204030204" pitchFamily="49" charset="0"/>
            </a:endParaRPr>
          </a:p>
          <a:p>
            <a:pPr lvl="2"/>
            <a:r>
              <a:rPr lang="en-US" sz="2000">
                <a:solidFill>
                  <a:srgbClr val="011893"/>
                </a:solidFill>
                <a:latin typeface="Consolas" panose="020B0609020204030204" pitchFamily="49" charset="0"/>
                <a:cs typeface="Consolas" panose="020B0609020204030204" pitchFamily="49" charset="0"/>
              </a:rPr>
              <a:t>PRINT</a:t>
            </a:r>
            <a:r>
              <a:rPr lang="en-US" sz="2000">
                <a:latin typeface="Consolas" panose="020B0609020204030204" pitchFamily="49" charset="0"/>
                <a:cs typeface="Consolas" panose="020B0609020204030204" pitchFamily="49" charset="0"/>
              </a:rPr>
              <a:t>(array);</a:t>
            </a:r>
          </a:p>
          <a:p>
            <a:pPr lvl="1"/>
            <a:r>
              <a:rPr lang="en-US" sz="2000">
                <a:latin typeface="Consolas" panose="020B0609020204030204" pitchFamily="49" charset="0"/>
                <a:cs typeface="Consolas" panose="020B0609020204030204" pitchFamily="49" charset="0"/>
              </a:rPr>
              <a:t>}</a:t>
            </a:r>
          </a:p>
          <a:p>
            <a:r>
              <a:rPr lang="en-US" sz="200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422723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53ED2-2BA2-CBBA-45E6-BF022452081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1470267-ABDF-B2E7-19DC-C7941168411A}"/>
              </a:ext>
            </a:extLst>
          </p:cNvPr>
          <p:cNvSpPr>
            <a:spLocks noGrp="1"/>
          </p:cNvSpPr>
          <p:nvPr>
            <p:ph type="title"/>
          </p:nvPr>
        </p:nvSpPr>
        <p:spPr/>
        <p:txBody>
          <a:bodyPr/>
          <a:lstStyle/>
          <a:p>
            <a:r>
              <a:rPr lang="en-US" sz="4800" b="1"/>
              <a:t>☠</a:t>
            </a:r>
            <a:br>
              <a:rPr lang="en-US" sz="4800" b="1"/>
            </a:br>
            <a:r>
              <a:rPr lang="en-US" sz="4800" b="1"/>
              <a:t>example:</a:t>
            </a:r>
            <a:r>
              <a:rPr lang="en-US" sz="4800"/>
              <a:t> array shallow copy</a:t>
            </a:r>
            <a:br>
              <a:rPr lang="en-US" sz="4800"/>
            </a:br>
            <a:r>
              <a:rPr lang="en-US" sz="4800"/>
              <a:t>(bad very bad broken copy)</a:t>
            </a:r>
          </a:p>
        </p:txBody>
      </p:sp>
    </p:spTree>
    <p:extLst>
      <p:ext uri="{BB962C8B-B14F-4D97-AF65-F5344CB8AC3E}">
        <p14:creationId xmlns:p14="http://schemas.microsoft.com/office/powerpoint/2010/main" val="1813854879"/>
      </p:ext>
    </p:extLst>
  </p:cSld>
  <p:clrMapOvr>
    <a:masterClrMapping/>
  </p:clrMapOvr>
</p:sld>
</file>

<file path=ppt/slides/slide6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F919F-26C3-C54B-19C5-425AF6270C4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C646754-5425-9CDF-9436-58B423D2F4B1}"/>
              </a:ext>
            </a:extLst>
          </p:cNvPr>
          <p:cNvSpPr>
            <a:spLocks noGrp="1"/>
          </p:cNvSpPr>
          <p:nvPr>
            <p:ph type="title"/>
          </p:nvPr>
        </p:nvSpPr>
        <p:spPr/>
        <p:txBody>
          <a:bodyPr>
            <a:normAutofit/>
          </a:bodyPr>
          <a:lstStyle/>
          <a:p>
            <a:r>
              <a:rPr lang="en-US" b="1"/>
              <a:t>☠ example: </a:t>
            </a:r>
            <a:r>
              <a:rPr lang="en-US"/>
              <a:t>array shallow copy</a:t>
            </a:r>
            <a:endParaRPr lang="en-US" b="1"/>
          </a:p>
        </p:txBody>
      </p:sp>
      <p:sp>
        <p:nvSpPr>
          <p:cNvPr id="6" name="TextBox 5">
            <a:extLst>
              <a:ext uri="{FF2B5EF4-FFF2-40B4-BE49-F238E27FC236}">
                <a16:creationId xmlns:a16="http://schemas.microsoft.com/office/drawing/2014/main" id="{D9978985-4442-2509-4380-05A611DDC016}"/>
              </a:ext>
            </a:extLst>
          </p:cNvPr>
          <p:cNvSpPr txBox="1"/>
          <p:nvPr/>
        </p:nvSpPr>
        <p:spPr>
          <a:xfrm>
            <a:off x="457200" y="992293"/>
            <a:ext cx="8229600" cy="3884140"/>
          </a:xfrm>
          <a:prstGeom prst="rect">
            <a:avLst/>
          </a:prstGeom>
          <a:solidFill>
            <a:schemeClr val="accent1">
              <a:lumMod val="20000"/>
              <a:lumOff val="80000"/>
            </a:schemeClr>
          </a:solidFill>
          <a:ln>
            <a:solidFill>
              <a:schemeClr val="tx1"/>
            </a:solidFill>
          </a:ln>
        </p:spPr>
        <p:txBody>
          <a:bodyPr wrap="square" rtlCol="0">
            <a:spAutoFit/>
          </a:bodyPr>
          <a:lstStyle/>
          <a:p>
            <a:pPr defTabSz="342886">
              <a:spcBef>
                <a:spcPct val="20000"/>
              </a:spcBef>
              <a:buClr>
                <a:srgbClr val="FFFFFF">
                  <a:lumMod val="65000"/>
                </a:srgbClr>
              </a:buClr>
            </a:pPr>
            <a:r>
              <a:rPr lang="en-US" sz="1600">
                <a:latin typeface="Consolas"/>
                <a:ea typeface="Segoe UI Emoji" panose="020B0502040204020203" pitchFamily="34" charset="0"/>
              </a:rPr>
              <a:t>class Main extends Cow { </a:t>
            </a:r>
          </a:p>
          <a:p>
            <a:pPr defTabSz="342886">
              <a:spcBef>
                <a:spcPct val="20000"/>
              </a:spcBef>
              <a:buClr>
                <a:srgbClr val="FFFFFF">
                  <a:lumMod val="65000"/>
                </a:srgbClr>
              </a:buClr>
            </a:pPr>
            <a:r>
              <a:rPr lang="en-US" sz="1600">
                <a:latin typeface="Consolas"/>
                <a:ea typeface="Segoe UI Emoji" panose="020B0502040204020203" pitchFamily="34" charset="0"/>
              </a:rPr>
              <a:t>    public static void main(String[] arguments) { </a:t>
            </a:r>
          </a:p>
          <a:p>
            <a:pPr defTabSz="342886">
              <a:spcBef>
                <a:spcPct val="20000"/>
              </a:spcBef>
              <a:buClr>
                <a:srgbClr val="FFFFFF">
                  <a:lumMod val="65000"/>
                </a:srgbClr>
              </a:buClr>
            </a:pPr>
            <a:r>
              <a:rPr lang="en-US" sz="1600">
                <a:latin typeface="Consolas"/>
                <a:ea typeface="Segoe UI Emoji" panose="020B0502040204020203" pitchFamily="34" charset="0"/>
              </a:rPr>
              <a:t>        int[] source = { 3, 4, 5 }; </a:t>
            </a:r>
          </a:p>
          <a:p>
            <a:pPr defTabSz="342886">
              <a:spcBef>
                <a:spcPct val="20000"/>
              </a:spcBef>
              <a:buClr>
                <a:srgbClr val="FFFFFF">
                  <a:lumMod val="65000"/>
                </a:srgbClr>
              </a:buClr>
            </a:pPr>
            <a:r>
              <a:rPr lang="en-US" sz="1600">
                <a:latin typeface="Consolas"/>
                <a:ea typeface="Segoe UI Emoji" panose="020B0502040204020203" pitchFamily="34" charset="0"/>
              </a:rPr>
              <a:t> </a:t>
            </a:r>
          </a:p>
          <a:p>
            <a:pPr defTabSz="342886">
              <a:spcBef>
                <a:spcPct val="20000"/>
              </a:spcBef>
              <a:buClr>
                <a:srgbClr val="FFFFFF">
                  <a:lumMod val="65000"/>
                </a:srgbClr>
              </a:buClr>
            </a:pPr>
            <a:r>
              <a:rPr lang="en-US" sz="1600" b="1">
                <a:latin typeface="Consolas"/>
                <a:ea typeface="Segoe UI Emoji" panose="020B0502040204020203" pitchFamily="34" charset="0"/>
              </a:rPr>
              <a:t>        int[] destination = source; </a:t>
            </a:r>
          </a:p>
          <a:p>
            <a:pPr defTabSz="342886">
              <a:spcBef>
                <a:spcPct val="20000"/>
              </a:spcBef>
              <a:buClr>
                <a:srgbClr val="FFFFFF">
                  <a:lumMod val="65000"/>
                </a:srgbClr>
              </a:buClr>
            </a:pPr>
            <a:r>
              <a:rPr lang="en-US" sz="1600">
                <a:latin typeface="Consolas"/>
                <a:ea typeface="Segoe UI Emoji" panose="020B0502040204020203" pitchFamily="34" charset="0"/>
              </a:rPr>
              <a:t> </a:t>
            </a:r>
          </a:p>
          <a:p>
            <a:pPr defTabSz="342886">
              <a:spcBef>
                <a:spcPct val="20000"/>
              </a:spcBef>
              <a:buClr>
                <a:srgbClr val="FFFFFF">
                  <a:lumMod val="65000"/>
                </a:srgbClr>
              </a:buClr>
            </a:pPr>
            <a:r>
              <a:rPr lang="en-US" sz="1600">
                <a:latin typeface="Consolas"/>
                <a:ea typeface="Segoe UI Emoji" panose="020B0502040204020203" pitchFamily="34" charset="0"/>
              </a:rPr>
              <a:t>        PRINT(source); </a:t>
            </a:r>
            <a:r>
              <a:rPr lang="en-US" sz="1600">
                <a:solidFill>
                  <a:srgbClr val="007B00"/>
                </a:solidFill>
                <a:latin typeface="Consolas"/>
                <a:ea typeface="Segoe UI Emoji" panose="020B0502040204020203" pitchFamily="34" charset="0"/>
              </a:rPr>
              <a:t>// [ 3, 4, 5] </a:t>
            </a:r>
          </a:p>
          <a:p>
            <a:pPr defTabSz="342886">
              <a:spcBef>
                <a:spcPct val="20000"/>
              </a:spcBef>
              <a:buClr>
                <a:srgbClr val="FFFFFF">
                  <a:lumMod val="65000"/>
                </a:srgbClr>
              </a:buClr>
            </a:pPr>
            <a:r>
              <a:rPr lang="en-US" sz="1600">
                <a:latin typeface="Consolas"/>
                <a:ea typeface="Segoe UI Emoji" panose="020B0502040204020203" pitchFamily="34" charset="0"/>
              </a:rPr>
              <a:t>        PRINT(destination); </a:t>
            </a:r>
            <a:r>
              <a:rPr lang="en-US" sz="1600">
                <a:solidFill>
                  <a:srgbClr val="007B00"/>
                </a:solidFill>
                <a:latin typeface="Consolas"/>
                <a:ea typeface="Segoe UI Emoji" panose="020B0502040204020203" pitchFamily="34" charset="0"/>
              </a:rPr>
              <a:t>// [ 3, 4, 5] </a:t>
            </a:r>
          </a:p>
          <a:p>
            <a:pPr defTabSz="342886">
              <a:spcBef>
                <a:spcPct val="20000"/>
              </a:spcBef>
              <a:buClr>
                <a:srgbClr val="FFFFFF">
                  <a:lumMod val="65000"/>
                </a:srgbClr>
              </a:buClr>
            </a:pPr>
            <a:r>
              <a:rPr lang="en-US" sz="1600">
                <a:latin typeface="Consolas"/>
                <a:ea typeface="Segoe UI Emoji" panose="020B0502040204020203" pitchFamily="34" charset="0"/>
              </a:rPr>
              <a:t>        destination[0] = 7; </a:t>
            </a:r>
          </a:p>
          <a:p>
            <a:pPr defTabSz="342886">
              <a:spcBef>
                <a:spcPct val="20000"/>
              </a:spcBef>
              <a:buClr>
                <a:srgbClr val="FFFFFF">
                  <a:lumMod val="65000"/>
                </a:srgbClr>
              </a:buClr>
            </a:pPr>
            <a:r>
              <a:rPr lang="en-US" sz="1600">
                <a:latin typeface="Consolas"/>
                <a:ea typeface="Segoe UI Emoji" panose="020B0502040204020203" pitchFamily="34" charset="0"/>
              </a:rPr>
              <a:t>        PRINT(source); </a:t>
            </a:r>
            <a:r>
              <a:rPr lang="en-US" sz="1600">
                <a:solidFill>
                  <a:srgbClr val="007B00"/>
                </a:solidFill>
                <a:latin typeface="Consolas"/>
                <a:ea typeface="Segoe UI Emoji" panose="020B0502040204020203" pitchFamily="34" charset="0"/>
              </a:rPr>
              <a:t>// [ 7, 4, 5] </a:t>
            </a:r>
          </a:p>
          <a:p>
            <a:pPr defTabSz="342886">
              <a:spcBef>
                <a:spcPct val="20000"/>
              </a:spcBef>
              <a:buClr>
                <a:srgbClr val="FFFFFF">
                  <a:lumMod val="65000"/>
                </a:srgbClr>
              </a:buClr>
            </a:pPr>
            <a:r>
              <a:rPr lang="en-US" sz="1600">
                <a:latin typeface="Consolas"/>
                <a:ea typeface="Segoe UI Emoji" panose="020B0502040204020203" pitchFamily="34" charset="0"/>
              </a:rPr>
              <a:t>        PRINT(destination);</a:t>
            </a:r>
            <a:r>
              <a:rPr lang="en-US" sz="1600">
                <a:solidFill>
                  <a:srgbClr val="007B00"/>
                </a:solidFill>
                <a:latin typeface="Consolas"/>
                <a:ea typeface="Segoe UI Emoji" panose="020B0502040204020203" pitchFamily="34" charset="0"/>
              </a:rPr>
              <a:t> // [ 7, 4, 5] </a:t>
            </a:r>
          </a:p>
          <a:p>
            <a:pPr defTabSz="342886">
              <a:spcBef>
                <a:spcPct val="20000"/>
              </a:spcBef>
              <a:buClr>
                <a:srgbClr val="FFFFFF">
                  <a:lumMod val="65000"/>
                </a:srgbClr>
              </a:buClr>
            </a:pPr>
            <a:r>
              <a:rPr lang="en-US" sz="1600">
                <a:latin typeface="Consolas"/>
                <a:ea typeface="Segoe UI Emoji" panose="020B0502040204020203" pitchFamily="34" charset="0"/>
              </a:rPr>
              <a:t>    } </a:t>
            </a:r>
          </a:p>
          <a:p>
            <a:pPr defTabSz="342886">
              <a:spcBef>
                <a:spcPct val="20000"/>
              </a:spcBef>
              <a:buClr>
                <a:srgbClr val="FFFFFF">
                  <a:lumMod val="65000"/>
                </a:srgbClr>
              </a:buClr>
            </a:pPr>
            <a:r>
              <a:rPr lang="en-US" sz="1600">
                <a:latin typeface="Consolas"/>
                <a:ea typeface="Segoe UI Emoji" panose="020B0502040204020203" pitchFamily="34" charset="0"/>
              </a:rPr>
              <a:t>}</a:t>
            </a:r>
          </a:p>
        </p:txBody>
      </p:sp>
    </p:spTree>
    <p:extLst>
      <p:ext uri="{BB962C8B-B14F-4D97-AF65-F5344CB8AC3E}">
        <p14:creationId xmlns:p14="http://schemas.microsoft.com/office/powerpoint/2010/main" val="1582932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31772-5C9C-CF3F-A8EA-DF5D590C08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B1DD2F4-197A-702C-C16A-955421543688}"/>
              </a:ext>
            </a:extLst>
          </p:cNvPr>
          <p:cNvSpPr>
            <a:spLocks noGrp="1"/>
          </p:cNvSpPr>
          <p:nvPr>
            <p:ph type="title"/>
          </p:nvPr>
        </p:nvSpPr>
        <p:spPr/>
        <p:txBody>
          <a:bodyPr/>
          <a:lstStyle/>
          <a:p>
            <a:r>
              <a:rPr lang="en-US" sz="4800" b="1"/>
              <a:t>example:</a:t>
            </a:r>
            <a:r>
              <a:rPr lang="en-US" sz="4800"/>
              <a:t> array deep copy</a:t>
            </a:r>
          </a:p>
        </p:txBody>
      </p:sp>
    </p:spTree>
    <p:extLst>
      <p:ext uri="{BB962C8B-B14F-4D97-AF65-F5344CB8AC3E}">
        <p14:creationId xmlns:p14="http://schemas.microsoft.com/office/powerpoint/2010/main" val="2239446419"/>
      </p:ext>
    </p:extLst>
  </p:cSld>
  <p:clrMapOvr>
    <a:masterClrMapping/>
  </p:clrMapOvr>
</p:sld>
</file>

<file path=ppt/slides/slide6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513A9-B301-D435-91FB-EBDAAEF283F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BD0645-3A13-A13E-4596-94F1DFEBCDCF}"/>
              </a:ext>
            </a:extLst>
          </p:cNvPr>
          <p:cNvSpPr>
            <a:spLocks noGrp="1"/>
          </p:cNvSpPr>
          <p:nvPr>
            <p:ph type="title"/>
          </p:nvPr>
        </p:nvSpPr>
        <p:spPr/>
        <p:txBody>
          <a:bodyPr>
            <a:normAutofit/>
          </a:bodyPr>
          <a:lstStyle/>
          <a:p>
            <a:r>
              <a:rPr lang="en-US" b="1"/>
              <a:t>example: </a:t>
            </a:r>
            <a:r>
              <a:rPr lang="en-US"/>
              <a:t>array deep copy</a:t>
            </a:r>
            <a:endParaRPr lang="en-US" b="1"/>
          </a:p>
        </p:txBody>
      </p:sp>
      <p:sp>
        <p:nvSpPr>
          <p:cNvPr id="6" name="TextBox 5">
            <a:extLst>
              <a:ext uri="{FF2B5EF4-FFF2-40B4-BE49-F238E27FC236}">
                <a16:creationId xmlns:a16="http://schemas.microsoft.com/office/drawing/2014/main" id="{F42EB440-9BD5-DCEA-87AD-EF5387E4EF0C}"/>
              </a:ext>
            </a:extLst>
          </p:cNvPr>
          <p:cNvSpPr txBox="1"/>
          <p:nvPr/>
        </p:nvSpPr>
        <p:spPr>
          <a:xfrm>
            <a:off x="457200" y="992293"/>
            <a:ext cx="8229600" cy="4185761"/>
          </a:xfrm>
          <a:prstGeom prst="rect">
            <a:avLst/>
          </a:prstGeom>
          <a:solidFill>
            <a:schemeClr val="bg1"/>
          </a:solidFill>
          <a:ln>
            <a:solidFill>
              <a:schemeClr val="tx1"/>
            </a:solidFill>
          </a:ln>
        </p:spPr>
        <p:txBody>
          <a:bodyPr wrap="square" rtlCol="0">
            <a:spAutoFit/>
          </a:bodyPr>
          <a:lstStyle/>
          <a:p>
            <a:pPr defTabSz="342886">
              <a:spcBef>
                <a:spcPct val="20000"/>
              </a:spcBef>
              <a:buClr>
                <a:srgbClr val="FFFFFF">
                  <a:lumMod val="65000"/>
                </a:srgbClr>
              </a:buClr>
            </a:pPr>
            <a:r>
              <a:rPr lang="en-US" sz="1400">
                <a:latin typeface="Consolas"/>
                <a:ea typeface="Segoe UI Emoji" panose="020B0502040204020203" pitchFamily="34" charset="0"/>
              </a:rPr>
              <a:t>class Main extends Cow {</a:t>
            </a:r>
          </a:p>
          <a:p>
            <a:pPr defTabSz="342886">
              <a:spcBef>
                <a:spcPct val="20000"/>
              </a:spcBef>
              <a:buClr>
                <a:srgbClr val="FFFFFF">
                  <a:lumMod val="65000"/>
                </a:srgbClr>
              </a:buClr>
            </a:pPr>
            <a:r>
              <a:rPr lang="en-US" sz="1400">
                <a:latin typeface="Consolas"/>
                <a:ea typeface="Segoe UI Emoji" panose="020B0502040204020203" pitchFamily="34" charset="0"/>
              </a:rPr>
              <a:t>    public static void main(String[] arguments) {</a:t>
            </a:r>
          </a:p>
          <a:p>
            <a:pPr defTabSz="342886">
              <a:spcBef>
                <a:spcPct val="20000"/>
              </a:spcBef>
              <a:buClr>
                <a:srgbClr val="FFFFFF">
                  <a:lumMod val="65000"/>
                </a:srgbClr>
              </a:buClr>
            </a:pPr>
            <a:r>
              <a:rPr lang="en-US" sz="1400">
                <a:latin typeface="Consolas"/>
                <a:ea typeface="Segoe UI Emoji" panose="020B0502040204020203" pitchFamily="34" charset="0"/>
              </a:rPr>
              <a:t>        int[] source = { 3, 4, 5 };</a:t>
            </a:r>
          </a:p>
          <a:p>
            <a:pPr defTabSz="342886">
              <a:spcBef>
                <a:spcPct val="20000"/>
              </a:spcBef>
              <a:buClr>
                <a:srgbClr val="FFFFFF">
                  <a:lumMod val="65000"/>
                </a:srgbClr>
              </a:buClr>
            </a:pPr>
            <a:endParaRPr lang="en-US" sz="1400">
              <a:latin typeface="Consolas"/>
              <a:ea typeface="Segoe UI Emoji" panose="020B0502040204020203" pitchFamily="34" charset="0"/>
            </a:endParaRPr>
          </a:p>
          <a:p>
            <a:pPr defTabSz="342886">
              <a:spcBef>
                <a:spcPct val="20000"/>
              </a:spcBef>
              <a:buClr>
                <a:srgbClr val="FFFFFF">
                  <a:lumMod val="65000"/>
                </a:srgbClr>
              </a:buClr>
            </a:pPr>
            <a:r>
              <a:rPr lang="en-US" sz="1400" b="1">
                <a:latin typeface="Consolas"/>
                <a:ea typeface="Segoe UI Emoji" panose="020B0502040204020203" pitchFamily="34" charset="0"/>
              </a:rPr>
              <a:t>        int[] destination = new int[</a:t>
            </a:r>
            <a:r>
              <a:rPr lang="en-US" sz="1400" b="1" err="1">
                <a:latin typeface="Consolas"/>
                <a:ea typeface="Segoe UI Emoji" panose="020B0502040204020203" pitchFamily="34" charset="0"/>
              </a:rPr>
              <a:t>source.length</a:t>
            </a:r>
            <a:r>
              <a:rPr lang="en-US" sz="1400" b="1">
                <a:latin typeface="Consolas"/>
                <a:ea typeface="Segoe UI Emoji" panose="020B0502040204020203" pitchFamily="34" charset="0"/>
              </a:rPr>
              <a:t>];</a:t>
            </a:r>
          </a:p>
          <a:p>
            <a:pPr defTabSz="342886">
              <a:spcBef>
                <a:spcPct val="20000"/>
              </a:spcBef>
              <a:buClr>
                <a:srgbClr val="FFFFFF">
                  <a:lumMod val="65000"/>
                </a:srgbClr>
              </a:buClr>
            </a:pPr>
            <a:r>
              <a:rPr lang="en-US" sz="1400" b="1">
                <a:latin typeface="Consolas"/>
                <a:ea typeface="Segoe UI Emoji" panose="020B0502040204020203" pitchFamily="34" charset="0"/>
              </a:rPr>
              <a:t>        for (int </a:t>
            </a:r>
            <a:r>
              <a:rPr lang="en-US" sz="1400" b="1" err="1">
                <a:latin typeface="Consolas"/>
                <a:ea typeface="Segoe UI Emoji" panose="020B0502040204020203" pitchFamily="34" charset="0"/>
              </a:rPr>
              <a:t>i</a:t>
            </a:r>
            <a:r>
              <a:rPr lang="en-US" sz="1400" b="1">
                <a:latin typeface="Consolas"/>
                <a:ea typeface="Segoe UI Emoji" panose="020B0502040204020203" pitchFamily="34" charset="0"/>
              </a:rPr>
              <a:t> = 0; </a:t>
            </a:r>
            <a:r>
              <a:rPr lang="en-US" sz="1400" b="1" err="1">
                <a:latin typeface="Consolas"/>
                <a:ea typeface="Segoe UI Emoji" panose="020B0502040204020203" pitchFamily="34" charset="0"/>
              </a:rPr>
              <a:t>i</a:t>
            </a:r>
            <a:r>
              <a:rPr lang="en-US" sz="1400" b="1">
                <a:latin typeface="Consolas"/>
                <a:ea typeface="Segoe UI Emoji" panose="020B0502040204020203" pitchFamily="34" charset="0"/>
              </a:rPr>
              <a:t> &lt; </a:t>
            </a:r>
            <a:r>
              <a:rPr lang="en-US" sz="1400" b="1" err="1">
                <a:latin typeface="Consolas"/>
                <a:ea typeface="Segoe UI Emoji" panose="020B0502040204020203" pitchFamily="34" charset="0"/>
              </a:rPr>
              <a:t>source.length</a:t>
            </a:r>
            <a:r>
              <a:rPr lang="en-US" sz="1400" b="1">
                <a:latin typeface="Consolas"/>
                <a:ea typeface="Segoe UI Emoji" panose="020B0502040204020203" pitchFamily="34" charset="0"/>
              </a:rPr>
              <a:t>; ++</a:t>
            </a:r>
            <a:r>
              <a:rPr lang="en-US" sz="1400" b="1" err="1">
                <a:latin typeface="Consolas"/>
                <a:ea typeface="Segoe UI Emoji" panose="020B0502040204020203" pitchFamily="34" charset="0"/>
              </a:rPr>
              <a:t>i</a:t>
            </a:r>
            <a:r>
              <a:rPr lang="en-US" sz="1400" b="1">
                <a:latin typeface="Consolas"/>
                <a:ea typeface="Segoe UI Emoji" panose="020B0502040204020203" pitchFamily="34" charset="0"/>
              </a:rPr>
              <a:t>) {</a:t>
            </a:r>
          </a:p>
          <a:p>
            <a:pPr defTabSz="342886">
              <a:spcBef>
                <a:spcPct val="20000"/>
              </a:spcBef>
              <a:buClr>
                <a:srgbClr val="FFFFFF">
                  <a:lumMod val="65000"/>
                </a:srgbClr>
              </a:buClr>
            </a:pPr>
            <a:r>
              <a:rPr lang="en-US" sz="1400" b="1">
                <a:latin typeface="Consolas"/>
                <a:ea typeface="Segoe UI Emoji" panose="020B0502040204020203" pitchFamily="34" charset="0"/>
              </a:rPr>
              <a:t>            destination[</a:t>
            </a:r>
            <a:r>
              <a:rPr lang="en-US" sz="1400" b="1" err="1">
                <a:latin typeface="Consolas"/>
                <a:ea typeface="Segoe UI Emoji" panose="020B0502040204020203" pitchFamily="34" charset="0"/>
              </a:rPr>
              <a:t>i</a:t>
            </a:r>
            <a:r>
              <a:rPr lang="en-US" sz="1400" b="1">
                <a:latin typeface="Consolas"/>
                <a:ea typeface="Segoe UI Emoji" panose="020B0502040204020203" pitchFamily="34" charset="0"/>
              </a:rPr>
              <a:t>] = source[</a:t>
            </a:r>
            <a:r>
              <a:rPr lang="en-US" sz="1400" b="1" err="1">
                <a:latin typeface="Consolas"/>
                <a:ea typeface="Segoe UI Emoji" panose="020B0502040204020203" pitchFamily="34" charset="0"/>
              </a:rPr>
              <a:t>i</a:t>
            </a:r>
            <a:r>
              <a:rPr lang="en-US" sz="1400" b="1">
                <a:latin typeface="Consolas"/>
                <a:ea typeface="Segoe UI Emoji" panose="020B0502040204020203" pitchFamily="34" charset="0"/>
              </a:rPr>
              <a:t>];</a:t>
            </a:r>
          </a:p>
          <a:p>
            <a:pPr defTabSz="342886">
              <a:spcBef>
                <a:spcPct val="20000"/>
              </a:spcBef>
              <a:buClr>
                <a:srgbClr val="FFFFFF">
                  <a:lumMod val="65000"/>
                </a:srgbClr>
              </a:buClr>
            </a:pPr>
            <a:r>
              <a:rPr lang="en-US" sz="1400" b="1">
                <a:latin typeface="Consolas"/>
                <a:ea typeface="Segoe UI Emoji" panose="020B0502040204020203" pitchFamily="34" charset="0"/>
              </a:rPr>
              <a:t>        }</a:t>
            </a:r>
          </a:p>
          <a:p>
            <a:pPr defTabSz="342886">
              <a:spcBef>
                <a:spcPct val="20000"/>
              </a:spcBef>
              <a:buClr>
                <a:srgbClr val="FFFFFF">
                  <a:lumMod val="65000"/>
                </a:srgbClr>
              </a:buClr>
            </a:pPr>
            <a:endParaRPr lang="en-US" sz="1400">
              <a:latin typeface="Consolas"/>
              <a:ea typeface="Segoe UI Emoji" panose="020B0502040204020203" pitchFamily="34" charset="0"/>
            </a:endParaRPr>
          </a:p>
          <a:p>
            <a:pPr defTabSz="342886">
              <a:spcBef>
                <a:spcPct val="20000"/>
              </a:spcBef>
              <a:buClr>
                <a:srgbClr val="FFFFFF">
                  <a:lumMod val="65000"/>
                </a:srgbClr>
              </a:buClr>
            </a:pPr>
            <a:r>
              <a:rPr lang="en-US" sz="1400">
                <a:latin typeface="Consolas"/>
                <a:ea typeface="Segoe UI Emoji" panose="020B0502040204020203" pitchFamily="34" charset="0"/>
              </a:rPr>
              <a:t>        PRINT(source); </a:t>
            </a:r>
            <a:r>
              <a:rPr lang="en-US" sz="1400">
                <a:solidFill>
                  <a:srgbClr val="007B00"/>
                </a:solidFill>
                <a:latin typeface="Consolas"/>
                <a:ea typeface="Segoe UI Emoji" panose="020B0502040204020203" pitchFamily="34" charset="0"/>
              </a:rPr>
              <a:t>// [ 3, 4, 5] </a:t>
            </a:r>
          </a:p>
          <a:p>
            <a:pPr defTabSz="342886">
              <a:spcBef>
                <a:spcPct val="20000"/>
              </a:spcBef>
              <a:buClr>
                <a:srgbClr val="FFFFFF">
                  <a:lumMod val="65000"/>
                </a:srgbClr>
              </a:buClr>
            </a:pPr>
            <a:r>
              <a:rPr lang="en-US" sz="1400">
                <a:latin typeface="Consolas"/>
                <a:ea typeface="Segoe UI Emoji" panose="020B0502040204020203" pitchFamily="34" charset="0"/>
              </a:rPr>
              <a:t>        PRINT(destination); </a:t>
            </a:r>
            <a:r>
              <a:rPr lang="en-US" sz="1400">
                <a:solidFill>
                  <a:srgbClr val="007B00"/>
                </a:solidFill>
                <a:latin typeface="Consolas"/>
                <a:ea typeface="Segoe UI Emoji" panose="020B0502040204020203" pitchFamily="34" charset="0"/>
              </a:rPr>
              <a:t>// [ 3, 4, 5] </a:t>
            </a:r>
          </a:p>
          <a:p>
            <a:pPr defTabSz="342886">
              <a:spcBef>
                <a:spcPct val="20000"/>
              </a:spcBef>
              <a:buClr>
                <a:srgbClr val="FFFFFF">
                  <a:lumMod val="65000"/>
                </a:srgbClr>
              </a:buClr>
            </a:pPr>
            <a:r>
              <a:rPr lang="en-US" sz="1400">
                <a:latin typeface="Consolas"/>
                <a:ea typeface="Segoe UI Emoji" panose="020B0502040204020203" pitchFamily="34" charset="0"/>
              </a:rPr>
              <a:t>        destination[0] = 7; </a:t>
            </a:r>
          </a:p>
          <a:p>
            <a:pPr defTabSz="342886">
              <a:spcBef>
                <a:spcPct val="20000"/>
              </a:spcBef>
              <a:buClr>
                <a:srgbClr val="FFFFFF">
                  <a:lumMod val="65000"/>
                </a:srgbClr>
              </a:buClr>
            </a:pPr>
            <a:r>
              <a:rPr lang="en-US" sz="1400">
                <a:latin typeface="Consolas"/>
                <a:ea typeface="Segoe UI Emoji" panose="020B0502040204020203" pitchFamily="34" charset="0"/>
              </a:rPr>
              <a:t>        PRINT(source); </a:t>
            </a:r>
            <a:r>
              <a:rPr lang="en-US" sz="1400">
                <a:solidFill>
                  <a:srgbClr val="007B00"/>
                </a:solidFill>
                <a:latin typeface="Consolas"/>
                <a:ea typeface="Segoe UI Emoji" panose="020B0502040204020203" pitchFamily="34" charset="0"/>
              </a:rPr>
              <a:t>// [ 3, 4, 5] </a:t>
            </a:r>
          </a:p>
          <a:p>
            <a:pPr defTabSz="342886">
              <a:spcBef>
                <a:spcPct val="20000"/>
              </a:spcBef>
              <a:buClr>
                <a:srgbClr val="FFFFFF">
                  <a:lumMod val="65000"/>
                </a:srgbClr>
              </a:buClr>
            </a:pPr>
            <a:r>
              <a:rPr lang="en-US" sz="1400">
                <a:latin typeface="Consolas"/>
                <a:ea typeface="Segoe UI Emoji" panose="020B0502040204020203" pitchFamily="34" charset="0"/>
              </a:rPr>
              <a:t>        PRINT(destination);</a:t>
            </a:r>
            <a:r>
              <a:rPr lang="en-US" sz="1400">
                <a:solidFill>
                  <a:srgbClr val="007B00"/>
                </a:solidFill>
                <a:latin typeface="Consolas"/>
                <a:ea typeface="Segoe UI Emoji" panose="020B0502040204020203" pitchFamily="34" charset="0"/>
              </a:rPr>
              <a:t> // [ 7, 4, 5] </a:t>
            </a:r>
          </a:p>
          <a:p>
            <a:pPr defTabSz="342886">
              <a:spcBef>
                <a:spcPct val="20000"/>
              </a:spcBef>
              <a:buClr>
                <a:srgbClr val="FFFFFF">
                  <a:lumMod val="65000"/>
                </a:srgbClr>
              </a:buClr>
            </a:pPr>
            <a:r>
              <a:rPr lang="en-US" sz="1400">
                <a:latin typeface="Consolas"/>
                <a:ea typeface="Segoe UI Emoji" panose="020B0502040204020203" pitchFamily="34" charset="0"/>
              </a:rPr>
              <a:t>    }</a:t>
            </a:r>
          </a:p>
          <a:p>
            <a:pPr defTabSz="342886">
              <a:spcBef>
                <a:spcPct val="20000"/>
              </a:spcBef>
              <a:buClr>
                <a:srgbClr val="FFFFFF">
                  <a:lumMod val="65000"/>
                </a:srgbClr>
              </a:buClr>
            </a:pPr>
            <a:r>
              <a:rPr lang="en-US" sz="1400">
                <a:latin typeface="Consolas"/>
                <a:ea typeface="Segoe UI Emoji" panose="020B0502040204020203" pitchFamily="34" charset="0"/>
              </a:rPr>
              <a:t>}</a:t>
            </a:r>
          </a:p>
        </p:txBody>
      </p:sp>
    </p:spTree>
    <p:extLst>
      <p:ext uri="{BB962C8B-B14F-4D97-AF65-F5344CB8AC3E}">
        <p14:creationId xmlns:p14="http://schemas.microsoft.com/office/powerpoint/2010/main" val="4288556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D7F3D-8132-1EC2-4772-D43A9F4F37A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EFF6D4D-D218-2477-DC20-536BA414594D}"/>
              </a:ext>
            </a:extLst>
          </p:cNvPr>
          <p:cNvSpPr>
            <a:spLocks noGrp="1"/>
          </p:cNvSpPr>
          <p:nvPr>
            <p:ph type="title"/>
          </p:nvPr>
        </p:nvSpPr>
        <p:spPr/>
        <p:txBody>
          <a:bodyPr/>
          <a:lstStyle/>
          <a:p>
            <a:r>
              <a:rPr lang="en-US" b="1"/>
              <a:t>example:</a:t>
            </a:r>
            <a:r>
              <a:rPr lang="en-US"/>
              <a:t> finding the index (and value) of an array's maximum element </a:t>
            </a:r>
          </a:p>
        </p:txBody>
      </p:sp>
    </p:spTree>
    <p:extLst>
      <p:ext uri="{BB962C8B-B14F-4D97-AF65-F5344CB8AC3E}">
        <p14:creationId xmlns:p14="http://schemas.microsoft.com/office/powerpoint/2010/main" val="2275697761"/>
      </p:ext>
    </p:extLst>
  </p:cSld>
  <p:clrMapOvr>
    <a:masterClrMapping/>
  </p:clrMapOvr>
</p:sld>
</file>

<file path=ppt/slides/slide6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7AB2E-C057-A79E-65DF-E716913355D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C276A6C-8590-CF97-FB58-E402518B377E}"/>
              </a:ext>
            </a:extLst>
          </p:cNvPr>
          <p:cNvSpPr>
            <a:spLocks noGrp="1"/>
          </p:cNvSpPr>
          <p:nvPr>
            <p:ph type="title"/>
          </p:nvPr>
        </p:nvSpPr>
        <p:spPr/>
        <p:txBody>
          <a:bodyPr>
            <a:normAutofit fontScale="90000"/>
          </a:bodyPr>
          <a:lstStyle/>
          <a:p>
            <a:r>
              <a:rPr lang="en-US" b="1"/>
              <a:t>example:</a:t>
            </a:r>
            <a:r>
              <a:rPr lang="en-US"/>
              <a:t> finding the index (and value) of an array's maximum element </a:t>
            </a:r>
            <a:endParaRPr lang="en-US" b="1"/>
          </a:p>
        </p:txBody>
      </p:sp>
      <p:sp>
        <p:nvSpPr>
          <p:cNvPr id="6" name="TextBox 5">
            <a:extLst>
              <a:ext uri="{FF2B5EF4-FFF2-40B4-BE49-F238E27FC236}">
                <a16:creationId xmlns:a16="http://schemas.microsoft.com/office/drawing/2014/main" id="{B8E357C8-3F23-E140-F615-D4C496EAD6EC}"/>
              </a:ext>
            </a:extLst>
          </p:cNvPr>
          <p:cNvSpPr txBox="1"/>
          <p:nvPr/>
        </p:nvSpPr>
        <p:spPr>
          <a:xfrm>
            <a:off x="457200" y="1173721"/>
            <a:ext cx="8229600" cy="3714863"/>
          </a:xfrm>
          <a:prstGeom prst="rect">
            <a:avLst/>
          </a:prstGeom>
          <a:solidFill>
            <a:schemeClr val="bg1"/>
          </a:solidFill>
          <a:ln>
            <a:solidFill>
              <a:schemeClr val="tx1"/>
            </a:solidFill>
          </a:ln>
        </p:spPr>
        <p:txBody>
          <a:bodyPr wrap="square" rtlCol="0">
            <a:spAutoFit/>
          </a:bodyPr>
          <a:lstStyle/>
          <a:p>
            <a:pPr defTabSz="342886">
              <a:spcBef>
                <a:spcPct val="20000"/>
              </a:spcBef>
              <a:buClr>
                <a:srgbClr val="FFFFFF">
                  <a:lumMod val="65000"/>
                </a:srgbClr>
              </a:buClr>
            </a:pPr>
            <a:r>
              <a:rPr lang="en-US" sz="1100">
                <a:latin typeface="Consolas"/>
                <a:ea typeface="Segoe UI Emoji" panose="020B0502040204020203" pitchFamily="34" charset="0"/>
              </a:rPr>
              <a:t>import java.util.*;</a:t>
            </a:r>
          </a:p>
          <a:p>
            <a:pPr defTabSz="342886">
              <a:spcBef>
                <a:spcPct val="20000"/>
              </a:spcBef>
              <a:buClr>
                <a:srgbClr val="FFFFFF">
                  <a:lumMod val="65000"/>
                </a:srgbClr>
              </a:buClr>
            </a:pPr>
            <a:endParaRPr lang="en-US" sz="1100">
              <a:latin typeface="Consolas"/>
              <a:ea typeface="Segoe UI Emoji" panose="020B0502040204020203" pitchFamily="34" charset="0"/>
            </a:endParaRPr>
          </a:p>
          <a:p>
            <a:pPr defTabSz="342886">
              <a:spcBef>
                <a:spcPct val="20000"/>
              </a:spcBef>
              <a:buClr>
                <a:srgbClr val="FFFFFF">
                  <a:lumMod val="65000"/>
                </a:srgbClr>
              </a:buClr>
            </a:pPr>
            <a:r>
              <a:rPr lang="en-US" sz="1100">
                <a:latin typeface="Consolas"/>
                <a:ea typeface="Segoe UI Emoji" panose="020B0502040204020203" pitchFamily="34" charset="0"/>
              </a:rPr>
              <a:t>class Main {</a:t>
            </a:r>
          </a:p>
          <a:p>
            <a:pPr defTabSz="342886">
              <a:spcBef>
                <a:spcPct val="20000"/>
              </a:spcBef>
              <a:buClr>
                <a:srgbClr val="FFFFFF">
                  <a:lumMod val="65000"/>
                </a:srgbClr>
              </a:buClr>
            </a:pPr>
            <a:r>
              <a:rPr lang="en-US" sz="1100">
                <a:latin typeface="Consolas"/>
                <a:ea typeface="Segoe UI Emoji" panose="020B0502040204020203" pitchFamily="34" charset="0"/>
              </a:rPr>
              <a:t>    public static void main(String[] arguments) {</a:t>
            </a:r>
          </a:p>
          <a:p>
            <a:pPr defTabSz="342886">
              <a:spcBef>
                <a:spcPct val="20000"/>
              </a:spcBef>
              <a:buClr>
                <a:srgbClr val="FFFFFF">
                  <a:lumMod val="65000"/>
                </a:srgbClr>
              </a:buClr>
            </a:pPr>
            <a:r>
              <a:rPr lang="en-US" sz="1100">
                <a:latin typeface="Consolas"/>
                <a:ea typeface="Segoe UI Emoji" panose="020B0502040204020203" pitchFamily="34" charset="0"/>
              </a:rPr>
              <a:t>        double[] array = { 1.0, 3.0, -42.0, 1000.0, 99.0 };</a:t>
            </a:r>
          </a:p>
          <a:p>
            <a:pPr defTabSz="342886">
              <a:spcBef>
                <a:spcPct val="20000"/>
              </a:spcBef>
              <a:buClr>
                <a:srgbClr val="FFFFFF">
                  <a:lumMod val="65000"/>
                </a:srgbClr>
              </a:buClr>
            </a:pPr>
            <a:endParaRPr lang="en-US" sz="1100">
              <a:latin typeface="Consolas"/>
              <a:ea typeface="Segoe UI Emoji" panose="020B0502040204020203" pitchFamily="34" charset="0"/>
            </a:endParaRPr>
          </a:p>
          <a:p>
            <a:pPr defTabSz="342886">
              <a:spcBef>
                <a:spcPct val="20000"/>
              </a:spcBef>
              <a:buClr>
                <a:srgbClr val="FFFFFF">
                  <a:lumMod val="65000"/>
                </a:srgbClr>
              </a:buClr>
            </a:pPr>
            <a:r>
              <a:rPr lang="en-US" sz="1100" b="1">
                <a:latin typeface="Consolas"/>
                <a:ea typeface="Segoe UI Emoji" panose="020B0502040204020203" pitchFamily="34" charset="0"/>
              </a:rPr>
              <a:t>        int indexOfMaximumElement = -1;</a:t>
            </a:r>
          </a:p>
          <a:p>
            <a:pPr defTabSz="342886">
              <a:spcBef>
                <a:spcPct val="20000"/>
              </a:spcBef>
              <a:buClr>
                <a:srgbClr val="FFFFFF">
                  <a:lumMod val="65000"/>
                </a:srgbClr>
              </a:buClr>
            </a:pPr>
            <a:r>
              <a:rPr lang="en-US" sz="1100" b="1">
                <a:latin typeface="Consolas"/>
                <a:ea typeface="Segoe UI Emoji" panose="020B0502040204020203" pitchFamily="34" charset="0"/>
              </a:rPr>
              <a:t>        double valueOfMaximumElement = Double.NEGATIVE_INFINITY;</a:t>
            </a:r>
          </a:p>
          <a:p>
            <a:pPr defTabSz="342886">
              <a:spcBef>
                <a:spcPct val="20000"/>
              </a:spcBef>
              <a:buClr>
                <a:srgbClr val="FFFFFF">
                  <a:lumMod val="65000"/>
                </a:srgbClr>
              </a:buClr>
            </a:pPr>
            <a:r>
              <a:rPr lang="en-US" sz="1100" b="1">
                <a:latin typeface="Consolas"/>
                <a:ea typeface="Segoe UI Emoji" panose="020B0502040204020203" pitchFamily="34" charset="0"/>
              </a:rPr>
              <a:t>        for (int i = 0; i &lt; array.length; ++i) {</a:t>
            </a:r>
          </a:p>
          <a:p>
            <a:pPr defTabSz="342886">
              <a:spcBef>
                <a:spcPct val="20000"/>
              </a:spcBef>
              <a:buClr>
                <a:srgbClr val="FFFFFF">
                  <a:lumMod val="65000"/>
                </a:srgbClr>
              </a:buClr>
            </a:pPr>
            <a:r>
              <a:rPr lang="en-US" sz="1100" b="1">
                <a:latin typeface="Consolas"/>
                <a:ea typeface="Segoe UI Emoji" panose="020B0502040204020203" pitchFamily="34" charset="0"/>
              </a:rPr>
              <a:t>            if (array[i] &gt; valueOfMaximumElement) {</a:t>
            </a:r>
          </a:p>
          <a:p>
            <a:pPr defTabSz="342886">
              <a:spcBef>
                <a:spcPct val="20000"/>
              </a:spcBef>
              <a:buClr>
                <a:srgbClr val="FFFFFF">
                  <a:lumMod val="65000"/>
                </a:srgbClr>
              </a:buClr>
            </a:pPr>
            <a:r>
              <a:rPr lang="en-US" sz="1100" b="1">
                <a:latin typeface="Consolas"/>
                <a:ea typeface="Segoe UI Emoji" panose="020B0502040204020203" pitchFamily="34" charset="0"/>
              </a:rPr>
              <a:t>                indexOfMaximumElement = i;</a:t>
            </a:r>
          </a:p>
          <a:p>
            <a:pPr defTabSz="342886">
              <a:spcBef>
                <a:spcPct val="20000"/>
              </a:spcBef>
              <a:buClr>
                <a:srgbClr val="FFFFFF">
                  <a:lumMod val="65000"/>
                </a:srgbClr>
              </a:buClr>
            </a:pPr>
            <a:r>
              <a:rPr lang="en-US" sz="1100" b="1">
                <a:latin typeface="Consolas"/>
                <a:ea typeface="Segoe UI Emoji" panose="020B0502040204020203" pitchFamily="34" charset="0"/>
              </a:rPr>
              <a:t>                valueOfMaximumElement = array[i];</a:t>
            </a:r>
          </a:p>
          <a:p>
            <a:pPr defTabSz="342886">
              <a:spcBef>
                <a:spcPct val="20000"/>
              </a:spcBef>
              <a:buClr>
                <a:srgbClr val="FFFFFF">
                  <a:lumMod val="65000"/>
                </a:srgbClr>
              </a:buClr>
            </a:pPr>
            <a:r>
              <a:rPr lang="en-US" sz="1100" b="1">
                <a:latin typeface="Consolas"/>
                <a:ea typeface="Segoe UI Emoji" panose="020B0502040204020203" pitchFamily="34" charset="0"/>
              </a:rPr>
              <a:t>            }</a:t>
            </a:r>
          </a:p>
          <a:p>
            <a:pPr defTabSz="342886">
              <a:spcBef>
                <a:spcPct val="20000"/>
              </a:spcBef>
              <a:buClr>
                <a:srgbClr val="FFFFFF">
                  <a:lumMod val="65000"/>
                </a:srgbClr>
              </a:buClr>
            </a:pPr>
            <a:r>
              <a:rPr lang="en-US" sz="1100" b="1">
                <a:latin typeface="Consolas"/>
                <a:ea typeface="Segoe UI Emoji" panose="020B0502040204020203" pitchFamily="34" charset="0"/>
              </a:rPr>
              <a:t>        }</a:t>
            </a:r>
          </a:p>
          <a:p>
            <a:pPr defTabSz="342886">
              <a:spcBef>
                <a:spcPct val="20000"/>
              </a:spcBef>
              <a:buClr>
                <a:srgbClr val="FFFFFF">
                  <a:lumMod val="65000"/>
                </a:srgbClr>
              </a:buClr>
            </a:pPr>
            <a:r>
              <a:rPr lang="en-US" sz="1100">
                <a:latin typeface="Consolas"/>
                <a:ea typeface="Segoe UI Emoji" panose="020B0502040204020203" pitchFamily="34" charset="0"/>
              </a:rPr>
              <a:t>        </a:t>
            </a:r>
          </a:p>
          <a:p>
            <a:pPr defTabSz="342886">
              <a:spcBef>
                <a:spcPct val="20000"/>
              </a:spcBef>
              <a:buClr>
                <a:srgbClr val="FFFFFF">
                  <a:lumMod val="65000"/>
                </a:srgbClr>
              </a:buClr>
            </a:pPr>
            <a:r>
              <a:rPr lang="en-US" sz="1100">
                <a:latin typeface="Consolas"/>
                <a:ea typeface="Segoe UI Emoji" panose="020B0502040204020203" pitchFamily="34" charset="0"/>
              </a:rPr>
              <a:t>        PRINT("array[" + indexOfMaximumElement + "] = " + valueOfMaximumElement);</a:t>
            </a:r>
          </a:p>
          <a:p>
            <a:pPr defTabSz="342886">
              <a:spcBef>
                <a:spcPct val="20000"/>
              </a:spcBef>
              <a:buClr>
                <a:srgbClr val="FFFFFF">
                  <a:lumMod val="65000"/>
                </a:srgbClr>
              </a:buClr>
            </a:pPr>
            <a:r>
              <a:rPr lang="en-US" sz="1100">
                <a:latin typeface="Consolas"/>
                <a:ea typeface="Segoe UI Emoji" panose="020B0502040204020203" pitchFamily="34" charset="0"/>
              </a:rPr>
              <a:t>    }</a:t>
            </a:r>
          </a:p>
          <a:p>
            <a:pPr defTabSz="342886">
              <a:spcBef>
                <a:spcPct val="20000"/>
              </a:spcBef>
              <a:buClr>
                <a:srgbClr val="FFFFFF">
                  <a:lumMod val="65000"/>
                </a:srgbClr>
              </a:buClr>
            </a:pPr>
            <a:r>
              <a:rPr lang="en-US" sz="1100">
                <a:latin typeface="Consolas"/>
                <a:ea typeface="Segoe UI Emoji" panose="020B0502040204020203" pitchFamily="34" charset="0"/>
              </a:rPr>
              <a:t>}</a:t>
            </a:r>
          </a:p>
        </p:txBody>
      </p:sp>
    </p:spTree>
    <p:extLst>
      <p:ext uri="{BB962C8B-B14F-4D97-AF65-F5344CB8AC3E}">
        <p14:creationId xmlns:p14="http://schemas.microsoft.com/office/powerpoint/2010/main" val="1332739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0C237-42E1-3753-DD03-95CACF37E0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4437F1-ED41-EE1C-3FFB-3EE2C0F362B0}"/>
              </a:ext>
            </a:extLst>
          </p:cNvPr>
          <p:cNvSpPr>
            <a:spLocks noGrp="1"/>
          </p:cNvSpPr>
          <p:nvPr>
            <p:ph type="title"/>
          </p:nvPr>
        </p:nvSpPr>
        <p:spPr/>
        <p:txBody>
          <a:bodyPr/>
          <a:lstStyle/>
          <a:p>
            <a:r>
              <a:rPr lang="en-US"/>
              <a:t>combinatorial explosion</a:t>
            </a:r>
          </a:p>
        </p:txBody>
      </p:sp>
    </p:spTree>
    <p:extLst>
      <p:ext uri="{BB962C8B-B14F-4D97-AF65-F5344CB8AC3E}">
        <p14:creationId xmlns:p14="http://schemas.microsoft.com/office/powerpoint/2010/main" val="2800228598"/>
      </p:ext>
    </p:extLst>
  </p:cSld>
  <p:clrMapOvr>
    <a:masterClrMapping/>
  </p:clrMapOvr>
</p:sld>
</file>

<file path=ppt/slides/slide6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ubway launches biggest menu update in its history | Restaurant Dive">
            <a:extLst>
              <a:ext uri="{FF2B5EF4-FFF2-40B4-BE49-F238E27FC236}">
                <a16:creationId xmlns:a16="http://schemas.microsoft.com/office/drawing/2014/main" id="{F287C99E-8366-6C8A-A3FA-23297E8E5236}"/>
              </a:ext>
            </a:extLst>
          </p:cNvPr>
          <p:cNvPicPr>
            <a:picLocks noChangeAspect="1"/>
          </p:cNvPicPr>
          <p:nvPr/>
        </p:nvPicPr>
        <p:blipFill>
          <a:blip r:embed="rId2"/>
          <a:stretch>
            <a:fillRect/>
          </a:stretch>
        </p:blipFill>
        <p:spPr>
          <a:xfrm>
            <a:off x="2643187" y="642937"/>
            <a:ext cx="3857626" cy="3857626"/>
          </a:xfrm>
          <a:prstGeom prst="rect">
            <a:avLst/>
          </a:prstGeom>
        </p:spPr>
      </p:pic>
    </p:spTree>
    <p:extLst>
      <p:ext uri="{BB962C8B-B14F-4D97-AF65-F5344CB8AC3E}">
        <p14:creationId xmlns:p14="http://schemas.microsoft.com/office/powerpoint/2010/main" val="785157982"/>
      </p:ext>
    </p:extLst>
  </p:cSld>
  <p:clrMapOvr>
    <a:masterClrMapping/>
  </p:clrMapOvr>
</p:sld>
</file>

<file path=ppt/slides/slide6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ubway Japan's crazy new seafood sandwich packs in a whole fistful of shrimp!  | SoraNews24 —Japan News—">
            <a:extLst>
              <a:ext uri="{FF2B5EF4-FFF2-40B4-BE49-F238E27FC236}">
                <a16:creationId xmlns:a16="http://schemas.microsoft.com/office/drawing/2014/main" id="{F0DABECE-FC90-9403-E66A-2214FEFC4260}"/>
              </a:ext>
            </a:extLst>
          </p:cNvPr>
          <p:cNvPicPr>
            <a:picLocks noChangeAspect="1"/>
          </p:cNvPicPr>
          <p:nvPr/>
        </p:nvPicPr>
        <p:blipFill>
          <a:blip r:embed="rId2"/>
          <a:stretch>
            <a:fillRect/>
          </a:stretch>
        </p:blipFill>
        <p:spPr>
          <a:xfrm>
            <a:off x="2730500" y="1193800"/>
            <a:ext cx="3683000" cy="2755900"/>
          </a:xfrm>
          <a:prstGeom prst="rect">
            <a:avLst/>
          </a:prstGeom>
        </p:spPr>
      </p:pic>
    </p:spTree>
    <p:extLst>
      <p:ext uri="{BB962C8B-B14F-4D97-AF65-F5344CB8AC3E}">
        <p14:creationId xmlns:p14="http://schemas.microsoft.com/office/powerpoint/2010/main" val="4234692273"/>
      </p:ext>
    </p:extLst>
  </p:cSld>
  <p:clrMapOvr>
    <a:masterClrMapping/>
  </p:clrMapOvr>
</p:sld>
</file>

<file path=ppt/slides/slide6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F214C-568A-56F3-7BC8-8760879E8F8A}"/>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DD8FF1D3-804F-EB89-9FB0-4226AC8B1A18}"/>
              </a:ext>
            </a:extLst>
          </p:cNvPr>
          <p:cNvSpPr/>
          <p:nvPr/>
        </p:nvSpPr>
        <p:spPr>
          <a:xfrm>
            <a:off x="3236212" y="1709508"/>
            <a:ext cx="2651476" cy="2651476"/>
          </a:xfrm>
          <a:prstGeom prst="ellipse">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 name="Title 2">
            <a:extLst>
              <a:ext uri="{FF2B5EF4-FFF2-40B4-BE49-F238E27FC236}">
                <a16:creationId xmlns:a16="http://schemas.microsoft.com/office/drawing/2014/main" id="{3E1817C5-D351-5D3B-5519-99668DA46468}"/>
              </a:ext>
            </a:extLst>
          </p:cNvPr>
          <p:cNvSpPr>
            <a:spLocks noGrp="1"/>
          </p:cNvSpPr>
          <p:nvPr>
            <p:ph type="title"/>
          </p:nvPr>
        </p:nvSpPr>
        <p:spPr>
          <a:xfrm>
            <a:off x="457200" y="518806"/>
            <a:ext cx="8229600" cy="857250"/>
          </a:xfrm>
        </p:spPr>
        <p:txBody>
          <a:bodyPr/>
          <a:lstStyle/>
          <a:p>
            <a:r>
              <a:rPr lang="en-US" b="1"/>
              <a:t>example:</a:t>
            </a:r>
            <a:r>
              <a:rPr lang="en-US"/>
              <a:t> circular array</a:t>
            </a:r>
          </a:p>
        </p:txBody>
      </p:sp>
      <p:sp>
        <p:nvSpPr>
          <p:cNvPr id="2" name="TextBox 1">
            <a:extLst>
              <a:ext uri="{FF2B5EF4-FFF2-40B4-BE49-F238E27FC236}">
                <a16:creationId xmlns:a16="http://schemas.microsoft.com/office/drawing/2014/main" id="{AE8770B1-6930-B4A2-47E2-6EF4AF062072}"/>
              </a:ext>
            </a:extLst>
          </p:cNvPr>
          <p:cNvSpPr txBox="1"/>
          <p:nvPr/>
        </p:nvSpPr>
        <p:spPr>
          <a:xfrm rot="5049479">
            <a:off x="3636835" y="2080417"/>
            <a:ext cx="1870327" cy="1889562"/>
          </a:xfrm>
          <a:prstGeom prst="rect">
            <a:avLst/>
          </a:prstGeom>
          <a:noFill/>
        </p:spPr>
        <p:txBody>
          <a:bodyPr wrap="square">
            <a:prstTxWarp prst="textCircle">
              <a:avLst/>
            </a:prstTxWarp>
            <a:spAutoFit/>
          </a:bodyPr>
          <a:lstStyle/>
          <a:p>
            <a:r>
              <a:rPr lang="en-US" sz="4000" b="1">
                <a:solidFill>
                  <a:sysClr val="windowText" lastClr="000000"/>
                </a:solidFill>
                <a:latin typeface="Consolas" panose="020B0609020204030204" pitchFamily="49" charset="0"/>
                <a:ea typeface="Segoe UI Emoji" panose="020B0502040204020203" pitchFamily="34" charset="0"/>
                <a:cs typeface="Consolas" panose="020B0609020204030204" pitchFamily="49" charset="0"/>
              </a:rPr>
              <a:t>3, 4, 5, 6, 7, 8, 9, 10, 11, </a:t>
            </a:r>
            <a:endParaRPr lang="en-US" sz="4000" b="1">
              <a:solidFill>
                <a:sysClr val="windowText" lastClr="000000"/>
              </a:solidFill>
            </a:endParaRPr>
          </a:p>
        </p:txBody>
      </p:sp>
    </p:spTree>
    <p:extLst>
      <p:ext uri="{BB962C8B-B14F-4D97-AF65-F5344CB8AC3E}">
        <p14:creationId xmlns:p14="http://schemas.microsoft.com/office/powerpoint/2010/main" val="367815857"/>
      </p:ext>
    </p:extLst>
  </p:cSld>
  <p:clrMapOvr>
    <a:masterClrMapping/>
  </p:clrMapOvr>
</p:sld>
</file>

<file path=ppt/slides/slide6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63C41B7-84EC-5158-949F-15A45E82307F}"/>
              </a:ext>
            </a:extLst>
          </p:cNvPr>
          <p:cNvSpPr txBox="1"/>
          <p:nvPr/>
        </p:nvSpPr>
        <p:spPr>
          <a:xfrm>
            <a:off x="361785" y="641266"/>
            <a:ext cx="8420430" cy="3539430"/>
          </a:xfrm>
          <a:prstGeom prst="rect">
            <a:avLst/>
          </a:prstGeom>
          <a:noFill/>
          <a:ln>
            <a:solidFill>
              <a:schemeClr val="tx1"/>
            </a:solidFill>
          </a:ln>
        </p:spPr>
        <p:txBody>
          <a:bodyPr wrap="square">
            <a:spAutoFit/>
          </a:bodyPr>
          <a:lstStyle/>
          <a:p>
            <a:r>
              <a:rPr lang="en-US" sz="1600">
                <a:latin typeface="Menlo" panose="020B0609030804020204" pitchFamily="49" charset="0"/>
              </a:rPr>
              <a:t>class Main extends Cow { </a:t>
            </a:r>
          </a:p>
          <a:p>
            <a:r>
              <a:rPr lang="en-US" sz="1600">
                <a:latin typeface="Menlo" panose="020B0609030804020204" pitchFamily="49" charset="0"/>
              </a:rPr>
              <a:t>    public static void main(String[] arguments) { </a:t>
            </a:r>
          </a:p>
          <a:p>
            <a:endParaRPr lang="en-US" sz="1600">
              <a:latin typeface="Menlo" panose="020B0609030804020204" pitchFamily="49" charset="0"/>
            </a:endParaRPr>
          </a:p>
          <a:p>
            <a:r>
              <a:rPr lang="en-US" sz="1600">
                <a:latin typeface="Menlo" panose="020B0609030804020204" pitchFamily="49" charset="0"/>
              </a:rPr>
              <a:t>        int nextIndex = 0; </a:t>
            </a:r>
          </a:p>
          <a:p>
            <a:r>
              <a:rPr lang="en-US" sz="1600">
                <a:latin typeface="Menlo" panose="020B0609030804020204" pitchFamily="49" charset="0"/>
              </a:rPr>
              <a:t>        int[] circularArray = new int[5]; </a:t>
            </a:r>
          </a:p>
          <a:p>
            <a:r>
              <a:rPr lang="en-US" sz="1600">
                <a:latin typeface="Menlo" panose="020B0609030804020204" pitchFamily="49" charset="0"/>
              </a:rPr>
              <a:t>        for (int dataPoint = 0; dataPoint &lt; 100; ++dataPoint) { </a:t>
            </a:r>
          </a:p>
          <a:p>
            <a:r>
              <a:rPr lang="en-US" sz="1600">
                <a:solidFill>
                  <a:srgbClr val="007B00"/>
                </a:solidFill>
                <a:latin typeface="Menlo" panose="020B0609030804020204" pitchFamily="49" charset="0"/>
              </a:rPr>
              <a:t>            // push dataPoint into the circularArray </a:t>
            </a:r>
          </a:p>
          <a:p>
            <a:r>
              <a:rPr lang="en-US" sz="1600">
                <a:latin typeface="Menlo" panose="020B0609030804020204" pitchFamily="49" charset="0"/>
              </a:rPr>
              <a:t>            circularArray[nextIndex] = dataPoint; </a:t>
            </a:r>
          </a:p>
          <a:p>
            <a:r>
              <a:rPr lang="en-US" sz="1600">
                <a:solidFill>
                  <a:srgbClr val="007B00"/>
                </a:solidFill>
                <a:latin typeface="Menlo" panose="020B0609030804020204" pitchFamily="49" charset="0"/>
              </a:rPr>
              <a:t>            // update nextIndex </a:t>
            </a:r>
          </a:p>
          <a:p>
            <a:r>
              <a:rPr lang="en-US" sz="1600">
                <a:latin typeface="Menlo" panose="020B0609030804020204" pitchFamily="49" charset="0"/>
              </a:rPr>
              <a:t>            nextIndex = (nextIndex + 1) % circularArray.length; </a:t>
            </a:r>
          </a:p>
          <a:p>
            <a:r>
              <a:rPr lang="en-US" sz="1600">
                <a:latin typeface="Menlo" panose="020B0609030804020204" pitchFamily="49" charset="0"/>
              </a:rPr>
              <a:t>        } </a:t>
            </a:r>
          </a:p>
          <a:p>
            <a:r>
              <a:rPr lang="en-US" sz="1600">
                <a:latin typeface="Menlo" panose="020B0609030804020204" pitchFamily="49" charset="0"/>
              </a:rPr>
              <a:t>        </a:t>
            </a:r>
          </a:p>
          <a:p>
            <a:r>
              <a:rPr lang="en-US" sz="1600">
                <a:latin typeface="Menlo" panose="020B0609030804020204" pitchFamily="49" charset="0"/>
              </a:rPr>
              <a:t>    } </a:t>
            </a:r>
          </a:p>
          <a:p>
            <a:r>
              <a:rPr lang="en-US" sz="1600">
                <a:latin typeface="Menlo" panose="020B0609030804020204" pitchFamily="49" charset="0"/>
              </a:rPr>
              <a:t>} </a:t>
            </a:r>
          </a:p>
        </p:txBody>
      </p:sp>
    </p:spTree>
    <p:extLst>
      <p:ext uri="{BB962C8B-B14F-4D97-AF65-F5344CB8AC3E}">
        <p14:creationId xmlns:p14="http://schemas.microsoft.com/office/powerpoint/2010/main" val="4125182320"/>
      </p:ext>
    </p:extLst>
  </p:cSld>
  <p:clrMapOvr>
    <a:masterClrMapping/>
  </p:clrMapOvr>
</p:sld>
</file>

<file path=ppt/slides/slide6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C4467-BB83-ADE5-F9FE-9329AAF0C6E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DF116EE-BD66-68D9-D46E-DC817CECD8ED}"/>
              </a:ext>
            </a:extLst>
          </p:cNvPr>
          <p:cNvSpPr>
            <a:spLocks noGrp="1"/>
          </p:cNvSpPr>
          <p:nvPr>
            <p:ph type="title"/>
          </p:nvPr>
        </p:nvSpPr>
        <p:spPr>
          <a:xfrm>
            <a:off x="457200" y="2143125"/>
            <a:ext cx="8229600" cy="857250"/>
          </a:xfrm>
        </p:spPr>
        <p:txBody>
          <a:bodyPr/>
          <a:lstStyle/>
          <a:p>
            <a:r>
              <a:rPr lang="en-US" sz="8000"/>
              <a:t>multi-dimensional arrays</a:t>
            </a:r>
          </a:p>
        </p:txBody>
      </p:sp>
    </p:spTree>
    <p:extLst>
      <p:ext uri="{BB962C8B-B14F-4D97-AF65-F5344CB8AC3E}">
        <p14:creationId xmlns:p14="http://schemas.microsoft.com/office/powerpoint/2010/main" val="4134141631"/>
      </p:ext>
    </p:extLst>
  </p:cSld>
  <p:clrMapOvr>
    <a:masterClrMapping/>
  </p:clrMapOvr>
</p:sld>
</file>

<file path=ppt/slides/slide6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91460-32A2-E010-8DE2-4435D962055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79937D6-A234-91D3-6C65-8D5FB54B7C5A}"/>
              </a:ext>
            </a:extLst>
          </p:cNvPr>
          <p:cNvSpPr>
            <a:spLocks noGrp="1"/>
          </p:cNvSpPr>
          <p:nvPr>
            <p:ph type="title"/>
          </p:nvPr>
        </p:nvSpPr>
        <p:spPr/>
        <p:txBody>
          <a:bodyPr/>
          <a:lstStyle/>
          <a:p>
            <a:r>
              <a:rPr lang="en-US"/>
              <a:t>multi-dimensional arrays</a:t>
            </a:r>
          </a:p>
        </p:txBody>
      </p:sp>
    </p:spTree>
    <p:extLst>
      <p:ext uri="{BB962C8B-B14F-4D97-AF65-F5344CB8AC3E}">
        <p14:creationId xmlns:p14="http://schemas.microsoft.com/office/powerpoint/2010/main" val="68606037"/>
      </p:ext>
    </p:extLst>
  </p:cSld>
  <p:clrMapOvr>
    <a:masterClrMapping/>
  </p:clrMapOvr>
</p:sld>
</file>

<file path=ppt/slides/slide6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B9A01-17E7-8E51-88AE-82B78A5CC48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FFAA00C-62A9-9B86-51F7-CFD1CD05FA76}"/>
              </a:ext>
            </a:extLst>
          </p:cNvPr>
          <p:cNvSpPr>
            <a:spLocks noGrp="1"/>
          </p:cNvSpPr>
          <p:nvPr>
            <p:ph type="title"/>
          </p:nvPr>
        </p:nvSpPr>
        <p:spPr/>
        <p:txBody>
          <a:bodyPr>
            <a:normAutofit fontScale="90000"/>
          </a:bodyPr>
          <a:lstStyle/>
          <a:p>
            <a:r>
              <a:rPr lang="en-US"/>
              <a:t>multi-dimensional arrays (arrays of arrays of ...)</a:t>
            </a:r>
          </a:p>
        </p:txBody>
      </p:sp>
      <p:sp>
        <p:nvSpPr>
          <p:cNvPr id="4" name="Content Placeholder 3">
            <a:extLst>
              <a:ext uri="{FF2B5EF4-FFF2-40B4-BE49-F238E27FC236}">
                <a16:creationId xmlns:a16="http://schemas.microsoft.com/office/drawing/2014/main" id="{BBF84158-2507-546A-C753-3AA8D70E25DC}"/>
              </a:ext>
            </a:extLst>
          </p:cNvPr>
          <p:cNvSpPr>
            <a:spLocks noGrp="1"/>
          </p:cNvSpPr>
          <p:nvPr>
            <p:ph sz="quarter" idx="10"/>
          </p:nvPr>
        </p:nvSpPr>
        <p:spPr/>
        <p:txBody>
          <a:bodyPr/>
          <a:lstStyle/>
          <a:p>
            <a:r>
              <a:rPr lang="en-US"/>
              <a:t>multi-dimensional arrays are sometimes really handy</a:t>
            </a:r>
          </a:p>
        </p:txBody>
      </p:sp>
      <p:sp>
        <p:nvSpPr>
          <p:cNvPr id="2" name="TextBox 1">
            <a:extLst>
              <a:ext uri="{FF2B5EF4-FFF2-40B4-BE49-F238E27FC236}">
                <a16:creationId xmlns:a16="http://schemas.microsoft.com/office/drawing/2014/main" id="{0D0F2C4C-AC30-7915-89A2-1517923F6C2A}"/>
              </a:ext>
            </a:extLst>
          </p:cNvPr>
          <p:cNvSpPr txBox="1"/>
          <p:nvPr/>
        </p:nvSpPr>
        <p:spPr>
          <a:xfrm>
            <a:off x="457200" y="1468543"/>
            <a:ext cx="8229600" cy="1366528"/>
          </a:xfrm>
          <a:prstGeom prst="rect">
            <a:avLst/>
          </a:prstGeom>
          <a:solidFill>
            <a:schemeClr val="bg1"/>
          </a:solidFill>
          <a:ln>
            <a:solidFill>
              <a:schemeClr val="tx1"/>
            </a:solidFill>
          </a:ln>
        </p:spPr>
        <p:txBody>
          <a:bodyPr wrap="square" rtlCol="0">
            <a:spAutoFit/>
          </a:bodyPr>
          <a:lstStyle/>
          <a:p>
            <a:pPr defTabSz="342886">
              <a:spcBef>
                <a:spcPct val="20000"/>
              </a:spcBef>
              <a:buClr>
                <a:srgbClr val="FFFFFF">
                  <a:lumMod val="65000"/>
                </a:srgbClr>
              </a:buClr>
            </a:pPr>
            <a:r>
              <a:rPr lang="en-US">
                <a:solidFill>
                  <a:srgbClr val="000080"/>
                </a:solidFill>
                <a:latin typeface="Consolas"/>
                <a:ea typeface="Segoe UI Emoji" panose="020B0502040204020203" pitchFamily="34" charset="0"/>
              </a:rPr>
              <a:t>int</a:t>
            </a:r>
            <a:r>
              <a:rPr lang="en-US">
                <a:latin typeface="Consolas"/>
                <a:ea typeface="Segoe UI Emoji" panose="020B0502040204020203" pitchFamily="34" charset="0"/>
              </a:rPr>
              <a:t>[][] array = { { </a:t>
            </a:r>
            <a:r>
              <a:rPr lang="en-US">
                <a:solidFill>
                  <a:srgbClr val="0CB5B5"/>
                </a:solidFill>
                <a:latin typeface="Consolas"/>
                <a:ea typeface="Segoe UI Emoji" panose="020B0502040204020203" pitchFamily="34" charset="0"/>
              </a:rPr>
              <a:t>3</a:t>
            </a:r>
            <a:r>
              <a:rPr lang="en-US">
                <a:latin typeface="Consolas"/>
                <a:ea typeface="Segoe UI Emoji" panose="020B0502040204020203" pitchFamily="34" charset="0"/>
              </a:rPr>
              <a:t>, </a:t>
            </a:r>
            <a:r>
              <a:rPr lang="en-US">
                <a:solidFill>
                  <a:srgbClr val="0CB5B5"/>
                </a:solidFill>
                <a:latin typeface="Consolas"/>
                <a:ea typeface="Segoe UI Emoji" panose="020B0502040204020203" pitchFamily="34" charset="0"/>
              </a:rPr>
              <a:t>4</a:t>
            </a:r>
            <a:r>
              <a:rPr lang="en-US">
                <a:latin typeface="Consolas"/>
                <a:ea typeface="Segoe UI Emoji" panose="020B0502040204020203" pitchFamily="34" charset="0"/>
              </a:rPr>
              <a:t> }, { </a:t>
            </a:r>
            <a:r>
              <a:rPr lang="en-US">
                <a:solidFill>
                  <a:srgbClr val="0CB5B5"/>
                </a:solidFill>
                <a:latin typeface="Consolas"/>
                <a:ea typeface="Segoe UI Emoji" panose="020B0502040204020203" pitchFamily="34" charset="0"/>
              </a:rPr>
              <a:t>5</a:t>
            </a:r>
            <a:r>
              <a:rPr lang="en-US">
                <a:latin typeface="Consolas"/>
                <a:ea typeface="Segoe UI Emoji" panose="020B0502040204020203" pitchFamily="34" charset="0"/>
              </a:rPr>
              <a:t>, </a:t>
            </a:r>
            <a:r>
              <a:rPr lang="en-US">
                <a:solidFill>
                  <a:srgbClr val="0CB5B5"/>
                </a:solidFill>
                <a:latin typeface="Consolas"/>
                <a:ea typeface="Segoe UI Emoji" panose="020B0502040204020203" pitchFamily="34" charset="0"/>
              </a:rPr>
              <a:t>6</a:t>
            </a:r>
            <a:r>
              <a:rPr lang="en-US">
                <a:latin typeface="Consolas"/>
                <a:ea typeface="Segoe UI Emoji" panose="020B0502040204020203" pitchFamily="34" charset="0"/>
              </a:rPr>
              <a:t> }, { </a:t>
            </a:r>
            <a:r>
              <a:rPr lang="en-US">
                <a:solidFill>
                  <a:srgbClr val="0CB5B5"/>
                </a:solidFill>
                <a:latin typeface="Consolas"/>
                <a:ea typeface="Segoe UI Emoji" panose="020B0502040204020203" pitchFamily="34" charset="0"/>
              </a:rPr>
              <a:t>7</a:t>
            </a:r>
            <a:r>
              <a:rPr lang="en-US">
                <a:latin typeface="Consolas"/>
                <a:ea typeface="Segoe UI Emoji" panose="020B0502040204020203" pitchFamily="34" charset="0"/>
              </a:rPr>
              <a:t>, </a:t>
            </a:r>
            <a:r>
              <a:rPr lang="en-US">
                <a:solidFill>
                  <a:srgbClr val="0CB5B5"/>
                </a:solidFill>
                <a:latin typeface="Consolas"/>
                <a:ea typeface="Segoe UI Emoji" panose="020B0502040204020203" pitchFamily="34" charset="0"/>
              </a:rPr>
              <a:t>8</a:t>
            </a:r>
            <a:r>
              <a:rPr lang="en-US">
                <a:latin typeface="Consolas"/>
                <a:ea typeface="Segoe UI Emoji" panose="020B0502040204020203" pitchFamily="34" charset="0"/>
              </a:rPr>
              <a:t> } };</a:t>
            </a:r>
          </a:p>
          <a:p>
            <a:pPr defTabSz="342886">
              <a:spcBef>
                <a:spcPct val="20000"/>
              </a:spcBef>
              <a:buClr>
                <a:srgbClr val="FFFFFF">
                  <a:lumMod val="65000"/>
                </a:srgbClr>
              </a:buClr>
            </a:pPr>
            <a:r>
              <a:rPr lang="en-US" err="1">
                <a:solidFill>
                  <a:srgbClr val="000080"/>
                </a:solidFill>
                <a:latin typeface="Consolas"/>
                <a:ea typeface="Segoe UI Emoji" panose="020B0502040204020203" pitchFamily="34" charset="0"/>
              </a:rPr>
              <a:t>System.out.println</a:t>
            </a:r>
            <a:r>
              <a:rPr lang="en-US">
                <a:latin typeface="Consolas"/>
                <a:ea typeface="Segoe UI Emoji" panose="020B0502040204020203" pitchFamily="34" charset="0"/>
              </a:rPr>
              <a:t>(Arrays.toString(array));</a:t>
            </a:r>
            <a:endParaRPr lang="en-US">
              <a:solidFill>
                <a:srgbClr val="007B00"/>
              </a:solidFill>
              <a:latin typeface="Consolas"/>
              <a:ea typeface="Segoe UI Emoji" panose="020B0502040204020203" pitchFamily="34" charset="0"/>
            </a:endParaRPr>
          </a:p>
          <a:p>
            <a:pPr defTabSz="342886">
              <a:spcBef>
                <a:spcPct val="20000"/>
              </a:spcBef>
              <a:buClr>
                <a:srgbClr val="FFFFFF">
                  <a:lumMod val="65000"/>
                </a:srgbClr>
              </a:buClr>
            </a:pPr>
            <a:r>
              <a:rPr lang="en-US">
                <a:solidFill>
                  <a:srgbClr val="007B00"/>
                </a:solidFill>
                <a:latin typeface="Consolas"/>
                <a:ea typeface="Segoe UI Emoji" panose="020B0502040204020203" pitchFamily="34" charset="0"/>
              </a:rPr>
              <a:t>// [[3, 4], [5, 6], [7, 8]] </a:t>
            </a:r>
          </a:p>
          <a:p>
            <a:pPr defTabSz="342886">
              <a:spcBef>
                <a:spcPct val="20000"/>
              </a:spcBef>
              <a:buClr>
                <a:srgbClr val="FFFFFF">
                  <a:lumMod val="65000"/>
                </a:srgbClr>
              </a:buClr>
            </a:pPr>
            <a:r>
              <a:rPr lang="en-US">
                <a:solidFill>
                  <a:srgbClr val="000080"/>
                </a:solidFill>
                <a:latin typeface="Consolas"/>
                <a:ea typeface="Segoe UI Emoji" panose="020B0502040204020203" pitchFamily="34" charset="0"/>
              </a:rPr>
              <a:t>PRINT</a:t>
            </a:r>
            <a:r>
              <a:rPr lang="en-US">
                <a:latin typeface="Consolas"/>
                <a:ea typeface="Segoe UI Emoji" panose="020B0502040204020203" pitchFamily="34" charset="0"/>
              </a:rPr>
              <a:t>(array[</a:t>
            </a:r>
            <a:r>
              <a:rPr lang="en-US">
                <a:solidFill>
                  <a:srgbClr val="0CB5B5"/>
                </a:solidFill>
                <a:latin typeface="Consolas"/>
                <a:ea typeface="Segoe UI Emoji" panose="020B0502040204020203" pitchFamily="34" charset="0"/>
              </a:rPr>
              <a:t>0</a:t>
            </a:r>
            <a:r>
              <a:rPr lang="en-US">
                <a:latin typeface="Consolas"/>
                <a:ea typeface="Segoe UI Emoji" panose="020B0502040204020203" pitchFamily="34" charset="0"/>
              </a:rPr>
              <a:t>][</a:t>
            </a:r>
            <a:r>
              <a:rPr lang="en-US">
                <a:solidFill>
                  <a:srgbClr val="0CB5B5"/>
                </a:solidFill>
                <a:latin typeface="Consolas"/>
                <a:ea typeface="Segoe UI Emoji" panose="020B0502040204020203" pitchFamily="34" charset="0"/>
              </a:rPr>
              <a:t>1</a:t>
            </a:r>
            <a:r>
              <a:rPr lang="en-US">
                <a:latin typeface="Consolas"/>
                <a:ea typeface="Segoe UI Emoji" panose="020B0502040204020203" pitchFamily="34" charset="0"/>
              </a:rPr>
              <a:t>]);</a:t>
            </a:r>
            <a:r>
              <a:rPr lang="en-US">
                <a:solidFill>
                  <a:srgbClr val="007B00"/>
                </a:solidFill>
                <a:latin typeface="Consolas"/>
                <a:ea typeface="Segoe UI Emoji" panose="020B0502040204020203" pitchFamily="34" charset="0"/>
              </a:rPr>
              <a:t> // 4 </a:t>
            </a:r>
          </a:p>
        </p:txBody>
      </p:sp>
      <p:sp>
        <p:nvSpPr>
          <p:cNvPr id="5" name="TextBox 4">
            <a:extLst>
              <a:ext uri="{FF2B5EF4-FFF2-40B4-BE49-F238E27FC236}">
                <a16:creationId xmlns:a16="http://schemas.microsoft.com/office/drawing/2014/main" id="{FB4428CC-F819-C8A5-17F1-9849232C3C0E}"/>
              </a:ext>
            </a:extLst>
          </p:cNvPr>
          <p:cNvSpPr txBox="1"/>
          <p:nvPr/>
        </p:nvSpPr>
        <p:spPr>
          <a:xfrm>
            <a:off x="457200" y="3143152"/>
            <a:ext cx="8229600" cy="1643527"/>
          </a:xfrm>
          <a:prstGeom prst="rect">
            <a:avLst/>
          </a:prstGeom>
          <a:solidFill>
            <a:schemeClr val="bg1"/>
          </a:solidFill>
          <a:ln>
            <a:solidFill>
              <a:schemeClr val="tx1"/>
            </a:solidFill>
          </a:ln>
        </p:spPr>
        <p:txBody>
          <a:bodyPr wrap="square" rtlCol="0">
            <a:spAutoFit/>
          </a:bodyPr>
          <a:lstStyle/>
          <a:p>
            <a:pPr defTabSz="342886">
              <a:spcBef>
                <a:spcPct val="20000"/>
              </a:spcBef>
              <a:buClr>
                <a:srgbClr val="FFFFFF">
                  <a:lumMod val="65000"/>
                </a:srgbClr>
              </a:buClr>
            </a:pPr>
            <a:r>
              <a:rPr lang="en-US">
                <a:solidFill>
                  <a:srgbClr val="000080"/>
                </a:solidFill>
                <a:latin typeface="Consolas"/>
                <a:ea typeface="Segoe UI Emoji" panose="020B0502040204020203" pitchFamily="34" charset="0"/>
              </a:rPr>
              <a:t>int</a:t>
            </a:r>
            <a:r>
              <a:rPr lang="en-US">
                <a:latin typeface="Consolas"/>
                <a:ea typeface="Segoe UI Emoji" panose="020B0502040204020203" pitchFamily="34" charset="0"/>
              </a:rPr>
              <a:t>[][][] array = new </a:t>
            </a:r>
            <a:r>
              <a:rPr lang="en-US">
                <a:solidFill>
                  <a:srgbClr val="000080"/>
                </a:solidFill>
                <a:latin typeface="Consolas"/>
                <a:ea typeface="Segoe UI Emoji" panose="020B0502040204020203" pitchFamily="34" charset="0"/>
              </a:rPr>
              <a:t>int</a:t>
            </a:r>
            <a:r>
              <a:rPr lang="en-US">
                <a:latin typeface="Consolas"/>
                <a:ea typeface="Segoe UI Emoji" panose="020B0502040204020203" pitchFamily="34" charset="0"/>
              </a:rPr>
              <a:t>[</a:t>
            </a:r>
            <a:r>
              <a:rPr lang="en-US">
                <a:solidFill>
                  <a:srgbClr val="0CB5B5"/>
                </a:solidFill>
                <a:latin typeface="Consolas"/>
                <a:ea typeface="Segoe UI Emoji" panose="020B0502040204020203" pitchFamily="34" charset="0"/>
              </a:rPr>
              <a:t>2</a:t>
            </a:r>
            <a:r>
              <a:rPr lang="en-US">
                <a:latin typeface="Consolas"/>
                <a:ea typeface="Segoe UI Emoji" panose="020B0502040204020203" pitchFamily="34" charset="0"/>
              </a:rPr>
              <a:t>][</a:t>
            </a:r>
            <a:r>
              <a:rPr lang="en-US">
                <a:solidFill>
                  <a:srgbClr val="0CB5B5"/>
                </a:solidFill>
                <a:latin typeface="Consolas"/>
                <a:ea typeface="Segoe UI Emoji" panose="020B0502040204020203" pitchFamily="34" charset="0"/>
              </a:rPr>
              <a:t>3</a:t>
            </a:r>
            <a:r>
              <a:rPr lang="en-US">
                <a:latin typeface="Consolas"/>
                <a:ea typeface="Segoe UI Emoji" panose="020B0502040204020203" pitchFamily="34" charset="0"/>
              </a:rPr>
              <a:t>][</a:t>
            </a:r>
            <a:r>
              <a:rPr lang="en-US">
                <a:solidFill>
                  <a:srgbClr val="0CB5B5"/>
                </a:solidFill>
                <a:latin typeface="Consolas"/>
                <a:ea typeface="Segoe UI Emoji" panose="020B0502040204020203" pitchFamily="34" charset="0"/>
              </a:rPr>
              <a:t>4</a:t>
            </a:r>
            <a:r>
              <a:rPr lang="en-US">
                <a:latin typeface="Consolas"/>
                <a:ea typeface="Segoe UI Emoji" panose="020B0502040204020203" pitchFamily="34" charset="0"/>
              </a:rPr>
              <a:t>];</a:t>
            </a:r>
          </a:p>
          <a:p>
            <a:pPr defTabSz="342886">
              <a:spcBef>
                <a:spcPct val="20000"/>
              </a:spcBef>
              <a:buClr>
                <a:srgbClr val="FFFFFF">
                  <a:lumMod val="65000"/>
                </a:srgbClr>
              </a:buClr>
            </a:pPr>
            <a:r>
              <a:rPr lang="en-US">
                <a:latin typeface="Consolas"/>
                <a:ea typeface="Segoe UI Emoji" panose="020B0502040204020203" pitchFamily="34" charset="0"/>
              </a:rPr>
              <a:t>array[</a:t>
            </a:r>
            <a:r>
              <a:rPr lang="en-US">
                <a:solidFill>
                  <a:srgbClr val="0CB5B5"/>
                </a:solidFill>
                <a:latin typeface="Consolas"/>
                <a:ea typeface="Segoe UI Emoji" panose="020B0502040204020203" pitchFamily="34" charset="0"/>
              </a:rPr>
              <a:t>0</a:t>
            </a:r>
            <a:r>
              <a:rPr lang="en-US">
                <a:latin typeface="Consolas"/>
                <a:ea typeface="Segoe UI Emoji" panose="020B0502040204020203" pitchFamily="34" charset="0"/>
              </a:rPr>
              <a:t>][</a:t>
            </a:r>
            <a:r>
              <a:rPr lang="en-US">
                <a:solidFill>
                  <a:srgbClr val="0CB5B5"/>
                </a:solidFill>
                <a:latin typeface="Consolas"/>
                <a:ea typeface="Segoe UI Emoji" panose="020B0502040204020203" pitchFamily="34" charset="0"/>
              </a:rPr>
              <a:t>0</a:t>
            </a:r>
            <a:r>
              <a:rPr lang="en-US">
                <a:latin typeface="Consolas"/>
                <a:ea typeface="Segoe UI Emoji" panose="020B0502040204020203" pitchFamily="34" charset="0"/>
              </a:rPr>
              <a:t>][</a:t>
            </a:r>
            <a:r>
              <a:rPr lang="en-US">
                <a:solidFill>
                  <a:srgbClr val="0CB5B5"/>
                </a:solidFill>
                <a:latin typeface="Consolas"/>
                <a:ea typeface="Segoe UI Emoji" panose="020B0502040204020203" pitchFamily="34" charset="0"/>
              </a:rPr>
              <a:t>0</a:t>
            </a:r>
            <a:r>
              <a:rPr lang="en-US">
                <a:latin typeface="Consolas"/>
                <a:ea typeface="Segoe UI Emoji" panose="020B0502040204020203" pitchFamily="34" charset="0"/>
              </a:rPr>
              <a:t>] = </a:t>
            </a:r>
            <a:r>
              <a:rPr lang="en-US">
                <a:solidFill>
                  <a:srgbClr val="0CB5B5"/>
                </a:solidFill>
                <a:latin typeface="Consolas"/>
                <a:ea typeface="Segoe UI Emoji" panose="020B0502040204020203" pitchFamily="34" charset="0"/>
              </a:rPr>
              <a:t>42</a:t>
            </a:r>
            <a:r>
              <a:rPr lang="en-US">
                <a:latin typeface="Consolas"/>
                <a:ea typeface="Segoe UI Emoji" panose="020B0502040204020203" pitchFamily="34" charset="0"/>
              </a:rPr>
              <a:t>;</a:t>
            </a:r>
          </a:p>
          <a:p>
            <a:pPr defTabSz="342886">
              <a:spcBef>
                <a:spcPct val="20000"/>
              </a:spcBef>
              <a:buClr>
                <a:srgbClr val="FFFFFF">
                  <a:lumMod val="65000"/>
                </a:srgbClr>
              </a:buClr>
            </a:pPr>
            <a:r>
              <a:rPr lang="en-US" err="1">
                <a:solidFill>
                  <a:srgbClr val="000080"/>
                </a:solidFill>
                <a:latin typeface="Consolas"/>
                <a:ea typeface="Segoe UI Emoji" panose="020B0502040204020203" pitchFamily="34" charset="0"/>
              </a:rPr>
              <a:t>System.out.println</a:t>
            </a:r>
            <a:r>
              <a:rPr lang="en-US">
                <a:latin typeface="Consolas"/>
                <a:ea typeface="Segoe UI Emoji" panose="020B0502040204020203" pitchFamily="34" charset="0"/>
              </a:rPr>
              <a:t>(Arrays.toString(array));</a:t>
            </a:r>
            <a:endParaRPr lang="en-US">
              <a:solidFill>
                <a:srgbClr val="007B00"/>
              </a:solidFill>
              <a:latin typeface="Consolas"/>
              <a:ea typeface="Segoe UI Emoji" panose="020B0502040204020203" pitchFamily="34" charset="0"/>
            </a:endParaRPr>
          </a:p>
          <a:p>
            <a:pPr defTabSz="342886">
              <a:spcBef>
                <a:spcPct val="20000"/>
              </a:spcBef>
              <a:buClr>
                <a:srgbClr val="FFFFFF">
                  <a:lumMod val="65000"/>
                </a:srgbClr>
              </a:buClr>
            </a:pPr>
            <a:r>
              <a:rPr lang="en-US">
                <a:solidFill>
                  <a:srgbClr val="007B00"/>
                </a:solidFill>
                <a:latin typeface="Consolas"/>
                <a:ea typeface="Segoe UI Emoji" panose="020B0502040204020203" pitchFamily="34" charset="0"/>
              </a:rPr>
              <a:t>// [[[42, 0, 0, 0], [0, 0, 0, 0], [0, 0, 0, 0]], [[0, 0, 0, 0], [0, 0, 0, 0], [0, 0, 0, 0]]]</a:t>
            </a:r>
          </a:p>
        </p:txBody>
      </p:sp>
    </p:spTree>
    <p:extLst>
      <p:ext uri="{BB962C8B-B14F-4D97-AF65-F5344CB8AC3E}">
        <p14:creationId xmlns:p14="http://schemas.microsoft.com/office/powerpoint/2010/main" val="4198541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6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EE474-8A02-79CF-A805-B630EC56638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81CB206-5C86-F2D1-9B6A-81D9AACC9AA8}"/>
              </a:ext>
            </a:extLst>
          </p:cNvPr>
          <p:cNvSpPr>
            <a:spLocks noGrp="1"/>
          </p:cNvSpPr>
          <p:nvPr>
            <p:ph type="title"/>
          </p:nvPr>
        </p:nvSpPr>
        <p:spPr/>
        <p:txBody>
          <a:bodyPr/>
          <a:lstStyle/>
          <a:p>
            <a:r>
              <a:rPr lang="en-US"/>
              <a:t>HW02</a:t>
            </a:r>
            <a:br>
              <a:rPr lang="en-US"/>
            </a:br>
            <a:r>
              <a:rPr lang="en-US"/>
              <a:t>big O runtime examples</a:t>
            </a:r>
            <a:br>
              <a:rPr lang="en-US"/>
            </a:br>
            <a:r>
              <a:rPr lang="en-US" sz="2400"/>
              <a:t>(good things to know for your interviewwwww...)</a:t>
            </a:r>
            <a:endParaRPr lang="en-US"/>
          </a:p>
        </p:txBody>
      </p:sp>
    </p:spTree>
    <p:extLst>
      <p:ext uri="{BB962C8B-B14F-4D97-AF65-F5344CB8AC3E}">
        <p14:creationId xmlns:p14="http://schemas.microsoft.com/office/powerpoint/2010/main" val="252440382"/>
      </p:ext>
    </p:extLst>
  </p:cSld>
  <p:clrMapOvr>
    <a:masterClrMapping/>
  </p:clrMapOvr>
</p:sld>
</file>

<file path=ppt/slides/slide6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B7108-DFAC-453D-AA04-D98B92F21B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4C85EF-ACF3-1FF2-AB39-47C26E191874}"/>
              </a:ext>
            </a:extLst>
          </p:cNvPr>
          <p:cNvSpPr>
            <a:spLocks noGrp="1"/>
          </p:cNvSpPr>
          <p:nvPr>
            <p:ph type="title"/>
          </p:nvPr>
        </p:nvSpPr>
        <p:spPr/>
        <p:txBody>
          <a:bodyPr/>
          <a:lstStyle/>
          <a:p>
            <a:r>
              <a:rPr lang="en-US"/>
              <a:t>let's say </a:t>
            </a:r>
            <a:r>
              <a:rPr lang="en-US" b="1">
                <a:solidFill>
                  <a:srgbClr val="7121FF"/>
                </a:solidFill>
              </a:rPr>
              <a:t>n</a:t>
            </a:r>
            <a:r>
              <a:rPr lang="en-US"/>
              <a:t> equals </a:t>
            </a:r>
            <a:r>
              <a:rPr lang="en-US" b="1">
                <a:solidFill>
                  <a:srgbClr val="7121FF"/>
                </a:solidFill>
              </a:rPr>
              <a:t>buffer.length</a:t>
            </a:r>
          </a:p>
        </p:txBody>
      </p:sp>
    </p:spTree>
    <p:extLst>
      <p:ext uri="{BB962C8B-B14F-4D97-AF65-F5344CB8AC3E}">
        <p14:creationId xmlns:p14="http://schemas.microsoft.com/office/powerpoint/2010/main" val="3609309597"/>
      </p:ext>
    </p:extLst>
  </p:cSld>
  <p:clrMapOvr>
    <a:masterClrMapping/>
  </p:clrMapOvr>
</p:sld>
</file>

<file path=ppt/slides/slide6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4437B-F8FE-F1E1-5128-676AC0DBE1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19EB34-A608-C33F-88BC-36B9BC5878B0}"/>
              </a:ext>
            </a:extLst>
          </p:cNvPr>
          <p:cNvSpPr>
            <a:spLocks noGrp="1"/>
          </p:cNvSpPr>
          <p:nvPr>
            <p:ph type="title"/>
          </p:nvPr>
        </p:nvSpPr>
        <p:spPr/>
        <p:txBody>
          <a:bodyPr/>
          <a:lstStyle/>
          <a:p>
            <a:r>
              <a:rPr lang="en-US"/>
              <a:t>what's the big O runtime of pressing </a:t>
            </a:r>
            <a:r>
              <a:rPr lang="en-US" b="1">
                <a:solidFill>
                  <a:srgbClr val="7121FF"/>
                </a:solidFill>
                <a:sym typeface="Wingdings" pitchFamily="2" charset="2"/>
              </a:rPr>
              <a:t></a:t>
            </a:r>
            <a:r>
              <a:rPr lang="en-US">
                <a:sym typeface="Wingdings" pitchFamily="2" charset="2"/>
              </a:rPr>
              <a:t>?</a:t>
            </a:r>
            <a:r>
              <a:rPr lang="en-US"/>
              <a:t> </a:t>
            </a:r>
          </a:p>
        </p:txBody>
      </p:sp>
    </p:spTree>
    <p:extLst>
      <p:ext uri="{BB962C8B-B14F-4D97-AF65-F5344CB8AC3E}">
        <p14:creationId xmlns:p14="http://schemas.microsoft.com/office/powerpoint/2010/main" val="3385967869"/>
      </p:ext>
    </p:extLst>
  </p:cSld>
  <p:clrMapOvr>
    <a:masterClrMapping/>
  </p:clrMapOvr>
</p:sld>
</file>

<file path=ppt/slides/slide6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A457B-06C9-9017-D8DB-64134E0CD5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A0479B-4F7A-A93A-A24A-945E103B21D2}"/>
              </a:ext>
            </a:extLst>
          </p:cNvPr>
          <p:cNvSpPr>
            <a:spLocks noGrp="1"/>
          </p:cNvSpPr>
          <p:nvPr>
            <p:ph type="title"/>
          </p:nvPr>
        </p:nvSpPr>
        <p:spPr/>
        <p:txBody>
          <a:bodyPr/>
          <a:lstStyle/>
          <a:p>
            <a:r>
              <a:rPr lang="en-US"/>
              <a:t>what's the big O runtime of pressing </a:t>
            </a:r>
            <a:r>
              <a:rPr lang="en-US" b="1">
                <a:solidFill>
                  <a:srgbClr val="7121FF"/>
                </a:solidFill>
                <a:sym typeface="Wingdings" pitchFamily="2" charset="2"/>
              </a:rPr>
              <a:t>A</a:t>
            </a:r>
            <a:r>
              <a:rPr lang="en-US">
                <a:sym typeface="Wingdings" pitchFamily="2" charset="2"/>
              </a:rPr>
              <a:t>?</a:t>
            </a:r>
            <a:r>
              <a:rPr lang="en-US"/>
              <a:t> </a:t>
            </a:r>
          </a:p>
        </p:txBody>
      </p:sp>
    </p:spTree>
    <p:extLst>
      <p:ext uri="{BB962C8B-B14F-4D97-AF65-F5344CB8AC3E}">
        <p14:creationId xmlns:p14="http://schemas.microsoft.com/office/powerpoint/2010/main" val="888956547"/>
      </p:ext>
    </p:extLst>
  </p:cSld>
  <p:clrMapOvr>
    <a:masterClrMapping/>
  </p:clrMapOvr>
</p:sld>
</file>

<file path=ppt/slides/slide6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B2523-A91F-B628-E348-DD943D452FF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DE7D227-7D87-C7B5-690B-0A3288C32CB3}"/>
              </a:ext>
            </a:extLst>
          </p:cNvPr>
          <p:cNvSpPr txBox="1"/>
          <p:nvPr/>
        </p:nvSpPr>
        <p:spPr>
          <a:xfrm>
            <a:off x="5146145" y="129365"/>
            <a:ext cx="2083565" cy="2215991"/>
          </a:xfrm>
          <a:prstGeom prst="rect">
            <a:avLst/>
          </a:prstGeom>
          <a:noFill/>
        </p:spPr>
        <p:txBody>
          <a:bodyPr wrap="square">
            <a:spAutoFit/>
          </a:bodyPr>
          <a:lstStyle/>
          <a:p>
            <a:pPr algn="r"/>
            <a:r>
              <a:rPr kumimoji="0" lang="en-US" sz="13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2400"/>
          </a:p>
        </p:txBody>
      </p:sp>
      <p:pic>
        <p:nvPicPr>
          <p:cNvPr id="2" name="Picture 1" descr="🦜 Parrot on Microsoft Windows 11 November 2021 Update">
            <a:extLst>
              <a:ext uri="{FF2B5EF4-FFF2-40B4-BE49-F238E27FC236}">
                <a16:creationId xmlns:a16="http://schemas.microsoft.com/office/drawing/2014/main" id="{3108C6C6-88A0-6708-2C67-DCADDE1A2523}"/>
              </a:ext>
            </a:extLst>
          </p:cNvPr>
          <p:cNvPicPr>
            <a:picLocks noChangeAspect="1"/>
          </p:cNvPicPr>
          <p:nvPr/>
        </p:nvPicPr>
        <p:blipFill>
          <a:blip r:embed="rId2"/>
          <a:stretch>
            <a:fillRect/>
          </a:stretch>
        </p:blipFill>
        <p:spPr>
          <a:xfrm rot="19800000" flipH="1">
            <a:off x="5337993" y="645121"/>
            <a:ext cx="1120949" cy="1184480"/>
          </a:xfrm>
          <a:prstGeom prst="rect">
            <a:avLst/>
          </a:prstGeom>
        </p:spPr>
      </p:pic>
      <p:sp>
        <p:nvSpPr>
          <p:cNvPr id="8" name="Title 7">
            <a:extLst>
              <a:ext uri="{FF2B5EF4-FFF2-40B4-BE49-F238E27FC236}">
                <a16:creationId xmlns:a16="http://schemas.microsoft.com/office/drawing/2014/main" id="{3FF7D0C1-B3F2-E0E4-C6F9-EC27AA3D7351}"/>
              </a:ext>
            </a:extLst>
          </p:cNvPr>
          <p:cNvSpPr>
            <a:spLocks noGrp="1"/>
          </p:cNvSpPr>
          <p:nvPr>
            <p:ph type="title"/>
          </p:nvPr>
        </p:nvSpPr>
        <p:spPr>
          <a:xfrm>
            <a:off x="457200" y="254916"/>
            <a:ext cx="8229600" cy="1893924"/>
          </a:xfrm>
        </p:spPr>
        <p:txBody>
          <a:bodyPr/>
          <a:lstStyle/>
          <a:p>
            <a:r>
              <a:rPr lang="en-US" sz="8800"/>
              <a:t>Week02c</a:t>
            </a:r>
          </a:p>
        </p:txBody>
      </p:sp>
      <p:sp>
        <p:nvSpPr>
          <p:cNvPr id="6" name="Content Placeholder 5">
            <a:extLst>
              <a:ext uri="{FF2B5EF4-FFF2-40B4-BE49-F238E27FC236}">
                <a16:creationId xmlns:a16="http://schemas.microsoft.com/office/drawing/2014/main" id="{0CF682CA-3919-1F30-B0F7-D597947D87AF}"/>
              </a:ext>
            </a:extLst>
          </p:cNvPr>
          <p:cNvSpPr>
            <a:spLocks noGrp="1"/>
          </p:cNvSpPr>
          <p:nvPr>
            <p:ph sz="quarter" idx="10"/>
          </p:nvPr>
        </p:nvSpPr>
        <p:spPr>
          <a:xfrm>
            <a:off x="457200" y="1993732"/>
            <a:ext cx="8229600" cy="2894013"/>
          </a:xfrm>
        </p:spPr>
        <p:txBody>
          <a:bodyPr>
            <a:noAutofit/>
          </a:bodyPr>
          <a:lstStyle/>
          <a:p>
            <a:r>
              <a:rPr lang="en-US" strike="sngStrike"/>
              <a:t>arrays</a:t>
            </a:r>
          </a:p>
          <a:p>
            <a:r>
              <a:rPr lang="en-US" strike="sngStrike"/>
              <a:t>array examples</a:t>
            </a:r>
          </a:p>
          <a:p>
            <a:r>
              <a:rPr lang="en-US"/>
              <a:t>swap</a:t>
            </a:r>
          </a:p>
          <a:p>
            <a:r>
              <a:rPr lang="en-US"/>
              <a:t>array examples</a:t>
            </a:r>
            <a:br>
              <a:rPr lang="en-US"/>
            </a:br>
            <a:r>
              <a:rPr lang="en-US"/>
              <a:t>that use swaps</a:t>
            </a:r>
          </a:p>
          <a:p>
            <a:r>
              <a:rPr lang="en-US"/>
              <a:t>big O</a:t>
            </a:r>
          </a:p>
        </p:txBody>
      </p:sp>
      <p:sp>
        <p:nvSpPr>
          <p:cNvPr id="17" name="TextBox 16">
            <a:extLst>
              <a:ext uri="{FF2B5EF4-FFF2-40B4-BE49-F238E27FC236}">
                <a16:creationId xmlns:a16="http://schemas.microsoft.com/office/drawing/2014/main" id="{F35C66BF-ED70-4DCC-4E3F-BEDD21D40F1C}"/>
              </a:ext>
            </a:extLst>
          </p:cNvPr>
          <p:cNvSpPr txBox="1"/>
          <p:nvPr/>
        </p:nvSpPr>
        <p:spPr>
          <a:xfrm>
            <a:off x="3635310" y="2280526"/>
            <a:ext cx="2963304" cy="2616101"/>
          </a:xfrm>
          <a:prstGeom prst="rect">
            <a:avLst/>
          </a:prstGeom>
          <a:solidFill>
            <a:schemeClr val="accent3"/>
          </a:solidFill>
          <a:ln>
            <a:solidFill>
              <a:schemeClr val="tx1"/>
            </a:solidFill>
          </a:ln>
        </p:spPr>
        <p:txBody>
          <a:bodyPr wrap="square" rtlCol="0">
            <a:spAutoFit/>
          </a:bodyPr>
          <a:lstStyle/>
          <a:p>
            <a:r>
              <a:rPr lang="en-US" sz="3200" b="1"/>
              <a:t>WARMUP:</a:t>
            </a:r>
          </a:p>
          <a:p>
            <a:r>
              <a:rPr lang="en-US" sz="2400"/>
              <a:t>How do we swap two numbers...</a:t>
            </a:r>
          </a:p>
          <a:p>
            <a:r>
              <a:rPr lang="en-US" sz="2400"/>
              <a:t>...in Java?</a:t>
            </a:r>
          </a:p>
          <a:p>
            <a:r>
              <a:rPr lang="en-US" sz="2400"/>
              <a:t>...in Python?</a:t>
            </a:r>
          </a:p>
          <a:p>
            <a:endParaRPr lang="en-US" sz="2400"/>
          </a:p>
          <a:p>
            <a:r>
              <a:rPr lang="en-US" sz="1200"/>
              <a:t>...in C using XOR and no temporary?</a:t>
            </a:r>
          </a:p>
        </p:txBody>
      </p:sp>
      <p:pic>
        <p:nvPicPr>
          <p:cNvPr id="14" name="Picture 13">
            <a:extLst>
              <a:ext uri="{FF2B5EF4-FFF2-40B4-BE49-F238E27FC236}">
                <a16:creationId xmlns:a16="http://schemas.microsoft.com/office/drawing/2014/main" id="{5B84379A-B031-80E3-9308-F45008BC28DE}"/>
              </a:ext>
            </a:extLst>
          </p:cNvPr>
          <p:cNvPicPr>
            <a:picLocks noChangeAspect="1"/>
          </p:cNvPicPr>
          <p:nvPr/>
        </p:nvPicPr>
        <p:blipFill rotWithShape="1">
          <a:blip r:embed="rId3"/>
          <a:srcRect l="27874" t="45709" r="29789" b="31403"/>
          <a:stretch/>
        </p:blipFill>
        <p:spPr>
          <a:xfrm>
            <a:off x="5444629" y="1329401"/>
            <a:ext cx="1914144" cy="845830"/>
          </a:xfrm>
          <a:prstGeom prst="rect">
            <a:avLst/>
          </a:prstGeom>
        </p:spPr>
      </p:pic>
      <p:pic>
        <p:nvPicPr>
          <p:cNvPr id="21" name="Picture 20">
            <a:extLst>
              <a:ext uri="{FF2B5EF4-FFF2-40B4-BE49-F238E27FC236}">
                <a16:creationId xmlns:a16="http://schemas.microsoft.com/office/drawing/2014/main" id="{F576492F-3D4D-3584-2063-A0942ECA748A}"/>
              </a:ext>
            </a:extLst>
          </p:cNvPr>
          <p:cNvPicPr>
            <a:picLocks noChangeAspect="1"/>
          </p:cNvPicPr>
          <p:nvPr/>
        </p:nvPicPr>
        <p:blipFill rotWithShape="1">
          <a:blip r:embed="rId3"/>
          <a:srcRect l="44153" t="45122" r="33160" b="47899"/>
          <a:stretch/>
        </p:blipFill>
        <p:spPr>
          <a:xfrm rot="1270469">
            <a:off x="6133710" y="979305"/>
            <a:ext cx="490159" cy="451878"/>
          </a:xfrm>
          <a:prstGeom prst="rect">
            <a:avLst/>
          </a:prstGeom>
        </p:spPr>
      </p:pic>
      <p:sp>
        <p:nvSpPr>
          <p:cNvPr id="5" name="TextBox 4">
            <a:extLst>
              <a:ext uri="{FF2B5EF4-FFF2-40B4-BE49-F238E27FC236}">
                <a16:creationId xmlns:a16="http://schemas.microsoft.com/office/drawing/2014/main" id="{BDD0C8D2-04DC-57E8-D4CD-8AC7B4261668}"/>
              </a:ext>
            </a:extLst>
          </p:cNvPr>
          <p:cNvSpPr txBox="1"/>
          <p:nvPr/>
        </p:nvSpPr>
        <p:spPr>
          <a:xfrm>
            <a:off x="5898467" y="3249716"/>
            <a:ext cx="3083608" cy="1292662"/>
          </a:xfrm>
          <a:prstGeom prst="rect">
            <a:avLst/>
          </a:prstGeom>
          <a:solidFill>
            <a:schemeClr val="accent3"/>
          </a:solidFill>
          <a:ln>
            <a:solidFill>
              <a:schemeClr val="tx1"/>
            </a:solidFill>
          </a:ln>
        </p:spPr>
        <p:txBody>
          <a:bodyPr wrap="square" rtlCol="0">
            <a:spAutoFit/>
          </a:bodyPr>
          <a:lstStyle/>
          <a:p>
            <a:r>
              <a:rPr lang="en-US" sz="2400" b="1"/>
              <a:t>BONUS:</a:t>
            </a:r>
          </a:p>
          <a:p>
            <a:r>
              <a:rPr lang="en-US"/>
              <a:t>What is the big O runtime of pressing backspace in your text box (n is buffer.length)</a:t>
            </a:r>
            <a:endParaRPr lang="en-US" sz="1050"/>
          </a:p>
        </p:txBody>
      </p:sp>
      <p:sp>
        <p:nvSpPr>
          <p:cNvPr id="9" name="TextBox 8">
            <a:extLst>
              <a:ext uri="{FF2B5EF4-FFF2-40B4-BE49-F238E27FC236}">
                <a16:creationId xmlns:a16="http://schemas.microsoft.com/office/drawing/2014/main" id="{B0A1CC24-F77B-E19F-4F1D-E3F87CBFBDE1}"/>
              </a:ext>
            </a:extLst>
          </p:cNvPr>
          <p:cNvSpPr txBox="1"/>
          <p:nvPr/>
        </p:nvSpPr>
        <p:spPr>
          <a:xfrm rot="20551163">
            <a:off x="5335051" y="-47838"/>
            <a:ext cx="361785" cy="1015663"/>
          </a:xfrm>
          <a:prstGeom prst="rect">
            <a:avLst/>
          </a:prstGeom>
          <a:noFill/>
        </p:spPr>
        <p:txBody>
          <a:bodyPr wrap="square">
            <a:spAutoFit/>
          </a:bodyPr>
          <a:lstStyle/>
          <a:p>
            <a:r>
              <a:rPr lang="en-US" sz="6000">
                <a:cs typeface="Consolas" panose="020B0609020204030204" pitchFamily="49" charset="0"/>
              </a:rPr>
              <a:t>!</a:t>
            </a:r>
            <a:endParaRPr lang="en-US" sz="6000"/>
          </a:p>
        </p:txBody>
      </p:sp>
    </p:spTree>
    <p:extLst>
      <p:ext uri="{BB962C8B-B14F-4D97-AF65-F5344CB8AC3E}">
        <p14:creationId xmlns:p14="http://schemas.microsoft.com/office/powerpoint/2010/main" val="2837392605"/>
      </p:ext>
    </p:extLst>
  </p:cSld>
  <p:clrMapOvr>
    <a:masterClrMapping/>
  </p:clrMapOvr>
</p:sld>
</file>

<file path=ppt/slides/slide6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00F3-BC5F-8D28-6EBF-3980689739A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F41B51F-C0DB-F9EB-588F-CB9842CB5C0D}"/>
              </a:ext>
            </a:extLst>
          </p:cNvPr>
          <p:cNvSpPr>
            <a:spLocks noGrp="1"/>
          </p:cNvSpPr>
          <p:nvPr>
            <p:ph type="title"/>
          </p:nvPr>
        </p:nvSpPr>
        <p:spPr/>
        <p:txBody>
          <a:bodyPr/>
          <a:lstStyle/>
          <a:p>
            <a:r>
              <a:rPr lang="en-US"/>
              <a:t>swap</a:t>
            </a:r>
          </a:p>
        </p:txBody>
      </p:sp>
    </p:spTree>
    <p:extLst>
      <p:ext uri="{BB962C8B-B14F-4D97-AF65-F5344CB8AC3E}">
        <p14:creationId xmlns:p14="http://schemas.microsoft.com/office/powerpoint/2010/main" val="1616871524"/>
      </p:ext>
    </p:extLst>
  </p:cSld>
  <p:clrMapOvr>
    <a:masterClrMapping/>
  </p:clrMapOvr>
</p:sld>
</file>

<file path=ppt/slides/slide6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4DD98-40AC-22C5-E9A1-AD7730F6CB5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B39C21F-54F0-0E2B-12D6-BA3EEA0DA97F}"/>
              </a:ext>
            </a:extLst>
          </p:cNvPr>
          <p:cNvSpPr>
            <a:spLocks noGrp="1"/>
          </p:cNvSpPr>
          <p:nvPr>
            <p:ph type="title"/>
          </p:nvPr>
        </p:nvSpPr>
        <p:spPr>
          <a:xfrm>
            <a:off x="457200" y="2143125"/>
            <a:ext cx="8229600" cy="857250"/>
          </a:xfrm>
        </p:spPr>
        <p:txBody>
          <a:bodyPr/>
          <a:lstStyle/>
          <a:p>
            <a:r>
              <a:rPr lang="en-US"/>
              <a:t>🐍 Python swap</a:t>
            </a:r>
          </a:p>
        </p:txBody>
      </p:sp>
    </p:spTree>
    <p:extLst>
      <p:ext uri="{BB962C8B-B14F-4D97-AF65-F5344CB8AC3E}">
        <p14:creationId xmlns:p14="http://schemas.microsoft.com/office/powerpoint/2010/main" val="1583562879"/>
      </p:ext>
    </p:extLst>
  </p:cSld>
  <p:clrMapOvr>
    <a:masterClrMapping/>
  </p:clrMapOvr>
</p:sld>
</file>

<file path=ppt/slides/slide6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23D35-B9AB-4EEB-7FC0-20C09949B28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CD6E0E-F2D6-8E73-D611-088E4ABE94A6}"/>
              </a:ext>
            </a:extLst>
          </p:cNvPr>
          <p:cNvSpPr>
            <a:spLocks noGrp="1"/>
          </p:cNvSpPr>
          <p:nvPr>
            <p:ph type="title"/>
          </p:nvPr>
        </p:nvSpPr>
        <p:spPr/>
        <p:txBody>
          <a:bodyPr/>
          <a:lstStyle/>
          <a:p>
            <a:r>
              <a:rPr lang="en-US">
                <a:effectLst/>
              </a:rPr>
              <a:t>🐍 Python swap</a:t>
            </a:r>
            <a:endParaRPr lang="en-US"/>
          </a:p>
        </p:txBody>
      </p:sp>
      <p:sp>
        <p:nvSpPr>
          <p:cNvPr id="8" name="TextBox 7">
            <a:extLst>
              <a:ext uri="{FF2B5EF4-FFF2-40B4-BE49-F238E27FC236}">
                <a16:creationId xmlns:a16="http://schemas.microsoft.com/office/drawing/2014/main" id="{B2820DBA-2811-9F9D-C4E8-8198735F9F42}"/>
              </a:ext>
            </a:extLst>
          </p:cNvPr>
          <p:cNvSpPr txBox="1"/>
          <p:nvPr/>
        </p:nvSpPr>
        <p:spPr>
          <a:xfrm>
            <a:off x="457200" y="1169577"/>
            <a:ext cx="8229600" cy="2363724"/>
          </a:xfrm>
          <a:prstGeom prst="rect">
            <a:avLst/>
          </a:prstGeom>
          <a:solidFill>
            <a:schemeClr val="accent3">
              <a:lumMod val="20000"/>
              <a:lumOff val="80000"/>
            </a:schemeClr>
          </a:solid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0000"/>
                </a:solidFill>
                <a:latin typeface="Consolas"/>
                <a:ea typeface="Segoe UI Emoji" panose="020B0502040204020203" pitchFamily="34" charset="0"/>
              </a:rPr>
              <a:t>a = 0</a:t>
            </a:r>
          </a:p>
          <a:p>
            <a:pPr lvl="0" defTabSz="342886">
              <a:spcBef>
                <a:spcPct val="20000"/>
              </a:spcBef>
              <a:buClr>
                <a:srgbClr val="FFFFFF">
                  <a:lumMod val="65000"/>
                </a:srgbClr>
              </a:buClr>
            </a:pPr>
            <a:r>
              <a:rPr lang="en-US">
                <a:solidFill>
                  <a:srgbClr val="000000"/>
                </a:solidFill>
                <a:latin typeface="Consolas"/>
                <a:ea typeface="Segoe UI Emoji" panose="020B0502040204020203" pitchFamily="34" charset="0"/>
              </a:rPr>
              <a:t>b = 1</a:t>
            </a:r>
          </a:p>
          <a:p>
            <a:pPr lvl="0" defTabSz="342886">
              <a:spcBef>
                <a:spcPct val="20000"/>
              </a:spcBef>
              <a:buClr>
                <a:srgbClr val="FFFFFF">
                  <a:lumMod val="65000"/>
                </a:srgbClr>
              </a:buClr>
            </a:pPr>
            <a:endParaRPr lang="en-US">
              <a:solidFill>
                <a:srgbClr val="000000"/>
              </a:solidFill>
              <a:latin typeface="Consolas"/>
              <a:ea typeface="Segoe UI Emoji" panose="020B0502040204020203" pitchFamily="34" charset="0"/>
            </a:endParaRPr>
          </a:p>
          <a:p>
            <a:pPr lvl="0" defTabSz="342886">
              <a:spcBef>
                <a:spcPct val="20000"/>
              </a:spcBef>
              <a:buClr>
                <a:srgbClr val="FFFFFF">
                  <a:lumMod val="65000"/>
                </a:srgbClr>
              </a:buClr>
            </a:pPr>
            <a:r>
              <a:rPr lang="en-US">
                <a:solidFill>
                  <a:srgbClr val="000000"/>
                </a:solidFill>
                <a:latin typeface="Consolas"/>
                <a:ea typeface="Segoe UI Emoji" panose="020B0502040204020203" pitchFamily="34" charset="0"/>
              </a:rPr>
              <a:t>a, b = b, a </a:t>
            </a:r>
            <a:r>
              <a:rPr lang="en-US">
                <a:solidFill>
                  <a:srgbClr val="007B00"/>
                </a:solidFill>
                <a:latin typeface="Consolas"/>
                <a:ea typeface="Segoe UI Emoji" panose="020B0502040204020203" pitchFamily="34" charset="0"/>
              </a:rPr>
              <a:t># Python swap</a:t>
            </a:r>
          </a:p>
          <a:p>
            <a:pPr lvl="0" defTabSz="342886">
              <a:spcBef>
                <a:spcPct val="20000"/>
              </a:spcBef>
              <a:buClr>
                <a:srgbClr val="FFFFFF">
                  <a:lumMod val="65000"/>
                </a:srgbClr>
              </a:buClr>
            </a:pPr>
            <a:endParaRPr lang="en-US">
              <a:solidFill>
                <a:srgbClr val="007B00"/>
              </a:solidFill>
              <a:latin typeface="Consolas"/>
              <a:ea typeface="Segoe UI Emoji" panose="020B0502040204020203" pitchFamily="34" charset="0"/>
            </a:endParaRPr>
          </a:p>
          <a:p>
            <a:pPr lvl="0" defTabSz="342886">
              <a:spcBef>
                <a:spcPct val="20000"/>
              </a:spcBef>
              <a:buClr>
                <a:srgbClr val="FFFFFF">
                  <a:lumMod val="65000"/>
                </a:srgbClr>
              </a:buClr>
            </a:pPr>
            <a:r>
              <a:rPr lang="en-US">
                <a:solidFill>
                  <a:srgbClr val="007B00"/>
                </a:solidFill>
                <a:latin typeface="Consolas"/>
                <a:ea typeface="Segoe UI Emoji" panose="020B0502040204020203" pitchFamily="34" charset="0"/>
              </a:rPr>
              <a:t># a is now 1</a:t>
            </a:r>
          </a:p>
          <a:p>
            <a:pPr lvl="0" defTabSz="342886">
              <a:spcBef>
                <a:spcPct val="20000"/>
              </a:spcBef>
              <a:buClr>
                <a:srgbClr val="FFFFFF">
                  <a:lumMod val="65000"/>
                </a:srgbClr>
              </a:buClr>
            </a:pPr>
            <a:r>
              <a:rPr lang="en-US">
                <a:solidFill>
                  <a:srgbClr val="007B00"/>
                </a:solidFill>
                <a:latin typeface="Consolas"/>
                <a:ea typeface="Segoe UI Emoji" panose="020B0502040204020203" pitchFamily="34" charset="0"/>
              </a:rPr>
              <a:t># b is now 0</a:t>
            </a:r>
          </a:p>
        </p:txBody>
      </p:sp>
    </p:spTree>
    <p:extLst>
      <p:ext uri="{BB962C8B-B14F-4D97-AF65-F5344CB8AC3E}">
        <p14:creationId xmlns:p14="http://schemas.microsoft.com/office/powerpoint/2010/main" val="3158648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D5221-981A-FA80-632D-CD11743F794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3B1C8BF-F78A-4762-2754-030922CF71BE}"/>
              </a:ext>
            </a:extLst>
          </p:cNvPr>
          <p:cNvSpPr>
            <a:spLocks noGrp="1"/>
          </p:cNvSpPr>
          <p:nvPr>
            <p:ph type="title"/>
          </p:nvPr>
        </p:nvSpPr>
        <p:spPr/>
        <p:txBody>
          <a:bodyPr/>
          <a:lstStyle/>
          <a:p>
            <a:r>
              <a:rPr lang="en-US">
                <a:effectLst/>
              </a:rPr>
              <a:t>☠️ BAD VERY BAD BROKEN swap</a:t>
            </a:r>
            <a:endParaRPr lang="en-US"/>
          </a:p>
        </p:txBody>
      </p:sp>
    </p:spTree>
    <p:extLst>
      <p:ext uri="{BB962C8B-B14F-4D97-AF65-F5344CB8AC3E}">
        <p14:creationId xmlns:p14="http://schemas.microsoft.com/office/powerpoint/2010/main" val="1029990309"/>
      </p:ext>
    </p:extLst>
  </p:cSld>
  <p:clrMapOvr>
    <a:masterClrMapping/>
  </p:clrMapOvr>
</p:sld>
</file>

<file path=ppt/slides/slide6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A8122-36E2-3022-925F-3B32FE72562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7670409-891D-0E79-369D-1D7FA36CE756}"/>
              </a:ext>
            </a:extLst>
          </p:cNvPr>
          <p:cNvSpPr>
            <a:spLocks noGrp="1"/>
          </p:cNvSpPr>
          <p:nvPr>
            <p:ph type="title"/>
          </p:nvPr>
        </p:nvSpPr>
        <p:spPr/>
        <p:txBody>
          <a:bodyPr/>
          <a:lstStyle/>
          <a:p>
            <a:r>
              <a:rPr lang="en-US">
                <a:effectLst/>
              </a:rPr>
              <a:t>☠️ BAD VERY BAD BROKEN swap</a:t>
            </a:r>
            <a:endParaRPr lang="en-US"/>
          </a:p>
        </p:txBody>
      </p:sp>
      <p:sp>
        <p:nvSpPr>
          <p:cNvPr id="8" name="TextBox 7">
            <a:extLst>
              <a:ext uri="{FF2B5EF4-FFF2-40B4-BE49-F238E27FC236}">
                <a16:creationId xmlns:a16="http://schemas.microsoft.com/office/drawing/2014/main" id="{29EC0FCC-2148-A822-5DFE-8CE9BAF03983}"/>
              </a:ext>
            </a:extLst>
          </p:cNvPr>
          <p:cNvSpPr txBox="1"/>
          <p:nvPr/>
        </p:nvSpPr>
        <p:spPr>
          <a:xfrm>
            <a:off x="457200" y="1169577"/>
            <a:ext cx="8229600" cy="2363724"/>
          </a:xfrm>
          <a:prstGeom prst="rect">
            <a:avLst/>
          </a:prstGeom>
          <a:solidFill>
            <a:schemeClr val="accent1">
              <a:lumMod val="20000"/>
              <a:lumOff val="80000"/>
            </a:schemeClr>
          </a:solid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0080"/>
                </a:solidFill>
                <a:latin typeface="Consolas"/>
                <a:ea typeface="Segoe UI Emoji" panose="020B0502040204020203" pitchFamily="34" charset="0"/>
              </a:rPr>
              <a:t>int</a:t>
            </a:r>
            <a:r>
              <a:rPr lang="en-US">
                <a:solidFill>
                  <a:srgbClr val="000000"/>
                </a:solidFill>
                <a:latin typeface="Consolas"/>
                <a:ea typeface="Segoe UI Emoji" panose="020B0502040204020203" pitchFamily="34" charset="0"/>
              </a:rPr>
              <a:t> a = 0;</a:t>
            </a:r>
          </a:p>
          <a:p>
            <a:pPr lvl="0" defTabSz="342886">
              <a:spcBef>
                <a:spcPct val="20000"/>
              </a:spcBef>
              <a:buClr>
                <a:srgbClr val="FFFFFF">
                  <a:lumMod val="65000"/>
                </a:srgbClr>
              </a:buClr>
            </a:pPr>
            <a:r>
              <a:rPr lang="en-US">
                <a:solidFill>
                  <a:srgbClr val="000080"/>
                </a:solidFill>
                <a:latin typeface="Consolas"/>
                <a:ea typeface="Segoe UI Emoji" panose="020B0502040204020203" pitchFamily="34" charset="0"/>
              </a:rPr>
              <a:t>int</a:t>
            </a:r>
            <a:r>
              <a:rPr lang="en-US">
                <a:solidFill>
                  <a:srgbClr val="000000"/>
                </a:solidFill>
                <a:latin typeface="Consolas"/>
                <a:ea typeface="Segoe UI Emoji" panose="020B0502040204020203" pitchFamily="34" charset="0"/>
              </a:rPr>
              <a:t> b = 1;</a:t>
            </a:r>
          </a:p>
          <a:p>
            <a:pPr lvl="0" defTabSz="342886">
              <a:spcBef>
                <a:spcPct val="20000"/>
              </a:spcBef>
              <a:buClr>
                <a:srgbClr val="FFFFFF">
                  <a:lumMod val="65000"/>
                </a:srgbClr>
              </a:buClr>
            </a:pPr>
            <a:endParaRPr lang="en-US">
              <a:solidFill>
                <a:srgbClr val="000000"/>
              </a:solidFill>
              <a:latin typeface="Consolas"/>
              <a:ea typeface="Segoe UI Emoji" panose="020B0502040204020203" pitchFamily="34" charset="0"/>
            </a:endParaRPr>
          </a:p>
          <a:p>
            <a:pPr lvl="0" defTabSz="342886">
              <a:spcBef>
                <a:spcPct val="20000"/>
              </a:spcBef>
              <a:buClr>
                <a:srgbClr val="FFFFFF">
                  <a:lumMod val="65000"/>
                </a:srgbClr>
              </a:buClr>
            </a:pPr>
            <a:r>
              <a:rPr lang="en-US">
                <a:solidFill>
                  <a:srgbClr val="000000"/>
                </a:solidFill>
                <a:latin typeface="Consolas"/>
                <a:ea typeface="Segoe UI Emoji" panose="020B0502040204020203" pitchFamily="34" charset="0"/>
              </a:rPr>
              <a:t>{ </a:t>
            </a:r>
            <a:r>
              <a:rPr lang="en-US">
                <a:solidFill>
                  <a:srgbClr val="007B00"/>
                </a:solidFill>
                <a:latin typeface="Consolas"/>
                <a:ea typeface="Segoe UI Emoji" panose="020B0502040204020203" pitchFamily="34" charset="0"/>
              </a:rPr>
              <a:t>// BAD VERY BAD BROKEN swap</a:t>
            </a:r>
          </a:p>
          <a:p>
            <a:pPr lvl="0" defTabSz="342886">
              <a:spcBef>
                <a:spcPct val="20000"/>
              </a:spcBef>
              <a:buClr>
                <a:srgbClr val="FFFFFF">
                  <a:lumMod val="65000"/>
                </a:srgbClr>
              </a:buClr>
            </a:pPr>
            <a:r>
              <a:rPr lang="en-US">
                <a:solidFill>
                  <a:srgbClr val="000000"/>
                </a:solidFill>
                <a:latin typeface="Consolas"/>
                <a:ea typeface="Segoe UI Emoji" panose="020B0502040204020203" pitchFamily="34" charset="0"/>
              </a:rPr>
              <a:t>    a = b; </a:t>
            </a:r>
            <a:r>
              <a:rPr lang="en-US">
                <a:solidFill>
                  <a:srgbClr val="007B00"/>
                </a:solidFill>
                <a:latin typeface="Consolas"/>
                <a:ea typeface="Segoe UI Emoji" panose="020B0502040204020203" pitchFamily="34" charset="0"/>
              </a:rPr>
              <a:t>// a &lt;- 1</a:t>
            </a:r>
          </a:p>
          <a:p>
            <a:pPr lvl="0" defTabSz="342886">
              <a:spcBef>
                <a:spcPct val="20000"/>
              </a:spcBef>
              <a:buClr>
                <a:srgbClr val="FFFFFF">
                  <a:lumMod val="65000"/>
                </a:srgbClr>
              </a:buClr>
            </a:pPr>
            <a:r>
              <a:rPr lang="en-US">
                <a:solidFill>
                  <a:srgbClr val="000000"/>
                </a:solidFill>
                <a:latin typeface="Consolas"/>
                <a:ea typeface="Segoe UI Emoji" panose="020B0502040204020203" pitchFamily="34" charset="0"/>
              </a:rPr>
              <a:t>    b = a; </a:t>
            </a:r>
            <a:r>
              <a:rPr lang="en-US">
                <a:solidFill>
                  <a:srgbClr val="007B00"/>
                </a:solidFill>
                <a:latin typeface="Consolas"/>
                <a:ea typeface="Segoe UI Emoji" panose="020B0502040204020203" pitchFamily="34" charset="0"/>
              </a:rPr>
              <a:t>// b &lt;- 1</a:t>
            </a:r>
          </a:p>
          <a:p>
            <a:pPr lvl="0" defTabSz="342886">
              <a:spcBef>
                <a:spcPct val="20000"/>
              </a:spcBef>
              <a:buClr>
                <a:srgbClr val="FFFFFF">
                  <a:lumMod val="65000"/>
                </a:srgbClr>
              </a:buClr>
            </a:pPr>
            <a:r>
              <a:rPr lang="en-US">
                <a:solidFill>
                  <a:srgbClr val="000000"/>
                </a:solidFill>
                <a:latin typeface="Consolas"/>
                <a:ea typeface="Segoe UI Emoji" panose="020B0502040204020203" pitchFamily="34" charset="0"/>
              </a:rPr>
              <a:t>}</a:t>
            </a:r>
          </a:p>
        </p:txBody>
      </p:sp>
    </p:spTree>
    <p:extLst>
      <p:ext uri="{BB962C8B-B14F-4D97-AF65-F5344CB8AC3E}">
        <p14:creationId xmlns:p14="http://schemas.microsoft.com/office/powerpoint/2010/main" val="1132412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5974C-C095-097D-4A35-C00955DB31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CF87F1A-E6F8-0652-DA78-44268C64CDEF}"/>
              </a:ext>
            </a:extLst>
          </p:cNvPr>
          <p:cNvSpPr>
            <a:spLocks noGrp="1"/>
          </p:cNvSpPr>
          <p:nvPr>
            <p:ph type="title"/>
          </p:nvPr>
        </p:nvSpPr>
        <p:spPr/>
        <p:txBody>
          <a:bodyPr/>
          <a:lstStyle/>
          <a:p>
            <a:r>
              <a:rPr lang="en-US"/>
              <a:t>swap</a:t>
            </a:r>
          </a:p>
        </p:txBody>
      </p:sp>
    </p:spTree>
    <p:extLst>
      <p:ext uri="{BB962C8B-B14F-4D97-AF65-F5344CB8AC3E}">
        <p14:creationId xmlns:p14="http://schemas.microsoft.com/office/powerpoint/2010/main" val="3530120203"/>
      </p:ext>
    </p:extLst>
  </p:cSld>
  <p:clrMapOvr>
    <a:masterClrMapping/>
  </p:clrMapOvr>
</p:sld>
</file>

<file path=ppt/slides/slide6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7322D-1893-89CD-3866-E0E41974F66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9BDE5C0-8AF9-FF64-0A0B-9476000B3BD9}"/>
              </a:ext>
            </a:extLst>
          </p:cNvPr>
          <p:cNvSpPr>
            <a:spLocks noGrp="1"/>
          </p:cNvSpPr>
          <p:nvPr>
            <p:ph type="title"/>
          </p:nvPr>
        </p:nvSpPr>
        <p:spPr/>
        <p:txBody>
          <a:bodyPr/>
          <a:lstStyle/>
          <a:p>
            <a:r>
              <a:rPr lang="en-US"/>
              <a:t>swap</a:t>
            </a:r>
          </a:p>
        </p:txBody>
      </p:sp>
      <p:sp>
        <p:nvSpPr>
          <p:cNvPr id="5" name="TextBox 4">
            <a:extLst>
              <a:ext uri="{FF2B5EF4-FFF2-40B4-BE49-F238E27FC236}">
                <a16:creationId xmlns:a16="http://schemas.microsoft.com/office/drawing/2014/main" id="{34218F3F-0D7D-B671-B6DF-169F3020DD9B}"/>
              </a:ext>
            </a:extLst>
          </p:cNvPr>
          <p:cNvSpPr txBox="1"/>
          <p:nvPr/>
        </p:nvSpPr>
        <p:spPr>
          <a:xfrm>
            <a:off x="457200" y="1169577"/>
            <a:ext cx="8229600" cy="2696123"/>
          </a:xfrm>
          <a:prstGeom prst="rect">
            <a:avLst/>
          </a:prstGeom>
          <a:solidFill>
            <a:schemeClr val="bg1"/>
          </a:solid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0080"/>
                </a:solidFill>
                <a:effectLst/>
                <a:latin typeface="Consolas" panose="020B0609020204030204" pitchFamily="49" charset="0"/>
                <a:cs typeface="Consolas" panose="020B0609020204030204" pitchFamily="49" charset="0"/>
              </a:rPr>
              <a:t>int</a:t>
            </a:r>
            <a:r>
              <a:rPr lang="en-US">
                <a:effectLst/>
                <a:latin typeface="Consolas" panose="020B0609020204030204" pitchFamily="49" charset="0"/>
                <a:cs typeface="Consolas" panose="020B0609020204030204" pitchFamily="49" charset="0"/>
              </a:rPr>
              <a:t> a = 0;</a:t>
            </a:r>
          </a:p>
          <a:p>
            <a:pPr lvl="0" defTabSz="342886">
              <a:spcBef>
                <a:spcPct val="20000"/>
              </a:spcBef>
              <a:buClr>
                <a:srgbClr val="FFFFFF">
                  <a:lumMod val="65000"/>
                </a:srgbClr>
              </a:buClr>
            </a:pPr>
            <a:r>
              <a:rPr lang="en-US">
                <a:solidFill>
                  <a:srgbClr val="000080"/>
                </a:solidFill>
                <a:effectLst/>
                <a:latin typeface="Consolas" panose="020B0609020204030204" pitchFamily="49" charset="0"/>
                <a:cs typeface="Consolas" panose="020B0609020204030204" pitchFamily="49" charset="0"/>
              </a:rPr>
              <a:t>int</a:t>
            </a:r>
            <a:r>
              <a:rPr lang="en-US">
                <a:effectLst/>
                <a:latin typeface="Consolas" panose="020B0609020204030204" pitchFamily="49" charset="0"/>
                <a:cs typeface="Consolas" panose="020B0609020204030204" pitchFamily="49" charset="0"/>
              </a:rPr>
              <a:t> b = 1;</a:t>
            </a:r>
          </a:p>
          <a:p>
            <a:pPr lvl="0" defTabSz="342886">
              <a:spcBef>
                <a:spcPct val="20000"/>
              </a:spcBef>
              <a:buClr>
                <a:srgbClr val="FFFFFF">
                  <a:lumMod val="65000"/>
                </a:srgbClr>
              </a:buClr>
            </a:pPr>
            <a:endParaRPr lang="en-US">
              <a:effectLst/>
              <a:latin typeface="Consolas" panose="020B0609020204030204" pitchFamily="49" charset="0"/>
              <a:cs typeface="Consolas" panose="020B0609020204030204" pitchFamily="49" charset="0"/>
            </a:endParaRPr>
          </a:p>
          <a:p>
            <a:pPr lvl="0" defTabSz="342886">
              <a:spcBef>
                <a:spcPct val="20000"/>
              </a:spcBef>
              <a:buClr>
                <a:srgbClr val="FFFFFF">
                  <a:lumMod val="65000"/>
                </a:srgbClr>
              </a:buClr>
            </a:pP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swap</a:t>
            </a:r>
          </a:p>
          <a:p>
            <a:pPr lvl="0" defTabSz="342886">
              <a:spcBef>
                <a:spcPct val="20000"/>
              </a:spcBef>
              <a:buClr>
                <a:srgbClr val="FFFFFF">
                  <a:lumMod val="65000"/>
                </a:srgbClr>
              </a:buClr>
            </a:pPr>
            <a:r>
              <a:rPr lang="en-US">
                <a:effectLst/>
                <a:latin typeface="Consolas" panose="020B0609020204030204" pitchFamily="49" charset="0"/>
                <a:cs typeface="Consolas" panose="020B0609020204030204" pitchFamily="49" charset="0"/>
              </a:rPr>
              <a:t>    </a:t>
            </a:r>
            <a:r>
              <a:rPr lang="en-US">
                <a:solidFill>
                  <a:srgbClr val="000080"/>
                </a:solidFill>
                <a:effectLst/>
                <a:latin typeface="Consolas" panose="020B0609020204030204" pitchFamily="49" charset="0"/>
                <a:cs typeface="Consolas" panose="020B0609020204030204" pitchFamily="49" charset="0"/>
              </a:rPr>
              <a:t>int</a:t>
            </a:r>
            <a:r>
              <a:rPr lang="en-US">
                <a:effectLst/>
                <a:latin typeface="Consolas" panose="020B0609020204030204" pitchFamily="49" charset="0"/>
                <a:cs typeface="Consolas" panose="020B0609020204030204" pitchFamily="49" charset="0"/>
              </a:rPr>
              <a:t> tmp = a; </a:t>
            </a:r>
            <a:r>
              <a:rPr lang="en-US">
                <a:solidFill>
                  <a:srgbClr val="007B00"/>
                </a:solidFill>
                <a:effectLst/>
                <a:latin typeface="Consolas" panose="020B0609020204030204" pitchFamily="49" charset="0"/>
                <a:cs typeface="Consolas" panose="020B0609020204030204" pitchFamily="49" charset="0"/>
              </a:rPr>
              <a:t>// tmp &lt;- 0</a:t>
            </a:r>
          </a:p>
          <a:p>
            <a:pPr lvl="0" defTabSz="342886">
              <a:spcBef>
                <a:spcPct val="20000"/>
              </a:spcBef>
              <a:buClr>
                <a:srgbClr val="FFFFFF">
                  <a:lumMod val="65000"/>
                </a:srgbClr>
              </a:buClr>
            </a:pPr>
            <a:r>
              <a:rPr lang="en-US">
                <a:effectLst/>
                <a:latin typeface="Consolas" panose="020B0609020204030204" pitchFamily="49" charset="0"/>
                <a:cs typeface="Consolas" panose="020B0609020204030204" pitchFamily="49" charset="0"/>
              </a:rPr>
              <a:t>    a = b; </a:t>
            </a:r>
            <a:r>
              <a:rPr lang="en-US">
                <a:solidFill>
                  <a:srgbClr val="007B00"/>
                </a:solidFill>
                <a:effectLst/>
                <a:latin typeface="Consolas" panose="020B0609020204030204" pitchFamily="49" charset="0"/>
                <a:cs typeface="Consolas" panose="020B0609020204030204" pitchFamily="49" charset="0"/>
              </a:rPr>
              <a:t>// a &lt;- 1</a:t>
            </a:r>
          </a:p>
          <a:p>
            <a:pPr lvl="0" defTabSz="342886">
              <a:spcBef>
                <a:spcPct val="20000"/>
              </a:spcBef>
              <a:buClr>
                <a:srgbClr val="FFFFFF">
                  <a:lumMod val="65000"/>
                </a:srgbClr>
              </a:buClr>
            </a:pPr>
            <a:r>
              <a:rPr lang="en-US">
                <a:effectLst/>
                <a:latin typeface="Consolas" panose="020B0609020204030204" pitchFamily="49" charset="0"/>
                <a:cs typeface="Consolas" panose="020B0609020204030204" pitchFamily="49" charset="0"/>
              </a:rPr>
              <a:t>    b = tmp; </a:t>
            </a:r>
            <a:r>
              <a:rPr lang="en-US">
                <a:solidFill>
                  <a:srgbClr val="007B00"/>
                </a:solidFill>
                <a:effectLst/>
                <a:latin typeface="Consolas" panose="020B0609020204030204" pitchFamily="49" charset="0"/>
                <a:cs typeface="Consolas" panose="020B0609020204030204" pitchFamily="49" charset="0"/>
              </a:rPr>
              <a:t>// b &lt;- 0</a:t>
            </a:r>
          </a:p>
          <a:p>
            <a:pPr lvl="0" defTabSz="342886">
              <a:spcBef>
                <a:spcPct val="20000"/>
              </a:spcBef>
              <a:buClr>
                <a:srgbClr val="FFFFFF">
                  <a:lumMod val="65000"/>
                </a:srgbClr>
              </a:buClr>
            </a:pPr>
            <a:r>
              <a:rPr lang="en-US">
                <a:effectLst/>
                <a:latin typeface="Consolas" panose="020B0609020204030204" pitchFamily="49" charset="0"/>
                <a:cs typeface="Consolas" panose="020B0609020204030204" pitchFamily="49" charset="0"/>
              </a:rPr>
              <a:t>}</a:t>
            </a:r>
            <a:endParaRPr lang="en-US">
              <a:solidFill>
                <a:srgbClr val="000000"/>
              </a:solidFill>
              <a:latin typeface="Consolas" panose="020B0609020204030204" pitchFamily="49" charset="0"/>
              <a:ea typeface="Segoe UI Emoji" panose="020B0502040204020203" pitchFamily="34" charset="0"/>
              <a:cs typeface="Consolas" panose="020B0609020204030204" pitchFamily="49" charset="0"/>
            </a:endParaRPr>
          </a:p>
        </p:txBody>
      </p:sp>
    </p:spTree>
    <p:extLst>
      <p:ext uri="{BB962C8B-B14F-4D97-AF65-F5344CB8AC3E}">
        <p14:creationId xmlns:p14="http://schemas.microsoft.com/office/powerpoint/2010/main" val="68264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6A3DB-496C-3867-13EA-E5B95014060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EDBACA1-564F-B575-07CF-D5A3DEEA02E8}"/>
              </a:ext>
            </a:extLst>
          </p:cNvPr>
          <p:cNvSpPr>
            <a:spLocks noGrp="1"/>
          </p:cNvSpPr>
          <p:nvPr>
            <p:ph type="title"/>
          </p:nvPr>
        </p:nvSpPr>
        <p:spPr/>
        <p:txBody>
          <a:bodyPr/>
          <a:lstStyle/>
          <a:p>
            <a:r>
              <a:rPr lang="en-US"/>
              <a:t>array algorithms that use swaps</a:t>
            </a:r>
          </a:p>
        </p:txBody>
      </p:sp>
    </p:spTree>
    <p:extLst>
      <p:ext uri="{BB962C8B-B14F-4D97-AF65-F5344CB8AC3E}">
        <p14:creationId xmlns:p14="http://schemas.microsoft.com/office/powerpoint/2010/main" val="141208055"/>
      </p:ext>
    </p:extLst>
  </p:cSld>
  <p:clrMapOvr>
    <a:masterClrMapping/>
  </p:clrMapOvr>
</p:sld>
</file>

<file path=ppt/slides/slide6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EE723-C8DD-3373-21E4-D276E65D531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EE54996-9FC7-897C-41E5-EFE2F4A9FFBA}"/>
              </a:ext>
            </a:extLst>
          </p:cNvPr>
          <p:cNvSpPr>
            <a:spLocks noGrp="1"/>
          </p:cNvSpPr>
          <p:nvPr>
            <p:ph type="title"/>
          </p:nvPr>
        </p:nvSpPr>
        <p:spPr/>
        <p:txBody>
          <a:bodyPr/>
          <a:lstStyle/>
          <a:p>
            <a:r>
              <a:rPr lang="en-US"/>
              <a:t>reversing an array</a:t>
            </a:r>
          </a:p>
        </p:txBody>
      </p:sp>
    </p:spTree>
    <p:extLst>
      <p:ext uri="{BB962C8B-B14F-4D97-AF65-F5344CB8AC3E}">
        <p14:creationId xmlns:p14="http://schemas.microsoft.com/office/powerpoint/2010/main" val="4110969036"/>
      </p:ext>
    </p:extLst>
  </p:cSld>
  <p:clrMapOvr>
    <a:masterClrMapping/>
  </p:clrMapOvr>
</p:sld>
</file>

<file path=ppt/slides/slide6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BC8BB-EBC8-7868-66FE-344246E631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2636E9F-3AA3-C920-47FA-045832014B73}"/>
              </a:ext>
            </a:extLst>
          </p:cNvPr>
          <p:cNvSpPr>
            <a:spLocks noGrp="1"/>
          </p:cNvSpPr>
          <p:nvPr>
            <p:ph type="title"/>
          </p:nvPr>
        </p:nvSpPr>
        <p:spPr>
          <a:xfrm>
            <a:off x="457200" y="254916"/>
            <a:ext cx="8229600" cy="667168"/>
          </a:xfrm>
        </p:spPr>
        <p:txBody>
          <a:bodyPr>
            <a:normAutofit/>
          </a:bodyPr>
          <a:lstStyle/>
          <a:p>
            <a:r>
              <a:rPr lang="en-US"/>
              <a:t>out-of-place reverse</a:t>
            </a:r>
          </a:p>
        </p:txBody>
      </p:sp>
      <p:sp>
        <p:nvSpPr>
          <p:cNvPr id="4" name="Content Placeholder 3">
            <a:extLst>
              <a:ext uri="{FF2B5EF4-FFF2-40B4-BE49-F238E27FC236}">
                <a16:creationId xmlns:a16="http://schemas.microsoft.com/office/drawing/2014/main" id="{F5834A76-4BDE-469E-3DE4-1801D75BB143}"/>
              </a:ext>
            </a:extLst>
          </p:cNvPr>
          <p:cNvSpPr>
            <a:spLocks noGrp="1"/>
          </p:cNvSpPr>
          <p:nvPr>
            <p:ph sz="quarter" idx="10"/>
          </p:nvPr>
        </p:nvSpPr>
        <p:spPr>
          <a:xfrm>
            <a:off x="457200" y="963337"/>
            <a:ext cx="8229600" cy="4080271"/>
          </a:xfrm>
        </p:spPr>
        <p:txBody>
          <a:bodyPr/>
          <a:lstStyle/>
          <a:p>
            <a:r>
              <a:rPr lang="en-US"/>
              <a:t>we can reverse an array </a:t>
            </a:r>
            <a:r>
              <a:rPr lang="en-US" b="1"/>
              <a:t>out-of-place</a:t>
            </a:r>
            <a:r>
              <a:rPr lang="en-US"/>
              <a:t> using an additional array</a:t>
            </a:r>
          </a:p>
        </p:txBody>
      </p:sp>
      <p:sp>
        <p:nvSpPr>
          <p:cNvPr id="16" name="TextBox 15">
            <a:extLst>
              <a:ext uri="{FF2B5EF4-FFF2-40B4-BE49-F238E27FC236}">
                <a16:creationId xmlns:a16="http://schemas.microsoft.com/office/drawing/2014/main" id="{865F6B4E-3AA4-4399-DEC1-C9168C185F52}"/>
              </a:ext>
            </a:extLst>
          </p:cNvPr>
          <p:cNvSpPr txBox="1"/>
          <p:nvPr/>
        </p:nvSpPr>
        <p:spPr>
          <a:xfrm>
            <a:off x="457200" y="1483764"/>
            <a:ext cx="8229600" cy="3564053"/>
          </a:xfrm>
          <a:prstGeom prst="rect">
            <a:avLst/>
          </a:prstGeom>
          <a:solidFill>
            <a:schemeClr val="bg1"/>
          </a:solidFill>
          <a:ln>
            <a:solidFill>
              <a:schemeClr val="tx1"/>
            </a:solidFill>
          </a:ln>
        </p:spPr>
        <p:txBody>
          <a:bodyPr wrap="square" rtlCol="0">
            <a:spAutoFit/>
          </a:bodyPr>
          <a:lstStyle/>
          <a:p>
            <a:pPr defTabSz="342886">
              <a:spcBef>
                <a:spcPct val="20000"/>
              </a:spcBef>
              <a:buClr>
                <a:srgbClr val="FFFFFF">
                  <a:lumMod val="65000"/>
                </a:srgbClr>
              </a:buClr>
            </a:pPr>
            <a:r>
              <a:rPr lang="en-US" sz="2400">
                <a:solidFill>
                  <a:srgbClr val="0000FF"/>
                </a:solidFill>
                <a:latin typeface="Consolas"/>
                <a:ea typeface="Segoe UI Emoji" panose="020B0502040204020203" pitchFamily="34" charset="0"/>
              </a:rPr>
              <a:t>static</a:t>
            </a:r>
            <a:r>
              <a:rPr lang="en-US" sz="2400">
                <a:solidFill>
                  <a:srgbClr val="000080"/>
                </a:solidFill>
                <a:latin typeface="Consolas"/>
                <a:ea typeface="Segoe UI Emoji" panose="020B0502040204020203" pitchFamily="34" charset="0"/>
              </a:rPr>
              <a:t> int</a:t>
            </a:r>
            <a:r>
              <a:rPr lang="en-US" sz="2400">
                <a:latin typeface="Consolas"/>
                <a:ea typeface="Segoe UI Emoji" panose="020B0502040204020203" pitchFamily="34" charset="0"/>
              </a:rPr>
              <a:t>[]</a:t>
            </a:r>
            <a:r>
              <a:rPr lang="en-US" sz="2400">
                <a:solidFill>
                  <a:srgbClr val="000080"/>
                </a:solidFill>
                <a:latin typeface="Consolas"/>
                <a:ea typeface="Segoe UI Emoji" panose="020B0502040204020203" pitchFamily="34" charset="0"/>
              </a:rPr>
              <a:t> </a:t>
            </a:r>
            <a:r>
              <a:rPr lang="en-US" sz="2400" err="1">
                <a:latin typeface="Consolas"/>
                <a:ea typeface="Segoe UI Emoji" panose="020B0502040204020203" pitchFamily="34" charset="0"/>
              </a:rPr>
              <a:t>outOfPlaceReverse</a:t>
            </a:r>
            <a:r>
              <a:rPr lang="en-US" sz="2400">
                <a:latin typeface="Consolas"/>
                <a:ea typeface="Segoe UI Emoji" panose="020B0502040204020203" pitchFamily="34" charset="0"/>
              </a:rPr>
              <a:t>(</a:t>
            </a:r>
            <a:r>
              <a:rPr lang="en-US" sz="2400">
                <a:solidFill>
                  <a:srgbClr val="000080"/>
                </a:solidFill>
                <a:latin typeface="Consolas"/>
                <a:ea typeface="Segoe UI Emoji" panose="020B0502040204020203" pitchFamily="34" charset="0"/>
              </a:rPr>
              <a:t>int</a:t>
            </a:r>
            <a:r>
              <a:rPr lang="en-US" sz="2400">
                <a:latin typeface="Consolas"/>
                <a:ea typeface="Segoe UI Emoji" panose="020B0502040204020203" pitchFamily="34" charset="0"/>
              </a:rPr>
              <a:t>[] array) {</a:t>
            </a:r>
          </a:p>
          <a:p>
            <a:pPr defTabSz="342886">
              <a:spcBef>
                <a:spcPct val="20000"/>
              </a:spcBef>
              <a:buClr>
                <a:srgbClr val="FFFFFF">
                  <a:lumMod val="65000"/>
                </a:srgbClr>
              </a:buClr>
            </a:pPr>
            <a:r>
              <a:rPr lang="en-US" sz="2400">
                <a:latin typeface="Consolas"/>
                <a:ea typeface="Segoe UI Emoji" panose="020B0502040204020203" pitchFamily="34" charset="0"/>
              </a:rPr>
              <a:t>    </a:t>
            </a:r>
            <a:r>
              <a:rPr lang="en-US" sz="2400">
                <a:solidFill>
                  <a:srgbClr val="000080"/>
                </a:solidFill>
                <a:latin typeface="Consolas"/>
                <a:ea typeface="Segoe UI Emoji" panose="020B0502040204020203" pitchFamily="34" charset="0"/>
              </a:rPr>
              <a:t>int</a:t>
            </a:r>
            <a:r>
              <a:rPr lang="en-US" sz="2400">
                <a:latin typeface="Consolas"/>
                <a:ea typeface="Segoe UI Emoji" panose="020B0502040204020203" pitchFamily="34" charset="0"/>
              </a:rPr>
              <a:t>[] result = new int[</a:t>
            </a:r>
            <a:r>
              <a:rPr lang="en-US" sz="2400" err="1">
                <a:latin typeface="Consolas"/>
                <a:ea typeface="Segoe UI Emoji" panose="020B0502040204020203" pitchFamily="34" charset="0"/>
              </a:rPr>
              <a:t>array.length</a:t>
            </a:r>
            <a:r>
              <a:rPr lang="en-US" sz="2400">
                <a:latin typeface="Consolas"/>
                <a:ea typeface="Segoe UI Emoji" panose="020B0502040204020203" pitchFamily="34" charset="0"/>
              </a:rPr>
              <a:t>];</a:t>
            </a:r>
          </a:p>
          <a:p>
            <a:pPr defTabSz="342886">
              <a:spcBef>
                <a:spcPct val="20000"/>
              </a:spcBef>
              <a:buClr>
                <a:srgbClr val="FFFFFF">
                  <a:lumMod val="65000"/>
                </a:srgbClr>
              </a:buClr>
            </a:pPr>
            <a:r>
              <a:rPr lang="en-US" sz="2400">
                <a:latin typeface="Consolas"/>
                <a:ea typeface="Segoe UI Emoji" panose="020B0502040204020203" pitchFamily="34" charset="0"/>
              </a:rPr>
              <a:t>    for (</a:t>
            </a:r>
            <a:r>
              <a:rPr lang="en-US" sz="2400">
                <a:solidFill>
                  <a:srgbClr val="000080"/>
                </a:solidFill>
                <a:latin typeface="Consolas"/>
                <a:ea typeface="Segoe UI Emoji" panose="020B0502040204020203" pitchFamily="34" charset="0"/>
              </a:rPr>
              <a:t>int</a:t>
            </a:r>
            <a:r>
              <a:rPr lang="en-US" sz="2400">
                <a:latin typeface="Consolas"/>
                <a:ea typeface="Segoe UI Emoji" panose="020B0502040204020203" pitchFamily="34" charset="0"/>
              </a:rPr>
              <a:t> </a:t>
            </a:r>
            <a:r>
              <a:rPr lang="en-US" sz="2400" err="1">
                <a:latin typeface="Consolas"/>
                <a:ea typeface="Segoe UI Emoji" panose="020B0502040204020203" pitchFamily="34" charset="0"/>
              </a:rPr>
              <a:t>i</a:t>
            </a:r>
            <a:r>
              <a:rPr lang="en-US" sz="2400">
                <a:latin typeface="Consolas"/>
                <a:ea typeface="Segoe UI Emoji" panose="020B0502040204020203" pitchFamily="34" charset="0"/>
              </a:rPr>
              <a:t> = 0; </a:t>
            </a:r>
            <a:r>
              <a:rPr lang="en-US" sz="2400" err="1">
                <a:latin typeface="Consolas"/>
                <a:ea typeface="Segoe UI Emoji" panose="020B0502040204020203" pitchFamily="34" charset="0"/>
              </a:rPr>
              <a:t>i</a:t>
            </a:r>
            <a:r>
              <a:rPr lang="en-US" sz="2400">
                <a:latin typeface="Consolas"/>
                <a:ea typeface="Segoe UI Emoji" panose="020B0502040204020203" pitchFamily="34" charset="0"/>
              </a:rPr>
              <a:t> &lt; </a:t>
            </a:r>
            <a:r>
              <a:rPr lang="en-US" sz="2400" err="1">
                <a:latin typeface="Consolas"/>
                <a:ea typeface="Segoe UI Emoji" panose="020B0502040204020203" pitchFamily="34" charset="0"/>
              </a:rPr>
              <a:t>array.length</a:t>
            </a:r>
            <a:r>
              <a:rPr lang="en-US" sz="2400">
                <a:latin typeface="Consolas"/>
                <a:ea typeface="Segoe UI Emoji" panose="020B0502040204020203" pitchFamily="34" charset="0"/>
              </a:rPr>
              <a:t>; ++</a:t>
            </a:r>
            <a:r>
              <a:rPr lang="en-US" sz="2400" err="1">
                <a:latin typeface="Consolas"/>
                <a:ea typeface="Segoe UI Emoji" panose="020B0502040204020203" pitchFamily="34" charset="0"/>
              </a:rPr>
              <a:t>i</a:t>
            </a:r>
            <a:r>
              <a:rPr lang="en-US" sz="2400">
                <a:latin typeface="Consolas"/>
                <a:ea typeface="Segoe UI Emoji" panose="020B0502040204020203" pitchFamily="34" charset="0"/>
              </a:rPr>
              <a:t>) {</a:t>
            </a:r>
          </a:p>
          <a:p>
            <a:pPr defTabSz="342886">
              <a:spcBef>
                <a:spcPct val="20000"/>
              </a:spcBef>
              <a:buClr>
                <a:srgbClr val="FFFFFF">
                  <a:lumMod val="65000"/>
                </a:srgbClr>
              </a:buClr>
            </a:pPr>
            <a:r>
              <a:rPr lang="en-US" sz="2400">
                <a:latin typeface="Consolas"/>
                <a:ea typeface="Segoe UI Emoji" panose="020B0502040204020203" pitchFamily="34" charset="0"/>
              </a:rPr>
              <a:t>        </a:t>
            </a:r>
            <a:r>
              <a:rPr lang="en-US" sz="2400">
                <a:solidFill>
                  <a:srgbClr val="000080"/>
                </a:solidFill>
                <a:latin typeface="Consolas"/>
                <a:ea typeface="Segoe UI Emoji" panose="020B0502040204020203" pitchFamily="34" charset="0"/>
              </a:rPr>
              <a:t>int</a:t>
            </a:r>
            <a:r>
              <a:rPr lang="en-US" sz="2400">
                <a:latin typeface="Consolas"/>
                <a:ea typeface="Segoe UI Emoji" panose="020B0502040204020203" pitchFamily="34" charset="0"/>
              </a:rPr>
              <a:t> j = (</a:t>
            </a:r>
            <a:r>
              <a:rPr lang="en-US" sz="2400" err="1">
                <a:latin typeface="Consolas"/>
                <a:ea typeface="Segoe UI Emoji" panose="020B0502040204020203" pitchFamily="34" charset="0"/>
              </a:rPr>
              <a:t>array.length</a:t>
            </a:r>
            <a:r>
              <a:rPr lang="en-US" sz="2400">
                <a:latin typeface="Consolas"/>
                <a:ea typeface="Segoe UI Emoji" panose="020B0502040204020203" pitchFamily="34" charset="0"/>
              </a:rPr>
              <a:t> - 1) - </a:t>
            </a:r>
            <a:r>
              <a:rPr lang="en-US" sz="2400" err="1">
                <a:latin typeface="Consolas"/>
                <a:ea typeface="Segoe UI Emoji" panose="020B0502040204020203" pitchFamily="34" charset="0"/>
              </a:rPr>
              <a:t>i</a:t>
            </a:r>
            <a:r>
              <a:rPr lang="en-US" sz="2400">
                <a:latin typeface="Consolas"/>
                <a:ea typeface="Segoe UI Emoji" panose="020B0502040204020203" pitchFamily="34" charset="0"/>
              </a:rPr>
              <a:t>;</a:t>
            </a:r>
          </a:p>
          <a:p>
            <a:pPr defTabSz="342886">
              <a:spcBef>
                <a:spcPct val="20000"/>
              </a:spcBef>
              <a:buClr>
                <a:srgbClr val="FFFFFF">
                  <a:lumMod val="65000"/>
                </a:srgbClr>
              </a:buClr>
            </a:pPr>
            <a:r>
              <a:rPr lang="en-US" sz="2400">
                <a:latin typeface="Consolas"/>
                <a:ea typeface="Segoe UI Emoji" panose="020B0502040204020203" pitchFamily="34" charset="0"/>
              </a:rPr>
              <a:t>        result[</a:t>
            </a:r>
            <a:r>
              <a:rPr lang="en-US" sz="2400" err="1">
                <a:latin typeface="Consolas"/>
                <a:ea typeface="Segoe UI Emoji" panose="020B0502040204020203" pitchFamily="34" charset="0"/>
              </a:rPr>
              <a:t>i</a:t>
            </a:r>
            <a:r>
              <a:rPr lang="en-US" sz="2400">
                <a:latin typeface="Consolas"/>
                <a:ea typeface="Segoe UI Emoji" panose="020B0502040204020203" pitchFamily="34" charset="0"/>
              </a:rPr>
              <a:t>] = array[j];</a:t>
            </a:r>
          </a:p>
          <a:p>
            <a:pPr defTabSz="342886">
              <a:spcBef>
                <a:spcPct val="20000"/>
              </a:spcBef>
              <a:buClr>
                <a:srgbClr val="FFFFFF">
                  <a:lumMod val="65000"/>
                </a:srgbClr>
              </a:buClr>
            </a:pPr>
            <a:r>
              <a:rPr lang="en-US" sz="2400">
                <a:latin typeface="Consolas"/>
                <a:ea typeface="Segoe UI Emoji" panose="020B0502040204020203" pitchFamily="34" charset="0"/>
              </a:rPr>
              <a:t>    }</a:t>
            </a:r>
          </a:p>
          <a:p>
            <a:pPr defTabSz="342886">
              <a:spcBef>
                <a:spcPct val="20000"/>
              </a:spcBef>
              <a:buClr>
                <a:srgbClr val="FFFFFF">
                  <a:lumMod val="65000"/>
                </a:srgbClr>
              </a:buClr>
            </a:pPr>
            <a:r>
              <a:rPr lang="en-US" sz="2400">
                <a:latin typeface="Consolas"/>
                <a:ea typeface="Segoe UI Emoji" panose="020B0502040204020203" pitchFamily="34" charset="0"/>
              </a:rPr>
              <a:t>    </a:t>
            </a:r>
            <a:r>
              <a:rPr lang="en-US" sz="2400">
                <a:solidFill>
                  <a:srgbClr val="0000FF"/>
                </a:solidFill>
                <a:latin typeface="Consolas"/>
                <a:ea typeface="Segoe UI Emoji" panose="020B0502040204020203" pitchFamily="34" charset="0"/>
              </a:rPr>
              <a:t>return</a:t>
            </a:r>
            <a:r>
              <a:rPr lang="en-US" sz="2400">
                <a:latin typeface="Consolas"/>
                <a:ea typeface="Segoe UI Emoji" panose="020B0502040204020203" pitchFamily="34" charset="0"/>
              </a:rPr>
              <a:t> result;</a:t>
            </a:r>
          </a:p>
          <a:p>
            <a:pPr defTabSz="342886">
              <a:spcBef>
                <a:spcPct val="20000"/>
              </a:spcBef>
              <a:buClr>
                <a:srgbClr val="FFFFFF">
                  <a:lumMod val="65000"/>
                </a:srgbClr>
              </a:buClr>
            </a:pPr>
            <a:r>
              <a:rPr lang="en-US" sz="2400">
                <a:latin typeface="Consolas"/>
                <a:ea typeface="Segoe UI Emoji" panose="020B0502040204020203" pitchFamily="34" charset="0"/>
              </a:rPr>
              <a:t>}</a:t>
            </a:r>
          </a:p>
        </p:txBody>
      </p:sp>
    </p:spTree>
    <p:extLst>
      <p:ext uri="{BB962C8B-B14F-4D97-AF65-F5344CB8AC3E}">
        <p14:creationId xmlns:p14="http://schemas.microsoft.com/office/powerpoint/2010/main" val="935976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6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16355-1834-EA63-ED41-BEE30DB067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9AD786E-7575-F485-20C9-B6050BC0EABA}"/>
              </a:ext>
            </a:extLst>
          </p:cNvPr>
          <p:cNvSpPr>
            <a:spLocks noGrp="1"/>
          </p:cNvSpPr>
          <p:nvPr>
            <p:ph type="title"/>
          </p:nvPr>
        </p:nvSpPr>
        <p:spPr>
          <a:xfrm>
            <a:off x="457200" y="254916"/>
            <a:ext cx="8229600" cy="667168"/>
          </a:xfrm>
        </p:spPr>
        <p:txBody>
          <a:bodyPr>
            <a:normAutofit/>
          </a:bodyPr>
          <a:lstStyle/>
          <a:p>
            <a:r>
              <a:rPr lang="en-US"/>
              <a:t>in-place reverse</a:t>
            </a:r>
          </a:p>
        </p:txBody>
      </p:sp>
      <p:sp>
        <p:nvSpPr>
          <p:cNvPr id="4" name="Content Placeholder 3">
            <a:extLst>
              <a:ext uri="{FF2B5EF4-FFF2-40B4-BE49-F238E27FC236}">
                <a16:creationId xmlns:a16="http://schemas.microsoft.com/office/drawing/2014/main" id="{630FA925-D89E-66C4-AFCB-4D09D8B7EEF3}"/>
              </a:ext>
            </a:extLst>
          </p:cNvPr>
          <p:cNvSpPr>
            <a:spLocks noGrp="1"/>
          </p:cNvSpPr>
          <p:nvPr>
            <p:ph sz="quarter" idx="10"/>
          </p:nvPr>
        </p:nvSpPr>
        <p:spPr>
          <a:xfrm>
            <a:off x="457200" y="963337"/>
            <a:ext cx="8229600" cy="4080271"/>
          </a:xfrm>
        </p:spPr>
        <p:txBody>
          <a:bodyPr/>
          <a:lstStyle/>
          <a:p>
            <a:r>
              <a:rPr lang="en-US"/>
              <a:t>we can reverse an array </a:t>
            </a:r>
            <a:r>
              <a:rPr lang="en-US" b="1"/>
              <a:t>in-place</a:t>
            </a:r>
            <a:r>
              <a:rPr lang="en-US"/>
              <a:t> using "swaps" (no additional array)</a:t>
            </a:r>
          </a:p>
        </p:txBody>
      </p:sp>
      <p:sp>
        <p:nvSpPr>
          <p:cNvPr id="6" name="TextBox 5">
            <a:extLst>
              <a:ext uri="{FF2B5EF4-FFF2-40B4-BE49-F238E27FC236}">
                <a16:creationId xmlns:a16="http://schemas.microsoft.com/office/drawing/2014/main" id="{F1B5D63C-64AE-A43C-6B27-F14F5BBD9DC0}"/>
              </a:ext>
            </a:extLst>
          </p:cNvPr>
          <p:cNvSpPr txBox="1"/>
          <p:nvPr/>
        </p:nvSpPr>
        <p:spPr>
          <a:xfrm>
            <a:off x="457200" y="1483764"/>
            <a:ext cx="8527774" cy="3354765"/>
          </a:xfrm>
          <a:prstGeom prst="rect">
            <a:avLst/>
          </a:prstGeom>
          <a:solidFill>
            <a:schemeClr val="bg1"/>
          </a:solidFill>
          <a:ln>
            <a:solidFill>
              <a:schemeClr val="tx1"/>
            </a:solidFill>
          </a:ln>
        </p:spPr>
        <p:txBody>
          <a:bodyPr wrap="square" rtlCol="0">
            <a:spAutoFit/>
          </a:bodyPr>
          <a:lstStyle/>
          <a:p>
            <a:pPr defTabSz="342886">
              <a:spcBef>
                <a:spcPct val="20000"/>
              </a:spcBef>
              <a:buClr>
                <a:srgbClr val="FFFFFF">
                  <a:lumMod val="65000"/>
                </a:srgbClr>
              </a:buClr>
            </a:pPr>
            <a:r>
              <a:rPr lang="en-US" sz="2000">
                <a:solidFill>
                  <a:srgbClr val="0000FF"/>
                </a:solidFill>
                <a:latin typeface="Consolas"/>
                <a:ea typeface="Segoe UI Emoji" panose="020B0502040204020203" pitchFamily="34" charset="0"/>
              </a:rPr>
              <a:t>static</a:t>
            </a:r>
            <a:r>
              <a:rPr lang="en-US" sz="2000">
                <a:solidFill>
                  <a:srgbClr val="000080"/>
                </a:solidFill>
                <a:latin typeface="Consolas"/>
                <a:ea typeface="Segoe UI Emoji" panose="020B0502040204020203" pitchFamily="34" charset="0"/>
              </a:rPr>
              <a:t> void </a:t>
            </a:r>
            <a:r>
              <a:rPr lang="en-US" sz="2000">
                <a:latin typeface="Consolas"/>
                <a:ea typeface="Segoe UI Emoji" panose="020B0502040204020203" pitchFamily="34" charset="0"/>
              </a:rPr>
              <a:t>inPlaceReverse(</a:t>
            </a:r>
            <a:r>
              <a:rPr lang="en-US" sz="2000">
                <a:solidFill>
                  <a:srgbClr val="000080"/>
                </a:solidFill>
                <a:latin typeface="Consolas"/>
                <a:ea typeface="Segoe UI Emoji" panose="020B0502040204020203" pitchFamily="34" charset="0"/>
              </a:rPr>
              <a:t>int</a:t>
            </a:r>
            <a:r>
              <a:rPr lang="en-US" sz="2000">
                <a:latin typeface="Consolas"/>
                <a:ea typeface="Segoe UI Emoji" panose="020B0502040204020203" pitchFamily="34" charset="0"/>
              </a:rPr>
              <a:t>[] array) {</a:t>
            </a:r>
          </a:p>
          <a:p>
            <a:pPr defTabSz="342886">
              <a:spcBef>
                <a:spcPct val="20000"/>
              </a:spcBef>
              <a:buClr>
                <a:srgbClr val="FFFFFF">
                  <a:lumMod val="65000"/>
                </a:srgbClr>
              </a:buClr>
            </a:pPr>
            <a:r>
              <a:rPr lang="en-US" sz="2000">
                <a:latin typeface="Consolas"/>
                <a:ea typeface="Segoe UI Emoji" panose="020B0502040204020203" pitchFamily="34" charset="0"/>
              </a:rPr>
              <a:t>    for (</a:t>
            </a:r>
            <a:r>
              <a:rPr lang="en-US" sz="2000">
                <a:solidFill>
                  <a:srgbClr val="000080"/>
                </a:solidFill>
                <a:latin typeface="Consolas"/>
                <a:ea typeface="Segoe UI Emoji" panose="020B0502040204020203" pitchFamily="34" charset="0"/>
              </a:rPr>
              <a:t>int</a:t>
            </a:r>
            <a:r>
              <a:rPr lang="en-US" sz="2000">
                <a:latin typeface="Consolas"/>
                <a:ea typeface="Segoe UI Emoji" panose="020B0502040204020203" pitchFamily="34" charset="0"/>
              </a:rPr>
              <a:t> i = 0; i &lt; array.length / 2; ++i) {</a:t>
            </a:r>
          </a:p>
          <a:p>
            <a:pPr defTabSz="342886">
              <a:spcBef>
                <a:spcPct val="20000"/>
              </a:spcBef>
              <a:buClr>
                <a:srgbClr val="FFFFFF">
                  <a:lumMod val="65000"/>
                </a:srgbClr>
              </a:buClr>
            </a:pPr>
            <a:r>
              <a:rPr lang="en-US" sz="2000">
                <a:latin typeface="Consolas"/>
                <a:ea typeface="Segoe UI Emoji" panose="020B0502040204020203" pitchFamily="34" charset="0"/>
              </a:rPr>
              <a:t>        </a:t>
            </a:r>
            <a:r>
              <a:rPr lang="en-US" sz="2000">
                <a:solidFill>
                  <a:srgbClr val="000080"/>
                </a:solidFill>
                <a:latin typeface="Consolas"/>
                <a:ea typeface="Segoe UI Emoji" panose="020B0502040204020203" pitchFamily="34" charset="0"/>
              </a:rPr>
              <a:t>int</a:t>
            </a:r>
            <a:r>
              <a:rPr lang="en-US" sz="2000">
                <a:latin typeface="Consolas"/>
                <a:ea typeface="Segoe UI Emoji" panose="020B0502040204020203" pitchFamily="34" charset="0"/>
              </a:rPr>
              <a:t> j = (array.length - 1) - i;</a:t>
            </a:r>
            <a:r>
              <a:rPr lang="en-US" sz="2000">
                <a:solidFill>
                  <a:srgbClr val="007B00"/>
                </a:solidFill>
                <a:latin typeface="Consolas"/>
                <a:ea typeface="Segoe UI Emoji" panose="020B0502040204020203" pitchFamily="34" charset="0"/>
              </a:rPr>
              <a:t> // "mirror index"</a:t>
            </a:r>
            <a:endParaRPr lang="en-US" sz="2000">
              <a:latin typeface="Consolas"/>
              <a:ea typeface="Segoe UI Emoji" panose="020B0502040204020203" pitchFamily="34" charset="0"/>
            </a:endParaRPr>
          </a:p>
          <a:p>
            <a:pPr defTabSz="342886">
              <a:spcBef>
                <a:spcPct val="20000"/>
              </a:spcBef>
              <a:buClr>
                <a:srgbClr val="FFFFFF">
                  <a:lumMod val="65000"/>
                </a:srgbClr>
              </a:buClr>
            </a:pPr>
            <a:r>
              <a:rPr lang="en-US" sz="2000">
                <a:latin typeface="Consolas"/>
                <a:ea typeface="Segoe UI Emoji" panose="020B0502040204020203" pitchFamily="34" charset="0"/>
              </a:rPr>
              <a:t>        </a:t>
            </a:r>
            <a:r>
              <a:rPr lang="en-US" sz="2000">
                <a:solidFill>
                  <a:srgbClr val="007B00"/>
                </a:solidFill>
                <a:latin typeface="Consolas"/>
                <a:ea typeface="Segoe UI Emoji" panose="020B0502040204020203" pitchFamily="34" charset="0"/>
              </a:rPr>
              <a:t>// swap array[i] &lt;-&gt; array[j]</a:t>
            </a:r>
          </a:p>
          <a:p>
            <a:pPr defTabSz="342886">
              <a:spcBef>
                <a:spcPct val="20000"/>
              </a:spcBef>
              <a:buClr>
                <a:srgbClr val="FFFFFF">
                  <a:lumMod val="65000"/>
                </a:srgbClr>
              </a:buClr>
            </a:pPr>
            <a:r>
              <a:rPr lang="en-US" sz="2000">
                <a:latin typeface="Consolas"/>
                <a:ea typeface="Segoe UI Emoji" panose="020B0502040204020203" pitchFamily="34" charset="0"/>
              </a:rPr>
              <a:t>        </a:t>
            </a:r>
            <a:r>
              <a:rPr lang="en-US" sz="2000">
                <a:solidFill>
                  <a:srgbClr val="000080"/>
                </a:solidFill>
                <a:latin typeface="Consolas"/>
                <a:ea typeface="Segoe UI Emoji" panose="020B0502040204020203" pitchFamily="34" charset="0"/>
              </a:rPr>
              <a:t>int</a:t>
            </a:r>
            <a:r>
              <a:rPr lang="en-US" sz="2000">
                <a:latin typeface="Consolas"/>
                <a:ea typeface="Segoe UI Emoji" panose="020B0502040204020203" pitchFamily="34" charset="0"/>
              </a:rPr>
              <a:t> tmp = array[i];</a:t>
            </a:r>
          </a:p>
          <a:p>
            <a:pPr defTabSz="342886">
              <a:spcBef>
                <a:spcPct val="20000"/>
              </a:spcBef>
              <a:buClr>
                <a:srgbClr val="FFFFFF">
                  <a:lumMod val="65000"/>
                </a:srgbClr>
              </a:buClr>
            </a:pPr>
            <a:r>
              <a:rPr lang="en-US" sz="2000">
                <a:latin typeface="Consolas"/>
                <a:ea typeface="Segoe UI Emoji" panose="020B0502040204020203" pitchFamily="34" charset="0"/>
              </a:rPr>
              <a:t>        array[i] = array[j];</a:t>
            </a:r>
          </a:p>
          <a:p>
            <a:pPr defTabSz="342886">
              <a:spcBef>
                <a:spcPct val="20000"/>
              </a:spcBef>
              <a:buClr>
                <a:srgbClr val="FFFFFF">
                  <a:lumMod val="65000"/>
                </a:srgbClr>
              </a:buClr>
            </a:pPr>
            <a:r>
              <a:rPr lang="en-US" sz="2000">
                <a:latin typeface="Consolas"/>
                <a:ea typeface="Segoe UI Emoji" panose="020B0502040204020203" pitchFamily="34" charset="0"/>
              </a:rPr>
              <a:t>        array[j] = tmp;</a:t>
            </a:r>
          </a:p>
          <a:p>
            <a:pPr defTabSz="342886">
              <a:spcBef>
                <a:spcPct val="20000"/>
              </a:spcBef>
              <a:buClr>
                <a:srgbClr val="FFFFFF">
                  <a:lumMod val="65000"/>
                </a:srgbClr>
              </a:buClr>
            </a:pPr>
            <a:r>
              <a:rPr lang="en-US" sz="2000">
                <a:latin typeface="Consolas"/>
                <a:ea typeface="Segoe UI Emoji" panose="020B0502040204020203" pitchFamily="34" charset="0"/>
              </a:rPr>
              <a:t>    }</a:t>
            </a:r>
          </a:p>
          <a:p>
            <a:pPr defTabSz="342886">
              <a:spcBef>
                <a:spcPct val="20000"/>
              </a:spcBef>
              <a:buClr>
                <a:srgbClr val="FFFFFF">
                  <a:lumMod val="65000"/>
                </a:srgbClr>
              </a:buClr>
            </a:pPr>
            <a:r>
              <a:rPr lang="en-US" sz="2000">
                <a:latin typeface="Consolas"/>
                <a:ea typeface="Segoe UI Emoji" panose="020B0502040204020203" pitchFamily="34" charset="0"/>
              </a:rPr>
              <a:t>}</a:t>
            </a:r>
          </a:p>
        </p:txBody>
      </p:sp>
    </p:spTree>
    <p:extLst>
      <p:ext uri="{BB962C8B-B14F-4D97-AF65-F5344CB8AC3E}">
        <p14:creationId xmlns:p14="http://schemas.microsoft.com/office/powerpoint/2010/main" val="1680875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9C184-2C51-D8B9-BDD5-44D6D856BCA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655DDBE-8783-B142-98A2-9D2A4569A24C}"/>
              </a:ext>
            </a:extLst>
          </p:cNvPr>
          <p:cNvSpPr>
            <a:spLocks noGrp="1"/>
          </p:cNvSpPr>
          <p:nvPr>
            <p:ph type="title"/>
          </p:nvPr>
        </p:nvSpPr>
        <p:spPr/>
        <p:txBody>
          <a:bodyPr/>
          <a:lstStyle/>
          <a:p>
            <a:r>
              <a:rPr lang="en-US"/>
              <a:t>bubble sort</a:t>
            </a:r>
          </a:p>
        </p:txBody>
      </p:sp>
    </p:spTree>
    <p:extLst>
      <p:ext uri="{BB962C8B-B14F-4D97-AF65-F5344CB8AC3E}">
        <p14:creationId xmlns:p14="http://schemas.microsoft.com/office/powerpoint/2010/main" val="3848915620"/>
      </p:ext>
    </p:extLst>
  </p:cSld>
  <p:clrMapOvr>
    <a:masterClrMapping/>
  </p:clrMapOvr>
</p:sld>
</file>

<file path=ppt/slides/slide6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7B986-3CC6-FBE7-39B4-419A37111BB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FE8A494-E3CB-DA5B-35AB-1815DF91EE8D}"/>
              </a:ext>
            </a:extLst>
          </p:cNvPr>
          <p:cNvSpPr>
            <a:spLocks noGrp="1"/>
          </p:cNvSpPr>
          <p:nvPr>
            <p:ph type="title"/>
          </p:nvPr>
        </p:nvSpPr>
        <p:spPr>
          <a:xfrm>
            <a:off x="457200" y="254916"/>
            <a:ext cx="8229600" cy="667168"/>
          </a:xfrm>
        </p:spPr>
        <p:txBody>
          <a:bodyPr>
            <a:normAutofit/>
          </a:bodyPr>
          <a:lstStyle/>
          <a:p>
            <a:r>
              <a:rPr lang="en-US"/>
              <a:t>bubble sort</a:t>
            </a:r>
          </a:p>
        </p:txBody>
      </p:sp>
      <p:sp>
        <p:nvSpPr>
          <p:cNvPr id="4" name="Content Placeholder 3">
            <a:extLst>
              <a:ext uri="{FF2B5EF4-FFF2-40B4-BE49-F238E27FC236}">
                <a16:creationId xmlns:a16="http://schemas.microsoft.com/office/drawing/2014/main" id="{A718B19D-C804-8E0A-AEC8-DB91AEF5B523}"/>
              </a:ext>
            </a:extLst>
          </p:cNvPr>
          <p:cNvSpPr>
            <a:spLocks noGrp="1"/>
          </p:cNvSpPr>
          <p:nvPr>
            <p:ph sz="quarter" idx="10"/>
          </p:nvPr>
        </p:nvSpPr>
        <p:spPr>
          <a:xfrm>
            <a:off x="457200" y="963337"/>
            <a:ext cx="8229600" cy="4080271"/>
          </a:xfrm>
        </p:spPr>
        <p:txBody>
          <a:bodyPr/>
          <a:lstStyle/>
          <a:p>
            <a:r>
              <a:rPr lang="en-US" b="1"/>
              <a:t>bubble sort</a:t>
            </a:r>
            <a:r>
              <a:rPr lang="en-US"/>
              <a:t> is a simple in-place sorting algorithm that uses swaps</a:t>
            </a:r>
          </a:p>
        </p:txBody>
      </p:sp>
      <p:sp>
        <p:nvSpPr>
          <p:cNvPr id="6" name="TextBox 5">
            <a:extLst>
              <a:ext uri="{FF2B5EF4-FFF2-40B4-BE49-F238E27FC236}">
                <a16:creationId xmlns:a16="http://schemas.microsoft.com/office/drawing/2014/main" id="{39545557-D195-E4C6-10D7-FF80FF2D32BB}"/>
              </a:ext>
            </a:extLst>
          </p:cNvPr>
          <p:cNvSpPr txBox="1"/>
          <p:nvPr/>
        </p:nvSpPr>
        <p:spPr>
          <a:xfrm>
            <a:off x="457200" y="1390834"/>
            <a:ext cx="8229600" cy="3554819"/>
          </a:xfrm>
          <a:prstGeom prst="rect">
            <a:avLst/>
          </a:prstGeom>
          <a:solidFill>
            <a:schemeClr val="bg1"/>
          </a:solidFill>
          <a:ln>
            <a:solidFill>
              <a:schemeClr val="tx1"/>
            </a:solidFill>
          </a:ln>
        </p:spPr>
        <p:txBody>
          <a:bodyPr wrap="square" rtlCol="0">
            <a:spAutoFit/>
          </a:bodyPr>
          <a:lstStyle/>
          <a:p>
            <a:pPr defTabSz="342886">
              <a:spcBef>
                <a:spcPct val="20000"/>
              </a:spcBef>
              <a:buClr>
                <a:srgbClr val="FFFFFF">
                  <a:lumMod val="65000"/>
                </a:srgbClr>
              </a:buClr>
            </a:pPr>
            <a:r>
              <a:rPr lang="en-US" sz="900">
                <a:latin typeface="Consolas" panose="020B0609020204030204" pitchFamily="49" charset="0"/>
                <a:cs typeface="Consolas" panose="020B0609020204030204" pitchFamily="49" charset="0"/>
              </a:rPr>
              <a:t>class Main {</a:t>
            </a:r>
          </a:p>
          <a:p>
            <a:pPr defTabSz="342886">
              <a:spcBef>
                <a:spcPct val="20000"/>
              </a:spcBef>
              <a:buClr>
                <a:srgbClr val="FFFFFF">
                  <a:lumMod val="65000"/>
                </a:srgbClr>
              </a:buClr>
            </a:pPr>
            <a:r>
              <a:rPr lang="en-US" sz="900">
                <a:latin typeface="Consolas" panose="020B0609020204030204" pitchFamily="49" charset="0"/>
                <a:cs typeface="Consolas" panose="020B0609020204030204" pitchFamily="49" charset="0"/>
              </a:rPr>
              <a:t>    public static void main(String[] arguments) {</a:t>
            </a:r>
          </a:p>
          <a:p>
            <a:pPr defTabSz="342886">
              <a:spcBef>
                <a:spcPct val="20000"/>
              </a:spcBef>
              <a:buClr>
                <a:srgbClr val="FFFFFF">
                  <a:lumMod val="65000"/>
                </a:srgbClr>
              </a:buClr>
            </a:pPr>
            <a:r>
              <a:rPr lang="en-US" sz="900">
                <a:latin typeface="Consolas" panose="020B0609020204030204" pitchFamily="49" charset="0"/>
                <a:cs typeface="Consolas" panose="020B0609020204030204" pitchFamily="49" charset="0"/>
              </a:rPr>
              <a:t>        int[] array = { 2, 4, 1, 6, 0, 3, 5 };</a:t>
            </a:r>
          </a:p>
          <a:p>
            <a:pPr defTabSz="342886">
              <a:spcBef>
                <a:spcPct val="20000"/>
              </a:spcBef>
              <a:buClr>
                <a:srgbClr val="FFFFFF">
                  <a:lumMod val="65000"/>
                </a:srgbClr>
              </a:buClr>
            </a:pPr>
            <a:endParaRPr lang="en-US" sz="900">
              <a:latin typeface="Consolas" panose="020B0609020204030204" pitchFamily="49" charset="0"/>
              <a:cs typeface="Consolas" panose="020B0609020204030204" pitchFamily="49" charset="0"/>
            </a:endParaRPr>
          </a:p>
          <a:p>
            <a:pPr defTabSz="342886">
              <a:spcBef>
                <a:spcPct val="20000"/>
              </a:spcBef>
              <a:buClr>
                <a:srgbClr val="FFFFFF">
                  <a:lumMod val="65000"/>
                </a:srgbClr>
              </a:buClr>
            </a:pPr>
            <a:r>
              <a:rPr lang="en-US" sz="900" b="1">
                <a:latin typeface="Consolas" panose="020B0609020204030204" pitchFamily="49" charset="0"/>
                <a:cs typeface="Consolas" panose="020B0609020204030204" pitchFamily="49" charset="0"/>
              </a:rPr>
              <a:t>        boolean arrayIsSorted;</a:t>
            </a:r>
          </a:p>
          <a:p>
            <a:pPr defTabSz="342886">
              <a:spcBef>
                <a:spcPct val="20000"/>
              </a:spcBef>
              <a:buClr>
                <a:srgbClr val="FFFFFF">
                  <a:lumMod val="65000"/>
                </a:srgbClr>
              </a:buClr>
            </a:pPr>
            <a:r>
              <a:rPr lang="en-US" sz="900" b="1">
                <a:latin typeface="Consolas" panose="020B0609020204030204" pitchFamily="49" charset="0"/>
                <a:cs typeface="Consolas" panose="020B0609020204030204" pitchFamily="49" charset="0"/>
              </a:rPr>
              <a:t>        do {</a:t>
            </a:r>
          </a:p>
          <a:p>
            <a:pPr defTabSz="342886">
              <a:spcBef>
                <a:spcPct val="20000"/>
              </a:spcBef>
              <a:buClr>
                <a:srgbClr val="FFFFFF">
                  <a:lumMod val="65000"/>
                </a:srgbClr>
              </a:buClr>
            </a:pPr>
            <a:r>
              <a:rPr lang="en-US" sz="900" b="1">
                <a:latin typeface="Consolas" panose="020B0609020204030204" pitchFamily="49" charset="0"/>
                <a:cs typeface="Consolas" panose="020B0609020204030204" pitchFamily="49" charset="0"/>
              </a:rPr>
              <a:t>            arrayIsSorted = true;</a:t>
            </a:r>
          </a:p>
          <a:p>
            <a:pPr defTabSz="342886">
              <a:spcBef>
                <a:spcPct val="20000"/>
              </a:spcBef>
              <a:buClr>
                <a:srgbClr val="FFFFFF">
                  <a:lumMod val="65000"/>
                </a:srgbClr>
              </a:buClr>
            </a:pPr>
            <a:r>
              <a:rPr lang="en-US" sz="900" b="1">
                <a:latin typeface="Consolas" panose="020B0609020204030204" pitchFamily="49" charset="0"/>
                <a:cs typeface="Consolas" panose="020B0609020204030204" pitchFamily="49" charset="0"/>
              </a:rPr>
              <a:t>            for (int i = 0; i &lt; array.length - 1; ++i) {</a:t>
            </a:r>
          </a:p>
          <a:p>
            <a:pPr defTabSz="342886">
              <a:spcBef>
                <a:spcPct val="20000"/>
              </a:spcBef>
              <a:buClr>
                <a:srgbClr val="FFFFFF">
                  <a:lumMod val="65000"/>
                </a:srgbClr>
              </a:buClr>
            </a:pPr>
            <a:r>
              <a:rPr lang="en-US" sz="900" b="1">
                <a:latin typeface="Consolas" panose="020B0609020204030204" pitchFamily="49" charset="0"/>
                <a:cs typeface="Consolas" panose="020B0609020204030204" pitchFamily="49" charset="0"/>
              </a:rPr>
              <a:t>                if (array[i] &gt; array[i + 1]) {</a:t>
            </a:r>
          </a:p>
          <a:p>
            <a:pPr defTabSz="342886">
              <a:spcBef>
                <a:spcPct val="20000"/>
              </a:spcBef>
              <a:buClr>
                <a:srgbClr val="FFFFFF">
                  <a:lumMod val="65000"/>
                </a:srgbClr>
              </a:buClr>
            </a:pPr>
            <a:r>
              <a:rPr lang="en-US" sz="900" b="1">
                <a:latin typeface="Consolas" panose="020B0609020204030204" pitchFamily="49" charset="0"/>
                <a:cs typeface="Consolas" panose="020B0609020204030204" pitchFamily="49" charset="0"/>
              </a:rPr>
              <a:t>                    arrayIsSorted = false;</a:t>
            </a:r>
          </a:p>
          <a:p>
            <a:pPr defTabSz="342886">
              <a:spcBef>
                <a:spcPct val="20000"/>
              </a:spcBef>
              <a:buClr>
                <a:srgbClr val="FFFFFF">
                  <a:lumMod val="65000"/>
                </a:srgbClr>
              </a:buClr>
            </a:pPr>
            <a:r>
              <a:rPr lang="en-US" sz="900" b="1">
                <a:latin typeface="Consolas" panose="020B0609020204030204" pitchFamily="49" charset="0"/>
                <a:cs typeface="Consolas" panose="020B0609020204030204" pitchFamily="49" charset="0"/>
              </a:rPr>
              <a:t>                    </a:t>
            </a:r>
            <a:r>
              <a:rPr lang="en-US" sz="900" b="1">
                <a:solidFill>
                  <a:srgbClr val="007B00"/>
                </a:solidFill>
                <a:latin typeface="Consolas" panose="020B0609020204030204" pitchFamily="49" charset="0"/>
                <a:cs typeface="Consolas" panose="020B0609020204030204" pitchFamily="49" charset="0"/>
              </a:rPr>
              <a:t>// swap</a:t>
            </a:r>
          </a:p>
          <a:p>
            <a:pPr defTabSz="342886">
              <a:spcBef>
                <a:spcPct val="20000"/>
              </a:spcBef>
              <a:buClr>
                <a:srgbClr val="FFFFFF">
                  <a:lumMod val="65000"/>
                </a:srgbClr>
              </a:buClr>
            </a:pPr>
            <a:r>
              <a:rPr lang="en-US" sz="900" b="1">
                <a:latin typeface="Consolas" panose="020B0609020204030204" pitchFamily="49" charset="0"/>
                <a:cs typeface="Consolas" panose="020B0609020204030204" pitchFamily="49" charset="0"/>
              </a:rPr>
              <a:t>                    int tmp = array[i];</a:t>
            </a:r>
          </a:p>
          <a:p>
            <a:pPr defTabSz="342886">
              <a:spcBef>
                <a:spcPct val="20000"/>
              </a:spcBef>
              <a:buClr>
                <a:srgbClr val="FFFFFF">
                  <a:lumMod val="65000"/>
                </a:srgbClr>
              </a:buClr>
            </a:pPr>
            <a:r>
              <a:rPr lang="en-US" sz="900" b="1">
                <a:latin typeface="Consolas" panose="020B0609020204030204" pitchFamily="49" charset="0"/>
                <a:cs typeface="Consolas" panose="020B0609020204030204" pitchFamily="49" charset="0"/>
              </a:rPr>
              <a:t>                    array[i] = array[i + 1];</a:t>
            </a:r>
          </a:p>
          <a:p>
            <a:pPr defTabSz="342886">
              <a:spcBef>
                <a:spcPct val="20000"/>
              </a:spcBef>
              <a:buClr>
                <a:srgbClr val="FFFFFF">
                  <a:lumMod val="65000"/>
                </a:srgbClr>
              </a:buClr>
            </a:pPr>
            <a:r>
              <a:rPr lang="en-US" sz="900" b="1">
                <a:latin typeface="Consolas" panose="020B0609020204030204" pitchFamily="49" charset="0"/>
                <a:cs typeface="Consolas" panose="020B0609020204030204" pitchFamily="49" charset="0"/>
              </a:rPr>
              <a:t>                    array[i + 1] = tmp;</a:t>
            </a:r>
          </a:p>
          <a:p>
            <a:pPr defTabSz="342886">
              <a:spcBef>
                <a:spcPct val="20000"/>
              </a:spcBef>
              <a:buClr>
                <a:srgbClr val="FFFFFF">
                  <a:lumMod val="65000"/>
                </a:srgbClr>
              </a:buClr>
            </a:pPr>
            <a:r>
              <a:rPr lang="en-US" sz="900" b="1">
                <a:latin typeface="Consolas" panose="020B0609020204030204" pitchFamily="49" charset="0"/>
                <a:cs typeface="Consolas" panose="020B0609020204030204" pitchFamily="49" charset="0"/>
              </a:rPr>
              <a:t>                }</a:t>
            </a:r>
          </a:p>
          <a:p>
            <a:pPr defTabSz="342886">
              <a:spcBef>
                <a:spcPct val="20000"/>
              </a:spcBef>
              <a:buClr>
                <a:srgbClr val="FFFFFF">
                  <a:lumMod val="65000"/>
                </a:srgbClr>
              </a:buClr>
            </a:pPr>
            <a:r>
              <a:rPr lang="en-US" sz="900" b="1">
                <a:latin typeface="Consolas" panose="020B0609020204030204" pitchFamily="49" charset="0"/>
                <a:cs typeface="Consolas" panose="020B0609020204030204" pitchFamily="49" charset="0"/>
              </a:rPr>
              <a:t>            }</a:t>
            </a:r>
          </a:p>
          <a:p>
            <a:pPr defTabSz="342886">
              <a:spcBef>
                <a:spcPct val="20000"/>
              </a:spcBef>
              <a:buClr>
                <a:srgbClr val="FFFFFF">
                  <a:lumMod val="65000"/>
                </a:srgbClr>
              </a:buClr>
            </a:pPr>
            <a:r>
              <a:rPr lang="en-US" sz="900" b="1">
                <a:latin typeface="Consolas" panose="020B0609020204030204" pitchFamily="49" charset="0"/>
                <a:cs typeface="Consolas" panose="020B0609020204030204" pitchFamily="49" charset="0"/>
              </a:rPr>
              <a:t>        } while (!arrayIsSorted);</a:t>
            </a:r>
          </a:p>
          <a:p>
            <a:pPr defTabSz="342886">
              <a:spcBef>
                <a:spcPct val="20000"/>
              </a:spcBef>
              <a:buClr>
                <a:srgbClr val="FFFFFF">
                  <a:lumMod val="65000"/>
                </a:srgbClr>
              </a:buClr>
            </a:pPr>
            <a:endParaRPr lang="en-US" sz="900">
              <a:latin typeface="Consolas" panose="020B0609020204030204" pitchFamily="49" charset="0"/>
              <a:cs typeface="Consolas" panose="020B0609020204030204" pitchFamily="49" charset="0"/>
            </a:endParaRPr>
          </a:p>
          <a:p>
            <a:pPr defTabSz="342886">
              <a:spcBef>
                <a:spcPct val="20000"/>
              </a:spcBef>
              <a:buClr>
                <a:srgbClr val="FFFFFF">
                  <a:lumMod val="65000"/>
                </a:srgbClr>
              </a:buClr>
            </a:pPr>
            <a:r>
              <a:rPr lang="en-US" sz="900">
                <a:latin typeface="Consolas" panose="020B0609020204030204" pitchFamily="49" charset="0"/>
                <a:cs typeface="Consolas" panose="020B0609020204030204" pitchFamily="49" charset="0"/>
              </a:rPr>
              <a:t>        PRINT(array);</a:t>
            </a:r>
          </a:p>
          <a:p>
            <a:pPr defTabSz="342886">
              <a:spcBef>
                <a:spcPct val="20000"/>
              </a:spcBef>
              <a:buClr>
                <a:srgbClr val="FFFFFF">
                  <a:lumMod val="65000"/>
                </a:srgbClr>
              </a:buClr>
            </a:pPr>
            <a:r>
              <a:rPr lang="en-US" sz="900">
                <a:latin typeface="Consolas" panose="020B0609020204030204" pitchFamily="49" charset="0"/>
                <a:cs typeface="Consolas" panose="020B0609020204030204" pitchFamily="49" charset="0"/>
              </a:rPr>
              <a:t>    }</a:t>
            </a:r>
          </a:p>
          <a:p>
            <a:pPr defTabSz="342886">
              <a:spcBef>
                <a:spcPct val="20000"/>
              </a:spcBef>
              <a:buClr>
                <a:srgbClr val="FFFFFF">
                  <a:lumMod val="65000"/>
                </a:srgbClr>
              </a:buClr>
            </a:pPr>
            <a:r>
              <a:rPr lang="en-US" sz="90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2431641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9DB4D-3326-3D31-E6C2-E9B950BE4EA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AF9EBFA-F961-9480-2774-C9F7E0A412AD}"/>
              </a:ext>
            </a:extLst>
          </p:cNvPr>
          <p:cNvSpPr>
            <a:spLocks noGrp="1"/>
          </p:cNvSpPr>
          <p:nvPr>
            <p:ph type="title"/>
          </p:nvPr>
        </p:nvSpPr>
        <p:spPr>
          <a:xfrm>
            <a:off x="457200" y="254916"/>
            <a:ext cx="8229600" cy="667168"/>
          </a:xfrm>
        </p:spPr>
        <p:txBody>
          <a:bodyPr>
            <a:normAutofit/>
          </a:bodyPr>
          <a:lstStyle/>
          <a:p>
            <a:r>
              <a:rPr lang="en-US"/>
              <a:t>bubble sort</a:t>
            </a:r>
          </a:p>
        </p:txBody>
      </p:sp>
      <p:sp>
        <p:nvSpPr>
          <p:cNvPr id="4" name="Content Placeholder 3">
            <a:extLst>
              <a:ext uri="{FF2B5EF4-FFF2-40B4-BE49-F238E27FC236}">
                <a16:creationId xmlns:a16="http://schemas.microsoft.com/office/drawing/2014/main" id="{E7C53DEA-988D-E2F9-FA81-9F5558BEC856}"/>
              </a:ext>
            </a:extLst>
          </p:cNvPr>
          <p:cNvSpPr>
            <a:spLocks noGrp="1"/>
          </p:cNvSpPr>
          <p:nvPr>
            <p:ph sz="quarter" idx="10"/>
          </p:nvPr>
        </p:nvSpPr>
        <p:spPr>
          <a:xfrm>
            <a:off x="457200" y="963337"/>
            <a:ext cx="8229600" cy="4080271"/>
          </a:xfrm>
        </p:spPr>
        <p:txBody>
          <a:bodyPr/>
          <a:lstStyle/>
          <a:p>
            <a:r>
              <a:rPr lang="en-US" b="1"/>
              <a:t>bubble sort</a:t>
            </a:r>
            <a:r>
              <a:rPr lang="en-US"/>
              <a:t> is a simple in-place sorting algorithm that uses swaps</a:t>
            </a:r>
          </a:p>
        </p:txBody>
      </p:sp>
      <p:sp>
        <p:nvSpPr>
          <p:cNvPr id="6" name="TextBox 5">
            <a:extLst>
              <a:ext uri="{FF2B5EF4-FFF2-40B4-BE49-F238E27FC236}">
                <a16:creationId xmlns:a16="http://schemas.microsoft.com/office/drawing/2014/main" id="{B7FB6693-239F-32C5-8684-AA49429F701B}"/>
              </a:ext>
            </a:extLst>
          </p:cNvPr>
          <p:cNvSpPr txBox="1"/>
          <p:nvPr/>
        </p:nvSpPr>
        <p:spPr>
          <a:xfrm>
            <a:off x="457200" y="1390834"/>
            <a:ext cx="8229600" cy="3410164"/>
          </a:xfrm>
          <a:prstGeom prst="rect">
            <a:avLst/>
          </a:prstGeom>
          <a:solidFill>
            <a:schemeClr val="bg1"/>
          </a:solidFill>
          <a:ln>
            <a:solidFill>
              <a:schemeClr val="tx1"/>
            </a:solidFill>
          </a:ln>
        </p:spPr>
        <p:txBody>
          <a:bodyPr wrap="square" rtlCol="0">
            <a:spAutoFit/>
          </a:bodyPr>
          <a:lstStyle/>
          <a:p>
            <a:pPr defTabSz="342886">
              <a:spcBef>
                <a:spcPct val="20000"/>
              </a:spcBef>
              <a:buClr>
                <a:srgbClr val="FFFFFF">
                  <a:lumMod val="65000"/>
                </a:srgbClr>
              </a:buClr>
            </a:pPr>
            <a:r>
              <a:rPr lang="en-US" sz="1400">
                <a:latin typeface="Consolas" panose="020B0609020204030204" pitchFamily="49" charset="0"/>
                <a:cs typeface="Consolas" panose="020B0609020204030204" pitchFamily="49" charset="0"/>
              </a:rPr>
              <a:t>        </a:t>
            </a:r>
            <a:r>
              <a:rPr lang="en-US" sz="1400" b="1">
                <a:latin typeface="Consolas" panose="020B0609020204030204" pitchFamily="49" charset="0"/>
                <a:cs typeface="Consolas" panose="020B0609020204030204" pitchFamily="49" charset="0"/>
              </a:rPr>
              <a:t>boolean arrayIsSorted;</a:t>
            </a:r>
          </a:p>
          <a:p>
            <a:pPr defTabSz="342886">
              <a:spcBef>
                <a:spcPct val="20000"/>
              </a:spcBef>
              <a:buClr>
                <a:srgbClr val="FFFFFF">
                  <a:lumMod val="65000"/>
                </a:srgbClr>
              </a:buClr>
            </a:pPr>
            <a:r>
              <a:rPr lang="en-US" sz="1400" b="1">
                <a:latin typeface="Consolas" panose="020B0609020204030204" pitchFamily="49" charset="0"/>
                <a:cs typeface="Consolas" panose="020B0609020204030204" pitchFamily="49" charset="0"/>
              </a:rPr>
              <a:t>        do {</a:t>
            </a:r>
          </a:p>
          <a:p>
            <a:pPr defTabSz="342886">
              <a:spcBef>
                <a:spcPct val="20000"/>
              </a:spcBef>
              <a:buClr>
                <a:srgbClr val="FFFFFF">
                  <a:lumMod val="65000"/>
                </a:srgbClr>
              </a:buClr>
            </a:pPr>
            <a:r>
              <a:rPr lang="en-US" sz="1400" b="1">
                <a:latin typeface="Consolas" panose="020B0609020204030204" pitchFamily="49" charset="0"/>
                <a:cs typeface="Consolas" panose="020B0609020204030204" pitchFamily="49" charset="0"/>
              </a:rPr>
              <a:t>            arrayIsSorted = true;</a:t>
            </a:r>
          </a:p>
          <a:p>
            <a:pPr defTabSz="342886">
              <a:spcBef>
                <a:spcPct val="20000"/>
              </a:spcBef>
              <a:buClr>
                <a:srgbClr val="FFFFFF">
                  <a:lumMod val="65000"/>
                </a:srgbClr>
              </a:buClr>
            </a:pPr>
            <a:r>
              <a:rPr lang="en-US" sz="1400" b="1">
                <a:latin typeface="Consolas" panose="020B0609020204030204" pitchFamily="49" charset="0"/>
                <a:cs typeface="Consolas" panose="020B0609020204030204" pitchFamily="49" charset="0"/>
              </a:rPr>
              <a:t>            for (int i = 0; i &lt; array.length - 1; ++i) {</a:t>
            </a:r>
          </a:p>
          <a:p>
            <a:pPr defTabSz="342886">
              <a:spcBef>
                <a:spcPct val="20000"/>
              </a:spcBef>
              <a:buClr>
                <a:srgbClr val="FFFFFF">
                  <a:lumMod val="65000"/>
                </a:srgbClr>
              </a:buClr>
            </a:pPr>
            <a:r>
              <a:rPr lang="en-US" sz="1400" b="1">
                <a:latin typeface="Consolas" panose="020B0609020204030204" pitchFamily="49" charset="0"/>
                <a:cs typeface="Consolas" panose="020B0609020204030204" pitchFamily="49" charset="0"/>
              </a:rPr>
              <a:t>                if (array[i] &gt; array[i + 1]) {</a:t>
            </a:r>
          </a:p>
          <a:p>
            <a:pPr defTabSz="342886">
              <a:spcBef>
                <a:spcPct val="20000"/>
              </a:spcBef>
              <a:buClr>
                <a:srgbClr val="FFFFFF">
                  <a:lumMod val="65000"/>
                </a:srgbClr>
              </a:buClr>
            </a:pPr>
            <a:r>
              <a:rPr lang="en-US" sz="1400" b="1">
                <a:latin typeface="Consolas" panose="020B0609020204030204" pitchFamily="49" charset="0"/>
                <a:cs typeface="Consolas" panose="020B0609020204030204" pitchFamily="49" charset="0"/>
              </a:rPr>
              <a:t>                    arrayIsSorted = false;</a:t>
            </a:r>
          </a:p>
          <a:p>
            <a:pPr defTabSz="342886">
              <a:spcBef>
                <a:spcPct val="20000"/>
              </a:spcBef>
              <a:buClr>
                <a:srgbClr val="FFFFFF">
                  <a:lumMod val="65000"/>
                </a:srgbClr>
              </a:buClr>
            </a:pPr>
            <a:r>
              <a:rPr lang="en-US" sz="1400" b="1">
                <a:latin typeface="Consolas" panose="020B0609020204030204" pitchFamily="49" charset="0"/>
                <a:cs typeface="Consolas" panose="020B0609020204030204" pitchFamily="49" charset="0"/>
              </a:rPr>
              <a:t>                    </a:t>
            </a:r>
            <a:r>
              <a:rPr lang="en-US" sz="1400" b="1">
                <a:solidFill>
                  <a:srgbClr val="007B00"/>
                </a:solidFill>
                <a:latin typeface="Consolas" panose="020B0609020204030204" pitchFamily="49" charset="0"/>
                <a:cs typeface="Consolas" panose="020B0609020204030204" pitchFamily="49" charset="0"/>
              </a:rPr>
              <a:t>// swap</a:t>
            </a:r>
          </a:p>
          <a:p>
            <a:pPr defTabSz="342886">
              <a:spcBef>
                <a:spcPct val="20000"/>
              </a:spcBef>
              <a:buClr>
                <a:srgbClr val="FFFFFF">
                  <a:lumMod val="65000"/>
                </a:srgbClr>
              </a:buClr>
            </a:pPr>
            <a:r>
              <a:rPr lang="en-US" sz="1400" b="1">
                <a:latin typeface="Consolas" panose="020B0609020204030204" pitchFamily="49" charset="0"/>
                <a:cs typeface="Consolas" panose="020B0609020204030204" pitchFamily="49" charset="0"/>
              </a:rPr>
              <a:t>                    int tmp = array[i];</a:t>
            </a:r>
          </a:p>
          <a:p>
            <a:pPr defTabSz="342886">
              <a:spcBef>
                <a:spcPct val="20000"/>
              </a:spcBef>
              <a:buClr>
                <a:srgbClr val="FFFFFF">
                  <a:lumMod val="65000"/>
                </a:srgbClr>
              </a:buClr>
            </a:pPr>
            <a:r>
              <a:rPr lang="en-US" sz="1400" b="1">
                <a:latin typeface="Consolas" panose="020B0609020204030204" pitchFamily="49" charset="0"/>
                <a:cs typeface="Consolas" panose="020B0609020204030204" pitchFamily="49" charset="0"/>
              </a:rPr>
              <a:t>                    array[i] = array[i + 1];</a:t>
            </a:r>
          </a:p>
          <a:p>
            <a:pPr defTabSz="342886">
              <a:spcBef>
                <a:spcPct val="20000"/>
              </a:spcBef>
              <a:buClr>
                <a:srgbClr val="FFFFFF">
                  <a:lumMod val="65000"/>
                </a:srgbClr>
              </a:buClr>
            </a:pPr>
            <a:r>
              <a:rPr lang="en-US" sz="1400" b="1">
                <a:latin typeface="Consolas" panose="020B0609020204030204" pitchFamily="49" charset="0"/>
                <a:cs typeface="Consolas" panose="020B0609020204030204" pitchFamily="49" charset="0"/>
              </a:rPr>
              <a:t>                    array[i + 1] = tmp;</a:t>
            </a:r>
          </a:p>
          <a:p>
            <a:pPr defTabSz="342886">
              <a:spcBef>
                <a:spcPct val="20000"/>
              </a:spcBef>
              <a:buClr>
                <a:srgbClr val="FFFFFF">
                  <a:lumMod val="65000"/>
                </a:srgbClr>
              </a:buClr>
            </a:pPr>
            <a:r>
              <a:rPr lang="en-US" sz="1400" b="1">
                <a:latin typeface="Consolas" panose="020B0609020204030204" pitchFamily="49" charset="0"/>
                <a:cs typeface="Consolas" panose="020B0609020204030204" pitchFamily="49" charset="0"/>
              </a:rPr>
              <a:t>                }</a:t>
            </a:r>
          </a:p>
          <a:p>
            <a:pPr defTabSz="342886">
              <a:spcBef>
                <a:spcPct val="20000"/>
              </a:spcBef>
              <a:buClr>
                <a:srgbClr val="FFFFFF">
                  <a:lumMod val="65000"/>
                </a:srgbClr>
              </a:buClr>
            </a:pPr>
            <a:r>
              <a:rPr lang="en-US" sz="1400" b="1">
                <a:latin typeface="Consolas" panose="020B0609020204030204" pitchFamily="49" charset="0"/>
                <a:cs typeface="Consolas" panose="020B0609020204030204" pitchFamily="49" charset="0"/>
              </a:rPr>
              <a:t>            }</a:t>
            </a:r>
          </a:p>
          <a:p>
            <a:pPr defTabSz="342886">
              <a:spcBef>
                <a:spcPct val="20000"/>
              </a:spcBef>
              <a:buClr>
                <a:srgbClr val="FFFFFF">
                  <a:lumMod val="65000"/>
                </a:srgbClr>
              </a:buClr>
            </a:pPr>
            <a:r>
              <a:rPr lang="en-US" sz="1400" b="1">
                <a:latin typeface="Consolas" panose="020B0609020204030204" pitchFamily="49" charset="0"/>
                <a:cs typeface="Consolas" panose="020B0609020204030204" pitchFamily="49" charset="0"/>
              </a:rPr>
              <a:t>        } while (!arrayIsSorted);</a:t>
            </a:r>
          </a:p>
        </p:txBody>
      </p:sp>
    </p:spTree>
    <p:extLst>
      <p:ext uri="{BB962C8B-B14F-4D97-AF65-F5344CB8AC3E}">
        <p14:creationId xmlns:p14="http://schemas.microsoft.com/office/powerpoint/2010/main" val="650973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D8AB0-8AE5-EB55-1B94-E443E1BD6ED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B1419F1-75CB-EDA7-31E2-31D4B1D35C6D}"/>
              </a:ext>
            </a:extLst>
          </p:cNvPr>
          <p:cNvSpPr>
            <a:spLocks noGrp="1"/>
          </p:cNvSpPr>
          <p:nvPr>
            <p:ph type="title"/>
          </p:nvPr>
        </p:nvSpPr>
        <p:spPr/>
        <p:txBody>
          <a:bodyPr/>
          <a:lstStyle/>
          <a:p>
            <a:r>
              <a:rPr lang="en-US"/>
              <a:t>big O runtime (arrays)</a:t>
            </a:r>
          </a:p>
        </p:txBody>
      </p:sp>
    </p:spTree>
    <p:extLst>
      <p:ext uri="{BB962C8B-B14F-4D97-AF65-F5344CB8AC3E}">
        <p14:creationId xmlns:p14="http://schemas.microsoft.com/office/powerpoint/2010/main" val="2235144898"/>
      </p:ext>
    </p:extLst>
  </p:cSld>
  <p:clrMapOvr>
    <a:masterClrMapping/>
  </p:clrMapOvr>
</p:sld>
</file>

<file path=ppt/slides/slide6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E32F4-4D90-BCBF-F4C7-36808D95DFC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46237B3-08D2-EAEA-DB2F-9B879BE073E4}"/>
              </a:ext>
            </a:extLst>
          </p:cNvPr>
          <p:cNvSpPr>
            <a:spLocks noGrp="1"/>
          </p:cNvSpPr>
          <p:nvPr>
            <p:ph type="title"/>
          </p:nvPr>
        </p:nvSpPr>
        <p:spPr>
          <a:xfrm>
            <a:off x="457200" y="254916"/>
            <a:ext cx="8229600" cy="667168"/>
          </a:xfrm>
        </p:spPr>
        <p:txBody>
          <a:bodyPr>
            <a:normAutofit/>
          </a:bodyPr>
          <a:lstStyle/>
          <a:p>
            <a:r>
              <a:rPr lang="en-US"/>
              <a:t>runtime of array operations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CD5786E-3801-3C97-892B-92C9E67ADC99}"/>
                  </a:ext>
                </a:extLst>
              </p:cNvPr>
              <p:cNvSpPr>
                <a:spLocks noGrp="1"/>
              </p:cNvSpPr>
              <p:nvPr>
                <p:ph sz="quarter" idx="10"/>
              </p:nvPr>
            </p:nvSpPr>
            <p:spPr>
              <a:xfrm>
                <a:off x="457200" y="963337"/>
                <a:ext cx="8229600" cy="4080271"/>
              </a:xfrm>
            </p:spPr>
            <p:txBody>
              <a:bodyPr/>
              <a:lstStyle/>
              <a:p>
                <a:r>
                  <a:rPr lang="en-US"/>
                  <a:t>arrays are fast!</a:t>
                </a:r>
              </a:p>
              <a:p>
                <a:pPr lvl="1"/>
                <a:r>
                  <a:rPr lang="en-US"/>
                  <a:t>⏱️ creating an array takes </a:t>
                </a:r>
                <a14:m>
                  <m:oMath xmlns:m="http://schemas.openxmlformats.org/officeDocument/2006/math">
                    <m:r>
                      <a:rPr lang="en-US" i="1" smtClean="0">
                        <a:latin typeface="Cambria Math" panose="02040503050406030204" pitchFamily="18" charset="0"/>
                      </a:rPr>
                      <m:t>𝒪</m:t>
                    </m:r>
                    <m:r>
                      <a:rPr lang="en-US" i="1" smtClean="0">
                        <a:latin typeface="Cambria Math" panose="02040503050406030204" pitchFamily="18" charset="0"/>
                      </a:rPr>
                      <m:t>(</m:t>
                    </m:r>
                    <m:r>
                      <a:rPr lang="en-US" b="0" i="1" smtClean="0">
                        <a:latin typeface="Cambria Math" panose="02040503050406030204" pitchFamily="18" charset="0"/>
                      </a:rPr>
                      <m:t>𝑛</m:t>
                    </m:r>
                    <m:r>
                      <a:rPr lang="en-US" i="1" smtClean="0">
                        <a:latin typeface="Cambria Math" panose="02040503050406030204" pitchFamily="18" charset="0"/>
                      </a:rPr>
                      <m:t>)</m:t>
                    </m:r>
                  </m:oMath>
                </a14:m>
                <a:r>
                  <a:rPr lang="en-US"/>
                  <a:t> time, where </a:t>
                </a:r>
                <a14:m>
                  <m:oMath xmlns:m="http://schemas.openxmlformats.org/officeDocument/2006/math">
                    <m:r>
                      <a:rPr lang="en-US" i="1">
                        <a:latin typeface="Cambria Math" panose="02040503050406030204" pitchFamily="18" charset="0"/>
                      </a:rPr>
                      <m:t>𝑛</m:t>
                    </m:r>
                  </m:oMath>
                </a14:m>
                <a:r>
                  <a:rPr lang="en-US"/>
                  <a:t> is the length of the array</a:t>
                </a:r>
              </a:p>
              <a:p>
                <a:pPr lvl="1"/>
                <a:r>
                  <a:rPr lang="en-US"/>
                  <a:t>⏱️ getting the value of the </a:t>
                </a:r>
                <a:r>
                  <a:rPr lang="en-US" err="1"/>
                  <a:t>i-th</a:t>
                </a:r>
                <a:r>
                  <a:rPr lang="en-US"/>
                  <a:t> element of an array takes </a:t>
                </a:r>
                <a14:m>
                  <m:oMath xmlns:m="http://schemas.openxmlformats.org/officeDocument/2006/math">
                    <m:r>
                      <a:rPr lang="en-US" i="1" smtClean="0">
                        <a:latin typeface="Cambria Math" panose="02040503050406030204" pitchFamily="18" charset="0"/>
                      </a:rPr>
                      <m:t>𝒪</m:t>
                    </m:r>
                    <m:r>
                      <a:rPr lang="en-US" i="1" smtClean="0">
                        <a:latin typeface="Cambria Math" panose="02040503050406030204" pitchFamily="18" charset="0"/>
                      </a:rPr>
                      <m:t>(1)</m:t>
                    </m:r>
                  </m:oMath>
                </a14:m>
                <a:r>
                  <a:rPr lang="en-US"/>
                  <a:t> time</a:t>
                </a:r>
              </a:p>
              <a:p>
                <a:pPr lvl="1"/>
                <a:r>
                  <a:rPr lang="en-US"/>
                  <a:t>⏱️ setting the value of the </a:t>
                </a:r>
                <a:r>
                  <a:rPr lang="en-US" err="1"/>
                  <a:t>i-th</a:t>
                </a:r>
                <a:r>
                  <a:rPr lang="en-US"/>
                  <a:t> element of an array takes </a:t>
                </a:r>
                <a14:m>
                  <m:oMath xmlns:m="http://schemas.openxmlformats.org/officeDocument/2006/math">
                    <m:r>
                      <a:rPr lang="en-US" i="1" smtClean="0">
                        <a:latin typeface="Cambria Math" panose="02040503050406030204" pitchFamily="18" charset="0"/>
                      </a:rPr>
                      <m:t>𝒪</m:t>
                    </m:r>
                    <m:r>
                      <a:rPr lang="en-US" i="1" smtClean="0">
                        <a:latin typeface="Cambria Math" panose="02040503050406030204" pitchFamily="18" charset="0"/>
                      </a:rPr>
                      <m:t>(1)</m:t>
                    </m:r>
                  </m:oMath>
                </a14:m>
                <a:r>
                  <a:rPr lang="en-US"/>
                  <a:t> time</a:t>
                </a:r>
              </a:p>
              <a:p>
                <a:endParaRPr lang="en-US"/>
              </a:p>
              <a:p>
                <a:pPr lvl="1"/>
                <a:endParaRPr lang="en-US"/>
              </a:p>
            </p:txBody>
          </p:sp>
        </mc:Choice>
        <mc:Fallback xmlns="">
          <p:sp>
            <p:nvSpPr>
              <p:cNvPr id="4" name="Content Placeholder 3">
                <a:extLst>
                  <a:ext uri="{FF2B5EF4-FFF2-40B4-BE49-F238E27FC236}">
                    <a16:creationId xmlns:a16="http://schemas.microsoft.com/office/drawing/2014/main" id="{5EA0D66C-04A5-02DC-74EB-B4DC82ED31C0}"/>
                  </a:ext>
                </a:extLst>
              </p:cNvPr>
              <p:cNvSpPr>
                <a:spLocks noGrp="1" noRot="1" noChangeAspect="1" noMove="1" noResize="1" noEditPoints="1" noAdjustHandles="1" noChangeArrowheads="1" noChangeShapeType="1" noTextEdit="1"/>
              </p:cNvSpPr>
              <p:nvPr>
                <p:ph sz="quarter" idx="10"/>
              </p:nvPr>
            </p:nvSpPr>
            <p:spPr>
              <a:xfrm>
                <a:off x="457200" y="963337"/>
                <a:ext cx="8229600" cy="4080271"/>
              </a:xfrm>
              <a:blipFill>
                <a:blip r:embed="rId2"/>
                <a:stretch>
                  <a:fillRect l="-593" t="-747"/>
                </a:stretch>
              </a:blipFill>
            </p:spPr>
            <p:txBody>
              <a:bodyPr/>
              <a:lstStyle/>
              <a:p>
                <a:r>
                  <a:rPr lang="en-US">
                    <a:noFill/>
                  </a:rPr>
                  <a:t> </a:t>
                </a:r>
              </a:p>
            </p:txBody>
          </p:sp>
        </mc:Fallback>
      </mc:AlternateContent>
    </p:spTree>
    <p:extLst>
      <p:ext uri="{BB962C8B-B14F-4D97-AF65-F5344CB8AC3E}">
        <p14:creationId xmlns:p14="http://schemas.microsoft.com/office/powerpoint/2010/main" val="3328799168"/>
      </p:ext>
    </p:extLst>
  </p:cSld>
  <p:clrMapOvr>
    <a:masterClrMapping/>
  </p:clrMapOvr>
</p:sld>
</file>

<file path=ppt/slides/slide6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9884D-87A4-99BF-930A-7439618C83E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E3B2858-24F1-5AAB-10FB-1EF925C6ADDB}"/>
              </a:ext>
            </a:extLst>
          </p:cNvPr>
          <p:cNvSpPr>
            <a:spLocks noGrp="1"/>
          </p:cNvSpPr>
          <p:nvPr>
            <p:ph type="title"/>
          </p:nvPr>
        </p:nvSpPr>
        <p:spPr>
          <a:xfrm>
            <a:off x="457200" y="254916"/>
            <a:ext cx="8229600" cy="667168"/>
          </a:xfrm>
        </p:spPr>
        <p:txBody>
          <a:bodyPr>
            <a:normAutofit/>
          </a:bodyPr>
          <a:lstStyle/>
          <a:p>
            <a:r>
              <a:rPr lang="en-US"/>
              <a:t>accessing an array "under the hood"</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84E1DA89-5280-5291-0D2A-AEF23562B53A}"/>
                  </a:ext>
                </a:extLst>
              </p:cNvPr>
              <p:cNvSpPr>
                <a:spLocks noGrp="1"/>
              </p:cNvSpPr>
              <p:nvPr>
                <p:ph sz="quarter" idx="10"/>
              </p:nvPr>
            </p:nvSpPr>
            <p:spPr>
              <a:xfrm>
                <a:off x="457200" y="963337"/>
                <a:ext cx="8229600" cy="4080271"/>
              </a:xfrm>
            </p:spPr>
            <p:txBody>
              <a:bodyPr>
                <a:normAutofit/>
              </a:bodyPr>
              <a:lstStyle/>
              <a:p>
                <a:r>
                  <a:rPr lang="en-US">
                    <a:ea typeface="Segoe UI Emoji" panose="020B0502040204020203" pitchFamily="34" charset="0"/>
                  </a:rPr>
                  <a:t>how Java does </a:t>
                </a:r>
                <a:r>
                  <a:rPr lang="en-US">
                    <a:latin typeface="Consolas"/>
                    <a:ea typeface="Segoe UI Emoji" panose="020B0502040204020203" pitchFamily="34" charset="0"/>
                  </a:rPr>
                  <a:t>array[</a:t>
                </a:r>
                <a:r>
                  <a:rPr lang="en-US">
                    <a:solidFill>
                      <a:srgbClr val="0CB5B5"/>
                    </a:solidFill>
                    <a:latin typeface="Consolas"/>
                  </a:rPr>
                  <a:t>4</a:t>
                </a:r>
                <a:r>
                  <a:rPr lang="en-US">
                    <a:latin typeface="Consolas"/>
                    <a:ea typeface="Segoe UI Emoji" panose="020B0502040204020203" pitchFamily="34" charset="0"/>
                  </a:rPr>
                  <a:t>]</a:t>
                </a:r>
                <a:r>
                  <a:rPr lang="en-US">
                    <a:ea typeface="Segoe UI Emoji" panose="020B0502040204020203" pitchFamily="34" charset="0"/>
                  </a:rPr>
                  <a:t>, step-by-step:</a:t>
                </a:r>
                <a:endParaRPr lang="en-US"/>
              </a:p>
              <a:p>
                <a:pPr lvl="1"/>
                <a:r>
                  <a:rPr lang="en-US"/>
                  <a:t>start at the head (0-th element) of the array </a:t>
                </a:r>
                <a:br>
                  <a:rPr lang="en-US"/>
                </a:br>
                <a:r>
                  <a:rPr kumimoji="0" lang="en-US"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a:p>
              <a:p>
                <a:pPr lvl="1"/>
                <a:r>
                  <a:rPr lang="en-US"/>
                  <a:t>move over </a:t>
                </a:r>
                <a:r>
                  <a:rPr lang="en-US">
                    <a:solidFill>
                      <a:srgbClr val="0CB5B5"/>
                    </a:solidFill>
                    <a:latin typeface="Consolas"/>
                  </a:rPr>
                  <a:t>4</a:t>
                </a:r>
                <a:r>
                  <a:rPr lang="en-US">
                    <a:solidFill>
                      <a:srgbClr val="0CB5B5"/>
                    </a:solidFill>
                  </a:rPr>
                  <a:t> </a:t>
                </a:r>
                <a:r>
                  <a:rPr lang="en-US"/>
                  <a:t>slots (using an </a:t>
                </a:r>
                <a14:m>
                  <m:oMath xmlns:m="http://schemas.openxmlformats.org/officeDocument/2006/math">
                    <m:r>
                      <a:rPr lang="en-US" i="1" smtClean="0">
                        <a:latin typeface="Cambria Math" panose="02040503050406030204" pitchFamily="18" charset="0"/>
                      </a:rPr>
                      <m:t>𝒪</m:t>
                    </m:r>
                    <m:r>
                      <a:rPr lang="en-US" i="1" smtClean="0">
                        <a:latin typeface="Cambria Math" panose="02040503050406030204" pitchFamily="18" charset="0"/>
                      </a:rPr>
                      <m:t>(1)</m:t>
                    </m:r>
                  </m:oMath>
                </a14:m>
                <a:r>
                  <a:rPr lang="en-US"/>
                  <a:t> "add")</a:t>
                </a:r>
                <a:br>
                  <a:rPr lang="en-US"/>
                </a:br>
                <a:r>
                  <a:rPr kumimoji="0" lang="en-US"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endParaRPr lang="en-US"/>
              </a:p>
              <a:p>
                <a:pPr lvl="1"/>
                <a:r>
                  <a:rPr lang="en-US"/>
                  <a:t>return the value of the element in that slot</a:t>
                </a:r>
                <a:br>
                  <a:rPr lang="en-US"/>
                </a:br>
                <a:r>
                  <a:rPr kumimoji="0" lang="en-US"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a:t>
                </a:r>
              </a:p>
              <a:p>
                <a:endParaRPr lang="en-US"/>
              </a:p>
              <a:p>
                <a:r>
                  <a:rPr lang="en-US"/>
                  <a:t>we can't actually see Java do this (it's too "low level")</a:t>
                </a:r>
              </a:p>
              <a:p>
                <a:pPr lvl="1"/>
                <a:r>
                  <a:rPr lang="en-US"/>
                  <a:t>but we *can* see C do it! (stay tuned 🙂)</a:t>
                </a:r>
              </a:p>
              <a:p>
                <a:pPr lvl="1"/>
                <a:endParaRPr lang="en-US"/>
              </a:p>
            </p:txBody>
          </p:sp>
        </mc:Choice>
        <mc:Fallback xmlns="">
          <p:sp>
            <p:nvSpPr>
              <p:cNvPr id="4" name="Content Placeholder 3">
                <a:extLst>
                  <a:ext uri="{FF2B5EF4-FFF2-40B4-BE49-F238E27FC236}">
                    <a16:creationId xmlns:a16="http://schemas.microsoft.com/office/drawing/2014/main" id="{5EA0D66C-04A5-02DC-74EB-B4DC82ED31C0}"/>
                  </a:ext>
                </a:extLst>
              </p:cNvPr>
              <p:cNvSpPr>
                <a:spLocks noGrp="1" noRot="1" noChangeAspect="1" noMove="1" noResize="1" noEditPoints="1" noAdjustHandles="1" noChangeArrowheads="1" noChangeShapeType="1" noTextEdit="1"/>
              </p:cNvSpPr>
              <p:nvPr>
                <p:ph sz="quarter" idx="10"/>
              </p:nvPr>
            </p:nvSpPr>
            <p:spPr>
              <a:xfrm>
                <a:off x="457200" y="963337"/>
                <a:ext cx="8229600" cy="4080271"/>
              </a:xfrm>
              <a:blipFill>
                <a:blip r:embed="rId2"/>
                <a:stretch>
                  <a:fillRect l="-593" t="-747"/>
                </a:stretch>
              </a:blipFill>
            </p:spPr>
            <p:txBody>
              <a:bodyPr/>
              <a:lstStyle/>
              <a:p>
                <a:r>
                  <a:rPr lang="en-US">
                    <a:noFill/>
                  </a:rPr>
                  <a:t> </a:t>
                </a:r>
              </a:p>
            </p:txBody>
          </p:sp>
        </mc:Fallback>
      </mc:AlternateContent>
    </p:spTree>
    <p:extLst>
      <p:ext uri="{BB962C8B-B14F-4D97-AF65-F5344CB8AC3E}">
        <p14:creationId xmlns:p14="http://schemas.microsoft.com/office/powerpoint/2010/main" val="588809914"/>
      </p:ext>
    </p:extLst>
  </p:cSld>
  <p:clrMapOvr>
    <a:masterClrMapping/>
  </p:clrMapOvr>
</p:sld>
</file>

<file path=ppt/slides/slide6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F92E309-9E66-4CD9-6EE0-9DF7E291DA36}"/>
              </a:ext>
            </a:extLst>
          </p:cNvPr>
          <p:cNvSpPr>
            <a:spLocks noGrp="1"/>
          </p:cNvSpPr>
          <p:nvPr>
            <p:ph type="title"/>
          </p:nvPr>
        </p:nvSpPr>
        <p:spPr/>
        <p:txBody>
          <a:bodyPr/>
          <a:lstStyle/>
          <a:p>
            <a:r>
              <a:rPr lang="en-US" sz="3200"/>
              <a:t>see C do it</a:t>
            </a:r>
          </a:p>
        </p:txBody>
      </p:sp>
    </p:spTree>
    <p:extLst>
      <p:ext uri="{BB962C8B-B14F-4D97-AF65-F5344CB8AC3E}">
        <p14:creationId xmlns:p14="http://schemas.microsoft.com/office/powerpoint/2010/main" val="703370277"/>
      </p:ext>
    </p:extLst>
  </p:cSld>
  <p:clrMapOvr>
    <a:masterClrMapping/>
  </p:clrMapOvr>
</p:sld>
</file>

<file path=ppt/slides/slide6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0FE98-E0C2-A2D9-02B6-9FDC7EF2CDB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30BBC4F-ECA4-B46F-5AA1-85B599C55624}"/>
              </a:ext>
            </a:extLst>
          </p:cNvPr>
          <p:cNvSpPr>
            <a:spLocks noGrp="1"/>
          </p:cNvSpPr>
          <p:nvPr>
            <p:ph type="title"/>
          </p:nvPr>
        </p:nvSpPr>
        <p:spPr/>
        <p:txBody>
          <a:bodyPr/>
          <a:lstStyle/>
          <a:p>
            <a:r>
              <a:rPr lang="en-US" sz="2000"/>
              <a:t>Cecilia sees C by the Sea Shore</a:t>
            </a:r>
          </a:p>
        </p:txBody>
      </p:sp>
    </p:spTree>
    <p:extLst>
      <p:ext uri="{BB962C8B-B14F-4D97-AF65-F5344CB8AC3E}">
        <p14:creationId xmlns:p14="http://schemas.microsoft.com/office/powerpoint/2010/main" val="1055456556"/>
      </p:ext>
    </p:extLst>
  </p:cSld>
  <p:clrMapOvr>
    <a:masterClrMapping/>
  </p:clrMapOvr>
</p:sld>
</file>

<file path=ppt/slides/slide6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Royalty-Free photo: Photo of seashore | PickPik">
            <a:extLst>
              <a:ext uri="{FF2B5EF4-FFF2-40B4-BE49-F238E27FC236}">
                <a16:creationId xmlns:a16="http://schemas.microsoft.com/office/drawing/2014/main" id="{B5A4DFFB-A63A-F679-6179-A62B26DAB304}"/>
              </a:ext>
            </a:extLst>
          </p:cNvPr>
          <p:cNvPicPr>
            <a:picLocks noChangeAspect="1"/>
          </p:cNvPicPr>
          <p:nvPr/>
        </p:nvPicPr>
        <p:blipFill>
          <a:blip r:embed="rId2"/>
          <a:stretch>
            <a:fillRect/>
          </a:stretch>
        </p:blipFill>
        <p:spPr>
          <a:xfrm>
            <a:off x="1681422" y="642937"/>
            <a:ext cx="5781155" cy="3857626"/>
          </a:xfrm>
          <a:prstGeom prst="rect">
            <a:avLst/>
          </a:prstGeom>
        </p:spPr>
      </p:pic>
      <p:pic>
        <p:nvPicPr>
          <p:cNvPr id="5" name="Picture 4" descr="C Programming Language, 2nd Edition | InformIT">
            <a:extLst>
              <a:ext uri="{FF2B5EF4-FFF2-40B4-BE49-F238E27FC236}">
                <a16:creationId xmlns:a16="http://schemas.microsoft.com/office/drawing/2014/main" id="{03CE16BD-A545-9CF2-526C-5AF3A2C5D626}"/>
              </a:ext>
            </a:extLst>
          </p:cNvPr>
          <p:cNvPicPr>
            <a:picLocks noChangeAspect="1"/>
          </p:cNvPicPr>
          <p:nvPr/>
        </p:nvPicPr>
        <p:blipFill>
          <a:blip r:embed="rId3"/>
          <a:stretch>
            <a:fillRect/>
          </a:stretch>
        </p:blipFill>
        <p:spPr>
          <a:xfrm rot="20700000">
            <a:off x="2002590" y="2644640"/>
            <a:ext cx="681988" cy="901894"/>
          </a:xfrm>
          <a:prstGeom prst="rect">
            <a:avLst/>
          </a:prstGeom>
        </p:spPr>
      </p:pic>
    </p:spTree>
    <p:extLst>
      <p:ext uri="{BB962C8B-B14F-4D97-AF65-F5344CB8AC3E}">
        <p14:creationId xmlns:p14="http://schemas.microsoft.com/office/powerpoint/2010/main" val="3862708600"/>
      </p:ext>
    </p:extLst>
  </p:cSld>
  <p:clrMapOvr>
    <a:masterClrMapping/>
  </p:clrMapOvr>
</p:sld>
</file>

<file path=ppt/slides/slide6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A327E-AE9F-7DE1-871B-FE90F04DD9C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11C2AB2-6407-A344-AE2D-6B69A3A62177}"/>
              </a:ext>
            </a:extLst>
          </p:cNvPr>
          <p:cNvSpPr>
            <a:spLocks noGrp="1"/>
          </p:cNvSpPr>
          <p:nvPr>
            <p:ph type="title"/>
          </p:nvPr>
        </p:nvSpPr>
        <p:spPr/>
        <p:txBody>
          <a:bodyPr/>
          <a:lstStyle/>
          <a:p>
            <a:r>
              <a:rPr lang="en-US"/>
              <a:t>big O runtime</a:t>
            </a:r>
            <a:br>
              <a:rPr lang="en-US"/>
            </a:br>
            <a:r>
              <a:rPr lang="en-US"/>
              <a:t>of array opterations</a:t>
            </a:r>
          </a:p>
        </p:txBody>
      </p:sp>
    </p:spTree>
    <p:extLst>
      <p:ext uri="{BB962C8B-B14F-4D97-AF65-F5344CB8AC3E}">
        <p14:creationId xmlns:p14="http://schemas.microsoft.com/office/powerpoint/2010/main" val="1753057172"/>
      </p:ext>
    </p:extLst>
  </p:cSld>
  <p:clrMapOvr>
    <a:masterClrMapping/>
  </p:clrMapOvr>
</p:sld>
</file>

<file path=ppt/slides/slide6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C2BF6-EA40-EBC0-7C52-511F25E78FA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F410665-BE3C-90AC-B622-D46632588890}"/>
              </a:ext>
            </a:extLst>
          </p:cNvPr>
          <p:cNvSpPr>
            <a:spLocks noGrp="1"/>
          </p:cNvSpPr>
          <p:nvPr>
            <p:ph type="title"/>
          </p:nvPr>
        </p:nvSpPr>
        <p:spPr/>
        <p:txBody>
          <a:bodyPr/>
          <a:lstStyle/>
          <a:p>
            <a:r>
              <a:rPr lang="en-US"/>
              <a:t>big O runtime of array operations</a:t>
            </a:r>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C81F7BF4-37B8-1E57-6AEE-E9E593E46B9C}"/>
                  </a:ext>
                </a:extLst>
              </p:cNvPr>
              <p:cNvSpPr>
                <a:spLocks noGrp="1"/>
              </p:cNvSpPr>
              <p:nvPr>
                <p:ph sz="quarter" idx="10"/>
              </p:nvPr>
            </p:nvSpPr>
            <p:spPr/>
            <p:txBody>
              <a:bodyPr/>
              <a:lstStyle/>
              <a:p>
                <a:pPr lvl="1"/>
                <a:r>
                  <a:rPr lang="en-US"/>
                  <a:t>example of </a:t>
                </a:r>
                <a14:m>
                  <m:oMath xmlns:m="http://schemas.openxmlformats.org/officeDocument/2006/math">
                    <m:r>
                      <a:rPr lang="en-US" b="0" i="1" smtClean="0">
                        <a:latin typeface="Cambria Math" panose="02040503050406030204" pitchFamily="18" charset="0"/>
                        <a:ea typeface="Cambria Math" panose="02040503050406030204" pitchFamily="18" charset="0"/>
                      </a:rPr>
                      <m:t>𝒪</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𝑛</m:t>
                        </m:r>
                      </m:e>
                    </m:d>
                  </m:oMath>
                </a14:m>
                <a:r>
                  <a:rPr lang="en-US"/>
                  <a:t> algorithms:</a:t>
                </a:r>
              </a:p>
              <a:p>
                <a:pPr lvl="2"/>
                <a:r>
                  <a:rPr lang="en-US" b="1">
                    <a:latin typeface=""/>
                    <a:cs typeface="Consolas" panose="020B0609020204030204" pitchFamily="49" charset="0"/>
                  </a:rPr>
                  <a:t>create</a:t>
                </a:r>
                <a:r>
                  <a:rPr lang="en-US">
                    <a:latin typeface=""/>
                    <a:cs typeface="Consolas" panose="020B0609020204030204" pitchFamily="49" charset="0"/>
                  </a:rPr>
                  <a:t> new array of length n</a:t>
                </a:r>
                <a:r>
                  <a:rPr lang="en-US">
                    <a:cs typeface="Consolas" panose="020B0609020204030204" pitchFamily="49" charset="0"/>
                  </a:rPr>
                  <a:t> 	</a:t>
                </a:r>
                <a:r>
                  <a:rPr lang="en-US" i="1">
                    <a:cs typeface="Consolas" panose="020B0609020204030204" pitchFamily="49" charset="0"/>
                  </a:rPr>
                  <a:t>(NOTE: this is a definition)</a:t>
                </a:r>
              </a:p>
              <a:p>
                <a:pPr lvl="2"/>
                <a:r>
                  <a:rPr lang="en-US" b="1">
                    <a:cs typeface="Consolas" panose="020B0609020204030204" pitchFamily="49" charset="0"/>
                  </a:rPr>
                  <a:t>print</a:t>
                </a:r>
                <a:r>
                  <a:rPr lang="en-US">
                    <a:cs typeface="Consolas" panose="020B0609020204030204" pitchFamily="49" charset="0"/>
                  </a:rPr>
                  <a:t> array of length n</a:t>
                </a:r>
              </a:p>
              <a:p>
                <a:pPr lvl="2"/>
                <a:r>
                  <a:rPr lang="en-US" b="1">
                    <a:cs typeface="Consolas" panose="020B0609020204030204" pitchFamily="49" charset="0"/>
                  </a:rPr>
                  <a:t>deep copy </a:t>
                </a:r>
                <a:r>
                  <a:rPr lang="en-US">
                    <a:cs typeface="Consolas" panose="020B0609020204030204" pitchFamily="49" charset="0"/>
                  </a:rPr>
                  <a:t>array of length n</a:t>
                </a:r>
              </a:p>
              <a:p>
                <a:pPr lvl="2"/>
                <a:r>
                  <a:rPr lang="en-US" b="1">
                    <a:cs typeface="Consolas" panose="020B0609020204030204" pitchFamily="49" charset="0"/>
                  </a:rPr>
                  <a:t>in-place reverse</a:t>
                </a:r>
                <a:r>
                  <a:rPr lang="en-US">
                    <a:cs typeface="Consolas" panose="020B0609020204030204" pitchFamily="49" charset="0"/>
                  </a:rPr>
                  <a:t> array of length n</a:t>
                </a:r>
                <a:endParaRPr lang="en-US">
                  <a:solidFill>
                    <a:srgbClr val="007B00"/>
                  </a:solidFill>
                  <a:latin typeface="Consolas" panose="020B0609020204030204" pitchFamily="49" charset="0"/>
                  <a:cs typeface="Consolas" panose="020B0609020204030204" pitchFamily="49" charset="0"/>
                </a:endParaRPr>
              </a:p>
              <a:p>
                <a:pPr lvl="2"/>
                <a:endParaRPr lang="en-US">
                  <a:solidFill>
                    <a:srgbClr val="007B00"/>
                  </a:solidFill>
                  <a:latin typeface="Consolas" panose="020B0609020204030204" pitchFamily="49" charset="0"/>
                  <a:cs typeface="Consolas" panose="020B0609020204030204" pitchFamily="49" charset="0"/>
                </a:endParaRPr>
              </a:p>
              <a:p>
                <a:pPr lvl="1"/>
                <a:r>
                  <a:rPr lang="en-US"/>
                  <a:t>examples of </a:t>
                </a:r>
                <a14:m>
                  <m:oMath xmlns:m="http://schemas.openxmlformats.org/officeDocument/2006/math">
                    <m:r>
                      <a:rPr lang="en-US" b="0" i="1" smtClean="0">
                        <a:latin typeface="Cambria Math" panose="02040503050406030204" pitchFamily="18" charset="0"/>
                        <a:ea typeface="Cambria Math" panose="02040503050406030204" pitchFamily="18" charset="0"/>
                      </a:rPr>
                      <m:t>𝒪</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𝑛</m:t>
                            </m:r>
                          </m:e>
                          <m:sup>
                            <m:r>
                              <a:rPr lang="en-US" b="0" i="1" smtClean="0">
                                <a:latin typeface="Cambria Math" panose="02040503050406030204" pitchFamily="18" charset="0"/>
                                <a:ea typeface="Cambria Math" panose="02040503050406030204" pitchFamily="18" charset="0"/>
                              </a:rPr>
                              <m:t>2</m:t>
                            </m:r>
                          </m:sup>
                        </m:sSup>
                      </m:e>
                    </m:d>
                  </m:oMath>
                </a14:m>
                <a:r>
                  <a:rPr lang="en-US"/>
                  <a:t> algorithms:</a:t>
                </a:r>
              </a:p>
              <a:p>
                <a:pPr lvl="2"/>
                <a:r>
                  <a:rPr lang="en-US" b="1">
                    <a:cs typeface="Consolas" panose="020B0609020204030204" pitchFamily="49" charset="0"/>
                  </a:rPr>
                  <a:t>bubble sort</a:t>
                </a:r>
                <a:r>
                  <a:rPr lang="en-US">
                    <a:cs typeface="Consolas" panose="020B0609020204030204" pitchFamily="49" charset="0"/>
                  </a:rPr>
                  <a:t> array of length n</a:t>
                </a:r>
              </a:p>
            </p:txBody>
          </p:sp>
        </mc:Choice>
        <mc:Fallback xmlns="">
          <p:sp>
            <p:nvSpPr>
              <p:cNvPr id="9" name="Content Placeholder 8">
                <a:extLst>
                  <a:ext uri="{FF2B5EF4-FFF2-40B4-BE49-F238E27FC236}">
                    <a16:creationId xmlns:a16="http://schemas.microsoft.com/office/drawing/2014/main" id="{C81F7BF4-37B8-1E57-6AEE-E9E593E46B9C}"/>
                  </a:ext>
                </a:extLst>
              </p:cNvPr>
              <p:cNvSpPr>
                <a:spLocks noGrp="1" noRot="1" noChangeAspect="1" noMove="1" noResize="1" noEditPoints="1" noAdjustHandles="1" noChangeArrowheads="1" noChangeShapeType="1" noTextEdit="1"/>
              </p:cNvSpPr>
              <p:nvPr>
                <p:ph sz="quarter" idx="10"/>
              </p:nvPr>
            </p:nvSpPr>
            <p:spPr>
              <a:blipFill>
                <a:blip r:embed="rId3"/>
                <a:stretch>
                  <a:fillRect t="-621"/>
                </a:stretch>
              </a:blipFill>
            </p:spPr>
            <p:txBody>
              <a:bodyPr/>
              <a:lstStyle/>
              <a:p>
                <a:r>
                  <a:rPr lang="en-US">
                    <a:noFill/>
                  </a:rPr>
                  <a:t> </a:t>
                </a:r>
              </a:p>
            </p:txBody>
          </p:sp>
        </mc:Fallback>
      </mc:AlternateContent>
    </p:spTree>
    <p:extLst>
      <p:ext uri="{BB962C8B-B14F-4D97-AF65-F5344CB8AC3E}">
        <p14:creationId xmlns:p14="http://schemas.microsoft.com/office/powerpoint/2010/main" val="3025348085"/>
      </p:ext>
    </p:extLst>
  </p:cSld>
  <p:clrMapOvr>
    <a:masterClrMapping/>
  </p:clrMapOvr>
</p:sld>
</file>

<file path=ppt/slides/slide6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EE474-8A02-79CF-A805-B630EC56638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81CB206-5C86-F2D1-9B6A-81D9AACC9AA8}"/>
              </a:ext>
            </a:extLst>
          </p:cNvPr>
          <p:cNvSpPr>
            <a:spLocks noGrp="1"/>
          </p:cNvSpPr>
          <p:nvPr>
            <p:ph type="title"/>
          </p:nvPr>
        </p:nvSpPr>
        <p:spPr/>
        <p:txBody>
          <a:bodyPr/>
          <a:lstStyle/>
          <a:p>
            <a:r>
              <a:rPr lang="en-US"/>
              <a:t>HW02 examples</a:t>
            </a:r>
          </a:p>
        </p:txBody>
      </p:sp>
    </p:spTree>
    <p:extLst>
      <p:ext uri="{BB962C8B-B14F-4D97-AF65-F5344CB8AC3E}">
        <p14:creationId xmlns:p14="http://schemas.microsoft.com/office/powerpoint/2010/main" val="954147189"/>
      </p:ext>
    </p:extLst>
  </p:cSld>
  <p:clrMapOvr>
    <a:masterClrMapping/>
  </p:clrMapOvr>
</p:sld>
</file>

<file path=ppt/slides/slide6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B7108-DFAC-453D-AA04-D98B92F21B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4C85EF-ACF3-1FF2-AB39-47C26E191874}"/>
              </a:ext>
            </a:extLst>
          </p:cNvPr>
          <p:cNvSpPr>
            <a:spLocks noGrp="1"/>
          </p:cNvSpPr>
          <p:nvPr>
            <p:ph type="title"/>
          </p:nvPr>
        </p:nvSpPr>
        <p:spPr/>
        <p:txBody>
          <a:bodyPr/>
          <a:lstStyle/>
          <a:p>
            <a:r>
              <a:rPr lang="en-US"/>
              <a:t>let's say </a:t>
            </a:r>
            <a:r>
              <a:rPr lang="en-US" b="1">
                <a:solidFill>
                  <a:srgbClr val="7121FF"/>
                </a:solidFill>
              </a:rPr>
              <a:t>n</a:t>
            </a:r>
            <a:r>
              <a:rPr lang="en-US"/>
              <a:t> equals </a:t>
            </a:r>
            <a:r>
              <a:rPr lang="en-US" b="1">
                <a:solidFill>
                  <a:srgbClr val="7121FF"/>
                </a:solidFill>
              </a:rPr>
              <a:t>buffer.length</a:t>
            </a:r>
          </a:p>
        </p:txBody>
      </p:sp>
    </p:spTree>
    <p:extLst>
      <p:ext uri="{BB962C8B-B14F-4D97-AF65-F5344CB8AC3E}">
        <p14:creationId xmlns:p14="http://schemas.microsoft.com/office/powerpoint/2010/main" val="2563050683"/>
      </p:ext>
    </p:extLst>
  </p:cSld>
  <p:clrMapOvr>
    <a:masterClrMapping/>
  </p:clrMapOvr>
</p:sld>
</file>

<file path=ppt/slides/slide6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4437B-F8FE-F1E1-5128-676AC0DBE1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19EB34-A608-C33F-88BC-36B9BC5878B0}"/>
              </a:ext>
            </a:extLst>
          </p:cNvPr>
          <p:cNvSpPr>
            <a:spLocks noGrp="1"/>
          </p:cNvSpPr>
          <p:nvPr>
            <p:ph type="title"/>
          </p:nvPr>
        </p:nvSpPr>
        <p:spPr/>
        <p:txBody>
          <a:bodyPr/>
          <a:lstStyle/>
          <a:p>
            <a:r>
              <a:rPr lang="en-US"/>
              <a:t>what's the big O runtime of pressing </a:t>
            </a:r>
            <a:r>
              <a:rPr lang="en-US" b="1">
                <a:solidFill>
                  <a:srgbClr val="7121FF"/>
                </a:solidFill>
                <a:sym typeface="Wingdings" pitchFamily="2" charset="2"/>
              </a:rPr>
              <a:t></a:t>
            </a:r>
            <a:r>
              <a:rPr lang="en-US">
                <a:sym typeface="Wingdings" pitchFamily="2" charset="2"/>
              </a:rPr>
              <a:t>?</a:t>
            </a:r>
            <a:r>
              <a:rPr lang="en-US"/>
              <a:t> </a:t>
            </a:r>
          </a:p>
        </p:txBody>
      </p:sp>
    </p:spTree>
    <p:extLst>
      <p:ext uri="{BB962C8B-B14F-4D97-AF65-F5344CB8AC3E}">
        <p14:creationId xmlns:p14="http://schemas.microsoft.com/office/powerpoint/2010/main" val="2089433460"/>
      </p:ext>
    </p:extLst>
  </p:cSld>
  <p:clrMapOvr>
    <a:masterClrMapping/>
  </p:clrMapOvr>
</p:sld>
</file>

<file path=ppt/slides/slide6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A457B-06C9-9017-D8DB-64134E0CD5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A0479B-4F7A-A93A-A24A-945E103B21D2}"/>
              </a:ext>
            </a:extLst>
          </p:cNvPr>
          <p:cNvSpPr>
            <a:spLocks noGrp="1"/>
          </p:cNvSpPr>
          <p:nvPr>
            <p:ph type="title"/>
          </p:nvPr>
        </p:nvSpPr>
        <p:spPr/>
        <p:txBody>
          <a:bodyPr/>
          <a:lstStyle/>
          <a:p>
            <a:r>
              <a:rPr lang="en-US"/>
              <a:t>what's the big O runtime of pressing </a:t>
            </a:r>
            <a:r>
              <a:rPr lang="en-US" b="1">
                <a:solidFill>
                  <a:srgbClr val="7121FF"/>
                </a:solidFill>
                <a:sym typeface="Wingdings" pitchFamily="2" charset="2"/>
              </a:rPr>
              <a:t>A</a:t>
            </a:r>
            <a:r>
              <a:rPr lang="en-US">
                <a:sym typeface="Wingdings" pitchFamily="2" charset="2"/>
              </a:rPr>
              <a:t>?</a:t>
            </a:r>
            <a:r>
              <a:rPr lang="en-US"/>
              <a:t> </a:t>
            </a:r>
          </a:p>
        </p:txBody>
      </p:sp>
    </p:spTree>
    <p:extLst>
      <p:ext uri="{BB962C8B-B14F-4D97-AF65-F5344CB8AC3E}">
        <p14:creationId xmlns:p14="http://schemas.microsoft.com/office/powerpoint/2010/main" val="2887057489"/>
      </p:ext>
    </p:extLst>
  </p:cSld>
  <p:clrMapOvr>
    <a:masterClrMapping/>
  </p:clrMapOvr>
</p:sld>
</file>

<file path=ppt/slides/slide6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75EF3-8271-FF76-02E8-21C9D54C85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BFCBE3-0D62-941A-F924-BAB381BFBE3F}"/>
              </a:ext>
            </a:extLst>
          </p:cNvPr>
          <p:cNvSpPr>
            <a:spLocks noGrp="1"/>
          </p:cNvSpPr>
          <p:nvPr>
            <p:ph type="title"/>
          </p:nvPr>
        </p:nvSpPr>
        <p:spPr/>
        <p:txBody>
          <a:bodyPr/>
          <a:lstStyle/>
          <a:p>
            <a:r>
              <a:rPr lang="en-US"/>
              <a:t>💻 array tutorial</a:t>
            </a:r>
          </a:p>
        </p:txBody>
      </p:sp>
    </p:spTree>
    <p:extLst>
      <p:ext uri="{BB962C8B-B14F-4D97-AF65-F5344CB8AC3E}">
        <p14:creationId xmlns:p14="http://schemas.microsoft.com/office/powerpoint/2010/main" val="165057960"/>
      </p:ext>
    </p:extLst>
  </p:cSld>
  <p:clrMapOvr>
    <a:masterClrMapping/>
  </p:clrMapOvr>
</p:sld>
</file>

<file path=ppt/slides/slide6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1AE1A-8E0B-A4C1-9F23-1B069F989C5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B448BC8-F039-0236-A36E-0FDEA97E858A}"/>
              </a:ext>
            </a:extLst>
          </p:cNvPr>
          <p:cNvSpPr>
            <a:spLocks noGrp="1"/>
          </p:cNvSpPr>
          <p:nvPr>
            <p:ph type="title"/>
          </p:nvPr>
        </p:nvSpPr>
        <p:spPr/>
        <p:txBody>
          <a:bodyPr/>
          <a:lstStyle/>
          <a:p>
            <a:r>
              <a:rPr lang="en-US"/>
              <a:t>💻 array tutorial</a:t>
            </a:r>
          </a:p>
        </p:txBody>
      </p:sp>
    </p:spTree>
    <p:extLst>
      <p:ext uri="{BB962C8B-B14F-4D97-AF65-F5344CB8AC3E}">
        <p14:creationId xmlns:p14="http://schemas.microsoft.com/office/powerpoint/2010/main" val="407580330"/>
      </p:ext>
    </p:extLst>
  </p:cSld>
  <p:clrMapOvr>
    <a:masterClrMapping/>
  </p:clrMapOvr>
</p:sld>
</file>

<file path=ppt/slides/slide6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98269-DE42-1626-977F-EE2C1DF9213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CB26018-96EF-F69F-8542-98C5FE5C0844}"/>
              </a:ext>
            </a:extLst>
          </p:cNvPr>
          <p:cNvSpPr>
            <a:spLocks noGrp="1"/>
          </p:cNvSpPr>
          <p:nvPr>
            <p:ph type="title"/>
          </p:nvPr>
        </p:nvSpPr>
        <p:spPr/>
        <p:txBody>
          <a:bodyPr/>
          <a:lstStyle/>
          <a:p>
            <a:r>
              <a:rPr lang="en-US"/>
              <a:t>💻 array tutorial</a:t>
            </a:r>
          </a:p>
        </p:txBody>
      </p:sp>
      <p:sp>
        <p:nvSpPr>
          <p:cNvPr id="6" name="TextBox 5">
            <a:extLst>
              <a:ext uri="{FF2B5EF4-FFF2-40B4-BE49-F238E27FC236}">
                <a16:creationId xmlns:a16="http://schemas.microsoft.com/office/drawing/2014/main" id="{70C5A74D-6866-9561-7EC0-796BFEFFA245}"/>
              </a:ext>
            </a:extLst>
          </p:cNvPr>
          <p:cNvSpPr txBox="1"/>
          <p:nvPr/>
        </p:nvSpPr>
        <p:spPr>
          <a:xfrm>
            <a:off x="457200" y="3272191"/>
            <a:ext cx="8229600" cy="701731"/>
          </a:xfrm>
          <a:prstGeom prst="rect">
            <a:avLst/>
          </a:prstGeom>
          <a:solidFill>
            <a:schemeClr val="bg1"/>
          </a:solidFill>
          <a:ln>
            <a:solidFill>
              <a:schemeClr val="tx1"/>
            </a:solidFill>
          </a:ln>
        </p:spPr>
        <p:txBody>
          <a:bodyPr wrap="square" rtlCol="0">
            <a:spAutoFit/>
          </a:bodyPr>
          <a:lstStyle/>
          <a:p>
            <a:pPr defTabSz="342886">
              <a:spcBef>
                <a:spcPct val="20000"/>
              </a:spcBef>
              <a:buClr>
                <a:srgbClr val="FFFFFF">
                  <a:lumMod val="65000"/>
                </a:srgbClr>
              </a:buClr>
            </a:pPr>
            <a:r>
              <a:rPr lang="en-US">
                <a:solidFill>
                  <a:srgbClr val="007B00"/>
                </a:solidFill>
                <a:latin typeface="Consolas"/>
                <a:ea typeface="Segoe UI Emoji" panose="020B0502040204020203" pitchFamily="34" charset="0"/>
              </a:rPr>
              <a:t>// ♦️ [[1, 3], [2, 4, 5], [0, 5]] -&gt; [0, 1, 2, 3, 4, 5, 5]</a:t>
            </a:r>
          </a:p>
          <a:p>
            <a:pPr lvl="0" defTabSz="342886">
              <a:spcBef>
                <a:spcPct val="20000"/>
              </a:spcBef>
              <a:buClr>
                <a:srgbClr val="FFFFFF">
                  <a:lumMod val="65000"/>
                </a:srgbClr>
              </a:buClr>
            </a:pPr>
            <a:r>
              <a:rPr lang="en-US">
                <a:solidFill>
                  <a:srgbClr val="0000FF"/>
                </a:solidFill>
                <a:latin typeface="Consolas"/>
                <a:ea typeface="Segoe UI Emoji" panose="020B0502040204020203" pitchFamily="34" charset="0"/>
              </a:rPr>
              <a:t>static</a:t>
            </a:r>
            <a:r>
              <a:rPr lang="en-US">
                <a:solidFill>
                  <a:srgbClr val="000080"/>
                </a:solidFill>
                <a:latin typeface="Consolas"/>
                <a:ea typeface="Segoe UI Emoji" panose="020B0502040204020203" pitchFamily="34" charset="0"/>
              </a:rPr>
              <a:t> int</a:t>
            </a:r>
            <a:r>
              <a:rPr lang="en-US">
                <a:solidFill>
                  <a:srgbClr val="000000"/>
                </a:solidFill>
                <a:latin typeface="Consolas"/>
                <a:ea typeface="Segoe UI Emoji" panose="020B0502040204020203" pitchFamily="34" charset="0"/>
              </a:rPr>
              <a:t>[] mergeArrayOfSortedArrays(</a:t>
            </a:r>
            <a:r>
              <a:rPr lang="en-US">
                <a:solidFill>
                  <a:srgbClr val="000080"/>
                </a:solidFill>
                <a:latin typeface="Consolas"/>
                <a:ea typeface="Segoe UI Emoji" panose="020B0502040204020203" pitchFamily="34" charset="0"/>
              </a:rPr>
              <a:t>int</a:t>
            </a:r>
            <a:r>
              <a:rPr lang="en-US">
                <a:solidFill>
                  <a:srgbClr val="000000"/>
                </a:solidFill>
                <a:latin typeface="Consolas"/>
                <a:ea typeface="Segoe UI Emoji" panose="020B0502040204020203" pitchFamily="34" charset="0"/>
              </a:rPr>
              <a:t>[][] arrays);</a:t>
            </a:r>
          </a:p>
        </p:txBody>
      </p:sp>
      <p:sp>
        <p:nvSpPr>
          <p:cNvPr id="8" name="TextBox 7">
            <a:extLst>
              <a:ext uri="{FF2B5EF4-FFF2-40B4-BE49-F238E27FC236}">
                <a16:creationId xmlns:a16="http://schemas.microsoft.com/office/drawing/2014/main" id="{32E5BD19-D2E8-2394-36A0-BA4DD564A434}"/>
              </a:ext>
            </a:extLst>
          </p:cNvPr>
          <p:cNvSpPr txBox="1"/>
          <p:nvPr/>
        </p:nvSpPr>
        <p:spPr>
          <a:xfrm>
            <a:off x="457200" y="2387083"/>
            <a:ext cx="8229600" cy="701731"/>
          </a:xfrm>
          <a:prstGeom prst="rect">
            <a:avLst/>
          </a:prstGeom>
          <a:solidFill>
            <a:schemeClr val="bg1"/>
          </a:solidFill>
          <a:ln>
            <a:solidFill>
              <a:schemeClr val="tx1"/>
            </a:solidFill>
          </a:ln>
        </p:spPr>
        <p:txBody>
          <a:bodyPr wrap="square" rtlCol="0">
            <a:spAutoFit/>
          </a:bodyPr>
          <a:lstStyle/>
          <a:p>
            <a:pPr defTabSz="342886">
              <a:spcBef>
                <a:spcPct val="20000"/>
              </a:spcBef>
              <a:buClr>
                <a:srgbClr val="FFFFFF">
                  <a:lumMod val="65000"/>
                </a:srgbClr>
              </a:buClr>
            </a:pPr>
            <a:r>
              <a:rPr lang="en-US">
                <a:solidFill>
                  <a:srgbClr val="007B00"/>
                </a:solidFill>
                <a:latin typeface="Consolas"/>
                <a:ea typeface="Segoe UI Emoji" panose="020B0502040204020203" pitchFamily="34" charset="0"/>
              </a:rPr>
              <a:t>// </a:t>
            </a:r>
            <a:r>
              <a:rPr lang="en-US">
                <a:solidFill>
                  <a:srgbClr val="000080"/>
                </a:solidFill>
                <a:latin typeface="Consolas"/>
                <a:ea typeface="Segoe UI Emoji" panose="020B0502040204020203" pitchFamily="34" charset="0"/>
              </a:rPr>
              <a:t>🟦</a:t>
            </a:r>
            <a:r>
              <a:rPr lang="en-US">
                <a:solidFill>
                  <a:srgbClr val="007B00"/>
                </a:solidFill>
                <a:latin typeface="Consolas"/>
                <a:ea typeface="Segoe UI Emoji" panose="020B0502040204020203" pitchFamily="34" charset="0"/>
              </a:rPr>
              <a:t> ([1, 3, 3, 2, 3, 4], 3) -&gt; [1, 2, 4]</a:t>
            </a:r>
          </a:p>
          <a:p>
            <a:pPr lvl="0" defTabSz="342886">
              <a:spcBef>
                <a:spcPct val="20000"/>
              </a:spcBef>
              <a:buClr>
                <a:srgbClr val="FFFFFF">
                  <a:lumMod val="65000"/>
                </a:srgbClr>
              </a:buClr>
            </a:pPr>
            <a:r>
              <a:rPr lang="en-US">
                <a:solidFill>
                  <a:srgbClr val="0000FF"/>
                </a:solidFill>
                <a:latin typeface="Consolas"/>
                <a:ea typeface="Segoe UI Emoji" panose="020B0502040204020203" pitchFamily="34" charset="0"/>
              </a:rPr>
              <a:t>static</a:t>
            </a:r>
            <a:r>
              <a:rPr lang="en-US">
                <a:solidFill>
                  <a:srgbClr val="000080"/>
                </a:solidFill>
                <a:latin typeface="Consolas"/>
                <a:ea typeface="Segoe UI Emoji" panose="020B0502040204020203" pitchFamily="34" charset="0"/>
              </a:rPr>
              <a:t> int</a:t>
            </a:r>
            <a:r>
              <a:rPr lang="en-US">
                <a:solidFill>
                  <a:srgbClr val="000000"/>
                </a:solidFill>
                <a:latin typeface="Consolas"/>
                <a:ea typeface="Segoe UI Emoji" panose="020B0502040204020203" pitchFamily="34" charset="0"/>
              </a:rPr>
              <a:t>[] removeAllOccurences(</a:t>
            </a:r>
            <a:r>
              <a:rPr lang="en-US">
                <a:solidFill>
                  <a:srgbClr val="000080"/>
                </a:solidFill>
                <a:latin typeface="Consolas"/>
                <a:ea typeface="Segoe UI Emoji" panose="020B0502040204020203" pitchFamily="34" charset="0"/>
              </a:rPr>
              <a:t>int</a:t>
            </a:r>
            <a:r>
              <a:rPr lang="en-US">
                <a:solidFill>
                  <a:srgbClr val="000000"/>
                </a:solidFill>
                <a:latin typeface="Consolas"/>
                <a:ea typeface="Segoe UI Emoji" panose="020B0502040204020203" pitchFamily="34" charset="0"/>
              </a:rPr>
              <a:t>[] array, int value);</a:t>
            </a:r>
          </a:p>
        </p:txBody>
      </p:sp>
      <p:sp>
        <p:nvSpPr>
          <p:cNvPr id="9" name="TextBox 8">
            <a:extLst>
              <a:ext uri="{FF2B5EF4-FFF2-40B4-BE49-F238E27FC236}">
                <a16:creationId xmlns:a16="http://schemas.microsoft.com/office/drawing/2014/main" id="{C8EFDCE1-B3BA-BB37-3F53-BEC70206F10A}"/>
              </a:ext>
            </a:extLst>
          </p:cNvPr>
          <p:cNvSpPr txBox="1"/>
          <p:nvPr/>
        </p:nvSpPr>
        <p:spPr>
          <a:xfrm>
            <a:off x="457200" y="1169577"/>
            <a:ext cx="8229600" cy="1034129"/>
          </a:xfrm>
          <a:prstGeom prst="rect">
            <a:avLst/>
          </a:prstGeom>
          <a:solidFill>
            <a:schemeClr val="bg1"/>
          </a:solidFill>
          <a:ln>
            <a:solidFill>
              <a:schemeClr val="tx1"/>
            </a:solidFill>
          </a:ln>
        </p:spPr>
        <p:txBody>
          <a:bodyPr wrap="square" rtlCol="0">
            <a:spAutoFit/>
          </a:bodyPr>
          <a:lstStyle/>
          <a:p>
            <a:pPr defTabSz="342886">
              <a:spcBef>
                <a:spcPct val="20000"/>
              </a:spcBef>
              <a:buClr>
                <a:srgbClr val="FFFFFF">
                  <a:lumMod val="65000"/>
                </a:srgbClr>
              </a:buClr>
            </a:pPr>
            <a:r>
              <a:rPr lang="en-US">
                <a:solidFill>
                  <a:srgbClr val="007B00"/>
                </a:solidFill>
                <a:latin typeface="Consolas"/>
                <a:ea typeface="Segoe UI Emoji" panose="020B0502040204020203" pitchFamily="34" charset="0"/>
              </a:rPr>
              <a:t>// </a:t>
            </a:r>
            <a:r>
              <a:rPr lang="en-US">
                <a:solidFill>
                  <a:srgbClr val="000080"/>
                </a:solidFill>
                <a:latin typeface="Consolas"/>
                <a:ea typeface="Segoe UI Emoji" panose="020B0502040204020203" pitchFamily="34" charset="0"/>
              </a:rPr>
              <a:t>🟢</a:t>
            </a:r>
            <a:r>
              <a:rPr lang="en-US">
                <a:solidFill>
                  <a:srgbClr val="007B00"/>
                </a:solidFill>
                <a:latin typeface="Consolas"/>
                <a:ea typeface="Segoe UI Emoji" panose="020B0502040204020203" pitchFamily="34" charset="0"/>
              </a:rPr>
              <a:t> ([5, 4, 7, 0, 7], 7) -&gt; 2</a:t>
            </a:r>
          </a:p>
          <a:p>
            <a:pPr defTabSz="342886">
              <a:spcBef>
                <a:spcPct val="20000"/>
              </a:spcBef>
              <a:buClr>
                <a:srgbClr val="FFFFFF">
                  <a:lumMod val="65000"/>
                </a:srgbClr>
              </a:buClr>
            </a:pPr>
            <a:r>
              <a:rPr lang="en-US">
                <a:solidFill>
                  <a:srgbClr val="007B00"/>
                </a:solidFill>
                <a:latin typeface="Consolas"/>
                <a:ea typeface="Segoe UI Emoji" panose="020B0502040204020203" pitchFamily="34" charset="0"/>
              </a:rPr>
              <a:t>// </a:t>
            </a:r>
            <a:r>
              <a:rPr lang="en-US">
                <a:solidFill>
                  <a:srgbClr val="000080"/>
                </a:solidFill>
                <a:latin typeface="Consolas"/>
                <a:ea typeface="Segoe UI Emoji" panose="020B0502040204020203" pitchFamily="34" charset="0"/>
              </a:rPr>
              <a:t>🟢</a:t>
            </a:r>
            <a:r>
              <a:rPr lang="en-US">
                <a:solidFill>
                  <a:srgbClr val="007B00"/>
                </a:solidFill>
                <a:latin typeface="Consolas"/>
                <a:ea typeface="Segoe UI Emoji" panose="020B0502040204020203" pitchFamily="34" charset="0"/>
              </a:rPr>
              <a:t> ([5, 4, 7, 0, 7], 3) -&gt; -1</a:t>
            </a:r>
          </a:p>
          <a:p>
            <a:pPr lvl="0" defTabSz="342886">
              <a:spcBef>
                <a:spcPct val="20000"/>
              </a:spcBef>
              <a:buClr>
                <a:srgbClr val="FFFFFF">
                  <a:lumMod val="65000"/>
                </a:srgbClr>
              </a:buClr>
            </a:pPr>
            <a:r>
              <a:rPr lang="en-US">
                <a:solidFill>
                  <a:srgbClr val="0000FF"/>
                </a:solidFill>
                <a:latin typeface="Consolas"/>
                <a:ea typeface="Segoe UI Emoji" panose="020B0502040204020203" pitchFamily="34" charset="0"/>
              </a:rPr>
              <a:t>static</a:t>
            </a:r>
            <a:r>
              <a:rPr lang="en-US">
                <a:solidFill>
                  <a:srgbClr val="000080"/>
                </a:solidFill>
                <a:latin typeface="Consolas"/>
                <a:ea typeface="Segoe UI Emoji" panose="020B0502040204020203" pitchFamily="34" charset="0"/>
              </a:rPr>
              <a:t> int</a:t>
            </a:r>
            <a:r>
              <a:rPr lang="en-US">
                <a:solidFill>
                  <a:srgbClr val="000000"/>
                </a:solidFill>
                <a:latin typeface="Consolas"/>
                <a:ea typeface="Segoe UI Emoji" panose="020B0502040204020203" pitchFamily="34" charset="0"/>
              </a:rPr>
              <a:t> findFirstIndexOf(</a:t>
            </a:r>
            <a:r>
              <a:rPr lang="en-US">
                <a:solidFill>
                  <a:srgbClr val="000080"/>
                </a:solidFill>
                <a:latin typeface="Consolas"/>
                <a:ea typeface="Segoe UI Emoji" panose="020B0502040204020203" pitchFamily="34" charset="0"/>
              </a:rPr>
              <a:t>int</a:t>
            </a:r>
            <a:r>
              <a:rPr lang="en-US">
                <a:solidFill>
                  <a:srgbClr val="000000"/>
                </a:solidFill>
                <a:latin typeface="Consolas"/>
                <a:ea typeface="Segoe UI Emoji" panose="020B0502040204020203" pitchFamily="34" charset="0"/>
              </a:rPr>
              <a:t>[] array, </a:t>
            </a:r>
            <a:r>
              <a:rPr lang="en-US">
                <a:solidFill>
                  <a:srgbClr val="000080"/>
                </a:solidFill>
                <a:latin typeface="Consolas"/>
                <a:ea typeface="Segoe UI Emoji" panose="020B0502040204020203" pitchFamily="34" charset="0"/>
              </a:rPr>
              <a:t>int</a:t>
            </a:r>
            <a:r>
              <a:rPr lang="en-US">
                <a:solidFill>
                  <a:srgbClr val="000000"/>
                </a:solidFill>
                <a:latin typeface="Consolas"/>
                <a:ea typeface="Segoe UI Emoji" panose="020B0502040204020203" pitchFamily="34" charset="0"/>
              </a:rPr>
              <a:t> value);</a:t>
            </a:r>
          </a:p>
        </p:txBody>
      </p:sp>
    </p:spTree>
    <p:extLst>
      <p:ext uri="{BB962C8B-B14F-4D97-AF65-F5344CB8AC3E}">
        <p14:creationId xmlns:p14="http://schemas.microsoft.com/office/powerpoint/2010/main" val="3018997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Lst>
  </p:timing>
</p:sld>
</file>

<file path=ppt/slides/slide6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49FA1-78ED-92CC-061A-301E56222E0A}"/>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649E8851-532F-54C9-714F-5FC038664C12}"/>
              </a:ext>
            </a:extLst>
          </p:cNvPr>
          <p:cNvSpPr txBox="1"/>
          <p:nvPr/>
        </p:nvSpPr>
        <p:spPr>
          <a:xfrm rot="10800000">
            <a:off x="3148591" y="1434319"/>
            <a:ext cx="2365655" cy="1862048"/>
          </a:xfrm>
          <a:prstGeom prst="rect">
            <a:avLst/>
          </a:prstGeom>
          <a:noFill/>
        </p:spPr>
        <p:txBody>
          <a:bodyPr wrap="square">
            <a:spAutoFit/>
          </a:bodyPr>
          <a:lstStyle/>
          <a:p>
            <a:pPr algn="r"/>
            <a:r>
              <a:rPr kumimoji="0" lang="en-US" sz="115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5400"/>
          </a:p>
        </p:txBody>
      </p:sp>
      <p:sp>
        <p:nvSpPr>
          <p:cNvPr id="8" name="Title 7">
            <a:extLst>
              <a:ext uri="{FF2B5EF4-FFF2-40B4-BE49-F238E27FC236}">
                <a16:creationId xmlns:a16="http://schemas.microsoft.com/office/drawing/2014/main" id="{D04CD59A-208A-6538-EA03-C5F48982F1B4}"/>
              </a:ext>
            </a:extLst>
          </p:cNvPr>
          <p:cNvSpPr>
            <a:spLocks noGrp="1"/>
          </p:cNvSpPr>
          <p:nvPr>
            <p:ph type="title"/>
          </p:nvPr>
        </p:nvSpPr>
        <p:spPr>
          <a:xfrm>
            <a:off x="457200" y="254916"/>
            <a:ext cx="8229600" cy="1893924"/>
          </a:xfrm>
        </p:spPr>
        <p:txBody>
          <a:bodyPr/>
          <a:lstStyle/>
          <a:p>
            <a:r>
              <a:rPr lang="en-US" sz="8800"/>
              <a:t>Week01</a:t>
            </a:r>
          </a:p>
        </p:txBody>
      </p:sp>
      <p:sp>
        <p:nvSpPr>
          <p:cNvPr id="6" name="Content Placeholder 5">
            <a:extLst>
              <a:ext uri="{FF2B5EF4-FFF2-40B4-BE49-F238E27FC236}">
                <a16:creationId xmlns:a16="http://schemas.microsoft.com/office/drawing/2014/main" id="{E9188E59-3CF3-6622-671B-B4D0632148C2}"/>
              </a:ext>
            </a:extLst>
          </p:cNvPr>
          <p:cNvSpPr>
            <a:spLocks noGrp="1"/>
          </p:cNvSpPr>
          <p:nvPr>
            <p:ph sz="quarter" idx="10"/>
          </p:nvPr>
        </p:nvSpPr>
        <p:spPr>
          <a:xfrm>
            <a:off x="457200" y="1993732"/>
            <a:ext cx="8229600" cy="2894013"/>
          </a:xfrm>
        </p:spPr>
        <p:txBody>
          <a:bodyPr>
            <a:noAutofit/>
          </a:bodyPr>
          <a:lstStyle/>
          <a:p>
            <a:r>
              <a:rPr lang="en-US" sz="3200"/>
              <a:t>tips and tricks</a:t>
            </a:r>
          </a:p>
          <a:p>
            <a:r>
              <a:rPr lang="en-US" sz="3200"/>
              <a:t>operators</a:t>
            </a:r>
          </a:p>
          <a:p>
            <a:r>
              <a:rPr lang="en-US" sz="3200"/>
              <a:t>control flow</a:t>
            </a:r>
          </a:p>
          <a:p>
            <a:r>
              <a:rPr lang="en-US" sz="3200"/>
              <a:t>Cow.Java</a:t>
            </a:r>
          </a:p>
        </p:txBody>
      </p:sp>
      <p:sp>
        <p:nvSpPr>
          <p:cNvPr id="17" name="TextBox 16">
            <a:extLst>
              <a:ext uri="{FF2B5EF4-FFF2-40B4-BE49-F238E27FC236}">
                <a16:creationId xmlns:a16="http://schemas.microsoft.com/office/drawing/2014/main" id="{5484CFD5-0538-AFBB-F17A-4C859D7F08B9}"/>
              </a:ext>
            </a:extLst>
          </p:cNvPr>
          <p:cNvSpPr txBox="1"/>
          <p:nvPr/>
        </p:nvSpPr>
        <p:spPr>
          <a:xfrm>
            <a:off x="4995225" y="2515188"/>
            <a:ext cx="3972312" cy="2800767"/>
          </a:xfrm>
          <a:prstGeom prst="rect">
            <a:avLst/>
          </a:prstGeom>
          <a:noFill/>
        </p:spPr>
        <p:txBody>
          <a:bodyPr wrap="square" rtlCol="0">
            <a:spAutoFit/>
          </a:bodyPr>
          <a:lstStyle/>
          <a:p>
            <a:r>
              <a:rPr lang="en-US" b="1"/>
              <a:t>WARMUP</a:t>
            </a:r>
          </a:p>
          <a:p>
            <a:r>
              <a:rPr lang="en-US">
                <a:latin typeface="Consolas" panose="020B0609020204030204" pitchFamily="49" charset="0"/>
                <a:cs typeface="Consolas" panose="020B0609020204030204" pitchFamily="49" charset="0"/>
              </a:rPr>
              <a:t>foo = (2 * 5.0) - 1.0;</a:t>
            </a:r>
          </a:p>
          <a:p>
            <a:pPr lvl="1"/>
            <a:r>
              <a:rPr lang="en-US">
                <a:cs typeface="Consolas" panose="020B0609020204030204" pitchFamily="49" charset="0"/>
              </a:rPr>
              <a:t>what type is </a:t>
            </a:r>
            <a:r>
              <a:rPr lang="en-US">
                <a:latin typeface="+mj-lt"/>
                <a:cs typeface="Consolas" panose="020B0609020204030204" pitchFamily="49" charset="0"/>
              </a:rPr>
              <a:t>foo</a:t>
            </a:r>
            <a:r>
              <a:rPr lang="en-US">
                <a:cs typeface="Consolas" panose="020B0609020204030204" pitchFamily="49" charset="0"/>
              </a:rPr>
              <a:t>?</a:t>
            </a:r>
          </a:p>
          <a:p>
            <a:pPr lvl="1"/>
            <a:r>
              <a:rPr lang="en-US">
                <a:cs typeface="Consolas" panose="020B0609020204030204" pitchFamily="49" charset="0"/>
              </a:rPr>
              <a:t>what value is </a:t>
            </a:r>
            <a:r>
              <a:rPr lang="en-US">
                <a:latin typeface="+mj-lt"/>
                <a:cs typeface="Consolas" panose="020B0609020204030204" pitchFamily="49" charset="0"/>
              </a:rPr>
              <a:t>foo</a:t>
            </a:r>
            <a:r>
              <a:rPr lang="en-US">
                <a:cs typeface="Consolas" panose="020B0609020204030204" pitchFamily="49" charset="0"/>
              </a:rPr>
              <a:t>?</a:t>
            </a:r>
            <a:endParaRPr lang="en-US">
              <a:latin typeface="Consolas" panose="020B0609020204030204" pitchFamily="49" charset="0"/>
              <a:cs typeface="Consolas" panose="020B0609020204030204" pitchFamily="49" charset="0"/>
            </a:endParaRPr>
          </a:p>
          <a:p>
            <a:r>
              <a:rPr lang="en-US">
                <a:latin typeface="Consolas" panose="020B0609020204030204" pitchFamily="49" charset="0"/>
                <a:cs typeface="Consolas" panose="020B0609020204030204" pitchFamily="49" charset="0"/>
              </a:rPr>
              <a:t>bar = (3 &gt; foo);</a:t>
            </a:r>
          </a:p>
          <a:p>
            <a:pPr lvl="1"/>
            <a:r>
              <a:rPr lang="en-US">
                <a:cs typeface="Consolas" panose="020B0609020204030204" pitchFamily="49" charset="0"/>
              </a:rPr>
              <a:t>what type is </a:t>
            </a:r>
            <a:r>
              <a:rPr lang="en-US">
                <a:latin typeface="+mj-lt"/>
                <a:cs typeface="Consolas" panose="020B0609020204030204" pitchFamily="49" charset="0"/>
              </a:rPr>
              <a:t>bar</a:t>
            </a:r>
            <a:r>
              <a:rPr lang="en-US">
                <a:cs typeface="Consolas" panose="020B0609020204030204" pitchFamily="49" charset="0"/>
              </a:rPr>
              <a:t>?</a:t>
            </a:r>
          </a:p>
          <a:p>
            <a:pPr lvl="1"/>
            <a:r>
              <a:rPr lang="en-US">
                <a:cs typeface="Consolas" panose="020B0609020204030204" pitchFamily="49" charset="0"/>
              </a:rPr>
              <a:t>what value is </a:t>
            </a:r>
            <a:r>
              <a:rPr lang="en-US">
                <a:latin typeface="+mj-lt"/>
                <a:cs typeface="Consolas" panose="020B0609020204030204" pitchFamily="49" charset="0"/>
              </a:rPr>
              <a:t>bar</a:t>
            </a:r>
            <a:r>
              <a:rPr lang="en-US">
                <a:cs typeface="Consolas" panose="020B0609020204030204" pitchFamily="49" charset="0"/>
              </a:rPr>
              <a:t>?</a:t>
            </a:r>
          </a:p>
          <a:p>
            <a:r>
              <a:rPr lang="en-US">
                <a:latin typeface="Consolas" panose="020B0609020204030204" pitchFamily="49" charset="0"/>
                <a:cs typeface="Consolas" panose="020B0609020204030204" pitchFamily="49" charset="0"/>
              </a:rPr>
              <a:t>char baz = 'A' + ('7' - '5');</a:t>
            </a:r>
          </a:p>
          <a:p>
            <a:pPr lvl="1"/>
            <a:r>
              <a:rPr lang="en-US">
                <a:cs typeface="Consolas" panose="020B0609020204030204" pitchFamily="49" charset="0"/>
              </a:rPr>
              <a:t>what value is </a:t>
            </a:r>
            <a:r>
              <a:rPr lang="en-US">
                <a:latin typeface="+mj-lt"/>
                <a:cs typeface="Consolas" panose="020B0609020204030204" pitchFamily="49" charset="0"/>
              </a:rPr>
              <a:t>baz</a:t>
            </a:r>
            <a:r>
              <a:rPr lang="en-US">
                <a:cs typeface="Consolas" panose="020B0609020204030204" pitchFamily="49" charset="0"/>
              </a:rPr>
              <a:t>?</a:t>
            </a:r>
          </a:p>
          <a:p>
            <a:endParaRPr lang="en-US" sz="1400"/>
          </a:p>
        </p:txBody>
      </p:sp>
      <p:sp>
        <p:nvSpPr>
          <p:cNvPr id="2" name="TextBox 1">
            <a:extLst>
              <a:ext uri="{FF2B5EF4-FFF2-40B4-BE49-F238E27FC236}">
                <a16:creationId xmlns:a16="http://schemas.microsoft.com/office/drawing/2014/main" id="{592185AC-37E4-ABA9-6439-E4CFE282CE88}"/>
              </a:ext>
            </a:extLst>
          </p:cNvPr>
          <p:cNvSpPr txBox="1"/>
          <p:nvPr/>
        </p:nvSpPr>
        <p:spPr>
          <a:xfrm>
            <a:off x="4995225" y="1670566"/>
            <a:ext cx="3428267" cy="646331"/>
          </a:xfrm>
          <a:prstGeom prst="rect">
            <a:avLst/>
          </a:prstGeom>
          <a:noFill/>
        </p:spPr>
        <p:txBody>
          <a:bodyPr wrap="square" rtlCol="0">
            <a:spAutoFit/>
          </a:bodyPr>
          <a:lstStyle/>
          <a:p>
            <a:r>
              <a:rPr lang="en-US" b="1">
                <a:solidFill>
                  <a:srgbClr val="F80B8D"/>
                </a:solidFill>
              </a:rPr>
              <a:t>NOTE: </a:t>
            </a:r>
            <a:r>
              <a:rPr lang="en-US" sz="1800">
                <a:solidFill>
                  <a:srgbClr val="F80B8D"/>
                </a:solidFill>
              </a:rPr>
              <a:t>slides are linked on homepage calendar</a:t>
            </a:r>
            <a:endParaRPr lang="en-US">
              <a:solidFill>
                <a:srgbClr val="F80B8D"/>
              </a:solidFill>
            </a:endParaRPr>
          </a:p>
        </p:txBody>
      </p:sp>
      <p:sp>
        <p:nvSpPr>
          <p:cNvPr id="3" name="TextBox 2">
            <a:extLst>
              <a:ext uri="{FF2B5EF4-FFF2-40B4-BE49-F238E27FC236}">
                <a16:creationId xmlns:a16="http://schemas.microsoft.com/office/drawing/2014/main" id="{0C523ABE-4CE9-0094-3C50-BC2A97DBEA2E}"/>
              </a:ext>
            </a:extLst>
          </p:cNvPr>
          <p:cNvSpPr txBox="1"/>
          <p:nvPr/>
        </p:nvSpPr>
        <p:spPr>
          <a:xfrm>
            <a:off x="4995225" y="327295"/>
            <a:ext cx="3920764" cy="646331"/>
          </a:xfrm>
          <a:prstGeom prst="rect">
            <a:avLst/>
          </a:prstGeom>
          <a:noFill/>
        </p:spPr>
        <p:txBody>
          <a:bodyPr wrap="square" rtlCol="0">
            <a:spAutoFit/>
          </a:bodyPr>
          <a:lstStyle/>
          <a:p>
            <a:r>
              <a:rPr lang="en-US" b="1">
                <a:solidFill>
                  <a:srgbClr val="F80B8D"/>
                </a:solidFill>
              </a:rPr>
              <a:t>NOTE: </a:t>
            </a:r>
            <a:r>
              <a:rPr lang="en-US" sz="1800">
                <a:solidFill>
                  <a:srgbClr val="F80B8D"/>
                </a:solidFill>
              </a:rPr>
              <a:t>if you need to add the class, see me after class!</a:t>
            </a:r>
            <a:endParaRPr lang="en-US">
              <a:solidFill>
                <a:srgbClr val="F80B8D"/>
              </a:solidFill>
            </a:endParaRPr>
          </a:p>
        </p:txBody>
      </p:sp>
    </p:spTree>
    <p:extLst>
      <p:ext uri="{BB962C8B-B14F-4D97-AF65-F5344CB8AC3E}">
        <p14:creationId xmlns:p14="http://schemas.microsoft.com/office/powerpoint/2010/main" val="4055353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6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88802A-E9E4-BF57-6C15-D71911BEF355}"/>
              </a:ext>
            </a:extLst>
          </p:cNvPr>
          <p:cNvSpPr>
            <a:spLocks noGrp="1"/>
          </p:cNvSpPr>
          <p:nvPr>
            <p:ph type="title"/>
          </p:nvPr>
        </p:nvSpPr>
        <p:spPr/>
        <p:txBody>
          <a:bodyPr/>
          <a:lstStyle/>
          <a:p>
            <a:r>
              <a:rPr lang="en-US"/>
              <a:t>tips and tricks</a:t>
            </a:r>
          </a:p>
        </p:txBody>
      </p:sp>
    </p:spTree>
    <p:extLst>
      <p:ext uri="{BB962C8B-B14F-4D97-AF65-F5344CB8AC3E}">
        <p14:creationId xmlns:p14="http://schemas.microsoft.com/office/powerpoint/2010/main" val="1726540473"/>
      </p:ext>
    </p:extLst>
  </p:cSld>
  <p:clrMapOvr>
    <a:masterClrMapping/>
  </p:clrMapOvr>
</p:sld>
</file>

<file path=ppt/slides/slide6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EF0B3-F4C9-6103-E652-D5B749E47A9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57FCBD0-EF70-5716-F900-DB3CF20175E4}"/>
              </a:ext>
            </a:extLst>
          </p:cNvPr>
          <p:cNvSpPr>
            <a:spLocks noGrp="1"/>
          </p:cNvSpPr>
          <p:nvPr>
            <p:ph type="title"/>
          </p:nvPr>
        </p:nvSpPr>
        <p:spPr/>
        <p:txBody>
          <a:bodyPr/>
          <a:lstStyle/>
          <a:p>
            <a:r>
              <a:rPr lang="en-US"/>
              <a:t>how to email jim for help on homework</a:t>
            </a:r>
          </a:p>
        </p:txBody>
      </p:sp>
    </p:spTree>
    <p:extLst>
      <p:ext uri="{BB962C8B-B14F-4D97-AF65-F5344CB8AC3E}">
        <p14:creationId xmlns:p14="http://schemas.microsoft.com/office/powerpoint/2010/main" val="3847482058"/>
      </p:ext>
    </p:extLst>
  </p:cSld>
  <p:clrMapOvr>
    <a:masterClrMapping/>
  </p:clrMapOvr>
</p:sld>
</file>

<file path=ppt/slides/slide6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CF783E-4339-E390-BB37-71A0DCF36695}"/>
              </a:ext>
            </a:extLst>
          </p:cNvPr>
          <p:cNvSpPr>
            <a:spLocks noGrp="1"/>
          </p:cNvSpPr>
          <p:nvPr>
            <p:ph type="title"/>
          </p:nvPr>
        </p:nvSpPr>
        <p:spPr/>
        <p:txBody>
          <a:bodyPr/>
          <a:lstStyle/>
          <a:p>
            <a:r>
              <a:rPr lang="en-US"/>
              <a:t>first, how to email not-jim</a:t>
            </a:r>
          </a:p>
        </p:txBody>
      </p:sp>
      <p:sp>
        <p:nvSpPr>
          <p:cNvPr id="4" name="Content Placeholder 3">
            <a:extLst>
              <a:ext uri="{FF2B5EF4-FFF2-40B4-BE49-F238E27FC236}">
                <a16:creationId xmlns:a16="http://schemas.microsoft.com/office/drawing/2014/main" id="{E19B0679-16DC-214D-42A1-08BB36FB3D6B}"/>
              </a:ext>
            </a:extLst>
          </p:cNvPr>
          <p:cNvSpPr>
            <a:spLocks noGrp="1"/>
          </p:cNvSpPr>
          <p:nvPr>
            <p:ph sz="quarter" idx="10"/>
          </p:nvPr>
        </p:nvSpPr>
        <p:spPr>
          <a:xfrm>
            <a:off x="457200" y="963337"/>
            <a:ext cx="8686800" cy="4080271"/>
          </a:xfrm>
        </p:spPr>
        <p:txBody>
          <a:bodyPr>
            <a:normAutofit/>
          </a:bodyPr>
          <a:lstStyle/>
          <a:p>
            <a:r>
              <a:rPr lang="en-US" b="1"/>
              <a:t>Subject Line: </a:t>
            </a:r>
            <a:r>
              <a:rPr lang="en-US"/>
              <a:t>Question Regarding The Reading</a:t>
            </a:r>
          </a:p>
          <a:p>
            <a:r>
              <a:rPr lang="en-US" b="1"/>
              <a:t>Email Body:</a:t>
            </a:r>
          </a:p>
          <a:p>
            <a:pPr lvl="1"/>
            <a:r>
              <a:rPr lang="en-US"/>
              <a:t>Dearest Herr Dr. Prof. Professorson Ph.D Exxquire et al.,</a:t>
            </a:r>
          </a:p>
          <a:p>
            <a:pPr lvl="1"/>
            <a:r>
              <a:rPr lang="en-US"/>
              <a:t>I hope you are having a wonderful afternoon; that the morning sun is shining upon you this fine evening, and that you do not feel the quiet midnight whisper of the all-consuming Void chilling you to your hollow core.</a:t>
            </a:r>
          </a:p>
          <a:p>
            <a:pPr lvl="1"/>
            <a:r>
              <a:rPr lang="en-US"/>
              <a:t>I am writing because I am unclear on the assigned reading for tomorrow. Your very, very helpful syllabus says to read pages 300 – 500 of Beowulf, however the book is—it seems to me, your student—far fewer than 500 pages long.</a:t>
            </a:r>
          </a:p>
          <a:p>
            <a:pPr lvl="1"/>
            <a:r>
              <a:rPr lang="en-US"/>
              <a:t>Thank you so much for your help with this matter. I appreciate the time you take in supporting me in my studies—I could not do this without you.</a:t>
            </a:r>
          </a:p>
          <a:p>
            <a:pPr lvl="1"/>
            <a:r>
              <a:rPr lang="en-US"/>
              <a:t>Most Sincerefully Yours,</a:t>
            </a:r>
          </a:p>
          <a:p>
            <a:pPr lvl="1"/>
            <a:r>
              <a:rPr lang="en-US"/>
              <a:t>James Marvelo Bern</a:t>
            </a:r>
          </a:p>
          <a:p>
            <a:pPr lvl="1"/>
            <a:r>
              <a:rPr lang="en-US"/>
              <a:t>Cabrillo Middle School '08</a:t>
            </a:r>
          </a:p>
        </p:txBody>
      </p:sp>
    </p:spTree>
    <p:extLst>
      <p:ext uri="{BB962C8B-B14F-4D97-AF65-F5344CB8AC3E}">
        <p14:creationId xmlns:p14="http://schemas.microsoft.com/office/powerpoint/2010/main" val="1119868705"/>
      </p:ext>
    </p:extLst>
  </p:cSld>
  <p:clrMapOvr>
    <a:masterClrMapping/>
  </p:clrMapOvr>
</p:sld>
</file>

<file path=ppt/slides/slide6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BDE51-08E4-BAF2-F1F3-B133633DEB8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2B880C9-F29C-9070-0BA2-60BD3FCD7730}"/>
              </a:ext>
            </a:extLst>
          </p:cNvPr>
          <p:cNvSpPr>
            <a:spLocks noGrp="1"/>
          </p:cNvSpPr>
          <p:nvPr>
            <p:ph type="title"/>
          </p:nvPr>
        </p:nvSpPr>
        <p:spPr/>
        <p:txBody>
          <a:bodyPr/>
          <a:lstStyle/>
          <a:p>
            <a:r>
              <a:rPr lang="en-US"/>
              <a:t>how to email jim</a:t>
            </a:r>
          </a:p>
        </p:txBody>
      </p:sp>
      <p:sp>
        <p:nvSpPr>
          <p:cNvPr id="4" name="Content Placeholder 3">
            <a:extLst>
              <a:ext uri="{FF2B5EF4-FFF2-40B4-BE49-F238E27FC236}">
                <a16:creationId xmlns:a16="http://schemas.microsoft.com/office/drawing/2014/main" id="{75C79C34-7969-4528-E66E-221231BB2841}"/>
              </a:ext>
            </a:extLst>
          </p:cNvPr>
          <p:cNvSpPr>
            <a:spLocks noGrp="1"/>
          </p:cNvSpPr>
          <p:nvPr>
            <p:ph sz="quarter" idx="10"/>
          </p:nvPr>
        </p:nvSpPr>
        <p:spPr/>
        <p:txBody>
          <a:bodyPr/>
          <a:lstStyle/>
          <a:p>
            <a:r>
              <a:rPr lang="en-US"/>
              <a:t>reply to CS136 Student Thread, and include</a:t>
            </a:r>
          </a:p>
          <a:p>
            <a:pPr lvl="1"/>
            <a:r>
              <a:rPr lang="en-US"/>
              <a:t>one sentence description of problem</a:t>
            </a:r>
          </a:p>
          <a:p>
            <a:pPr lvl="1"/>
            <a:r>
              <a:rPr lang="en-US"/>
              <a:t>screenshot if relavent</a:t>
            </a:r>
          </a:p>
          <a:p>
            <a:pPr lvl="1"/>
            <a:r>
              <a:rPr lang="en-US"/>
              <a:t>your full source code HWXX.java as attachment</a:t>
            </a:r>
          </a:p>
          <a:p>
            <a:pPr lvl="1"/>
            <a:r>
              <a:rPr lang="en-US"/>
              <a:t>an emoji that reflects your emotional state</a:t>
            </a:r>
          </a:p>
        </p:txBody>
      </p:sp>
    </p:spTree>
    <p:extLst>
      <p:ext uri="{BB962C8B-B14F-4D97-AF65-F5344CB8AC3E}">
        <p14:creationId xmlns:p14="http://schemas.microsoft.com/office/powerpoint/2010/main" val="2563747205"/>
      </p:ext>
    </p:extLst>
  </p:cSld>
  <p:clrMapOvr>
    <a:masterClrMapping/>
  </p:clrMapOvr>
</p:sld>
</file>

<file path=ppt/slides/slide6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83B67-914B-A65C-7B4E-92379D3F074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E2C5DD3-F25C-32E9-B6E2-C351523D4941}"/>
              </a:ext>
            </a:extLst>
          </p:cNvPr>
          <p:cNvSpPr>
            <a:spLocks noGrp="1"/>
          </p:cNvSpPr>
          <p:nvPr>
            <p:ph type="title"/>
          </p:nvPr>
        </p:nvSpPr>
        <p:spPr/>
        <p:txBody>
          <a:bodyPr/>
          <a:lstStyle/>
          <a:p>
            <a:r>
              <a:rPr lang="en-US"/>
              <a:t>example</a:t>
            </a:r>
          </a:p>
        </p:txBody>
      </p:sp>
      <p:sp>
        <p:nvSpPr>
          <p:cNvPr id="4" name="Content Placeholder 3">
            <a:extLst>
              <a:ext uri="{FF2B5EF4-FFF2-40B4-BE49-F238E27FC236}">
                <a16:creationId xmlns:a16="http://schemas.microsoft.com/office/drawing/2014/main" id="{FCA4D3B2-3B34-A267-65B2-8F1A56E1ED13}"/>
              </a:ext>
            </a:extLst>
          </p:cNvPr>
          <p:cNvSpPr>
            <a:spLocks noGrp="1"/>
          </p:cNvSpPr>
          <p:nvPr>
            <p:ph sz="quarter" idx="10"/>
          </p:nvPr>
        </p:nvSpPr>
        <p:spPr/>
        <p:txBody>
          <a:bodyPr/>
          <a:lstStyle/>
          <a:p>
            <a:r>
              <a:rPr lang="en-US"/>
              <a:t>brew won't install 😡</a:t>
            </a:r>
            <a:endParaRPr lang="en-US" b="1"/>
          </a:p>
        </p:txBody>
      </p:sp>
      <p:pic>
        <p:nvPicPr>
          <p:cNvPr id="2" name="Picture 1">
            <a:extLst>
              <a:ext uri="{FF2B5EF4-FFF2-40B4-BE49-F238E27FC236}">
                <a16:creationId xmlns:a16="http://schemas.microsoft.com/office/drawing/2014/main" id="{BEFB44DF-4AA0-DEF4-C9E9-A875BCEEC35B}"/>
              </a:ext>
            </a:extLst>
          </p:cNvPr>
          <p:cNvPicPr>
            <a:picLocks noChangeAspect="1"/>
          </p:cNvPicPr>
          <p:nvPr/>
        </p:nvPicPr>
        <p:blipFill>
          <a:blip r:embed="rId2"/>
          <a:stretch>
            <a:fillRect/>
          </a:stretch>
        </p:blipFill>
        <p:spPr>
          <a:xfrm>
            <a:off x="457200" y="1268915"/>
            <a:ext cx="6562143" cy="2911248"/>
          </a:xfrm>
          <a:prstGeom prst="rect">
            <a:avLst/>
          </a:prstGeom>
        </p:spPr>
      </p:pic>
    </p:spTree>
    <p:extLst>
      <p:ext uri="{BB962C8B-B14F-4D97-AF65-F5344CB8AC3E}">
        <p14:creationId xmlns:p14="http://schemas.microsoft.com/office/powerpoint/2010/main" val="172583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EA628-9CF8-D476-1ACB-7BBC4B4D071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80F28B0-DF8B-2DA2-6C26-4A27BFA33624}"/>
              </a:ext>
            </a:extLst>
          </p:cNvPr>
          <p:cNvSpPr>
            <a:spLocks noGrp="1"/>
          </p:cNvSpPr>
          <p:nvPr>
            <p:ph type="title"/>
          </p:nvPr>
        </p:nvSpPr>
        <p:spPr/>
        <p:txBody>
          <a:bodyPr/>
          <a:lstStyle/>
          <a:p>
            <a:r>
              <a:rPr lang="en-US"/>
              <a:t>example</a:t>
            </a:r>
          </a:p>
        </p:txBody>
      </p:sp>
      <p:sp>
        <p:nvSpPr>
          <p:cNvPr id="4" name="Content Placeholder 3">
            <a:extLst>
              <a:ext uri="{FF2B5EF4-FFF2-40B4-BE49-F238E27FC236}">
                <a16:creationId xmlns:a16="http://schemas.microsoft.com/office/drawing/2014/main" id="{5F31301D-5905-707F-6525-B1175D75AD85}"/>
              </a:ext>
            </a:extLst>
          </p:cNvPr>
          <p:cNvSpPr>
            <a:spLocks noGrp="1"/>
          </p:cNvSpPr>
          <p:nvPr>
            <p:ph sz="quarter" idx="10"/>
          </p:nvPr>
        </p:nvSpPr>
        <p:spPr/>
        <p:txBody>
          <a:bodyPr/>
          <a:lstStyle/>
          <a:p>
            <a:r>
              <a:rPr lang="en-US"/>
              <a:t>can't run tic tac toe 😢</a:t>
            </a:r>
          </a:p>
          <a:p>
            <a:endParaRPr lang="en-US" b="1"/>
          </a:p>
          <a:p>
            <a:pPr lvl="1"/>
            <a:endParaRPr lang="en-US"/>
          </a:p>
        </p:txBody>
      </p:sp>
      <p:pic>
        <p:nvPicPr>
          <p:cNvPr id="5" name="Picture 4">
            <a:extLst>
              <a:ext uri="{FF2B5EF4-FFF2-40B4-BE49-F238E27FC236}">
                <a16:creationId xmlns:a16="http://schemas.microsoft.com/office/drawing/2014/main" id="{578A5971-1EA3-42B8-1861-0FB3E4D522E7}"/>
              </a:ext>
            </a:extLst>
          </p:cNvPr>
          <p:cNvPicPr>
            <a:picLocks noChangeAspect="1"/>
          </p:cNvPicPr>
          <p:nvPr/>
        </p:nvPicPr>
        <p:blipFill>
          <a:blip r:embed="rId2"/>
          <a:stretch>
            <a:fillRect/>
          </a:stretch>
        </p:blipFill>
        <p:spPr>
          <a:xfrm>
            <a:off x="636680" y="1402435"/>
            <a:ext cx="5111675" cy="3486149"/>
          </a:xfrm>
          <a:prstGeom prst="rect">
            <a:avLst/>
          </a:prstGeom>
        </p:spPr>
      </p:pic>
    </p:spTree>
    <p:extLst>
      <p:ext uri="{BB962C8B-B14F-4D97-AF65-F5344CB8AC3E}">
        <p14:creationId xmlns:p14="http://schemas.microsoft.com/office/powerpoint/2010/main" val="3832701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2E4D24-6ADD-07BA-973E-B1DC483895B8}"/>
              </a:ext>
            </a:extLst>
          </p:cNvPr>
          <p:cNvSpPr>
            <a:spLocks noGrp="1"/>
          </p:cNvSpPr>
          <p:nvPr>
            <p:ph type="title"/>
          </p:nvPr>
        </p:nvSpPr>
        <p:spPr/>
        <p:txBody>
          <a:bodyPr/>
          <a:lstStyle/>
          <a:p>
            <a:r>
              <a:rPr lang="en-US"/>
              <a:t>this is the fastest way to get your question answered</a:t>
            </a:r>
            <a:br>
              <a:rPr lang="en-US"/>
            </a:br>
            <a:br>
              <a:rPr lang="en-US"/>
            </a:br>
            <a:r>
              <a:rPr lang="en-US"/>
              <a:t>i will not be offended i promise</a:t>
            </a:r>
            <a:br>
              <a:rPr lang="en-US"/>
            </a:br>
            <a:r>
              <a:rPr lang="en-US" sz="2000"/>
              <a:t>if i wanted people to call me doctor i would have become a real doctor</a:t>
            </a:r>
            <a:endParaRPr lang="en-US"/>
          </a:p>
        </p:txBody>
      </p:sp>
    </p:spTree>
    <p:extLst>
      <p:ext uri="{BB962C8B-B14F-4D97-AF65-F5344CB8AC3E}">
        <p14:creationId xmlns:p14="http://schemas.microsoft.com/office/powerpoint/2010/main" val="2702978666"/>
      </p:ext>
    </p:extLst>
  </p:cSld>
  <p:clrMapOvr>
    <a:masterClrMapping/>
  </p:clrMapOvr>
</p:sld>
</file>

<file path=ppt/slides/slide6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B93E6-7923-91A5-394E-B91EB424B12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1E840CB-A44A-DDD1-D1C1-76FB3A766E9A}"/>
              </a:ext>
            </a:extLst>
          </p:cNvPr>
          <p:cNvSpPr>
            <a:spLocks noGrp="1"/>
          </p:cNvSpPr>
          <p:nvPr>
            <p:ph type="title"/>
          </p:nvPr>
        </p:nvSpPr>
        <p:spPr/>
        <p:txBody>
          <a:bodyPr/>
          <a:lstStyle/>
          <a:p>
            <a:r>
              <a:rPr lang="en-US"/>
              <a:t>how to do HW</a:t>
            </a:r>
          </a:p>
        </p:txBody>
      </p:sp>
    </p:spTree>
    <p:extLst>
      <p:ext uri="{BB962C8B-B14F-4D97-AF65-F5344CB8AC3E}">
        <p14:creationId xmlns:p14="http://schemas.microsoft.com/office/powerpoint/2010/main" val="2423287316"/>
      </p:ext>
    </p:extLst>
  </p:cSld>
  <p:clrMapOvr>
    <a:masterClrMapping/>
  </p:clrMapOvr>
</p:sld>
</file>

<file path=ppt/slides/slide6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632F77-0F8E-65EE-880A-BCF4E19E4F87}"/>
              </a:ext>
            </a:extLst>
          </p:cNvPr>
          <p:cNvSpPr>
            <a:spLocks noGrp="1"/>
          </p:cNvSpPr>
          <p:nvPr>
            <p:ph type="title"/>
          </p:nvPr>
        </p:nvSpPr>
        <p:spPr/>
        <p:txBody>
          <a:bodyPr/>
          <a:lstStyle/>
          <a:p>
            <a:r>
              <a:rPr lang="en-US"/>
              <a:t>implement one thing at a time</a:t>
            </a:r>
            <a:br>
              <a:rPr lang="en-US"/>
            </a:br>
            <a:br>
              <a:rPr lang="en-US"/>
            </a:br>
            <a:r>
              <a:rPr lang="en-US"/>
              <a:t>get it working perfectly</a:t>
            </a:r>
            <a:br>
              <a:rPr lang="en-US"/>
            </a:br>
            <a:br>
              <a:rPr lang="en-US"/>
            </a:br>
            <a:r>
              <a:rPr lang="en-US"/>
              <a:t>then, try the next thing</a:t>
            </a:r>
          </a:p>
        </p:txBody>
      </p:sp>
    </p:spTree>
    <p:extLst>
      <p:ext uri="{BB962C8B-B14F-4D97-AF65-F5344CB8AC3E}">
        <p14:creationId xmlns:p14="http://schemas.microsoft.com/office/powerpoint/2010/main" val="3054168912"/>
      </p:ext>
    </p:extLst>
  </p:cSld>
  <p:clrMapOvr>
    <a:masterClrMapping/>
  </p:clrMapOvr>
</p:sld>
</file>

<file path=ppt/slides/slide6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86761-2350-A854-FDB4-976AAE0A7F5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388ABB8-0129-FF3B-BE45-7E2F054E2FD2}"/>
              </a:ext>
            </a:extLst>
          </p:cNvPr>
          <p:cNvSpPr txBox="1"/>
          <p:nvPr/>
        </p:nvSpPr>
        <p:spPr>
          <a:xfrm>
            <a:off x="3429000" y="614362"/>
            <a:ext cx="5409472" cy="923330"/>
          </a:xfrm>
          <a:prstGeom prst="rect">
            <a:avLst/>
          </a:prstGeom>
          <a:noFill/>
        </p:spPr>
        <p:txBody>
          <a:bodyPr wrap="square" rtlCol="0">
            <a:spAutoFit/>
          </a:bodyPr>
          <a:lstStyle/>
          <a:p>
            <a:pPr algn="l"/>
            <a:r>
              <a:rPr lang="en-US" sz="2700">
                <a:solidFill>
                  <a:schemeClr val="accent4">
                    <a:lumMod val="50000"/>
                  </a:schemeClr>
                </a:solidFill>
                <a:latin typeface="Comic Sans MS" panose="030F0902030302020204" pitchFamily="66" charset="0"/>
              </a:rPr>
              <a:t>code up the entire homework without ever trying to run it</a:t>
            </a:r>
          </a:p>
        </p:txBody>
      </p:sp>
      <p:sp>
        <p:nvSpPr>
          <p:cNvPr id="6" name="TextBox 5">
            <a:extLst>
              <a:ext uri="{FF2B5EF4-FFF2-40B4-BE49-F238E27FC236}">
                <a16:creationId xmlns:a16="http://schemas.microsoft.com/office/drawing/2014/main" id="{63B26451-40E3-CBCB-5F2E-556F95A0D3D2}"/>
              </a:ext>
            </a:extLst>
          </p:cNvPr>
          <p:cNvSpPr txBox="1"/>
          <p:nvPr/>
        </p:nvSpPr>
        <p:spPr>
          <a:xfrm>
            <a:off x="2850356" y="3671888"/>
            <a:ext cx="6059376" cy="584775"/>
          </a:xfrm>
          <a:prstGeom prst="rect">
            <a:avLst/>
          </a:prstGeom>
          <a:noFill/>
        </p:spPr>
        <p:txBody>
          <a:bodyPr wrap="square" rtlCol="0">
            <a:spAutoFit/>
          </a:bodyPr>
          <a:lstStyle/>
          <a:p>
            <a:pPr algn="l"/>
            <a:r>
              <a:rPr lang="en-US" sz="3200">
                <a:solidFill>
                  <a:schemeClr val="accent4">
                    <a:lumMod val="50000"/>
                  </a:schemeClr>
                </a:solidFill>
                <a:latin typeface="Comic Sans MS" panose="030F0902030302020204" pitchFamily="66" charset="0"/>
              </a:rPr>
              <a:t>compile early; compile often</a:t>
            </a:r>
          </a:p>
        </p:txBody>
      </p:sp>
      <p:pic>
        <p:nvPicPr>
          <p:cNvPr id="5" name="Picture 2" descr="Shrek Alternative for drake meme : r/MemeTemplatesOfficial">
            <a:extLst>
              <a:ext uri="{FF2B5EF4-FFF2-40B4-BE49-F238E27FC236}">
                <a16:creationId xmlns:a16="http://schemas.microsoft.com/office/drawing/2014/main" id="{B440F31F-C4A2-4C9A-5833-37348AE445B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8889"/>
          <a:stretch/>
        </p:blipFill>
        <p:spPr bwMode="auto">
          <a:xfrm>
            <a:off x="0" y="0"/>
            <a:ext cx="26289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8109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6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F845E-E5D6-1325-4920-7EBE52BC76B0}"/>
            </a:ext>
          </a:extLst>
        </p:cNvPr>
        <p:cNvGrpSpPr/>
        <p:nvPr/>
      </p:nvGrpSpPr>
      <p:grpSpPr>
        <a:xfrm>
          <a:off x="0" y="0"/>
          <a:ext cx="0" cy="0"/>
          <a:chOff x="0" y="0"/>
          <a:chExt cx="0" cy="0"/>
        </a:xfrm>
      </p:grpSpPr>
      <p:pic>
        <p:nvPicPr>
          <p:cNvPr id="1026" name="Picture 2" descr="Finding Nemo-fish Are Friends Not Food - Etsy">
            <a:extLst>
              <a:ext uri="{FF2B5EF4-FFF2-40B4-BE49-F238E27FC236}">
                <a16:creationId xmlns:a16="http://schemas.microsoft.com/office/drawing/2014/main" id="{DA9C336B-1C3A-7322-3EB5-7C968A15AA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7619" y="5443"/>
            <a:ext cx="5616466" cy="51435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EBF7504-37FB-E496-1F68-582A4E48F250}"/>
              </a:ext>
            </a:extLst>
          </p:cNvPr>
          <p:cNvSpPr/>
          <p:nvPr/>
        </p:nvSpPr>
        <p:spPr>
          <a:xfrm>
            <a:off x="4963886" y="4321628"/>
            <a:ext cx="870857" cy="664029"/>
          </a:xfrm>
          <a:prstGeom prst="rect">
            <a:avLst/>
          </a:prstGeom>
          <a:solidFill>
            <a:schemeClr val="accent5">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 name="TextBox 3">
            <a:extLst>
              <a:ext uri="{FF2B5EF4-FFF2-40B4-BE49-F238E27FC236}">
                <a16:creationId xmlns:a16="http://schemas.microsoft.com/office/drawing/2014/main" id="{ABFABF24-AF80-227B-A3D4-8921185BDDC9}"/>
              </a:ext>
            </a:extLst>
          </p:cNvPr>
          <p:cNvSpPr txBox="1"/>
          <p:nvPr/>
        </p:nvSpPr>
        <p:spPr>
          <a:xfrm>
            <a:off x="2985386" y="-75570"/>
            <a:ext cx="2155371" cy="507831"/>
          </a:xfrm>
          <a:prstGeom prst="rect">
            <a:avLst/>
          </a:prstGeom>
          <a:noFill/>
        </p:spPr>
        <p:txBody>
          <a:bodyPr wrap="square" rtlCol="0">
            <a:spAutoFit/>
          </a:bodyPr>
          <a:lstStyle/>
          <a:p>
            <a:pPr algn="l"/>
            <a:r>
              <a:rPr lang="en-US" sz="2700">
                <a:solidFill>
                  <a:srgbClr val="FF0000"/>
                </a:solidFill>
                <a:latin typeface="Comic Sans MS" panose="030F0702030302020204" pitchFamily="66" charset="0"/>
              </a:rPr>
              <a:t>compilers</a:t>
            </a:r>
          </a:p>
        </p:txBody>
      </p:sp>
      <p:cxnSp>
        <p:nvCxnSpPr>
          <p:cNvPr id="6" name="Straight Connector 5">
            <a:extLst>
              <a:ext uri="{FF2B5EF4-FFF2-40B4-BE49-F238E27FC236}">
                <a16:creationId xmlns:a16="http://schemas.microsoft.com/office/drawing/2014/main" id="{16E6A179-0349-85E1-4339-F9D9AFC5DF63}"/>
              </a:ext>
            </a:extLst>
          </p:cNvPr>
          <p:cNvCxnSpPr/>
          <p:nvPr/>
        </p:nvCxnSpPr>
        <p:spPr>
          <a:xfrm flipV="1">
            <a:off x="3145972" y="555172"/>
            <a:ext cx="1299880" cy="3265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0870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6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073CE-273D-4A11-1ED1-E0AD0137DD3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3F015ED-903C-5D23-304F-AC114D561845}"/>
              </a:ext>
            </a:extLst>
          </p:cNvPr>
          <p:cNvSpPr>
            <a:spLocks noGrp="1"/>
          </p:cNvSpPr>
          <p:nvPr>
            <p:ph type="title"/>
          </p:nvPr>
        </p:nvSpPr>
        <p:spPr/>
        <p:txBody>
          <a:bodyPr/>
          <a:lstStyle/>
          <a:p>
            <a:r>
              <a:rPr lang="en-US" sz="8800"/>
              <a:t>operators</a:t>
            </a:r>
            <a:br>
              <a:rPr lang="en-US"/>
            </a:br>
            <a:r>
              <a:rPr lang="en-US" sz="2000"/>
              <a:t>(except for bitwise operators, which we'll do later maybe)</a:t>
            </a:r>
            <a:endParaRPr lang="en-US"/>
          </a:p>
        </p:txBody>
      </p:sp>
    </p:spTree>
    <p:extLst>
      <p:ext uri="{BB962C8B-B14F-4D97-AF65-F5344CB8AC3E}">
        <p14:creationId xmlns:p14="http://schemas.microsoft.com/office/powerpoint/2010/main" val="1955048158"/>
      </p:ext>
    </p:extLst>
  </p:cSld>
  <p:clrMapOvr>
    <a:masterClrMapping/>
  </p:clrMapOvr>
</p:sld>
</file>

<file path=ppt/slides/slide6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ED704-DD05-4139-3185-884044F8E35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8ED224E-1289-0E09-C104-C94DDC131567}"/>
              </a:ext>
            </a:extLst>
          </p:cNvPr>
          <p:cNvSpPr>
            <a:spLocks noGrp="1"/>
          </p:cNvSpPr>
          <p:nvPr>
            <p:ph type="title"/>
          </p:nvPr>
        </p:nvSpPr>
        <p:spPr/>
        <p:txBody>
          <a:bodyPr/>
          <a:lstStyle/>
          <a:p>
            <a:r>
              <a:rPr lang="en-US"/>
              <a:t>assignment operator</a:t>
            </a:r>
          </a:p>
        </p:txBody>
      </p:sp>
    </p:spTree>
    <p:extLst>
      <p:ext uri="{BB962C8B-B14F-4D97-AF65-F5344CB8AC3E}">
        <p14:creationId xmlns:p14="http://schemas.microsoft.com/office/powerpoint/2010/main" val="46671626"/>
      </p:ext>
    </p:extLst>
  </p:cSld>
  <p:clrMapOvr>
    <a:masterClrMapping/>
  </p:clrMapOvr>
</p:sld>
</file>

<file path=ppt/slides/slide6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FF003-4CD0-EADC-D90F-09345BB47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B77433-A169-A1D1-8F03-AA13EFDB74E8}"/>
              </a:ext>
            </a:extLst>
          </p:cNvPr>
          <p:cNvSpPr>
            <a:spLocks noGrp="1"/>
          </p:cNvSpPr>
          <p:nvPr>
            <p:ph type="title"/>
          </p:nvPr>
        </p:nvSpPr>
        <p:spPr/>
        <p:txBody>
          <a:bodyPr>
            <a:normAutofit/>
          </a:bodyPr>
          <a:lstStyle/>
          <a:p>
            <a:r>
              <a:rPr lang="en-US"/>
              <a:t>assignment operator</a:t>
            </a:r>
            <a:endParaRPr lang="en-US">
              <a:solidFill>
                <a:srgbClr val="F92672"/>
              </a:solidFill>
              <a:latin typeface="+mj-lt"/>
            </a:endParaRPr>
          </a:p>
        </p:txBody>
      </p:sp>
      <p:sp>
        <p:nvSpPr>
          <p:cNvPr id="3" name="Content Placeholder 2">
            <a:extLst>
              <a:ext uri="{FF2B5EF4-FFF2-40B4-BE49-F238E27FC236}">
                <a16:creationId xmlns:a16="http://schemas.microsoft.com/office/drawing/2014/main" id="{DB85DE79-88AD-EF45-FF4C-DCCAC257A8EE}"/>
              </a:ext>
            </a:extLst>
          </p:cNvPr>
          <p:cNvSpPr>
            <a:spLocks noGrp="1"/>
          </p:cNvSpPr>
          <p:nvPr>
            <p:ph sz="quarter" idx="10"/>
          </p:nvPr>
        </p:nvSpPr>
        <p:spPr/>
        <p:txBody>
          <a:bodyPr/>
          <a:lstStyle/>
          <a:p>
            <a:r>
              <a:rPr lang="en-US" b="1"/>
              <a:t>=</a:t>
            </a:r>
            <a:r>
              <a:rPr lang="en-US"/>
              <a:t> </a:t>
            </a:r>
            <a:r>
              <a:rPr lang="en-US" b="1"/>
              <a:t>assigns</a:t>
            </a:r>
            <a:r>
              <a:rPr lang="en-US"/>
              <a:t> the value on the right-hand side to</a:t>
            </a:r>
            <a:br>
              <a:rPr lang="en-US"/>
            </a:br>
            <a:r>
              <a:rPr lang="en-US"/>
              <a:t>the variable on the left-hand side</a:t>
            </a:r>
          </a:p>
          <a:p>
            <a:pPr lvl="1"/>
            <a:r>
              <a:rPr lang="en-US">
                <a:solidFill>
                  <a:srgbClr val="000080"/>
                </a:solidFill>
                <a:latin typeface="Consolas" panose="020B0609020204030204" pitchFamily="49" charset="0"/>
              </a:rPr>
              <a:t>int</a:t>
            </a:r>
            <a:r>
              <a:rPr lang="en-US">
                <a:solidFill>
                  <a:srgbClr val="12191C"/>
                </a:solidFill>
                <a:latin typeface="Consolas" panose="020B0609020204030204" pitchFamily="49" charset="0"/>
              </a:rPr>
              <a:t> </a:t>
            </a:r>
            <a:r>
              <a:rPr lang="en-US" err="1">
                <a:solidFill>
                  <a:srgbClr val="12191C"/>
                </a:solidFill>
                <a:latin typeface="Consolas" panose="020B0609020204030204" pitchFamily="49" charset="0"/>
              </a:rPr>
              <a:t>i</a:t>
            </a:r>
            <a:r>
              <a:rPr lang="en-US">
                <a:solidFill>
                  <a:srgbClr val="12191C"/>
                </a:solidFill>
                <a:latin typeface="Consolas" panose="020B0609020204030204" pitchFamily="49" charset="0"/>
              </a:rPr>
              <a:t> </a:t>
            </a:r>
            <a:r>
              <a:rPr lang="en-US">
                <a:latin typeface="Consolas" panose="020B0609020204030204" pitchFamily="49" charset="0"/>
              </a:rPr>
              <a:t>=</a:t>
            </a:r>
            <a:r>
              <a:rPr lang="en-US">
                <a:solidFill>
                  <a:srgbClr val="12191C"/>
                </a:solidFill>
                <a:latin typeface="Consolas" panose="020B0609020204030204" pitchFamily="49" charset="0"/>
              </a:rPr>
              <a:t> </a:t>
            </a:r>
            <a:r>
              <a:rPr lang="en-US">
                <a:solidFill>
                  <a:srgbClr val="02B5B5"/>
                </a:solidFill>
                <a:latin typeface="Consolas" panose="020B0609020204030204" pitchFamily="49" charset="0"/>
              </a:rPr>
              <a:t>0</a:t>
            </a:r>
            <a:r>
              <a:rPr lang="en-US">
                <a:solidFill>
                  <a:srgbClr val="12191C"/>
                </a:solidFill>
                <a:latin typeface="Consolas" panose="020B0609020204030204" pitchFamily="49" charset="0"/>
              </a:rPr>
              <a:t>; </a:t>
            </a:r>
            <a:r>
              <a:rPr lang="en-US">
                <a:solidFill>
                  <a:srgbClr val="007B00"/>
                </a:solidFill>
                <a:latin typeface="Consolas" panose="020B0609020204030204" pitchFamily="49" charset="0"/>
              </a:rPr>
              <a:t>// 0 ("int </a:t>
            </a:r>
            <a:r>
              <a:rPr lang="en-US" err="1">
                <a:solidFill>
                  <a:srgbClr val="007B00"/>
                </a:solidFill>
                <a:latin typeface="Consolas" panose="020B0609020204030204" pitchFamily="49" charset="0"/>
              </a:rPr>
              <a:t>i</a:t>
            </a:r>
            <a:r>
              <a:rPr lang="en-US">
                <a:solidFill>
                  <a:srgbClr val="007B00"/>
                </a:solidFill>
                <a:latin typeface="Consolas" panose="020B0609020204030204" pitchFamily="49" charset="0"/>
              </a:rPr>
              <a:t> now has the value 0")</a:t>
            </a:r>
          </a:p>
          <a:p>
            <a:pPr lvl="1"/>
            <a:r>
              <a:rPr lang="en-US">
                <a:solidFill>
                  <a:srgbClr val="000080"/>
                </a:solidFill>
                <a:effectLst/>
                <a:latin typeface="+mj-lt"/>
              </a:rPr>
              <a:t>double</a:t>
            </a:r>
            <a:r>
              <a:rPr lang="en-US">
                <a:latin typeface="+mj-lt"/>
              </a:rPr>
              <a:t> foo </a:t>
            </a:r>
            <a:r>
              <a:rPr lang="en-US">
                <a:effectLst/>
                <a:latin typeface="+mj-lt"/>
              </a:rPr>
              <a:t>=</a:t>
            </a:r>
            <a:r>
              <a:rPr lang="en-US">
                <a:latin typeface="+mj-lt"/>
              </a:rPr>
              <a:t> </a:t>
            </a:r>
            <a:r>
              <a:rPr lang="en-US" err="1">
                <a:effectLst/>
                <a:latin typeface="+mj-lt"/>
              </a:rPr>
              <a:t>coolFunction</a:t>
            </a:r>
            <a:r>
              <a:rPr lang="en-US">
                <a:latin typeface="+mj-lt"/>
              </a:rPr>
              <a:t>();</a:t>
            </a:r>
          </a:p>
          <a:p>
            <a:pPr lvl="1"/>
            <a:endParaRPr lang="en-US" b="1">
              <a:solidFill>
                <a:srgbClr val="F92672"/>
              </a:solidFill>
              <a:latin typeface="+mj-lt"/>
            </a:endParaRPr>
          </a:p>
          <a:p>
            <a:r>
              <a:rPr lang="en-US" sz="1600" b="1">
                <a:solidFill>
                  <a:srgbClr val="F92672"/>
                </a:solidFill>
                <a:latin typeface="+mj-lt"/>
              </a:rPr>
              <a:t>☠</a:t>
            </a:r>
            <a:r>
              <a:rPr lang="en-US" sz="1600" b="1"/>
              <a:t> the assignment operator returns the value it assigned</a:t>
            </a:r>
            <a:br>
              <a:rPr lang="en-US" sz="1600" b="1"/>
            </a:br>
            <a:r>
              <a:rPr lang="en-US" sz="1600" b="1"/>
              <a:t>this is usually pretty confusing</a:t>
            </a:r>
          </a:p>
          <a:p>
            <a:pPr lvl="1"/>
            <a:r>
              <a:rPr lang="en-US" sz="1600" err="1">
                <a:solidFill>
                  <a:srgbClr val="000080"/>
                </a:solidFill>
                <a:latin typeface="Consolas" panose="020B0609020204030204" pitchFamily="49" charset="0"/>
              </a:rPr>
              <a:t>boolean</a:t>
            </a:r>
            <a:r>
              <a:rPr lang="en-US" sz="1600">
                <a:solidFill>
                  <a:srgbClr val="12191C"/>
                </a:solidFill>
                <a:latin typeface="Consolas" panose="020B0609020204030204" pitchFamily="49" charset="0"/>
              </a:rPr>
              <a:t> b </a:t>
            </a:r>
            <a:r>
              <a:rPr lang="en-US" sz="1600">
                <a:latin typeface="Consolas" panose="020B0609020204030204" pitchFamily="49" charset="0"/>
              </a:rPr>
              <a:t>=</a:t>
            </a:r>
            <a:r>
              <a:rPr lang="en-US" sz="1600">
                <a:solidFill>
                  <a:srgbClr val="12191C"/>
                </a:solidFill>
                <a:latin typeface="Consolas" panose="020B0609020204030204" pitchFamily="49" charset="0"/>
              </a:rPr>
              <a:t> </a:t>
            </a:r>
            <a:r>
              <a:rPr lang="en-US" sz="1600">
                <a:solidFill>
                  <a:srgbClr val="02B5B5"/>
                </a:solidFill>
                <a:latin typeface="Consolas" panose="020B0609020204030204" pitchFamily="49" charset="0"/>
              </a:rPr>
              <a:t>false</a:t>
            </a:r>
            <a:r>
              <a:rPr lang="en-US" sz="1600">
                <a:solidFill>
                  <a:srgbClr val="12191C"/>
                </a:solidFill>
                <a:latin typeface="Consolas" panose="020B0609020204030204" pitchFamily="49" charset="0"/>
              </a:rPr>
              <a:t>;</a:t>
            </a:r>
          </a:p>
          <a:p>
            <a:pPr lvl="1"/>
            <a:r>
              <a:rPr lang="en-US" sz="1800" err="1">
                <a:solidFill>
                  <a:srgbClr val="000080"/>
                </a:solidFill>
                <a:latin typeface="Consolas" panose="020B0609020204030204" pitchFamily="49" charset="0"/>
              </a:rPr>
              <a:t>boolean</a:t>
            </a:r>
            <a:r>
              <a:rPr lang="en-US" sz="1800">
                <a:solidFill>
                  <a:srgbClr val="12191C"/>
                </a:solidFill>
                <a:latin typeface="Consolas" panose="020B0609020204030204" pitchFamily="49" charset="0"/>
              </a:rPr>
              <a:t> </a:t>
            </a:r>
            <a:r>
              <a:rPr lang="en-US">
                <a:solidFill>
                  <a:srgbClr val="12191C"/>
                </a:solidFill>
                <a:latin typeface="Consolas" panose="020B0609020204030204" pitchFamily="49" charset="0"/>
              </a:rPr>
              <a:t>c</a:t>
            </a:r>
            <a:r>
              <a:rPr lang="en-US" sz="1800">
                <a:solidFill>
                  <a:srgbClr val="12191C"/>
                </a:solidFill>
                <a:latin typeface="Consolas" panose="020B0609020204030204" pitchFamily="49" charset="0"/>
              </a:rPr>
              <a:t> </a:t>
            </a:r>
            <a:r>
              <a:rPr lang="en-US" sz="1800">
                <a:latin typeface="Consolas" panose="020B0609020204030204" pitchFamily="49" charset="0"/>
              </a:rPr>
              <a:t>=</a:t>
            </a:r>
            <a:r>
              <a:rPr lang="en-US" sz="1800">
                <a:solidFill>
                  <a:srgbClr val="12191C"/>
                </a:solidFill>
                <a:latin typeface="Consolas" panose="020B0609020204030204" pitchFamily="49" charset="0"/>
              </a:rPr>
              <a:t> (</a:t>
            </a:r>
            <a:r>
              <a:rPr lang="en-US">
                <a:solidFill>
                  <a:srgbClr val="12191C"/>
                </a:solidFill>
                <a:latin typeface="Consolas" panose="020B0609020204030204" pitchFamily="49" charset="0"/>
              </a:rPr>
              <a:t>b </a:t>
            </a:r>
            <a:r>
              <a:rPr lang="en-US">
                <a:effectLst/>
                <a:latin typeface="+mj-lt"/>
              </a:rPr>
              <a:t>=</a:t>
            </a:r>
            <a:r>
              <a:rPr lang="en-US">
                <a:solidFill>
                  <a:srgbClr val="F92672"/>
                </a:solidFill>
                <a:effectLst/>
                <a:latin typeface="+mj-lt"/>
              </a:rPr>
              <a:t> </a:t>
            </a:r>
            <a:r>
              <a:rPr lang="en-US">
                <a:latin typeface="Consolas" panose="020B0609020204030204" pitchFamily="49" charset="0"/>
              </a:rPr>
              <a:t>foo()</a:t>
            </a:r>
            <a:r>
              <a:rPr lang="en-US">
                <a:solidFill>
                  <a:srgbClr val="12191C"/>
                </a:solidFill>
                <a:latin typeface="Consolas" panose="020B0609020204030204" pitchFamily="49" charset="0"/>
              </a:rPr>
              <a:t>)</a:t>
            </a:r>
            <a:r>
              <a:rPr lang="en-US" sz="1800">
                <a:solidFill>
                  <a:srgbClr val="12191C"/>
                </a:solidFill>
                <a:latin typeface="Consolas" panose="020B0609020204030204" pitchFamily="49" charset="0"/>
              </a:rPr>
              <a:t>;</a:t>
            </a:r>
            <a:endParaRPr lang="en-US"/>
          </a:p>
          <a:p>
            <a:pPr lvl="1"/>
            <a:endParaRPr lang="en-US"/>
          </a:p>
          <a:p>
            <a:endParaRPr lang="en-US"/>
          </a:p>
        </p:txBody>
      </p:sp>
    </p:spTree>
    <p:extLst>
      <p:ext uri="{BB962C8B-B14F-4D97-AF65-F5344CB8AC3E}">
        <p14:creationId xmlns:p14="http://schemas.microsoft.com/office/powerpoint/2010/main" val="2501606037"/>
      </p:ext>
    </p:extLst>
  </p:cSld>
  <p:clrMapOvr>
    <a:masterClrMapping/>
  </p:clrMapOvr>
</p:sld>
</file>

<file path=ppt/slides/slide6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2204D-61CE-3B34-BB42-981A71B01AB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D71BD67-4D3A-240B-CEC5-A28C078FE1FD}"/>
              </a:ext>
            </a:extLst>
          </p:cNvPr>
          <p:cNvSpPr>
            <a:spLocks noGrp="1"/>
          </p:cNvSpPr>
          <p:nvPr>
            <p:ph type="title"/>
          </p:nvPr>
        </p:nvSpPr>
        <p:spPr/>
        <p:txBody>
          <a:bodyPr/>
          <a:lstStyle/>
          <a:p>
            <a:r>
              <a:rPr lang="en-US"/>
              <a:t>arithmetic operators</a:t>
            </a:r>
          </a:p>
        </p:txBody>
      </p:sp>
    </p:spTree>
    <p:extLst>
      <p:ext uri="{BB962C8B-B14F-4D97-AF65-F5344CB8AC3E}">
        <p14:creationId xmlns:p14="http://schemas.microsoft.com/office/powerpoint/2010/main" val="377732405"/>
      </p:ext>
    </p:extLst>
  </p:cSld>
  <p:clrMapOvr>
    <a:masterClrMapping/>
  </p:clrMapOvr>
</p:sld>
</file>

<file path=ppt/slides/slide6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BDD51-45D3-9B15-99DB-90B80245C3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D8ABA2-1EA4-2400-8F7A-E876D079DD2B}"/>
              </a:ext>
            </a:extLst>
          </p:cNvPr>
          <p:cNvSpPr>
            <a:spLocks noGrp="1"/>
          </p:cNvSpPr>
          <p:nvPr>
            <p:ph type="title"/>
          </p:nvPr>
        </p:nvSpPr>
        <p:spPr/>
        <p:txBody>
          <a:bodyPr>
            <a:normAutofit/>
          </a:bodyPr>
          <a:lstStyle/>
          <a:p>
            <a:r>
              <a:rPr lang="en-US"/>
              <a:t>basic arithmetic (number) operators</a:t>
            </a:r>
            <a:endParaRPr lang="en-US">
              <a:solidFill>
                <a:srgbClr val="F92672"/>
              </a:solidFill>
              <a:latin typeface="+mj-lt"/>
            </a:endParaRPr>
          </a:p>
        </p:txBody>
      </p:sp>
      <p:sp>
        <p:nvSpPr>
          <p:cNvPr id="3" name="Content Placeholder 2">
            <a:extLst>
              <a:ext uri="{FF2B5EF4-FFF2-40B4-BE49-F238E27FC236}">
                <a16:creationId xmlns:a16="http://schemas.microsoft.com/office/drawing/2014/main" id="{D31CFB06-FBDA-CAA7-BDDE-34FF7D52B261}"/>
              </a:ext>
            </a:extLst>
          </p:cNvPr>
          <p:cNvSpPr>
            <a:spLocks noGrp="1"/>
          </p:cNvSpPr>
          <p:nvPr>
            <p:ph sz="quarter" idx="10"/>
          </p:nvPr>
        </p:nvSpPr>
        <p:spPr/>
        <p:txBody>
          <a:bodyPr>
            <a:normAutofit/>
          </a:bodyPr>
          <a:lstStyle/>
          <a:p>
            <a:r>
              <a:rPr lang="en-US" b="1">
                <a:latin typeface="+mj-lt"/>
              </a:rPr>
              <a:t>+</a:t>
            </a:r>
            <a:r>
              <a:rPr lang="en-US"/>
              <a:t> </a:t>
            </a:r>
            <a:r>
              <a:rPr lang="en-US" b="1"/>
              <a:t>adds</a:t>
            </a:r>
            <a:r>
              <a:rPr lang="en-US"/>
              <a:t> two numbers</a:t>
            </a:r>
          </a:p>
          <a:p>
            <a:r>
              <a:rPr lang="en-US" b="1">
                <a:latin typeface="+mj-lt"/>
              </a:rPr>
              <a:t>-</a:t>
            </a:r>
            <a:r>
              <a:rPr lang="en-US"/>
              <a:t> </a:t>
            </a:r>
            <a:r>
              <a:rPr lang="en-US" b="1"/>
              <a:t>subtracts</a:t>
            </a:r>
            <a:r>
              <a:rPr lang="en-US"/>
              <a:t> two numbers</a:t>
            </a:r>
          </a:p>
          <a:p>
            <a:r>
              <a:rPr lang="en-US" b="1">
                <a:latin typeface="+mj-lt"/>
              </a:rPr>
              <a:t>*</a:t>
            </a:r>
            <a:r>
              <a:rPr lang="en-US"/>
              <a:t> </a:t>
            </a:r>
            <a:r>
              <a:rPr lang="en-US" b="1"/>
              <a:t>multiplies</a:t>
            </a:r>
            <a:r>
              <a:rPr lang="en-US"/>
              <a:t> two numbers</a:t>
            </a:r>
          </a:p>
          <a:p>
            <a:r>
              <a:rPr lang="en-US" b="1">
                <a:latin typeface="+mj-lt"/>
              </a:rPr>
              <a:t>/</a:t>
            </a:r>
            <a:r>
              <a:rPr lang="en-US"/>
              <a:t> </a:t>
            </a:r>
            <a:r>
              <a:rPr lang="en-US" b="1"/>
              <a:t>divides</a:t>
            </a:r>
            <a:r>
              <a:rPr lang="en-US"/>
              <a:t> two numbers</a:t>
            </a:r>
          </a:p>
          <a:p>
            <a:pPr lvl="1"/>
            <a:r>
              <a:rPr lang="en-US" b="1"/>
              <a:t>☠ an </a:t>
            </a:r>
            <a:r>
              <a:rPr lang="en-US" b="1">
                <a:solidFill>
                  <a:srgbClr val="000080"/>
                </a:solidFill>
                <a:latin typeface="Consolas" panose="020B0609020204030204" pitchFamily="49" charset="0"/>
              </a:rPr>
              <a:t>int</a:t>
            </a:r>
            <a:r>
              <a:rPr lang="en-US" b="1"/>
              <a:t> divided by an </a:t>
            </a:r>
            <a:r>
              <a:rPr lang="en-US" b="1">
                <a:latin typeface="Consolas" panose="020B0609020204030204" pitchFamily="49" charset="0"/>
              </a:rPr>
              <a:t>int</a:t>
            </a:r>
            <a:r>
              <a:rPr lang="en-US" b="1"/>
              <a:t> is an </a:t>
            </a:r>
            <a:r>
              <a:rPr lang="en-US" b="1">
                <a:latin typeface="Consolas" panose="020B0609020204030204" pitchFamily="49" charset="0"/>
              </a:rPr>
              <a:t>int</a:t>
            </a:r>
            <a:endParaRPr lang="en-US"/>
          </a:p>
          <a:p>
            <a:pPr lvl="2"/>
            <a:r>
              <a:rPr lang="en-US">
                <a:solidFill>
                  <a:srgbClr val="000080"/>
                </a:solidFill>
                <a:latin typeface="Consolas" panose="020B0609020204030204" pitchFamily="49" charset="0"/>
              </a:rPr>
              <a:t>int</a:t>
            </a:r>
            <a:r>
              <a:rPr lang="en-US">
                <a:latin typeface="Consolas" panose="020B0609020204030204" pitchFamily="49" charset="0"/>
              </a:rPr>
              <a:t> foo = </a:t>
            </a:r>
            <a:r>
              <a:rPr lang="en-US">
                <a:solidFill>
                  <a:srgbClr val="02B5B5"/>
                </a:solidFill>
                <a:latin typeface="Consolas" panose="020B0609020204030204" pitchFamily="49" charset="0"/>
              </a:rPr>
              <a:t>8</a:t>
            </a:r>
            <a:r>
              <a:rPr lang="en-US">
                <a:latin typeface="Consolas" panose="020B0609020204030204" pitchFamily="49" charset="0"/>
              </a:rPr>
              <a:t> / </a:t>
            </a:r>
            <a:r>
              <a:rPr lang="en-US">
                <a:solidFill>
                  <a:srgbClr val="02B5B5"/>
                </a:solidFill>
                <a:latin typeface="Consolas" panose="020B0609020204030204" pitchFamily="49" charset="0"/>
              </a:rPr>
              <a:t>2</a:t>
            </a:r>
            <a:r>
              <a:rPr lang="en-US">
                <a:latin typeface="Consolas" panose="020B0609020204030204" pitchFamily="49" charset="0"/>
              </a:rPr>
              <a:t>;</a:t>
            </a:r>
            <a:r>
              <a:rPr lang="en-US"/>
              <a:t> </a:t>
            </a:r>
            <a:r>
              <a:rPr lang="en-US">
                <a:solidFill>
                  <a:srgbClr val="007B00"/>
                </a:solidFill>
                <a:latin typeface="Consolas" panose="020B0609020204030204" pitchFamily="49" charset="0"/>
              </a:rPr>
              <a:t>// 4</a:t>
            </a:r>
          </a:p>
          <a:p>
            <a:pPr lvl="2"/>
            <a:r>
              <a:rPr lang="en-US">
                <a:solidFill>
                  <a:srgbClr val="000080"/>
                </a:solidFill>
                <a:latin typeface="Consolas" panose="020B0609020204030204" pitchFamily="49" charset="0"/>
              </a:rPr>
              <a:t>int</a:t>
            </a:r>
            <a:r>
              <a:rPr lang="en-US">
                <a:latin typeface="Consolas" panose="020B0609020204030204" pitchFamily="49" charset="0"/>
              </a:rPr>
              <a:t> bar = </a:t>
            </a:r>
            <a:r>
              <a:rPr lang="en-US">
                <a:solidFill>
                  <a:srgbClr val="02B5B5"/>
                </a:solidFill>
                <a:latin typeface="Consolas" panose="020B0609020204030204" pitchFamily="49" charset="0"/>
              </a:rPr>
              <a:t>7</a:t>
            </a:r>
            <a:r>
              <a:rPr lang="en-US">
                <a:latin typeface="Consolas" panose="020B0609020204030204" pitchFamily="49" charset="0"/>
              </a:rPr>
              <a:t> / </a:t>
            </a:r>
            <a:r>
              <a:rPr lang="en-US">
                <a:solidFill>
                  <a:srgbClr val="02B5B5"/>
                </a:solidFill>
                <a:latin typeface="Consolas" panose="020B0609020204030204" pitchFamily="49" charset="0"/>
              </a:rPr>
              <a:t>2</a:t>
            </a:r>
            <a:r>
              <a:rPr lang="en-US">
                <a:latin typeface="Consolas" panose="020B0609020204030204" pitchFamily="49" charset="0"/>
              </a:rPr>
              <a:t>;</a:t>
            </a:r>
            <a:r>
              <a:rPr lang="en-US"/>
              <a:t> </a:t>
            </a:r>
            <a:r>
              <a:rPr lang="en-US">
                <a:solidFill>
                  <a:srgbClr val="007B00"/>
                </a:solidFill>
                <a:latin typeface="Consolas" panose="020B0609020204030204" pitchFamily="49" charset="0"/>
              </a:rPr>
              <a:t>// 3</a:t>
            </a:r>
          </a:p>
          <a:p>
            <a:pPr lvl="3"/>
            <a:r>
              <a:rPr lang="en-US"/>
              <a:t>Java "throws away the remainder"</a:t>
            </a:r>
          </a:p>
          <a:p>
            <a:pPr lvl="3"/>
            <a:endParaRPr lang="en-US"/>
          </a:p>
          <a:p>
            <a:r>
              <a:rPr lang="en-US" b="1"/>
              <a:t>-</a:t>
            </a:r>
            <a:r>
              <a:rPr lang="en-US"/>
              <a:t> returns the </a:t>
            </a:r>
            <a:r>
              <a:rPr lang="en-US" b="1"/>
              <a:t>negative</a:t>
            </a:r>
            <a:r>
              <a:rPr lang="en-US"/>
              <a:t> of a number</a:t>
            </a:r>
          </a:p>
          <a:p>
            <a:pPr lvl="1"/>
            <a:r>
              <a:rPr lang="en-US">
                <a:solidFill>
                  <a:srgbClr val="000080"/>
                </a:solidFill>
                <a:latin typeface="Consolas" panose="020B0609020204030204" pitchFamily="49" charset="0"/>
              </a:rPr>
              <a:t>int</a:t>
            </a:r>
            <a:r>
              <a:rPr lang="en-US">
                <a:latin typeface="Consolas" panose="020B0609020204030204" pitchFamily="49" charset="0"/>
              </a:rPr>
              <a:t> bar = -</a:t>
            </a:r>
            <a:r>
              <a:rPr lang="en-US">
                <a:solidFill>
                  <a:srgbClr val="02B5B5"/>
                </a:solidFill>
                <a:latin typeface="Consolas" panose="020B0609020204030204" pitchFamily="49" charset="0"/>
              </a:rPr>
              <a:t>7</a:t>
            </a:r>
            <a:r>
              <a:rPr lang="en-US">
                <a:latin typeface="Consolas" panose="020B0609020204030204" pitchFamily="49" charset="0"/>
              </a:rPr>
              <a:t>;   </a:t>
            </a:r>
            <a:r>
              <a:rPr lang="en-US">
                <a:solidFill>
                  <a:srgbClr val="007B00"/>
                </a:solidFill>
                <a:latin typeface="Consolas" panose="020B0609020204030204" pitchFamily="49" charset="0"/>
              </a:rPr>
              <a:t>// -7 ("negative 7" or "minus 7")</a:t>
            </a:r>
          </a:p>
          <a:p>
            <a:pPr lvl="1"/>
            <a:r>
              <a:rPr lang="en-US">
                <a:solidFill>
                  <a:srgbClr val="000080"/>
                </a:solidFill>
                <a:latin typeface="Consolas" panose="020B0609020204030204" pitchFamily="49" charset="0"/>
              </a:rPr>
              <a:t>int</a:t>
            </a:r>
            <a:r>
              <a:rPr lang="en-US">
                <a:latin typeface="Consolas" panose="020B0609020204030204" pitchFamily="49" charset="0"/>
              </a:rPr>
              <a:t> </a:t>
            </a:r>
            <a:r>
              <a:rPr lang="en-US" err="1">
                <a:latin typeface="Consolas" panose="020B0609020204030204" pitchFamily="49" charset="0"/>
              </a:rPr>
              <a:t>baz</a:t>
            </a:r>
            <a:r>
              <a:rPr lang="en-US">
                <a:latin typeface="Consolas" panose="020B0609020204030204" pitchFamily="49" charset="0"/>
              </a:rPr>
              <a:t> = -bar; </a:t>
            </a:r>
            <a:r>
              <a:rPr lang="en-US">
                <a:solidFill>
                  <a:srgbClr val="007B00"/>
                </a:solidFill>
                <a:latin typeface="Consolas" panose="020B0609020204030204" pitchFamily="49" charset="0"/>
              </a:rPr>
              <a:t>// 7</a:t>
            </a:r>
          </a:p>
          <a:p>
            <a:pPr marL="0" indent="0">
              <a:buNone/>
            </a:pPr>
            <a:endParaRPr lang="en-US"/>
          </a:p>
        </p:txBody>
      </p:sp>
    </p:spTree>
    <p:extLst>
      <p:ext uri="{BB962C8B-B14F-4D97-AF65-F5344CB8AC3E}">
        <p14:creationId xmlns:p14="http://schemas.microsoft.com/office/powerpoint/2010/main" val="3064557344"/>
      </p:ext>
    </p:extLst>
  </p:cSld>
  <p:clrMapOvr>
    <a:masterClrMapping/>
  </p:clrMapOvr>
</p:sld>
</file>

<file path=ppt/slides/slide6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2777E-2FD9-F04D-03DD-B12B96F3F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86EAB5-7A44-82D9-E433-AE20AD736054}"/>
              </a:ext>
            </a:extLst>
          </p:cNvPr>
          <p:cNvSpPr>
            <a:spLocks noGrp="1"/>
          </p:cNvSpPr>
          <p:nvPr>
            <p:ph type="title"/>
          </p:nvPr>
        </p:nvSpPr>
        <p:spPr/>
        <p:txBody>
          <a:bodyPr>
            <a:normAutofit/>
          </a:bodyPr>
          <a:lstStyle/>
          <a:p>
            <a:r>
              <a:rPr lang="en-US"/>
              <a:t>modulo</a:t>
            </a:r>
            <a:endParaRPr lang="en-US">
              <a:solidFill>
                <a:srgbClr val="F92672"/>
              </a:solidFill>
              <a:latin typeface="+mj-lt"/>
            </a:endParaRPr>
          </a:p>
        </p:txBody>
      </p:sp>
      <p:sp>
        <p:nvSpPr>
          <p:cNvPr id="3" name="Content Placeholder 2">
            <a:extLst>
              <a:ext uri="{FF2B5EF4-FFF2-40B4-BE49-F238E27FC236}">
                <a16:creationId xmlns:a16="http://schemas.microsoft.com/office/drawing/2014/main" id="{DC235701-DE43-2730-B382-3DE060802FBD}"/>
              </a:ext>
            </a:extLst>
          </p:cNvPr>
          <p:cNvSpPr>
            <a:spLocks noGrp="1"/>
          </p:cNvSpPr>
          <p:nvPr>
            <p:ph sz="quarter" idx="10"/>
          </p:nvPr>
        </p:nvSpPr>
        <p:spPr/>
        <p:txBody>
          <a:bodyPr>
            <a:normAutofit/>
          </a:bodyPr>
          <a:lstStyle/>
          <a:p>
            <a:r>
              <a:rPr lang="en-US" sz="1800">
                <a:latin typeface="+mj-lt"/>
              </a:rPr>
              <a:t>x % y</a:t>
            </a:r>
            <a:r>
              <a:rPr lang="en-US" sz="1800"/>
              <a:t> returns the </a:t>
            </a:r>
            <a:r>
              <a:rPr lang="en-US" sz="1800" b="1"/>
              <a:t>remainder</a:t>
            </a:r>
            <a:r>
              <a:rPr lang="en-US" sz="1800"/>
              <a:t> of </a:t>
            </a:r>
            <a:r>
              <a:rPr lang="en-US">
                <a:latin typeface="Consolas" panose="020B0609020204030204" pitchFamily="49" charset="0"/>
                <a:cs typeface="Consolas" panose="020B0609020204030204" pitchFamily="49" charset="0"/>
              </a:rPr>
              <a:t>(</a:t>
            </a:r>
            <a:r>
              <a:rPr lang="en-US" sz="1800">
                <a:latin typeface="Consolas" panose="020B0609020204030204" pitchFamily="49" charset="0"/>
                <a:cs typeface="Consolas" panose="020B0609020204030204" pitchFamily="49" charset="0"/>
              </a:rPr>
              <a:t>x / y)</a:t>
            </a:r>
            <a:r>
              <a:rPr lang="en-US" sz="1800">
                <a:latin typeface="+mj-lt"/>
              </a:rPr>
              <a:t> </a:t>
            </a:r>
            <a:r>
              <a:rPr lang="en-US"/>
              <a:t>and is read "x </a:t>
            </a:r>
            <a:r>
              <a:rPr lang="en-US" b="1"/>
              <a:t>modulo</a:t>
            </a:r>
            <a:r>
              <a:rPr lang="en-US"/>
              <a:t> y"</a:t>
            </a:r>
            <a:endParaRPr lang="en-US" sz="1800"/>
          </a:p>
          <a:p>
            <a:pPr lvl="1"/>
            <a:r>
              <a:rPr lang="en-US">
                <a:solidFill>
                  <a:srgbClr val="000080"/>
                </a:solidFill>
                <a:effectLst/>
                <a:latin typeface="+mj-lt"/>
              </a:rPr>
              <a:t>int</a:t>
            </a:r>
            <a:r>
              <a:rPr lang="en-US">
                <a:latin typeface="+mj-lt"/>
              </a:rPr>
              <a:t> foo </a:t>
            </a:r>
            <a:r>
              <a:rPr lang="en-US">
                <a:effectLst/>
                <a:latin typeface="+mj-lt"/>
              </a:rPr>
              <a:t>=</a:t>
            </a:r>
            <a:r>
              <a:rPr lang="en-US">
                <a:latin typeface="+mj-lt"/>
              </a:rPr>
              <a:t> </a:t>
            </a:r>
            <a:r>
              <a:rPr lang="en-US">
                <a:solidFill>
                  <a:srgbClr val="02B5B5"/>
                </a:solidFill>
                <a:effectLst/>
                <a:latin typeface="+mj-lt"/>
              </a:rPr>
              <a:t>17</a:t>
            </a:r>
            <a:r>
              <a:rPr lang="en-US">
                <a:latin typeface="+mj-lt"/>
              </a:rPr>
              <a:t> </a:t>
            </a:r>
            <a:r>
              <a:rPr lang="en-US">
                <a:effectLst/>
                <a:latin typeface="+mj-lt"/>
              </a:rPr>
              <a:t>%</a:t>
            </a:r>
            <a:r>
              <a:rPr lang="en-US">
                <a:latin typeface="+mj-lt"/>
              </a:rPr>
              <a:t> </a:t>
            </a:r>
            <a:r>
              <a:rPr lang="en-US">
                <a:solidFill>
                  <a:srgbClr val="02B5B5"/>
                </a:solidFill>
                <a:effectLst/>
                <a:latin typeface="+mj-lt"/>
              </a:rPr>
              <a:t>5</a:t>
            </a:r>
            <a:r>
              <a:rPr lang="en-US">
                <a:latin typeface="+mj-lt"/>
              </a:rPr>
              <a:t>; </a:t>
            </a:r>
            <a:r>
              <a:rPr lang="en-US">
                <a:solidFill>
                  <a:srgbClr val="007B00"/>
                </a:solidFill>
                <a:effectLst/>
                <a:latin typeface="+mj-lt"/>
              </a:rPr>
              <a:t>// 2 ("17 divided by 5 is 3 remainder 2")</a:t>
            </a:r>
            <a:endParaRPr lang="en-US">
              <a:latin typeface="+mj-lt"/>
            </a:endParaRPr>
          </a:p>
          <a:p>
            <a:r>
              <a:rPr lang="en-US" b="1">
                <a:effectLst/>
              </a:rPr>
              <a:t>☠ </a:t>
            </a:r>
            <a:r>
              <a:rPr kumimoji="0" lang="en-US" sz="1800" b="1" u="none" strike="noStrike" kern="1200" cap="none" spc="0" normalizeH="0" baseline="0" noProof="0">
                <a:ln>
                  <a:noFill/>
                </a:ln>
                <a:effectLst/>
                <a:uLnTx/>
                <a:uFillTx/>
                <a:latin typeface="Consolas"/>
                <a:ea typeface="Segoe UI Emoji" panose="020B0502040204020203" pitchFamily="34" charset="0"/>
                <a:cs typeface="+mn-cs"/>
              </a:rPr>
              <a:t>%</a:t>
            </a:r>
            <a:r>
              <a:rPr lang="en-US" b="1">
                <a:effectLst/>
              </a:rPr>
              <a:t> probably doesn't do what you expect for negative numbers</a:t>
            </a:r>
            <a:r>
              <a:rPr lang="en-US" b="1"/>
              <a:t>;</a:t>
            </a:r>
            <a:br>
              <a:rPr lang="en-US" b="1"/>
            </a:br>
            <a:r>
              <a:rPr lang="en-US" b="1"/>
              <a:t>if </a:t>
            </a:r>
            <a:r>
              <a:rPr lang="en-US" b="1">
                <a:latin typeface="+mj-lt"/>
              </a:rPr>
              <a:t>x</a:t>
            </a:r>
            <a:r>
              <a:rPr lang="en-US" b="1"/>
              <a:t> can be negative, use </a:t>
            </a:r>
            <a:r>
              <a:rPr lang="en-US" b="1" err="1">
                <a:solidFill>
                  <a:srgbClr val="000080"/>
                </a:solidFill>
                <a:latin typeface="+mj-lt"/>
              </a:rPr>
              <a:t>MODULO</a:t>
            </a:r>
            <a:r>
              <a:rPr lang="en-US" b="1">
                <a:latin typeface="+mj-lt"/>
              </a:rPr>
              <a:t>(x, y)</a:t>
            </a:r>
            <a:r>
              <a:rPr lang="en-US" b="1"/>
              <a:t> instead</a:t>
            </a:r>
            <a:endParaRPr lang="en-US" b="1">
              <a:effectLst/>
            </a:endParaRPr>
          </a:p>
          <a:p>
            <a:pPr lvl="1"/>
            <a:r>
              <a:rPr lang="en-US" b="1">
                <a:solidFill>
                  <a:srgbClr val="0CB5B5"/>
                </a:solidFill>
                <a:effectLst/>
                <a:latin typeface="Consolas" panose="020B0609020204030204" pitchFamily="49" charset="0"/>
                <a:cs typeface="Consolas" panose="020B0609020204030204" pitchFamily="49" charset="0"/>
              </a:rPr>
              <a:t> 5</a:t>
            </a:r>
            <a:r>
              <a:rPr lang="en-US" b="1">
                <a:effectLst/>
                <a:latin typeface="Consolas" panose="020B0609020204030204" pitchFamily="49" charset="0"/>
                <a:cs typeface="Consolas" panose="020B0609020204030204" pitchFamily="49" charset="0"/>
              </a:rPr>
              <a:t> % </a:t>
            </a:r>
            <a:r>
              <a:rPr lang="en-US" b="1">
                <a:solidFill>
                  <a:srgbClr val="0CB5B5"/>
                </a:solidFill>
                <a:effectLst/>
                <a:latin typeface="Consolas" panose="020B0609020204030204" pitchFamily="49" charset="0"/>
                <a:cs typeface="Consolas" panose="020B0609020204030204" pitchFamily="49" charset="0"/>
              </a:rPr>
              <a:t>3</a:t>
            </a:r>
            <a:r>
              <a:rPr lang="en-US" b="1">
                <a:effectLst/>
                <a:latin typeface="Consolas" panose="020B0609020204030204" pitchFamily="49" charset="0"/>
                <a:cs typeface="Consolas" panose="020B0609020204030204" pitchFamily="49" charset="0"/>
              </a:rPr>
              <a:t> </a:t>
            </a:r>
            <a:r>
              <a:rPr lang="en-US" b="1">
                <a:solidFill>
                  <a:srgbClr val="007B00"/>
                </a:solidFill>
                <a:effectLst/>
                <a:latin typeface="Consolas" panose="020B0609020204030204" pitchFamily="49" charset="0"/>
                <a:cs typeface="Consolas" panose="020B0609020204030204" pitchFamily="49" charset="0"/>
              </a:rPr>
              <a:t>//  2</a:t>
            </a:r>
          </a:p>
          <a:p>
            <a:pPr lvl="1"/>
            <a:r>
              <a:rPr lang="en-US" b="1">
                <a:solidFill>
                  <a:srgbClr val="0CB5B5"/>
                </a:solidFill>
                <a:latin typeface="Consolas" panose="020B0609020204030204" pitchFamily="49" charset="0"/>
                <a:cs typeface="Consolas" panose="020B0609020204030204" pitchFamily="49" charset="0"/>
              </a:rPr>
              <a:t> 4</a:t>
            </a:r>
            <a:r>
              <a:rPr lang="en-US" b="1">
                <a:effectLst/>
                <a:latin typeface="Consolas" panose="020B0609020204030204" pitchFamily="49" charset="0"/>
                <a:cs typeface="Consolas" panose="020B0609020204030204" pitchFamily="49" charset="0"/>
              </a:rPr>
              <a:t> % </a:t>
            </a:r>
            <a:r>
              <a:rPr lang="en-US" b="1">
                <a:solidFill>
                  <a:srgbClr val="0CB5B5"/>
                </a:solidFill>
                <a:effectLst/>
                <a:latin typeface="Consolas" panose="020B0609020204030204" pitchFamily="49" charset="0"/>
                <a:cs typeface="Consolas" panose="020B0609020204030204" pitchFamily="49" charset="0"/>
              </a:rPr>
              <a:t>3</a:t>
            </a:r>
            <a:r>
              <a:rPr lang="en-US" b="1">
                <a:effectLst/>
                <a:latin typeface="Consolas" panose="020B0609020204030204" pitchFamily="49" charset="0"/>
                <a:cs typeface="Consolas" panose="020B0609020204030204" pitchFamily="49" charset="0"/>
              </a:rPr>
              <a:t> </a:t>
            </a:r>
            <a:r>
              <a:rPr lang="en-US" b="1">
                <a:solidFill>
                  <a:srgbClr val="007B00"/>
                </a:solidFill>
                <a:effectLst/>
                <a:latin typeface="Consolas" panose="020B0609020204030204" pitchFamily="49" charset="0"/>
                <a:cs typeface="Consolas" panose="020B0609020204030204" pitchFamily="49" charset="0"/>
              </a:rPr>
              <a:t>//  1</a:t>
            </a:r>
          </a:p>
          <a:p>
            <a:pPr lvl="1"/>
            <a:r>
              <a:rPr lang="en-US" b="1">
                <a:solidFill>
                  <a:srgbClr val="0CB5B5"/>
                </a:solidFill>
                <a:effectLst/>
                <a:latin typeface="Consolas" panose="020B0609020204030204" pitchFamily="49" charset="0"/>
                <a:cs typeface="Consolas" panose="020B0609020204030204" pitchFamily="49" charset="0"/>
              </a:rPr>
              <a:t> 3</a:t>
            </a:r>
            <a:r>
              <a:rPr lang="en-US" b="1">
                <a:effectLst/>
                <a:latin typeface="Consolas" panose="020B0609020204030204" pitchFamily="49" charset="0"/>
                <a:cs typeface="Consolas" panose="020B0609020204030204" pitchFamily="49" charset="0"/>
              </a:rPr>
              <a:t> % </a:t>
            </a:r>
            <a:r>
              <a:rPr lang="en-US" b="1">
                <a:solidFill>
                  <a:srgbClr val="0CB5B5"/>
                </a:solidFill>
                <a:effectLst/>
                <a:latin typeface="Consolas" panose="020B0609020204030204" pitchFamily="49" charset="0"/>
                <a:cs typeface="Consolas" panose="020B0609020204030204" pitchFamily="49" charset="0"/>
              </a:rPr>
              <a:t>3</a:t>
            </a:r>
            <a:r>
              <a:rPr lang="en-US" b="1">
                <a:effectLst/>
                <a:latin typeface="Consolas" panose="020B0609020204030204" pitchFamily="49" charset="0"/>
                <a:cs typeface="Consolas" panose="020B0609020204030204" pitchFamily="49" charset="0"/>
              </a:rPr>
              <a:t> </a:t>
            </a:r>
            <a:r>
              <a:rPr lang="en-US" b="1">
                <a:solidFill>
                  <a:srgbClr val="007B00"/>
                </a:solidFill>
                <a:effectLst/>
                <a:latin typeface="Consolas" panose="020B0609020204030204" pitchFamily="49" charset="0"/>
                <a:cs typeface="Consolas" panose="020B0609020204030204" pitchFamily="49" charset="0"/>
              </a:rPr>
              <a:t>//  0</a:t>
            </a:r>
            <a:r>
              <a:rPr lang="en-US" b="1">
                <a:solidFill>
                  <a:srgbClr val="0CB5B5"/>
                </a:solidFill>
                <a:effectLst/>
                <a:latin typeface="Consolas" panose="020B0609020204030204" pitchFamily="49" charset="0"/>
                <a:cs typeface="Consolas" panose="020B0609020204030204" pitchFamily="49" charset="0"/>
              </a:rPr>
              <a:t> </a:t>
            </a:r>
          </a:p>
          <a:p>
            <a:pPr lvl="1"/>
            <a:r>
              <a:rPr lang="en-US" b="1">
                <a:solidFill>
                  <a:srgbClr val="0CB5B5"/>
                </a:solidFill>
                <a:latin typeface="Consolas" panose="020B0609020204030204" pitchFamily="49" charset="0"/>
                <a:cs typeface="Consolas" panose="020B0609020204030204" pitchFamily="49" charset="0"/>
              </a:rPr>
              <a:t> </a:t>
            </a:r>
            <a:r>
              <a:rPr lang="en-US" b="1">
                <a:solidFill>
                  <a:srgbClr val="0CB5B5"/>
                </a:solidFill>
                <a:effectLst/>
                <a:latin typeface="Consolas" panose="020B0609020204030204" pitchFamily="49" charset="0"/>
                <a:cs typeface="Consolas" panose="020B0609020204030204" pitchFamily="49" charset="0"/>
              </a:rPr>
              <a:t>2</a:t>
            </a:r>
            <a:r>
              <a:rPr lang="en-US" b="1">
                <a:effectLst/>
                <a:latin typeface="Consolas" panose="020B0609020204030204" pitchFamily="49" charset="0"/>
                <a:cs typeface="Consolas" panose="020B0609020204030204" pitchFamily="49" charset="0"/>
              </a:rPr>
              <a:t> % </a:t>
            </a:r>
            <a:r>
              <a:rPr lang="en-US" b="1">
                <a:solidFill>
                  <a:srgbClr val="0CB5B5"/>
                </a:solidFill>
                <a:effectLst/>
                <a:latin typeface="Consolas" panose="020B0609020204030204" pitchFamily="49" charset="0"/>
                <a:cs typeface="Consolas" panose="020B0609020204030204" pitchFamily="49" charset="0"/>
              </a:rPr>
              <a:t>3</a:t>
            </a:r>
            <a:r>
              <a:rPr lang="en-US" b="1">
                <a:effectLst/>
                <a:latin typeface="Consolas" panose="020B0609020204030204" pitchFamily="49" charset="0"/>
                <a:cs typeface="Consolas" panose="020B0609020204030204" pitchFamily="49" charset="0"/>
              </a:rPr>
              <a:t> </a:t>
            </a:r>
            <a:r>
              <a:rPr lang="en-US" b="1">
                <a:solidFill>
                  <a:srgbClr val="007B00"/>
                </a:solidFill>
                <a:effectLst/>
                <a:latin typeface="Consolas" panose="020B0609020204030204" pitchFamily="49" charset="0"/>
                <a:cs typeface="Consolas" panose="020B0609020204030204" pitchFamily="49" charset="0"/>
              </a:rPr>
              <a:t>//  2</a:t>
            </a:r>
          </a:p>
          <a:p>
            <a:pPr lvl="1"/>
            <a:r>
              <a:rPr lang="en-US" b="1">
                <a:solidFill>
                  <a:srgbClr val="0CB5B5"/>
                </a:solidFill>
                <a:latin typeface="Consolas" panose="020B0609020204030204" pitchFamily="49" charset="0"/>
                <a:cs typeface="Consolas" panose="020B0609020204030204" pitchFamily="49" charset="0"/>
              </a:rPr>
              <a:t> 1</a:t>
            </a:r>
            <a:r>
              <a:rPr lang="en-US" b="1">
                <a:effectLst/>
                <a:latin typeface="Consolas" panose="020B0609020204030204" pitchFamily="49" charset="0"/>
                <a:cs typeface="Consolas" panose="020B0609020204030204" pitchFamily="49" charset="0"/>
              </a:rPr>
              <a:t> % </a:t>
            </a:r>
            <a:r>
              <a:rPr lang="en-US" b="1">
                <a:solidFill>
                  <a:srgbClr val="0CB5B5"/>
                </a:solidFill>
                <a:effectLst/>
                <a:latin typeface="Consolas" panose="020B0609020204030204" pitchFamily="49" charset="0"/>
                <a:cs typeface="Consolas" panose="020B0609020204030204" pitchFamily="49" charset="0"/>
              </a:rPr>
              <a:t>3</a:t>
            </a:r>
            <a:r>
              <a:rPr lang="en-US" b="1">
                <a:effectLst/>
                <a:latin typeface="Consolas" panose="020B0609020204030204" pitchFamily="49" charset="0"/>
                <a:cs typeface="Consolas" panose="020B0609020204030204" pitchFamily="49" charset="0"/>
              </a:rPr>
              <a:t> </a:t>
            </a:r>
            <a:r>
              <a:rPr lang="en-US" b="1">
                <a:solidFill>
                  <a:srgbClr val="007B00"/>
                </a:solidFill>
                <a:effectLst/>
                <a:latin typeface="Consolas" panose="020B0609020204030204" pitchFamily="49" charset="0"/>
                <a:cs typeface="Consolas" panose="020B0609020204030204" pitchFamily="49" charset="0"/>
              </a:rPr>
              <a:t>//  1</a:t>
            </a:r>
          </a:p>
          <a:p>
            <a:pPr lvl="1"/>
            <a:r>
              <a:rPr lang="en-US" b="1">
                <a:solidFill>
                  <a:srgbClr val="0CB5B5"/>
                </a:solidFill>
                <a:effectLst/>
                <a:latin typeface="Consolas" panose="020B0609020204030204" pitchFamily="49" charset="0"/>
                <a:cs typeface="Consolas" panose="020B0609020204030204" pitchFamily="49" charset="0"/>
              </a:rPr>
              <a:t> 0</a:t>
            </a:r>
            <a:r>
              <a:rPr lang="en-US" b="1">
                <a:effectLst/>
                <a:latin typeface="Consolas" panose="020B0609020204030204" pitchFamily="49" charset="0"/>
                <a:cs typeface="Consolas" panose="020B0609020204030204" pitchFamily="49" charset="0"/>
              </a:rPr>
              <a:t> % </a:t>
            </a:r>
            <a:r>
              <a:rPr lang="en-US" b="1">
                <a:solidFill>
                  <a:srgbClr val="0CB5B5"/>
                </a:solidFill>
                <a:effectLst/>
                <a:latin typeface="Consolas" panose="020B0609020204030204" pitchFamily="49" charset="0"/>
                <a:cs typeface="Consolas" panose="020B0609020204030204" pitchFamily="49" charset="0"/>
              </a:rPr>
              <a:t>3</a:t>
            </a:r>
            <a:r>
              <a:rPr lang="en-US" b="1">
                <a:effectLst/>
                <a:latin typeface="Consolas" panose="020B0609020204030204" pitchFamily="49" charset="0"/>
                <a:cs typeface="Consolas" panose="020B0609020204030204" pitchFamily="49" charset="0"/>
              </a:rPr>
              <a:t> </a:t>
            </a:r>
            <a:r>
              <a:rPr lang="en-US" b="1">
                <a:solidFill>
                  <a:srgbClr val="007B00"/>
                </a:solidFill>
                <a:effectLst/>
                <a:latin typeface="Consolas" panose="020B0609020204030204" pitchFamily="49" charset="0"/>
                <a:cs typeface="Consolas" panose="020B0609020204030204" pitchFamily="49" charset="0"/>
              </a:rPr>
              <a:t>//  0</a:t>
            </a:r>
            <a:endParaRPr lang="en-US" b="1">
              <a:effectLst/>
            </a:endParaRPr>
          </a:p>
          <a:p>
            <a:pPr lvl="1"/>
            <a:r>
              <a:rPr lang="en-US" b="1">
                <a:effectLst/>
                <a:latin typeface="Consolas" panose="020B0609020204030204" pitchFamily="49" charset="0"/>
                <a:cs typeface="Consolas" panose="020B0609020204030204" pitchFamily="49" charset="0"/>
              </a:rPr>
              <a:t>-</a:t>
            </a:r>
            <a:r>
              <a:rPr lang="en-US" b="1">
                <a:solidFill>
                  <a:srgbClr val="0CB5B5"/>
                </a:solidFill>
                <a:effectLst/>
                <a:latin typeface="Consolas" panose="020B0609020204030204" pitchFamily="49" charset="0"/>
                <a:cs typeface="Consolas" panose="020B0609020204030204" pitchFamily="49" charset="0"/>
              </a:rPr>
              <a:t>1</a:t>
            </a:r>
            <a:r>
              <a:rPr lang="en-US" b="1">
                <a:effectLst/>
                <a:latin typeface="Consolas" panose="020B0609020204030204" pitchFamily="49" charset="0"/>
                <a:cs typeface="Consolas" panose="020B0609020204030204" pitchFamily="49" charset="0"/>
              </a:rPr>
              <a:t> % </a:t>
            </a:r>
            <a:r>
              <a:rPr lang="en-US" b="1">
                <a:solidFill>
                  <a:srgbClr val="0CB5B5"/>
                </a:solidFill>
                <a:effectLst/>
                <a:latin typeface="Consolas" panose="020B0609020204030204" pitchFamily="49" charset="0"/>
                <a:cs typeface="Consolas" panose="020B0609020204030204" pitchFamily="49" charset="0"/>
              </a:rPr>
              <a:t>3</a:t>
            </a:r>
            <a:r>
              <a:rPr lang="en-US" b="1">
                <a:effectLst/>
                <a:latin typeface="Consolas" panose="020B0609020204030204" pitchFamily="49" charset="0"/>
                <a:cs typeface="Consolas" panose="020B0609020204030204" pitchFamily="49" charset="0"/>
              </a:rPr>
              <a:t> </a:t>
            </a:r>
            <a:r>
              <a:rPr lang="en-US" b="1">
                <a:solidFill>
                  <a:srgbClr val="007B00"/>
                </a:solidFill>
                <a:effectLst/>
                <a:latin typeface="Consolas" panose="020B0609020204030204" pitchFamily="49" charset="0"/>
                <a:cs typeface="Consolas" panose="020B0609020204030204" pitchFamily="49" charset="0"/>
              </a:rPr>
              <a:t>// -1 🤔</a:t>
            </a:r>
          </a:p>
          <a:p>
            <a:pPr lvl="1"/>
            <a:r>
              <a:rPr lang="en-US" b="1" err="1">
                <a:solidFill>
                  <a:srgbClr val="000080"/>
                </a:solidFill>
              </a:rPr>
              <a:t>MODULO</a:t>
            </a:r>
            <a:r>
              <a:rPr lang="en-US" b="1">
                <a:effectLst/>
                <a:latin typeface="Consolas" panose="020B0609020204030204" pitchFamily="49" charset="0"/>
                <a:cs typeface="Consolas" panose="020B0609020204030204" pitchFamily="49" charset="0"/>
              </a:rPr>
              <a:t>(-</a:t>
            </a:r>
            <a:r>
              <a:rPr lang="en-US" b="1">
                <a:solidFill>
                  <a:srgbClr val="0CB5B5"/>
                </a:solidFill>
                <a:effectLst/>
                <a:latin typeface="Consolas" panose="020B0609020204030204" pitchFamily="49" charset="0"/>
                <a:cs typeface="Consolas" panose="020B0609020204030204" pitchFamily="49" charset="0"/>
              </a:rPr>
              <a:t>1</a:t>
            </a:r>
            <a:r>
              <a:rPr lang="en-US" b="1">
                <a:effectLst/>
                <a:latin typeface="Consolas" panose="020B0609020204030204" pitchFamily="49" charset="0"/>
                <a:cs typeface="Consolas" panose="020B0609020204030204" pitchFamily="49" charset="0"/>
              </a:rPr>
              <a:t>, </a:t>
            </a:r>
            <a:r>
              <a:rPr lang="en-US" b="1">
                <a:solidFill>
                  <a:srgbClr val="0CB5B5"/>
                </a:solidFill>
                <a:effectLst/>
                <a:latin typeface="Consolas" panose="020B0609020204030204" pitchFamily="49" charset="0"/>
                <a:cs typeface="Consolas" panose="020B0609020204030204" pitchFamily="49" charset="0"/>
              </a:rPr>
              <a:t>3</a:t>
            </a:r>
            <a:r>
              <a:rPr lang="en-US" b="1">
                <a:effectLst/>
                <a:latin typeface="Consolas" panose="020B0609020204030204" pitchFamily="49" charset="0"/>
                <a:cs typeface="Consolas" panose="020B0609020204030204" pitchFamily="49" charset="0"/>
              </a:rPr>
              <a:t>) </a:t>
            </a:r>
            <a:r>
              <a:rPr lang="en-US" b="1">
                <a:solidFill>
                  <a:srgbClr val="007B00"/>
                </a:solidFill>
                <a:effectLst/>
                <a:latin typeface="Consolas" panose="020B0609020204030204" pitchFamily="49" charset="0"/>
                <a:cs typeface="Consolas" panose="020B0609020204030204" pitchFamily="49" charset="0"/>
              </a:rPr>
              <a:t>// 2 🙂👍</a:t>
            </a:r>
            <a:endParaRPr lang="en-US" b="1">
              <a:effectLst/>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184562676"/>
      </p:ext>
    </p:extLst>
  </p:cSld>
  <p:clrMapOvr>
    <a:masterClrMapping/>
  </p:clrMapOvr>
</p:sld>
</file>

<file path=ppt/slides/slide6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10C7F-C8C4-CB4A-FB26-E906B9CC722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D00B95-928D-9554-2845-BCF0960B44E8}"/>
              </a:ext>
            </a:extLst>
          </p:cNvPr>
          <p:cNvSpPr>
            <a:spLocks noGrp="1"/>
          </p:cNvSpPr>
          <p:nvPr>
            <p:ph type="title"/>
          </p:nvPr>
        </p:nvSpPr>
        <p:spPr/>
        <p:txBody>
          <a:bodyPr/>
          <a:lstStyle/>
          <a:p>
            <a:r>
              <a:rPr lang="en-US"/>
              <a:t>modulo</a:t>
            </a:r>
          </a:p>
        </p:txBody>
      </p:sp>
    </p:spTree>
    <p:extLst>
      <p:ext uri="{BB962C8B-B14F-4D97-AF65-F5344CB8AC3E}">
        <p14:creationId xmlns:p14="http://schemas.microsoft.com/office/powerpoint/2010/main" val="2661200272"/>
      </p:ext>
    </p:extLst>
  </p:cSld>
  <p:clrMapOvr>
    <a:masterClrMapping/>
  </p:clrMapOvr>
</p:sld>
</file>

<file path=ppt/slides/slide6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FDC2C-4931-81EB-2F36-367B68A3B66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8E0BDAD-0533-D601-0965-2305382C2B70}"/>
              </a:ext>
            </a:extLst>
          </p:cNvPr>
          <p:cNvSpPr txBox="1"/>
          <p:nvPr/>
        </p:nvSpPr>
        <p:spPr>
          <a:xfrm>
            <a:off x="4204855" y="2187029"/>
            <a:ext cx="734289" cy="769441"/>
          </a:xfrm>
          <a:prstGeom prst="rect">
            <a:avLst/>
          </a:prstGeom>
          <a:noFill/>
        </p:spPr>
        <p:txBody>
          <a:bodyPr wrap="square" rtlCol="0">
            <a:spAutoFit/>
          </a:bodyPr>
          <a:lstStyle/>
          <a:p>
            <a:r>
              <a:rPr lang="en-US" sz="4400">
                <a:solidFill>
                  <a:schemeClr val="accent1"/>
                </a:solidFill>
                <a:latin typeface="+mj-lt"/>
              </a:rPr>
              <a:t>7</a:t>
            </a:r>
          </a:p>
        </p:txBody>
      </p:sp>
      <p:cxnSp>
        <p:nvCxnSpPr>
          <p:cNvPr id="5" name="Straight Connector 4">
            <a:extLst>
              <a:ext uri="{FF2B5EF4-FFF2-40B4-BE49-F238E27FC236}">
                <a16:creationId xmlns:a16="http://schemas.microsoft.com/office/drawing/2014/main" id="{5BB61E88-7B9B-95E4-6FD3-377EF97226E5}"/>
              </a:ext>
            </a:extLst>
          </p:cNvPr>
          <p:cNvCxnSpPr>
            <a:cxnSpLocks/>
          </p:cNvCxnSpPr>
          <p:nvPr/>
        </p:nvCxnSpPr>
        <p:spPr>
          <a:xfrm>
            <a:off x="4135580" y="2231622"/>
            <a:ext cx="0" cy="615236"/>
          </a:xfrm>
          <a:prstGeom prst="line">
            <a:avLst/>
          </a:prstGeom>
          <a:ln w="57150">
            <a:solidFill>
              <a:schemeClr val="accent6"/>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F46D1A81-E3C9-3725-AF8A-961F345E6412}"/>
              </a:ext>
            </a:extLst>
          </p:cNvPr>
          <p:cNvCxnSpPr>
            <a:cxnSpLocks/>
          </p:cNvCxnSpPr>
          <p:nvPr/>
        </p:nvCxnSpPr>
        <p:spPr>
          <a:xfrm>
            <a:off x="4135580" y="2259332"/>
            <a:ext cx="678873" cy="0"/>
          </a:xfrm>
          <a:prstGeom prst="line">
            <a:avLst/>
          </a:prstGeom>
          <a:ln w="57150">
            <a:solidFill>
              <a:schemeClr val="accent6"/>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999BDA00-4B66-B893-249A-6B7204432D0A}"/>
              </a:ext>
            </a:extLst>
          </p:cNvPr>
          <p:cNvSpPr txBox="1"/>
          <p:nvPr/>
        </p:nvSpPr>
        <p:spPr>
          <a:xfrm>
            <a:off x="3595256" y="2187029"/>
            <a:ext cx="471048" cy="769441"/>
          </a:xfrm>
          <a:prstGeom prst="rect">
            <a:avLst/>
          </a:prstGeom>
          <a:noFill/>
        </p:spPr>
        <p:txBody>
          <a:bodyPr wrap="square" rtlCol="0">
            <a:spAutoFit/>
          </a:bodyPr>
          <a:lstStyle/>
          <a:p>
            <a:r>
              <a:rPr lang="en-US" sz="4400">
                <a:solidFill>
                  <a:schemeClr val="accent2"/>
                </a:solidFill>
                <a:latin typeface="+mj-lt"/>
              </a:rPr>
              <a:t>3</a:t>
            </a:r>
          </a:p>
        </p:txBody>
      </p:sp>
      <p:sp>
        <p:nvSpPr>
          <p:cNvPr id="13" name="TextBox 12">
            <a:extLst>
              <a:ext uri="{FF2B5EF4-FFF2-40B4-BE49-F238E27FC236}">
                <a16:creationId xmlns:a16="http://schemas.microsoft.com/office/drawing/2014/main" id="{127149CD-1F2C-0FB0-0D90-8D42AA1DC7F3}"/>
              </a:ext>
            </a:extLst>
          </p:cNvPr>
          <p:cNvSpPr txBox="1"/>
          <p:nvPr/>
        </p:nvSpPr>
        <p:spPr>
          <a:xfrm>
            <a:off x="4191000" y="1511187"/>
            <a:ext cx="1678746" cy="769441"/>
          </a:xfrm>
          <a:prstGeom prst="rect">
            <a:avLst/>
          </a:prstGeom>
          <a:noFill/>
        </p:spPr>
        <p:txBody>
          <a:bodyPr wrap="square" rtlCol="0">
            <a:spAutoFit/>
          </a:bodyPr>
          <a:lstStyle/>
          <a:p>
            <a:r>
              <a:rPr lang="en-US" sz="4400">
                <a:latin typeface="+mj-lt"/>
              </a:rPr>
              <a:t>2</a:t>
            </a:r>
            <a:endParaRPr lang="en-US" sz="4400">
              <a:solidFill>
                <a:schemeClr val="accent4"/>
              </a:solidFill>
              <a:latin typeface="+mj-lt"/>
            </a:endParaRPr>
          </a:p>
        </p:txBody>
      </p:sp>
      <p:sp>
        <p:nvSpPr>
          <p:cNvPr id="14" name="TextBox 13">
            <a:extLst>
              <a:ext uri="{FF2B5EF4-FFF2-40B4-BE49-F238E27FC236}">
                <a16:creationId xmlns:a16="http://schemas.microsoft.com/office/drawing/2014/main" id="{4A0C26C4-C31B-2347-D68A-276D26960B75}"/>
              </a:ext>
            </a:extLst>
          </p:cNvPr>
          <p:cNvSpPr txBox="1"/>
          <p:nvPr/>
        </p:nvSpPr>
        <p:spPr>
          <a:xfrm>
            <a:off x="4204854" y="3028773"/>
            <a:ext cx="734289" cy="769441"/>
          </a:xfrm>
          <a:prstGeom prst="rect">
            <a:avLst/>
          </a:prstGeom>
          <a:noFill/>
        </p:spPr>
        <p:txBody>
          <a:bodyPr wrap="square" rtlCol="0">
            <a:spAutoFit/>
          </a:bodyPr>
          <a:lstStyle/>
          <a:p>
            <a:r>
              <a:rPr lang="en-US" sz="4400">
                <a:latin typeface="+mj-lt"/>
              </a:rPr>
              <a:t>6</a:t>
            </a:r>
          </a:p>
        </p:txBody>
      </p:sp>
      <p:cxnSp>
        <p:nvCxnSpPr>
          <p:cNvPr id="16" name="Straight Connector 15">
            <a:extLst>
              <a:ext uri="{FF2B5EF4-FFF2-40B4-BE49-F238E27FC236}">
                <a16:creationId xmlns:a16="http://schemas.microsoft.com/office/drawing/2014/main" id="{B24117CA-6CF2-D80C-6740-F0A4181F5672}"/>
              </a:ext>
            </a:extLst>
          </p:cNvPr>
          <p:cNvCxnSpPr>
            <a:cxnSpLocks/>
          </p:cNvCxnSpPr>
          <p:nvPr/>
        </p:nvCxnSpPr>
        <p:spPr>
          <a:xfrm flipH="1">
            <a:off x="3924193" y="3798214"/>
            <a:ext cx="1120789" cy="0"/>
          </a:xfrm>
          <a:prstGeom prst="line">
            <a:avLst/>
          </a:prstGeom>
          <a:ln w="57150">
            <a:solidFill>
              <a:schemeClr val="accent6"/>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FF82E8A5-F65F-D7C1-2F81-BD6B589F36E4}"/>
              </a:ext>
            </a:extLst>
          </p:cNvPr>
          <p:cNvSpPr txBox="1"/>
          <p:nvPr/>
        </p:nvSpPr>
        <p:spPr>
          <a:xfrm>
            <a:off x="3879591" y="2669972"/>
            <a:ext cx="734289" cy="769441"/>
          </a:xfrm>
          <a:prstGeom prst="rect">
            <a:avLst/>
          </a:prstGeom>
          <a:noFill/>
        </p:spPr>
        <p:txBody>
          <a:bodyPr wrap="square" rtlCol="0">
            <a:spAutoFit/>
          </a:bodyPr>
          <a:lstStyle/>
          <a:p>
            <a:r>
              <a:rPr lang="en-US" sz="4400">
                <a:solidFill>
                  <a:schemeClr val="bg2"/>
                </a:solidFill>
                <a:latin typeface="+mj-lt"/>
              </a:rPr>
              <a:t>-</a:t>
            </a:r>
          </a:p>
        </p:txBody>
      </p:sp>
      <p:sp>
        <p:nvSpPr>
          <p:cNvPr id="23" name="TextBox 22">
            <a:extLst>
              <a:ext uri="{FF2B5EF4-FFF2-40B4-BE49-F238E27FC236}">
                <a16:creationId xmlns:a16="http://schemas.microsoft.com/office/drawing/2014/main" id="{2EBD14AE-4161-3716-814E-0B0272D7BC21}"/>
              </a:ext>
            </a:extLst>
          </p:cNvPr>
          <p:cNvSpPr txBox="1"/>
          <p:nvPr/>
        </p:nvSpPr>
        <p:spPr>
          <a:xfrm>
            <a:off x="4204854" y="3850052"/>
            <a:ext cx="734289" cy="769441"/>
          </a:xfrm>
          <a:prstGeom prst="rect">
            <a:avLst/>
          </a:prstGeom>
          <a:noFill/>
        </p:spPr>
        <p:txBody>
          <a:bodyPr wrap="square" rtlCol="0">
            <a:spAutoFit/>
          </a:bodyPr>
          <a:lstStyle/>
          <a:p>
            <a:r>
              <a:rPr lang="en-US" sz="4400">
                <a:solidFill>
                  <a:schemeClr val="accent4"/>
                </a:solidFill>
                <a:latin typeface="+mj-lt"/>
              </a:rPr>
              <a:t>1</a:t>
            </a:r>
          </a:p>
        </p:txBody>
      </p:sp>
      <p:sp>
        <p:nvSpPr>
          <p:cNvPr id="47" name="TextBox 46">
            <a:extLst>
              <a:ext uri="{FF2B5EF4-FFF2-40B4-BE49-F238E27FC236}">
                <a16:creationId xmlns:a16="http://schemas.microsoft.com/office/drawing/2014/main" id="{B842BB0D-9FAB-A1DB-A3CB-BA3D2D0761A2}"/>
              </a:ext>
            </a:extLst>
          </p:cNvPr>
          <p:cNvSpPr txBox="1"/>
          <p:nvPr/>
        </p:nvSpPr>
        <p:spPr>
          <a:xfrm>
            <a:off x="2754885" y="343115"/>
            <a:ext cx="3133551" cy="923330"/>
          </a:xfrm>
          <a:prstGeom prst="rect">
            <a:avLst/>
          </a:prstGeom>
          <a:noFill/>
        </p:spPr>
        <p:txBody>
          <a:bodyPr wrap="square" rtlCol="0">
            <a:spAutoFit/>
          </a:bodyPr>
          <a:lstStyle/>
          <a:p>
            <a:pPr algn="ctr"/>
            <a:r>
              <a:rPr kumimoji="0" lang="en-US" sz="5400" b="0" i="0" u="none" strike="noStrike" kern="1200" cap="none" spc="0" normalizeH="0" baseline="0" noProof="0">
                <a:ln>
                  <a:noFill/>
                </a:ln>
                <a:solidFill>
                  <a:schemeClr val="accent1"/>
                </a:solidFill>
                <a:effectLst/>
                <a:uLnTx/>
                <a:uFillTx/>
                <a:latin typeface="Consolas" panose="020B0609020204030204" pitchFamily="49" charset="0"/>
                <a:ea typeface="Segoe UI Emoji" panose="020B0502040204020203" pitchFamily="34" charset="0"/>
                <a:cs typeface="Consolas" panose="020B0609020204030204" pitchFamily="49" charset="0"/>
              </a:rPr>
              <a:t>7</a:t>
            </a:r>
            <a:r>
              <a:rPr kumimoji="0" lang="en-US" sz="5400" b="0" i="0" u="none" strike="noStrike" kern="1200" cap="none" spc="0" normalizeH="0" baseline="0" noProof="0">
                <a:ln>
                  <a:noFill/>
                </a:ln>
                <a:solidFill>
                  <a:srgbClr val="000000"/>
                </a:solidFill>
                <a:effectLst/>
                <a:uLnTx/>
                <a:uFillTx/>
                <a:latin typeface="Consolas" panose="020B0609020204030204" pitchFamily="49" charset="0"/>
                <a:ea typeface="Segoe UI Emoji" panose="020B0502040204020203" pitchFamily="34" charset="0"/>
                <a:cs typeface="Consolas" panose="020B0609020204030204" pitchFamily="49" charset="0"/>
              </a:rPr>
              <a:t> % </a:t>
            </a:r>
            <a:r>
              <a:rPr kumimoji="0" lang="en-US" sz="5400" b="0" i="0" u="none" strike="noStrike" kern="1200" cap="none" spc="0" normalizeH="0" baseline="0" noProof="0">
                <a:ln>
                  <a:noFill/>
                </a:ln>
                <a:solidFill>
                  <a:schemeClr val="accent2"/>
                </a:solidFill>
                <a:effectLst/>
                <a:uLnTx/>
                <a:uFillTx/>
                <a:latin typeface="Consolas" panose="020B0609020204030204" pitchFamily="49" charset="0"/>
                <a:ea typeface="Segoe UI Emoji" panose="020B0502040204020203" pitchFamily="34" charset="0"/>
                <a:cs typeface="Consolas" panose="020B0609020204030204" pitchFamily="49" charset="0"/>
              </a:rPr>
              <a:t>3</a:t>
            </a:r>
            <a:endParaRPr lang="en-US" sz="5400">
              <a:solidFill>
                <a:schemeClr val="accent2"/>
              </a:solidFill>
              <a:latin typeface="Consolas" panose="020B0609020204030204" pitchFamily="49" charset="0"/>
              <a:cs typeface="Consolas" panose="020B0609020204030204" pitchFamily="49" charset="0"/>
            </a:endParaRPr>
          </a:p>
        </p:txBody>
      </p:sp>
      <p:sp>
        <p:nvSpPr>
          <p:cNvPr id="48" name="TextBox 47">
            <a:extLst>
              <a:ext uri="{FF2B5EF4-FFF2-40B4-BE49-F238E27FC236}">
                <a16:creationId xmlns:a16="http://schemas.microsoft.com/office/drawing/2014/main" id="{AFFCB001-B7EB-BC2B-8E14-D2E7E526E9B5}"/>
              </a:ext>
            </a:extLst>
          </p:cNvPr>
          <p:cNvSpPr txBox="1"/>
          <p:nvPr/>
        </p:nvSpPr>
        <p:spPr>
          <a:xfrm>
            <a:off x="4565072" y="1511187"/>
            <a:ext cx="1678746" cy="769441"/>
          </a:xfrm>
          <a:prstGeom prst="rect">
            <a:avLst/>
          </a:prstGeom>
          <a:noFill/>
        </p:spPr>
        <p:txBody>
          <a:bodyPr wrap="square" rtlCol="0">
            <a:spAutoFit/>
          </a:bodyPr>
          <a:lstStyle/>
          <a:p>
            <a:r>
              <a:rPr lang="en-US" sz="4400">
                <a:latin typeface="+mj-lt"/>
              </a:rPr>
              <a:t>R</a:t>
            </a:r>
            <a:r>
              <a:rPr lang="en-US" sz="4400">
                <a:solidFill>
                  <a:schemeClr val="accent4"/>
                </a:solidFill>
                <a:latin typeface="+mj-lt"/>
              </a:rPr>
              <a:t>1</a:t>
            </a:r>
          </a:p>
        </p:txBody>
      </p:sp>
    </p:spTree>
    <p:extLst>
      <p:ext uri="{BB962C8B-B14F-4D97-AF65-F5344CB8AC3E}">
        <p14:creationId xmlns:p14="http://schemas.microsoft.com/office/powerpoint/2010/main" val="3832565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p:bldP spid="13" grpId="0"/>
      <p:bldP spid="14" grpId="0"/>
      <p:bldP spid="21" grpId="0"/>
      <p:bldP spid="23" grpId="0"/>
      <p:bldP spid="48" grpId="0"/>
    </p:bldLst>
  </p:timing>
</p:sld>
</file>

<file path=ppt/slides/slide6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8D961-4302-0185-119B-8D018F4A68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34653F4-2488-C122-48A9-B1B015559F0E}"/>
              </a:ext>
            </a:extLst>
          </p:cNvPr>
          <p:cNvSpPr txBox="1"/>
          <p:nvPr/>
        </p:nvSpPr>
        <p:spPr>
          <a:xfrm>
            <a:off x="852663" y="2265150"/>
            <a:ext cx="1249122" cy="769441"/>
          </a:xfrm>
          <a:prstGeom prst="rect">
            <a:avLst/>
          </a:prstGeom>
          <a:noFill/>
        </p:spPr>
        <p:txBody>
          <a:bodyPr wrap="square" rtlCol="0">
            <a:spAutoFit/>
          </a:bodyPr>
          <a:lstStyle/>
          <a:p>
            <a:r>
              <a:rPr lang="en-US" sz="4400">
                <a:solidFill>
                  <a:schemeClr val="accent1"/>
                </a:solidFill>
                <a:latin typeface="+mj-lt"/>
              </a:rPr>
              <a:t>-7</a:t>
            </a:r>
          </a:p>
        </p:txBody>
      </p:sp>
      <p:cxnSp>
        <p:nvCxnSpPr>
          <p:cNvPr id="3" name="Straight Connector 2">
            <a:extLst>
              <a:ext uri="{FF2B5EF4-FFF2-40B4-BE49-F238E27FC236}">
                <a16:creationId xmlns:a16="http://schemas.microsoft.com/office/drawing/2014/main" id="{F4699A82-C142-F4B1-5253-B3D63D6E6B5A}"/>
              </a:ext>
            </a:extLst>
          </p:cNvPr>
          <p:cNvCxnSpPr>
            <a:cxnSpLocks/>
          </p:cNvCxnSpPr>
          <p:nvPr/>
        </p:nvCxnSpPr>
        <p:spPr>
          <a:xfrm>
            <a:off x="783388" y="2309743"/>
            <a:ext cx="0" cy="615236"/>
          </a:xfrm>
          <a:prstGeom prst="line">
            <a:avLst/>
          </a:prstGeom>
          <a:ln w="57150">
            <a:solidFill>
              <a:schemeClr val="accent6"/>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 name="Straight Connector 3">
            <a:extLst>
              <a:ext uri="{FF2B5EF4-FFF2-40B4-BE49-F238E27FC236}">
                <a16:creationId xmlns:a16="http://schemas.microsoft.com/office/drawing/2014/main" id="{0696D314-AA4C-9464-614E-061C7CABCBB5}"/>
              </a:ext>
            </a:extLst>
          </p:cNvPr>
          <p:cNvCxnSpPr>
            <a:cxnSpLocks/>
          </p:cNvCxnSpPr>
          <p:nvPr/>
        </p:nvCxnSpPr>
        <p:spPr>
          <a:xfrm>
            <a:off x="783388" y="2337453"/>
            <a:ext cx="678873" cy="0"/>
          </a:xfrm>
          <a:prstGeom prst="line">
            <a:avLst/>
          </a:prstGeom>
          <a:ln w="57150">
            <a:solidFill>
              <a:schemeClr val="accent6"/>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BD71BAF0-ED95-5499-4A8C-3F7DA545AB04}"/>
              </a:ext>
            </a:extLst>
          </p:cNvPr>
          <p:cNvSpPr txBox="1"/>
          <p:nvPr/>
        </p:nvSpPr>
        <p:spPr>
          <a:xfrm>
            <a:off x="243064" y="2265150"/>
            <a:ext cx="471048" cy="769441"/>
          </a:xfrm>
          <a:prstGeom prst="rect">
            <a:avLst/>
          </a:prstGeom>
          <a:noFill/>
        </p:spPr>
        <p:txBody>
          <a:bodyPr wrap="square" rtlCol="0">
            <a:spAutoFit/>
          </a:bodyPr>
          <a:lstStyle/>
          <a:p>
            <a:r>
              <a:rPr lang="en-US" sz="4400">
                <a:solidFill>
                  <a:schemeClr val="accent2"/>
                </a:solidFill>
                <a:latin typeface="+mj-lt"/>
              </a:rPr>
              <a:t>3</a:t>
            </a:r>
          </a:p>
        </p:txBody>
      </p:sp>
      <p:sp>
        <p:nvSpPr>
          <p:cNvPr id="6" name="TextBox 5">
            <a:extLst>
              <a:ext uri="{FF2B5EF4-FFF2-40B4-BE49-F238E27FC236}">
                <a16:creationId xmlns:a16="http://schemas.microsoft.com/office/drawing/2014/main" id="{6FF6E1F3-2675-68D8-91D0-F1B99B29D977}"/>
              </a:ext>
            </a:extLst>
          </p:cNvPr>
          <p:cNvSpPr txBox="1"/>
          <p:nvPr/>
        </p:nvSpPr>
        <p:spPr>
          <a:xfrm>
            <a:off x="838808" y="1589308"/>
            <a:ext cx="1134644" cy="769441"/>
          </a:xfrm>
          <a:prstGeom prst="rect">
            <a:avLst/>
          </a:prstGeom>
          <a:noFill/>
        </p:spPr>
        <p:txBody>
          <a:bodyPr wrap="square" rtlCol="0">
            <a:spAutoFit/>
          </a:bodyPr>
          <a:lstStyle/>
          <a:p>
            <a:r>
              <a:rPr lang="en-US" sz="4400">
                <a:latin typeface="+mj-lt"/>
              </a:rPr>
              <a:t>-2</a:t>
            </a:r>
            <a:endParaRPr lang="en-US" sz="4400">
              <a:solidFill>
                <a:schemeClr val="accent4"/>
              </a:solidFill>
              <a:latin typeface="+mj-lt"/>
            </a:endParaRPr>
          </a:p>
        </p:txBody>
      </p:sp>
      <p:sp>
        <p:nvSpPr>
          <p:cNvPr id="7" name="TextBox 6">
            <a:extLst>
              <a:ext uri="{FF2B5EF4-FFF2-40B4-BE49-F238E27FC236}">
                <a16:creationId xmlns:a16="http://schemas.microsoft.com/office/drawing/2014/main" id="{66D21677-AC23-B69F-04A7-91EA18F35C79}"/>
              </a:ext>
            </a:extLst>
          </p:cNvPr>
          <p:cNvSpPr txBox="1"/>
          <p:nvPr/>
        </p:nvSpPr>
        <p:spPr>
          <a:xfrm>
            <a:off x="852662" y="3106894"/>
            <a:ext cx="1120789" cy="769441"/>
          </a:xfrm>
          <a:prstGeom prst="rect">
            <a:avLst/>
          </a:prstGeom>
          <a:noFill/>
        </p:spPr>
        <p:txBody>
          <a:bodyPr wrap="square" rtlCol="0">
            <a:spAutoFit/>
          </a:bodyPr>
          <a:lstStyle/>
          <a:p>
            <a:r>
              <a:rPr lang="en-US" sz="4400">
                <a:latin typeface="+mj-lt"/>
              </a:rPr>
              <a:t>-6</a:t>
            </a:r>
          </a:p>
        </p:txBody>
      </p:sp>
      <p:cxnSp>
        <p:nvCxnSpPr>
          <p:cNvPr id="8" name="Straight Connector 7">
            <a:extLst>
              <a:ext uri="{FF2B5EF4-FFF2-40B4-BE49-F238E27FC236}">
                <a16:creationId xmlns:a16="http://schemas.microsoft.com/office/drawing/2014/main" id="{3F88335C-D4DA-8AA5-8BCF-6D11B2149B25}"/>
              </a:ext>
            </a:extLst>
          </p:cNvPr>
          <p:cNvCxnSpPr>
            <a:cxnSpLocks/>
          </p:cNvCxnSpPr>
          <p:nvPr/>
        </p:nvCxnSpPr>
        <p:spPr>
          <a:xfrm flipH="1">
            <a:off x="572001" y="3876335"/>
            <a:ext cx="1120789" cy="0"/>
          </a:xfrm>
          <a:prstGeom prst="line">
            <a:avLst/>
          </a:prstGeom>
          <a:ln w="57150">
            <a:solidFill>
              <a:schemeClr val="accent6"/>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47FBCE97-21EA-B01E-633D-0290BEDDD124}"/>
              </a:ext>
            </a:extLst>
          </p:cNvPr>
          <p:cNvSpPr txBox="1"/>
          <p:nvPr/>
        </p:nvSpPr>
        <p:spPr>
          <a:xfrm>
            <a:off x="527399" y="2748093"/>
            <a:ext cx="734289" cy="769441"/>
          </a:xfrm>
          <a:prstGeom prst="rect">
            <a:avLst/>
          </a:prstGeom>
          <a:noFill/>
        </p:spPr>
        <p:txBody>
          <a:bodyPr wrap="square" rtlCol="0">
            <a:spAutoFit/>
          </a:bodyPr>
          <a:lstStyle/>
          <a:p>
            <a:r>
              <a:rPr lang="en-US" sz="4400">
                <a:solidFill>
                  <a:schemeClr val="bg2"/>
                </a:solidFill>
                <a:latin typeface="+mj-lt"/>
              </a:rPr>
              <a:t>-</a:t>
            </a:r>
          </a:p>
        </p:txBody>
      </p:sp>
      <p:sp>
        <p:nvSpPr>
          <p:cNvPr id="10" name="TextBox 9">
            <a:extLst>
              <a:ext uri="{FF2B5EF4-FFF2-40B4-BE49-F238E27FC236}">
                <a16:creationId xmlns:a16="http://schemas.microsoft.com/office/drawing/2014/main" id="{46D309A6-00D1-2200-A63A-FC4D80797371}"/>
              </a:ext>
            </a:extLst>
          </p:cNvPr>
          <p:cNvSpPr txBox="1"/>
          <p:nvPr/>
        </p:nvSpPr>
        <p:spPr>
          <a:xfrm>
            <a:off x="852662" y="3928173"/>
            <a:ext cx="1249122" cy="769441"/>
          </a:xfrm>
          <a:prstGeom prst="rect">
            <a:avLst/>
          </a:prstGeom>
          <a:noFill/>
        </p:spPr>
        <p:txBody>
          <a:bodyPr wrap="square" rtlCol="0">
            <a:spAutoFit/>
          </a:bodyPr>
          <a:lstStyle/>
          <a:p>
            <a:r>
              <a:rPr lang="en-US" sz="4400">
                <a:solidFill>
                  <a:schemeClr val="accent4"/>
                </a:solidFill>
                <a:latin typeface="+mj-lt"/>
              </a:rPr>
              <a:t>-1</a:t>
            </a:r>
          </a:p>
        </p:txBody>
      </p:sp>
      <p:cxnSp>
        <p:nvCxnSpPr>
          <p:cNvPr id="11" name="Straight Arrow Connector 10">
            <a:extLst>
              <a:ext uri="{FF2B5EF4-FFF2-40B4-BE49-F238E27FC236}">
                <a16:creationId xmlns:a16="http://schemas.microsoft.com/office/drawing/2014/main" id="{6385EF76-0843-F8F4-761F-04B82EBA206D}"/>
              </a:ext>
            </a:extLst>
          </p:cNvPr>
          <p:cNvCxnSpPr>
            <a:cxnSpLocks/>
          </p:cNvCxnSpPr>
          <p:nvPr/>
        </p:nvCxnSpPr>
        <p:spPr>
          <a:xfrm flipH="1">
            <a:off x="1650293" y="2804815"/>
            <a:ext cx="603819" cy="226769"/>
          </a:xfrm>
          <a:prstGeom prst="straightConnector1">
            <a:avLst/>
          </a:prstGeom>
          <a:ln w="57150">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B5D308C7-52B9-441C-1810-A78C6E37F6C9}"/>
              </a:ext>
            </a:extLst>
          </p:cNvPr>
          <p:cNvSpPr txBox="1"/>
          <p:nvPr/>
        </p:nvSpPr>
        <p:spPr>
          <a:xfrm>
            <a:off x="2320662" y="2543178"/>
            <a:ext cx="1837001" cy="1200329"/>
          </a:xfrm>
          <a:prstGeom prst="rect">
            <a:avLst/>
          </a:prstGeom>
          <a:noFill/>
        </p:spPr>
        <p:txBody>
          <a:bodyPr wrap="square" rtlCol="0">
            <a:spAutoFit/>
          </a:bodyPr>
          <a:lstStyle/>
          <a:p>
            <a:r>
              <a:rPr lang="en-US" sz="2400">
                <a:solidFill>
                  <a:schemeClr val="accent5"/>
                </a:solidFill>
                <a:latin typeface="Consolas" panose="020B0609020204030204" pitchFamily="49" charset="0"/>
                <a:cs typeface="Consolas" panose="020B0609020204030204" pitchFamily="49" charset="0"/>
              </a:rPr>
              <a:t>-7 - (-</a:t>
            </a:r>
            <a:r>
              <a:rPr lang="en-US" sz="2400">
                <a:solidFill>
                  <a:schemeClr val="accent5"/>
                </a:solidFill>
                <a:latin typeface="+mj-lt"/>
              </a:rPr>
              <a:t>6)</a:t>
            </a:r>
          </a:p>
          <a:p>
            <a:r>
              <a:rPr lang="en-US" sz="2400">
                <a:solidFill>
                  <a:schemeClr val="accent5"/>
                </a:solidFill>
                <a:latin typeface="+mj-lt"/>
              </a:rPr>
              <a:t>= -7 + 6</a:t>
            </a:r>
          </a:p>
          <a:p>
            <a:r>
              <a:rPr lang="en-US" sz="2400">
                <a:solidFill>
                  <a:schemeClr val="accent5"/>
                </a:solidFill>
                <a:latin typeface="+mj-lt"/>
              </a:rPr>
              <a:t>= -1</a:t>
            </a:r>
          </a:p>
        </p:txBody>
      </p:sp>
      <p:sp>
        <p:nvSpPr>
          <p:cNvPr id="14" name="TextBox 13">
            <a:extLst>
              <a:ext uri="{FF2B5EF4-FFF2-40B4-BE49-F238E27FC236}">
                <a16:creationId xmlns:a16="http://schemas.microsoft.com/office/drawing/2014/main" id="{2E7F130C-4779-FCF4-2C46-B3B0EAD91B6B}"/>
              </a:ext>
            </a:extLst>
          </p:cNvPr>
          <p:cNvSpPr txBox="1"/>
          <p:nvPr/>
        </p:nvSpPr>
        <p:spPr>
          <a:xfrm>
            <a:off x="249985" y="456442"/>
            <a:ext cx="3707651" cy="830997"/>
          </a:xfrm>
          <a:prstGeom prst="rect">
            <a:avLst/>
          </a:prstGeom>
          <a:noFill/>
        </p:spPr>
        <p:txBody>
          <a:bodyPr wrap="square" rtlCol="0">
            <a:spAutoFit/>
          </a:bodyPr>
          <a:lstStyle/>
          <a:p>
            <a:r>
              <a:rPr kumimoji="0" lang="en-US" sz="4800" b="0" i="0" u="none" strike="noStrike" kern="1200" cap="none" spc="0" normalizeH="0" baseline="0" noProof="0">
                <a:ln>
                  <a:noFill/>
                </a:ln>
                <a:solidFill>
                  <a:srgbClr val="000000"/>
                </a:solidFill>
                <a:effectLst/>
                <a:uLnTx/>
                <a:uFillTx/>
                <a:latin typeface="Consolas" panose="020B0609020204030204" pitchFamily="49" charset="0"/>
                <a:ea typeface="Segoe UI Emoji" panose="020B0502040204020203" pitchFamily="34" charset="0"/>
                <a:cs typeface="Consolas" panose="020B0609020204030204" pitchFamily="49" charset="0"/>
              </a:rPr>
              <a:t>☕️ </a:t>
            </a:r>
            <a:r>
              <a:rPr kumimoji="0" lang="en-US" sz="4800" b="0" i="0" u="none" strike="noStrike" kern="1200" cap="none" spc="0" normalizeH="0" baseline="0" noProof="0">
                <a:ln>
                  <a:noFill/>
                </a:ln>
                <a:solidFill>
                  <a:schemeClr val="accent1"/>
                </a:solidFill>
                <a:effectLst/>
                <a:uLnTx/>
                <a:uFillTx/>
                <a:latin typeface="Consolas" panose="020B0609020204030204" pitchFamily="49" charset="0"/>
                <a:ea typeface="Segoe UI Emoji" panose="020B0502040204020203" pitchFamily="34" charset="0"/>
                <a:cs typeface="Consolas" panose="020B0609020204030204" pitchFamily="49" charset="0"/>
              </a:rPr>
              <a:t>-7</a:t>
            </a:r>
            <a:r>
              <a:rPr kumimoji="0" lang="en-US" sz="4800" b="0" i="0" u="none" strike="noStrike" kern="1200" cap="none" spc="0" normalizeH="0" baseline="0" noProof="0">
                <a:ln>
                  <a:noFill/>
                </a:ln>
                <a:solidFill>
                  <a:srgbClr val="000000"/>
                </a:solidFill>
                <a:effectLst/>
                <a:uLnTx/>
                <a:uFillTx/>
                <a:latin typeface="Consolas" panose="020B0609020204030204" pitchFamily="49" charset="0"/>
                <a:ea typeface="Segoe UI Emoji" panose="020B0502040204020203" pitchFamily="34" charset="0"/>
                <a:cs typeface="Consolas" panose="020B0609020204030204" pitchFamily="49" charset="0"/>
              </a:rPr>
              <a:t> % </a:t>
            </a:r>
            <a:r>
              <a:rPr kumimoji="0" lang="en-US" sz="4800" b="0" i="0" u="none" strike="noStrike" kern="1200" cap="none" spc="0" normalizeH="0" baseline="0" noProof="0">
                <a:ln>
                  <a:noFill/>
                </a:ln>
                <a:solidFill>
                  <a:schemeClr val="accent2"/>
                </a:solidFill>
                <a:effectLst/>
                <a:uLnTx/>
                <a:uFillTx/>
                <a:latin typeface="Consolas" panose="020B0609020204030204" pitchFamily="49" charset="0"/>
                <a:ea typeface="Segoe UI Emoji" panose="020B0502040204020203" pitchFamily="34" charset="0"/>
                <a:cs typeface="Consolas" panose="020B0609020204030204" pitchFamily="49" charset="0"/>
              </a:rPr>
              <a:t>3</a:t>
            </a:r>
            <a:endParaRPr lang="en-US" sz="4800">
              <a:solidFill>
                <a:schemeClr val="accent2"/>
              </a:solidFill>
              <a:latin typeface="Consolas" panose="020B0609020204030204" pitchFamily="49" charset="0"/>
              <a:cs typeface="Consolas" panose="020B0609020204030204" pitchFamily="49" charset="0"/>
            </a:endParaRPr>
          </a:p>
        </p:txBody>
      </p:sp>
      <p:sp>
        <p:nvSpPr>
          <p:cNvPr id="39" name="TextBox 38">
            <a:extLst>
              <a:ext uri="{FF2B5EF4-FFF2-40B4-BE49-F238E27FC236}">
                <a16:creationId xmlns:a16="http://schemas.microsoft.com/office/drawing/2014/main" id="{969BA230-D318-AD11-EC47-E188268A1B76}"/>
              </a:ext>
            </a:extLst>
          </p:cNvPr>
          <p:cNvSpPr txBox="1"/>
          <p:nvPr/>
        </p:nvSpPr>
        <p:spPr>
          <a:xfrm>
            <a:off x="4208298" y="312036"/>
            <a:ext cx="5199206" cy="1200329"/>
          </a:xfrm>
          <a:prstGeom prst="rect">
            <a:avLst/>
          </a:prstGeom>
          <a:noFill/>
        </p:spPr>
        <p:txBody>
          <a:bodyPr wrap="square" rtlCol="0">
            <a:spAutoFit/>
          </a:bodyPr>
          <a:lstStyle/>
          <a:p>
            <a:r>
              <a:rPr kumimoji="0" lang="en-US" sz="3600" b="0" i="0" u="none" strike="noStrike" kern="1200" cap="none" spc="0" normalizeH="0" baseline="0" noProof="0">
                <a:ln>
                  <a:noFill/>
                </a:ln>
                <a:solidFill>
                  <a:srgbClr val="000000"/>
                </a:solidFill>
                <a:effectLst/>
                <a:uLnTx/>
                <a:uFillTx/>
                <a:latin typeface="Consolas" panose="020B0609020204030204" pitchFamily="49" charset="0"/>
                <a:ea typeface="Segoe UI Emoji" panose="020B0502040204020203" pitchFamily="34" charset="0"/>
                <a:cs typeface="Consolas" panose="020B0609020204030204" pitchFamily="49" charset="0"/>
              </a:rPr>
              <a:t>🐍 </a:t>
            </a:r>
            <a:r>
              <a:rPr kumimoji="0" lang="en-US" sz="3600" b="0" i="0" u="none" strike="noStrike" kern="1200" cap="none" spc="0" normalizeH="0" baseline="0" noProof="0">
                <a:ln>
                  <a:noFill/>
                </a:ln>
                <a:solidFill>
                  <a:schemeClr val="accent1"/>
                </a:solidFill>
                <a:effectLst/>
                <a:uLnTx/>
                <a:uFillTx/>
                <a:latin typeface="Consolas" panose="020B0609020204030204" pitchFamily="49" charset="0"/>
                <a:ea typeface="Segoe UI Emoji" panose="020B0502040204020203" pitchFamily="34" charset="0"/>
                <a:cs typeface="Consolas" panose="020B0609020204030204" pitchFamily="49" charset="0"/>
              </a:rPr>
              <a:t>-7</a:t>
            </a:r>
            <a:r>
              <a:rPr kumimoji="0" lang="en-US" sz="3600" b="0" i="0" u="none" strike="noStrike" kern="1200" cap="none" spc="0" normalizeH="0" baseline="0" noProof="0">
                <a:ln>
                  <a:noFill/>
                </a:ln>
                <a:solidFill>
                  <a:srgbClr val="000000"/>
                </a:solidFill>
                <a:effectLst/>
                <a:uLnTx/>
                <a:uFillTx/>
                <a:latin typeface="Consolas" panose="020B0609020204030204" pitchFamily="49" charset="0"/>
                <a:ea typeface="Segoe UI Emoji" panose="020B0502040204020203" pitchFamily="34" charset="0"/>
                <a:cs typeface="Consolas" panose="020B0609020204030204" pitchFamily="49" charset="0"/>
              </a:rPr>
              <a:t> % </a:t>
            </a:r>
            <a:r>
              <a:rPr kumimoji="0" lang="en-US" sz="3600" b="0" i="0" u="none" strike="noStrike" kern="1200" cap="none" spc="0" normalizeH="0" baseline="0" noProof="0">
                <a:ln>
                  <a:noFill/>
                </a:ln>
                <a:solidFill>
                  <a:schemeClr val="accent2"/>
                </a:solidFill>
                <a:effectLst/>
                <a:uLnTx/>
                <a:uFillTx/>
                <a:latin typeface="Consolas" panose="020B0609020204030204" pitchFamily="49" charset="0"/>
                <a:ea typeface="Segoe UI Emoji" panose="020B0502040204020203" pitchFamily="34" charset="0"/>
                <a:cs typeface="Consolas" panose="020B0609020204030204" pitchFamily="49" charset="0"/>
              </a:rPr>
              <a:t>3</a:t>
            </a:r>
          </a:p>
          <a:p>
            <a:r>
              <a:rPr kumimoji="0" lang="en-US" sz="3600" b="0" i="0" u="none" strike="noStrike" kern="1200" cap="none" spc="0" normalizeH="0" baseline="0" noProof="0">
                <a:ln>
                  <a:noFill/>
                </a:ln>
                <a:solidFill>
                  <a:srgbClr val="000000"/>
                </a:solidFill>
                <a:effectLst/>
                <a:uLnTx/>
                <a:uFillTx/>
                <a:latin typeface="Consolas" panose="020B0609020204030204" pitchFamily="49" charset="0"/>
                <a:ea typeface="Segoe UI Emoji" panose="020B0502040204020203" pitchFamily="34" charset="0"/>
                <a:cs typeface="Consolas" panose="020B0609020204030204" pitchFamily="49" charset="0"/>
              </a:rPr>
              <a:t>🐮.☕️</a:t>
            </a:r>
            <a:r>
              <a:rPr kumimoji="0" lang="en-US" sz="2800" b="0" i="0" u="none" strike="noStrike" kern="1200" cap="none" spc="0" normalizeH="0" baseline="0" noProof="0">
                <a:ln>
                  <a:noFill/>
                </a:ln>
                <a:solidFill>
                  <a:srgbClr val="000000"/>
                </a:solidFill>
                <a:effectLst/>
                <a:uLnTx/>
                <a:uFillTx/>
                <a:latin typeface="Consolas" panose="020B0609020204030204" pitchFamily="49" charset="0"/>
                <a:ea typeface="Segoe UI Emoji" panose="020B0502040204020203" pitchFamily="34" charset="0"/>
                <a:cs typeface="Consolas" panose="020B0609020204030204" pitchFamily="49" charset="0"/>
              </a:rPr>
              <a:t> </a:t>
            </a:r>
            <a:r>
              <a:rPr kumimoji="0" lang="en-US" sz="2800" b="0" i="0" u="none" strike="noStrike" kern="1200" cap="none" spc="0" normalizeH="0" baseline="0" noProof="0">
                <a:ln>
                  <a:noFill/>
                </a:ln>
                <a:solidFill>
                  <a:srgbClr val="00007F"/>
                </a:solidFill>
                <a:effectLst/>
                <a:uLnTx/>
                <a:uFillTx/>
                <a:latin typeface="Consolas" panose="020B0609020204030204" pitchFamily="49" charset="0"/>
                <a:ea typeface="Segoe UI Emoji" panose="020B0502040204020203" pitchFamily="34" charset="0"/>
                <a:cs typeface="Consolas" panose="020B0609020204030204" pitchFamily="49" charset="0"/>
              </a:rPr>
              <a:t>MODULO</a:t>
            </a:r>
            <a:r>
              <a:rPr kumimoji="0" lang="en-US" sz="2800" b="0" i="0" u="none" strike="noStrike" kern="1200" cap="none" spc="0" normalizeH="0" baseline="0" noProof="0">
                <a:ln>
                  <a:noFill/>
                </a:ln>
                <a:solidFill>
                  <a:srgbClr val="000000"/>
                </a:solidFill>
                <a:effectLst/>
                <a:uLnTx/>
                <a:uFillTx/>
                <a:latin typeface="Consolas" panose="020B0609020204030204" pitchFamily="49" charset="0"/>
                <a:ea typeface="Segoe UI Emoji" panose="020B0502040204020203" pitchFamily="34" charset="0"/>
                <a:cs typeface="Consolas" panose="020B0609020204030204" pitchFamily="49" charset="0"/>
              </a:rPr>
              <a:t>(</a:t>
            </a:r>
            <a:r>
              <a:rPr kumimoji="0" lang="en-US" sz="2800" b="0" i="0" u="none" strike="noStrike" kern="1200" cap="none" spc="0" normalizeH="0" baseline="0" noProof="0">
                <a:ln>
                  <a:noFill/>
                </a:ln>
                <a:solidFill>
                  <a:schemeClr val="accent1"/>
                </a:solidFill>
                <a:effectLst/>
                <a:uLnTx/>
                <a:uFillTx/>
                <a:latin typeface="Consolas" panose="020B0609020204030204" pitchFamily="49" charset="0"/>
                <a:ea typeface="Segoe UI Emoji" panose="020B0502040204020203" pitchFamily="34" charset="0"/>
                <a:cs typeface="Consolas" panose="020B0609020204030204" pitchFamily="49" charset="0"/>
              </a:rPr>
              <a:t>-7</a:t>
            </a:r>
            <a:r>
              <a:rPr kumimoji="0" lang="en-US" sz="2800" b="0" i="0" u="none" strike="noStrike" kern="1200" cap="none" spc="0" normalizeH="0" baseline="0" noProof="0">
                <a:ln>
                  <a:noFill/>
                </a:ln>
                <a:solidFill>
                  <a:srgbClr val="000000"/>
                </a:solidFill>
                <a:effectLst/>
                <a:uLnTx/>
                <a:uFillTx/>
                <a:latin typeface="Consolas" panose="020B0609020204030204" pitchFamily="49" charset="0"/>
                <a:ea typeface="Segoe UI Emoji" panose="020B0502040204020203" pitchFamily="34" charset="0"/>
                <a:cs typeface="Consolas" panose="020B0609020204030204" pitchFamily="49" charset="0"/>
              </a:rPr>
              <a:t>, </a:t>
            </a:r>
            <a:r>
              <a:rPr kumimoji="0" lang="en-US" sz="2800" b="0" i="0" u="none" strike="noStrike" kern="1200" cap="none" spc="0" normalizeH="0" baseline="0" noProof="0">
                <a:ln>
                  <a:noFill/>
                </a:ln>
                <a:solidFill>
                  <a:schemeClr val="accent2"/>
                </a:solidFill>
                <a:effectLst/>
                <a:uLnTx/>
                <a:uFillTx/>
                <a:latin typeface="Consolas" panose="020B0609020204030204" pitchFamily="49" charset="0"/>
                <a:ea typeface="Segoe UI Emoji" panose="020B0502040204020203" pitchFamily="34" charset="0"/>
                <a:cs typeface="Consolas" panose="020B0609020204030204" pitchFamily="49" charset="0"/>
              </a:rPr>
              <a:t>3</a:t>
            </a:r>
            <a:r>
              <a:rPr kumimoji="0" lang="en-US" sz="2800" b="0" i="0" u="none" strike="noStrike" kern="1200" cap="none" spc="0" normalizeH="0" baseline="0" noProof="0">
                <a:ln>
                  <a:noFill/>
                </a:ln>
                <a:solidFill>
                  <a:srgbClr val="000000"/>
                </a:solidFill>
                <a:effectLst/>
                <a:uLnTx/>
                <a:uFillTx/>
                <a:latin typeface="Consolas" panose="020B0609020204030204" pitchFamily="49" charset="0"/>
                <a:ea typeface="Segoe UI Emoji" panose="020B0502040204020203" pitchFamily="34" charset="0"/>
                <a:cs typeface="Consolas" panose="020B0609020204030204" pitchFamily="49" charset="0"/>
              </a:rPr>
              <a:t>)</a:t>
            </a:r>
            <a:endParaRPr lang="en-US" sz="2800">
              <a:solidFill>
                <a:schemeClr val="accent4"/>
              </a:solidFill>
              <a:latin typeface="Consolas" panose="020B0609020204030204" pitchFamily="49" charset="0"/>
              <a:cs typeface="Consolas" panose="020B0609020204030204" pitchFamily="49" charset="0"/>
            </a:endParaRPr>
          </a:p>
        </p:txBody>
      </p:sp>
      <p:cxnSp>
        <p:nvCxnSpPr>
          <p:cNvPr id="41" name="Straight Connector 40">
            <a:extLst>
              <a:ext uri="{FF2B5EF4-FFF2-40B4-BE49-F238E27FC236}">
                <a16:creationId xmlns:a16="http://schemas.microsoft.com/office/drawing/2014/main" id="{18DF78B5-AF7B-B465-3664-04526EF9F14F}"/>
              </a:ext>
            </a:extLst>
          </p:cNvPr>
          <p:cNvCxnSpPr>
            <a:cxnSpLocks/>
          </p:cNvCxnSpPr>
          <p:nvPr/>
        </p:nvCxnSpPr>
        <p:spPr>
          <a:xfrm flipV="1">
            <a:off x="4057649" y="0"/>
            <a:ext cx="0" cy="5143500"/>
          </a:xfrm>
          <a:prstGeom prst="line">
            <a:avLst/>
          </a:prstGeom>
          <a:ln w="76200">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4" name="TextBox 43">
            <a:extLst>
              <a:ext uri="{FF2B5EF4-FFF2-40B4-BE49-F238E27FC236}">
                <a16:creationId xmlns:a16="http://schemas.microsoft.com/office/drawing/2014/main" id="{8955D8A9-F181-146E-9249-F5DEB464E07A}"/>
              </a:ext>
            </a:extLst>
          </p:cNvPr>
          <p:cNvSpPr txBox="1"/>
          <p:nvPr/>
        </p:nvSpPr>
        <p:spPr>
          <a:xfrm>
            <a:off x="4586656" y="3004983"/>
            <a:ext cx="1094816" cy="769441"/>
          </a:xfrm>
          <a:prstGeom prst="rect">
            <a:avLst/>
          </a:prstGeom>
          <a:noFill/>
        </p:spPr>
        <p:txBody>
          <a:bodyPr wrap="square" rtlCol="0">
            <a:spAutoFit/>
          </a:bodyPr>
          <a:lstStyle/>
          <a:p>
            <a:r>
              <a:rPr lang="en-US" sz="4400">
                <a:solidFill>
                  <a:schemeClr val="accent4">
                    <a:lumMod val="50000"/>
                  </a:schemeClr>
                </a:solidFill>
                <a:latin typeface="+mj-lt"/>
              </a:rPr>
              <a:t>-1</a:t>
            </a:r>
            <a:endParaRPr lang="en-US" sz="4400" b="1">
              <a:solidFill>
                <a:schemeClr val="accent4"/>
              </a:solidFill>
              <a:latin typeface="+mj-lt"/>
            </a:endParaRPr>
          </a:p>
        </p:txBody>
      </p:sp>
      <p:cxnSp>
        <p:nvCxnSpPr>
          <p:cNvPr id="45" name="Straight Arrow Connector 44">
            <a:extLst>
              <a:ext uri="{FF2B5EF4-FFF2-40B4-BE49-F238E27FC236}">
                <a16:creationId xmlns:a16="http://schemas.microsoft.com/office/drawing/2014/main" id="{6E27968F-9DB2-F709-EC73-AA314C9BDA50}"/>
              </a:ext>
            </a:extLst>
          </p:cNvPr>
          <p:cNvCxnSpPr>
            <a:cxnSpLocks/>
          </p:cNvCxnSpPr>
          <p:nvPr/>
        </p:nvCxnSpPr>
        <p:spPr>
          <a:xfrm flipV="1">
            <a:off x="1692790" y="3648698"/>
            <a:ext cx="3022080" cy="689841"/>
          </a:xfrm>
          <a:prstGeom prst="straightConnector1">
            <a:avLst/>
          </a:prstGeom>
          <a:ln w="28575">
            <a:solidFill>
              <a:schemeClr val="accent4">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A986DFB0-864E-DF30-C90A-3D89DF384B6C}"/>
              </a:ext>
            </a:extLst>
          </p:cNvPr>
          <p:cNvSpPr txBox="1"/>
          <p:nvPr/>
        </p:nvSpPr>
        <p:spPr>
          <a:xfrm>
            <a:off x="1462261" y="1584076"/>
            <a:ext cx="4718304" cy="769441"/>
          </a:xfrm>
          <a:prstGeom prst="rect">
            <a:avLst/>
          </a:prstGeom>
          <a:noFill/>
        </p:spPr>
        <p:txBody>
          <a:bodyPr wrap="square">
            <a:spAutoFit/>
          </a:bodyPr>
          <a:lstStyle/>
          <a:p>
            <a:r>
              <a:rPr kumimoji="0" lang="en-US" sz="4400" b="0" i="0" u="none" strike="noStrike" kern="1200" cap="none" spc="0" normalizeH="0" baseline="0" noProof="0">
                <a:ln>
                  <a:noFill/>
                </a:ln>
                <a:solidFill>
                  <a:srgbClr val="000000"/>
                </a:solidFill>
                <a:effectLst/>
                <a:uLnTx/>
                <a:uFillTx/>
                <a:latin typeface="Consolas"/>
                <a:ea typeface="+mn-ea"/>
                <a:cs typeface="+mn-cs"/>
              </a:rPr>
              <a:t>R</a:t>
            </a:r>
            <a:r>
              <a:rPr kumimoji="0" lang="en-US" sz="4400" b="0" i="0" u="none" strike="noStrike" kern="1200" cap="none" spc="0" normalizeH="0" baseline="0" noProof="0">
                <a:ln>
                  <a:noFill/>
                </a:ln>
                <a:solidFill>
                  <a:srgbClr val="A6E22E"/>
                </a:solidFill>
                <a:effectLst/>
                <a:uLnTx/>
                <a:uFillTx/>
                <a:latin typeface="Consolas"/>
                <a:ea typeface="+mn-ea"/>
                <a:cs typeface="+mn-cs"/>
              </a:rPr>
              <a:t>-1</a:t>
            </a:r>
            <a:endParaRPr lang="en-US"/>
          </a:p>
        </p:txBody>
      </p:sp>
      <p:sp>
        <p:nvSpPr>
          <p:cNvPr id="57" name="TextBox 56">
            <a:extLst>
              <a:ext uri="{FF2B5EF4-FFF2-40B4-BE49-F238E27FC236}">
                <a16:creationId xmlns:a16="http://schemas.microsoft.com/office/drawing/2014/main" id="{8A0790EE-310A-1E1E-26EA-E91EA9D869D3}"/>
              </a:ext>
            </a:extLst>
          </p:cNvPr>
          <p:cNvSpPr txBox="1"/>
          <p:nvPr/>
        </p:nvSpPr>
        <p:spPr>
          <a:xfrm>
            <a:off x="5515343" y="2543178"/>
            <a:ext cx="3871733" cy="1323439"/>
          </a:xfrm>
          <a:prstGeom prst="rect">
            <a:avLst/>
          </a:prstGeom>
          <a:noFill/>
        </p:spPr>
        <p:txBody>
          <a:bodyPr wrap="square" rtlCol="0">
            <a:spAutoFit/>
          </a:bodyPr>
          <a:lstStyle/>
          <a:p>
            <a:r>
              <a:rPr lang="en-US" sz="4400">
                <a:latin typeface="+mj-lt"/>
              </a:rPr>
              <a:t>+</a:t>
            </a:r>
            <a:r>
              <a:rPr lang="en-US" sz="4400">
                <a:solidFill>
                  <a:schemeClr val="accent4"/>
                </a:solidFill>
                <a:latin typeface="+mj-lt"/>
              </a:rPr>
              <a:t> </a:t>
            </a:r>
            <a:r>
              <a:rPr lang="en-US" sz="4400">
                <a:solidFill>
                  <a:schemeClr val="accent2"/>
                </a:solidFill>
                <a:latin typeface="+mj-lt"/>
              </a:rPr>
              <a:t>3 </a:t>
            </a:r>
            <a:r>
              <a:rPr lang="en-US" sz="4400">
                <a:latin typeface="+mj-lt"/>
              </a:rPr>
              <a:t>= </a:t>
            </a:r>
            <a:r>
              <a:rPr lang="en-US" sz="8000" b="1">
                <a:solidFill>
                  <a:schemeClr val="accent4"/>
                </a:solidFill>
                <a:latin typeface="+mj-lt"/>
              </a:rPr>
              <a:t>2</a:t>
            </a:r>
            <a:endParaRPr lang="en-US" sz="4400" b="1">
              <a:solidFill>
                <a:schemeClr val="accent4"/>
              </a:solidFill>
              <a:latin typeface="+mj-lt"/>
            </a:endParaRPr>
          </a:p>
        </p:txBody>
      </p:sp>
    </p:spTree>
    <p:extLst>
      <p:ext uri="{BB962C8B-B14F-4D97-AF65-F5344CB8AC3E}">
        <p14:creationId xmlns:p14="http://schemas.microsoft.com/office/powerpoint/2010/main" val="34730705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P spid="9" grpId="0"/>
      <p:bldP spid="10" grpId="0"/>
      <p:bldP spid="12" grpId="0"/>
      <p:bldP spid="39" grpId="0"/>
      <p:bldP spid="44" grpId="0"/>
      <p:bldP spid="56" grpId="0"/>
      <p:bldP spid="57" grpId="0"/>
    </p:bldLst>
  </p:timing>
</p:sld>
</file>

<file path=ppt/slides/slide6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472D3-4894-3040-D0CC-1561B6702B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B97070-B375-D2C6-8143-CDE8B9B4D440}"/>
              </a:ext>
            </a:extLst>
          </p:cNvPr>
          <p:cNvSpPr>
            <a:spLocks noGrp="1"/>
          </p:cNvSpPr>
          <p:nvPr>
            <p:ph type="title"/>
          </p:nvPr>
        </p:nvSpPr>
        <p:spPr/>
        <p:txBody>
          <a:bodyPr>
            <a:normAutofit/>
          </a:bodyPr>
          <a:lstStyle/>
          <a:p>
            <a:r>
              <a:rPr lang="en-US">
                <a:latin typeface="Consolas" panose="020B0609020204030204" pitchFamily="49" charset="0"/>
                <a:cs typeface="Consolas" panose="020B0609020204030204" pitchFamily="49" charset="0"/>
              </a:rPr>
              <a:t>%</a:t>
            </a:r>
            <a:endParaRPr lang="en-US">
              <a:solidFill>
                <a:srgbClr val="F92672"/>
              </a:solidFill>
              <a:latin typeface="Consolas" panose="020B0609020204030204" pitchFamily="49" charset="0"/>
              <a:cs typeface="Consolas" panose="020B0609020204030204" pitchFamily="49" charset="0"/>
            </a:endParaRPr>
          </a:p>
        </p:txBody>
      </p:sp>
      <p:sp>
        <p:nvSpPr>
          <p:cNvPr id="3" name="Content Placeholder 2">
            <a:extLst>
              <a:ext uri="{FF2B5EF4-FFF2-40B4-BE49-F238E27FC236}">
                <a16:creationId xmlns:a16="http://schemas.microsoft.com/office/drawing/2014/main" id="{B36E389C-30B7-02A9-49E7-68E9C5792E12}"/>
              </a:ext>
            </a:extLst>
          </p:cNvPr>
          <p:cNvSpPr>
            <a:spLocks noGrp="1"/>
          </p:cNvSpPr>
          <p:nvPr>
            <p:ph sz="quarter" idx="10"/>
          </p:nvPr>
        </p:nvSpPr>
        <p:spPr/>
        <p:txBody>
          <a:bodyPr>
            <a:normAutofit/>
          </a:bodyPr>
          <a:lstStyle/>
          <a:p>
            <a:r>
              <a:rPr lang="en-US" sz="1800">
                <a:latin typeface="+mj-lt"/>
              </a:rPr>
              <a:t>x % y</a:t>
            </a:r>
            <a:r>
              <a:rPr lang="en-US" sz="1800"/>
              <a:t> returns the </a:t>
            </a:r>
            <a:r>
              <a:rPr lang="en-US" sz="1800" b="1"/>
              <a:t>remainder</a:t>
            </a:r>
            <a:r>
              <a:rPr lang="en-US" sz="1800"/>
              <a:t> of </a:t>
            </a:r>
            <a:r>
              <a:rPr lang="en-US">
                <a:latin typeface="Consolas" panose="020B0609020204030204" pitchFamily="49" charset="0"/>
                <a:cs typeface="Consolas" panose="020B0609020204030204" pitchFamily="49" charset="0"/>
              </a:rPr>
              <a:t>(</a:t>
            </a:r>
            <a:r>
              <a:rPr lang="en-US" sz="1800">
                <a:latin typeface="Consolas" panose="020B0609020204030204" pitchFamily="49" charset="0"/>
                <a:cs typeface="Consolas" panose="020B0609020204030204" pitchFamily="49" charset="0"/>
              </a:rPr>
              <a:t>x / y)</a:t>
            </a:r>
            <a:r>
              <a:rPr lang="en-US" sz="1800">
                <a:latin typeface="+mj-lt"/>
              </a:rPr>
              <a:t> </a:t>
            </a:r>
            <a:r>
              <a:rPr lang="en-US"/>
              <a:t>and is read "x </a:t>
            </a:r>
            <a:r>
              <a:rPr lang="en-US" b="1"/>
              <a:t>modulo</a:t>
            </a:r>
            <a:r>
              <a:rPr lang="en-US"/>
              <a:t> y"</a:t>
            </a:r>
            <a:endParaRPr lang="en-US" sz="1800"/>
          </a:p>
          <a:p>
            <a:pPr lvl="1"/>
            <a:r>
              <a:rPr lang="en-US">
                <a:solidFill>
                  <a:srgbClr val="000080"/>
                </a:solidFill>
                <a:effectLst/>
                <a:latin typeface="+mj-lt"/>
              </a:rPr>
              <a:t>int</a:t>
            </a:r>
            <a:r>
              <a:rPr lang="en-US">
                <a:latin typeface="+mj-lt"/>
              </a:rPr>
              <a:t> foo </a:t>
            </a:r>
            <a:r>
              <a:rPr lang="en-US">
                <a:effectLst/>
                <a:latin typeface="+mj-lt"/>
              </a:rPr>
              <a:t>=</a:t>
            </a:r>
            <a:r>
              <a:rPr lang="en-US">
                <a:latin typeface="+mj-lt"/>
              </a:rPr>
              <a:t> </a:t>
            </a:r>
            <a:r>
              <a:rPr lang="en-US">
                <a:solidFill>
                  <a:srgbClr val="02B5B5"/>
                </a:solidFill>
                <a:effectLst/>
                <a:latin typeface="+mj-lt"/>
              </a:rPr>
              <a:t>17</a:t>
            </a:r>
            <a:r>
              <a:rPr lang="en-US">
                <a:latin typeface="+mj-lt"/>
              </a:rPr>
              <a:t> </a:t>
            </a:r>
            <a:r>
              <a:rPr lang="en-US">
                <a:effectLst/>
                <a:latin typeface="+mj-lt"/>
              </a:rPr>
              <a:t>%</a:t>
            </a:r>
            <a:r>
              <a:rPr lang="en-US">
                <a:latin typeface="+mj-lt"/>
              </a:rPr>
              <a:t> </a:t>
            </a:r>
            <a:r>
              <a:rPr lang="en-US">
                <a:solidFill>
                  <a:srgbClr val="02B5B5"/>
                </a:solidFill>
                <a:effectLst/>
                <a:latin typeface="+mj-lt"/>
              </a:rPr>
              <a:t>5</a:t>
            </a:r>
            <a:r>
              <a:rPr lang="en-US">
                <a:latin typeface="+mj-lt"/>
              </a:rPr>
              <a:t>; </a:t>
            </a:r>
            <a:r>
              <a:rPr lang="en-US">
                <a:solidFill>
                  <a:srgbClr val="007B00"/>
                </a:solidFill>
                <a:effectLst/>
                <a:latin typeface="+mj-lt"/>
              </a:rPr>
              <a:t>// 2 ("17 divided by 5 is 3 remainder 2")</a:t>
            </a:r>
            <a:endParaRPr lang="en-US">
              <a:latin typeface="+mj-lt"/>
            </a:endParaRPr>
          </a:p>
          <a:p>
            <a:r>
              <a:rPr lang="en-US" b="1">
                <a:effectLst/>
              </a:rPr>
              <a:t>☠ </a:t>
            </a:r>
            <a:r>
              <a:rPr kumimoji="0" lang="en-US" sz="1800" b="1" u="none" strike="noStrike" kern="1200" cap="none" spc="0" normalizeH="0" baseline="0" noProof="0">
                <a:ln>
                  <a:noFill/>
                </a:ln>
                <a:effectLst/>
                <a:uLnTx/>
                <a:uFillTx/>
                <a:latin typeface="Consolas"/>
                <a:ea typeface="Segoe UI Emoji" panose="020B0502040204020203" pitchFamily="34" charset="0"/>
                <a:cs typeface="+mn-cs"/>
              </a:rPr>
              <a:t>%</a:t>
            </a:r>
            <a:r>
              <a:rPr lang="en-US" b="1">
                <a:effectLst/>
              </a:rPr>
              <a:t> probably doesn't do what you expect for negative numbers</a:t>
            </a:r>
            <a:r>
              <a:rPr lang="en-US" b="1"/>
              <a:t>;</a:t>
            </a:r>
            <a:br>
              <a:rPr lang="en-US" b="1"/>
            </a:br>
            <a:r>
              <a:rPr lang="en-US" b="1"/>
              <a:t>if </a:t>
            </a:r>
            <a:r>
              <a:rPr lang="en-US" b="1">
                <a:latin typeface="+mj-lt"/>
              </a:rPr>
              <a:t>x</a:t>
            </a:r>
            <a:r>
              <a:rPr lang="en-US" b="1"/>
              <a:t> can be negative, use </a:t>
            </a:r>
            <a:r>
              <a:rPr lang="en-US" b="1" err="1">
                <a:solidFill>
                  <a:srgbClr val="000080"/>
                </a:solidFill>
                <a:latin typeface="+mj-lt"/>
              </a:rPr>
              <a:t>MODULO</a:t>
            </a:r>
            <a:r>
              <a:rPr lang="en-US" b="1">
                <a:latin typeface="+mj-lt"/>
              </a:rPr>
              <a:t>(x, y)</a:t>
            </a:r>
            <a:r>
              <a:rPr lang="en-US" b="1"/>
              <a:t> instead</a:t>
            </a:r>
            <a:endParaRPr lang="en-US" b="1">
              <a:effectLst/>
            </a:endParaRPr>
          </a:p>
          <a:p>
            <a:pPr lvl="1"/>
            <a:r>
              <a:rPr lang="en-US" b="1">
                <a:solidFill>
                  <a:srgbClr val="0CB5B5"/>
                </a:solidFill>
                <a:effectLst/>
                <a:latin typeface="Consolas" panose="020B0609020204030204" pitchFamily="49" charset="0"/>
                <a:cs typeface="Consolas" panose="020B0609020204030204" pitchFamily="49" charset="0"/>
              </a:rPr>
              <a:t> 5</a:t>
            </a:r>
            <a:r>
              <a:rPr lang="en-US" b="1">
                <a:effectLst/>
                <a:latin typeface="Consolas" panose="020B0609020204030204" pitchFamily="49" charset="0"/>
                <a:cs typeface="Consolas" panose="020B0609020204030204" pitchFamily="49" charset="0"/>
              </a:rPr>
              <a:t> % </a:t>
            </a:r>
            <a:r>
              <a:rPr lang="en-US" b="1">
                <a:solidFill>
                  <a:srgbClr val="0CB5B5"/>
                </a:solidFill>
                <a:effectLst/>
                <a:latin typeface="Consolas" panose="020B0609020204030204" pitchFamily="49" charset="0"/>
                <a:cs typeface="Consolas" panose="020B0609020204030204" pitchFamily="49" charset="0"/>
              </a:rPr>
              <a:t>3</a:t>
            </a:r>
            <a:r>
              <a:rPr lang="en-US" b="1">
                <a:effectLst/>
                <a:latin typeface="Consolas" panose="020B0609020204030204" pitchFamily="49" charset="0"/>
                <a:cs typeface="Consolas" panose="020B0609020204030204" pitchFamily="49" charset="0"/>
              </a:rPr>
              <a:t> </a:t>
            </a:r>
            <a:r>
              <a:rPr lang="en-US" b="1">
                <a:solidFill>
                  <a:srgbClr val="007B00"/>
                </a:solidFill>
                <a:effectLst/>
                <a:latin typeface="Consolas" panose="020B0609020204030204" pitchFamily="49" charset="0"/>
                <a:cs typeface="Consolas" panose="020B0609020204030204" pitchFamily="49" charset="0"/>
              </a:rPr>
              <a:t>//  2</a:t>
            </a:r>
          </a:p>
          <a:p>
            <a:pPr lvl="1"/>
            <a:r>
              <a:rPr lang="en-US" b="1">
                <a:solidFill>
                  <a:srgbClr val="0CB5B5"/>
                </a:solidFill>
                <a:latin typeface="Consolas" panose="020B0609020204030204" pitchFamily="49" charset="0"/>
                <a:cs typeface="Consolas" panose="020B0609020204030204" pitchFamily="49" charset="0"/>
              </a:rPr>
              <a:t> 4</a:t>
            </a:r>
            <a:r>
              <a:rPr lang="en-US" b="1">
                <a:effectLst/>
                <a:latin typeface="Consolas" panose="020B0609020204030204" pitchFamily="49" charset="0"/>
                <a:cs typeface="Consolas" panose="020B0609020204030204" pitchFamily="49" charset="0"/>
              </a:rPr>
              <a:t> % </a:t>
            </a:r>
            <a:r>
              <a:rPr lang="en-US" b="1">
                <a:solidFill>
                  <a:srgbClr val="0CB5B5"/>
                </a:solidFill>
                <a:effectLst/>
                <a:latin typeface="Consolas" panose="020B0609020204030204" pitchFamily="49" charset="0"/>
                <a:cs typeface="Consolas" panose="020B0609020204030204" pitchFamily="49" charset="0"/>
              </a:rPr>
              <a:t>3</a:t>
            </a:r>
            <a:r>
              <a:rPr lang="en-US" b="1">
                <a:effectLst/>
                <a:latin typeface="Consolas" panose="020B0609020204030204" pitchFamily="49" charset="0"/>
                <a:cs typeface="Consolas" panose="020B0609020204030204" pitchFamily="49" charset="0"/>
              </a:rPr>
              <a:t> </a:t>
            </a:r>
            <a:r>
              <a:rPr lang="en-US" b="1">
                <a:solidFill>
                  <a:srgbClr val="007B00"/>
                </a:solidFill>
                <a:effectLst/>
                <a:latin typeface="Consolas" panose="020B0609020204030204" pitchFamily="49" charset="0"/>
                <a:cs typeface="Consolas" panose="020B0609020204030204" pitchFamily="49" charset="0"/>
              </a:rPr>
              <a:t>//  1</a:t>
            </a:r>
          </a:p>
          <a:p>
            <a:pPr lvl="1"/>
            <a:r>
              <a:rPr lang="en-US" b="1">
                <a:solidFill>
                  <a:srgbClr val="0CB5B5"/>
                </a:solidFill>
                <a:effectLst/>
                <a:latin typeface="Consolas" panose="020B0609020204030204" pitchFamily="49" charset="0"/>
                <a:cs typeface="Consolas" panose="020B0609020204030204" pitchFamily="49" charset="0"/>
              </a:rPr>
              <a:t> 3</a:t>
            </a:r>
            <a:r>
              <a:rPr lang="en-US" b="1">
                <a:effectLst/>
                <a:latin typeface="Consolas" panose="020B0609020204030204" pitchFamily="49" charset="0"/>
                <a:cs typeface="Consolas" panose="020B0609020204030204" pitchFamily="49" charset="0"/>
              </a:rPr>
              <a:t> % </a:t>
            </a:r>
            <a:r>
              <a:rPr lang="en-US" b="1">
                <a:solidFill>
                  <a:srgbClr val="0CB5B5"/>
                </a:solidFill>
                <a:effectLst/>
                <a:latin typeface="Consolas" panose="020B0609020204030204" pitchFamily="49" charset="0"/>
                <a:cs typeface="Consolas" panose="020B0609020204030204" pitchFamily="49" charset="0"/>
              </a:rPr>
              <a:t>3</a:t>
            </a:r>
            <a:r>
              <a:rPr lang="en-US" b="1">
                <a:effectLst/>
                <a:latin typeface="Consolas" panose="020B0609020204030204" pitchFamily="49" charset="0"/>
                <a:cs typeface="Consolas" panose="020B0609020204030204" pitchFamily="49" charset="0"/>
              </a:rPr>
              <a:t> </a:t>
            </a:r>
            <a:r>
              <a:rPr lang="en-US" b="1">
                <a:solidFill>
                  <a:srgbClr val="007B00"/>
                </a:solidFill>
                <a:effectLst/>
                <a:latin typeface="Consolas" panose="020B0609020204030204" pitchFamily="49" charset="0"/>
                <a:cs typeface="Consolas" panose="020B0609020204030204" pitchFamily="49" charset="0"/>
              </a:rPr>
              <a:t>//  0</a:t>
            </a:r>
            <a:r>
              <a:rPr lang="en-US" b="1">
                <a:solidFill>
                  <a:srgbClr val="0CB5B5"/>
                </a:solidFill>
                <a:effectLst/>
                <a:latin typeface="Consolas" panose="020B0609020204030204" pitchFamily="49" charset="0"/>
                <a:cs typeface="Consolas" panose="020B0609020204030204" pitchFamily="49" charset="0"/>
              </a:rPr>
              <a:t> </a:t>
            </a:r>
          </a:p>
          <a:p>
            <a:pPr lvl="1"/>
            <a:r>
              <a:rPr lang="en-US" b="1">
                <a:solidFill>
                  <a:srgbClr val="0CB5B5"/>
                </a:solidFill>
                <a:latin typeface="Consolas" panose="020B0609020204030204" pitchFamily="49" charset="0"/>
                <a:cs typeface="Consolas" panose="020B0609020204030204" pitchFamily="49" charset="0"/>
              </a:rPr>
              <a:t> </a:t>
            </a:r>
            <a:r>
              <a:rPr lang="en-US" b="1">
                <a:solidFill>
                  <a:srgbClr val="0CB5B5"/>
                </a:solidFill>
                <a:effectLst/>
                <a:latin typeface="Consolas" panose="020B0609020204030204" pitchFamily="49" charset="0"/>
                <a:cs typeface="Consolas" panose="020B0609020204030204" pitchFamily="49" charset="0"/>
              </a:rPr>
              <a:t>2</a:t>
            </a:r>
            <a:r>
              <a:rPr lang="en-US" b="1">
                <a:effectLst/>
                <a:latin typeface="Consolas" panose="020B0609020204030204" pitchFamily="49" charset="0"/>
                <a:cs typeface="Consolas" panose="020B0609020204030204" pitchFamily="49" charset="0"/>
              </a:rPr>
              <a:t> % </a:t>
            </a:r>
            <a:r>
              <a:rPr lang="en-US" b="1">
                <a:solidFill>
                  <a:srgbClr val="0CB5B5"/>
                </a:solidFill>
                <a:effectLst/>
                <a:latin typeface="Consolas" panose="020B0609020204030204" pitchFamily="49" charset="0"/>
                <a:cs typeface="Consolas" panose="020B0609020204030204" pitchFamily="49" charset="0"/>
              </a:rPr>
              <a:t>3</a:t>
            </a:r>
            <a:r>
              <a:rPr lang="en-US" b="1">
                <a:effectLst/>
                <a:latin typeface="Consolas" panose="020B0609020204030204" pitchFamily="49" charset="0"/>
                <a:cs typeface="Consolas" panose="020B0609020204030204" pitchFamily="49" charset="0"/>
              </a:rPr>
              <a:t> </a:t>
            </a:r>
            <a:r>
              <a:rPr lang="en-US" b="1">
                <a:solidFill>
                  <a:srgbClr val="007B00"/>
                </a:solidFill>
                <a:effectLst/>
                <a:latin typeface="Consolas" panose="020B0609020204030204" pitchFamily="49" charset="0"/>
                <a:cs typeface="Consolas" panose="020B0609020204030204" pitchFamily="49" charset="0"/>
              </a:rPr>
              <a:t>//  2</a:t>
            </a:r>
          </a:p>
          <a:p>
            <a:pPr lvl="1"/>
            <a:r>
              <a:rPr lang="en-US" b="1">
                <a:solidFill>
                  <a:srgbClr val="0CB5B5"/>
                </a:solidFill>
                <a:latin typeface="Consolas" panose="020B0609020204030204" pitchFamily="49" charset="0"/>
                <a:cs typeface="Consolas" panose="020B0609020204030204" pitchFamily="49" charset="0"/>
              </a:rPr>
              <a:t> 1</a:t>
            </a:r>
            <a:r>
              <a:rPr lang="en-US" b="1">
                <a:effectLst/>
                <a:latin typeface="Consolas" panose="020B0609020204030204" pitchFamily="49" charset="0"/>
                <a:cs typeface="Consolas" panose="020B0609020204030204" pitchFamily="49" charset="0"/>
              </a:rPr>
              <a:t> % </a:t>
            </a:r>
            <a:r>
              <a:rPr lang="en-US" b="1">
                <a:solidFill>
                  <a:srgbClr val="0CB5B5"/>
                </a:solidFill>
                <a:effectLst/>
                <a:latin typeface="Consolas" panose="020B0609020204030204" pitchFamily="49" charset="0"/>
                <a:cs typeface="Consolas" panose="020B0609020204030204" pitchFamily="49" charset="0"/>
              </a:rPr>
              <a:t>3</a:t>
            </a:r>
            <a:r>
              <a:rPr lang="en-US" b="1">
                <a:effectLst/>
                <a:latin typeface="Consolas" panose="020B0609020204030204" pitchFamily="49" charset="0"/>
                <a:cs typeface="Consolas" panose="020B0609020204030204" pitchFamily="49" charset="0"/>
              </a:rPr>
              <a:t> </a:t>
            </a:r>
            <a:r>
              <a:rPr lang="en-US" b="1">
                <a:solidFill>
                  <a:srgbClr val="007B00"/>
                </a:solidFill>
                <a:effectLst/>
                <a:latin typeface="Consolas" panose="020B0609020204030204" pitchFamily="49" charset="0"/>
                <a:cs typeface="Consolas" panose="020B0609020204030204" pitchFamily="49" charset="0"/>
              </a:rPr>
              <a:t>//  1</a:t>
            </a:r>
          </a:p>
          <a:p>
            <a:pPr lvl="1"/>
            <a:r>
              <a:rPr lang="en-US" b="1">
                <a:solidFill>
                  <a:srgbClr val="0CB5B5"/>
                </a:solidFill>
                <a:effectLst/>
                <a:latin typeface="Consolas" panose="020B0609020204030204" pitchFamily="49" charset="0"/>
                <a:cs typeface="Consolas" panose="020B0609020204030204" pitchFamily="49" charset="0"/>
              </a:rPr>
              <a:t> 0</a:t>
            </a:r>
            <a:r>
              <a:rPr lang="en-US" b="1">
                <a:effectLst/>
                <a:latin typeface="Consolas" panose="020B0609020204030204" pitchFamily="49" charset="0"/>
                <a:cs typeface="Consolas" panose="020B0609020204030204" pitchFamily="49" charset="0"/>
              </a:rPr>
              <a:t> % </a:t>
            </a:r>
            <a:r>
              <a:rPr lang="en-US" b="1">
                <a:solidFill>
                  <a:srgbClr val="0CB5B5"/>
                </a:solidFill>
                <a:effectLst/>
                <a:latin typeface="Consolas" panose="020B0609020204030204" pitchFamily="49" charset="0"/>
                <a:cs typeface="Consolas" panose="020B0609020204030204" pitchFamily="49" charset="0"/>
              </a:rPr>
              <a:t>3</a:t>
            </a:r>
            <a:r>
              <a:rPr lang="en-US" b="1">
                <a:effectLst/>
                <a:latin typeface="Consolas" panose="020B0609020204030204" pitchFamily="49" charset="0"/>
                <a:cs typeface="Consolas" panose="020B0609020204030204" pitchFamily="49" charset="0"/>
              </a:rPr>
              <a:t> </a:t>
            </a:r>
            <a:r>
              <a:rPr lang="en-US" b="1">
                <a:solidFill>
                  <a:srgbClr val="007B00"/>
                </a:solidFill>
                <a:effectLst/>
                <a:latin typeface="Consolas" panose="020B0609020204030204" pitchFamily="49" charset="0"/>
                <a:cs typeface="Consolas" panose="020B0609020204030204" pitchFamily="49" charset="0"/>
              </a:rPr>
              <a:t>//  0</a:t>
            </a:r>
            <a:endParaRPr lang="en-US" b="1">
              <a:effectLst/>
            </a:endParaRPr>
          </a:p>
          <a:p>
            <a:pPr lvl="1"/>
            <a:r>
              <a:rPr lang="en-US" b="1">
                <a:effectLst/>
                <a:latin typeface="Consolas" panose="020B0609020204030204" pitchFamily="49" charset="0"/>
                <a:cs typeface="Consolas" panose="020B0609020204030204" pitchFamily="49" charset="0"/>
              </a:rPr>
              <a:t>-</a:t>
            </a:r>
            <a:r>
              <a:rPr lang="en-US" b="1">
                <a:solidFill>
                  <a:srgbClr val="0CB5B5"/>
                </a:solidFill>
                <a:effectLst/>
                <a:latin typeface="Consolas" panose="020B0609020204030204" pitchFamily="49" charset="0"/>
                <a:cs typeface="Consolas" panose="020B0609020204030204" pitchFamily="49" charset="0"/>
              </a:rPr>
              <a:t>1</a:t>
            </a:r>
            <a:r>
              <a:rPr lang="en-US" b="1">
                <a:effectLst/>
                <a:latin typeface="Consolas" panose="020B0609020204030204" pitchFamily="49" charset="0"/>
                <a:cs typeface="Consolas" panose="020B0609020204030204" pitchFamily="49" charset="0"/>
              </a:rPr>
              <a:t> % </a:t>
            </a:r>
            <a:r>
              <a:rPr lang="en-US" b="1">
                <a:solidFill>
                  <a:srgbClr val="0CB5B5"/>
                </a:solidFill>
                <a:effectLst/>
                <a:latin typeface="Consolas" panose="020B0609020204030204" pitchFamily="49" charset="0"/>
                <a:cs typeface="Consolas" panose="020B0609020204030204" pitchFamily="49" charset="0"/>
              </a:rPr>
              <a:t>3</a:t>
            </a:r>
            <a:r>
              <a:rPr lang="en-US" b="1">
                <a:effectLst/>
                <a:latin typeface="Consolas" panose="020B0609020204030204" pitchFamily="49" charset="0"/>
                <a:cs typeface="Consolas" panose="020B0609020204030204" pitchFamily="49" charset="0"/>
              </a:rPr>
              <a:t> </a:t>
            </a:r>
            <a:r>
              <a:rPr lang="en-US" b="1">
                <a:solidFill>
                  <a:srgbClr val="007B00"/>
                </a:solidFill>
                <a:effectLst/>
                <a:latin typeface="Consolas" panose="020B0609020204030204" pitchFamily="49" charset="0"/>
                <a:cs typeface="Consolas" panose="020B0609020204030204" pitchFamily="49" charset="0"/>
              </a:rPr>
              <a:t>// -1 WAIT WHAT 🤔</a:t>
            </a:r>
          </a:p>
          <a:p>
            <a:pPr lvl="1"/>
            <a:r>
              <a:rPr lang="en-US" b="1" err="1">
                <a:solidFill>
                  <a:srgbClr val="000080"/>
                </a:solidFill>
                <a:effectLst/>
                <a:latin typeface="Consolas" panose="020B0609020204030204" pitchFamily="49" charset="0"/>
                <a:cs typeface="Consolas" panose="020B0609020204030204" pitchFamily="49" charset="0"/>
              </a:rPr>
              <a:t>MODULO</a:t>
            </a:r>
            <a:r>
              <a:rPr lang="en-US" b="1">
                <a:effectLst/>
                <a:latin typeface="Consolas" panose="020B0609020204030204" pitchFamily="49" charset="0"/>
                <a:cs typeface="Consolas" panose="020B0609020204030204" pitchFamily="49" charset="0"/>
              </a:rPr>
              <a:t>(-</a:t>
            </a:r>
            <a:r>
              <a:rPr lang="en-US" b="1">
                <a:solidFill>
                  <a:srgbClr val="0CB5B5"/>
                </a:solidFill>
                <a:effectLst/>
                <a:latin typeface="Consolas" panose="020B0609020204030204" pitchFamily="49" charset="0"/>
                <a:cs typeface="Consolas" panose="020B0609020204030204" pitchFamily="49" charset="0"/>
              </a:rPr>
              <a:t>1</a:t>
            </a:r>
            <a:r>
              <a:rPr lang="en-US" b="1">
                <a:effectLst/>
                <a:latin typeface="Consolas" panose="020B0609020204030204" pitchFamily="49" charset="0"/>
                <a:cs typeface="Consolas" panose="020B0609020204030204" pitchFamily="49" charset="0"/>
              </a:rPr>
              <a:t>, </a:t>
            </a:r>
            <a:r>
              <a:rPr lang="en-US" b="1">
                <a:solidFill>
                  <a:srgbClr val="0CB5B5"/>
                </a:solidFill>
                <a:effectLst/>
                <a:latin typeface="Consolas" panose="020B0609020204030204" pitchFamily="49" charset="0"/>
                <a:cs typeface="Consolas" panose="020B0609020204030204" pitchFamily="49" charset="0"/>
              </a:rPr>
              <a:t>3</a:t>
            </a:r>
            <a:r>
              <a:rPr lang="en-US" b="1">
                <a:effectLst/>
                <a:latin typeface="Consolas" panose="020B0609020204030204" pitchFamily="49" charset="0"/>
                <a:cs typeface="Consolas" panose="020B0609020204030204" pitchFamily="49" charset="0"/>
              </a:rPr>
              <a:t>) </a:t>
            </a:r>
            <a:r>
              <a:rPr lang="en-US" b="1">
                <a:solidFill>
                  <a:srgbClr val="007B00"/>
                </a:solidFill>
                <a:effectLst/>
                <a:latin typeface="Consolas" panose="020B0609020204030204" pitchFamily="49" charset="0"/>
                <a:cs typeface="Consolas" panose="020B0609020204030204" pitchFamily="49" charset="0"/>
              </a:rPr>
              <a:t>// 2 🙂👍</a:t>
            </a:r>
          </a:p>
          <a:p>
            <a:pPr lvl="1"/>
            <a:endParaRPr lang="en-US" b="1">
              <a:solidFill>
                <a:srgbClr val="007B00"/>
              </a:solidFill>
              <a:effectLst/>
              <a:latin typeface="Consolas" panose="020B0609020204030204" pitchFamily="49" charset="0"/>
              <a:cs typeface="Consolas" panose="020B0609020204030204" pitchFamily="49" charset="0"/>
            </a:endParaRPr>
          </a:p>
          <a:p>
            <a:pPr lvl="1"/>
            <a:endParaRPr lang="en-US" b="1">
              <a:effectLst/>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432267494"/>
      </p:ext>
    </p:extLst>
  </p:cSld>
  <p:clrMapOvr>
    <a:masterClrMapping/>
  </p:clrMapOvr>
</p:sld>
</file>

<file path=ppt/slides/slide6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13899-A857-0157-49A9-39F3D9D17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C12A82-9B9C-5DE2-E574-E6940B867257}"/>
              </a:ext>
            </a:extLst>
          </p:cNvPr>
          <p:cNvSpPr>
            <a:spLocks noGrp="1"/>
          </p:cNvSpPr>
          <p:nvPr>
            <p:ph type="title"/>
          </p:nvPr>
        </p:nvSpPr>
        <p:spPr/>
        <p:txBody>
          <a:bodyPr>
            <a:normAutofit/>
          </a:bodyPr>
          <a:lstStyle/>
          <a:p>
            <a:r>
              <a:rPr lang="en-US" err="1">
                <a:latin typeface="Consolas" panose="020B0609020204030204" pitchFamily="49" charset="0"/>
                <a:cs typeface="Consolas" panose="020B0609020204030204" pitchFamily="49" charset="0"/>
              </a:rPr>
              <a:t>MODULO</a:t>
            </a:r>
            <a:r>
              <a:rPr lang="en-US" err="1">
                <a:effectLst/>
                <a:latin typeface="Consolas" panose="020B0609020204030204" pitchFamily="49" charset="0"/>
                <a:cs typeface="Consolas" panose="020B0609020204030204" pitchFamily="49" charset="0"/>
              </a:rPr>
              <a:t>(x, y)</a:t>
            </a:r>
            <a:endParaRPr lang="en-US">
              <a:solidFill>
                <a:srgbClr val="F92672"/>
              </a:solidFill>
              <a:latin typeface="+mj-lt"/>
            </a:endParaRPr>
          </a:p>
        </p:txBody>
      </p:sp>
      <p:sp>
        <p:nvSpPr>
          <p:cNvPr id="3" name="Content Placeholder 2">
            <a:extLst>
              <a:ext uri="{FF2B5EF4-FFF2-40B4-BE49-F238E27FC236}">
                <a16:creationId xmlns:a16="http://schemas.microsoft.com/office/drawing/2014/main" id="{2E77BF27-40A3-7906-ED70-4FFCE16468ED}"/>
              </a:ext>
            </a:extLst>
          </p:cNvPr>
          <p:cNvSpPr>
            <a:spLocks noGrp="1"/>
          </p:cNvSpPr>
          <p:nvPr>
            <p:ph sz="quarter" idx="10"/>
          </p:nvPr>
        </p:nvSpPr>
        <p:spPr/>
        <p:txBody>
          <a:bodyPr>
            <a:noAutofit/>
          </a:bodyPr>
          <a:lstStyle/>
          <a:p>
            <a:r>
              <a:rPr lang="en-US" err="1">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5</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2</a:t>
            </a:r>
          </a:p>
          <a:p>
            <a:r>
              <a:rPr lang="en-US" err="1">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 </a:t>
            </a:r>
            <a:r>
              <a:rPr lang="en-US">
                <a:solidFill>
                  <a:srgbClr val="0CB5B5"/>
                </a:solidFill>
                <a:latin typeface="Consolas" panose="020B0609020204030204" pitchFamily="49" charset="0"/>
                <a:cs typeface="Consolas" panose="020B0609020204030204" pitchFamily="49" charset="0"/>
              </a:rPr>
              <a:t>4</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1</a:t>
            </a:r>
          </a:p>
          <a:p>
            <a:r>
              <a:rPr lang="en-US" err="1">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 </a:t>
            </a:r>
            <a:r>
              <a:rPr lang="en-US">
                <a:solidFill>
                  <a:srgbClr val="0CB5B5"/>
                </a:solidFill>
                <a:latin typeface="Consolas" panose="020B0609020204030204" pitchFamily="49" charset="0"/>
                <a:cs typeface="Consolas" panose="020B0609020204030204" pitchFamily="49" charset="0"/>
              </a:rPr>
              <a:t>3</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0</a:t>
            </a:r>
          </a:p>
          <a:p>
            <a:r>
              <a:rPr lang="en-US" err="1">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 </a:t>
            </a:r>
            <a:r>
              <a:rPr lang="en-US">
                <a:solidFill>
                  <a:srgbClr val="0CB5B5"/>
                </a:solidFill>
                <a:latin typeface="Consolas" panose="020B0609020204030204" pitchFamily="49" charset="0"/>
                <a:cs typeface="Consolas" panose="020B0609020204030204" pitchFamily="49" charset="0"/>
              </a:rPr>
              <a:t>2</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2</a:t>
            </a:r>
          </a:p>
          <a:p>
            <a:r>
              <a:rPr lang="en-US" err="1">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 </a:t>
            </a:r>
            <a:r>
              <a:rPr lang="en-US">
                <a:solidFill>
                  <a:srgbClr val="0CB5B5"/>
                </a:solidFill>
                <a:latin typeface="Consolas" panose="020B0609020204030204" pitchFamily="49" charset="0"/>
                <a:cs typeface="Consolas" panose="020B0609020204030204" pitchFamily="49" charset="0"/>
              </a:rPr>
              <a:t>1</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1</a:t>
            </a:r>
          </a:p>
          <a:p>
            <a:r>
              <a:rPr lang="en-US" err="1">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 </a:t>
            </a:r>
            <a:r>
              <a:rPr lang="en-US">
                <a:solidFill>
                  <a:srgbClr val="0CB5B5"/>
                </a:solidFill>
                <a:latin typeface="Consolas" panose="020B0609020204030204" pitchFamily="49" charset="0"/>
                <a:cs typeface="Consolas" panose="020B0609020204030204" pitchFamily="49" charset="0"/>
              </a:rPr>
              <a:t>0</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0</a:t>
            </a:r>
          </a:p>
          <a:p>
            <a:r>
              <a:rPr lang="en-US" err="1">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1</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2</a:t>
            </a:r>
          </a:p>
          <a:p>
            <a:r>
              <a:rPr lang="en-US" err="1">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2</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1</a:t>
            </a:r>
          </a:p>
          <a:p>
            <a:r>
              <a:rPr lang="en-US" err="1">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3</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0</a:t>
            </a:r>
          </a:p>
          <a:p>
            <a:r>
              <a:rPr lang="en-US" err="1">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4</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2</a:t>
            </a:r>
          </a:p>
          <a:p>
            <a:r>
              <a:rPr lang="en-US" err="1">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a:t>
            </a:r>
            <a:r>
              <a:rPr lang="en-US">
                <a:solidFill>
                  <a:srgbClr val="0CB5B5"/>
                </a:solidFill>
                <a:effectLst/>
                <a:latin typeface="Consolas" panose="020B0609020204030204" pitchFamily="49" charset="0"/>
                <a:cs typeface="Consolas" panose="020B0609020204030204" pitchFamily="49" charset="0"/>
              </a:rPr>
              <a:t>5</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1</a:t>
            </a:r>
          </a:p>
          <a:p>
            <a:r>
              <a:rPr lang="en-US" err="1">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a:t>
            </a:r>
            <a:r>
              <a:rPr lang="en-US">
                <a:solidFill>
                  <a:srgbClr val="0CB5B5"/>
                </a:solidFill>
                <a:latin typeface="Consolas" panose="020B0609020204030204" pitchFamily="49" charset="0"/>
                <a:cs typeface="Consolas" panose="020B0609020204030204" pitchFamily="49" charset="0"/>
              </a:rPr>
              <a:t>6</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0</a:t>
            </a:r>
          </a:p>
          <a:p>
            <a:r>
              <a:rPr lang="en-US" err="1">
                <a:latin typeface="Consolas" panose="020B0609020204030204" pitchFamily="49" charset="0"/>
                <a:cs typeface="Consolas" panose="020B0609020204030204" pitchFamily="49" charset="0"/>
              </a:rPr>
              <a:t>MODULO</a:t>
            </a:r>
            <a:r>
              <a:rPr lang="en-US">
                <a:effectLst/>
                <a:latin typeface="Consolas" panose="020B0609020204030204" pitchFamily="49" charset="0"/>
                <a:cs typeface="Consolas" panose="020B0609020204030204" pitchFamily="49" charset="0"/>
              </a:rPr>
              <a:t>(-</a:t>
            </a:r>
            <a:r>
              <a:rPr lang="en-US">
                <a:solidFill>
                  <a:srgbClr val="0CB5B5"/>
                </a:solidFill>
                <a:effectLst/>
                <a:latin typeface="Consolas" panose="020B0609020204030204" pitchFamily="49" charset="0"/>
                <a:cs typeface="Consolas" panose="020B0609020204030204" pitchFamily="49" charset="0"/>
              </a:rPr>
              <a:t>7</a:t>
            </a:r>
            <a:r>
              <a:rPr lang="en-US">
                <a:latin typeface="Consolas" panose="020B0609020204030204" pitchFamily="49" charset="0"/>
                <a:cs typeface="Consolas" panose="020B0609020204030204" pitchFamily="49" charset="0"/>
              </a:rPr>
              <a:t>,</a:t>
            </a:r>
            <a:r>
              <a:rPr lang="en-US">
                <a:effectLst/>
                <a:latin typeface="Consolas" panose="020B0609020204030204" pitchFamily="49" charset="0"/>
                <a:cs typeface="Consolas" panose="020B0609020204030204" pitchFamily="49" charset="0"/>
              </a:rPr>
              <a:t> </a:t>
            </a:r>
            <a:r>
              <a:rPr lang="en-US">
                <a:solidFill>
                  <a:srgbClr val="0CB5B5"/>
                </a:solidFill>
                <a:effectLst/>
                <a:latin typeface="Consolas" panose="020B0609020204030204" pitchFamily="49" charset="0"/>
                <a:cs typeface="Consolas" panose="020B0609020204030204" pitchFamily="49" charset="0"/>
              </a:rPr>
              <a:t>3</a:t>
            </a:r>
            <a:r>
              <a:rPr lang="en-US">
                <a:effectLst/>
                <a:latin typeface="Consolas" panose="020B0609020204030204" pitchFamily="49" charset="0"/>
                <a:cs typeface="Consolas" panose="020B0609020204030204" pitchFamily="49" charset="0"/>
              </a:rPr>
              <a:t>) </a:t>
            </a:r>
            <a:r>
              <a:rPr lang="en-US">
                <a:solidFill>
                  <a:srgbClr val="007B00"/>
                </a:solidFill>
                <a:effectLst/>
                <a:latin typeface="Consolas" panose="020B0609020204030204" pitchFamily="49" charset="0"/>
                <a:cs typeface="Consolas" panose="020B0609020204030204" pitchFamily="49" charset="0"/>
              </a:rPr>
              <a:t>// 2</a:t>
            </a:r>
          </a:p>
        </p:txBody>
      </p:sp>
    </p:spTree>
    <p:extLst>
      <p:ext uri="{BB962C8B-B14F-4D97-AF65-F5344CB8AC3E}">
        <p14:creationId xmlns:p14="http://schemas.microsoft.com/office/powerpoint/2010/main" val="182016364"/>
      </p:ext>
    </p:extLst>
  </p:cSld>
  <p:clrMapOvr>
    <a:masterClrMapping/>
  </p:clrMapOvr>
</p:sld>
</file>

<file path=ppt/slides/slide6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67F17-AFEF-410A-CA4F-F8C43AC5118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0697B48-2D99-B307-103C-A91EAA3A82A0}"/>
              </a:ext>
            </a:extLst>
          </p:cNvPr>
          <p:cNvSpPr>
            <a:spLocks noGrp="1"/>
          </p:cNvSpPr>
          <p:nvPr>
            <p:ph type="title"/>
          </p:nvPr>
        </p:nvSpPr>
        <p:spPr/>
        <p:txBody>
          <a:bodyPr/>
          <a:lstStyle/>
          <a:p>
            <a:r>
              <a:rPr lang="en-US"/>
              <a:t>logical operators</a:t>
            </a:r>
          </a:p>
        </p:txBody>
      </p:sp>
    </p:spTree>
    <p:extLst>
      <p:ext uri="{BB962C8B-B14F-4D97-AF65-F5344CB8AC3E}">
        <p14:creationId xmlns:p14="http://schemas.microsoft.com/office/powerpoint/2010/main" val="3788019196"/>
      </p:ext>
    </p:extLst>
  </p:cSld>
  <p:clrMapOvr>
    <a:masterClrMapping/>
  </p:clrMapOvr>
</p:sld>
</file>

<file path=ppt/slides/slide6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66719-E9FB-3F9C-BB28-8FB4FF6C39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590B4E-C523-7091-3C61-11BA36C2FD57}"/>
              </a:ext>
            </a:extLst>
          </p:cNvPr>
          <p:cNvSpPr>
            <a:spLocks noGrp="1"/>
          </p:cNvSpPr>
          <p:nvPr>
            <p:ph type="title"/>
          </p:nvPr>
        </p:nvSpPr>
        <p:spPr/>
        <p:txBody>
          <a:bodyPr/>
          <a:lstStyle/>
          <a:p>
            <a:r>
              <a:rPr lang="en-US"/>
              <a:t>logical operators (1/2)</a:t>
            </a:r>
          </a:p>
        </p:txBody>
      </p:sp>
      <p:sp>
        <p:nvSpPr>
          <p:cNvPr id="3" name="Content Placeholder 2">
            <a:extLst>
              <a:ext uri="{FF2B5EF4-FFF2-40B4-BE49-F238E27FC236}">
                <a16:creationId xmlns:a16="http://schemas.microsoft.com/office/drawing/2014/main" id="{062DD1E5-760F-946C-1BDB-23A7265094B7}"/>
              </a:ext>
            </a:extLst>
          </p:cNvPr>
          <p:cNvSpPr>
            <a:spLocks noGrp="1"/>
          </p:cNvSpPr>
          <p:nvPr>
            <p:ph sz="quarter" idx="10"/>
          </p:nvPr>
        </p:nvSpPr>
        <p:spPr/>
        <p:txBody>
          <a:bodyPr>
            <a:normAutofit fontScale="92500" lnSpcReduction="10000"/>
          </a:bodyPr>
          <a:lstStyle/>
          <a:p>
            <a:r>
              <a:rPr lang="en-US" b="1">
                <a:latin typeface="+mj-lt"/>
              </a:rPr>
              <a:t>||</a:t>
            </a:r>
            <a:r>
              <a:rPr lang="en-US"/>
              <a:t> returns whether the left-hand side </a:t>
            </a:r>
            <a:r>
              <a:rPr lang="en-US" b="1"/>
              <a:t>or</a:t>
            </a:r>
            <a:r>
              <a:rPr lang="en-US"/>
              <a:t> the right-hand side is true</a:t>
            </a:r>
          </a:p>
          <a:p>
            <a:pPr lvl="1"/>
            <a:r>
              <a:rPr lang="en-US">
                <a:effectLst/>
                <a:latin typeface="Consolas" panose="020B0609020204030204" pitchFamily="49" charset="0"/>
              </a:rPr>
              <a:t>(</a:t>
            </a:r>
            <a:r>
              <a:rPr lang="en-US">
                <a:solidFill>
                  <a:srgbClr val="0000FF"/>
                </a:solidFill>
                <a:effectLst/>
                <a:latin typeface="Consolas" panose="020B0609020204030204" pitchFamily="49" charset="0"/>
              </a:rPr>
              <a:t>true</a:t>
            </a:r>
            <a:r>
              <a:rPr lang="en-US">
                <a:effectLst/>
                <a:latin typeface="Consolas" panose="020B0609020204030204" pitchFamily="49" charset="0"/>
              </a:rPr>
              <a:t>  ||  </a:t>
            </a:r>
            <a:r>
              <a:rPr lang="en-US">
                <a:solidFill>
                  <a:srgbClr val="0000FF"/>
                </a:solidFill>
                <a:effectLst/>
                <a:latin typeface="Consolas" panose="020B0609020204030204" pitchFamily="49" charset="0"/>
              </a:rPr>
              <a:t>true</a:t>
            </a:r>
            <a:r>
              <a:rPr lang="en-US">
                <a:effectLst/>
                <a:latin typeface="Consolas" panose="020B0609020204030204" pitchFamily="49" charset="0"/>
              </a:rPr>
              <a:t>) </a:t>
            </a:r>
            <a:r>
              <a:rPr lang="en-US">
                <a:solidFill>
                  <a:srgbClr val="007B00"/>
                </a:solidFill>
                <a:effectLst/>
                <a:latin typeface="Consolas" panose="020B0609020204030204" pitchFamily="49" charset="0"/>
              </a:rPr>
              <a:t>// true</a:t>
            </a:r>
            <a:endParaRPr lang="en-US">
              <a:solidFill>
                <a:srgbClr val="007B00"/>
              </a:solidFill>
              <a:latin typeface="Consolas" panose="020B0609020204030204" pitchFamily="49" charset="0"/>
            </a:endParaRPr>
          </a:p>
          <a:p>
            <a:pPr lvl="1"/>
            <a:r>
              <a:rPr lang="en-US">
                <a:effectLst/>
                <a:latin typeface="Consolas" panose="020B0609020204030204" pitchFamily="49" charset="0"/>
              </a:rPr>
              <a:t>(</a:t>
            </a:r>
            <a:r>
              <a:rPr lang="en-US">
                <a:solidFill>
                  <a:srgbClr val="0000FF"/>
                </a:solidFill>
                <a:effectLst/>
                <a:latin typeface="Consolas" panose="020B0609020204030204" pitchFamily="49" charset="0"/>
              </a:rPr>
              <a:t>true</a:t>
            </a:r>
            <a:r>
              <a:rPr lang="en-US">
                <a:effectLst/>
                <a:latin typeface="Consolas" panose="020B0609020204030204" pitchFamily="49" charset="0"/>
              </a:rPr>
              <a:t>  || </a:t>
            </a:r>
            <a:r>
              <a:rPr lang="en-US">
                <a:solidFill>
                  <a:srgbClr val="0000FF"/>
                </a:solidFill>
                <a:effectLst/>
                <a:latin typeface="Consolas" panose="020B0609020204030204" pitchFamily="49" charset="0"/>
              </a:rPr>
              <a:t>false</a:t>
            </a:r>
            <a:r>
              <a:rPr lang="en-US">
                <a:effectLst/>
                <a:latin typeface="Consolas" panose="020B0609020204030204" pitchFamily="49" charset="0"/>
              </a:rPr>
              <a:t>) </a:t>
            </a:r>
            <a:r>
              <a:rPr lang="en-US">
                <a:solidFill>
                  <a:srgbClr val="007B00"/>
                </a:solidFill>
                <a:effectLst/>
                <a:latin typeface="Consolas" panose="020B0609020204030204" pitchFamily="49" charset="0"/>
              </a:rPr>
              <a:t>// true</a:t>
            </a:r>
            <a:endParaRPr lang="en-US">
              <a:solidFill>
                <a:srgbClr val="007B00"/>
              </a:solidFill>
              <a:latin typeface="Consolas" panose="020B0609020204030204" pitchFamily="49" charset="0"/>
            </a:endParaRPr>
          </a:p>
          <a:p>
            <a:pPr lvl="1"/>
            <a:r>
              <a:rPr lang="en-US">
                <a:effectLst/>
                <a:latin typeface="Consolas" panose="020B0609020204030204" pitchFamily="49" charset="0"/>
              </a:rPr>
              <a:t>(</a:t>
            </a:r>
            <a:r>
              <a:rPr lang="en-US">
                <a:solidFill>
                  <a:srgbClr val="0000FF"/>
                </a:solidFill>
                <a:effectLst/>
                <a:latin typeface="Consolas" panose="020B0609020204030204" pitchFamily="49" charset="0"/>
              </a:rPr>
              <a:t>false</a:t>
            </a:r>
            <a:r>
              <a:rPr lang="en-US">
                <a:effectLst/>
                <a:latin typeface="Consolas" panose="020B0609020204030204" pitchFamily="49" charset="0"/>
              </a:rPr>
              <a:t> ||  </a:t>
            </a:r>
            <a:r>
              <a:rPr lang="en-US">
                <a:solidFill>
                  <a:srgbClr val="0000FF"/>
                </a:solidFill>
                <a:effectLst/>
                <a:latin typeface="Consolas" panose="020B0609020204030204" pitchFamily="49" charset="0"/>
              </a:rPr>
              <a:t>true</a:t>
            </a:r>
            <a:r>
              <a:rPr lang="en-US">
                <a:effectLst/>
                <a:latin typeface="Consolas" panose="020B0609020204030204" pitchFamily="49" charset="0"/>
              </a:rPr>
              <a:t>) </a:t>
            </a:r>
            <a:r>
              <a:rPr lang="en-US">
                <a:solidFill>
                  <a:srgbClr val="007B00"/>
                </a:solidFill>
                <a:effectLst/>
                <a:latin typeface="Consolas" panose="020B0609020204030204" pitchFamily="49" charset="0"/>
              </a:rPr>
              <a:t>// true</a:t>
            </a:r>
            <a:endParaRPr lang="en-US">
              <a:solidFill>
                <a:srgbClr val="007B00"/>
              </a:solidFill>
              <a:latin typeface="Consolas" panose="020B0609020204030204" pitchFamily="49" charset="0"/>
            </a:endParaRPr>
          </a:p>
          <a:p>
            <a:pPr lvl="1"/>
            <a:r>
              <a:rPr lang="en-US">
                <a:effectLst/>
                <a:latin typeface="Consolas" panose="020B0609020204030204" pitchFamily="49" charset="0"/>
              </a:rPr>
              <a:t>(</a:t>
            </a:r>
            <a:r>
              <a:rPr lang="en-US">
                <a:solidFill>
                  <a:srgbClr val="0000FF"/>
                </a:solidFill>
                <a:effectLst/>
                <a:latin typeface="Consolas" panose="020B0609020204030204" pitchFamily="49" charset="0"/>
              </a:rPr>
              <a:t>false</a:t>
            </a:r>
            <a:r>
              <a:rPr lang="en-US">
                <a:effectLst/>
                <a:latin typeface="Consolas" panose="020B0609020204030204" pitchFamily="49" charset="0"/>
              </a:rPr>
              <a:t> || </a:t>
            </a:r>
            <a:r>
              <a:rPr lang="en-US">
                <a:solidFill>
                  <a:srgbClr val="0000FF"/>
                </a:solidFill>
                <a:effectLst/>
                <a:latin typeface="Consolas" panose="020B0609020204030204" pitchFamily="49" charset="0"/>
              </a:rPr>
              <a:t>false</a:t>
            </a:r>
            <a:r>
              <a:rPr lang="en-US">
                <a:effectLst/>
                <a:latin typeface="Consolas" panose="020B0609020204030204" pitchFamily="49" charset="0"/>
              </a:rPr>
              <a:t>) </a:t>
            </a:r>
            <a:r>
              <a:rPr lang="en-US">
                <a:solidFill>
                  <a:srgbClr val="007B00"/>
                </a:solidFill>
                <a:effectLst/>
                <a:latin typeface="Consolas" panose="020B0609020204030204" pitchFamily="49" charset="0"/>
              </a:rPr>
              <a:t>// false</a:t>
            </a:r>
          </a:p>
          <a:p>
            <a:r>
              <a:rPr lang="en-US" b="1">
                <a:latin typeface="+mj-lt"/>
              </a:rPr>
              <a:t>&amp;&amp;</a:t>
            </a:r>
            <a:r>
              <a:rPr lang="en-US"/>
              <a:t> returns whether the left-hand side </a:t>
            </a:r>
            <a:r>
              <a:rPr lang="en-US" b="1"/>
              <a:t>and</a:t>
            </a:r>
            <a:r>
              <a:rPr lang="en-US"/>
              <a:t> the right-hand side are true</a:t>
            </a:r>
          </a:p>
          <a:p>
            <a:pPr lvl="1"/>
            <a:r>
              <a:rPr lang="en-US">
                <a:effectLst/>
                <a:latin typeface="Consolas" panose="020B0609020204030204" pitchFamily="49" charset="0"/>
              </a:rPr>
              <a:t>(</a:t>
            </a:r>
            <a:r>
              <a:rPr lang="en-US">
                <a:solidFill>
                  <a:srgbClr val="0000FF"/>
                </a:solidFill>
                <a:effectLst/>
                <a:latin typeface="Consolas" panose="020B0609020204030204" pitchFamily="49" charset="0"/>
              </a:rPr>
              <a:t>true</a:t>
            </a:r>
            <a:r>
              <a:rPr lang="en-US">
                <a:effectLst/>
                <a:latin typeface="Consolas" panose="020B0609020204030204" pitchFamily="49" charset="0"/>
              </a:rPr>
              <a:t>  &amp;&amp;  </a:t>
            </a:r>
            <a:r>
              <a:rPr lang="en-US">
                <a:solidFill>
                  <a:srgbClr val="0000FF"/>
                </a:solidFill>
                <a:effectLst/>
                <a:latin typeface="Consolas" panose="020B0609020204030204" pitchFamily="49" charset="0"/>
              </a:rPr>
              <a:t>true</a:t>
            </a:r>
            <a:r>
              <a:rPr lang="en-US">
                <a:effectLst/>
                <a:latin typeface="Consolas" panose="020B0609020204030204" pitchFamily="49" charset="0"/>
              </a:rPr>
              <a:t>) </a:t>
            </a:r>
            <a:r>
              <a:rPr lang="en-US">
                <a:solidFill>
                  <a:srgbClr val="007B00"/>
                </a:solidFill>
                <a:effectLst/>
                <a:latin typeface="Consolas" panose="020B0609020204030204" pitchFamily="49" charset="0"/>
              </a:rPr>
              <a:t>// true</a:t>
            </a:r>
            <a:endParaRPr lang="en-US">
              <a:solidFill>
                <a:srgbClr val="007B00"/>
              </a:solidFill>
              <a:latin typeface="Consolas" panose="020B0609020204030204" pitchFamily="49" charset="0"/>
            </a:endParaRPr>
          </a:p>
          <a:p>
            <a:pPr lvl="1"/>
            <a:r>
              <a:rPr lang="en-US">
                <a:effectLst/>
                <a:latin typeface="Consolas" panose="020B0609020204030204" pitchFamily="49" charset="0"/>
              </a:rPr>
              <a:t>(</a:t>
            </a:r>
            <a:r>
              <a:rPr lang="en-US">
                <a:solidFill>
                  <a:srgbClr val="0000FF"/>
                </a:solidFill>
                <a:effectLst/>
                <a:latin typeface="Consolas" panose="020B0609020204030204" pitchFamily="49" charset="0"/>
              </a:rPr>
              <a:t>true</a:t>
            </a:r>
            <a:r>
              <a:rPr lang="en-US">
                <a:effectLst/>
                <a:latin typeface="Consolas" panose="020B0609020204030204" pitchFamily="49" charset="0"/>
              </a:rPr>
              <a:t>  </a:t>
            </a:r>
            <a:r>
              <a:rPr lang="en-US">
                <a:latin typeface="Consolas" panose="020B0609020204030204" pitchFamily="49" charset="0"/>
              </a:rPr>
              <a:t>&amp;&amp;</a:t>
            </a:r>
            <a:r>
              <a:rPr lang="en-US">
                <a:effectLst/>
                <a:latin typeface="Consolas" panose="020B0609020204030204" pitchFamily="49" charset="0"/>
              </a:rPr>
              <a:t> </a:t>
            </a:r>
            <a:r>
              <a:rPr lang="en-US">
                <a:solidFill>
                  <a:srgbClr val="0000FF"/>
                </a:solidFill>
                <a:effectLst/>
                <a:latin typeface="Consolas" panose="020B0609020204030204" pitchFamily="49" charset="0"/>
              </a:rPr>
              <a:t>false</a:t>
            </a:r>
            <a:r>
              <a:rPr lang="en-US">
                <a:effectLst/>
                <a:latin typeface="Consolas" panose="020B0609020204030204" pitchFamily="49" charset="0"/>
              </a:rPr>
              <a:t>) </a:t>
            </a:r>
            <a:r>
              <a:rPr lang="en-US">
                <a:solidFill>
                  <a:srgbClr val="007B00"/>
                </a:solidFill>
                <a:effectLst/>
                <a:latin typeface="Consolas" panose="020B0609020204030204" pitchFamily="49" charset="0"/>
              </a:rPr>
              <a:t>// false</a:t>
            </a:r>
            <a:endParaRPr lang="en-US">
              <a:solidFill>
                <a:srgbClr val="007B00"/>
              </a:solidFill>
              <a:latin typeface="Consolas" panose="020B0609020204030204" pitchFamily="49" charset="0"/>
            </a:endParaRPr>
          </a:p>
          <a:p>
            <a:pPr lvl="1"/>
            <a:r>
              <a:rPr lang="en-US">
                <a:effectLst/>
                <a:latin typeface="Consolas" panose="020B0609020204030204" pitchFamily="49" charset="0"/>
              </a:rPr>
              <a:t>(</a:t>
            </a:r>
            <a:r>
              <a:rPr lang="en-US">
                <a:solidFill>
                  <a:srgbClr val="0000FF"/>
                </a:solidFill>
                <a:effectLst/>
                <a:latin typeface="Consolas" panose="020B0609020204030204" pitchFamily="49" charset="0"/>
              </a:rPr>
              <a:t>false</a:t>
            </a:r>
            <a:r>
              <a:rPr lang="en-US">
                <a:effectLst/>
                <a:latin typeface="Consolas" panose="020B0609020204030204" pitchFamily="49" charset="0"/>
              </a:rPr>
              <a:t> </a:t>
            </a:r>
            <a:r>
              <a:rPr lang="en-US">
                <a:latin typeface="Consolas" panose="020B0609020204030204" pitchFamily="49" charset="0"/>
              </a:rPr>
              <a:t>&amp;&amp;</a:t>
            </a:r>
            <a:r>
              <a:rPr lang="en-US">
                <a:effectLst/>
                <a:latin typeface="Consolas" panose="020B0609020204030204" pitchFamily="49" charset="0"/>
              </a:rPr>
              <a:t>  </a:t>
            </a:r>
            <a:r>
              <a:rPr lang="en-US">
                <a:solidFill>
                  <a:srgbClr val="0000FF"/>
                </a:solidFill>
                <a:effectLst/>
                <a:latin typeface="Consolas" panose="020B0609020204030204" pitchFamily="49" charset="0"/>
              </a:rPr>
              <a:t>true</a:t>
            </a:r>
            <a:r>
              <a:rPr lang="en-US">
                <a:effectLst/>
                <a:latin typeface="Consolas" panose="020B0609020204030204" pitchFamily="49" charset="0"/>
              </a:rPr>
              <a:t>) </a:t>
            </a:r>
            <a:r>
              <a:rPr lang="en-US">
                <a:solidFill>
                  <a:srgbClr val="007B00"/>
                </a:solidFill>
                <a:effectLst/>
                <a:latin typeface="Consolas" panose="020B0609020204030204" pitchFamily="49" charset="0"/>
              </a:rPr>
              <a:t>// false</a:t>
            </a:r>
            <a:endParaRPr lang="en-US">
              <a:solidFill>
                <a:srgbClr val="007B00"/>
              </a:solidFill>
              <a:latin typeface="Consolas" panose="020B0609020204030204" pitchFamily="49" charset="0"/>
            </a:endParaRPr>
          </a:p>
          <a:p>
            <a:pPr lvl="1"/>
            <a:r>
              <a:rPr lang="en-US">
                <a:effectLst/>
                <a:latin typeface="Consolas" panose="020B0609020204030204" pitchFamily="49" charset="0"/>
              </a:rPr>
              <a:t>(</a:t>
            </a:r>
            <a:r>
              <a:rPr lang="en-US">
                <a:solidFill>
                  <a:srgbClr val="0000FF"/>
                </a:solidFill>
                <a:effectLst/>
                <a:latin typeface="Consolas" panose="020B0609020204030204" pitchFamily="49" charset="0"/>
              </a:rPr>
              <a:t>false</a:t>
            </a:r>
            <a:r>
              <a:rPr lang="en-US">
                <a:effectLst/>
                <a:latin typeface="Consolas" panose="020B0609020204030204" pitchFamily="49" charset="0"/>
              </a:rPr>
              <a:t> </a:t>
            </a:r>
            <a:r>
              <a:rPr lang="en-US">
                <a:latin typeface="Consolas" panose="020B0609020204030204" pitchFamily="49" charset="0"/>
              </a:rPr>
              <a:t>&amp;&amp;</a:t>
            </a:r>
            <a:r>
              <a:rPr lang="en-US">
                <a:effectLst/>
                <a:latin typeface="Consolas" panose="020B0609020204030204" pitchFamily="49" charset="0"/>
              </a:rPr>
              <a:t> </a:t>
            </a:r>
            <a:r>
              <a:rPr lang="en-US">
                <a:solidFill>
                  <a:srgbClr val="0000FF"/>
                </a:solidFill>
                <a:effectLst/>
                <a:latin typeface="Consolas" panose="020B0609020204030204" pitchFamily="49" charset="0"/>
              </a:rPr>
              <a:t>false</a:t>
            </a:r>
            <a:r>
              <a:rPr lang="en-US">
                <a:effectLst/>
                <a:latin typeface="Consolas" panose="020B0609020204030204" pitchFamily="49" charset="0"/>
              </a:rPr>
              <a:t>) </a:t>
            </a:r>
            <a:r>
              <a:rPr lang="en-US">
                <a:solidFill>
                  <a:srgbClr val="007B00"/>
                </a:solidFill>
                <a:effectLst/>
                <a:latin typeface="Consolas" panose="020B0609020204030204" pitchFamily="49" charset="0"/>
              </a:rPr>
              <a:t>// false</a:t>
            </a:r>
          </a:p>
          <a:p>
            <a:pPr lvl="1"/>
            <a:endParaRPr lang="en-US" b="1">
              <a:effectLst/>
              <a:latin typeface="Consolas" panose="020B0609020204030204" pitchFamily="49" charset="0"/>
            </a:endParaRPr>
          </a:p>
          <a:p>
            <a:r>
              <a:rPr lang="en-US" b="1">
                <a:latin typeface="+mj-lt"/>
              </a:rPr>
              <a:t>!</a:t>
            </a:r>
            <a:r>
              <a:rPr lang="en-US"/>
              <a:t> returns the opposite of a </a:t>
            </a:r>
            <a:r>
              <a:rPr lang="en-US" sz="1800" i="1" err="1">
                <a:effectLst/>
                <a:latin typeface="Consolas" panose="020B0609020204030204" pitchFamily="49" charset="0"/>
              </a:rPr>
              <a:t>boolean</a:t>
            </a:r>
            <a:r>
              <a:rPr lang="en-US"/>
              <a:t>, and is read as "</a:t>
            </a:r>
            <a:r>
              <a:rPr lang="en-US" b="1"/>
              <a:t>not"</a:t>
            </a:r>
            <a:endParaRPr lang="en-US" sz="1800" b="1" i="1">
              <a:effectLst/>
              <a:latin typeface="Consolas" panose="020B0609020204030204" pitchFamily="49" charset="0"/>
            </a:endParaRPr>
          </a:p>
          <a:p>
            <a:pPr lvl="1"/>
            <a:r>
              <a:rPr lang="en-US">
                <a:effectLst/>
                <a:latin typeface="Consolas" panose="020B0609020204030204" pitchFamily="49" charset="0"/>
              </a:rPr>
              <a:t>(</a:t>
            </a:r>
            <a:r>
              <a:rPr lang="en-US">
                <a:latin typeface="Consolas" panose="020B0609020204030204" pitchFamily="49" charset="0"/>
              </a:rPr>
              <a:t>!</a:t>
            </a:r>
            <a:r>
              <a:rPr lang="en-US">
                <a:solidFill>
                  <a:srgbClr val="0000FF"/>
                </a:solidFill>
                <a:effectLst/>
                <a:latin typeface="Consolas" panose="020B0609020204030204" pitchFamily="49" charset="0"/>
              </a:rPr>
              <a:t>true</a:t>
            </a:r>
            <a:r>
              <a:rPr lang="en-US">
                <a:effectLst/>
                <a:latin typeface="Consolas" panose="020B0609020204030204" pitchFamily="49" charset="0"/>
              </a:rPr>
              <a:t>)  </a:t>
            </a:r>
            <a:r>
              <a:rPr lang="en-US">
                <a:solidFill>
                  <a:srgbClr val="007B00"/>
                </a:solidFill>
                <a:effectLst/>
                <a:latin typeface="Consolas" panose="020B0609020204030204" pitchFamily="49" charset="0"/>
              </a:rPr>
              <a:t>// false ("not true")</a:t>
            </a:r>
            <a:endParaRPr lang="en-US">
              <a:solidFill>
                <a:srgbClr val="007B00"/>
              </a:solidFill>
              <a:latin typeface="Consolas" panose="020B0609020204030204" pitchFamily="49" charset="0"/>
            </a:endParaRPr>
          </a:p>
          <a:p>
            <a:pPr lvl="1"/>
            <a:r>
              <a:rPr lang="en-US">
                <a:effectLst/>
                <a:latin typeface="Consolas" panose="020B0609020204030204" pitchFamily="49" charset="0"/>
              </a:rPr>
              <a:t>(</a:t>
            </a:r>
            <a:r>
              <a:rPr lang="en-US">
                <a:latin typeface="Consolas" panose="020B0609020204030204" pitchFamily="49" charset="0"/>
              </a:rPr>
              <a:t>!</a:t>
            </a:r>
            <a:r>
              <a:rPr lang="en-US">
                <a:solidFill>
                  <a:srgbClr val="0000FF"/>
                </a:solidFill>
                <a:effectLst/>
                <a:latin typeface="Consolas" panose="020B0609020204030204" pitchFamily="49" charset="0"/>
              </a:rPr>
              <a:t>false</a:t>
            </a:r>
            <a:r>
              <a:rPr lang="en-US">
                <a:effectLst/>
                <a:latin typeface="Consolas" panose="020B0609020204030204" pitchFamily="49" charset="0"/>
              </a:rPr>
              <a:t>) </a:t>
            </a:r>
            <a:r>
              <a:rPr lang="en-US">
                <a:solidFill>
                  <a:srgbClr val="007B00"/>
                </a:solidFill>
                <a:effectLst/>
                <a:latin typeface="Consolas" panose="020B0609020204030204" pitchFamily="49" charset="0"/>
              </a:rPr>
              <a:t>// true</a:t>
            </a:r>
            <a:endParaRPr lang="fr-FR" b="1">
              <a:solidFill>
                <a:srgbClr val="007B00"/>
              </a:solidFill>
              <a:effectLst/>
              <a:latin typeface="Consolas" panose="020B0609020204030204" pitchFamily="49" charset="0"/>
            </a:endParaRPr>
          </a:p>
        </p:txBody>
      </p:sp>
    </p:spTree>
    <p:extLst>
      <p:ext uri="{BB962C8B-B14F-4D97-AF65-F5344CB8AC3E}">
        <p14:creationId xmlns:p14="http://schemas.microsoft.com/office/powerpoint/2010/main" val="290389588"/>
      </p:ext>
    </p:extLst>
  </p:cSld>
  <p:clrMapOvr>
    <a:masterClrMapping/>
  </p:clrMapOvr>
</p:sld>
</file>

<file path=ppt/slides/slide6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ECB51-3BDF-42F4-54EB-F5966D52ED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2AA32A-FD73-6D24-5ACC-072E1C929EE8}"/>
              </a:ext>
            </a:extLst>
          </p:cNvPr>
          <p:cNvSpPr>
            <a:spLocks noGrp="1"/>
          </p:cNvSpPr>
          <p:nvPr>
            <p:ph type="title"/>
          </p:nvPr>
        </p:nvSpPr>
        <p:spPr/>
        <p:txBody>
          <a:bodyPr/>
          <a:lstStyle/>
          <a:p>
            <a:r>
              <a:rPr lang="en-US"/>
              <a:t>logical operators (2/2)</a:t>
            </a:r>
          </a:p>
        </p:txBody>
      </p:sp>
      <p:sp>
        <p:nvSpPr>
          <p:cNvPr id="3" name="Content Placeholder 2">
            <a:extLst>
              <a:ext uri="{FF2B5EF4-FFF2-40B4-BE49-F238E27FC236}">
                <a16:creationId xmlns:a16="http://schemas.microsoft.com/office/drawing/2014/main" id="{44AC0441-83AC-AEBD-D599-6F9A37C9C5C6}"/>
              </a:ext>
            </a:extLst>
          </p:cNvPr>
          <p:cNvSpPr>
            <a:spLocks noGrp="1"/>
          </p:cNvSpPr>
          <p:nvPr>
            <p:ph sz="quarter" idx="10"/>
          </p:nvPr>
        </p:nvSpPr>
        <p:spPr/>
        <p:txBody>
          <a:bodyPr>
            <a:normAutofit/>
          </a:bodyPr>
          <a:lstStyle/>
          <a:p>
            <a:pPr lvl="0">
              <a:buClr>
                <a:srgbClr val="FFFFFF">
                  <a:lumMod val="65000"/>
                </a:srgbClr>
              </a:buClr>
            </a:pPr>
            <a:r>
              <a:rPr lang="en-US">
                <a:solidFill>
                  <a:srgbClr val="007B00"/>
                </a:solidFill>
                <a:latin typeface="Consolas"/>
              </a:rPr>
              <a:t>// example, step by step</a:t>
            </a:r>
          </a:p>
          <a:p>
            <a:r>
              <a:rPr lang="en-US" err="1">
                <a:solidFill>
                  <a:srgbClr val="000080"/>
                </a:solidFill>
                <a:effectLst/>
                <a:latin typeface="+mj-lt"/>
              </a:rPr>
              <a:t>boolean</a:t>
            </a:r>
            <a:r>
              <a:rPr lang="en-US">
                <a:latin typeface="+mj-lt"/>
              </a:rPr>
              <a:t> a </a:t>
            </a:r>
            <a:r>
              <a:rPr lang="en-US">
                <a:effectLst/>
                <a:latin typeface="+mj-lt"/>
              </a:rPr>
              <a:t>=</a:t>
            </a:r>
            <a:r>
              <a:rPr lang="en-US">
                <a:latin typeface="+mj-lt"/>
              </a:rPr>
              <a:t> (</a:t>
            </a:r>
            <a:r>
              <a:rPr lang="en-US">
                <a:solidFill>
                  <a:srgbClr val="02B5B5"/>
                </a:solidFill>
                <a:effectLst/>
                <a:latin typeface="+mj-lt"/>
              </a:rPr>
              <a:t>2</a:t>
            </a:r>
            <a:r>
              <a:rPr lang="en-US">
                <a:latin typeface="+mj-lt"/>
              </a:rPr>
              <a:t> </a:t>
            </a:r>
            <a:r>
              <a:rPr lang="en-US">
                <a:effectLst/>
                <a:latin typeface="+mj-lt"/>
              </a:rPr>
              <a:t>+</a:t>
            </a:r>
            <a:r>
              <a:rPr lang="en-US">
                <a:latin typeface="+mj-lt"/>
              </a:rPr>
              <a:t> </a:t>
            </a:r>
            <a:r>
              <a:rPr lang="en-US">
                <a:solidFill>
                  <a:srgbClr val="02B5B5"/>
                </a:solidFill>
                <a:effectLst/>
                <a:latin typeface="+mj-lt"/>
              </a:rPr>
              <a:t>2</a:t>
            </a:r>
            <a:r>
              <a:rPr lang="en-US">
                <a:latin typeface="+mj-lt"/>
              </a:rPr>
              <a:t> </a:t>
            </a:r>
            <a:r>
              <a:rPr lang="en-US">
                <a:effectLst/>
                <a:latin typeface="+mj-lt"/>
              </a:rPr>
              <a:t>==</a:t>
            </a:r>
            <a:r>
              <a:rPr lang="en-US">
                <a:latin typeface="+mj-lt"/>
              </a:rPr>
              <a:t> </a:t>
            </a:r>
            <a:r>
              <a:rPr lang="en-US">
                <a:effectLst/>
                <a:latin typeface="+mj-lt"/>
              </a:rPr>
              <a:t>5</a:t>
            </a:r>
            <a:r>
              <a:rPr lang="en-US">
                <a:latin typeface="+mj-lt"/>
              </a:rPr>
              <a:t>); </a:t>
            </a:r>
            <a:r>
              <a:rPr lang="en-US">
                <a:solidFill>
                  <a:srgbClr val="007B00"/>
                </a:solidFill>
                <a:effectLst/>
                <a:latin typeface="+mj-lt"/>
              </a:rPr>
              <a:t>// false</a:t>
            </a:r>
            <a:endParaRPr lang="en-US">
              <a:solidFill>
                <a:srgbClr val="007B00"/>
              </a:solidFill>
              <a:latin typeface="+mj-lt"/>
            </a:endParaRPr>
          </a:p>
          <a:p>
            <a:r>
              <a:rPr lang="en-US" err="1">
                <a:solidFill>
                  <a:srgbClr val="000080"/>
                </a:solidFill>
                <a:effectLst/>
                <a:latin typeface="+mj-lt"/>
              </a:rPr>
              <a:t>boolean</a:t>
            </a:r>
            <a:r>
              <a:rPr lang="en-US">
                <a:latin typeface="+mj-lt"/>
              </a:rPr>
              <a:t> b </a:t>
            </a:r>
            <a:r>
              <a:rPr lang="en-US">
                <a:effectLst/>
                <a:latin typeface="+mj-lt"/>
              </a:rPr>
              <a:t>=</a:t>
            </a:r>
            <a:r>
              <a:rPr lang="en-US">
                <a:latin typeface="+mj-lt"/>
              </a:rPr>
              <a:t> </a:t>
            </a:r>
            <a:r>
              <a:rPr lang="en-US">
                <a:solidFill>
                  <a:srgbClr val="0000FF"/>
                </a:solidFill>
                <a:effectLst/>
                <a:latin typeface="+mj-lt"/>
              </a:rPr>
              <a:t>true</a:t>
            </a:r>
            <a:r>
              <a:rPr lang="en-US">
                <a:latin typeface="+mj-lt"/>
              </a:rPr>
              <a:t>;         </a:t>
            </a:r>
            <a:r>
              <a:rPr lang="en-US">
                <a:solidFill>
                  <a:srgbClr val="007B00"/>
                </a:solidFill>
                <a:effectLst/>
                <a:latin typeface="+mj-lt"/>
              </a:rPr>
              <a:t>// true</a:t>
            </a:r>
            <a:endParaRPr lang="en-US">
              <a:solidFill>
                <a:srgbClr val="007B00"/>
              </a:solidFill>
              <a:latin typeface="+mj-lt"/>
            </a:endParaRPr>
          </a:p>
          <a:p>
            <a:r>
              <a:rPr lang="en-US" err="1">
                <a:solidFill>
                  <a:srgbClr val="000080"/>
                </a:solidFill>
                <a:effectLst/>
                <a:latin typeface="+mj-lt"/>
              </a:rPr>
              <a:t>boolean</a:t>
            </a:r>
            <a:r>
              <a:rPr lang="en-US">
                <a:latin typeface="+mj-lt"/>
              </a:rPr>
              <a:t> c </a:t>
            </a:r>
            <a:r>
              <a:rPr lang="en-US">
                <a:effectLst/>
                <a:latin typeface="+mj-lt"/>
              </a:rPr>
              <a:t>=</a:t>
            </a:r>
            <a:r>
              <a:rPr lang="en-US">
                <a:latin typeface="+mj-lt"/>
              </a:rPr>
              <a:t> (a </a:t>
            </a:r>
            <a:r>
              <a:rPr lang="en-US">
                <a:effectLst/>
                <a:latin typeface="+mj-lt"/>
              </a:rPr>
              <a:t>||</a:t>
            </a:r>
            <a:r>
              <a:rPr lang="en-US">
                <a:latin typeface="+mj-lt"/>
              </a:rPr>
              <a:t> b);     </a:t>
            </a:r>
            <a:r>
              <a:rPr lang="en-US">
                <a:solidFill>
                  <a:srgbClr val="007B00"/>
                </a:solidFill>
                <a:effectLst/>
                <a:latin typeface="+mj-lt"/>
              </a:rPr>
              <a:t>// true</a:t>
            </a:r>
            <a:endParaRPr lang="en-US">
              <a:solidFill>
                <a:srgbClr val="007B00"/>
              </a:solidFill>
              <a:latin typeface="+mj-lt"/>
            </a:endParaRPr>
          </a:p>
          <a:p>
            <a:r>
              <a:rPr lang="en-US" err="1">
                <a:solidFill>
                  <a:srgbClr val="000080"/>
                </a:solidFill>
                <a:effectLst/>
                <a:latin typeface="+mj-lt"/>
              </a:rPr>
              <a:t>boolean</a:t>
            </a:r>
            <a:r>
              <a:rPr lang="en-US">
                <a:latin typeface="+mj-lt"/>
              </a:rPr>
              <a:t> d </a:t>
            </a:r>
            <a:r>
              <a:rPr lang="en-US">
                <a:effectLst/>
                <a:latin typeface="+mj-lt"/>
              </a:rPr>
              <a:t>=</a:t>
            </a:r>
            <a:r>
              <a:rPr lang="en-US">
                <a:latin typeface="+mj-lt"/>
              </a:rPr>
              <a:t> </a:t>
            </a:r>
            <a:r>
              <a:rPr lang="en-US">
                <a:effectLst/>
                <a:latin typeface="+mj-lt"/>
              </a:rPr>
              <a:t>!</a:t>
            </a:r>
            <a:r>
              <a:rPr lang="en-US">
                <a:latin typeface="+mj-lt"/>
              </a:rPr>
              <a:t>c;           </a:t>
            </a:r>
            <a:r>
              <a:rPr lang="en-US">
                <a:solidFill>
                  <a:srgbClr val="007B00"/>
                </a:solidFill>
                <a:effectLst/>
                <a:latin typeface="+mj-lt"/>
              </a:rPr>
              <a:t>// false</a:t>
            </a:r>
            <a:br>
              <a:rPr lang="en-US">
                <a:latin typeface="+mj-lt"/>
              </a:rPr>
            </a:br>
            <a:endParaRPr lang="en-US">
              <a:latin typeface="+mj-lt"/>
            </a:endParaRPr>
          </a:p>
          <a:p>
            <a:r>
              <a:rPr lang="en-US">
                <a:solidFill>
                  <a:srgbClr val="007B00"/>
                </a:solidFill>
                <a:latin typeface="+mj-lt"/>
              </a:rPr>
              <a:t>// same thing all on one line</a:t>
            </a:r>
          </a:p>
          <a:p>
            <a:r>
              <a:rPr lang="en-US" err="1">
                <a:solidFill>
                  <a:srgbClr val="000080"/>
                </a:solidFill>
                <a:latin typeface="+mj-lt"/>
              </a:rPr>
              <a:t>boolean</a:t>
            </a:r>
            <a:r>
              <a:rPr lang="en-US">
                <a:latin typeface="+mj-lt"/>
              </a:rPr>
              <a:t> d = !((</a:t>
            </a:r>
            <a:r>
              <a:rPr lang="en-US">
                <a:solidFill>
                  <a:srgbClr val="02B5B5"/>
                </a:solidFill>
                <a:latin typeface="+mj-lt"/>
              </a:rPr>
              <a:t>2</a:t>
            </a:r>
            <a:r>
              <a:rPr lang="en-US">
                <a:latin typeface="+mj-lt"/>
              </a:rPr>
              <a:t> + </a:t>
            </a:r>
            <a:r>
              <a:rPr lang="en-US">
                <a:solidFill>
                  <a:srgbClr val="02B5B5"/>
                </a:solidFill>
                <a:latin typeface="+mj-lt"/>
              </a:rPr>
              <a:t>2</a:t>
            </a:r>
            <a:r>
              <a:rPr lang="en-US">
                <a:latin typeface="+mj-lt"/>
              </a:rPr>
              <a:t> == </a:t>
            </a:r>
            <a:r>
              <a:rPr lang="en-US">
                <a:solidFill>
                  <a:srgbClr val="02B5B5"/>
                </a:solidFill>
                <a:latin typeface="+mj-lt"/>
              </a:rPr>
              <a:t>5</a:t>
            </a:r>
            <a:r>
              <a:rPr lang="en-US">
                <a:latin typeface="+mj-lt"/>
              </a:rPr>
              <a:t>) || </a:t>
            </a:r>
            <a:r>
              <a:rPr lang="en-US">
                <a:solidFill>
                  <a:srgbClr val="0000FF"/>
                </a:solidFill>
                <a:latin typeface="+mj-lt"/>
              </a:rPr>
              <a:t>true</a:t>
            </a:r>
            <a:r>
              <a:rPr lang="en-US">
                <a:latin typeface="+mj-lt"/>
              </a:rPr>
              <a:t>); </a:t>
            </a:r>
            <a:r>
              <a:rPr lang="en-US">
                <a:solidFill>
                  <a:srgbClr val="007B00"/>
                </a:solidFill>
                <a:latin typeface="+mj-lt"/>
              </a:rPr>
              <a:t>// false</a:t>
            </a:r>
          </a:p>
          <a:p>
            <a:endParaRPr lang="en-US">
              <a:latin typeface="+mj-lt"/>
            </a:endParaRPr>
          </a:p>
          <a:p>
            <a:r>
              <a:rPr lang="en-US">
                <a:solidFill>
                  <a:srgbClr val="007B00"/>
                </a:solidFill>
                <a:latin typeface="+mj-lt"/>
              </a:rPr>
              <a:t>// equivalent code</a:t>
            </a:r>
          </a:p>
          <a:p>
            <a:r>
              <a:rPr lang="en-US" err="1">
                <a:solidFill>
                  <a:srgbClr val="000080"/>
                </a:solidFill>
                <a:latin typeface="+mj-lt"/>
              </a:rPr>
              <a:t>boolean</a:t>
            </a:r>
            <a:r>
              <a:rPr lang="en-US">
                <a:latin typeface="+mj-lt"/>
              </a:rPr>
              <a:t> d = </a:t>
            </a:r>
            <a:r>
              <a:rPr lang="en-US">
                <a:solidFill>
                  <a:srgbClr val="0000FF"/>
                </a:solidFill>
                <a:latin typeface="+mj-lt"/>
              </a:rPr>
              <a:t>false</a:t>
            </a:r>
            <a:r>
              <a:rPr lang="en-US">
                <a:latin typeface="+mj-lt"/>
              </a:rPr>
              <a:t>;</a:t>
            </a:r>
          </a:p>
          <a:p>
            <a:endParaRPr lang="en-US">
              <a:latin typeface="+mj-lt"/>
            </a:endParaRPr>
          </a:p>
          <a:p>
            <a:endParaRPr lang="fr-FR" b="1">
              <a:effectLst/>
              <a:latin typeface="+mj-lt"/>
            </a:endParaRPr>
          </a:p>
        </p:txBody>
      </p:sp>
    </p:spTree>
    <p:extLst>
      <p:ext uri="{BB962C8B-B14F-4D97-AF65-F5344CB8AC3E}">
        <p14:creationId xmlns:p14="http://schemas.microsoft.com/office/powerpoint/2010/main" val="3877355392"/>
      </p:ext>
    </p:extLst>
  </p:cSld>
  <p:clrMapOvr>
    <a:masterClrMapping/>
  </p:clrMapOvr>
</p:sld>
</file>

<file path=ppt/slides/slide6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B47D4-99E0-A816-81E9-ABA2773D02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2EBB94-A1A2-6784-AE87-EAA4151F18DF}"/>
              </a:ext>
            </a:extLst>
          </p:cNvPr>
          <p:cNvSpPr>
            <a:spLocks noGrp="1"/>
          </p:cNvSpPr>
          <p:nvPr>
            <p:ph type="title"/>
          </p:nvPr>
        </p:nvSpPr>
        <p:spPr/>
        <p:txBody>
          <a:bodyPr/>
          <a:lstStyle/>
          <a:p>
            <a:r>
              <a:rPr lang="en-US" b="1"/>
              <a:t>☠ logical operator short-circuiting</a:t>
            </a:r>
            <a:endParaRPr lang="en-US"/>
          </a:p>
        </p:txBody>
      </p:sp>
      <p:sp>
        <p:nvSpPr>
          <p:cNvPr id="3" name="Content Placeholder 2">
            <a:extLst>
              <a:ext uri="{FF2B5EF4-FFF2-40B4-BE49-F238E27FC236}">
                <a16:creationId xmlns:a16="http://schemas.microsoft.com/office/drawing/2014/main" id="{AFDEB5AA-8975-A4FE-97EB-A96639D9462E}"/>
              </a:ext>
            </a:extLst>
          </p:cNvPr>
          <p:cNvSpPr>
            <a:spLocks noGrp="1"/>
          </p:cNvSpPr>
          <p:nvPr>
            <p:ph sz="quarter" idx="10"/>
          </p:nvPr>
        </p:nvSpPr>
        <p:spPr/>
        <p:txBody>
          <a:bodyPr>
            <a:normAutofit/>
          </a:bodyPr>
          <a:lstStyle/>
          <a:p>
            <a:r>
              <a:rPr lang="en-US" b="1">
                <a:latin typeface="+mj-lt"/>
              </a:rPr>
              <a:t>(</a:t>
            </a:r>
            <a:r>
              <a:rPr lang="en-US" b="1">
                <a:solidFill>
                  <a:srgbClr val="0000FF"/>
                </a:solidFill>
                <a:latin typeface="+mj-lt"/>
              </a:rPr>
              <a:t>false</a:t>
            </a:r>
            <a:r>
              <a:rPr lang="en-US" b="1">
                <a:effectLst/>
                <a:latin typeface="Consolas" panose="020B0609020204030204" pitchFamily="49" charset="0"/>
              </a:rPr>
              <a:t> </a:t>
            </a:r>
            <a:r>
              <a:rPr lang="en-US" b="1">
                <a:latin typeface="Consolas" panose="020B0609020204030204" pitchFamily="49" charset="0"/>
              </a:rPr>
              <a:t>&amp;&amp;</a:t>
            </a:r>
            <a:r>
              <a:rPr lang="en-US" b="1">
                <a:effectLst/>
                <a:latin typeface="Consolas" panose="020B0609020204030204" pitchFamily="49" charset="0"/>
              </a:rPr>
              <a:t> </a:t>
            </a:r>
            <a:r>
              <a:rPr lang="en-US" b="1">
                <a:latin typeface="+mj-lt"/>
              </a:rPr>
              <a:t>foo</a:t>
            </a:r>
            <a:r>
              <a:rPr lang="en-US" b="1">
                <a:effectLst/>
                <a:latin typeface="Consolas" panose="020B0609020204030204" pitchFamily="49" charset="0"/>
              </a:rPr>
              <a:t>()</a:t>
            </a:r>
            <a:r>
              <a:rPr lang="en-US" b="1">
                <a:latin typeface="+mj-lt"/>
              </a:rPr>
              <a:t>)</a:t>
            </a:r>
            <a:r>
              <a:rPr lang="en-US" b="1"/>
              <a:t> "lazily" evaluates to </a:t>
            </a:r>
            <a:r>
              <a:rPr lang="en-US" b="1">
                <a:solidFill>
                  <a:srgbClr val="0000FF"/>
                </a:solidFill>
                <a:latin typeface="+mj-lt"/>
              </a:rPr>
              <a:t>false</a:t>
            </a:r>
            <a:r>
              <a:rPr lang="en-US" b="1"/>
              <a:t> without calling </a:t>
            </a:r>
            <a:r>
              <a:rPr lang="en-US" b="1">
                <a:latin typeface="+mj-lt"/>
              </a:rPr>
              <a:t>foo</a:t>
            </a:r>
            <a:r>
              <a:rPr lang="en-US" b="1">
                <a:effectLst/>
                <a:latin typeface="Consolas" panose="020B0609020204030204" pitchFamily="49" charset="0"/>
              </a:rPr>
              <a:t>()</a:t>
            </a:r>
          </a:p>
          <a:p>
            <a:r>
              <a:rPr lang="en-US" b="1">
                <a:latin typeface="+mj-lt"/>
              </a:rPr>
              <a:t>(</a:t>
            </a:r>
            <a:r>
              <a:rPr lang="en-US" b="1">
                <a:solidFill>
                  <a:srgbClr val="0000FF"/>
                </a:solidFill>
                <a:latin typeface="+mj-lt"/>
              </a:rPr>
              <a:t>true</a:t>
            </a:r>
            <a:r>
              <a:rPr lang="en-US" b="1">
                <a:effectLst/>
                <a:latin typeface="Consolas" panose="020B0609020204030204" pitchFamily="49" charset="0"/>
              </a:rPr>
              <a:t> </a:t>
            </a:r>
            <a:r>
              <a:rPr lang="en-US" b="1">
                <a:latin typeface="Consolas" panose="020B0609020204030204" pitchFamily="49" charset="0"/>
              </a:rPr>
              <a:t>||</a:t>
            </a:r>
            <a:r>
              <a:rPr lang="en-US" b="1">
                <a:effectLst/>
                <a:latin typeface="Consolas" panose="020B0609020204030204" pitchFamily="49" charset="0"/>
              </a:rPr>
              <a:t> </a:t>
            </a:r>
            <a:r>
              <a:rPr lang="en-US" b="1">
                <a:latin typeface="+mj-lt"/>
              </a:rPr>
              <a:t>foo</a:t>
            </a:r>
            <a:r>
              <a:rPr lang="en-US" b="1">
                <a:effectLst/>
                <a:latin typeface="Consolas" panose="020B0609020204030204" pitchFamily="49" charset="0"/>
              </a:rPr>
              <a:t>()</a:t>
            </a:r>
            <a:r>
              <a:rPr lang="en-US" b="1">
                <a:latin typeface="+mj-lt"/>
              </a:rPr>
              <a:t>)</a:t>
            </a:r>
            <a:r>
              <a:rPr lang="en-US" b="1"/>
              <a:t> "lazily" evaluates to </a:t>
            </a:r>
            <a:r>
              <a:rPr lang="en-US" b="1">
                <a:solidFill>
                  <a:srgbClr val="0000FF"/>
                </a:solidFill>
                <a:latin typeface="+mj-lt"/>
              </a:rPr>
              <a:t>true</a:t>
            </a:r>
            <a:r>
              <a:rPr lang="en-US" b="1"/>
              <a:t> without calling </a:t>
            </a:r>
            <a:r>
              <a:rPr lang="en-US" b="1">
                <a:latin typeface="+mj-lt"/>
              </a:rPr>
              <a:t>foo</a:t>
            </a:r>
            <a:r>
              <a:rPr lang="en-US" b="1">
                <a:effectLst/>
                <a:latin typeface="Consolas" panose="020B0609020204030204" pitchFamily="49" charset="0"/>
              </a:rPr>
              <a:t>()</a:t>
            </a:r>
            <a:endParaRPr lang="en-US" b="1">
              <a:latin typeface="+mj-lt"/>
            </a:endParaRPr>
          </a:p>
        </p:txBody>
      </p:sp>
    </p:spTree>
    <p:extLst>
      <p:ext uri="{BB962C8B-B14F-4D97-AF65-F5344CB8AC3E}">
        <p14:creationId xmlns:p14="http://schemas.microsoft.com/office/powerpoint/2010/main" val="1610635048"/>
      </p:ext>
    </p:extLst>
  </p:cSld>
  <p:clrMapOvr>
    <a:masterClrMapping/>
  </p:clrMapOvr>
</p:sld>
</file>

<file path=ppt/slides/slide6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B348E-874C-9A8A-2AA0-DF8F730F823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D0E08B5-9DCA-E841-A841-06F248F9CBB1}"/>
              </a:ext>
            </a:extLst>
          </p:cNvPr>
          <p:cNvSpPr>
            <a:spLocks noGrp="1"/>
          </p:cNvSpPr>
          <p:nvPr>
            <p:ph type="title"/>
          </p:nvPr>
        </p:nvSpPr>
        <p:spPr/>
        <p:txBody>
          <a:bodyPr/>
          <a:lstStyle/>
          <a:p>
            <a:r>
              <a:rPr lang="en-US"/>
              <a:t>comparison operators</a:t>
            </a:r>
          </a:p>
        </p:txBody>
      </p:sp>
    </p:spTree>
    <p:extLst>
      <p:ext uri="{BB962C8B-B14F-4D97-AF65-F5344CB8AC3E}">
        <p14:creationId xmlns:p14="http://schemas.microsoft.com/office/powerpoint/2010/main" val="2244166945"/>
      </p:ext>
    </p:extLst>
  </p:cSld>
  <p:clrMapOvr>
    <a:masterClrMapping/>
  </p:clrMapOvr>
</p:sld>
</file>

<file path=ppt/slides/slide6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3E226-5C36-3E21-D261-22B69712CC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D9FE29-F3C5-362C-641D-93B45996C722}"/>
              </a:ext>
            </a:extLst>
          </p:cNvPr>
          <p:cNvSpPr>
            <a:spLocks noGrp="1"/>
          </p:cNvSpPr>
          <p:nvPr>
            <p:ph type="title"/>
          </p:nvPr>
        </p:nvSpPr>
        <p:spPr/>
        <p:txBody>
          <a:bodyPr/>
          <a:lstStyle/>
          <a:p>
            <a:r>
              <a:rPr lang="en-US" b="1"/>
              <a:t>☠ equality (is equal to)</a:t>
            </a:r>
          </a:p>
        </p:txBody>
      </p:sp>
      <p:sp>
        <p:nvSpPr>
          <p:cNvPr id="3" name="Content Placeholder 2">
            <a:extLst>
              <a:ext uri="{FF2B5EF4-FFF2-40B4-BE49-F238E27FC236}">
                <a16:creationId xmlns:a16="http://schemas.microsoft.com/office/drawing/2014/main" id="{9F13FFFA-F374-73F8-B596-9C1C9D57516F}"/>
              </a:ext>
            </a:extLst>
          </p:cNvPr>
          <p:cNvSpPr>
            <a:spLocks noGrp="1"/>
          </p:cNvSpPr>
          <p:nvPr>
            <p:ph sz="quarter" idx="10"/>
          </p:nvPr>
        </p:nvSpPr>
        <p:spPr/>
        <p:txBody>
          <a:bodyPr/>
          <a:lstStyle/>
          <a:p>
            <a:r>
              <a:rPr lang="en-US" b="1"/>
              <a:t>==</a:t>
            </a:r>
            <a:r>
              <a:rPr lang="en-US"/>
              <a:t> returns whether the left-hand side </a:t>
            </a:r>
            <a:r>
              <a:rPr lang="en-US" b="1"/>
              <a:t>is equal to</a:t>
            </a:r>
            <a:r>
              <a:rPr lang="en-US"/>
              <a:t> the right-hand side</a:t>
            </a:r>
          </a:p>
          <a:p>
            <a:pPr lvl="1"/>
            <a:r>
              <a:rPr lang="en-US" err="1">
                <a:solidFill>
                  <a:srgbClr val="000080"/>
                </a:solidFill>
                <a:effectLst/>
                <a:latin typeface="Consolas" panose="020B0609020204030204" pitchFamily="49" charset="0"/>
              </a:rPr>
              <a:t>boolean</a:t>
            </a:r>
            <a:r>
              <a:rPr lang="en-US">
                <a:effectLst/>
                <a:latin typeface="Consolas" panose="020B0609020204030204" pitchFamily="49" charset="0"/>
              </a:rPr>
              <a:t> b = (foo == bar);</a:t>
            </a:r>
          </a:p>
          <a:p>
            <a:pPr lvl="1"/>
            <a:r>
              <a:rPr lang="en-US">
                <a:solidFill>
                  <a:srgbClr val="0000FF"/>
                </a:solidFill>
                <a:effectLst/>
                <a:latin typeface="Consolas" panose="020B0609020204030204" pitchFamily="49" charset="0"/>
              </a:rPr>
              <a:t>if</a:t>
            </a:r>
            <a:r>
              <a:rPr lang="en-US">
                <a:effectLst/>
                <a:latin typeface="Consolas" panose="020B0609020204030204" pitchFamily="49" charset="0"/>
              </a:rPr>
              <a:t> (foo == bar) { </a:t>
            </a:r>
            <a:r>
              <a:rPr lang="en-US">
                <a:solidFill>
                  <a:schemeClr val="bg1">
                    <a:lumMod val="75000"/>
                  </a:schemeClr>
                </a:solidFill>
                <a:effectLst/>
                <a:latin typeface="Consolas" panose="020B0609020204030204" pitchFamily="49" charset="0"/>
              </a:rPr>
              <a:t>...</a:t>
            </a:r>
            <a:r>
              <a:rPr lang="en-US">
                <a:effectLst/>
                <a:latin typeface="Consolas" panose="020B0609020204030204" pitchFamily="49" charset="0"/>
              </a:rPr>
              <a:t> }</a:t>
            </a:r>
            <a:endParaRPr lang="en-US"/>
          </a:p>
          <a:p>
            <a:endParaRPr lang="en-US" b="1"/>
          </a:p>
          <a:p>
            <a:r>
              <a:rPr lang="en-US" b="1"/>
              <a:t>☠ this does NOT work for </a:t>
            </a:r>
            <a:r>
              <a:rPr lang="en-US" b="1">
                <a:solidFill>
                  <a:srgbClr val="000080"/>
                </a:solidFill>
                <a:effectLst/>
                <a:latin typeface="Consolas" panose="020B0609020204030204" pitchFamily="49" charset="0"/>
              </a:rPr>
              <a:t>String</a:t>
            </a:r>
            <a:r>
              <a:rPr lang="en-US" b="1"/>
              <a:t>'s</a:t>
            </a:r>
          </a:p>
          <a:p>
            <a:pPr lvl="1"/>
            <a:r>
              <a:rPr lang="en-US" b="1"/>
              <a:t>instead, use </a:t>
            </a:r>
            <a:r>
              <a:rPr lang="fr-FR" b="1">
                <a:effectLst/>
                <a:latin typeface="Consolas" panose="020B0609020204030204" pitchFamily="49" charset="0"/>
              </a:rPr>
              <a:t>(</a:t>
            </a:r>
            <a:r>
              <a:rPr lang="en-US" b="1" err="1">
                <a:effectLst/>
                <a:latin typeface="Consolas" panose="020B0609020204030204" pitchFamily="49" charset="0"/>
              </a:rPr>
              <a:t>stringA.equals</a:t>
            </a:r>
            <a:r>
              <a:rPr lang="en-US" b="1">
                <a:effectLst/>
                <a:latin typeface="Consolas" panose="020B0609020204030204" pitchFamily="49" charset="0"/>
              </a:rPr>
              <a:t>(</a:t>
            </a:r>
            <a:r>
              <a:rPr lang="en-US" b="1" err="1">
                <a:effectLst/>
                <a:latin typeface="Consolas" panose="020B0609020204030204" pitchFamily="49" charset="0"/>
              </a:rPr>
              <a:t>stringB</a:t>
            </a:r>
            <a:r>
              <a:rPr lang="en-US" b="1">
                <a:effectLst/>
                <a:latin typeface="Consolas" panose="020B0609020204030204" pitchFamily="49" charset="0"/>
              </a:rPr>
              <a:t>))</a:t>
            </a:r>
          </a:p>
          <a:p>
            <a:pPr lvl="1"/>
            <a:endParaRPr lang="en-US" b="1"/>
          </a:p>
          <a:p>
            <a:r>
              <a:rPr lang="en-US" b="1"/>
              <a:t>☠ this (usually) does NOT work for </a:t>
            </a:r>
            <a:r>
              <a:rPr lang="en-US" b="1">
                <a:solidFill>
                  <a:srgbClr val="000080"/>
                </a:solidFill>
                <a:effectLst/>
                <a:latin typeface="Consolas" panose="020B0609020204030204" pitchFamily="49" charset="0"/>
              </a:rPr>
              <a:t>double</a:t>
            </a:r>
            <a:r>
              <a:rPr lang="en-US" b="1"/>
              <a:t>'s</a:t>
            </a:r>
          </a:p>
          <a:p>
            <a:pPr lvl="1"/>
            <a:r>
              <a:rPr lang="en-US" b="1"/>
              <a:t>instead, use </a:t>
            </a:r>
            <a:r>
              <a:rPr lang="fr-FR" b="1">
                <a:effectLst/>
                <a:latin typeface="Consolas" panose="020B0609020204030204" pitchFamily="49" charset="0"/>
              </a:rPr>
              <a:t>ARE_EQUAL(double1, double2)</a:t>
            </a:r>
            <a:br>
              <a:rPr lang="fr-FR" b="1">
                <a:effectLst/>
                <a:latin typeface="Consolas" panose="020B0609020204030204" pitchFamily="49" charset="0"/>
              </a:rPr>
            </a:br>
            <a:endParaRPr lang="fr-FR" b="1">
              <a:effectLst/>
              <a:latin typeface="Consolas" panose="020B0609020204030204" pitchFamily="49" charset="0"/>
            </a:endParaRPr>
          </a:p>
          <a:p>
            <a:pPr lvl="1"/>
            <a:endParaRPr lang="en-US"/>
          </a:p>
          <a:p>
            <a:endParaRPr lang="en-US"/>
          </a:p>
        </p:txBody>
      </p:sp>
    </p:spTree>
    <p:extLst>
      <p:ext uri="{BB962C8B-B14F-4D97-AF65-F5344CB8AC3E}">
        <p14:creationId xmlns:p14="http://schemas.microsoft.com/office/powerpoint/2010/main" val="144302002"/>
      </p:ext>
    </p:extLst>
  </p:cSld>
  <p:clrMapOvr>
    <a:masterClrMapping/>
  </p:clrMapOvr>
</p:sld>
</file>

<file path=ppt/slides/slide6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69879-E893-9A1C-E3DF-C5B9261179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6E07A1-F370-6126-FD4B-06D59A8640C5}"/>
              </a:ext>
            </a:extLst>
          </p:cNvPr>
          <p:cNvSpPr>
            <a:spLocks noGrp="1"/>
          </p:cNvSpPr>
          <p:nvPr>
            <p:ph type="title"/>
          </p:nvPr>
        </p:nvSpPr>
        <p:spPr/>
        <p:txBody>
          <a:bodyPr/>
          <a:lstStyle/>
          <a:p>
            <a:r>
              <a:rPr lang="en-US"/>
              <a:t>is greater than, is less than</a:t>
            </a:r>
          </a:p>
        </p:txBody>
      </p:sp>
      <p:sp>
        <p:nvSpPr>
          <p:cNvPr id="3" name="Content Placeholder 2">
            <a:extLst>
              <a:ext uri="{FF2B5EF4-FFF2-40B4-BE49-F238E27FC236}">
                <a16:creationId xmlns:a16="http://schemas.microsoft.com/office/drawing/2014/main" id="{9AC53A2A-ED45-96E0-3A73-2C0FED571445}"/>
              </a:ext>
            </a:extLst>
          </p:cNvPr>
          <p:cNvSpPr>
            <a:spLocks noGrp="1"/>
          </p:cNvSpPr>
          <p:nvPr>
            <p:ph sz="quarter" idx="10"/>
          </p:nvPr>
        </p:nvSpPr>
        <p:spPr/>
        <p:txBody>
          <a:bodyPr/>
          <a:lstStyle/>
          <a:p>
            <a:r>
              <a:rPr lang="en-US" b="1"/>
              <a:t>&gt;</a:t>
            </a:r>
            <a:r>
              <a:rPr lang="en-US"/>
              <a:t> returns whether the left-hand side </a:t>
            </a:r>
            <a:r>
              <a:rPr lang="en-US" b="1"/>
              <a:t>is greater than</a:t>
            </a:r>
            <a:r>
              <a:rPr lang="en-US"/>
              <a:t> the right-hand side</a:t>
            </a:r>
          </a:p>
          <a:p>
            <a:r>
              <a:rPr lang="en-US" b="1"/>
              <a:t>&lt;</a:t>
            </a:r>
            <a:r>
              <a:rPr lang="en-US"/>
              <a:t> returns whether the left-hand side </a:t>
            </a:r>
            <a:r>
              <a:rPr lang="en-US" b="1"/>
              <a:t>is</a:t>
            </a:r>
            <a:r>
              <a:rPr lang="en-US"/>
              <a:t> </a:t>
            </a:r>
            <a:r>
              <a:rPr lang="en-US" b="1"/>
              <a:t>less than</a:t>
            </a:r>
            <a:r>
              <a:rPr lang="en-US"/>
              <a:t> the right-hand side</a:t>
            </a:r>
            <a:endParaRPr lang="fr-FR" b="1">
              <a:effectLst/>
              <a:latin typeface="Consolas" panose="020B0609020204030204" pitchFamily="49" charset="0"/>
            </a:endParaRPr>
          </a:p>
          <a:p>
            <a:endParaRPr lang="fr-FR" b="1">
              <a:effectLst/>
              <a:latin typeface="Consolas" panose="020B0609020204030204" pitchFamily="49" charset="0"/>
            </a:endParaRPr>
          </a:p>
        </p:txBody>
      </p:sp>
    </p:spTree>
    <p:extLst>
      <p:ext uri="{BB962C8B-B14F-4D97-AF65-F5344CB8AC3E}">
        <p14:creationId xmlns:p14="http://schemas.microsoft.com/office/powerpoint/2010/main" val="1971192843"/>
      </p:ext>
    </p:extLst>
  </p:cSld>
  <p:clrMapOvr>
    <a:masterClrMapping/>
  </p:clrMapOvr>
</p:sld>
</file>

<file path=ppt/slides/slide6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9871B-D4C6-5F35-BB29-0C90961ADA5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7C3FDD5-65F3-3342-1E2F-1DDCC3DFB015}"/>
              </a:ext>
            </a:extLst>
          </p:cNvPr>
          <p:cNvSpPr>
            <a:spLocks noGrp="1"/>
          </p:cNvSpPr>
          <p:nvPr>
            <p:ph type="title"/>
          </p:nvPr>
        </p:nvSpPr>
        <p:spPr/>
        <p:txBody>
          <a:bodyPr/>
          <a:lstStyle/>
          <a:p>
            <a:r>
              <a:rPr lang="en-US"/>
              <a:t>convenient operators</a:t>
            </a:r>
            <a:br>
              <a:rPr lang="en-US"/>
            </a:br>
            <a:r>
              <a:rPr lang="en-US" sz="2400"/>
              <a:t>(feel free to ignore these for now)</a:t>
            </a:r>
            <a:endParaRPr lang="en-US"/>
          </a:p>
        </p:txBody>
      </p:sp>
    </p:spTree>
    <p:extLst>
      <p:ext uri="{BB962C8B-B14F-4D97-AF65-F5344CB8AC3E}">
        <p14:creationId xmlns:p14="http://schemas.microsoft.com/office/powerpoint/2010/main" val="1115256163"/>
      </p:ext>
    </p:extLst>
  </p:cSld>
  <p:clrMapOvr>
    <a:masterClrMapping/>
  </p:clrMapOvr>
</p:sld>
</file>

<file path=ppt/slides/slide6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EC28E-1699-0ED2-5B0A-4C7EA47C60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10F968-AA6C-ACE1-DF63-C15509270D5F}"/>
              </a:ext>
            </a:extLst>
          </p:cNvPr>
          <p:cNvSpPr>
            <a:spLocks noGrp="1"/>
          </p:cNvSpPr>
          <p:nvPr>
            <p:ph type="title"/>
          </p:nvPr>
        </p:nvSpPr>
        <p:spPr/>
        <p:txBody>
          <a:bodyPr/>
          <a:lstStyle/>
          <a:p>
            <a:r>
              <a:rPr lang="en-US"/>
              <a:t>inequality</a:t>
            </a:r>
          </a:p>
        </p:txBody>
      </p:sp>
      <p:sp>
        <p:nvSpPr>
          <p:cNvPr id="3" name="Content Placeholder 2">
            <a:extLst>
              <a:ext uri="{FF2B5EF4-FFF2-40B4-BE49-F238E27FC236}">
                <a16:creationId xmlns:a16="http://schemas.microsoft.com/office/drawing/2014/main" id="{BD527DDA-4092-E3CD-F2FD-9353684AED63}"/>
              </a:ext>
            </a:extLst>
          </p:cNvPr>
          <p:cNvSpPr>
            <a:spLocks noGrp="1"/>
          </p:cNvSpPr>
          <p:nvPr>
            <p:ph sz="quarter" idx="10"/>
          </p:nvPr>
        </p:nvSpPr>
        <p:spPr/>
        <p:txBody>
          <a:bodyPr/>
          <a:lstStyle/>
          <a:p>
            <a:r>
              <a:rPr lang="en-US" b="1">
                <a:latin typeface="+mj-lt"/>
              </a:rPr>
              <a:t>!=</a:t>
            </a:r>
            <a:r>
              <a:rPr lang="en-US"/>
              <a:t> returns whether the left-hand side </a:t>
            </a:r>
            <a:r>
              <a:rPr lang="en-US" b="1"/>
              <a:t>is not equal to</a:t>
            </a:r>
            <a:r>
              <a:rPr lang="en-US"/>
              <a:t> the right-hand side </a:t>
            </a:r>
          </a:p>
          <a:p>
            <a:pPr lvl="1"/>
            <a:r>
              <a:rPr lang="en-US">
                <a:effectLst/>
                <a:latin typeface="Consolas" panose="020B0609020204030204" pitchFamily="49" charset="0"/>
              </a:rPr>
              <a:t>(left != right)</a:t>
            </a:r>
            <a:r>
              <a:rPr lang="en-US"/>
              <a:t> is exactly the same as</a:t>
            </a:r>
            <a:r>
              <a:rPr lang="en-US">
                <a:latin typeface="Consolas" panose="020B0609020204030204" pitchFamily="49" charset="0"/>
              </a:rPr>
              <a:t> </a:t>
            </a:r>
            <a:r>
              <a:rPr lang="en-US">
                <a:effectLst/>
                <a:latin typeface="Consolas" panose="020B0609020204030204" pitchFamily="49" charset="0"/>
              </a:rPr>
              <a:t>(!(left == right))</a:t>
            </a:r>
            <a:endParaRPr lang="fr-FR" b="1">
              <a:effectLst/>
              <a:latin typeface="Consolas" panose="020B0609020204030204" pitchFamily="49" charset="0"/>
            </a:endParaRPr>
          </a:p>
        </p:txBody>
      </p:sp>
    </p:spTree>
    <p:extLst>
      <p:ext uri="{BB962C8B-B14F-4D97-AF65-F5344CB8AC3E}">
        <p14:creationId xmlns:p14="http://schemas.microsoft.com/office/powerpoint/2010/main" val="4086841831"/>
      </p:ext>
    </p:extLst>
  </p:cSld>
  <p:clrMapOvr>
    <a:masterClrMapping/>
  </p:clrMapOvr>
</p:sld>
</file>

<file path=ppt/slides/slide6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7DAFE-30AD-5B1C-7AE8-DB88D21B55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CC2-41F3-2ADF-1D2F-1E61DC80E9CF}"/>
              </a:ext>
            </a:extLst>
          </p:cNvPr>
          <p:cNvSpPr>
            <a:spLocks noGrp="1"/>
          </p:cNvSpPr>
          <p:nvPr>
            <p:ph type="title"/>
          </p:nvPr>
        </p:nvSpPr>
        <p:spPr/>
        <p:txBody>
          <a:bodyPr>
            <a:normAutofit fontScale="90000"/>
          </a:bodyPr>
          <a:lstStyle/>
          <a:p>
            <a:r>
              <a:rPr lang="en-US"/>
              <a:t>greater than or equal to, less than or equal to</a:t>
            </a:r>
          </a:p>
        </p:txBody>
      </p:sp>
      <p:sp>
        <p:nvSpPr>
          <p:cNvPr id="3" name="Content Placeholder 2">
            <a:extLst>
              <a:ext uri="{FF2B5EF4-FFF2-40B4-BE49-F238E27FC236}">
                <a16:creationId xmlns:a16="http://schemas.microsoft.com/office/drawing/2014/main" id="{E04FB3A3-6109-405C-21AD-431CFBD07F73}"/>
              </a:ext>
            </a:extLst>
          </p:cNvPr>
          <p:cNvSpPr>
            <a:spLocks noGrp="1"/>
          </p:cNvSpPr>
          <p:nvPr>
            <p:ph sz="quarter" idx="10"/>
          </p:nvPr>
        </p:nvSpPr>
        <p:spPr/>
        <p:txBody>
          <a:bodyPr/>
          <a:lstStyle/>
          <a:p>
            <a:r>
              <a:rPr lang="en-US" b="1"/>
              <a:t>&gt;=</a:t>
            </a:r>
            <a:r>
              <a:rPr lang="en-US"/>
              <a:t> returns whether the left-hand side </a:t>
            </a:r>
            <a:r>
              <a:rPr lang="en-US" b="1"/>
              <a:t>is greater than or equal to</a:t>
            </a:r>
            <a:br>
              <a:rPr lang="en-US"/>
            </a:br>
            <a:r>
              <a:rPr lang="en-US"/>
              <a:t>the right-hand side</a:t>
            </a:r>
          </a:p>
          <a:p>
            <a:pPr lvl="1"/>
            <a:r>
              <a:rPr lang="en-US">
                <a:effectLst/>
                <a:latin typeface="Consolas" panose="020B0609020204030204" pitchFamily="49" charset="0"/>
              </a:rPr>
              <a:t>(left &gt;= right)</a:t>
            </a:r>
            <a:r>
              <a:rPr lang="en-US"/>
              <a:t> is basically the same as</a:t>
            </a:r>
            <a:br>
              <a:rPr lang="en-US">
                <a:latin typeface="Consolas" panose="020B0609020204030204" pitchFamily="49" charset="0"/>
              </a:rPr>
            </a:br>
            <a:r>
              <a:rPr lang="en-US">
                <a:effectLst/>
                <a:latin typeface="Consolas" panose="020B0609020204030204" pitchFamily="49" charset="0"/>
              </a:rPr>
              <a:t>((left &gt; right) || (left </a:t>
            </a:r>
            <a:r>
              <a:rPr lang="en-US">
                <a:latin typeface="Consolas" panose="020B0609020204030204" pitchFamily="49" charset="0"/>
              </a:rPr>
              <a:t>==</a:t>
            </a:r>
            <a:r>
              <a:rPr lang="en-US">
                <a:effectLst/>
                <a:latin typeface="Consolas" panose="020B0609020204030204" pitchFamily="49" charset="0"/>
              </a:rPr>
              <a:t> right))</a:t>
            </a:r>
            <a:br>
              <a:rPr lang="en-US">
                <a:effectLst/>
                <a:latin typeface="Consolas" panose="020B0609020204030204" pitchFamily="49" charset="0"/>
              </a:rPr>
            </a:br>
            <a:r>
              <a:rPr lang="en-US">
                <a:solidFill>
                  <a:srgbClr val="007B00"/>
                </a:solidFill>
                <a:effectLst/>
                <a:latin typeface="Consolas" panose="020B0609020204030204" pitchFamily="49" charset="0"/>
              </a:rPr>
              <a:t> </a:t>
            </a:r>
            <a:r>
              <a:rPr lang="en-US">
                <a:solidFill>
                  <a:srgbClr val="007B00"/>
                </a:solidFill>
                <a:latin typeface="Consolas" panose="020B0609020204030204" pitchFamily="49" charset="0"/>
              </a:rPr>
              <a:t>greater-than   or      equal</a:t>
            </a:r>
            <a:endParaRPr lang="en-US">
              <a:solidFill>
                <a:srgbClr val="007B00"/>
              </a:solidFill>
            </a:endParaRPr>
          </a:p>
          <a:p>
            <a:r>
              <a:rPr lang="en-US" b="1"/>
              <a:t>&lt;=</a:t>
            </a:r>
            <a:r>
              <a:rPr lang="en-US"/>
              <a:t> returns whether the left-hand side </a:t>
            </a:r>
            <a:r>
              <a:rPr lang="en-US" b="1"/>
              <a:t>is less than or equal to</a:t>
            </a:r>
            <a:br>
              <a:rPr lang="en-US"/>
            </a:br>
            <a:r>
              <a:rPr lang="en-US"/>
              <a:t>the right-hand side</a:t>
            </a:r>
            <a:endParaRPr lang="fr-FR" b="1">
              <a:effectLst/>
              <a:latin typeface="Consolas" panose="020B0609020204030204" pitchFamily="49" charset="0"/>
            </a:endParaRPr>
          </a:p>
          <a:p>
            <a:endParaRPr lang="fr-FR" b="1">
              <a:effectLst/>
              <a:latin typeface="Consolas" panose="020B0609020204030204" pitchFamily="49" charset="0"/>
            </a:endParaRPr>
          </a:p>
          <a:p>
            <a:endParaRPr lang="fr-FR" b="1">
              <a:effectLst/>
              <a:latin typeface="Consolas" panose="020B0609020204030204" pitchFamily="49" charset="0"/>
            </a:endParaRPr>
          </a:p>
        </p:txBody>
      </p:sp>
    </p:spTree>
    <p:extLst>
      <p:ext uri="{BB962C8B-B14F-4D97-AF65-F5344CB8AC3E}">
        <p14:creationId xmlns:p14="http://schemas.microsoft.com/office/powerpoint/2010/main" val="1501305761"/>
      </p:ext>
    </p:extLst>
  </p:cSld>
  <p:clrMapOvr>
    <a:masterClrMapping/>
  </p:clrMapOvr>
</p:sld>
</file>

<file path=ppt/slides/slide6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195BF-267B-044F-E468-9FE95105AD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80D75-9D6B-E1F3-0083-462F9D22B3F6}"/>
              </a:ext>
            </a:extLst>
          </p:cNvPr>
          <p:cNvSpPr>
            <a:spLocks noGrp="1"/>
          </p:cNvSpPr>
          <p:nvPr>
            <p:ph type="title"/>
          </p:nvPr>
        </p:nvSpPr>
        <p:spPr/>
        <p:txBody>
          <a:bodyPr>
            <a:normAutofit fontScale="90000"/>
          </a:bodyPr>
          <a:lstStyle/>
          <a:p>
            <a:r>
              <a:rPr lang="en-US"/>
              <a:t>greater than or equal to, less than or equal to</a:t>
            </a:r>
          </a:p>
        </p:txBody>
      </p:sp>
      <p:sp>
        <p:nvSpPr>
          <p:cNvPr id="3" name="Content Placeholder 2">
            <a:extLst>
              <a:ext uri="{FF2B5EF4-FFF2-40B4-BE49-F238E27FC236}">
                <a16:creationId xmlns:a16="http://schemas.microsoft.com/office/drawing/2014/main" id="{5B26D9D3-735B-A1DE-E5E4-9A0877FFB41E}"/>
              </a:ext>
            </a:extLst>
          </p:cNvPr>
          <p:cNvSpPr>
            <a:spLocks noGrp="1"/>
          </p:cNvSpPr>
          <p:nvPr>
            <p:ph sz="quarter" idx="10"/>
          </p:nvPr>
        </p:nvSpPr>
        <p:spPr/>
        <p:txBody>
          <a:bodyPr/>
          <a:lstStyle/>
          <a:p>
            <a:r>
              <a:rPr lang="en-US" b="1"/>
              <a:t>&gt;=</a:t>
            </a:r>
            <a:r>
              <a:rPr lang="en-US"/>
              <a:t> returns whether the left-hand side </a:t>
            </a:r>
            <a:r>
              <a:rPr lang="en-US" b="1"/>
              <a:t>is greater than or equal to</a:t>
            </a:r>
            <a:br>
              <a:rPr lang="en-US"/>
            </a:br>
            <a:r>
              <a:rPr lang="en-US"/>
              <a:t>the right-hand side</a:t>
            </a:r>
          </a:p>
          <a:p>
            <a:pPr lvl="1"/>
            <a:r>
              <a:rPr lang="en-US">
                <a:effectLst/>
                <a:latin typeface="Consolas" panose="020B0609020204030204" pitchFamily="49" charset="0"/>
              </a:rPr>
              <a:t>(left() &gt;= right)</a:t>
            </a:r>
            <a:r>
              <a:rPr lang="en-US"/>
              <a:t> is basically the same as</a:t>
            </a:r>
            <a:br>
              <a:rPr lang="en-US">
                <a:latin typeface="Consolas" panose="020B0609020204030204" pitchFamily="49" charset="0"/>
              </a:rPr>
            </a:br>
            <a:r>
              <a:rPr lang="en-US">
                <a:effectLst/>
                <a:latin typeface="Consolas" panose="020B0609020204030204" pitchFamily="49" charset="0"/>
              </a:rPr>
              <a:t>((left() &gt; right) || (left() </a:t>
            </a:r>
            <a:r>
              <a:rPr lang="en-US">
                <a:latin typeface="Consolas" panose="020B0609020204030204" pitchFamily="49" charset="0"/>
              </a:rPr>
              <a:t>==</a:t>
            </a:r>
            <a:r>
              <a:rPr lang="en-US">
                <a:effectLst/>
                <a:latin typeface="Consolas" panose="020B0609020204030204" pitchFamily="49" charset="0"/>
              </a:rPr>
              <a:t> right))</a:t>
            </a:r>
            <a:br>
              <a:rPr lang="en-US">
                <a:effectLst/>
                <a:latin typeface="Consolas" panose="020B0609020204030204" pitchFamily="49" charset="0"/>
              </a:rPr>
            </a:br>
            <a:r>
              <a:rPr lang="en-US">
                <a:solidFill>
                  <a:srgbClr val="007B00"/>
                </a:solidFill>
                <a:effectLst/>
                <a:latin typeface="Consolas" panose="020B0609020204030204" pitchFamily="49" charset="0"/>
              </a:rPr>
              <a:t> </a:t>
            </a:r>
            <a:r>
              <a:rPr lang="en-US">
                <a:solidFill>
                  <a:srgbClr val="007B00"/>
                </a:solidFill>
                <a:latin typeface="Consolas" panose="020B0609020204030204" pitchFamily="49" charset="0"/>
              </a:rPr>
              <a:t>greater-than   or      equal</a:t>
            </a:r>
            <a:endParaRPr lang="en-US">
              <a:solidFill>
                <a:srgbClr val="007B00"/>
              </a:solidFill>
            </a:endParaRPr>
          </a:p>
          <a:p>
            <a:r>
              <a:rPr lang="en-US" b="1"/>
              <a:t>&lt;=</a:t>
            </a:r>
            <a:r>
              <a:rPr lang="en-US"/>
              <a:t> returns whether the left-hand side </a:t>
            </a:r>
            <a:r>
              <a:rPr lang="en-US" b="1"/>
              <a:t>is less than or equal to</a:t>
            </a:r>
            <a:br>
              <a:rPr lang="en-US"/>
            </a:br>
            <a:r>
              <a:rPr lang="en-US"/>
              <a:t>the right-hand side</a:t>
            </a:r>
            <a:endParaRPr lang="fr-FR" b="1">
              <a:effectLst/>
              <a:latin typeface="Consolas" panose="020B0609020204030204" pitchFamily="49" charset="0"/>
            </a:endParaRPr>
          </a:p>
          <a:p>
            <a:endParaRPr lang="fr-FR" b="1">
              <a:effectLst/>
              <a:latin typeface="Consolas" panose="020B0609020204030204" pitchFamily="49" charset="0"/>
            </a:endParaRPr>
          </a:p>
          <a:p>
            <a:endParaRPr lang="fr-FR" b="1">
              <a:effectLst/>
              <a:latin typeface="Consolas" panose="020B0609020204030204" pitchFamily="49" charset="0"/>
            </a:endParaRPr>
          </a:p>
        </p:txBody>
      </p:sp>
    </p:spTree>
    <p:extLst>
      <p:ext uri="{BB962C8B-B14F-4D97-AF65-F5344CB8AC3E}">
        <p14:creationId xmlns:p14="http://schemas.microsoft.com/office/powerpoint/2010/main" val="1469873374"/>
      </p:ext>
    </p:extLst>
  </p:cSld>
  <p:clrMapOvr>
    <a:masterClrMapping/>
  </p:clrMapOvr>
</p:sld>
</file>

<file path=ppt/slides/slide6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F82E9-AA82-B17E-A0EB-BDB4315EE58A}"/>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883F8B0-9492-8CF4-986D-666480168658}"/>
              </a:ext>
            </a:extLst>
          </p:cNvPr>
          <p:cNvSpPr>
            <a:spLocks noGrp="1"/>
          </p:cNvSpPr>
          <p:nvPr>
            <p:ph sz="quarter" idx="10"/>
          </p:nvPr>
        </p:nvSpPr>
        <p:spPr>
          <a:noFill/>
        </p:spPr>
        <p:txBody>
          <a:bodyPr/>
          <a:lstStyle/>
          <a:p>
            <a:r>
              <a:rPr lang="pt-BR">
                <a:latin typeface="+mj-lt"/>
              </a:rPr>
              <a:t>a </a:t>
            </a:r>
            <a:r>
              <a:rPr lang="pt-BR">
                <a:effectLst/>
                <a:latin typeface="+mj-lt"/>
              </a:rPr>
              <a:t>+=</a:t>
            </a:r>
            <a:r>
              <a:rPr lang="pt-BR">
                <a:latin typeface="+mj-lt"/>
              </a:rPr>
              <a:t> </a:t>
            </a:r>
            <a:r>
              <a:rPr lang="pt-BR" err="1">
                <a:latin typeface="+mj-lt"/>
              </a:rPr>
              <a:t>b</a:t>
            </a:r>
            <a:r>
              <a:rPr lang="pt-BR">
                <a:latin typeface="+mj-lt"/>
              </a:rPr>
              <a:t>; </a:t>
            </a:r>
            <a:r>
              <a:rPr lang="pt-BR">
                <a:solidFill>
                  <a:srgbClr val="007B00"/>
                </a:solidFill>
                <a:effectLst/>
                <a:latin typeface="+mj-lt"/>
              </a:rPr>
              <a:t>// a = a + </a:t>
            </a:r>
            <a:r>
              <a:rPr lang="pt-BR" err="1">
                <a:solidFill>
                  <a:srgbClr val="007B00"/>
                </a:solidFill>
                <a:effectLst/>
                <a:latin typeface="+mj-lt"/>
              </a:rPr>
              <a:t>b</a:t>
            </a:r>
            <a:r>
              <a:rPr lang="pt-BR">
                <a:solidFill>
                  <a:srgbClr val="007B00"/>
                </a:solidFill>
                <a:effectLst/>
                <a:latin typeface="+mj-lt"/>
              </a:rPr>
              <a:t>;</a:t>
            </a:r>
          </a:p>
          <a:p>
            <a:r>
              <a:rPr lang="pt-BR">
                <a:latin typeface="+mj-lt"/>
              </a:rPr>
              <a:t>a </a:t>
            </a:r>
            <a:r>
              <a:rPr lang="pt-BR">
                <a:effectLst/>
                <a:latin typeface="+mj-lt"/>
              </a:rPr>
              <a:t>-=</a:t>
            </a:r>
            <a:r>
              <a:rPr lang="pt-BR">
                <a:latin typeface="+mj-lt"/>
              </a:rPr>
              <a:t> </a:t>
            </a:r>
            <a:r>
              <a:rPr lang="pt-BR" err="1">
                <a:latin typeface="+mj-lt"/>
              </a:rPr>
              <a:t>b</a:t>
            </a:r>
            <a:r>
              <a:rPr lang="pt-BR">
                <a:latin typeface="+mj-lt"/>
              </a:rPr>
              <a:t>; </a:t>
            </a:r>
            <a:r>
              <a:rPr lang="pt-BR">
                <a:solidFill>
                  <a:srgbClr val="007B00"/>
                </a:solidFill>
                <a:effectLst/>
                <a:latin typeface="+mj-lt"/>
              </a:rPr>
              <a:t>// a = a - </a:t>
            </a:r>
            <a:r>
              <a:rPr lang="pt-BR" err="1">
                <a:solidFill>
                  <a:srgbClr val="007B00"/>
                </a:solidFill>
                <a:effectLst/>
                <a:latin typeface="+mj-lt"/>
              </a:rPr>
              <a:t>b</a:t>
            </a:r>
            <a:r>
              <a:rPr lang="pt-BR">
                <a:solidFill>
                  <a:srgbClr val="007B00"/>
                </a:solidFill>
                <a:latin typeface="Consolas"/>
              </a:rPr>
              <a:t>;</a:t>
            </a:r>
            <a:endParaRPr lang="pt-BR">
              <a:solidFill>
                <a:srgbClr val="007B00"/>
              </a:solidFill>
              <a:effectLst/>
              <a:latin typeface="+mj-lt"/>
            </a:endParaRPr>
          </a:p>
          <a:p>
            <a:r>
              <a:rPr lang="pt-BR">
                <a:latin typeface="+mj-lt"/>
              </a:rPr>
              <a:t>a </a:t>
            </a:r>
            <a:r>
              <a:rPr lang="pt-BR">
                <a:effectLst/>
                <a:latin typeface="+mj-lt"/>
              </a:rPr>
              <a:t>*=</a:t>
            </a:r>
            <a:r>
              <a:rPr lang="pt-BR">
                <a:latin typeface="+mj-lt"/>
              </a:rPr>
              <a:t> </a:t>
            </a:r>
            <a:r>
              <a:rPr lang="pt-BR" err="1">
                <a:latin typeface="+mj-lt"/>
              </a:rPr>
              <a:t>b</a:t>
            </a:r>
            <a:r>
              <a:rPr lang="pt-BR">
                <a:latin typeface="+mj-lt"/>
              </a:rPr>
              <a:t>; </a:t>
            </a:r>
            <a:r>
              <a:rPr lang="pt-BR">
                <a:solidFill>
                  <a:srgbClr val="007B00"/>
                </a:solidFill>
                <a:effectLst/>
                <a:latin typeface="+mj-lt"/>
              </a:rPr>
              <a:t>// a = a * </a:t>
            </a:r>
            <a:r>
              <a:rPr lang="pt-BR" err="1">
                <a:solidFill>
                  <a:srgbClr val="007B00"/>
                </a:solidFill>
                <a:effectLst/>
                <a:latin typeface="+mj-lt"/>
              </a:rPr>
              <a:t>b</a:t>
            </a:r>
            <a:r>
              <a:rPr lang="pt-BR">
                <a:solidFill>
                  <a:srgbClr val="007B00"/>
                </a:solidFill>
                <a:effectLst/>
                <a:latin typeface="+mj-lt"/>
              </a:rPr>
              <a:t>;</a:t>
            </a:r>
          </a:p>
          <a:p>
            <a:r>
              <a:rPr lang="pt-BR">
                <a:latin typeface="+mj-lt"/>
              </a:rPr>
              <a:t>a </a:t>
            </a:r>
            <a:r>
              <a:rPr lang="pt-BR">
                <a:effectLst/>
                <a:latin typeface="+mj-lt"/>
              </a:rPr>
              <a:t>/=</a:t>
            </a:r>
            <a:r>
              <a:rPr lang="pt-BR">
                <a:latin typeface="+mj-lt"/>
              </a:rPr>
              <a:t> </a:t>
            </a:r>
            <a:r>
              <a:rPr lang="pt-BR" err="1">
                <a:latin typeface="+mj-lt"/>
              </a:rPr>
              <a:t>b</a:t>
            </a:r>
            <a:r>
              <a:rPr lang="pt-BR">
                <a:latin typeface="+mj-lt"/>
              </a:rPr>
              <a:t>; </a:t>
            </a:r>
            <a:r>
              <a:rPr lang="pt-BR">
                <a:solidFill>
                  <a:srgbClr val="007B00"/>
                </a:solidFill>
                <a:effectLst/>
                <a:latin typeface="+mj-lt"/>
              </a:rPr>
              <a:t>// a = a / </a:t>
            </a:r>
            <a:r>
              <a:rPr lang="pt-BR" err="1">
                <a:solidFill>
                  <a:srgbClr val="007B00"/>
                </a:solidFill>
                <a:effectLst/>
                <a:latin typeface="+mj-lt"/>
              </a:rPr>
              <a:t>b</a:t>
            </a:r>
            <a:r>
              <a:rPr lang="pt-BR">
                <a:solidFill>
                  <a:srgbClr val="007B00"/>
                </a:solidFill>
                <a:effectLst/>
                <a:latin typeface="+mj-lt"/>
              </a:rPr>
              <a:t>;</a:t>
            </a:r>
          </a:p>
          <a:p>
            <a:endParaRPr lang="en-US">
              <a:solidFill>
                <a:srgbClr val="007B00"/>
              </a:solidFill>
              <a:latin typeface="+mj-lt"/>
            </a:endParaRPr>
          </a:p>
        </p:txBody>
      </p:sp>
      <p:sp>
        <p:nvSpPr>
          <p:cNvPr id="2" name="Title 1">
            <a:extLst>
              <a:ext uri="{FF2B5EF4-FFF2-40B4-BE49-F238E27FC236}">
                <a16:creationId xmlns:a16="http://schemas.microsoft.com/office/drawing/2014/main" id="{979EBA45-9CC4-AFE9-46A9-891B52BA35B2}"/>
              </a:ext>
            </a:extLst>
          </p:cNvPr>
          <p:cNvSpPr>
            <a:spLocks noGrp="1"/>
          </p:cNvSpPr>
          <p:nvPr>
            <p:ph type="title"/>
          </p:nvPr>
        </p:nvSpPr>
        <p:spPr>
          <a:xfrm>
            <a:off x="457200" y="254916"/>
            <a:ext cx="8229600" cy="667168"/>
          </a:xfrm>
        </p:spPr>
        <p:txBody>
          <a:bodyPr>
            <a:normAutofit/>
          </a:bodyPr>
          <a:lstStyle/>
          <a:p>
            <a:r>
              <a:rPr lang="en-US"/>
              <a:t>arithmetic assignment operators</a:t>
            </a:r>
          </a:p>
        </p:txBody>
      </p:sp>
    </p:spTree>
    <p:extLst>
      <p:ext uri="{BB962C8B-B14F-4D97-AF65-F5344CB8AC3E}">
        <p14:creationId xmlns:p14="http://schemas.microsoft.com/office/powerpoint/2010/main" val="1556643686"/>
      </p:ext>
    </p:extLst>
  </p:cSld>
  <p:clrMapOvr>
    <a:masterClrMapping/>
  </p:clrMapOvr>
</p:sld>
</file>

<file path=ppt/slides/slide6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0396A-78D7-D9C4-94CF-728853D94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18B54-6230-6F64-79D9-786DA0951A92}"/>
              </a:ext>
            </a:extLst>
          </p:cNvPr>
          <p:cNvSpPr>
            <a:spLocks noGrp="1"/>
          </p:cNvSpPr>
          <p:nvPr>
            <p:ph type="title"/>
          </p:nvPr>
        </p:nvSpPr>
        <p:spPr/>
        <p:txBody>
          <a:bodyPr/>
          <a:lstStyle/>
          <a:p>
            <a:r>
              <a:rPr lang="en-US">
                <a:solidFill>
                  <a:srgbClr val="000080"/>
                </a:solidFill>
                <a:latin typeface="Consolas" panose="020B0609020204030204" pitchFamily="49" charset="0"/>
              </a:rPr>
              <a:t>String</a:t>
            </a:r>
            <a:r>
              <a:rPr lang="en-US"/>
              <a:t> concatenation</a:t>
            </a:r>
          </a:p>
        </p:txBody>
      </p:sp>
      <p:sp>
        <p:nvSpPr>
          <p:cNvPr id="3" name="Content Placeholder 2">
            <a:extLst>
              <a:ext uri="{FF2B5EF4-FFF2-40B4-BE49-F238E27FC236}">
                <a16:creationId xmlns:a16="http://schemas.microsoft.com/office/drawing/2014/main" id="{368652B8-21F3-39AF-CC06-7530722CAC06}"/>
              </a:ext>
            </a:extLst>
          </p:cNvPr>
          <p:cNvSpPr>
            <a:spLocks noGrp="1"/>
          </p:cNvSpPr>
          <p:nvPr>
            <p:ph sz="quarter" idx="10"/>
          </p:nvPr>
        </p:nvSpPr>
        <p:spPr/>
        <p:txBody>
          <a:bodyPr/>
          <a:lstStyle/>
          <a:p>
            <a:r>
              <a:rPr lang="en-US"/>
              <a:t>+</a:t>
            </a:r>
            <a:r>
              <a:rPr lang="en-US" b="1"/>
              <a:t> </a:t>
            </a:r>
            <a:r>
              <a:rPr lang="en-US"/>
              <a:t>concatenates two </a:t>
            </a:r>
            <a:r>
              <a:rPr lang="en-US">
                <a:solidFill>
                  <a:srgbClr val="000080"/>
                </a:solidFill>
                <a:latin typeface="Consolas" panose="020B0609020204030204" pitchFamily="49" charset="0"/>
              </a:rPr>
              <a:t>String</a:t>
            </a:r>
            <a:r>
              <a:rPr lang="en-US"/>
              <a:t>'s</a:t>
            </a:r>
          </a:p>
          <a:p>
            <a:pPr lvl="1"/>
            <a:endParaRPr lang="en-US">
              <a:latin typeface="Consolas" panose="020B0609020204030204" pitchFamily="49" charset="0"/>
            </a:endParaRPr>
          </a:p>
          <a:p>
            <a:pPr lvl="1"/>
            <a:r>
              <a:rPr lang="en-US">
                <a:solidFill>
                  <a:srgbClr val="007B00"/>
                </a:solidFill>
                <a:effectLst/>
                <a:latin typeface="+mj-lt"/>
              </a:rPr>
              <a:t>// String</a:t>
            </a:r>
            <a:r>
              <a:rPr lang="en-US">
                <a:solidFill>
                  <a:srgbClr val="007B00"/>
                </a:solidFill>
                <a:latin typeface="+mj-lt"/>
              </a:rPr>
              <a:t> foo </a:t>
            </a:r>
            <a:r>
              <a:rPr lang="en-US">
                <a:solidFill>
                  <a:srgbClr val="007B00"/>
                </a:solidFill>
                <a:effectLst/>
                <a:latin typeface="+mj-lt"/>
              </a:rPr>
              <a:t>=</a:t>
            </a:r>
            <a:r>
              <a:rPr lang="en-US">
                <a:solidFill>
                  <a:srgbClr val="007B00"/>
                </a:solidFill>
                <a:latin typeface="+mj-lt"/>
              </a:rPr>
              <a:t> </a:t>
            </a:r>
            <a:r>
              <a:rPr lang="en-US">
                <a:solidFill>
                  <a:srgbClr val="007B00"/>
                </a:solidFill>
                <a:effectLst/>
                <a:latin typeface="+mj-lt"/>
              </a:rPr>
              <a:t>"Hello"</a:t>
            </a:r>
            <a:r>
              <a:rPr lang="en-US">
                <a:solidFill>
                  <a:srgbClr val="007B00"/>
                </a:solidFill>
                <a:latin typeface="+mj-lt"/>
              </a:rPr>
              <a:t>.</a:t>
            </a:r>
            <a:r>
              <a:rPr lang="en-US" err="1">
                <a:solidFill>
                  <a:srgbClr val="007B00"/>
                </a:solidFill>
                <a:effectLst/>
                <a:latin typeface="+mj-lt"/>
              </a:rPr>
              <a:t>concat</a:t>
            </a:r>
            <a:r>
              <a:rPr lang="en-US">
                <a:solidFill>
                  <a:srgbClr val="007B00"/>
                </a:solidFill>
                <a:latin typeface="+mj-lt"/>
              </a:rPr>
              <a:t>(</a:t>
            </a:r>
            <a:r>
              <a:rPr lang="en-US">
                <a:solidFill>
                  <a:srgbClr val="007B00"/>
                </a:solidFill>
                <a:effectLst/>
                <a:latin typeface="+mj-lt"/>
              </a:rPr>
              <a:t>"World"</a:t>
            </a:r>
            <a:r>
              <a:rPr lang="en-US">
                <a:solidFill>
                  <a:srgbClr val="007B00"/>
                </a:solidFill>
                <a:latin typeface="+mj-lt"/>
              </a:rPr>
              <a:t>);</a:t>
            </a:r>
            <a:br>
              <a:rPr lang="en-US">
                <a:latin typeface="+mj-lt"/>
              </a:rPr>
            </a:br>
            <a:r>
              <a:rPr lang="en-US">
                <a:latin typeface="Consolas" panose="020B0609020204030204" pitchFamily="49" charset="0"/>
              </a:rPr>
              <a:t>   </a:t>
            </a:r>
            <a:r>
              <a:rPr lang="en-US">
                <a:solidFill>
                  <a:srgbClr val="000080"/>
                </a:solidFill>
                <a:latin typeface="Consolas" panose="020B0609020204030204" pitchFamily="49" charset="0"/>
              </a:rPr>
              <a:t>String</a:t>
            </a:r>
            <a:r>
              <a:rPr lang="en-US">
                <a:latin typeface="Consolas" panose="020B0609020204030204" pitchFamily="49" charset="0"/>
              </a:rPr>
              <a:t> foo = </a:t>
            </a:r>
            <a:r>
              <a:rPr lang="en-US">
                <a:solidFill>
                  <a:srgbClr val="B71111"/>
                </a:solidFill>
                <a:latin typeface="Consolas" panose="020B0609020204030204" pitchFamily="49" charset="0"/>
              </a:rPr>
              <a:t>"Hello"</a:t>
            </a:r>
            <a:r>
              <a:rPr lang="en-US">
                <a:latin typeface="Consolas" panose="020B0609020204030204" pitchFamily="49" charset="0"/>
              </a:rPr>
              <a:t> + </a:t>
            </a:r>
            <a:r>
              <a:rPr lang="en-US">
                <a:solidFill>
                  <a:srgbClr val="B71111"/>
                </a:solidFill>
                <a:latin typeface="Consolas" panose="020B0609020204030204" pitchFamily="49" charset="0"/>
              </a:rPr>
              <a:t>"World"</a:t>
            </a:r>
            <a:r>
              <a:rPr lang="en-US">
                <a:latin typeface="Consolas" panose="020B0609020204030204" pitchFamily="49" charset="0"/>
              </a:rPr>
              <a:t>; </a:t>
            </a:r>
            <a:r>
              <a:rPr lang="en-US">
                <a:solidFill>
                  <a:srgbClr val="007B00"/>
                </a:solidFill>
                <a:latin typeface="Consolas" panose="020B0609020204030204" pitchFamily="49" charset="0"/>
              </a:rPr>
              <a:t>// "HelloWorld"</a:t>
            </a:r>
            <a:endParaRPr lang="en-US">
              <a:solidFill>
                <a:srgbClr val="007B00"/>
              </a:solidFill>
              <a:latin typeface="+mj-lt"/>
            </a:endParaRPr>
          </a:p>
          <a:p>
            <a:endParaRPr lang="en-US">
              <a:latin typeface="Consolas" panose="020B0609020204030204" pitchFamily="49" charset="0"/>
            </a:endParaRPr>
          </a:p>
          <a:p>
            <a:r>
              <a:rPr lang="en-US"/>
              <a:t>it also does some conversions for you</a:t>
            </a:r>
            <a:br>
              <a:rPr lang="en-US"/>
            </a:br>
            <a:r>
              <a:rPr lang="en-US"/>
              <a:t>(very convenient, kind of confusing)</a:t>
            </a:r>
          </a:p>
          <a:p>
            <a:endParaRPr lang="en-US"/>
          </a:p>
          <a:p>
            <a:pPr lvl="1"/>
            <a:r>
              <a:rPr lang="en-US">
                <a:solidFill>
                  <a:srgbClr val="007B00"/>
                </a:solidFill>
                <a:effectLst/>
                <a:latin typeface="+mj-lt"/>
              </a:rPr>
              <a:t>// String</a:t>
            </a:r>
            <a:r>
              <a:rPr lang="en-US">
                <a:solidFill>
                  <a:srgbClr val="007B00"/>
                </a:solidFill>
                <a:latin typeface="+mj-lt"/>
              </a:rPr>
              <a:t> foo </a:t>
            </a:r>
            <a:r>
              <a:rPr lang="en-US">
                <a:solidFill>
                  <a:srgbClr val="007B00"/>
                </a:solidFill>
                <a:effectLst/>
                <a:latin typeface="+mj-lt"/>
              </a:rPr>
              <a:t>=</a:t>
            </a:r>
            <a:r>
              <a:rPr lang="en-US">
                <a:solidFill>
                  <a:srgbClr val="007B00"/>
                </a:solidFill>
                <a:latin typeface="+mj-lt"/>
              </a:rPr>
              <a:t> </a:t>
            </a:r>
            <a:r>
              <a:rPr lang="en-US">
                <a:solidFill>
                  <a:srgbClr val="007B00"/>
                </a:solidFill>
                <a:effectLst/>
                <a:latin typeface="+mj-lt"/>
              </a:rPr>
              <a:t>"Hello"</a:t>
            </a:r>
            <a:r>
              <a:rPr lang="en-US">
                <a:solidFill>
                  <a:srgbClr val="007B00"/>
                </a:solidFill>
                <a:latin typeface="+mj-lt"/>
              </a:rPr>
              <a:t>.</a:t>
            </a:r>
            <a:r>
              <a:rPr lang="en-US" err="1">
                <a:solidFill>
                  <a:srgbClr val="007B00"/>
                </a:solidFill>
                <a:effectLst/>
                <a:latin typeface="+mj-lt"/>
              </a:rPr>
              <a:t>concat</a:t>
            </a:r>
            <a:r>
              <a:rPr lang="en-US">
                <a:solidFill>
                  <a:srgbClr val="007B00"/>
                </a:solidFill>
                <a:latin typeface="+mj-lt"/>
              </a:rPr>
              <a:t>(</a:t>
            </a:r>
            <a:r>
              <a:rPr lang="en-US" err="1">
                <a:solidFill>
                  <a:srgbClr val="007B00"/>
                </a:solidFill>
                <a:effectLst/>
                <a:latin typeface="+mj-lt"/>
              </a:rPr>
              <a:t>Integer.toString</a:t>
            </a:r>
            <a:r>
              <a:rPr lang="en-US">
                <a:solidFill>
                  <a:srgbClr val="007B00"/>
                </a:solidFill>
                <a:effectLst/>
                <a:latin typeface="+mj-lt"/>
              </a:rPr>
              <a:t>(2)</a:t>
            </a:r>
            <a:r>
              <a:rPr lang="en-US">
                <a:solidFill>
                  <a:srgbClr val="007B00"/>
                </a:solidFill>
                <a:latin typeface="+mj-lt"/>
              </a:rPr>
              <a:t>);</a:t>
            </a:r>
            <a:br>
              <a:rPr lang="en-US">
                <a:latin typeface="+mj-lt"/>
              </a:rPr>
            </a:br>
            <a:r>
              <a:rPr lang="en-US">
                <a:latin typeface="Consolas" panose="020B0609020204030204" pitchFamily="49" charset="0"/>
              </a:rPr>
              <a:t>   </a:t>
            </a:r>
            <a:r>
              <a:rPr lang="en-US">
                <a:solidFill>
                  <a:srgbClr val="000080"/>
                </a:solidFill>
                <a:latin typeface="Consolas" panose="020B0609020204030204" pitchFamily="49" charset="0"/>
              </a:rPr>
              <a:t>String</a:t>
            </a:r>
            <a:r>
              <a:rPr lang="en-US">
                <a:latin typeface="Consolas" panose="020B0609020204030204" pitchFamily="49" charset="0"/>
              </a:rPr>
              <a:t> foo = </a:t>
            </a:r>
            <a:r>
              <a:rPr lang="en-US">
                <a:solidFill>
                  <a:srgbClr val="B71111"/>
                </a:solidFill>
                <a:latin typeface="Consolas" panose="020B0609020204030204" pitchFamily="49" charset="0"/>
              </a:rPr>
              <a:t>"Hello"</a:t>
            </a:r>
            <a:r>
              <a:rPr lang="en-US">
                <a:latin typeface="Consolas" panose="020B0609020204030204" pitchFamily="49" charset="0"/>
              </a:rPr>
              <a:t> + </a:t>
            </a:r>
            <a:r>
              <a:rPr lang="en-US">
                <a:solidFill>
                  <a:srgbClr val="02B5B5"/>
                </a:solidFill>
                <a:effectLst/>
                <a:latin typeface="+mj-lt"/>
              </a:rPr>
              <a:t>2</a:t>
            </a:r>
            <a:r>
              <a:rPr lang="en-US">
                <a:latin typeface="Consolas" panose="020B0609020204030204" pitchFamily="49" charset="0"/>
              </a:rPr>
              <a:t>; </a:t>
            </a:r>
            <a:r>
              <a:rPr lang="en-US">
                <a:solidFill>
                  <a:srgbClr val="007B00"/>
                </a:solidFill>
                <a:latin typeface="Consolas" panose="020B0609020204030204" pitchFamily="49" charset="0"/>
              </a:rPr>
              <a:t>// "Hello2"</a:t>
            </a:r>
            <a:endParaRPr lang="en-US">
              <a:solidFill>
                <a:srgbClr val="007B00"/>
              </a:solidFill>
            </a:endParaRPr>
          </a:p>
          <a:p>
            <a:pPr marL="342886" lvl="1" indent="0">
              <a:buNone/>
            </a:pPr>
            <a:endParaRPr lang="en-US">
              <a:latin typeface="+mj-lt"/>
            </a:endParaRPr>
          </a:p>
          <a:p>
            <a:endParaRPr lang="en-US"/>
          </a:p>
        </p:txBody>
      </p:sp>
    </p:spTree>
    <p:extLst>
      <p:ext uri="{BB962C8B-B14F-4D97-AF65-F5344CB8AC3E}">
        <p14:creationId xmlns:p14="http://schemas.microsoft.com/office/powerpoint/2010/main" val="1459300207"/>
      </p:ext>
    </p:extLst>
  </p:cSld>
  <p:clrMapOvr>
    <a:masterClrMapping/>
  </p:clrMapOvr>
</p:sld>
</file>

<file path=ppt/slides/slide6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0E016-7B1C-932C-5D93-9AC806A2C98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ED87E6B-0084-EE6D-6E7F-240382D192FB}"/>
              </a:ext>
            </a:extLst>
          </p:cNvPr>
          <p:cNvSpPr>
            <a:spLocks noGrp="1"/>
          </p:cNvSpPr>
          <p:nvPr>
            <p:ph type="title"/>
          </p:nvPr>
        </p:nvSpPr>
        <p:spPr>
          <a:xfrm>
            <a:off x="457200" y="254916"/>
            <a:ext cx="8229600" cy="667168"/>
          </a:xfrm>
        </p:spPr>
        <p:txBody>
          <a:bodyPr/>
          <a:lstStyle/>
          <a:p>
            <a:r>
              <a:t>increment</a:t>
            </a:r>
            <a:r>
              <a:rPr lang="en-US"/>
              <a:t> operator</a:t>
            </a:r>
            <a:endParaRPr/>
          </a:p>
        </p:txBody>
      </p:sp>
      <p:sp>
        <p:nvSpPr>
          <p:cNvPr id="9" name="Content Placeholder 8">
            <a:extLst>
              <a:ext uri="{FF2B5EF4-FFF2-40B4-BE49-F238E27FC236}">
                <a16:creationId xmlns:a16="http://schemas.microsoft.com/office/drawing/2014/main" id="{53CE37B4-DABB-3DE4-A1D5-5D6265415F24}"/>
              </a:ext>
            </a:extLst>
          </p:cNvPr>
          <p:cNvSpPr>
            <a:spLocks noGrp="1"/>
          </p:cNvSpPr>
          <p:nvPr>
            <p:ph sz="quarter" idx="10"/>
          </p:nvPr>
        </p:nvSpPr>
        <p:spPr/>
        <p:txBody>
          <a:bodyPr>
            <a:normAutofit/>
          </a:bodyPr>
          <a:lstStyle/>
          <a:p>
            <a:pPr lvl="0"/>
            <a:r>
              <a:rPr lang="en-US"/>
              <a:t>to "</a:t>
            </a:r>
            <a:r>
              <a:rPr b="1"/>
              <a:t>increment</a:t>
            </a:r>
            <a:r>
              <a:rPr lang="en-US"/>
              <a:t>"</a:t>
            </a:r>
            <a:r>
              <a:t> means to increase the value of </a:t>
            </a:r>
            <a:r>
              <a:rPr lang="en-US"/>
              <a:t>a number </a:t>
            </a:r>
            <a:r>
              <a:t>by one</a:t>
            </a:r>
            <a:endParaRPr lang="en-US"/>
          </a:p>
          <a:p>
            <a:pPr lvl="1"/>
            <a:r>
              <a:rPr kumimoji="0" lang="en-US" sz="1800" b="0" i="0" u="none" strike="noStrike" kern="1200" cap="none" spc="0" normalizeH="0" baseline="0" noProof="0" err="1">
                <a:ln>
                  <a:noFill/>
                </a:ln>
                <a:effectLst/>
                <a:uLnTx/>
                <a:uFillTx/>
                <a:latin typeface="+mj-lt"/>
                <a:ea typeface="+mn-ea"/>
                <a:cs typeface="Consolas" panose="020B0609020204030204" pitchFamily="49" charset="0"/>
              </a:rPr>
              <a:t>i</a:t>
            </a:r>
            <a:r>
              <a:rPr kumimoji="0" lang="en-US" sz="1800" b="0" i="0" u="none" strike="noStrike" kern="1200" cap="none" spc="0" normalizeH="0" baseline="0" noProof="0">
                <a:ln>
                  <a:noFill/>
                </a:ln>
                <a:effectLst/>
                <a:uLnTx/>
                <a:uFillTx/>
                <a:latin typeface="+mj-lt"/>
                <a:ea typeface="+mn-ea"/>
                <a:cs typeface="Consolas" panose="020B0609020204030204" pitchFamily="49" charset="0"/>
              </a:rPr>
              <a:t> = </a:t>
            </a:r>
            <a:r>
              <a:rPr kumimoji="0" lang="en-US" sz="1800" b="0" i="0" u="none" strike="noStrike" kern="1200" cap="none" spc="0" normalizeH="0" baseline="0" noProof="0" err="1">
                <a:ln>
                  <a:noFill/>
                </a:ln>
                <a:effectLst/>
                <a:uLnTx/>
                <a:uFillTx/>
                <a:latin typeface="+mj-lt"/>
                <a:ea typeface="+mn-ea"/>
                <a:cs typeface="Consolas" panose="020B0609020204030204" pitchFamily="49" charset="0"/>
              </a:rPr>
              <a:t>i</a:t>
            </a:r>
            <a:r>
              <a:rPr kumimoji="0" lang="en-US" sz="1800" b="0" i="0" u="none" strike="noStrike" kern="1200" cap="none" spc="0" normalizeH="0" baseline="0" noProof="0">
                <a:ln>
                  <a:noFill/>
                </a:ln>
                <a:effectLst/>
                <a:uLnTx/>
                <a:uFillTx/>
                <a:latin typeface="+mj-lt"/>
                <a:ea typeface="+mn-ea"/>
                <a:cs typeface="Consolas" panose="020B0609020204030204" pitchFamily="49" charset="0"/>
              </a:rPr>
              <a:t> + 1;</a:t>
            </a:r>
          </a:p>
          <a:p>
            <a:pPr lvl="1"/>
            <a:r>
              <a:rPr kumimoji="0" lang="en-US" sz="1800" b="0" i="0" u="none" strike="noStrike" kern="1200" cap="none" spc="0" normalizeH="0" baseline="0" noProof="0" err="1">
                <a:ln>
                  <a:noFill/>
                </a:ln>
                <a:effectLst/>
                <a:uLnTx/>
                <a:uFillTx/>
                <a:latin typeface="+mj-lt"/>
                <a:ea typeface="+mn-ea"/>
                <a:cs typeface="Consolas" panose="020B0609020204030204" pitchFamily="49" charset="0"/>
              </a:rPr>
              <a:t>i</a:t>
            </a:r>
            <a:r>
              <a:rPr kumimoji="0" lang="en-US" sz="1800" b="0" i="0" u="none" strike="noStrike" kern="1200" cap="none" spc="0" normalizeH="0" baseline="0" noProof="0">
                <a:ln>
                  <a:noFill/>
                </a:ln>
                <a:effectLst/>
                <a:uLnTx/>
                <a:uFillTx/>
                <a:latin typeface="+mj-lt"/>
                <a:ea typeface="+mn-ea"/>
                <a:cs typeface="Consolas" panose="020B0609020204030204" pitchFamily="49" charset="0"/>
              </a:rPr>
              <a:t> += 1;</a:t>
            </a:r>
            <a:endParaRPr lang="en-US"/>
          </a:p>
          <a:p>
            <a:pPr lvl="1"/>
            <a:endParaRPr/>
          </a:p>
          <a:p>
            <a:pPr lvl="1"/>
            <a:r>
              <a:t>the </a:t>
            </a:r>
            <a:r>
              <a:rPr b="1"/>
              <a:t>pre-increment</a:t>
            </a:r>
            <a:r>
              <a:t> </a:t>
            </a:r>
            <a:r>
              <a:rPr b="1">
                <a:latin typeface="+mj-lt"/>
              </a:rPr>
              <a:t>++</a:t>
            </a:r>
            <a:r>
              <a:rPr err="1">
                <a:latin typeface="+mj-lt"/>
              </a:rPr>
              <a:t>i</a:t>
            </a:r>
            <a:r>
              <a:t> increments </a:t>
            </a:r>
            <a:r>
              <a:rPr err="1">
                <a:latin typeface="+mj-lt"/>
              </a:rPr>
              <a:t>i</a:t>
            </a:r>
            <a:r>
              <a:t> and returns the new value of </a:t>
            </a:r>
            <a:r>
              <a:rPr err="1">
                <a:latin typeface="+mj-lt"/>
              </a:rPr>
              <a:t>i</a:t>
            </a:r>
            <a:endParaRPr lang="en-US">
              <a:latin typeface="+mj-lt"/>
            </a:endParaRPr>
          </a:p>
          <a:p>
            <a:pPr lvl="1"/>
            <a:r>
              <a:rPr lang="en-US">
                <a:latin typeface="+mj-lt"/>
              </a:rPr>
              <a:t>j = ++</a:t>
            </a:r>
            <a:r>
              <a:rPr lang="en-US" err="1">
                <a:latin typeface="+mj-lt"/>
              </a:rPr>
              <a:t>i</a:t>
            </a:r>
            <a:r>
              <a:rPr lang="en-US">
                <a:latin typeface="+mj-lt"/>
              </a:rPr>
              <a:t>; </a:t>
            </a:r>
            <a:r>
              <a:rPr lang="en-US">
                <a:solidFill>
                  <a:srgbClr val="007B00"/>
                </a:solidFill>
                <a:latin typeface="+mj-lt"/>
              </a:rPr>
              <a:t>// </a:t>
            </a:r>
            <a:r>
              <a:rPr kumimoji="0" lang="en-US" sz="1800" b="0" i="0" u="none" strike="noStrike" kern="1200" cap="none" spc="0" normalizeH="0" baseline="0" noProof="0" err="1">
                <a:ln>
                  <a:noFill/>
                </a:ln>
                <a:solidFill>
                  <a:srgbClr val="007B00"/>
                </a:solidFill>
                <a:effectLst/>
                <a:uLnTx/>
                <a:uFillTx/>
                <a:latin typeface="+mj-lt"/>
                <a:ea typeface="+mn-ea"/>
                <a:cs typeface="Consolas" panose="020B0609020204030204" pitchFamily="49" charset="0"/>
              </a:rPr>
              <a:t>i</a:t>
            </a:r>
            <a:r>
              <a:rPr kumimoji="0" lang="en-US" sz="1800" b="0" i="0" u="none" strike="noStrike" kern="1200" cap="none" spc="0" normalizeH="0" baseline="0" noProof="0">
                <a:ln>
                  <a:noFill/>
                </a:ln>
                <a:solidFill>
                  <a:srgbClr val="007B00"/>
                </a:solidFill>
                <a:effectLst/>
                <a:uLnTx/>
                <a:uFillTx/>
                <a:latin typeface="+mj-lt"/>
                <a:ea typeface="+mn-ea"/>
                <a:cs typeface="Consolas" panose="020B0609020204030204" pitchFamily="49" charset="0"/>
              </a:rPr>
              <a:t> = </a:t>
            </a:r>
            <a:r>
              <a:rPr kumimoji="0" lang="en-US" sz="1800" b="0" i="0" u="none" strike="noStrike" kern="1200" cap="none" spc="0" normalizeH="0" baseline="0" noProof="0" err="1">
                <a:ln>
                  <a:noFill/>
                </a:ln>
                <a:solidFill>
                  <a:srgbClr val="007B00"/>
                </a:solidFill>
                <a:effectLst/>
                <a:uLnTx/>
                <a:uFillTx/>
                <a:latin typeface="+mj-lt"/>
                <a:ea typeface="+mn-ea"/>
                <a:cs typeface="Consolas" panose="020B0609020204030204" pitchFamily="49" charset="0"/>
              </a:rPr>
              <a:t>i</a:t>
            </a:r>
            <a:r>
              <a:rPr kumimoji="0" lang="en-US" sz="1800" b="0" i="0" u="none" strike="noStrike" kern="1200" cap="none" spc="0" normalizeH="0" baseline="0" noProof="0">
                <a:ln>
                  <a:noFill/>
                </a:ln>
                <a:solidFill>
                  <a:srgbClr val="007B00"/>
                </a:solidFill>
                <a:effectLst/>
                <a:uLnTx/>
                <a:uFillTx/>
                <a:latin typeface="+mj-lt"/>
                <a:ea typeface="+mn-ea"/>
                <a:cs typeface="Consolas" panose="020B0609020204030204" pitchFamily="49" charset="0"/>
              </a:rPr>
              <a:t> + 1;</a:t>
            </a:r>
          </a:p>
          <a:p>
            <a:pPr lvl="1"/>
            <a:r>
              <a:rPr lang="en-US">
                <a:latin typeface="+mj-lt"/>
                <a:ea typeface="+mn-ea"/>
                <a:cs typeface="Consolas" panose="020B0609020204030204" pitchFamily="49" charset="0"/>
              </a:rPr>
              <a:t>         </a:t>
            </a:r>
            <a:r>
              <a:rPr lang="en-US">
                <a:solidFill>
                  <a:srgbClr val="007B00"/>
                </a:solidFill>
                <a:latin typeface="+mj-lt"/>
                <a:ea typeface="+mn-ea"/>
                <a:cs typeface="Consolas" panose="020B0609020204030204" pitchFamily="49" charset="0"/>
              </a:rPr>
              <a:t>// </a:t>
            </a:r>
            <a:r>
              <a:rPr kumimoji="0" lang="en-US" sz="1800" b="0" i="0" u="none" strike="noStrike" kern="1200" cap="none" spc="0" normalizeH="0" baseline="0" noProof="0">
                <a:ln>
                  <a:noFill/>
                </a:ln>
                <a:solidFill>
                  <a:srgbClr val="007B00"/>
                </a:solidFill>
                <a:effectLst/>
                <a:uLnTx/>
                <a:uFillTx/>
                <a:latin typeface="+mj-lt"/>
                <a:ea typeface="+mn-ea"/>
                <a:cs typeface="Consolas" panose="020B0609020204030204" pitchFamily="49" charset="0"/>
              </a:rPr>
              <a:t>j = </a:t>
            </a:r>
            <a:r>
              <a:rPr kumimoji="0" lang="en-US" sz="1800" b="0" i="0" u="none" strike="noStrike" kern="1200" cap="none" spc="0" normalizeH="0" baseline="0" noProof="0" err="1">
                <a:ln>
                  <a:noFill/>
                </a:ln>
                <a:solidFill>
                  <a:srgbClr val="007B00"/>
                </a:solidFill>
                <a:effectLst/>
                <a:uLnTx/>
                <a:uFillTx/>
                <a:latin typeface="+mj-lt"/>
                <a:ea typeface="+mn-ea"/>
                <a:cs typeface="Consolas" panose="020B0609020204030204" pitchFamily="49" charset="0"/>
              </a:rPr>
              <a:t>i</a:t>
            </a:r>
            <a:r>
              <a:rPr kumimoji="0" lang="en-US" sz="1800" b="0" i="0" u="none" strike="noStrike" kern="1200" cap="none" spc="0" normalizeH="0" baseline="0" noProof="0">
                <a:ln>
                  <a:noFill/>
                </a:ln>
                <a:solidFill>
                  <a:srgbClr val="007B00"/>
                </a:solidFill>
                <a:effectLst/>
                <a:uLnTx/>
                <a:uFillTx/>
                <a:latin typeface="+mj-lt"/>
                <a:ea typeface="+mn-ea"/>
                <a:cs typeface="Consolas" panose="020B0609020204030204" pitchFamily="49" charset="0"/>
              </a:rPr>
              <a:t>;</a:t>
            </a:r>
          </a:p>
          <a:p>
            <a:pPr lvl="1"/>
            <a:endParaRPr>
              <a:latin typeface="+mj-lt"/>
            </a:endParaRPr>
          </a:p>
          <a:p>
            <a:pPr lvl="1"/>
            <a:r>
              <a:t>the </a:t>
            </a:r>
            <a:r>
              <a:rPr b="1"/>
              <a:t>post-increment</a:t>
            </a:r>
            <a:r>
              <a:t> </a:t>
            </a:r>
            <a:r>
              <a:rPr err="1">
                <a:latin typeface="+mj-lt"/>
              </a:rPr>
              <a:t>i</a:t>
            </a:r>
            <a:r>
              <a:rPr b="1">
                <a:latin typeface="+mj-lt"/>
              </a:rPr>
              <a:t>++</a:t>
            </a:r>
            <a:r>
              <a:t> increments </a:t>
            </a:r>
            <a:r>
              <a:rPr err="1">
                <a:latin typeface="+mj-lt"/>
              </a:rPr>
              <a:t>i</a:t>
            </a:r>
            <a:r>
              <a:t> and returns the old value of </a:t>
            </a:r>
            <a:r>
              <a:rPr err="1">
                <a:latin typeface="+mj-lt"/>
              </a:rPr>
              <a:t>i</a:t>
            </a:r>
            <a:endParaRPr lang="en-US">
              <a:latin typeface="+mj-lt"/>
            </a:endParaRPr>
          </a:p>
          <a:p>
            <a:pPr marL="352030" lvl="1" indent="0">
              <a:spcBef>
                <a:spcPts val="384"/>
              </a:spcBef>
            </a:pPr>
            <a:r>
              <a:rPr lang="en-US" b="0" i="0" u="none" strike="noStrike" kern="1200" spc="0" baseline="0">
                <a:ln>
                  <a:noFill/>
                </a:ln>
                <a:effectLst/>
                <a:latin typeface="+mj-lt"/>
                <a:cs typeface="Consolas" panose="020B0609020204030204" pitchFamily="49" charset="0"/>
              </a:rPr>
              <a:t> j = </a:t>
            </a:r>
            <a:r>
              <a:rPr lang="en-US" b="0" i="0" u="none" strike="noStrike" kern="1200" spc="0" baseline="0" err="1">
                <a:ln>
                  <a:noFill/>
                </a:ln>
                <a:effectLst/>
                <a:latin typeface="+mj-lt"/>
                <a:cs typeface="Consolas" panose="020B0609020204030204" pitchFamily="49" charset="0"/>
              </a:rPr>
              <a:t>i</a:t>
            </a:r>
            <a:r>
              <a:rPr lang="en-US" b="0" i="0" u="none" strike="noStrike" kern="1200" spc="0" baseline="0">
                <a:ln>
                  <a:noFill/>
                </a:ln>
                <a:effectLst/>
                <a:latin typeface="+mj-lt"/>
                <a:cs typeface="Consolas" panose="020B0609020204030204" pitchFamily="49" charset="0"/>
              </a:rPr>
              <a:t>++;</a:t>
            </a:r>
            <a:r>
              <a:rPr lang="en-US">
                <a:latin typeface="+mj-lt"/>
              </a:rPr>
              <a:t> </a:t>
            </a:r>
            <a:r>
              <a:rPr lang="en-US">
                <a:solidFill>
                  <a:srgbClr val="007B00"/>
                </a:solidFill>
                <a:latin typeface="+mj-lt"/>
              </a:rPr>
              <a:t>// </a:t>
            </a:r>
            <a:r>
              <a:rPr lang="en-US" sz="1800" b="0" i="0" u="none" strike="noStrike" kern="1200" spc="0" baseline="0">
                <a:ln>
                  <a:noFill/>
                </a:ln>
                <a:solidFill>
                  <a:srgbClr val="007B00"/>
                </a:solidFill>
                <a:effectLst/>
                <a:latin typeface="+mj-lt"/>
                <a:cs typeface="Consolas" panose="020B0609020204030204" pitchFamily="49" charset="0"/>
              </a:rPr>
              <a:t>j = </a:t>
            </a:r>
            <a:r>
              <a:rPr lang="en-US" sz="1800" b="0" i="0" u="none" strike="noStrike" kern="1200" spc="0" baseline="0" err="1">
                <a:ln>
                  <a:noFill/>
                </a:ln>
                <a:solidFill>
                  <a:srgbClr val="007B00"/>
                </a:solidFill>
                <a:effectLst/>
                <a:latin typeface="+mj-lt"/>
                <a:cs typeface="Consolas" panose="020B0609020204030204" pitchFamily="49" charset="0"/>
              </a:rPr>
              <a:t>i</a:t>
            </a:r>
            <a:r>
              <a:rPr lang="en-US" sz="1800" b="0" i="0" u="none" strike="noStrike" kern="1200" spc="0" baseline="0">
                <a:ln>
                  <a:noFill/>
                </a:ln>
                <a:solidFill>
                  <a:srgbClr val="007B00"/>
                </a:solidFill>
                <a:effectLst/>
                <a:latin typeface="+mj-lt"/>
                <a:cs typeface="Consolas" panose="020B0609020204030204" pitchFamily="49" charset="0"/>
              </a:rPr>
              <a:t>;</a:t>
            </a:r>
            <a:endParaRPr lang="en-US">
              <a:solidFill>
                <a:srgbClr val="007B00"/>
              </a:solidFill>
              <a:latin typeface="+mj-lt"/>
            </a:endParaRPr>
          </a:p>
          <a:p>
            <a:pPr marL="352030" lvl="1" indent="0">
              <a:spcBef>
                <a:spcPts val="384"/>
              </a:spcBef>
            </a:pPr>
            <a:r>
              <a:rPr lang="en-US">
                <a:latin typeface="+mj-lt"/>
                <a:cs typeface="Consolas" panose="020B0609020204030204" pitchFamily="49" charset="0"/>
              </a:rPr>
              <a:t>          </a:t>
            </a:r>
            <a:r>
              <a:rPr lang="en-US">
                <a:solidFill>
                  <a:srgbClr val="007B00"/>
                </a:solidFill>
                <a:latin typeface="+mj-lt"/>
                <a:cs typeface="Consolas" panose="020B0609020204030204" pitchFamily="49" charset="0"/>
              </a:rPr>
              <a:t>// </a:t>
            </a:r>
            <a:r>
              <a:rPr lang="en-US" sz="1800" b="0" i="0" u="none" strike="noStrike" kern="1200" spc="0" baseline="0" err="1">
                <a:ln>
                  <a:noFill/>
                </a:ln>
                <a:solidFill>
                  <a:srgbClr val="007B00"/>
                </a:solidFill>
                <a:effectLst/>
                <a:latin typeface="+mj-lt"/>
                <a:cs typeface="Consolas" panose="020B0609020204030204" pitchFamily="49" charset="0"/>
              </a:rPr>
              <a:t>i</a:t>
            </a:r>
            <a:r>
              <a:rPr lang="en-US" sz="1800" b="0" i="0" u="none" strike="noStrike" kern="1200" spc="0" baseline="0">
                <a:ln>
                  <a:noFill/>
                </a:ln>
                <a:solidFill>
                  <a:srgbClr val="007B00"/>
                </a:solidFill>
                <a:effectLst/>
                <a:latin typeface="+mj-lt"/>
                <a:cs typeface="Consolas" panose="020B0609020204030204" pitchFamily="49" charset="0"/>
              </a:rPr>
              <a:t> = </a:t>
            </a:r>
            <a:r>
              <a:rPr lang="en-US" sz="1800" b="0" i="0" u="none" strike="noStrike" kern="1200" spc="0" baseline="0" err="1">
                <a:ln>
                  <a:noFill/>
                </a:ln>
                <a:solidFill>
                  <a:srgbClr val="007B00"/>
                </a:solidFill>
                <a:effectLst/>
                <a:latin typeface="+mj-lt"/>
                <a:cs typeface="Consolas" panose="020B0609020204030204" pitchFamily="49" charset="0"/>
              </a:rPr>
              <a:t>i</a:t>
            </a:r>
            <a:r>
              <a:rPr lang="en-US" sz="1800" b="0" i="0" u="none" strike="noStrike" kern="1200" spc="0" baseline="0">
                <a:ln>
                  <a:noFill/>
                </a:ln>
                <a:solidFill>
                  <a:srgbClr val="007B00"/>
                </a:solidFill>
                <a:effectLst/>
                <a:latin typeface="+mj-lt"/>
                <a:cs typeface="Consolas" panose="020B0609020204030204" pitchFamily="49" charset="0"/>
              </a:rPr>
              <a:t> + 1;</a:t>
            </a:r>
          </a:p>
        </p:txBody>
      </p:sp>
    </p:spTree>
    <p:extLst>
      <p:ext uri="{BB962C8B-B14F-4D97-AF65-F5344CB8AC3E}">
        <p14:creationId xmlns:p14="http://schemas.microsoft.com/office/powerpoint/2010/main" val="1689867125"/>
      </p:ext>
    </p:extLst>
  </p:cSld>
  <p:clrMapOvr>
    <a:masterClrMapping/>
  </p:clrMapOvr>
</p:sld>
</file>

<file path=ppt/slides/slide69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43C1E0C-B7C5-8B54-09F4-D489D333EB7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13EE665-3FF5-3943-D1A4-07BF25A3B2A9}"/>
              </a:ext>
            </a:extLst>
          </p:cNvPr>
          <p:cNvSpPr>
            <a:spLocks noGrp="1"/>
          </p:cNvSpPr>
          <p:nvPr>
            <p:ph type="title"/>
          </p:nvPr>
        </p:nvSpPr>
        <p:spPr/>
        <p:txBody>
          <a:bodyPr/>
          <a:lstStyle/>
          <a:p>
            <a:r>
              <a:rPr lang="en-US"/>
              <a:t>decrement operator</a:t>
            </a:r>
          </a:p>
        </p:txBody>
      </p:sp>
      <p:sp>
        <p:nvSpPr>
          <p:cNvPr id="9" name="Content Placeholder 8">
            <a:extLst>
              <a:ext uri="{FF2B5EF4-FFF2-40B4-BE49-F238E27FC236}">
                <a16:creationId xmlns:a16="http://schemas.microsoft.com/office/drawing/2014/main" id="{AE50F3AB-E343-7965-21C2-4F62499A8CB0}"/>
              </a:ext>
            </a:extLst>
          </p:cNvPr>
          <p:cNvSpPr>
            <a:spLocks noGrp="1"/>
          </p:cNvSpPr>
          <p:nvPr>
            <p:ph sz="quarter" idx="10"/>
          </p:nvPr>
        </p:nvSpPr>
        <p:spPr/>
        <p:txBody>
          <a:bodyPr>
            <a:normAutofit/>
          </a:bodyPr>
          <a:lstStyle/>
          <a:p>
            <a:pPr lvl="0"/>
            <a:r>
              <a:rPr lang="en-US"/>
              <a:t>to "</a:t>
            </a:r>
            <a:r>
              <a:rPr lang="en-US" b="1"/>
              <a:t>decrement</a:t>
            </a:r>
            <a:r>
              <a:rPr lang="en-US"/>
              <a:t>" means to decrease the value of a number by one</a:t>
            </a:r>
          </a:p>
          <a:p>
            <a:pPr lvl="1"/>
            <a:r>
              <a:rPr kumimoji="0" lang="en-US" sz="1800" b="0" i="0" u="none" strike="noStrike" kern="1200" cap="none" spc="0" normalizeH="0" baseline="0" noProof="0" err="1">
                <a:ln>
                  <a:noFill/>
                </a:ln>
                <a:effectLst/>
                <a:uLnTx/>
                <a:uFillTx/>
                <a:latin typeface="+mj-lt"/>
                <a:ea typeface="+mn-ea"/>
                <a:cs typeface="Consolas" panose="020B0609020204030204" pitchFamily="49" charset="0"/>
              </a:rPr>
              <a:t>i</a:t>
            </a:r>
            <a:r>
              <a:rPr kumimoji="0" lang="en-US" sz="1800" b="0" i="0" u="none" strike="noStrike" kern="1200" cap="none" spc="0" normalizeH="0" baseline="0" noProof="0">
                <a:ln>
                  <a:noFill/>
                </a:ln>
                <a:effectLst/>
                <a:uLnTx/>
                <a:uFillTx/>
                <a:latin typeface="+mj-lt"/>
                <a:ea typeface="+mn-ea"/>
                <a:cs typeface="Consolas" panose="020B0609020204030204" pitchFamily="49" charset="0"/>
              </a:rPr>
              <a:t> = </a:t>
            </a:r>
            <a:r>
              <a:rPr kumimoji="0" lang="en-US" sz="1800" b="0" i="0" u="none" strike="noStrike" kern="1200" cap="none" spc="0" normalizeH="0" baseline="0" noProof="0" err="1">
                <a:ln>
                  <a:noFill/>
                </a:ln>
                <a:effectLst/>
                <a:uLnTx/>
                <a:uFillTx/>
                <a:latin typeface="+mj-lt"/>
                <a:ea typeface="+mn-ea"/>
                <a:cs typeface="Consolas" panose="020B0609020204030204" pitchFamily="49" charset="0"/>
              </a:rPr>
              <a:t>i</a:t>
            </a:r>
            <a:r>
              <a:rPr kumimoji="0" lang="en-US" sz="1800" b="0" i="0" u="none" strike="noStrike" kern="1200" cap="none" spc="0" normalizeH="0" baseline="0" noProof="0">
                <a:ln>
                  <a:noFill/>
                </a:ln>
                <a:effectLst/>
                <a:uLnTx/>
                <a:uFillTx/>
                <a:latin typeface="+mj-lt"/>
                <a:ea typeface="+mn-ea"/>
                <a:cs typeface="Consolas" panose="020B0609020204030204" pitchFamily="49" charset="0"/>
              </a:rPr>
              <a:t> </a:t>
            </a:r>
            <a:r>
              <a:rPr lang="en-US">
                <a:latin typeface="+mj-lt"/>
                <a:ea typeface="+mn-ea"/>
                <a:cs typeface="Consolas" panose="020B0609020204030204" pitchFamily="49" charset="0"/>
              </a:rPr>
              <a:t>-</a:t>
            </a:r>
            <a:r>
              <a:rPr kumimoji="0" lang="en-US" sz="1800" b="0" i="0" u="none" strike="noStrike" kern="1200" cap="none" spc="0" normalizeH="0" baseline="0" noProof="0">
                <a:ln>
                  <a:noFill/>
                </a:ln>
                <a:effectLst/>
                <a:uLnTx/>
                <a:uFillTx/>
                <a:latin typeface="+mj-lt"/>
                <a:ea typeface="+mn-ea"/>
                <a:cs typeface="Consolas" panose="020B0609020204030204" pitchFamily="49" charset="0"/>
              </a:rPr>
              <a:t> 1;</a:t>
            </a:r>
          </a:p>
          <a:p>
            <a:pPr lvl="1"/>
            <a:r>
              <a:rPr kumimoji="0" lang="en-US" sz="1800" b="0" i="0" u="none" strike="noStrike" kern="1200" cap="none" spc="0" normalizeH="0" baseline="0" noProof="0" err="1">
                <a:ln>
                  <a:noFill/>
                </a:ln>
                <a:effectLst/>
                <a:uLnTx/>
                <a:uFillTx/>
                <a:latin typeface="+mj-lt"/>
                <a:ea typeface="+mn-ea"/>
                <a:cs typeface="Consolas" panose="020B0609020204030204" pitchFamily="49" charset="0"/>
              </a:rPr>
              <a:t>i</a:t>
            </a:r>
            <a:r>
              <a:rPr kumimoji="0" lang="en-US" sz="1800" b="0" i="0" u="none" strike="noStrike" kern="1200" cap="none" spc="0" normalizeH="0" baseline="0" noProof="0">
                <a:ln>
                  <a:noFill/>
                </a:ln>
                <a:effectLst/>
                <a:uLnTx/>
                <a:uFillTx/>
                <a:latin typeface="+mj-lt"/>
                <a:ea typeface="+mn-ea"/>
                <a:cs typeface="Consolas" panose="020B0609020204030204" pitchFamily="49" charset="0"/>
              </a:rPr>
              <a:t> </a:t>
            </a:r>
            <a:r>
              <a:rPr lang="en-US">
                <a:latin typeface="+mj-lt"/>
                <a:ea typeface="+mn-ea"/>
                <a:cs typeface="Consolas" panose="020B0609020204030204" pitchFamily="49" charset="0"/>
              </a:rPr>
              <a:t>-</a:t>
            </a:r>
            <a:r>
              <a:rPr kumimoji="0" lang="en-US" sz="1800" b="0" i="0" u="none" strike="noStrike" kern="1200" cap="none" spc="0" normalizeH="0" baseline="0" noProof="0">
                <a:ln>
                  <a:noFill/>
                </a:ln>
                <a:effectLst/>
                <a:uLnTx/>
                <a:uFillTx/>
                <a:latin typeface="+mj-lt"/>
                <a:ea typeface="+mn-ea"/>
                <a:cs typeface="Consolas" panose="020B0609020204030204" pitchFamily="49" charset="0"/>
              </a:rPr>
              <a:t>= 1;</a:t>
            </a:r>
            <a:endParaRPr lang="en-US"/>
          </a:p>
          <a:p>
            <a:pPr lvl="1"/>
            <a:endParaRPr lang="en-US"/>
          </a:p>
          <a:p>
            <a:pPr lvl="1"/>
            <a:r>
              <a:rPr lang="en-US"/>
              <a:t>the </a:t>
            </a:r>
            <a:r>
              <a:rPr lang="en-US" b="1"/>
              <a:t>pre-decrement</a:t>
            </a:r>
            <a:r>
              <a:rPr lang="en-US"/>
              <a:t> </a:t>
            </a:r>
            <a:r>
              <a:rPr lang="en-US" b="1">
                <a:latin typeface="+mj-lt"/>
              </a:rPr>
              <a:t>--</a:t>
            </a:r>
            <a:r>
              <a:rPr lang="en-US" err="1">
                <a:latin typeface="+mj-lt"/>
              </a:rPr>
              <a:t>i</a:t>
            </a:r>
            <a:r>
              <a:rPr lang="en-US"/>
              <a:t> decrements </a:t>
            </a:r>
            <a:r>
              <a:rPr lang="en-US" err="1">
                <a:latin typeface="+mj-lt"/>
              </a:rPr>
              <a:t>i</a:t>
            </a:r>
            <a:r>
              <a:rPr lang="en-US"/>
              <a:t> and returns the new value of </a:t>
            </a:r>
            <a:r>
              <a:rPr lang="en-US" err="1">
                <a:latin typeface="+mj-lt"/>
              </a:rPr>
              <a:t>i</a:t>
            </a:r>
            <a:endParaRPr lang="en-US">
              <a:latin typeface="+mj-lt"/>
            </a:endParaRPr>
          </a:p>
          <a:p>
            <a:pPr lvl="1"/>
            <a:r>
              <a:rPr lang="en-US">
                <a:latin typeface="+mj-lt"/>
              </a:rPr>
              <a:t>j = --</a:t>
            </a:r>
            <a:r>
              <a:rPr lang="en-US" err="1">
                <a:latin typeface="+mj-lt"/>
              </a:rPr>
              <a:t>i</a:t>
            </a:r>
            <a:r>
              <a:rPr lang="en-US">
                <a:latin typeface="+mj-lt"/>
              </a:rPr>
              <a:t>; </a:t>
            </a:r>
            <a:r>
              <a:rPr lang="en-US">
                <a:solidFill>
                  <a:srgbClr val="007B00"/>
                </a:solidFill>
                <a:latin typeface="+mj-lt"/>
              </a:rPr>
              <a:t>// </a:t>
            </a:r>
            <a:r>
              <a:rPr kumimoji="0" lang="en-US" sz="1800" b="0" i="0" u="none" strike="noStrike" kern="1200" cap="none" spc="0" normalizeH="0" baseline="0" noProof="0" err="1">
                <a:ln>
                  <a:noFill/>
                </a:ln>
                <a:solidFill>
                  <a:srgbClr val="007B00"/>
                </a:solidFill>
                <a:effectLst/>
                <a:uLnTx/>
                <a:uFillTx/>
                <a:latin typeface="+mj-lt"/>
                <a:ea typeface="+mn-ea"/>
                <a:cs typeface="Consolas" panose="020B0609020204030204" pitchFamily="49" charset="0"/>
              </a:rPr>
              <a:t>i</a:t>
            </a:r>
            <a:r>
              <a:rPr kumimoji="0" lang="en-US" sz="1800" b="0" i="0" u="none" strike="noStrike" kern="1200" cap="none" spc="0" normalizeH="0" baseline="0" noProof="0">
                <a:ln>
                  <a:noFill/>
                </a:ln>
                <a:solidFill>
                  <a:srgbClr val="007B00"/>
                </a:solidFill>
                <a:effectLst/>
                <a:uLnTx/>
                <a:uFillTx/>
                <a:latin typeface="+mj-lt"/>
                <a:ea typeface="+mn-ea"/>
                <a:cs typeface="Consolas" panose="020B0609020204030204" pitchFamily="49" charset="0"/>
              </a:rPr>
              <a:t> = </a:t>
            </a:r>
            <a:r>
              <a:rPr kumimoji="0" lang="en-US" sz="1800" b="0" i="0" u="none" strike="noStrike" kern="1200" cap="none" spc="0" normalizeH="0" baseline="0" noProof="0" err="1">
                <a:ln>
                  <a:noFill/>
                </a:ln>
                <a:solidFill>
                  <a:srgbClr val="007B00"/>
                </a:solidFill>
                <a:effectLst/>
                <a:uLnTx/>
                <a:uFillTx/>
                <a:latin typeface="+mj-lt"/>
                <a:ea typeface="+mn-ea"/>
                <a:cs typeface="Consolas" panose="020B0609020204030204" pitchFamily="49" charset="0"/>
              </a:rPr>
              <a:t>i</a:t>
            </a:r>
            <a:r>
              <a:rPr kumimoji="0" lang="en-US" sz="1800" b="0" i="0" u="none" strike="noStrike" kern="1200" cap="none" spc="0" normalizeH="0" baseline="0" noProof="0">
                <a:ln>
                  <a:noFill/>
                </a:ln>
                <a:solidFill>
                  <a:srgbClr val="007B00"/>
                </a:solidFill>
                <a:effectLst/>
                <a:uLnTx/>
                <a:uFillTx/>
                <a:latin typeface="+mj-lt"/>
                <a:ea typeface="+mn-ea"/>
                <a:cs typeface="Consolas" panose="020B0609020204030204" pitchFamily="49" charset="0"/>
              </a:rPr>
              <a:t> - 1;</a:t>
            </a:r>
          </a:p>
          <a:p>
            <a:pPr lvl="1"/>
            <a:r>
              <a:rPr lang="en-US">
                <a:latin typeface="+mj-lt"/>
                <a:ea typeface="+mn-ea"/>
                <a:cs typeface="Consolas" panose="020B0609020204030204" pitchFamily="49" charset="0"/>
              </a:rPr>
              <a:t>         </a:t>
            </a:r>
            <a:r>
              <a:rPr lang="en-US">
                <a:solidFill>
                  <a:srgbClr val="007B00"/>
                </a:solidFill>
                <a:latin typeface="+mj-lt"/>
                <a:ea typeface="+mn-ea"/>
                <a:cs typeface="Consolas" panose="020B0609020204030204" pitchFamily="49" charset="0"/>
              </a:rPr>
              <a:t>// </a:t>
            </a:r>
            <a:r>
              <a:rPr kumimoji="0" lang="en-US" sz="1800" b="0" i="0" u="none" strike="noStrike" kern="1200" cap="none" spc="0" normalizeH="0" baseline="0" noProof="0">
                <a:ln>
                  <a:noFill/>
                </a:ln>
                <a:solidFill>
                  <a:srgbClr val="007B00"/>
                </a:solidFill>
                <a:effectLst/>
                <a:uLnTx/>
                <a:uFillTx/>
                <a:latin typeface="+mj-lt"/>
                <a:ea typeface="+mn-ea"/>
                <a:cs typeface="Consolas" panose="020B0609020204030204" pitchFamily="49" charset="0"/>
              </a:rPr>
              <a:t>j = </a:t>
            </a:r>
            <a:r>
              <a:rPr kumimoji="0" lang="en-US" sz="1800" b="0" i="0" u="none" strike="noStrike" kern="1200" cap="none" spc="0" normalizeH="0" baseline="0" noProof="0" err="1">
                <a:ln>
                  <a:noFill/>
                </a:ln>
                <a:solidFill>
                  <a:srgbClr val="007B00"/>
                </a:solidFill>
                <a:effectLst/>
                <a:uLnTx/>
                <a:uFillTx/>
                <a:latin typeface="+mj-lt"/>
                <a:ea typeface="+mn-ea"/>
                <a:cs typeface="Consolas" panose="020B0609020204030204" pitchFamily="49" charset="0"/>
              </a:rPr>
              <a:t>i</a:t>
            </a:r>
            <a:r>
              <a:rPr kumimoji="0" lang="en-US" sz="1800" b="0" i="0" u="none" strike="noStrike" kern="1200" cap="none" spc="0" normalizeH="0" baseline="0" noProof="0">
                <a:ln>
                  <a:noFill/>
                </a:ln>
                <a:solidFill>
                  <a:srgbClr val="007B00"/>
                </a:solidFill>
                <a:effectLst/>
                <a:uLnTx/>
                <a:uFillTx/>
                <a:latin typeface="+mj-lt"/>
                <a:ea typeface="+mn-ea"/>
                <a:cs typeface="Consolas" panose="020B0609020204030204" pitchFamily="49" charset="0"/>
              </a:rPr>
              <a:t>;</a:t>
            </a:r>
          </a:p>
          <a:p>
            <a:pPr lvl="1"/>
            <a:endParaRPr lang="en-US">
              <a:latin typeface="+mj-lt"/>
            </a:endParaRPr>
          </a:p>
          <a:p>
            <a:pPr lvl="1"/>
            <a:r>
              <a:rPr lang="en-US"/>
              <a:t>the </a:t>
            </a:r>
            <a:r>
              <a:rPr lang="en-US" b="1"/>
              <a:t>post-decrement</a:t>
            </a:r>
            <a:r>
              <a:rPr lang="en-US"/>
              <a:t> </a:t>
            </a:r>
            <a:r>
              <a:rPr lang="en-US" err="1">
                <a:latin typeface="+mj-lt"/>
              </a:rPr>
              <a:t>i</a:t>
            </a:r>
            <a:r>
              <a:rPr lang="en-US" b="1">
                <a:latin typeface="+mj-lt"/>
              </a:rPr>
              <a:t>--</a:t>
            </a:r>
            <a:r>
              <a:rPr lang="en-US"/>
              <a:t> decrements </a:t>
            </a:r>
            <a:r>
              <a:rPr lang="en-US" err="1">
                <a:latin typeface="+mj-lt"/>
              </a:rPr>
              <a:t>i</a:t>
            </a:r>
            <a:r>
              <a:rPr lang="en-US"/>
              <a:t> and returns the old value of </a:t>
            </a:r>
            <a:r>
              <a:rPr lang="en-US" err="1">
                <a:latin typeface="+mj-lt"/>
              </a:rPr>
              <a:t>i</a:t>
            </a:r>
            <a:endParaRPr lang="en-US">
              <a:latin typeface="+mj-lt"/>
            </a:endParaRPr>
          </a:p>
          <a:p>
            <a:pPr marL="352030" lvl="1" indent="0">
              <a:spcBef>
                <a:spcPts val="384"/>
              </a:spcBef>
            </a:pPr>
            <a:r>
              <a:rPr lang="en-US" b="0" i="0" u="none" strike="noStrike" kern="1200" spc="0" baseline="0">
                <a:ln>
                  <a:noFill/>
                </a:ln>
                <a:effectLst/>
                <a:latin typeface="+mj-lt"/>
                <a:cs typeface="Consolas" panose="020B0609020204030204" pitchFamily="49" charset="0"/>
              </a:rPr>
              <a:t> j = </a:t>
            </a:r>
            <a:r>
              <a:rPr lang="en-US" b="0" i="0" u="none" strike="noStrike" kern="1200" spc="0" baseline="0" err="1">
                <a:ln>
                  <a:noFill/>
                </a:ln>
                <a:effectLst/>
                <a:latin typeface="+mj-lt"/>
                <a:cs typeface="Consolas" panose="020B0609020204030204" pitchFamily="49" charset="0"/>
              </a:rPr>
              <a:t>i</a:t>
            </a:r>
            <a:r>
              <a:rPr lang="en-US">
                <a:latin typeface="+mj-lt"/>
                <a:cs typeface="Consolas" panose="020B0609020204030204" pitchFamily="49" charset="0"/>
              </a:rPr>
              <a:t>--</a:t>
            </a:r>
            <a:r>
              <a:rPr lang="en-US" b="0" i="0" u="none" strike="noStrike" kern="1200" spc="0" baseline="0">
                <a:ln>
                  <a:noFill/>
                </a:ln>
                <a:effectLst/>
                <a:latin typeface="+mj-lt"/>
                <a:cs typeface="Consolas" panose="020B0609020204030204" pitchFamily="49" charset="0"/>
              </a:rPr>
              <a:t>;</a:t>
            </a:r>
            <a:r>
              <a:rPr lang="en-US">
                <a:latin typeface="+mj-lt"/>
              </a:rPr>
              <a:t> </a:t>
            </a:r>
            <a:r>
              <a:rPr lang="en-US">
                <a:solidFill>
                  <a:srgbClr val="007B00"/>
                </a:solidFill>
                <a:latin typeface="+mj-lt"/>
              </a:rPr>
              <a:t>// </a:t>
            </a:r>
            <a:r>
              <a:rPr lang="en-US" sz="1800" b="0" i="0" u="none" strike="noStrike" kern="1200" spc="0" baseline="0">
                <a:ln>
                  <a:noFill/>
                </a:ln>
                <a:solidFill>
                  <a:srgbClr val="007B00"/>
                </a:solidFill>
                <a:effectLst/>
                <a:latin typeface="+mj-lt"/>
                <a:cs typeface="Consolas" panose="020B0609020204030204" pitchFamily="49" charset="0"/>
              </a:rPr>
              <a:t>j = </a:t>
            </a:r>
            <a:r>
              <a:rPr lang="en-US" sz="1800" b="0" i="0" u="none" strike="noStrike" kern="1200" spc="0" baseline="0" err="1">
                <a:ln>
                  <a:noFill/>
                </a:ln>
                <a:solidFill>
                  <a:srgbClr val="007B00"/>
                </a:solidFill>
                <a:effectLst/>
                <a:latin typeface="+mj-lt"/>
                <a:cs typeface="Consolas" panose="020B0609020204030204" pitchFamily="49" charset="0"/>
              </a:rPr>
              <a:t>i</a:t>
            </a:r>
            <a:r>
              <a:rPr lang="en-US" sz="1800" b="0" i="0" u="none" strike="noStrike" kern="1200" spc="0" baseline="0">
                <a:ln>
                  <a:noFill/>
                </a:ln>
                <a:solidFill>
                  <a:srgbClr val="007B00"/>
                </a:solidFill>
                <a:effectLst/>
                <a:latin typeface="+mj-lt"/>
                <a:cs typeface="Consolas" panose="020B0609020204030204" pitchFamily="49" charset="0"/>
              </a:rPr>
              <a:t>;</a:t>
            </a:r>
            <a:endParaRPr lang="en-US">
              <a:solidFill>
                <a:srgbClr val="007B00"/>
              </a:solidFill>
              <a:latin typeface="+mj-lt"/>
            </a:endParaRPr>
          </a:p>
          <a:p>
            <a:pPr marL="352030" lvl="1" indent="0">
              <a:spcBef>
                <a:spcPts val="384"/>
              </a:spcBef>
            </a:pPr>
            <a:r>
              <a:rPr lang="en-US">
                <a:latin typeface="+mj-lt"/>
                <a:cs typeface="Consolas" panose="020B0609020204030204" pitchFamily="49" charset="0"/>
              </a:rPr>
              <a:t>          </a:t>
            </a:r>
            <a:r>
              <a:rPr lang="en-US">
                <a:solidFill>
                  <a:srgbClr val="007B00"/>
                </a:solidFill>
                <a:latin typeface="+mj-lt"/>
                <a:cs typeface="Consolas" panose="020B0609020204030204" pitchFamily="49" charset="0"/>
              </a:rPr>
              <a:t>// </a:t>
            </a:r>
            <a:r>
              <a:rPr lang="en-US" sz="1800" b="0" i="0" u="none" strike="noStrike" kern="1200" spc="0" baseline="0" err="1">
                <a:ln>
                  <a:noFill/>
                </a:ln>
                <a:solidFill>
                  <a:srgbClr val="007B00"/>
                </a:solidFill>
                <a:effectLst/>
                <a:latin typeface="+mj-lt"/>
                <a:cs typeface="Consolas" panose="020B0609020204030204" pitchFamily="49" charset="0"/>
              </a:rPr>
              <a:t>i</a:t>
            </a:r>
            <a:r>
              <a:rPr lang="en-US" sz="1800" b="0" i="0" u="none" strike="noStrike" kern="1200" spc="0" baseline="0">
                <a:ln>
                  <a:noFill/>
                </a:ln>
                <a:solidFill>
                  <a:srgbClr val="007B00"/>
                </a:solidFill>
                <a:effectLst/>
                <a:latin typeface="+mj-lt"/>
                <a:cs typeface="Consolas" panose="020B0609020204030204" pitchFamily="49" charset="0"/>
              </a:rPr>
              <a:t> = </a:t>
            </a:r>
            <a:r>
              <a:rPr lang="en-US" sz="1800" b="0" i="0" u="none" strike="noStrike" kern="1200" spc="0" baseline="0" err="1">
                <a:ln>
                  <a:noFill/>
                </a:ln>
                <a:solidFill>
                  <a:srgbClr val="007B00"/>
                </a:solidFill>
                <a:effectLst/>
                <a:latin typeface="+mj-lt"/>
                <a:cs typeface="Consolas" panose="020B0609020204030204" pitchFamily="49" charset="0"/>
              </a:rPr>
              <a:t>i</a:t>
            </a:r>
            <a:r>
              <a:rPr lang="en-US" sz="1800" b="0" i="0" u="none" strike="noStrike" kern="1200" spc="0" baseline="0">
                <a:ln>
                  <a:noFill/>
                </a:ln>
                <a:solidFill>
                  <a:srgbClr val="007B00"/>
                </a:solidFill>
                <a:effectLst/>
                <a:latin typeface="+mj-lt"/>
                <a:cs typeface="Consolas" panose="020B0609020204030204" pitchFamily="49" charset="0"/>
              </a:rPr>
              <a:t> - 1;</a:t>
            </a:r>
          </a:p>
        </p:txBody>
      </p:sp>
    </p:spTree>
    <p:extLst>
      <p:ext uri="{BB962C8B-B14F-4D97-AF65-F5344CB8AC3E}">
        <p14:creationId xmlns:p14="http://schemas.microsoft.com/office/powerpoint/2010/main" val="3487908907"/>
      </p:ext>
    </p:extLst>
  </p:cSld>
  <p:clrMapOvr>
    <a:masterClrMapping/>
  </p:clrMapOvr>
</p:sld>
</file>

<file path=ppt/slides/slide6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6BE46-323E-59E3-8627-74341C96D16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D70142B-04C7-A239-D92B-5FB41D149EBC}"/>
              </a:ext>
            </a:extLst>
          </p:cNvPr>
          <p:cNvSpPr>
            <a:spLocks noGrp="1"/>
          </p:cNvSpPr>
          <p:nvPr>
            <p:ph type="title"/>
          </p:nvPr>
        </p:nvSpPr>
        <p:spPr/>
        <p:txBody>
          <a:bodyPr/>
          <a:lstStyle/>
          <a:p>
            <a:r>
              <a:rPr lang="en-US">
                <a:latin typeface="Consolas" panose="020B0609020204030204" pitchFamily="49" charset="0"/>
                <a:cs typeface="Consolas" panose="020B0609020204030204" pitchFamily="49" charset="0"/>
              </a:rPr>
              <a:t>0.1 + 0.2</a:t>
            </a:r>
          </a:p>
        </p:txBody>
      </p:sp>
    </p:spTree>
    <p:extLst>
      <p:ext uri="{BB962C8B-B14F-4D97-AF65-F5344CB8AC3E}">
        <p14:creationId xmlns:p14="http://schemas.microsoft.com/office/powerpoint/2010/main" val="550240682"/>
      </p:ext>
    </p:extLst>
  </p:cSld>
  <p:clrMapOvr>
    <a:masterClrMapping/>
  </p:clrMapOvr>
</p:sld>
</file>

<file path=ppt/slides/slide6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56D37-8079-A477-FAF0-63A04D3B972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D7EEF3C-21BC-51D8-C08B-9825CBFA2442}"/>
              </a:ext>
            </a:extLst>
          </p:cNvPr>
          <p:cNvSpPr>
            <a:spLocks noGrp="1"/>
          </p:cNvSpPr>
          <p:nvPr>
            <p:ph type="title"/>
          </p:nvPr>
        </p:nvSpPr>
        <p:spPr/>
        <p:txBody>
          <a:bodyPr/>
          <a:lstStyle/>
          <a:p>
            <a:r>
              <a:rPr lang="en-US">
                <a:latin typeface="Consolas" panose="020B0609020204030204" pitchFamily="49" charset="0"/>
                <a:cs typeface="Consolas" panose="020B0609020204030204" pitchFamily="49" charset="0"/>
              </a:rPr>
              <a:t>0.1 + 0.2</a:t>
            </a:r>
          </a:p>
        </p:txBody>
      </p:sp>
    </p:spTree>
    <p:extLst>
      <p:ext uri="{BB962C8B-B14F-4D97-AF65-F5344CB8AC3E}">
        <p14:creationId xmlns:p14="http://schemas.microsoft.com/office/powerpoint/2010/main" val="3503825609"/>
      </p:ext>
    </p:extLst>
  </p:cSld>
  <p:clrMapOvr>
    <a:masterClrMapping/>
  </p:clrMapOvr>
</p:sld>
</file>

<file path=ppt/slides/slide6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DD0BE-9553-5990-586B-22852782161C}"/>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98682859-0047-7676-8E3A-6A2E7709C767}"/>
              </a:ext>
            </a:extLst>
          </p:cNvPr>
          <p:cNvSpPr txBox="1"/>
          <p:nvPr/>
        </p:nvSpPr>
        <p:spPr>
          <a:xfrm>
            <a:off x="4291164" y="557665"/>
            <a:ext cx="2365655" cy="1862048"/>
          </a:xfrm>
          <a:prstGeom prst="rect">
            <a:avLst/>
          </a:prstGeom>
          <a:noFill/>
        </p:spPr>
        <p:txBody>
          <a:bodyPr wrap="square">
            <a:spAutoFit/>
          </a:bodyPr>
          <a:lstStyle/>
          <a:p>
            <a:pPr algn="r"/>
            <a:r>
              <a:rPr kumimoji="0" lang="en-US" sz="115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5400"/>
          </a:p>
        </p:txBody>
      </p:sp>
      <p:sp>
        <p:nvSpPr>
          <p:cNvPr id="8" name="Title 7">
            <a:extLst>
              <a:ext uri="{FF2B5EF4-FFF2-40B4-BE49-F238E27FC236}">
                <a16:creationId xmlns:a16="http://schemas.microsoft.com/office/drawing/2014/main" id="{D4F4C21E-9BA3-3D85-D993-64130C7578E1}"/>
              </a:ext>
            </a:extLst>
          </p:cNvPr>
          <p:cNvSpPr>
            <a:spLocks noGrp="1"/>
          </p:cNvSpPr>
          <p:nvPr>
            <p:ph type="title"/>
          </p:nvPr>
        </p:nvSpPr>
        <p:spPr>
          <a:xfrm>
            <a:off x="457200" y="254916"/>
            <a:ext cx="8229600" cy="874637"/>
          </a:xfrm>
        </p:spPr>
        <p:txBody>
          <a:bodyPr/>
          <a:lstStyle/>
          <a:p>
            <a:r>
              <a:rPr lang="en-US" sz="6600"/>
              <a:t>Week01b</a:t>
            </a:r>
          </a:p>
        </p:txBody>
      </p:sp>
      <p:sp>
        <p:nvSpPr>
          <p:cNvPr id="6" name="Content Placeholder 5">
            <a:extLst>
              <a:ext uri="{FF2B5EF4-FFF2-40B4-BE49-F238E27FC236}">
                <a16:creationId xmlns:a16="http://schemas.microsoft.com/office/drawing/2014/main" id="{0721D3D6-6B86-C04B-2EE2-44CFF5D4359F}"/>
              </a:ext>
            </a:extLst>
          </p:cNvPr>
          <p:cNvSpPr>
            <a:spLocks noGrp="1"/>
          </p:cNvSpPr>
          <p:nvPr>
            <p:ph sz="quarter" idx="10"/>
          </p:nvPr>
        </p:nvSpPr>
        <p:spPr>
          <a:xfrm>
            <a:off x="457200" y="1129553"/>
            <a:ext cx="8229600" cy="2894013"/>
          </a:xfrm>
        </p:spPr>
        <p:txBody>
          <a:bodyPr>
            <a:noAutofit/>
          </a:bodyPr>
          <a:lstStyle/>
          <a:p>
            <a:r>
              <a:rPr lang="en-US" sz="2400" strike="sngStrike"/>
              <a:t>tips and tricks</a:t>
            </a:r>
          </a:p>
          <a:p>
            <a:r>
              <a:rPr lang="en-US" sz="2400" strike="sngStrike"/>
              <a:t>operators</a:t>
            </a:r>
          </a:p>
          <a:p>
            <a:r>
              <a:rPr lang="en-US" sz="2400"/>
              <a:t>control flow</a:t>
            </a:r>
          </a:p>
          <a:p>
            <a:r>
              <a:rPr lang="en-US" sz="2400"/>
              <a:t>Cow.Java</a:t>
            </a:r>
          </a:p>
        </p:txBody>
      </p:sp>
      <p:sp>
        <p:nvSpPr>
          <p:cNvPr id="17" name="TextBox 16">
            <a:extLst>
              <a:ext uri="{FF2B5EF4-FFF2-40B4-BE49-F238E27FC236}">
                <a16:creationId xmlns:a16="http://schemas.microsoft.com/office/drawing/2014/main" id="{5EF795BC-6EF3-A6A2-6E53-4B988429D9F9}"/>
              </a:ext>
            </a:extLst>
          </p:cNvPr>
          <p:cNvSpPr txBox="1"/>
          <p:nvPr/>
        </p:nvSpPr>
        <p:spPr>
          <a:xfrm>
            <a:off x="3197161" y="1348727"/>
            <a:ext cx="5716318" cy="1631216"/>
          </a:xfrm>
          <a:prstGeom prst="rect">
            <a:avLst/>
          </a:prstGeom>
          <a:noFill/>
        </p:spPr>
        <p:txBody>
          <a:bodyPr wrap="square" rtlCol="0">
            <a:spAutoFit/>
          </a:bodyPr>
          <a:lstStyle/>
          <a:p>
            <a:r>
              <a:rPr lang="en-US" sz="2000" b="1"/>
              <a:t>REVIEW</a:t>
            </a:r>
          </a:p>
          <a:p>
            <a:r>
              <a:rPr lang="en-US" sz="2000">
                <a:solidFill>
                  <a:schemeClr val="accent6">
                    <a:lumMod val="75000"/>
                  </a:schemeClr>
                </a:solidFill>
                <a:latin typeface="Consolas" panose="020B0609020204030204" pitchFamily="49" charset="0"/>
                <a:cs typeface="Consolas" panose="020B0609020204030204" pitchFamily="49" charset="0"/>
              </a:rPr>
              <a:t>foo = true;</a:t>
            </a:r>
          </a:p>
          <a:p>
            <a:r>
              <a:rPr lang="en-US" sz="2000">
                <a:solidFill>
                  <a:schemeClr val="accent6">
                    <a:lumMod val="75000"/>
                  </a:schemeClr>
                </a:solidFill>
                <a:latin typeface="Consolas" panose="020B0609020204030204" pitchFamily="49" charset="0"/>
                <a:cs typeface="Consolas" panose="020B0609020204030204" pitchFamily="49" charset="0"/>
              </a:rPr>
              <a:t>bar = false;</a:t>
            </a:r>
          </a:p>
          <a:p>
            <a:r>
              <a:rPr lang="en-US" sz="2000">
                <a:solidFill>
                  <a:schemeClr val="accent6">
                    <a:lumMod val="75000"/>
                  </a:schemeClr>
                </a:solidFill>
                <a:latin typeface="Consolas" panose="020B0609020204030204" pitchFamily="49" charset="0"/>
                <a:cs typeface="Consolas" panose="020B0609020204030204" pitchFamily="49" charset="0"/>
              </a:rPr>
              <a:t>baz = (!(!foo || !bar) &amp;&amp; !!foo);</a:t>
            </a:r>
          </a:p>
          <a:p>
            <a:r>
              <a:rPr lang="en-US" sz="2000">
                <a:cs typeface="Consolas" panose="020B0609020204030204" pitchFamily="49" charset="0"/>
              </a:rPr>
              <a:t>what value is </a:t>
            </a:r>
            <a:r>
              <a:rPr lang="en-US" sz="2000">
                <a:latin typeface="+mj-lt"/>
                <a:cs typeface="Consolas" panose="020B0609020204030204" pitchFamily="49" charset="0"/>
              </a:rPr>
              <a:t>baz</a:t>
            </a:r>
            <a:r>
              <a:rPr lang="en-US" sz="2000">
                <a:cs typeface="Consolas" panose="020B0609020204030204" pitchFamily="49" charset="0"/>
              </a:rPr>
              <a:t>?</a:t>
            </a:r>
            <a:endParaRPr lang="en-US" sz="2000">
              <a:latin typeface="Consolas" panose="020B0609020204030204" pitchFamily="49" charset="0"/>
              <a:cs typeface="Consolas" panose="020B0609020204030204" pitchFamily="49" charset="0"/>
            </a:endParaRPr>
          </a:p>
        </p:txBody>
      </p:sp>
      <p:sp>
        <p:nvSpPr>
          <p:cNvPr id="2" name="TextBox 1">
            <a:extLst>
              <a:ext uri="{FF2B5EF4-FFF2-40B4-BE49-F238E27FC236}">
                <a16:creationId xmlns:a16="http://schemas.microsoft.com/office/drawing/2014/main" id="{066CE3D7-BC69-2C01-8033-37500DFA79D5}"/>
              </a:ext>
            </a:extLst>
          </p:cNvPr>
          <p:cNvSpPr txBox="1"/>
          <p:nvPr/>
        </p:nvSpPr>
        <p:spPr>
          <a:xfrm>
            <a:off x="1953491" y="3045229"/>
            <a:ext cx="6837043" cy="1631216"/>
          </a:xfrm>
          <a:prstGeom prst="rect">
            <a:avLst/>
          </a:prstGeom>
          <a:noFill/>
        </p:spPr>
        <p:txBody>
          <a:bodyPr wrap="square" rtlCol="0">
            <a:spAutoFit/>
          </a:bodyPr>
          <a:lstStyle/>
          <a:p>
            <a:r>
              <a:rPr lang="en-US" sz="2000" b="1"/>
              <a:t>WARMUP</a:t>
            </a:r>
          </a:p>
          <a:p>
            <a:r>
              <a:rPr lang="en-US" sz="2000">
                <a:solidFill>
                  <a:schemeClr val="accent6">
                    <a:lumMod val="75000"/>
                  </a:schemeClr>
                </a:solidFill>
                <a:cs typeface="Consolas" panose="020B0609020204030204" pitchFamily="49" charset="0"/>
              </a:rPr>
              <a:t>A) imagine if code didn't have </a:t>
            </a:r>
            <a:r>
              <a:rPr lang="en-US" sz="2000" b="1">
                <a:solidFill>
                  <a:schemeClr val="accent6">
                    <a:lumMod val="75000"/>
                  </a:schemeClr>
                </a:solidFill>
                <a:cs typeface="Consolas" panose="020B0609020204030204" pitchFamily="49" charset="0"/>
              </a:rPr>
              <a:t>for</a:t>
            </a:r>
            <a:r>
              <a:rPr lang="en-US" sz="2000">
                <a:solidFill>
                  <a:schemeClr val="accent6">
                    <a:lumMod val="75000"/>
                  </a:schemeClr>
                </a:solidFill>
                <a:cs typeface="Consolas" panose="020B0609020204030204" pitchFamily="49" charset="0"/>
              </a:rPr>
              <a:t>, </a:t>
            </a:r>
            <a:r>
              <a:rPr lang="en-US" sz="2000" b="1">
                <a:solidFill>
                  <a:schemeClr val="accent6">
                    <a:lumMod val="75000"/>
                  </a:schemeClr>
                </a:solidFill>
                <a:cs typeface="Consolas" panose="020B0609020204030204" pitchFamily="49" charset="0"/>
              </a:rPr>
              <a:t>while</a:t>
            </a:r>
            <a:r>
              <a:rPr lang="en-US" sz="2000">
                <a:solidFill>
                  <a:schemeClr val="accent6">
                    <a:lumMod val="75000"/>
                  </a:schemeClr>
                </a:solidFill>
                <a:cs typeface="Consolas" panose="020B0609020204030204" pitchFamily="49" charset="0"/>
              </a:rPr>
              <a:t>, or functions...</a:t>
            </a:r>
          </a:p>
          <a:p>
            <a:r>
              <a:rPr lang="en-US" sz="2000">
                <a:solidFill>
                  <a:schemeClr val="accent6">
                    <a:lumMod val="75000"/>
                  </a:schemeClr>
                </a:solidFill>
                <a:cs typeface="Consolas" panose="020B0609020204030204" pitchFamily="49" charset="0"/>
              </a:rPr>
              <a:t>B) imagine if it didn't have </a:t>
            </a:r>
            <a:r>
              <a:rPr lang="en-US" sz="2000" b="1">
                <a:solidFill>
                  <a:schemeClr val="accent6">
                    <a:lumMod val="75000"/>
                  </a:schemeClr>
                </a:solidFill>
                <a:cs typeface="Consolas" panose="020B0609020204030204" pitchFamily="49" charset="0"/>
              </a:rPr>
              <a:t>if...</a:t>
            </a:r>
            <a:endParaRPr lang="en-US" sz="2000">
              <a:solidFill>
                <a:schemeClr val="accent6">
                  <a:lumMod val="75000"/>
                </a:schemeClr>
              </a:solidFill>
              <a:cs typeface="Consolas" panose="020B0609020204030204" pitchFamily="49" charset="0"/>
            </a:endParaRPr>
          </a:p>
          <a:p>
            <a:r>
              <a:rPr lang="en-US" sz="2000">
                <a:cs typeface="Consolas" panose="020B0609020204030204" pitchFamily="49" charset="0"/>
              </a:rPr>
              <a:t>could it get the job done?</a:t>
            </a:r>
          </a:p>
          <a:p>
            <a:r>
              <a:rPr lang="en-US" sz="2000">
                <a:cs typeface="Consolas" panose="020B0609020204030204" pitchFamily="49" charset="0"/>
              </a:rPr>
              <a:t>could it... </a:t>
            </a:r>
            <a:r>
              <a:rPr kumimoji="0" lang="en-US" sz="2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r>
              <a:rPr lang="en-US" sz="2000">
                <a:cs typeface="Consolas" panose="020B0609020204030204" pitchFamily="49" charset="0"/>
              </a:rPr>
              <a:t>spark joy</a:t>
            </a:r>
            <a:r>
              <a:rPr kumimoji="0" lang="en-US" sz="20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r>
              <a:rPr lang="en-US" sz="2000">
                <a:cs typeface="Consolas" panose="020B0609020204030204" pitchFamily="49" charset="0"/>
              </a:rPr>
              <a:t>?</a:t>
            </a:r>
          </a:p>
        </p:txBody>
      </p:sp>
      <p:sp>
        <p:nvSpPr>
          <p:cNvPr id="4" name="TextBox 3">
            <a:extLst>
              <a:ext uri="{FF2B5EF4-FFF2-40B4-BE49-F238E27FC236}">
                <a16:creationId xmlns:a16="http://schemas.microsoft.com/office/drawing/2014/main" id="{7C621EC2-3333-35EB-5ABE-1247D48F207A}"/>
              </a:ext>
            </a:extLst>
          </p:cNvPr>
          <p:cNvSpPr txBox="1"/>
          <p:nvPr/>
        </p:nvSpPr>
        <p:spPr>
          <a:xfrm>
            <a:off x="5849675" y="610897"/>
            <a:ext cx="4572000" cy="461665"/>
          </a:xfrm>
          <a:prstGeom prst="rect">
            <a:avLst/>
          </a:prstGeom>
          <a:noFill/>
        </p:spPr>
        <p:txBody>
          <a:bodyPr wrap="square">
            <a:spAutoFit/>
          </a:bodyPr>
          <a:lstStyle/>
          <a:p>
            <a:r>
              <a:rPr kumimoji="0" lang="en-US" sz="24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300"/>
          </a:p>
        </p:txBody>
      </p:sp>
      <p:sp>
        <p:nvSpPr>
          <p:cNvPr id="5" name="Oval 4">
            <a:extLst>
              <a:ext uri="{FF2B5EF4-FFF2-40B4-BE49-F238E27FC236}">
                <a16:creationId xmlns:a16="http://schemas.microsoft.com/office/drawing/2014/main" id="{1BE65B51-D488-7C70-06DD-84C82A0252C1}"/>
              </a:ext>
            </a:extLst>
          </p:cNvPr>
          <p:cNvSpPr/>
          <p:nvPr/>
        </p:nvSpPr>
        <p:spPr>
          <a:xfrm>
            <a:off x="5225447" y="907385"/>
            <a:ext cx="199785" cy="199785"/>
          </a:xfrm>
          <a:prstGeom prst="ellipse">
            <a:avLst/>
          </a:prstGeom>
          <a:solidFill>
            <a:srgbClr val="E6E6E6"/>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Oval 6">
            <a:extLst>
              <a:ext uri="{FF2B5EF4-FFF2-40B4-BE49-F238E27FC236}">
                <a16:creationId xmlns:a16="http://schemas.microsoft.com/office/drawing/2014/main" id="{4D8AACD1-BB5D-8D4D-4D1D-53F3FE2606CE}"/>
              </a:ext>
            </a:extLst>
          </p:cNvPr>
          <p:cNvSpPr/>
          <p:nvPr/>
        </p:nvSpPr>
        <p:spPr>
          <a:xfrm>
            <a:off x="5316375" y="944525"/>
            <a:ext cx="108555" cy="108555"/>
          </a:xfrm>
          <a:prstGeom prst="ellipse">
            <a:avLst/>
          </a:prstGeom>
          <a:solidFill>
            <a:schemeClr val="tx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 name="TextBox 2">
            <a:extLst>
              <a:ext uri="{FF2B5EF4-FFF2-40B4-BE49-F238E27FC236}">
                <a16:creationId xmlns:a16="http://schemas.microsoft.com/office/drawing/2014/main" id="{F97E5981-BDBA-BA12-97EA-FD799230D491}"/>
              </a:ext>
            </a:extLst>
          </p:cNvPr>
          <p:cNvSpPr txBox="1"/>
          <p:nvPr/>
        </p:nvSpPr>
        <p:spPr>
          <a:xfrm>
            <a:off x="4879572" y="195034"/>
            <a:ext cx="4156364" cy="369332"/>
          </a:xfrm>
          <a:prstGeom prst="rect">
            <a:avLst/>
          </a:prstGeom>
          <a:noFill/>
        </p:spPr>
        <p:txBody>
          <a:bodyPr wrap="square" rtlCol="0">
            <a:spAutoFit/>
          </a:bodyPr>
          <a:lstStyle/>
          <a:p>
            <a:r>
              <a:rPr lang="en-US" b="1">
                <a:solidFill>
                  <a:srgbClr val="F80B8D"/>
                </a:solidFill>
              </a:rPr>
              <a:t>NOTE: </a:t>
            </a:r>
            <a:r>
              <a:rPr lang="en-US" sz="1800">
                <a:solidFill>
                  <a:srgbClr val="F80B8D"/>
                </a:solidFill>
              </a:rPr>
              <a:t>HW00 was due two days ago...</a:t>
            </a:r>
            <a:endParaRPr lang="en-US">
              <a:solidFill>
                <a:srgbClr val="F80B8D"/>
              </a:solidFill>
            </a:endParaRPr>
          </a:p>
        </p:txBody>
      </p:sp>
      <p:sp>
        <p:nvSpPr>
          <p:cNvPr id="9" name="TextBox 8">
            <a:extLst>
              <a:ext uri="{FF2B5EF4-FFF2-40B4-BE49-F238E27FC236}">
                <a16:creationId xmlns:a16="http://schemas.microsoft.com/office/drawing/2014/main" id="{B19A4058-98EE-DFD6-B6C7-5D60098A3C1B}"/>
              </a:ext>
            </a:extLst>
          </p:cNvPr>
          <p:cNvSpPr txBox="1"/>
          <p:nvPr/>
        </p:nvSpPr>
        <p:spPr>
          <a:xfrm>
            <a:off x="6412553" y="1102503"/>
            <a:ext cx="2518513" cy="646331"/>
          </a:xfrm>
          <a:prstGeom prst="rect">
            <a:avLst/>
          </a:prstGeom>
          <a:noFill/>
        </p:spPr>
        <p:txBody>
          <a:bodyPr wrap="square" rtlCol="0">
            <a:spAutoFit/>
          </a:bodyPr>
          <a:lstStyle/>
          <a:p>
            <a:r>
              <a:rPr lang="en-US" b="1">
                <a:solidFill>
                  <a:srgbClr val="F80B8D"/>
                </a:solidFill>
              </a:rPr>
              <a:t>NOTE: </a:t>
            </a:r>
            <a:r>
              <a:rPr lang="en-US" sz="1800">
                <a:solidFill>
                  <a:srgbClr val="F80B8D"/>
                </a:solidFill>
              </a:rPr>
              <a:t>HW01 is due on Monday! </a:t>
            </a:r>
            <a:r>
              <a:rPr lang="en-US">
                <a:solidFill>
                  <a:srgbClr val="F80B8D"/>
                </a:solidFill>
                <a:latin typeface="Segoe UI Emoji" panose="020B0502040204020203" pitchFamily="34" charset="0"/>
                <a:ea typeface="Segoe UI Emoji" panose="020B0502040204020203" pitchFamily="34" charset="0"/>
                <a:sym typeface="Wingdings" pitchFamily="2" charset="2"/>
              </a:rPr>
              <a:t>🥳</a:t>
            </a:r>
            <a:endParaRPr lang="en-US">
              <a:solidFill>
                <a:srgbClr val="F80B8D"/>
              </a:solidFill>
              <a:latin typeface="Segoe UI Emoji" panose="020B0502040204020203" pitchFamily="34" charset="0"/>
              <a:ea typeface="Segoe UI Emoji" panose="020B0502040204020203" pitchFamily="34" charset="0"/>
            </a:endParaRPr>
          </a:p>
        </p:txBody>
      </p:sp>
      <p:sp>
        <p:nvSpPr>
          <p:cNvPr id="10" name="TextBox 9">
            <a:extLst>
              <a:ext uri="{FF2B5EF4-FFF2-40B4-BE49-F238E27FC236}">
                <a16:creationId xmlns:a16="http://schemas.microsoft.com/office/drawing/2014/main" id="{70E33651-4B78-B8EF-E3D2-51F8A8BD35C5}"/>
              </a:ext>
            </a:extLst>
          </p:cNvPr>
          <p:cNvSpPr txBox="1"/>
          <p:nvPr/>
        </p:nvSpPr>
        <p:spPr>
          <a:xfrm>
            <a:off x="6412553" y="657063"/>
            <a:ext cx="2731447" cy="369332"/>
          </a:xfrm>
          <a:prstGeom prst="rect">
            <a:avLst/>
          </a:prstGeom>
          <a:noFill/>
        </p:spPr>
        <p:txBody>
          <a:bodyPr wrap="square" rtlCol="0">
            <a:spAutoFit/>
          </a:bodyPr>
          <a:lstStyle/>
          <a:p>
            <a:r>
              <a:rPr lang="en-US" b="1">
                <a:solidFill>
                  <a:srgbClr val="F80B8D"/>
                </a:solidFill>
              </a:rPr>
              <a:t>NOTE: </a:t>
            </a:r>
            <a:r>
              <a:rPr lang="en-US">
                <a:solidFill>
                  <a:srgbClr val="F80B8D"/>
                </a:solidFill>
              </a:rPr>
              <a:t>Lab starts today!</a:t>
            </a:r>
          </a:p>
        </p:txBody>
      </p:sp>
      <p:sp>
        <p:nvSpPr>
          <p:cNvPr id="11" name="TextBox 10">
            <a:extLst>
              <a:ext uri="{FF2B5EF4-FFF2-40B4-BE49-F238E27FC236}">
                <a16:creationId xmlns:a16="http://schemas.microsoft.com/office/drawing/2014/main" id="{828C1B6B-5858-4BB9-554C-B5E523F55C0E}"/>
              </a:ext>
            </a:extLst>
          </p:cNvPr>
          <p:cNvSpPr txBox="1"/>
          <p:nvPr/>
        </p:nvSpPr>
        <p:spPr>
          <a:xfrm>
            <a:off x="4987636" y="4302135"/>
            <a:ext cx="4156364" cy="646331"/>
          </a:xfrm>
          <a:prstGeom prst="rect">
            <a:avLst/>
          </a:prstGeom>
          <a:noFill/>
        </p:spPr>
        <p:txBody>
          <a:bodyPr wrap="square" rtlCol="0">
            <a:spAutoFit/>
          </a:bodyPr>
          <a:lstStyle/>
          <a:p>
            <a:pPr algn="ctr"/>
            <a:r>
              <a:rPr lang="en-US" b="1">
                <a:solidFill>
                  <a:srgbClr val="F80B8D"/>
                </a:solidFill>
              </a:rPr>
              <a:t>NOTE: </a:t>
            </a:r>
            <a:r>
              <a:rPr lang="en-US">
                <a:solidFill>
                  <a:srgbClr val="F80B8D"/>
                </a:solidFill>
              </a:rPr>
              <a:t>Next Wednesday is</a:t>
            </a:r>
          </a:p>
          <a:p>
            <a:pPr algn="ctr"/>
            <a:r>
              <a:rPr lang="en-US">
                <a:solidFill>
                  <a:srgbClr val="F80B8D"/>
                </a:solidFill>
                <a:latin typeface="Segoe UI Emoji" panose="020B0502040204020203" pitchFamily="34" charset="0"/>
                <a:ea typeface="Segoe UI Emoji" panose="020B0502040204020203" pitchFamily="34" charset="0"/>
              </a:rPr>
              <a:t>✨</a:t>
            </a:r>
            <a:r>
              <a:rPr lang="en-US">
                <a:solidFill>
                  <a:srgbClr val="F80B8D"/>
                </a:solidFill>
              </a:rPr>
              <a:t>No Laptop Wednesday </a:t>
            </a:r>
            <a:r>
              <a:rPr lang="en-US">
                <a:solidFill>
                  <a:srgbClr val="F80B8D"/>
                </a:solidFill>
                <a:latin typeface="Segoe UI Emoji" panose="020B0502040204020203" pitchFamily="34" charset="0"/>
                <a:ea typeface="Segoe UI Emoji" panose="020B0502040204020203" pitchFamily="34" charset="0"/>
              </a:rPr>
              <a:t>✨ !</a:t>
            </a:r>
            <a:r>
              <a:rPr lang="en-US">
                <a:solidFill>
                  <a:srgbClr val="F80B8D"/>
                </a:solidFill>
              </a:rPr>
              <a:t>!</a:t>
            </a:r>
          </a:p>
        </p:txBody>
      </p:sp>
    </p:spTree>
    <p:extLst>
      <p:ext uri="{BB962C8B-B14F-4D97-AF65-F5344CB8AC3E}">
        <p14:creationId xmlns:p14="http://schemas.microsoft.com/office/powerpoint/2010/main" val="3274307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p:bldP spid="11" grpId="0"/>
    </p:bldLst>
  </p:timing>
</p:sld>
</file>

<file path=ppt/slides/slide6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6BCD26-95D4-6DEE-B975-D92F102AD49A}"/>
              </a:ext>
            </a:extLst>
          </p:cNvPr>
          <p:cNvSpPr>
            <a:spLocks noGrp="1"/>
          </p:cNvSpPr>
          <p:nvPr>
            <p:ph type="title"/>
          </p:nvPr>
        </p:nvSpPr>
        <p:spPr/>
        <p:txBody>
          <a:bodyPr/>
          <a:lstStyle/>
          <a:p>
            <a:r>
              <a:rPr lang="en-US"/>
              <a:t>get it? 🐝?</a:t>
            </a:r>
          </a:p>
        </p:txBody>
      </p:sp>
    </p:spTree>
    <p:extLst>
      <p:ext uri="{BB962C8B-B14F-4D97-AF65-F5344CB8AC3E}">
        <p14:creationId xmlns:p14="http://schemas.microsoft.com/office/powerpoint/2010/main" val="2938768973"/>
      </p:ext>
    </p:extLst>
  </p:cSld>
  <p:clrMapOvr>
    <a:masterClrMapping/>
  </p:clrMapOvr>
</p:sld>
</file>

<file path=ppt/slides/slide7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36C39D-5E1C-F842-4A05-001E6EE5B99B}"/>
              </a:ext>
            </a:extLst>
          </p:cNvPr>
          <p:cNvPicPr>
            <a:picLocks noChangeAspect="1"/>
          </p:cNvPicPr>
          <p:nvPr/>
        </p:nvPicPr>
        <p:blipFill>
          <a:blip r:embed="rId2"/>
          <a:stretch>
            <a:fillRect/>
          </a:stretch>
        </p:blipFill>
        <p:spPr>
          <a:xfrm>
            <a:off x="685800" y="158545"/>
            <a:ext cx="7772400" cy="4826409"/>
          </a:xfrm>
          <a:prstGeom prst="rect">
            <a:avLst/>
          </a:prstGeom>
        </p:spPr>
      </p:pic>
      <p:sp>
        <p:nvSpPr>
          <p:cNvPr id="4" name="TextBox 3">
            <a:extLst>
              <a:ext uri="{FF2B5EF4-FFF2-40B4-BE49-F238E27FC236}">
                <a16:creationId xmlns:a16="http://schemas.microsoft.com/office/drawing/2014/main" id="{A2D7AA7C-C162-FD35-9849-4799F58DF2AD}"/>
              </a:ext>
            </a:extLst>
          </p:cNvPr>
          <p:cNvSpPr txBox="1"/>
          <p:nvPr/>
        </p:nvSpPr>
        <p:spPr>
          <a:xfrm>
            <a:off x="3034291" y="1694586"/>
            <a:ext cx="3075417" cy="1754326"/>
          </a:xfrm>
          <a:prstGeom prst="rect">
            <a:avLst/>
          </a:prstGeom>
          <a:solidFill>
            <a:schemeClr val="accent1">
              <a:lumMod val="20000"/>
              <a:lumOff val="80000"/>
            </a:schemeClr>
          </a:solidFill>
          <a:ln>
            <a:solidFill>
              <a:schemeClr val="accent1"/>
            </a:solidFill>
          </a:ln>
        </p:spPr>
        <p:txBody>
          <a:bodyPr wrap="square" rtlCol="0">
            <a:spAutoFit/>
          </a:bodyPr>
          <a:lstStyle/>
          <a:p>
            <a:r>
              <a:rPr lang="en-US" sz="3600" b="1">
                <a:solidFill>
                  <a:srgbClr val="F80B8D"/>
                </a:solidFill>
              </a:rPr>
              <a:t>FORNOW: </a:t>
            </a:r>
            <a:r>
              <a:rPr lang="en-US" sz="3600">
                <a:solidFill>
                  <a:srgbClr val="F80B8D"/>
                </a:solidFill>
              </a:rPr>
              <a:t>please ignore all this</a:t>
            </a:r>
          </a:p>
        </p:txBody>
      </p:sp>
    </p:spTree>
    <p:extLst>
      <p:ext uri="{BB962C8B-B14F-4D97-AF65-F5344CB8AC3E}">
        <p14:creationId xmlns:p14="http://schemas.microsoft.com/office/powerpoint/2010/main" val="3705167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8DFF27-82B1-529D-AE6C-40F8791EB567}"/>
              </a:ext>
            </a:extLst>
          </p:cNvPr>
          <p:cNvSpPr>
            <a:spLocks noGrp="1"/>
          </p:cNvSpPr>
          <p:nvPr>
            <p:ph type="title"/>
          </p:nvPr>
        </p:nvSpPr>
        <p:spPr/>
        <p:txBody>
          <a:bodyPr/>
          <a:lstStyle/>
          <a:p>
            <a:r>
              <a:rPr lang="en-US"/>
              <a:t>[research update]</a:t>
            </a:r>
          </a:p>
        </p:txBody>
      </p:sp>
    </p:spTree>
    <p:extLst>
      <p:ext uri="{BB962C8B-B14F-4D97-AF65-F5344CB8AC3E}">
        <p14:creationId xmlns:p14="http://schemas.microsoft.com/office/powerpoint/2010/main" val="1822150169"/>
      </p:ext>
    </p:extLst>
  </p:cSld>
  <p:clrMapOvr>
    <a:masterClrMapping/>
  </p:clrMapOvr>
</p:sld>
</file>

<file path=ppt/slides/slide7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4910B-4F61-1294-8260-440A582EE57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3BC5E4D-4F15-A799-FBF7-F73BF92E0096}"/>
              </a:ext>
            </a:extLst>
          </p:cNvPr>
          <p:cNvSpPr>
            <a:spLocks noGrp="1"/>
          </p:cNvSpPr>
          <p:nvPr>
            <p:ph type="title"/>
          </p:nvPr>
        </p:nvSpPr>
        <p:spPr/>
        <p:txBody>
          <a:bodyPr/>
          <a:lstStyle/>
          <a:p>
            <a:r>
              <a:rPr lang="en-US"/>
              <a:t>control flow</a:t>
            </a:r>
          </a:p>
        </p:txBody>
      </p:sp>
    </p:spTree>
    <p:extLst>
      <p:ext uri="{BB962C8B-B14F-4D97-AF65-F5344CB8AC3E}">
        <p14:creationId xmlns:p14="http://schemas.microsoft.com/office/powerpoint/2010/main" val="1465370281"/>
      </p:ext>
    </p:extLst>
  </p:cSld>
  <p:clrMapOvr>
    <a:masterClrMapping/>
  </p:clrMapOvr>
</p:sld>
</file>

<file path=ppt/slides/slide7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4FCE529-FD7F-4E63-BB51-EDA91491E934}"/>
              </a:ext>
            </a:extLst>
          </p:cNvPr>
          <p:cNvSpPr>
            <a:spLocks noGrp="1"/>
          </p:cNvSpPr>
          <p:nvPr>
            <p:ph type="title"/>
          </p:nvPr>
        </p:nvSpPr>
        <p:spPr/>
        <p:txBody>
          <a:bodyPr/>
          <a:lstStyle/>
          <a:p>
            <a:r>
              <a:rPr lang="en-US"/>
              <a:t>control flow</a:t>
            </a:r>
          </a:p>
        </p:txBody>
      </p:sp>
    </p:spTree>
    <p:extLst>
      <p:ext uri="{BB962C8B-B14F-4D97-AF65-F5344CB8AC3E}">
        <p14:creationId xmlns:p14="http://schemas.microsoft.com/office/powerpoint/2010/main" val="707597624"/>
      </p:ext>
    </p:extLst>
  </p:cSld>
  <p:clrMapOvr>
    <a:masterClrMapping/>
  </p:clrMapOvr>
</p:sld>
</file>

<file path=ppt/slides/slide7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A53B5-630B-35D5-EF86-96639D9CD402}"/>
              </a:ext>
            </a:extLst>
          </p:cNvPr>
          <p:cNvSpPr>
            <a:spLocks noGrp="1"/>
          </p:cNvSpPr>
          <p:nvPr>
            <p:ph type="title"/>
          </p:nvPr>
        </p:nvSpPr>
        <p:spPr/>
        <p:txBody>
          <a:bodyPr/>
          <a:lstStyle/>
          <a:p>
            <a:r>
              <a:rPr lang="en-US"/>
              <a:t>"how do we control the flow?"</a:t>
            </a:r>
          </a:p>
        </p:txBody>
      </p:sp>
    </p:spTree>
    <p:extLst>
      <p:ext uri="{BB962C8B-B14F-4D97-AF65-F5344CB8AC3E}">
        <p14:creationId xmlns:p14="http://schemas.microsoft.com/office/powerpoint/2010/main" val="750768982"/>
      </p:ext>
    </p:extLst>
  </p:cSld>
  <p:clrMapOvr>
    <a:masterClrMapping/>
  </p:clrMapOvr>
</p:sld>
</file>

<file path=ppt/slides/slide7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02A553D-3A5C-8A48-18D3-551E93E3FFDA}"/>
              </a:ext>
            </a:extLst>
          </p:cNvPr>
          <p:cNvPicPr>
            <a:picLocks noChangeAspect="1"/>
          </p:cNvPicPr>
          <p:nvPr/>
        </p:nvPicPr>
        <p:blipFill>
          <a:blip r:embed="rId2"/>
          <a:stretch>
            <a:fillRect/>
          </a:stretch>
        </p:blipFill>
        <p:spPr>
          <a:xfrm>
            <a:off x="408589" y="409401"/>
            <a:ext cx="2351235" cy="3213355"/>
          </a:xfrm>
          <a:prstGeom prst="rect">
            <a:avLst/>
          </a:prstGeom>
          <a:ln>
            <a:solidFill>
              <a:schemeClr val="tx1"/>
            </a:solidFill>
          </a:ln>
        </p:spPr>
      </p:pic>
      <p:pic>
        <p:nvPicPr>
          <p:cNvPr id="11" name="Picture 10" descr="Auto Shut Off Water Valve for Reverse Osmosis System - Quick Type – Blue  Max Water">
            <a:extLst>
              <a:ext uri="{FF2B5EF4-FFF2-40B4-BE49-F238E27FC236}">
                <a16:creationId xmlns:a16="http://schemas.microsoft.com/office/drawing/2014/main" id="{E74FE6BD-5F02-76D6-F30E-A3480E033770}"/>
              </a:ext>
            </a:extLst>
          </p:cNvPr>
          <p:cNvPicPr>
            <a:picLocks noChangeAspect="1"/>
          </p:cNvPicPr>
          <p:nvPr/>
        </p:nvPicPr>
        <p:blipFill>
          <a:blip r:embed="rId3"/>
          <a:stretch>
            <a:fillRect/>
          </a:stretch>
        </p:blipFill>
        <p:spPr>
          <a:xfrm>
            <a:off x="2968394" y="179496"/>
            <a:ext cx="4174028" cy="4174028"/>
          </a:xfrm>
          <a:prstGeom prst="rect">
            <a:avLst/>
          </a:prstGeom>
          <a:ln>
            <a:solidFill>
              <a:schemeClr val="tx1"/>
            </a:solidFill>
          </a:ln>
        </p:spPr>
      </p:pic>
      <p:pic>
        <p:nvPicPr>
          <p:cNvPr id="12" name="Picture 11">
            <a:extLst>
              <a:ext uri="{FF2B5EF4-FFF2-40B4-BE49-F238E27FC236}">
                <a16:creationId xmlns:a16="http://schemas.microsoft.com/office/drawing/2014/main" id="{3A6693B5-C4CE-EE75-3704-7F063D6BFEAD}"/>
              </a:ext>
            </a:extLst>
          </p:cNvPr>
          <p:cNvPicPr>
            <a:picLocks noChangeAspect="1"/>
          </p:cNvPicPr>
          <p:nvPr/>
        </p:nvPicPr>
        <p:blipFill>
          <a:blip r:embed="rId4"/>
          <a:stretch>
            <a:fillRect/>
          </a:stretch>
        </p:blipFill>
        <p:spPr>
          <a:xfrm>
            <a:off x="6079031" y="2771256"/>
            <a:ext cx="2909681" cy="2192748"/>
          </a:xfrm>
          <a:prstGeom prst="rect">
            <a:avLst/>
          </a:prstGeom>
          <a:ln>
            <a:solidFill>
              <a:schemeClr val="tx1"/>
            </a:solidFill>
          </a:ln>
        </p:spPr>
      </p:pic>
    </p:spTree>
    <p:extLst>
      <p:ext uri="{BB962C8B-B14F-4D97-AF65-F5344CB8AC3E}">
        <p14:creationId xmlns:p14="http://schemas.microsoft.com/office/powerpoint/2010/main" val="3984498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62E65-7B4A-FBA8-5619-5FE9CCF69D1B}"/>
              </a:ext>
            </a:extLst>
          </p:cNvPr>
          <p:cNvSpPr>
            <a:spLocks noGrp="1"/>
          </p:cNvSpPr>
          <p:nvPr>
            <p:ph type="title"/>
          </p:nvPr>
        </p:nvSpPr>
        <p:spPr/>
        <p:txBody>
          <a:bodyPr/>
          <a:lstStyle/>
          <a:p>
            <a:r>
              <a:rPr lang="en-US"/>
              <a:t>[Elroy Hits the Pavement]</a:t>
            </a:r>
          </a:p>
        </p:txBody>
      </p:sp>
    </p:spTree>
    <p:extLst>
      <p:ext uri="{BB962C8B-B14F-4D97-AF65-F5344CB8AC3E}">
        <p14:creationId xmlns:p14="http://schemas.microsoft.com/office/powerpoint/2010/main" val="2611202550"/>
      </p:ext>
    </p:extLst>
  </p:cSld>
  <p:clrMapOvr>
    <a:masterClrMapping/>
  </p:clrMapOvr>
</p:sld>
</file>

<file path=ppt/slides/slide7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68CC2-4F5A-0242-89B9-C4A36C8447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9057E84-303E-E9E3-88EB-752B35BE6011}"/>
              </a:ext>
            </a:extLst>
          </p:cNvPr>
          <p:cNvSpPr>
            <a:spLocks noGrp="1"/>
          </p:cNvSpPr>
          <p:nvPr>
            <p:ph type="title"/>
          </p:nvPr>
        </p:nvSpPr>
        <p:spPr/>
        <p:txBody>
          <a:bodyPr/>
          <a:lstStyle/>
          <a:p>
            <a:r>
              <a:rPr lang="en-US" sz="4400"/>
              <a:t>the execution of a Java program starts at the top of </a:t>
            </a:r>
            <a:r>
              <a:rPr lang="en-US" sz="4400">
                <a:latin typeface="+mj-lt"/>
              </a:rPr>
              <a:t>main(...)</a:t>
            </a:r>
            <a:r>
              <a:rPr lang="en-US" sz="4400"/>
              <a:t> and flows down down down</a:t>
            </a:r>
          </a:p>
        </p:txBody>
      </p:sp>
    </p:spTree>
    <p:extLst>
      <p:ext uri="{BB962C8B-B14F-4D97-AF65-F5344CB8AC3E}">
        <p14:creationId xmlns:p14="http://schemas.microsoft.com/office/powerpoint/2010/main" val="2845049765"/>
      </p:ext>
    </p:extLst>
  </p:cSld>
  <p:clrMapOvr>
    <a:masterClrMapping/>
  </p:clrMapOvr>
</p:sld>
</file>

<file path=ppt/slides/slide7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7F378-5910-98D4-C548-D85495EFA1C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6B4425D-F467-4884-5456-8D4584720FAD}"/>
              </a:ext>
            </a:extLst>
          </p:cNvPr>
          <p:cNvSpPr>
            <a:spLocks noGrp="1"/>
          </p:cNvSpPr>
          <p:nvPr>
            <p:ph type="title"/>
          </p:nvPr>
        </p:nvSpPr>
        <p:spPr/>
        <p:txBody>
          <a:bodyPr>
            <a:normAutofit fontScale="90000"/>
          </a:bodyPr>
          <a:lstStyle/>
          <a:p>
            <a:r>
              <a:rPr lang="en-US"/>
              <a:t>let's step through this program in our minds, and then in a debugger</a:t>
            </a:r>
          </a:p>
        </p:txBody>
      </p:sp>
      <p:sp>
        <p:nvSpPr>
          <p:cNvPr id="5" name="TextBox 4">
            <a:extLst>
              <a:ext uri="{FF2B5EF4-FFF2-40B4-BE49-F238E27FC236}">
                <a16:creationId xmlns:a16="http://schemas.microsoft.com/office/drawing/2014/main" id="{34AA6DD1-FF7A-A9EC-94B7-E81A0EDD105C}"/>
              </a:ext>
            </a:extLst>
          </p:cNvPr>
          <p:cNvSpPr txBox="1"/>
          <p:nvPr/>
        </p:nvSpPr>
        <p:spPr>
          <a:xfrm>
            <a:off x="457200" y="1279088"/>
            <a:ext cx="8229600" cy="2585323"/>
          </a:xfrm>
          <a:prstGeom prst="rect">
            <a:avLst/>
          </a:prstGeom>
          <a:solidFill>
            <a:schemeClr val="bg1"/>
          </a:solidFill>
          <a:ln>
            <a:solidFill>
              <a:schemeClr val="tx1"/>
            </a:solidFill>
          </a:ln>
        </p:spPr>
        <p:txBody>
          <a:bodyPr wrap="square" rtlCol="0">
            <a:spAutoFit/>
          </a:bodyPr>
          <a:lstStyle/>
          <a:p>
            <a:pPr marL="0" indent="0">
              <a:buNone/>
            </a:pPr>
            <a:r>
              <a:rPr lang="en-US">
                <a:solidFill>
                  <a:srgbClr val="0000FF"/>
                </a:solidFill>
                <a:latin typeface="+mj-lt"/>
              </a:rPr>
              <a:t>class</a:t>
            </a:r>
            <a:r>
              <a:rPr lang="en-US">
                <a:latin typeface="+mj-lt"/>
              </a:rPr>
              <a:t> </a:t>
            </a:r>
            <a:r>
              <a:rPr lang="en-US">
                <a:solidFill>
                  <a:srgbClr val="000080"/>
                </a:solidFill>
                <a:latin typeface="+mj-lt"/>
              </a:rPr>
              <a:t>Main</a:t>
            </a:r>
            <a:r>
              <a:rPr lang="en-US">
                <a:latin typeface="+mj-lt"/>
              </a:rPr>
              <a:t> extends Cow {</a:t>
            </a:r>
          </a:p>
          <a:p>
            <a:pPr marL="0" indent="0">
              <a:buNone/>
            </a:pPr>
            <a:r>
              <a:rPr lang="en-US">
                <a:latin typeface="+mj-lt"/>
              </a:rPr>
              <a:t>    </a:t>
            </a:r>
            <a:r>
              <a:rPr lang="en-US">
                <a:solidFill>
                  <a:srgbClr val="0000FF"/>
                </a:solidFill>
                <a:latin typeface="+mj-lt"/>
              </a:rPr>
              <a:t>public</a:t>
            </a:r>
            <a:r>
              <a:rPr lang="en-US">
                <a:latin typeface="+mj-lt"/>
              </a:rPr>
              <a:t> </a:t>
            </a:r>
            <a:r>
              <a:rPr lang="en-US">
                <a:solidFill>
                  <a:srgbClr val="0000FF"/>
                </a:solidFill>
                <a:latin typeface="+mj-lt"/>
              </a:rPr>
              <a:t>static</a:t>
            </a:r>
            <a:r>
              <a:rPr lang="en-US">
                <a:latin typeface="+mj-lt"/>
              </a:rPr>
              <a:t> </a:t>
            </a:r>
            <a:r>
              <a:rPr lang="en-US">
                <a:solidFill>
                  <a:srgbClr val="000080"/>
                </a:solidFill>
                <a:latin typeface="+mj-lt"/>
              </a:rPr>
              <a:t>void</a:t>
            </a:r>
            <a:r>
              <a:rPr lang="en-US">
                <a:latin typeface="+mj-lt"/>
              </a:rPr>
              <a:t> main(</a:t>
            </a:r>
            <a:r>
              <a:rPr lang="en-US">
                <a:solidFill>
                  <a:srgbClr val="000080"/>
                </a:solidFill>
                <a:latin typeface="+mj-lt"/>
              </a:rPr>
              <a:t>String</a:t>
            </a:r>
            <a:r>
              <a:rPr lang="en-US">
                <a:latin typeface="+mj-lt"/>
              </a:rPr>
              <a:t>[] arguments) {</a:t>
            </a:r>
          </a:p>
          <a:p>
            <a:pPr marL="0" indent="0">
              <a:buNone/>
            </a:pPr>
            <a:r>
              <a:rPr lang="en-US">
                <a:latin typeface="+mj-lt"/>
              </a:rPr>
              <a:t>        </a:t>
            </a:r>
            <a:r>
              <a:rPr lang="en-US">
                <a:solidFill>
                  <a:srgbClr val="000080"/>
                </a:solidFill>
                <a:latin typeface="+mj-lt"/>
              </a:rPr>
              <a:t>double</a:t>
            </a:r>
            <a:r>
              <a:rPr lang="en-US">
                <a:latin typeface="+mj-lt"/>
              </a:rPr>
              <a:t> a = </a:t>
            </a:r>
            <a:r>
              <a:rPr lang="en-US">
                <a:solidFill>
                  <a:srgbClr val="02B5B5"/>
                </a:solidFill>
                <a:latin typeface="+mj-lt"/>
              </a:rPr>
              <a:t>3</a:t>
            </a:r>
            <a:r>
              <a:rPr lang="en-US">
                <a:latin typeface="+mj-lt"/>
              </a:rPr>
              <a:t>.</a:t>
            </a:r>
            <a:r>
              <a:rPr lang="en-US">
                <a:solidFill>
                  <a:srgbClr val="02B5B5"/>
                </a:solidFill>
                <a:latin typeface="+mj-lt"/>
              </a:rPr>
              <a:t>0</a:t>
            </a:r>
            <a:r>
              <a:rPr lang="en-US">
                <a:latin typeface="+mj-lt"/>
              </a:rPr>
              <a:t>;</a:t>
            </a:r>
          </a:p>
          <a:p>
            <a:pPr marL="0" indent="0">
              <a:buNone/>
            </a:pPr>
            <a:r>
              <a:rPr lang="en-US">
                <a:latin typeface="+mj-lt"/>
              </a:rPr>
              <a:t>        </a:t>
            </a:r>
            <a:r>
              <a:rPr lang="en-US">
                <a:solidFill>
                  <a:srgbClr val="000080"/>
                </a:solidFill>
                <a:latin typeface="+mj-lt"/>
              </a:rPr>
              <a:t>double</a:t>
            </a:r>
            <a:r>
              <a:rPr lang="en-US">
                <a:latin typeface="+mj-lt"/>
              </a:rPr>
              <a:t> b = </a:t>
            </a:r>
            <a:r>
              <a:rPr lang="en-US">
                <a:solidFill>
                  <a:srgbClr val="02B5B5"/>
                </a:solidFill>
                <a:latin typeface="+mj-lt"/>
              </a:rPr>
              <a:t>4</a:t>
            </a:r>
            <a:r>
              <a:rPr lang="en-US">
                <a:latin typeface="+mj-lt"/>
              </a:rPr>
              <a:t>.</a:t>
            </a:r>
            <a:r>
              <a:rPr lang="en-US">
                <a:solidFill>
                  <a:srgbClr val="02B5B5"/>
                </a:solidFill>
                <a:latin typeface="+mj-lt"/>
              </a:rPr>
              <a:t>0</a:t>
            </a:r>
            <a:r>
              <a:rPr lang="en-US">
                <a:latin typeface="+mj-lt"/>
              </a:rPr>
              <a:t>;</a:t>
            </a:r>
          </a:p>
          <a:p>
            <a:pPr marL="0" indent="0">
              <a:buNone/>
            </a:pPr>
            <a:endParaRPr lang="en-US">
              <a:latin typeface="+mj-lt"/>
            </a:endParaRPr>
          </a:p>
          <a:p>
            <a:pPr marL="0" indent="0">
              <a:buNone/>
            </a:pPr>
            <a:r>
              <a:rPr lang="en-US">
                <a:solidFill>
                  <a:srgbClr val="000080"/>
                </a:solidFill>
                <a:latin typeface="+mj-lt"/>
              </a:rPr>
              <a:t>        double</a:t>
            </a:r>
            <a:r>
              <a:rPr lang="en-US">
                <a:latin typeface="+mj-lt"/>
              </a:rPr>
              <a:t> result = </a:t>
            </a:r>
            <a:r>
              <a:rPr lang="en-US">
                <a:solidFill>
                  <a:srgbClr val="000080"/>
                </a:solidFill>
                <a:latin typeface="+mj-lt"/>
              </a:rPr>
              <a:t>SQRT</a:t>
            </a:r>
            <a:r>
              <a:rPr lang="en-US">
                <a:latin typeface="+mj-lt"/>
              </a:rPr>
              <a:t>(</a:t>
            </a:r>
            <a:r>
              <a:rPr lang="en-US">
                <a:solidFill>
                  <a:srgbClr val="000000"/>
                </a:solidFill>
                <a:latin typeface="+mj-lt"/>
              </a:rPr>
              <a:t>a * a + b * b</a:t>
            </a:r>
            <a:r>
              <a:rPr lang="en-US">
                <a:latin typeface="+mj-lt"/>
              </a:rPr>
              <a:t>);</a:t>
            </a:r>
          </a:p>
          <a:p>
            <a:pPr marL="0" indent="0">
              <a:buNone/>
            </a:pPr>
            <a:r>
              <a:rPr lang="en-US">
                <a:latin typeface="+mj-lt"/>
              </a:rPr>
              <a:t>        </a:t>
            </a:r>
            <a:r>
              <a:rPr lang="en-US">
                <a:solidFill>
                  <a:srgbClr val="000080"/>
                </a:solidFill>
                <a:latin typeface="+mj-lt"/>
              </a:rPr>
              <a:t>PRINT</a:t>
            </a:r>
            <a:r>
              <a:rPr lang="en-US">
                <a:latin typeface="+mj-lt"/>
              </a:rPr>
              <a:t>(result);</a:t>
            </a:r>
          </a:p>
          <a:p>
            <a:pPr marL="0" indent="0">
              <a:buNone/>
            </a:pPr>
            <a:r>
              <a:rPr lang="en-US">
                <a:latin typeface="+mj-lt"/>
              </a:rPr>
              <a:t>    }</a:t>
            </a:r>
          </a:p>
          <a:p>
            <a:pPr marL="0" indent="0">
              <a:buNone/>
            </a:pPr>
            <a:r>
              <a:rPr lang="en-US">
                <a:latin typeface="+mj-lt"/>
              </a:rPr>
              <a:t>}</a:t>
            </a:r>
          </a:p>
        </p:txBody>
      </p:sp>
    </p:spTree>
    <p:extLst>
      <p:ext uri="{BB962C8B-B14F-4D97-AF65-F5344CB8AC3E}">
        <p14:creationId xmlns:p14="http://schemas.microsoft.com/office/powerpoint/2010/main" val="1130371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2E3FC-250F-B8E0-E483-1F6A177B6B2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BD8B87E-A724-05AE-DBCD-078EC52ECDB3}"/>
              </a:ext>
            </a:extLst>
          </p:cNvPr>
          <p:cNvSpPr>
            <a:spLocks noGrp="1"/>
          </p:cNvSpPr>
          <p:nvPr>
            <p:ph type="title"/>
          </p:nvPr>
        </p:nvSpPr>
        <p:spPr/>
        <p:txBody>
          <a:bodyPr/>
          <a:lstStyle/>
          <a:p>
            <a:r>
              <a:rPr lang="en-US" sz="4400"/>
              <a:t>[visualizing the flow of HW00A in a debugger]</a:t>
            </a:r>
            <a:br>
              <a:rPr lang="en-US" sz="4400"/>
            </a:br>
            <a:r>
              <a:rPr lang="en-US" sz="4400"/>
              <a:t>💻👥</a:t>
            </a:r>
          </a:p>
        </p:txBody>
      </p:sp>
    </p:spTree>
    <p:extLst>
      <p:ext uri="{BB962C8B-B14F-4D97-AF65-F5344CB8AC3E}">
        <p14:creationId xmlns:p14="http://schemas.microsoft.com/office/powerpoint/2010/main" val="4122977456"/>
      </p:ext>
    </p:extLst>
  </p:cSld>
  <p:clrMapOvr>
    <a:masterClrMapping/>
  </p:clrMapOvr>
</p:sld>
</file>

<file path=ppt/slides/slide7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F3821-8757-758F-CFF6-8088ED13BA8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597439C-05E5-51C9-D9AC-3A4F0883EFD9}"/>
              </a:ext>
            </a:extLst>
          </p:cNvPr>
          <p:cNvSpPr>
            <a:spLocks noGrp="1"/>
          </p:cNvSpPr>
          <p:nvPr>
            <p:ph type="title"/>
          </p:nvPr>
        </p:nvSpPr>
        <p:spPr/>
        <p:txBody>
          <a:bodyPr/>
          <a:lstStyle/>
          <a:p>
            <a:r>
              <a:rPr lang="en-US"/>
              <a:t>functions (preview)</a:t>
            </a:r>
          </a:p>
        </p:txBody>
      </p:sp>
    </p:spTree>
    <p:extLst>
      <p:ext uri="{BB962C8B-B14F-4D97-AF65-F5344CB8AC3E}">
        <p14:creationId xmlns:p14="http://schemas.microsoft.com/office/powerpoint/2010/main" val="1535810919"/>
      </p:ext>
    </p:extLst>
  </p:cSld>
  <p:clrMapOvr>
    <a:masterClrMapping/>
  </p:clrMapOvr>
</p:sld>
</file>

<file path=ppt/slides/slide7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B4753-A35E-DAE3-A55D-11E3FA7D224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A9D9BB9-538D-95A2-B1FF-58B12BE52B1A}"/>
              </a:ext>
            </a:extLst>
          </p:cNvPr>
          <p:cNvSpPr>
            <a:spLocks noGrp="1"/>
          </p:cNvSpPr>
          <p:nvPr>
            <p:ph type="title"/>
          </p:nvPr>
        </p:nvSpPr>
        <p:spPr/>
        <p:txBody>
          <a:bodyPr/>
          <a:lstStyle/>
          <a:p>
            <a:r>
              <a:rPr lang="en-US"/>
              <a:t>functions (preview)</a:t>
            </a:r>
          </a:p>
        </p:txBody>
      </p:sp>
      <p:sp>
        <p:nvSpPr>
          <p:cNvPr id="2" name="Content Placeholder 1">
            <a:extLst>
              <a:ext uri="{FF2B5EF4-FFF2-40B4-BE49-F238E27FC236}">
                <a16:creationId xmlns:a16="http://schemas.microsoft.com/office/drawing/2014/main" id="{92473C65-DA89-50C7-1CCA-8FF72F694C79}"/>
              </a:ext>
            </a:extLst>
          </p:cNvPr>
          <p:cNvSpPr>
            <a:spLocks noGrp="1"/>
          </p:cNvSpPr>
          <p:nvPr>
            <p:ph sz="quarter" idx="10"/>
          </p:nvPr>
        </p:nvSpPr>
        <p:spPr/>
        <p:txBody>
          <a:bodyPr/>
          <a:lstStyle/>
          <a:p>
            <a:r>
              <a:rPr lang="en-US"/>
              <a:t>when a </a:t>
            </a:r>
            <a:r>
              <a:rPr lang="en-US" b="1"/>
              <a:t>function</a:t>
            </a:r>
            <a:r>
              <a:rPr lang="en-US"/>
              <a:t> is called, control flow jumps to the top of the function, flows down through it, and then jumps back to right after the function call</a:t>
            </a:r>
          </a:p>
        </p:txBody>
      </p:sp>
      <p:sp>
        <p:nvSpPr>
          <p:cNvPr id="5" name="TextBox 4">
            <a:extLst>
              <a:ext uri="{FF2B5EF4-FFF2-40B4-BE49-F238E27FC236}">
                <a16:creationId xmlns:a16="http://schemas.microsoft.com/office/drawing/2014/main" id="{0352DA33-4DAA-F54C-6482-13FB44809B4C}"/>
              </a:ext>
            </a:extLst>
          </p:cNvPr>
          <p:cNvSpPr txBox="1"/>
          <p:nvPr/>
        </p:nvSpPr>
        <p:spPr>
          <a:xfrm>
            <a:off x="457200" y="1895314"/>
            <a:ext cx="8229600" cy="2862322"/>
          </a:xfrm>
          <a:prstGeom prst="rect">
            <a:avLst/>
          </a:prstGeom>
          <a:solidFill>
            <a:schemeClr val="bg1"/>
          </a:solidFill>
          <a:ln>
            <a:solidFill>
              <a:schemeClr val="tx1"/>
            </a:solidFill>
          </a:ln>
        </p:spPr>
        <p:txBody>
          <a:bodyPr wrap="square" rtlCol="0">
            <a:spAutoFit/>
          </a:bodyPr>
          <a:lstStyle/>
          <a:p>
            <a:pPr marL="0" indent="0">
              <a:buNone/>
            </a:pPr>
            <a:r>
              <a:rPr lang="en-US">
                <a:solidFill>
                  <a:srgbClr val="0000FF"/>
                </a:solidFill>
                <a:latin typeface="+mj-lt"/>
              </a:rPr>
              <a:t>class</a:t>
            </a:r>
            <a:r>
              <a:rPr lang="en-US">
                <a:latin typeface="+mj-lt"/>
              </a:rPr>
              <a:t> </a:t>
            </a:r>
            <a:r>
              <a:rPr lang="en-US">
                <a:solidFill>
                  <a:srgbClr val="000080"/>
                </a:solidFill>
                <a:latin typeface="+mj-lt"/>
              </a:rPr>
              <a:t>Main</a:t>
            </a:r>
            <a:r>
              <a:rPr lang="en-US">
                <a:latin typeface="+mj-lt"/>
              </a:rPr>
              <a:t> extends Cow {</a:t>
            </a:r>
          </a:p>
          <a:p>
            <a:r>
              <a:rPr lang="en-US">
                <a:latin typeface="+mj-lt"/>
              </a:rPr>
              <a:t>    </a:t>
            </a:r>
            <a:r>
              <a:rPr lang="en-US">
                <a:solidFill>
                  <a:srgbClr val="0000FF"/>
                </a:solidFill>
                <a:latin typeface="+mj-lt"/>
              </a:rPr>
              <a:t>static</a:t>
            </a:r>
            <a:r>
              <a:rPr lang="en-US">
                <a:latin typeface="+mj-lt"/>
              </a:rPr>
              <a:t> </a:t>
            </a:r>
            <a:r>
              <a:rPr lang="en-US">
                <a:solidFill>
                  <a:srgbClr val="000080"/>
                </a:solidFill>
                <a:latin typeface="+mj-lt"/>
              </a:rPr>
              <a:t>double</a:t>
            </a:r>
            <a:r>
              <a:rPr lang="en-US">
                <a:solidFill>
                  <a:srgbClr val="000000"/>
                </a:solidFill>
                <a:latin typeface="+mj-lt"/>
              </a:rPr>
              <a:t> pythagoreanTheorem(</a:t>
            </a:r>
            <a:r>
              <a:rPr lang="en-US">
                <a:solidFill>
                  <a:srgbClr val="000080"/>
                </a:solidFill>
                <a:latin typeface="+mj-lt"/>
              </a:rPr>
              <a:t>double</a:t>
            </a:r>
            <a:r>
              <a:rPr lang="en-US">
                <a:solidFill>
                  <a:srgbClr val="000000"/>
                </a:solidFill>
                <a:latin typeface="+mj-lt"/>
              </a:rPr>
              <a:t> a, </a:t>
            </a:r>
            <a:r>
              <a:rPr lang="en-US">
                <a:solidFill>
                  <a:srgbClr val="000080"/>
                </a:solidFill>
                <a:latin typeface="+mj-lt"/>
              </a:rPr>
              <a:t>double</a:t>
            </a:r>
            <a:r>
              <a:rPr lang="en-US">
                <a:solidFill>
                  <a:srgbClr val="000000"/>
                </a:solidFill>
                <a:latin typeface="+mj-lt"/>
              </a:rPr>
              <a:t> b) {</a:t>
            </a:r>
          </a:p>
          <a:p>
            <a:r>
              <a:rPr lang="en-US">
                <a:solidFill>
                  <a:srgbClr val="000000"/>
                </a:solidFill>
                <a:latin typeface="+mj-lt"/>
              </a:rPr>
              <a:t>        </a:t>
            </a:r>
            <a:r>
              <a:rPr lang="en-US">
                <a:solidFill>
                  <a:srgbClr val="0000FF"/>
                </a:solidFill>
                <a:latin typeface="+mj-lt"/>
              </a:rPr>
              <a:t>return</a:t>
            </a:r>
            <a:r>
              <a:rPr lang="en-US">
                <a:solidFill>
                  <a:srgbClr val="000000"/>
                </a:solidFill>
                <a:latin typeface="+mj-lt"/>
              </a:rPr>
              <a:t> </a:t>
            </a:r>
            <a:r>
              <a:rPr lang="en-US">
                <a:solidFill>
                  <a:srgbClr val="000080"/>
                </a:solidFill>
                <a:latin typeface="+mj-lt"/>
              </a:rPr>
              <a:t>SQRT</a:t>
            </a:r>
            <a:r>
              <a:rPr lang="en-US">
                <a:solidFill>
                  <a:srgbClr val="000000"/>
                </a:solidFill>
                <a:latin typeface="+mj-lt"/>
              </a:rPr>
              <a:t>(a * a + b * b);</a:t>
            </a:r>
          </a:p>
          <a:p>
            <a:r>
              <a:rPr lang="en-US">
                <a:solidFill>
                  <a:srgbClr val="000000"/>
                </a:solidFill>
                <a:latin typeface="+mj-lt"/>
              </a:rPr>
              <a:t>    }</a:t>
            </a:r>
            <a:endParaRPr lang="en-US">
              <a:latin typeface="+mj-lt"/>
            </a:endParaRPr>
          </a:p>
          <a:p>
            <a:pPr marL="0" indent="0">
              <a:buNone/>
            </a:pPr>
            <a:endParaRPr lang="en-US">
              <a:latin typeface="+mj-lt"/>
            </a:endParaRPr>
          </a:p>
          <a:p>
            <a:pPr marL="0" indent="0">
              <a:buNone/>
            </a:pPr>
            <a:r>
              <a:rPr lang="en-US">
                <a:latin typeface="+mj-lt"/>
              </a:rPr>
              <a:t>    </a:t>
            </a:r>
            <a:r>
              <a:rPr lang="en-US">
                <a:solidFill>
                  <a:srgbClr val="0000FF"/>
                </a:solidFill>
                <a:latin typeface="+mj-lt"/>
              </a:rPr>
              <a:t>public</a:t>
            </a:r>
            <a:r>
              <a:rPr lang="en-US">
                <a:latin typeface="+mj-lt"/>
              </a:rPr>
              <a:t> </a:t>
            </a:r>
            <a:r>
              <a:rPr lang="en-US">
                <a:solidFill>
                  <a:srgbClr val="0000FF"/>
                </a:solidFill>
                <a:latin typeface="+mj-lt"/>
              </a:rPr>
              <a:t>static</a:t>
            </a:r>
            <a:r>
              <a:rPr lang="en-US">
                <a:latin typeface="+mj-lt"/>
              </a:rPr>
              <a:t> </a:t>
            </a:r>
            <a:r>
              <a:rPr lang="en-US">
                <a:solidFill>
                  <a:srgbClr val="000080"/>
                </a:solidFill>
                <a:latin typeface="+mj-lt"/>
              </a:rPr>
              <a:t>void</a:t>
            </a:r>
            <a:r>
              <a:rPr lang="en-US">
                <a:latin typeface="+mj-lt"/>
              </a:rPr>
              <a:t> main(</a:t>
            </a:r>
            <a:r>
              <a:rPr lang="en-US">
                <a:solidFill>
                  <a:srgbClr val="000080"/>
                </a:solidFill>
                <a:latin typeface="+mj-lt"/>
              </a:rPr>
              <a:t>String</a:t>
            </a:r>
            <a:r>
              <a:rPr lang="en-US">
                <a:latin typeface="+mj-lt"/>
              </a:rPr>
              <a:t>[] arguments) {</a:t>
            </a:r>
          </a:p>
          <a:p>
            <a:r>
              <a:rPr lang="en-US">
                <a:latin typeface="+mj-lt"/>
              </a:rPr>
              <a:t>        </a:t>
            </a:r>
            <a:r>
              <a:rPr lang="en-US">
                <a:solidFill>
                  <a:srgbClr val="000080"/>
                </a:solidFill>
                <a:latin typeface="+mj-lt"/>
              </a:rPr>
              <a:t>double </a:t>
            </a:r>
            <a:r>
              <a:rPr lang="en-US">
                <a:latin typeface="+mj-lt"/>
              </a:rPr>
              <a:t>hypotenuse = </a:t>
            </a:r>
            <a:r>
              <a:rPr lang="en-US">
                <a:solidFill>
                  <a:srgbClr val="000000"/>
                </a:solidFill>
                <a:latin typeface="Consolas"/>
              </a:rPr>
              <a:t>pythagoreanTheorem(</a:t>
            </a:r>
            <a:r>
              <a:rPr lang="en-US">
                <a:solidFill>
                  <a:srgbClr val="02B5B5"/>
                </a:solidFill>
                <a:latin typeface="Consolas"/>
              </a:rPr>
              <a:t>3</a:t>
            </a:r>
            <a:r>
              <a:rPr lang="en-US">
                <a:solidFill>
                  <a:srgbClr val="000000"/>
                </a:solidFill>
                <a:latin typeface="Consolas"/>
              </a:rPr>
              <a:t>.</a:t>
            </a:r>
            <a:r>
              <a:rPr lang="en-US">
                <a:solidFill>
                  <a:srgbClr val="02B5B5"/>
                </a:solidFill>
                <a:latin typeface="Consolas"/>
              </a:rPr>
              <a:t>0</a:t>
            </a:r>
            <a:r>
              <a:rPr lang="en-US">
                <a:solidFill>
                  <a:srgbClr val="000000"/>
                </a:solidFill>
                <a:latin typeface="Consolas"/>
              </a:rPr>
              <a:t>, </a:t>
            </a:r>
            <a:r>
              <a:rPr lang="en-US">
                <a:solidFill>
                  <a:srgbClr val="02B5B5"/>
                </a:solidFill>
                <a:latin typeface="Consolas"/>
              </a:rPr>
              <a:t>4</a:t>
            </a:r>
            <a:r>
              <a:rPr lang="en-US">
                <a:solidFill>
                  <a:srgbClr val="000000"/>
                </a:solidFill>
                <a:latin typeface="Consolas"/>
              </a:rPr>
              <a:t>.</a:t>
            </a:r>
            <a:r>
              <a:rPr lang="en-US">
                <a:solidFill>
                  <a:srgbClr val="02B5B5"/>
                </a:solidFill>
                <a:latin typeface="Consolas"/>
              </a:rPr>
              <a:t>0</a:t>
            </a:r>
            <a:r>
              <a:rPr lang="en-US">
                <a:solidFill>
                  <a:srgbClr val="000000"/>
                </a:solidFill>
                <a:latin typeface="Consolas"/>
              </a:rPr>
              <a:t>);</a:t>
            </a:r>
            <a:endParaRPr lang="en-US">
              <a:latin typeface="+mj-lt"/>
            </a:endParaRPr>
          </a:p>
          <a:p>
            <a:r>
              <a:rPr lang="en-US">
                <a:latin typeface="+mj-lt"/>
              </a:rPr>
              <a:t>        </a:t>
            </a:r>
            <a:r>
              <a:rPr lang="en-US">
                <a:solidFill>
                  <a:srgbClr val="000080"/>
                </a:solidFill>
                <a:latin typeface="Consolas"/>
              </a:rPr>
              <a:t>PRINT</a:t>
            </a:r>
            <a:r>
              <a:rPr lang="en-US">
                <a:latin typeface="+mj-lt"/>
              </a:rPr>
              <a:t>(</a:t>
            </a:r>
            <a:r>
              <a:rPr lang="en-US">
                <a:solidFill>
                  <a:srgbClr val="000000"/>
                </a:solidFill>
                <a:latin typeface="Consolas"/>
              </a:rPr>
              <a:t>hypotenuse</a:t>
            </a:r>
            <a:r>
              <a:rPr lang="en-US">
                <a:latin typeface="+mj-lt"/>
              </a:rPr>
              <a:t>);</a:t>
            </a:r>
          </a:p>
          <a:p>
            <a:pPr marL="0" indent="0">
              <a:buNone/>
            </a:pPr>
            <a:r>
              <a:rPr lang="en-US">
                <a:latin typeface="+mj-lt"/>
              </a:rPr>
              <a:t>    }</a:t>
            </a:r>
          </a:p>
          <a:p>
            <a:pPr marL="0" indent="0">
              <a:buNone/>
            </a:pPr>
            <a:r>
              <a:rPr lang="en-US">
                <a:latin typeface="+mj-lt"/>
              </a:rPr>
              <a:t>} </a:t>
            </a:r>
          </a:p>
        </p:txBody>
      </p:sp>
    </p:spTree>
    <p:extLst>
      <p:ext uri="{BB962C8B-B14F-4D97-AF65-F5344CB8AC3E}">
        <p14:creationId xmlns:p14="http://schemas.microsoft.com/office/powerpoint/2010/main" val="92191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016A0-81A8-7C90-F996-6814B1F9471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2FE8309-2E38-E66E-7F83-2EE5A9F10796}"/>
              </a:ext>
            </a:extLst>
          </p:cNvPr>
          <p:cNvSpPr>
            <a:spLocks noGrp="1"/>
          </p:cNvSpPr>
          <p:nvPr>
            <p:ph type="title"/>
          </p:nvPr>
        </p:nvSpPr>
        <p:spPr/>
        <p:txBody>
          <a:bodyPr/>
          <a:lstStyle/>
          <a:p>
            <a:r>
              <a:rPr lang="en-US">
                <a:latin typeface="+mj-lt"/>
              </a:rPr>
              <a:t>ASSERT</a:t>
            </a:r>
          </a:p>
        </p:txBody>
      </p:sp>
    </p:spTree>
    <p:extLst>
      <p:ext uri="{BB962C8B-B14F-4D97-AF65-F5344CB8AC3E}">
        <p14:creationId xmlns:p14="http://schemas.microsoft.com/office/powerpoint/2010/main" val="807629159"/>
      </p:ext>
    </p:extLst>
  </p:cSld>
  <p:clrMapOvr>
    <a:masterClrMapping/>
  </p:clrMapOvr>
</p:sld>
</file>

<file path=ppt/slides/slide7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060B9-988D-FCFE-E8C6-7BDB48A2324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E5A8FF6-07EC-83E2-D746-A46074C3F630}"/>
              </a:ext>
            </a:extLst>
          </p:cNvPr>
          <p:cNvSpPr>
            <a:spLocks noGrp="1"/>
          </p:cNvSpPr>
          <p:nvPr>
            <p:ph type="title"/>
          </p:nvPr>
        </p:nvSpPr>
        <p:spPr/>
        <p:txBody>
          <a:bodyPr/>
          <a:lstStyle/>
          <a:p>
            <a:r>
              <a:rPr lang="en-US">
                <a:latin typeface="+mj-lt"/>
              </a:rPr>
              <a:t>ASSERT(</a:t>
            </a:r>
            <a:r>
              <a:rPr lang="en-US">
                <a:solidFill>
                  <a:schemeClr val="bg1">
                    <a:lumMod val="75000"/>
                  </a:schemeClr>
                </a:solidFill>
                <a:latin typeface="+mj-lt"/>
              </a:rPr>
              <a:t>condition</a:t>
            </a:r>
            <a:r>
              <a:rPr lang="en-US">
                <a:latin typeface="+mj-lt"/>
              </a:rPr>
              <a:t>);</a:t>
            </a:r>
          </a:p>
        </p:txBody>
      </p:sp>
      <p:sp>
        <p:nvSpPr>
          <p:cNvPr id="4" name="Content Placeholder 3">
            <a:extLst>
              <a:ext uri="{FF2B5EF4-FFF2-40B4-BE49-F238E27FC236}">
                <a16:creationId xmlns:a16="http://schemas.microsoft.com/office/drawing/2014/main" id="{80BCFA51-90EF-F068-8409-4A2E41B62FA1}"/>
              </a:ext>
            </a:extLst>
          </p:cNvPr>
          <p:cNvSpPr>
            <a:spLocks noGrp="1"/>
          </p:cNvSpPr>
          <p:nvPr>
            <p:ph sz="quarter" idx="10"/>
          </p:nvPr>
        </p:nvSpPr>
        <p:spPr/>
        <p:txBody>
          <a:bodyPr/>
          <a:lstStyle/>
          <a:p>
            <a:r>
              <a:rPr lang="en-US"/>
              <a:t>an </a:t>
            </a:r>
            <a:r>
              <a:rPr lang="en-US" b="1"/>
              <a:t>assert statement</a:t>
            </a:r>
            <a:r>
              <a:rPr lang="en-US"/>
              <a:t> crashes the program if its condition is false</a:t>
            </a:r>
          </a:p>
          <a:p>
            <a:pPr lvl="1"/>
            <a:r>
              <a:rPr lang="en-US">
                <a:solidFill>
                  <a:srgbClr val="0000FF"/>
                </a:solidFill>
                <a:latin typeface="+mj-lt"/>
              </a:rPr>
              <a:t>ASSERT</a:t>
            </a:r>
            <a:r>
              <a:rPr lang="en-US">
                <a:latin typeface="+mj-lt"/>
              </a:rPr>
              <a:t>(false);</a:t>
            </a:r>
            <a:r>
              <a:rPr lang="en-US"/>
              <a:t> crashes the program no matter what</a:t>
            </a:r>
          </a:p>
          <a:p>
            <a:endParaRPr lang="en-US"/>
          </a:p>
        </p:txBody>
      </p:sp>
      <p:sp>
        <p:nvSpPr>
          <p:cNvPr id="2" name="TextBox 1">
            <a:extLst>
              <a:ext uri="{FF2B5EF4-FFF2-40B4-BE49-F238E27FC236}">
                <a16:creationId xmlns:a16="http://schemas.microsoft.com/office/drawing/2014/main" id="{6562CDBE-4FCE-D7DD-41B8-7C017FCE1A9B}"/>
              </a:ext>
            </a:extLst>
          </p:cNvPr>
          <p:cNvSpPr txBox="1"/>
          <p:nvPr/>
        </p:nvSpPr>
        <p:spPr>
          <a:xfrm>
            <a:off x="457200" y="1656562"/>
            <a:ext cx="8229600" cy="3416320"/>
          </a:xfrm>
          <a:prstGeom prst="rect">
            <a:avLst/>
          </a:prstGeom>
          <a:solidFill>
            <a:schemeClr val="bg1"/>
          </a:solidFill>
          <a:ln>
            <a:solidFill>
              <a:schemeClr val="tx1"/>
            </a:solidFill>
          </a:ln>
        </p:spPr>
        <p:txBody>
          <a:bodyPr wrap="square" rtlCol="0">
            <a:spAutoFit/>
          </a:bodyPr>
          <a:lstStyle/>
          <a:p>
            <a:pPr lvl="0"/>
            <a:r>
              <a:rPr lang="en-US">
                <a:solidFill>
                  <a:srgbClr val="0000FF"/>
                </a:solidFill>
                <a:latin typeface="Consolas"/>
              </a:rPr>
              <a:t>class</a:t>
            </a:r>
            <a:r>
              <a:rPr lang="en-US">
                <a:solidFill>
                  <a:srgbClr val="000000"/>
                </a:solidFill>
                <a:latin typeface="Consolas"/>
              </a:rPr>
              <a:t> </a:t>
            </a:r>
            <a:r>
              <a:rPr lang="en-US">
                <a:solidFill>
                  <a:srgbClr val="000080"/>
                </a:solidFill>
                <a:latin typeface="Consolas"/>
              </a:rPr>
              <a:t>Main</a:t>
            </a:r>
            <a:r>
              <a:rPr lang="en-US">
                <a:solidFill>
                  <a:srgbClr val="000000"/>
                </a:solidFill>
                <a:latin typeface="Consolas"/>
              </a:rPr>
              <a:t> extends Cow {</a:t>
            </a:r>
          </a:p>
          <a:p>
            <a:r>
              <a:rPr lang="en-US"/>
              <a:t>    </a:t>
            </a:r>
            <a:r>
              <a:rPr lang="en-US">
                <a:solidFill>
                  <a:srgbClr val="0000FF"/>
                </a:solidFill>
                <a:latin typeface="Consolas"/>
              </a:rPr>
              <a:t>static</a:t>
            </a:r>
            <a:r>
              <a:rPr lang="en-US">
                <a:solidFill>
                  <a:srgbClr val="000080"/>
                </a:solidFill>
                <a:latin typeface="Consolas"/>
              </a:rPr>
              <a:t> double</a:t>
            </a:r>
            <a:r>
              <a:rPr lang="en-US">
                <a:solidFill>
                  <a:srgbClr val="000000"/>
                </a:solidFill>
                <a:latin typeface="Consolas"/>
              </a:rPr>
              <a:t> pythagoreanTheorem(</a:t>
            </a:r>
            <a:r>
              <a:rPr lang="en-US">
                <a:solidFill>
                  <a:srgbClr val="000080"/>
                </a:solidFill>
                <a:latin typeface="Consolas"/>
              </a:rPr>
              <a:t>double</a:t>
            </a:r>
            <a:r>
              <a:rPr lang="en-US">
                <a:solidFill>
                  <a:srgbClr val="000000"/>
                </a:solidFill>
                <a:latin typeface="Consolas"/>
              </a:rPr>
              <a:t> a, </a:t>
            </a:r>
            <a:r>
              <a:rPr lang="en-US">
                <a:solidFill>
                  <a:srgbClr val="000080"/>
                </a:solidFill>
                <a:latin typeface="Consolas"/>
              </a:rPr>
              <a:t>double</a:t>
            </a:r>
            <a:r>
              <a:rPr lang="en-US">
                <a:solidFill>
                  <a:srgbClr val="000000"/>
                </a:solidFill>
                <a:latin typeface="Consolas"/>
              </a:rPr>
              <a:t> b) {</a:t>
            </a:r>
          </a:p>
          <a:p>
            <a:pPr lvl="0"/>
            <a:r>
              <a:rPr lang="en-US">
                <a:solidFill>
                  <a:srgbClr val="000000"/>
                </a:solidFill>
                <a:latin typeface="Consolas"/>
              </a:rPr>
              <a:t>        </a:t>
            </a:r>
            <a:r>
              <a:rPr lang="en-US">
                <a:latin typeface="Consolas"/>
              </a:rPr>
              <a:t>ASSERT(a &gt; 0.0);</a:t>
            </a:r>
            <a:endParaRPr lang="en-US">
              <a:solidFill>
                <a:srgbClr val="000000"/>
              </a:solidFill>
              <a:latin typeface="Consolas"/>
            </a:endParaRPr>
          </a:p>
          <a:p>
            <a:pPr lvl="0"/>
            <a:r>
              <a:rPr lang="en-US">
                <a:solidFill>
                  <a:srgbClr val="000000"/>
                </a:solidFill>
                <a:latin typeface="Consolas"/>
              </a:rPr>
              <a:t>        </a:t>
            </a:r>
            <a:r>
              <a:rPr lang="en-US">
                <a:latin typeface="Consolas"/>
              </a:rPr>
              <a:t>ASSERT(b &gt; 0.0);</a:t>
            </a:r>
            <a:endParaRPr lang="en-US">
              <a:solidFill>
                <a:srgbClr val="000000"/>
              </a:solidFill>
              <a:latin typeface="Consolas"/>
            </a:endParaRPr>
          </a:p>
          <a:p>
            <a:r>
              <a:rPr lang="en-US">
                <a:solidFill>
                  <a:srgbClr val="000000"/>
                </a:solidFill>
                <a:latin typeface="Consolas"/>
              </a:rPr>
              <a:t>        </a:t>
            </a:r>
            <a:r>
              <a:rPr lang="en-US">
                <a:solidFill>
                  <a:srgbClr val="0000FF"/>
                </a:solidFill>
                <a:latin typeface="Consolas"/>
              </a:rPr>
              <a:t>return</a:t>
            </a:r>
            <a:r>
              <a:rPr lang="en-US">
                <a:solidFill>
                  <a:srgbClr val="000000"/>
                </a:solidFill>
                <a:latin typeface="Consolas"/>
              </a:rPr>
              <a:t> </a:t>
            </a:r>
            <a:r>
              <a:rPr lang="en-US">
                <a:solidFill>
                  <a:srgbClr val="000080"/>
                </a:solidFill>
                <a:latin typeface="Consolas"/>
              </a:rPr>
              <a:t>SQRT</a:t>
            </a:r>
            <a:r>
              <a:rPr lang="en-US">
                <a:solidFill>
                  <a:srgbClr val="000000"/>
                </a:solidFill>
                <a:latin typeface="Consolas"/>
              </a:rPr>
              <a:t>(a * a + b * b);</a:t>
            </a:r>
          </a:p>
          <a:p>
            <a:r>
              <a:rPr lang="en-US">
                <a:solidFill>
                  <a:srgbClr val="000000"/>
                </a:solidFill>
                <a:latin typeface="Consolas"/>
              </a:rPr>
              <a:t>    }</a:t>
            </a:r>
          </a:p>
          <a:p>
            <a:endParaRPr lang="en-US">
              <a:solidFill>
                <a:srgbClr val="000000"/>
              </a:solidFill>
              <a:latin typeface="Consolas"/>
            </a:endParaRPr>
          </a:p>
          <a:p>
            <a:pPr lvl="0"/>
            <a:r>
              <a:rPr lang="en-US">
                <a:solidFill>
                  <a:srgbClr val="000000"/>
                </a:solidFill>
                <a:latin typeface="Consolas"/>
              </a:rPr>
              <a:t>    </a:t>
            </a:r>
            <a:r>
              <a:rPr lang="en-US">
                <a:solidFill>
                  <a:srgbClr val="0000FF"/>
                </a:solidFill>
                <a:latin typeface="Consolas"/>
              </a:rPr>
              <a:t>public</a:t>
            </a:r>
            <a:r>
              <a:rPr lang="en-US">
                <a:solidFill>
                  <a:srgbClr val="000000"/>
                </a:solidFill>
                <a:latin typeface="Consolas"/>
              </a:rPr>
              <a:t> </a:t>
            </a:r>
            <a:r>
              <a:rPr lang="en-US">
                <a:solidFill>
                  <a:srgbClr val="0000FF"/>
                </a:solidFill>
                <a:latin typeface="Consolas"/>
              </a:rPr>
              <a:t>static</a:t>
            </a:r>
            <a:r>
              <a:rPr lang="en-US">
                <a:solidFill>
                  <a:srgbClr val="000000"/>
                </a:solidFill>
                <a:latin typeface="Consolas"/>
              </a:rPr>
              <a:t> </a:t>
            </a:r>
            <a:r>
              <a:rPr lang="en-US">
                <a:solidFill>
                  <a:srgbClr val="000080"/>
                </a:solidFill>
                <a:latin typeface="Consolas"/>
              </a:rPr>
              <a:t>void</a:t>
            </a:r>
            <a:r>
              <a:rPr lang="en-US">
                <a:solidFill>
                  <a:srgbClr val="000000"/>
                </a:solidFill>
                <a:latin typeface="Consolas"/>
              </a:rPr>
              <a:t> main(</a:t>
            </a:r>
            <a:r>
              <a:rPr lang="en-US">
                <a:solidFill>
                  <a:srgbClr val="000080"/>
                </a:solidFill>
                <a:latin typeface="Consolas"/>
              </a:rPr>
              <a:t>String</a:t>
            </a:r>
            <a:r>
              <a:rPr lang="en-US">
                <a:solidFill>
                  <a:srgbClr val="000000"/>
                </a:solidFill>
                <a:latin typeface="Consolas"/>
              </a:rPr>
              <a:t>[] arguments) {</a:t>
            </a:r>
          </a:p>
          <a:p>
            <a:pPr lvl="0"/>
            <a:r>
              <a:rPr lang="en-US">
                <a:solidFill>
                  <a:srgbClr val="000000"/>
                </a:solidFill>
                <a:latin typeface="Consolas"/>
              </a:rPr>
              <a:t>        </a:t>
            </a:r>
            <a:r>
              <a:rPr lang="en-US">
                <a:solidFill>
                  <a:srgbClr val="000080"/>
                </a:solidFill>
                <a:latin typeface="Consolas"/>
              </a:rPr>
              <a:t>double </a:t>
            </a:r>
            <a:r>
              <a:rPr lang="en-US">
                <a:solidFill>
                  <a:srgbClr val="000000"/>
                </a:solidFill>
                <a:latin typeface="Consolas"/>
              </a:rPr>
              <a:t>hypotenuse = pythagoreanTheorem(</a:t>
            </a:r>
            <a:r>
              <a:rPr lang="en-US">
                <a:solidFill>
                  <a:srgbClr val="02B5B5"/>
                </a:solidFill>
                <a:latin typeface="Consolas"/>
              </a:rPr>
              <a:t>3</a:t>
            </a:r>
            <a:r>
              <a:rPr lang="en-US">
                <a:solidFill>
                  <a:srgbClr val="000000"/>
                </a:solidFill>
                <a:latin typeface="Consolas"/>
              </a:rPr>
              <a:t>.</a:t>
            </a:r>
            <a:r>
              <a:rPr lang="en-US">
                <a:solidFill>
                  <a:srgbClr val="02B5B5"/>
                </a:solidFill>
                <a:latin typeface="Consolas"/>
              </a:rPr>
              <a:t>0</a:t>
            </a:r>
            <a:r>
              <a:rPr lang="en-US">
                <a:solidFill>
                  <a:srgbClr val="000000"/>
                </a:solidFill>
                <a:latin typeface="Consolas"/>
              </a:rPr>
              <a:t>, </a:t>
            </a:r>
            <a:r>
              <a:rPr lang="en-US">
                <a:solidFill>
                  <a:srgbClr val="02B5B5"/>
                </a:solidFill>
                <a:latin typeface="Consolas"/>
              </a:rPr>
              <a:t>4</a:t>
            </a:r>
            <a:r>
              <a:rPr lang="en-US">
                <a:solidFill>
                  <a:srgbClr val="000000"/>
                </a:solidFill>
                <a:latin typeface="Consolas"/>
              </a:rPr>
              <a:t>.</a:t>
            </a:r>
            <a:r>
              <a:rPr lang="en-US">
                <a:solidFill>
                  <a:srgbClr val="02B5B5"/>
                </a:solidFill>
                <a:latin typeface="Consolas"/>
              </a:rPr>
              <a:t>0</a:t>
            </a:r>
            <a:r>
              <a:rPr lang="en-US">
                <a:solidFill>
                  <a:srgbClr val="000000"/>
                </a:solidFill>
                <a:latin typeface="Consolas"/>
              </a:rPr>
              <a:t>);</a:t>
            </a:r>
          </a:p>
          <a:p>
            <a:pPr lvl="0"/>
            <a:r>
              <a:rPr lang="en-US">
                <a:solidFill>
                  <a:srgbClr val="000000"/>
                </a:solidFill>
                <a:latin typeface="Consolas"/>
              </a:rPr>
              <a:t>        PRINT(hypotenuse);</a:t>
            </a:r>
          </a:p>
          <a:p>
            <a:pPr lvl="0"/>
            <a:r>
              <a:rPr lang="en-US">
                <a:solidFill>
                  <a:srgbClr val="000000"/>
                </a:solidFill>
                <a:latin typeface="Consolas"/>
              </a:rPr>
              <a:t>    }</a:t>
            </a:r>
          </a:p>
          <a:p>
            <a:pPr lvl="0"/>
            <a:r>
              <a:rPr lang="en-US">
                <a:solidFill>
                  <a:srgbClr val="000000"/>
                </a:solidFill>
                <a:latin typeface="Consolas"/>
              </a:rPr>
              <a:t>} </a:t>
            </a:r>
          </a:p>
        </p:txBody>
      </p:sp>
    </p:spTree>
    <p:extLst>
      <p:ext uri="{BB962C8B-B14F-4D97-AF65-F5344CB8AC3E}">
        <p14:creationId xmlns:p14="http://schemas.microsoft.com/office/powerpoint/2010/main" val="1080346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8BAB7-E711-CF03-9941-1634C1D8B11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91A77BF-E46E-1C97-94AB-9AD87A214CD6}"/>
              </a:ext>
            </a:extLst>
          </p:cNvPr>
          <p:cNvSpPr>
            <a:spLocks noGrp="1"/>
          </p:cNvSpPr>
          <p:nvPr>
            <p:ph type="title"/>
          </p:nvPr>
        </p:nvSpPr>
        <p:spPr/>
        <p:txBody>
          <a:bodyPr/>
          <a:lstStyle/>
          <a:p>
            <a:r>
              <a:rPr lang="en-US">
                <a:solidFill>
                  <a:srgbClr val="0000FF"/>
                </a:solidFill>
                <a:latin typeface="+mj-lt"/>
              </a:rPr>
              <a:t>assert</a:t>
            </a:r>
            <a:r>
              <a:rPr lang="en-US">
                <a:latin typeface="+mj-lt"/>
              </a:rPr>
              <a:t> </a:t>
            </a:r>
            <a:r>
              <a:rPr lang="en-US">
                <a:solidFill>
                  <a:schemeClr val="bg1">
                    <a:lumMod val="75000"/>
                  </a:schemeClr>
                </a:solidFill>
                <a:latin typeface="+mj-lt"/>
              </a:rPr>
              <a:t>condition</a:t>
            </a:r>
            <a:r>
              <a:rPr lang="en-US">
                <a:latin typeface="+mj-lt"/>
              </a:rPr>
              <a:t>;</a:t>
            </a:r>
            <a:r>
              <a:rPr lang="en-US"/>
              <a:t> (Java Java)</a:t>
            </a:r>
            <a:endParaRPr lang="en-US">
              <a:latin typeface="+mj-lt"/>
            </a:endParaRPr>
          </a:p>
        </p:txBody>
      </p:sp>
      <p:sp>
        <p:nvSpPr>
          <p:cNvPr id="4" name="Content Placeholder 3">
            <a:extLst>
              <a:ext uri="{FF2B5EF4-FFF2-40B4-BE49-F238E27FC236}">
                <a16:creationId xmlns:a16="http://schemas.microsoft.com/office/drawing/2014/main" id="{C6E3D98E-B1E0-FD91-950C-AD4CEC86564B}"/>
              </a:ext>
            </a:extLst>
          </p:cNvPr>
          <p:cNvSpPr>
            <a:spLocks noGrp="1"/>
          </p:cNvSpPr>
          <p:nvPr>
            <p:ph sz="quarter" idx="10"/>
          </p:nvPr>
        </p:nvSpPr>
        <p:spPr/>
        <p:txBody>
          <a:bodyPr/>
          <a:lstStyle/>
          <a:p>
            <a:r>
              <a:rPr lang="en-US" b="1"/>
              <a:t>☠ Java's asserts are actually disabled by default (wat)</a:t>
            </a:r>
          </a:p>
          <a:p>
            <a:pPr lvl="1"/>
            <a:r>
              <a:rPr lang="en-US" b="1"/>
              <a:t>you can enable them, but let's just use ASSERT</a:t>
            </a:r>
          </a:p>
          <a:p>
            <a:pPr marL="0" indent="0">
              <a:buNone/>
            </a:pPr>
            <a:endParaRPr lang="en-US"/>
          </a:p>
        </p:txBody>
      </p:sp>
    </p:spTree>
    <p:extLst>
      <p:ext uri="{BB962C8B-B14F-4D97-AF65-F5344CB8AC3E}">
        <p14:creationId xmlns:p14="http://schemas.microsoft.com/office/powerpoint/2010/main" val="84539726"/>
      </p:ext>
    </p:extLst>
  </p:cSld>
  <p:clrMapOvr>
    <a:masterClrMapping/>
  </p:clrMapOvr>
</p:sld>
</file>

<file path=ppt/slides/slide7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F1F75-BF5A-D20E-3384-0656D8BB7FD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4E350B5-5CED-705F-5D58-ADC0B05563A3}"/>
              </a:ext>
            </a:extLst>
          </p:cNvPr>
          <p:cNvSpPr>
            <a:spLocks noGrp="1"/>
          </p:cNvSpPr>
          <p:nvPr>
            <p:ph type="title"/>
          </p:nvPr>
        </p:nvSpPr>
        <p:spPr/>
        <p:txBody>
          <a:bodyPr/>
          <a:lstStyle/>
          <a:p>
            <a:r>
              <a:rPr lang="en-US">
                <a:latin typeface="+mj-lt"/>
              </a:rPr>
              <a:t>if</a:t>
            </a:r>
            <a:r>
              <a:rPr lang="en-US"/>
              <a:t> and </a:t>
            </a:r>
            <a:r>
              <a:rPr lang="en-US">
                <a:latin typeface="+mj-lt"/>
              </a:rPr>
              <a:t>else</a:t>
            </a:r>
          </a:p>
        </p:txBody>
      </p:sp>
    </p:spTree>
    <p:extLst>
      <p:ext uri="{BB962C8B-B14F-4D97-AF65-F5344CB8AC3E}">
        <p14:creationId xmlns:p14="http://schemas.microsoft.com/office/powerpoint/2010/main" val="3873020122"/>
      </p:ext>
    </p:extLst>
  </p:cSld>
  <p:clrMapOvr>
    <a:masterClrMapping/>
  </p:clrMapOvr>
</p:sld>
</file>

<file path=ppt/slides/slide7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F57F8-2FDE-F144-9C5B-A66589182D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5E2281-C089-3054-D11F-6CE22896365C}"/>
              </a:ext>
            </a:extLst>
          </p:cNvPr>
          <p:cNvSpPr>
            <a:spLocks noGrp="1"/>
          </p:cNvSpPr>
          <p:nvPr>
            <p:ph type="title"/>
          </p:nvPr>
        </p:nvSpPr>
        <p:spPr/>
        <p:txBody>
          <a:bodyPr/>
          <a:lstStyle/>
          <a:p>
            <a:r>
              <a:rPr lang="en-US">
                <a:solidFill>
                  <a:srgbClr val="0000FF"/>
                </a:solidFill>
                <a:latin typeface="+mj-lt"/>
              </a:rPr>
              <a:t>if</a:t>
            </a:r>
            <a:r>
              <a:rPr lang="en-US">
                <a:latin typeface="+mj-lt"/>
              </a:rPr>
              <a:t> (</a:t>
            </a:r>
            <a:r>
              <a:rPr lang="en-US">
                <a:solidFill>
                  <a:schemeClr val="bg1">
                    <a:lumMod val="75000"/>
                  </a:schemeClr>
                </a:solidFill>
                <a:latin typeface="+mj-lt"/>
              </a:rPr>
              <a:t>condition</a:t>
            </a:r>
            <a:r>
              <a:rPr lang="en-US">
                <a:latin typeface="+mj-lt"/>
              </a:rPr>
              <a:t>) { </a:t>
            </a:r>
            <a:r>
              <a:rPr lang="en-US">
                <a:solidFill>
                  <a:schemeClr val="bg1">
                    <a:lumMod val="75000"/>
                  </a:schemeClr>
                </a:solidFill>
                <a:latin typeface="+mj-lt"/>
              </a:rPr>
              <a:t>body</a:t>
            </a:r>
            <a:r>
              <a:rPr lang="en-US">
                <a:latin typeface="+mj-lt"/>
              </a:rPr>
              <a:t> }</a:t>
            </a:r>
          </a:p>
        </p:txBody>
      </p:sp>
      <p:sp>
        <p:nvSpPr>
          <p:cNvPr id="4" name="Content Placeholder 3">
            <a:extLst>
              <a:ext uri="{FF2B5EF4-FFF2-40B4-BE49-F238E27FC236}">
                <a16:creationId xmlns:a16="http://schemas.microsoft.com/office/drawing/2014/main" id="{A6E0AF50-62A5-E09E-C3F3-80BEA8130882}"/>
              </a:ext>
            </a:extLst>
          </p:cNvPr>
          <p:cNvSpPr>
            <a:spLocks noGrp="1"/>
          </p:cNvSpPr>
          <p:nvPr>
            <p:ph sz="quarter" idx="10"/>
          </p:nvPr>
        </p:nvSpPr>
        <p:spPr/>
        <p:txBody>
          <a:bodyPr/>
          <a:lstStyle/>
          <a:p>
            <a:r>
              <a:rPr lang="en-US"/>
              <a:t>an </a:t>
            </a:r>
            <a:r>
              <a:rPr lang="en-US" b="1"/>
              <a:t>if statement</a:t>
            </a:r>
            <a:r>
              <a:rPr lang="en-US"/>
              <a:t> lets a program make a decision</a:t>
            </a:r>
            <a:br>
              <a:rPr lang="en-US"/>
            </a:br>
            <a:r>
              <a:rPr lang="en-US"/>
              <a:t>(instead of just stepping down down down forever down)</a:t>
            </a:r>
          </a:p>
          <a:p>
            <a:endParaRPr lang="en-US"/>
          </a:p>
          <a:p>
            <a:endParaRPr lang="en-US"/>
          </a:p>
        </p:txBody>
      </p:sp>
      <p:sp>
        <p:nvSpPr>
          <p:cNvPr id="2" name="TextBox 1">
            <a:extLst>
              <a:ext uri="{FF2B5EF4-FFF2-40B4-BE49-F238E27FC236}">
                <a16:creationId xmlns:a16="http://schemas.microsoft.com/office/drawing/2014/main" id="{BE674C06-C346-A015-A359-91F58CE635A7}"/>
              </a:ext>
            </a:extLst>
          </p:cNvPr>
          <p:cNvSpPr txBox="1"/>
          <p:nvPr/>
        </p:nvSpPr>
        <p:spPr>
          <a:xfrm>
            <a:off x="457200" y="1668541"/>
            <a:ext cx="8229600" cy="1477328"/>
          </a:xfrm>
          <a:prstGeom prst="rect">
            <a:avLst/>
          </a:prstGeom>
          <a:solidFill>
            <a:schemeClr val="bg1"/>
          </a:solidFill>
          <a:ln>
            <a:solidFill>
              <a:schemeClr val="tx1"/>
            </a:solidFill>
          </a:ln>
        </p:spPr>
        <p:txBody>
          <a:bodyPr wrap="square" rtlCol="0">
            <a:spAutoFit/>
          </a:bodyPr>
          <a:lstStyle/>
          <a:p>
            <a:pPr lvl="0"/>
            <a:r>
              <a:rPr lang="en-US">
                <a:solidFill>
                  <a:srgbClr val="000080"/>
                </a:solidFill>
                <a:latin typeface="Consolas"/>
              </a:rPr>
              <a:t>int </a:t>
            </a:r>
            <a:r>
              <a:rPr lang="en-US">
                <a:solidFill>
                  <a:srgbClr val="000000"/>
                </a:solidFill>
                <a:latin typeface="Consolas"/>
              </a:rPr>
              <a:t>choice = getIntFromUser();</a:t>
            </a:r>
          </a:p>
          <a:p>
            <a:pPr lvl="0"/>
            <a:endParaRPr lang="en-US">
              <a:solidFill>
                <a:srgbClr val="000080"/>
              </a:solidFill>
              <a:latin typeface="Consolas"/>
            </a:endParaRPr>
          </a:p>
          <a:p>
            <a:pPr lvl="0"/>
            <a:r>
              <a:rPr lang="en-US">
                <a:solidFill>
                  <a:srgbClr val="0000FF"/>
                </a:solidFill>
                <a:latin typeface="Consolas"/>
              </a:rPr>
              <a:t>if </a:t>
            </a:r>
            <a:r>
              <a:rPr lang="en-US">
                <a:solidFill>
                  <a:srgbClr val="000000"/>
                </a:solidFill>
                <a:latin typeface="Consolas"/>
              </a:rPr>
              <a:t>(choice == 0) {</a:t>
            </a:r>
          </a:p>
          <a:p>
            <a:pPr lvl="0"/>
            <a:r>
              <a:rPr lang="en-US">
                <a:solidFill>
                  <a:srgbClr val="000000"/>
                </a:solidFill>
                <a:latin typeface="Consolas"/>
              </a:rPr>
              <a:t>    </a:t>
            </a:r>
            <a:r>
              <a:rPr lang="en-US">
                <a:solidFill>
                  <a:srgbClr val="000080"/>
                </a:solidFill>
                <a:latin typeface="Consolas"/>
                <a:ea typeface="Segoe UI Emoji" panose="020B0502040204020203" pitchFamily="34" charset="0"/>
              </a:rPr>
              <a:t>PRINT</a:t>
            </a:r>
            <a:r>
              <a:rPr lang="en-US">
                <a:latin typeface="Consolas"/>
                <a:ea typeface="Segoe UI Emoji" panose="020B0502040204020203" pitchFamily="34" charset="0"/>
              </a:rPr>
              <a:t>(</a:t>
            </a:r>
            <a:r>
              <a:rPr lang="en-US">
                <a:solidFill>
                  <a:srgbClr val="B71111"/>
                </a:solidFill>
                <a:latin typeface="Consolas"/>
                <a:ea typeface="Segoe UI Emoji" panose="020B0502040204020203" pitchFamily="34" charset="0"/>
              </a:rPr>
              <a:t>"The user chose 0. What a fine choice"</a:t>
            </a:r>
            <a:r>
              <a:rPr lang="en-US">
                <a:latin typeface="Consolas"/>
                <a:ea typeface="Segoe UI Emoji" panose="020B0502040204020203" pitchFamily="34" charset="0"/>
              </a:rPr>
              <a:t>);</a:t>
            </a:r>
            <a:endParaRPr lang="en-US">
              <a:latin typeface="Consolas"/>
            </a:endParaRPr>
          </a:p>
          <a:p>
            <a:pPr lvl="0"/>
            <a:r>
              <a:rPr lang="en-US">
                <a:solidFill>
                  <a:srgbClr val="000000"/>
                </a:solidFill>
                <a:latin typeface="Consolas"/>
              </a:rPr>
              <a:t>}</a:t>
            </a:r>
            <a:endParaRPr lang="en-US">
              <a:latin typeface="+mj-lt"/>
            </a:endParaRPr>
          </a:p>
        </p:txBody>
      </p:sp>
    </p:spTree>
    <p:extLst>
      <p:ext uri="{BB962C8B-B14F-4D97-AF65-F5344CB8AC3E}">
        <p14:creationId xmlns:p14="http://schemas.microsoft.com/office/powerpoint/2010/main" val="2765340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D37EF-E95A-C9DF-9303-A3798D6CD16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B8E3028-50AB-D9B1-89F0-2194F25239BC}"/>
              </a:ext>
            </a:extLst>
          </p:cNvPr>
          <p:cNvSpPr>
            <a:spLocks noGrp="1"/>
          </p:cNvSpPr>
          <p:nvPr>
            <p:ph type="title"/>
          </p:nvPr>
        </p:nvSpPr>
        <p:spPr/>
        <p:txBody>
          <a:bodyPr>
            <a:noAutofit/>
          </a:bodyPr>
          <a:lstStyle/>
          <a:p>
            <a:r>
              <a:rPr lang="en-US" sz="2800">
                <a:solidFill>
                  <a:srgbClr val="0000FF"/>
                </a:solidFill>
                <a:latin typeface="+mj-lt"/>
              </a:rPr>
              <a:t>if</a:t>
            </a:r>
            <a:r>
              <a:rPr lang="en-US" sz="2800">
                <a:latin typeface="+mj-lt"/>
              </a:rPr>
              <a:t> (</a:t>
            </a:r>
            <a:r>
              <a:rPr lang="en-US" sz="2800">
                <a:solidFill>
                  <a:schemeClr val="bg1">
                    <a:lumMod val="75000"/>
                  </a:schemeClr>
                </a:solidFill>
                <a:latin typeface="+mj-lt"/>
              </a:rPr>
              <a:t>...</a:t>
            </a:r>
            <a:r>
              <a:rPr lang="en-US" sz="2800">
                <a:latin typeface="+mj-lt"/>
              </a:rPr>
              <a:t>) { </a:t>
            </a:r>
            <a:r>
              <a:rPr lang="en-US" sz="2800">
                <a:solidFill>
                  <a:schemeClr val="bg1">
                    <a:lumMod val="75000"/>
                  </a:schemeClr>
                </a:solidFill>
                <a:latin typeface="+mj-lt"/>
              </a:rPr>
              <a:t>if-body</a:t>
            </a:r>
            <a:r>
              <a:rPr lang="en-US" sz="2800">
                <a:latin typeface="+mj-lt"/>
              </a:rPr>
              <a:t> } </a:t>
            </a:r>
            <a:r>
              <a:rPr lang="en-US" sz="2800">
                <a:solidFill>
                  <a:srgbClr val="0000FF"/>
                </a:solidFill>
                <a:latin typeface="+mj-lt"/>
              </a:rPr>
              <a:t>else </a:t>
            </a:r>
            <a:r>
              <a:rPr lang="en-US" sz="2800">
                <a:latin typeface="+mj-lt"/>
              </a:rPr>
              <a:t>{ </a:t>
            </a:r>
            <a:r>
              <a:rPr lang="en-US" sz="2800">
                <a:solidFill>
                  <a:schemeClr val="bg1">
                    <a:lumMod val="75000"/>
                  </a:schemeClr>
                </a:solidFill>
                <a:latin typeface="+mj-lt"/>
              </a:rPr>
              <a:t>else-body</a:t>
            </a:r>
            <a:r>
              <a:rPr lang="en-US" sz="2800">
                <a:latin typeface="+mj-lt"/>
              </a:rPr>
              <a:t> } </a:t>
            </a:r>
          </a:p>
        </p:txBody>
      </p:sp>
      <p:sp>
        <p:nvSpPr>
          <p:cNvPr id="4" name="Content Placeholder 3">
            <a:extLst>
              <a:ext uri="{FF2B5EF4-FFF2-40B4-BE49-F238E27FC236}">
                <a16:creationId xmlns:a16="http://schemas.microsoft.com/office/drawing/2014/main" id="{D0EE73CD-808F-2C42-7E45-342C53F29615}"/>
              </a:ext>
            </a:extLst>
          </p:cNvPr>
          <p:cNvSpPr>
            <a:spLocks noGrp="1"/>
          </p:cNvSpPr>
          <p:nvPr>
            <p:ph sz="quarter" idx="10"/>
          </p:nvPr>
        </p:nvSpPr>
        <p:spPr/>
        <p:txBody>
          <a:bodyPr/>
          <a:lstStyle/>
          <a:p>
            <a:r>
              <a:rPr lang="en-US"/>
              <a:t>the body of an </a:t>
            </a:r>
            <a:r>
              <a:rPr lang="en-US" b="1"/>
              <a:t>else statement</a:t>
            </a:r>
            <a:r>
              <a:rPr lang="en-US"/>
              <a:t> is executed if its corresponding if statement's condition is false</a:t>
            </a:r>
          </a:p>
          <a:p>
            <a:endParaRPr lang="en-US"/>
          </a:p>
        </p:txBody>
      </p:sp>
      <p:sp>
        <p:nvSpPr>
          <p:cNvPr id="2" name="TextBox 1">
            <a:extLst>
              <a:ext uri="{FF2B5EF4-FFF2-40B4-BE49-F238E27FC236}">
                <a16:creationId xmlns:a16="http://schemas.microsoft.com/office/drawing/2014/main" id="{0220E246-B6D1-0B99-8C8D-022002F7097D}"/>
              </a:ext>
            </a:extLst>
          </p:cNvPr>
          <p:cNvSpPr txBox="1"/>
          <p:nvPr/>
        </p:nvSpPr>
        <p:spPr>
          <a:xfrm>
            <a:off x="457200" y="1668541"/>
            <a:ext cx="8229600" cy="2308324"/>
          </a:xfrm>
          <a:prstGeom prst="rect">
            <a:avLst/>
          </a:prstGeom>
          <a:solidFill>
            <a:schemeClr val="bg1"/>
          </a:solidFill>
          <a:ln>
            <a:solidFill>
              <a:schemeClr val="tx1"/>
            </a:solidFill>
          </a:ln>
        </p:spPr>
        <p:txBody>
          <a:bodyPr wrap="square" rtlCol="0">
            <a:spAutoFit/>
          </a:bodyPr>
          <a:lstStyle/>
          <a:p>
            <a:pPr lvl="0"/>
            <a:r>
              <a:rPr lang="en-US">
                <a:solidFill>
                  <a:srgbClr val="000080"/>
                </a:solidFill>
                <a:latin typeface="Consolas"/>
              </a:rPr>
              <a:t>int </a:t>
            </a:r>
            <a:r>
              <a:rPr lang="en-US">
                <a:solidFill>
                  <a:srgbClr val="000000"/>
                </a:solidFill>
                <a:latin typeface="Consolas"/>
              </a:rPr>
              <a:t>choice = getIntFromUser();</a:t>
            </a:r>
          </a:p>
          <a:p>
            <a:pPr lvl="0"/>
            <a:endParaRPr lang="en-US">
              <a:solidFill>
                <a:srgbClr val="000080"/>
              </a:solidFill>
              <a:latin typeface="Consolas"/>
            </a:endParaRPr>
          </a:p>
          <a:p>
            <a:pPr lvl="0"/>
            <a:r>
              <a:rPr lang="en-US">
                <a:solidFill>
                  <a:srgbClr val="0000FF"/>
                </a:solidFill>
                <a:latin typeface="Consolas"/>
              </a:rPr>
              <a:t>if </a:t>
            </a:r>
            <a:r>
              <a:rPr lang="en-US">
                <a:solidFill>
                  <a:srgbClr val="000000"/>
                </a:solidFill>
                <a:latin typeface="Consolas"/>
              </a:rPr>
              <a:t>(choice == 0) {</a:t>
            </a:r>
          </a:p>
          <a:p>
            <a:pPr lvl="0"/>
            <a:r>
              <a:rPr lang="en-US">
                <a:solidFill>
                  <a:srgbClr val="000000"/>
                </a:solidFill>
                <a:latin typeface="Consolas"/>
              </a:rPr>
              <a:t>    </a:t>
            </a:r>
            <a:r>
              <a:rPr lang="en-US">
                <a:solidFill>
                  <a:srgbClr val="000080"/>
                </a:solidFill>
                <a:latin typeface="Consolas"/>
                <a:ea typeface="Segoe UI Emoji" panose="020B0502040204020203" pitchFamily="34" charset="0"/>
              </a:rPr>
              <a:t>PRINT</a:t>
            </a:r>
            <a:r>
              <a:rPr lang="en-US">
                <a:latin typeface="Consolas"/>
                <a:ea typeface="Segoe UI Emoji" panose="020B0502040204020203" pitchFamily="34" charset="0"/>
              </a:rPr>
              <a:t>(</a:t>
            </a:r>
            <a:r>
              <a:rPr lang="en-US">
                <a:solidFill>
                  <a:srgbClr val="B71111"/>
                </a:solidFill>
                <a:latin typeface="Consolas"/>
                <a:ea typeface="Segoe UI Emoji" panose="020B0502040204020203" pitchFamily="34" charset="0"/>
              </a:rPr>
              <a:t>"The user chose 0. What a fine choice"</a:t>
            </a:r>
            <a:r>
              <a:rPr lang="en-US">
                <a:latin typeface="Consolas"/>
                <a:ea typeface="Segoe UI Emoji" panose="020B0502040204020203" pitchFamily="34" charset="0"/>
              </a:rPr>
              <a:t>);</a:t>
            </a:r>
            <a:endParaRPr lang="en-US">
              <a:latin typeface="Consolas"/>
            </a:endParaRPr>
          </a:p>
          <a:p>
            <a:pPr lvl="0"/>
            <a:r>
              <a:rPr lang="en-US">
                <a:solidFill>
                  <a:srgbClr val="000000"/>
                </a:solidFill>
                <a:latin typeface="Consolas"/>
              </a:rPr>
              <a:t>} </a:t>
            </a:r>
            <a:r>
              <a:rPr lang="en-US">
                <a:solidFill>
                  <a:srgbClr val="0000FF"/>
                </a:solidFill>
                <a:latin typeface="Consolas"/>
              </a:rPr>
              <a:t>else </a:t>
            </a:r>
            <a:r>
              <a:rPr lang="en-US">
                <a:latin typeface="Consolas"/>
              </a:rPr>
              <a:t>{</a:t>
            </a:r>
          </a:p>
          <a:p>
            <a:r>
              <a:rPr lang="en-US">
                <a:solidFill>
                  <a:srgbClr val="000000"/>
                </a:solidFill>
                <a:latin typeface="Consolas"/>
              </a:rPr>
              <a:t>    </a:t>
            </a:r>
            <a:r>
              <a:rPr lang="en-US">
                <a:solidFill>
                  <a:srgbClr val="000080"/>
                </a:solidFill>
                <a:latin typeface="Consolas"/>
                <a:ea typeface="Segoe UI Emoji" panose="020B0502040204020203" pitchFamily="34" charset="0"/>
              </a:rPr>
              <a:t>PRINT</a:t>
            </a:r>
            <a:r>
              <a:rPr lang="en-US">
                <a:latin typeface="Consolas"/>
                <a:ea typeface="Segoe UI Emoji" panose="020B0502040204020203" pitchFamily="34" charset="0"/>
              </a:rPr>
              <a:t>(</a:t>
            </a:r>
            <a:r>
              <a:rPr lang="en-US">
                <a:solidFill>
                  <a:srgbClr val="B71111"/>
                </a:solidFill>
                <a:latin typeface="Consolas"/>
                <a:ea typeface="Segoe UI Emoji" panose="020B0502040204020203" pitchFamily="34" charset="0"/>
              </a:rPr>
              <a:t>"The user did not choose 0."</a:t>
            </a:r>
            <a:r>
              <a:rPr lang="en-US">
                <a:latin typeface="Consolas"/>
                <a:ea typeface="Segoe UI Emoji" panose="020B0502040204020203" pitchFamily="34" charset="0"/>
              </a:rPr>
              <a:t>);</a:t>
            </a:r>
          </a:p>
          <a:p>
            <a:r>
              <a:rPr lang="en-US">
                <a:solidFill>
                  <a:srgbClr val="000080"/>
                </a:solidFill>
                <a:latin typeface="Consolas"/>
                <a:ea typeface="Segoe UI Emoji" panose="020B0502040204020203" pitchFamily="34" charset="0"/>
              </a:rPr>
              <a:t>    PRINT</a:t>
            </a:r>
            <a:r>
              <a:rPr lang="en-US">
                <a:latin typeface="Consolas"/>
                <a:ea typeface="Segoe UI Emoji" panose="020B0502040204020203" pitchFamily="34" charset="0"/>
              </a:rPr>
              <a:t>(</a:t>
            </a:r>
            <a:r>
              <a:rPr lang="en-US">
                <a:solidFill>
                  <a:srgbClr val="B71111"/>
                </a:solidFill>
                <a:latin typeface="Consolas"/>
                <a:ea typeface="Segoe UI Emoji" panose="020B0502040204020203" pitchFamily="34" charset="0"/>
              </a:rPr>
              <a:t>"How avant-garde!"</a:t>
            </a:r>
            <a:r>
              <a:rPr lang="en-US">
                <a:latin typeface="Consolas"/>
                <a:ea typeface="Segoe UI Emoji" panose="020B0502040204020203" pitchFamily="34" charset="0"/>
              </a:rPr>
              <a:t>);</a:t>
            </a:r>
            <a:endParaRPr lang="en-US">
              <a:latin typeface="Consolas"/>
            </a:endParaRPr>
          </a:p>
          <a:p>
            <a:pPr lvl="0"/>
            <a:r>
              <a:rPr lang="en-US">
                <a:latin typeface="Consolas"/>
              </a:rPr>
              <a:t>}</a:t>
            </a:r>
            <a:endParaRPr lang="en-US"/>
          </a:p>
        </p:txBody>
      </p:sp>
    </p:spTree>
    <p:extLst>
      <p:ext uri="{BB962C8B-B14F-4D97-AF65-F5344CB8AC3E}">
        <p14:creationId xmlns:p14="http://schemas.microsoft.com/office/powerpoint/2010/main" val="3524484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75D5F-9A8A-C3C6-A0E8-C3C25C0820C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BB5E16E-E7B3-0323-2CB8-6DDDD945BA74}"/>
              </a:ext>
            </a:extLst>
          </p:cNvPr>
          <p:cNvSpPr>
            <a:spLocks noGrp="1"/>
          </p:cNvSpPr>
          <p:nvPr>
            <p:ph type="title"/>
          </p:nvPr>
        </p:nvSpPr>
        <p:spPr/>
        <p:txBody>
          <a:bodyPr>
            <a:noAutofit/>
          </a:bodyPr>
          <a:lstStyle/>
          <a:p>
            <a:r>
              <a:rPr lang="en-US" sz="2000">
                <a:solidFill>
                  <a:srgbClr val="0000FF"/>
                </a:solidFill>
                <a:latin typeface="+mj-lt"/>
              </a:rPr>
              <a:t>if</a:t>
            </a:r>
            <a:r>
              <a:rPr lang="en-US" sz="2000">
                <a:latin typeface="+mj-lt"/>
              </a:rPr>
              <a:t> (</a:t>
            </a:r>
            <a:r>
              <a:rPr lang="en-US" sz="2000">
                <a:solidFill>
                  <a:schemeClr val="bg1">
                    <a:lumMod val="75000"/>
                  </a:schemeClr>
                </a:solidFill>
                <a:latin typeface="+mj-lt"/>
              </a:rPr>
              <a:t>...</a:t>
            </a:r>
            <a:r>
              <a:rPr lang="en-US" sz="2000">
                <a:latin typeface="+mj-lt"/>
              </a:rPr>
              <a:t>) { </a:t>
            </a:r>
            <a:r>
              <a:rPr lang="en-US" sz="2000">
                <a:solidFill>
                  <a:schemeClr val="bg1">
                    <a:lumMod val="75000"/>
                  </a:schemeClr>
                </a:solidFill>
                <a:latin typeface="+mj-lt"/>
              </a:rPr>
              <a:t>...</a:t>
            </a:r>
            <a:r>
              <a:rPr lang="en-US" sz="2000">
                <a:latin typeface="+mj-lt"/>
              </a:rPr>
              <a:t> } </a:t>
            </a:r>
            <a:r>
              <a:rPr lang="en-US" sz="2000">
                <a:solidFill>
                  <a:srgbClr val="0000FF"/>
                </a:solidFill>
                <a:latin typeface="+mj-lt"/>
              </a:rPr>
              <a:t>else if </a:t>
            </a:r>
            <a:r>
              <a:rPr lang="en-US" sz="2000">
                <a:latin typeface="+mj-lt"/>
              </a:rPr>
              <a:t>(</a:t>
            </a:r>
            <a:r>
              <a:rPr lang="en-US" sz="2000">
                <a:solidFill>
                  <a:schemeClr val="bg1">
                    <a:lumMod val="75000"/>
                  </a:schemeClr>
                </a:solidFill>
                <a:latin typeface="+mj-lt"/>
              </a:rPr>
              <a:t>...</a:t>
            </a:r>
            <a:r>
              <a:rPr lang="en-US" sz="2000">
                <a:latin typeface="+mj-lt"/>
              </a:rPr>
              <a:t>) { </a:t>
            </a:r>
            <a:r>
              <a:rPr lang="en-US" sz="2000">
                <a:solidFill>
                  <a:schemeClr val="bg1">
                    <a:lumMod val="75000"/>
                  </a:schemeClr>
                </a:solidFill>
                <a:latin typeface="+mj-lt"/>
              </a:rPr>
              <a:t>...</a:t>
            </a:r>
            <a:r>
              <a:rPr lang="en-US" sz="2000">
                <a:latin typeface="+mj-lt"/>
              </a:rPr>
              <a:t> } </a:t>
            </a:r>
            <a:r>
              <a:rPr lang="en-US" sz="2000">
                <a:solidFill>
                  <a:schemeClr val="bg1">
                    <a:lumMod val="75000"/>
                  </a:schemeClr>
                </a:solidFill>
                <a:latin typeface="+mj-lt"/>
              </a:rPr>
              <a:t>...</a:t>
            </a:r>
            <a:r>
              <a:rPr lang="en-US" sz="2000">
                <a:solidFill>
                  <a:srgbClr val="0000FF"/>
                </a:solidFill>
                <a:latin typeface="+mj-lt"/>
              </a:rPr>
              <a:t> else </a:t>
            </a:r>
            <a:r>
              <a:rPr lang="en-US" sz="2000">
                <a:latin typeface="+mj-lt"/>
              </a:rPr>
              <a:t>{ </a:t>
            </a:r>
            <a:r>
              <a:rPr lang="en-US" sz="2000">
                <a:solidFill>
                  <a:schemeClr val="bg1">
                    <a:lumMod val="75000"/>
                  </a:schemeClr>
                </a:solidFill>
                <a:latin typeface="+mj-lt"/>
              </a:rPr>
              <a:t>...</a:t>
            </a:r>
            <a:r>
              <a:rPr lang="en-US" sz="2000">
                <a:latin typeface="+mj-lt"/>
              </a:rPr>
              <a:t> } </a:t>
            </a:r>
          </a:p>
        </p:txBody>
      </p:sp>
      <p:sp>
        <p:nvSpPr>
          <p:cNvPr id="4" name="Content Placeholder 3">
            <a:extLst>
              <a:ext uri="{FF2B5EF4-FFF2-40B4-BE49-F238E27FC236}">
                <a16:creationId xmlns:a16="http://schemas.microsoft.com/office/drawing/2014/main" id="{21FA1CBE-03C6-D02B-7FFD-BED3AAD709BF}"/>
              </a:ext>
            </a:extLst>
          </p:cNvPr>
          <p:cNvSpPr>
            <a:spLocks noGrp="1"/>
          </p:cNvSpPr>
          <p:nvPr>
            <p:ph sz="quarter" idx="10"/>
          </p:nvPr>
        </p:nvSpPr>
        <p:spPr/>
        <p:txBody>
          <a:bodyPr/>
          <a:lstStyle/>
          <a:p>
            <a:r>
              <a:rPr lang="en-US"/>
              <a:t>if and else statements can be chained together</a:t>
            </a:r>
          </a:p>
          <a:p>
            <a:pPr lvl="1"/>
            <a:r>
              <a:rPr lang="en-US"/>
              <a:t>this is great for decisions with many options</a:t>
            </a:r>
          </a:p>
          <a:p>
            <a:endParaRPr lang="en-US"/>
          </a:p>
        </p:txBody>
      </p:sp>
      <p:sp>
        <p:nvSpPr>
          <p:cNvPr id="2" name="TextBox 1">
            <a:extLst>
              <a:ext uri="{FF2B5EF4-FFF2-40B4-BE49-F238E27FC236}">
                <a16:creationId xmlns:a16="http://schemas.microsoft.com/office/drawing/2014/main" id="{C236C99D-0F11-101B-24D9-3AFC807B57BF}"/>
              </a:ext>
            </a:extLst>
          </p:cNvPr>
          <p:cNvSpPr txBox="1"/>
          <p:nvPr/>
        </p:nvSpPr>
        <p:spPr>
          <a:xfrm>
            <a:off x="457200" y="1749263"/>
            <a:ext cx="8229600" cy="3139321"/>
          </a:xfrm>
          <a:prstGeom prst="rect">
            <a:avLst/>
          </a:prstGeom>
          <a:solidFill>
            <a:schemeClr val="bg1"/>
          </a:solidFill>
          <a:ln>
            <a:solidFill>
              <a:schemeClr val="tx1"/>
            </a:solidFill>
          </a:ln>
        </p:spPr>
        <p:txBody>
          <a:bodyPr wrap="square" rtlCol="0">
            <a:spAutoFit/>
          </a:bodyPr>
          <a:lstStyle/>
          <a:p>
            <a:pPr marL="0" indent="0">
              <a:buNone/>
            </a:pPr>
            <a:r>
              <a:rPr lang="en-US">
                <a:solidFill>
                  <a:srgbClr val="000080"/>
                </a:solidFill>
                <a:latin typeface="+mj-lt"/>
              </a:rPr>
              <a:t>int </a:t>
            </a:r>
            <a:r>
              <a:rPr lang="en-US">
                <a:latin typeface="+mj-lt"/>
              </a:rPr>
              <a:t>choice = getIntFromUser();</a:t>
            </a:r>
          </a:p>
          <a:p>
            <a:pPr marL="0" indent="0">
              <a:buNone/>
            </a:pPr>
            <a:endParaRPr lang="en-US">
              <a:solidFill>
                <a:srgbClr val="000080"/>
              </a:solidFill>
              <a:latin typeface="+mj-lt"/>
            </a:endParaRPr>
          </a:p>
          <a:p>
            <a:r>
              <a:rPr lang="en-US">
                <a:solidFill>
                  <a:srgbClr val="0000FF"/>
                </a:solidFill>
                <a:latin typeface="+mj-lt"/>
              </a:rPr>
              <a:t>if </a:t>
            </a:r>
            <a:r>
              <a:rPr lang="en-US">
                <a:solidFill>
                  <a:srgbClr val="000000"/>
                </a:solidFill>
                <a:latin typeface="+mj-lt"/>
              </a:rPr>
              <a:t>(choice == 0) {</a:t>
            </a:r>
          </a:p>
          <a:p>
            <a:pPr lvl="0"/>
            <a:r>
              <a:rPr lang="en-US">
                <a:solidFill>
                  <a:srgbClr val="000000"/>
                </a:solidFill>
                <a:latin typeface="+mj-lt"/>
              </a:rPr>
              <a:t>    </a:t>
            </a:r>
            <a:r>
              <a:rPr lang="en-US">
                <a:solidFill>
                  <a:srgbClr val="FFFFFF">
                    <a:lumMod val="75000"/>
                  </a:srgbClr>
                </a:solidFill>
                <a:latin typeface="+mj-lt"/>
                <a:ea typeface="Segoe UI Emoji" panose="020B0502040204020203" pitchFamily="34" charset="0"/>
                <a:cs typeface="+mj-cs"/>
              </a:rPr>
              <a:t>...</a:t>
            </a:r>
            <a:endParaRPr lang="en-US">
              <a:latin typeface="+mj-lt"/>
            </a:endParaRPr>
          </a:p>
          <a:p>
            <a:r>
              <a:rPr lang="en-US">
                <a:latin typeface="+mj-lt"/>
              </a:rPr>
              <a:t>}</a:t>
            </a:r>
            <a:r>
              <a:rPr lang="en-US">
                <a:solidFill>
                  <a:srgbClr val="0000FF"/>
                </a:solidFill>
                <a:latin typeface="+mj-lt"/>
              </a:rPr>
              <a:t> else if </a:t>
            </a:r>
            <a:r>
              <a:rPr lang="en-US">
                <a:solidFill>
                  <a:srgbClr val="000000"/>
                </a:solidFill>
                <a:latin typeface="+mj-lt"/>
              </a:rPr>
              <a:t>(choice == 1) {</a:t>
            </a:r>
          </a:p>
          <a:p>
            <a:r>
              <a:rPr lang="en-US">
                <a:solidFill>
                  <a:srgbClr val="FFFFFF">
                    <a:lumMod val="75000"/>
                  </a:srgbClr>
                </a:solidFill>
                <a:latin typeface="+mj-lt"/>
                <a:ea typeface="Segoe UI Emoji" panose="020B0502040204020203" pitchFamily="34" charset="0"/>
              </a:rPr>
              <a:t>    ...</a:t>
            </a:r>
            <a:endParaRPr lang="en-US">
              <a:solidFill>
                <a:srgbClr val="000000"/>
              </a:solidFill>
              <a:latin typeface="+mj-lt"/>
            </a:endParaRPr>
          </a:p>
          <a:p>
            <a:r>
              <a:rPr lang="en-US">
                <a:latin typeface="+mj-lt"/>
              </a:rPr>
              <a:t>}</a:t>
            </a:r>
            <a:r>
              <a:rPr lang="en-US">
                <a:solidFill>
                  <a:srgbClr val="0000FF"/>
                </a:solidFill>
                <a:latin typeface="+mj-lt"/>
              </a:rPr>
              <a:t> else if </a:t>
            </a:r>
            <a:r>
              <a:rPr lang="en-US">
                <a:solidFill>
                  <a:srgbClr val="000000"/>
                </a:solidFill>
                <a:latin typeface="+mj-lt"/>
              </a:rPr>
              <a:t>(choice == 2) {</a:t>
            </a:r>
          </a:p>
          <a:p>
            <a:r>
              <a:rPr lang="en-US">
                <a:solidFill>
                  <a:srgbClr val="FFFFFF">
                    <a:lumMod val="75000"/>
                  </a:srgbClr>
                </a:solidFill>
                <a:latin typeface="+mj-lt"/>
                <a:ea typeface="Segoe UI Emoji" panose="020B0502040204020203" pitchFamily="34" charset="0"/>
              </a:rPr>
              <a:t>    ...</a:t>
            </a:r>
            <a:endParaRPr lang="en-US">
              <a:solidFill>
                <a:srgbClr val="000000"/>
              </a:solidFill>
              <a:latin typeface="+mj-lt"/>
            </a:endParaRPr>
          </a:p>
          <a:p>
            <a:r>
              <a:rPr lang="en-US">
                <a:latin typeface="+mj-lt"/>
              </a:rPr>
              <a:t>}</a:t>
            </a:r>
            <a:r>
              <a:rPr lang="en-US">
                <a:solidFill>
                  <a:srgbClr val="0000FF"/>
                </a:solidFill>
                <a:latin typeface="+mj-lt"/>
              </a:rPr>
              <a:t> else </a:t>
            </a:r>
            <a:r>
              <a:rPr lang="en-US">
                <a:solidFill>
                  <a:srgbClr val="000000"/>
                </a:solidFill>
                <a:latin typeface="+mj-lt"/>
              </a:rPr>
              <a:t>{</a:t>
            </a:r>
          </a:p>
          <a:p>
            <a:r>
              <a:rPr lang="en-US">
                <a:solidFill>
                  <a:srgbClr val="FFFFFF">
                    <a:lumMod val="75000"/>
                  </a:srgbClr>
                </a:solidFill>
                <a:latin typeface="+mj-lt"/>
                <a:ea typeface="Segoe UI Emoji" panose="020B0502040204020203" pitchFamily="34" charset="0"/>
              </a:rPr>
              <a:t>    </a:t>
            </a:r>
            <a:r>
              <a:rPr lang="en-US">
                <a:latin typeface="+mj-lt"/>
                <a:ea typeface="Segoe UI Emoji" panose="020B0502040204020203" pitchFamily="34" charset="0"/>
              </a:rPr>
              <a:t>ASSERT(</a:t>
            </a:r>
            <a:r>
              <a:rPr lang="en-US">
                <a:solidFill>
                  <a:srgbClr val="0000FF"/>
                </a:solidFill>
                <a:latin typeface="+mj-lt"/>
                <a:ea typeface="Segoe UI Emoji" panose="020B0502040204020203" pitchFamily="34" charset="0"/>
              </a:rPr>
              <a:t>false)</a:t>
            </a:r>
            <a:r>
              <a:rPr lang="en-US">
                <a:latin typeface="+mj-lt"/>
                <a:ea typeface="Segoe UI Emoji" panose="020B0502040204020203" pitchFamily="34" charset="0"/>
              </a:rPr>
              <a:t>;</a:t>
            </a:r>
            <a:endParaRPr lang="en-US">
              <a:latin typeface="+mj-lt"/>
            </a:endParaRPr>
          </a:p>
          <a:p>
            <a:r>
              <a:rPr lang="en-US">
                <a:solidFill>
                  <a:srgbClr val="000000"/>
                </a:solidFill>
                <a:latin typeface="+mj-lt"/>
              </a:rPr>
              <a:t>}</a:t>
            </a:r>
          </a:p>
        </p:txBody>
      </p:sp>
    </p:spTree>
    <p:extLst>
      <p:ext uri="{BB962C8B-B14F-4D97-AF65-F5344CB8AC3E}">
        <p14:creationId xmlns:p14="http://schemas.microsoft.com/office/powerpoint/2010/main" val="3179043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728BC-D7A8-E45B-727B-52C51198965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5128B68-A71E-C420-413E-7971E59CC0A7}"/>
              </a:ext>
            </a:extLst>
          </p:cNvPr>
          <p:cNvSpPr>
            <a:spLocks noGrp="1"/>
          </p:cNvSpPr>
          <p:nvPr>
            <p:ph type="title"/>
          </p:nvPr>
        </p:nvSpPr>
        <p:spPr/>
        <p:txBody>
          <a:bodyPr/>
          <a:lstStyle/>
          <a:p>
            <a:r>
              <a:rPr lang="en-US">
                <a:latin typeface="+mj-lt"/>
              </a:rPr>
              <a:t>while</a:t>
            </a:r>
            <a:r>
              <a:rPr lang="en-US"/>
              <a:t> and </a:t>
            </a:r>
            <a:r>
              <a:rPr lang="en-US">
                <a:latin typeface="+mj-lt"/>
              </a:rPr>
              <a:t>do...while</a:t>
            </a:r>
          </a:p>
        </p:txBody>
      </p:sp>
    </p:spTree>
    <p:extLst>
      <p:ext uri="{BB962C8B-B14F-4D97-AF65-F5344CB8AC3E}">
        <p14:creationId xmlns:p14="http://schemas.microsoft.com/office/powerpoint/2010/main" val="1171350007"/>
      </p:ext>
    </p:extLst>
  </p:cSld>
  <p:clrMapOvr>
    <a:masterClrMapping/>
  </p:clrMapOvr>
</p:sld>
</file>

<file path=ppt/slides/slide7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429DA-A326-D7D2-0002-49126B0EFD9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2576A7F-3AA5-38DA-10F8-350805E3736E}"/>
              </a:ext>
            </a:extLst>
          </p:cNvPr>
          <p:cNvSpPr>
            <a:spLocks noGrp="1"/>
          </p:cNvSpPr>
          <p:nvPr>
            <p:ph type="title"/>
          </p:nvPr>
        </p:nvSpPr>
        <p:spPr/>
        <p:txBody>
          <a:bodyPr/>
          <a:lstStyle/>
          <a:p>
            <a:r>
              <a:rPr lang="en-US">
                <a:solidFill>
                  <a:srgbClr val="0000FF"/>
                </a:solidFill>
                <a:latin typeface="+mj-lt"/>
              </a:rPr>
              <a:t>while</a:t>
            </a:r>
            <a:r>
              <a:rPr lang="en-US">
                <a:latin typeface="+mj-lt"/>
              </a:rPr>
              <a:t> (</a:t>
            </a:r>
            <a:r>
              <a:rPr lang="en-US">
                <a:solidFill>
                  <a:schemeClr val="bg1">
                    <a:lumMod val="75000"/>
                  </a:schemeClr>
                </a:solidFill>
                <a:latin typeface="+mj-lt"/>
              </a:rPr>
              <a:t>condition</a:t>
            </a:r>
            <a:r>
              <a:rPr lang="en-US">
                <a:latin typeface="+mj-lt"/>
              </a:rPr>
              <a:t>) { </a:t>
            </a:r>
            <a:r>
              <a:rPr lang="en-US">
                <a:solidFill>
                  <a:schemeClr val="bg1">
                    <a:lumMod val="75000"/>
                  </a:schemeClr>
                </a:solidFill>
                <a:latin typeface="+mj-lt"/>
              </a:rPr>
              <a:t>body</a:t>
            </a:r>
            <a:r>
              <a:rPr lang="en-US">
                <a:latin typeface="+mj-lt"/>
              </a:rPr>
              <a:t> }</a:t>
            </a:r>
          </a:p>
        </p:txBody>
      </p:sp>
      <p:sp>
        <p:nvSpPr>
          <p:cNvPr id="4" name="Content Placeholder 3">
            <a:extLst>
              <a:ext uri="{FF2B5EF4-FFF2-40B4-BE49-F238E27FC236}">
                <a16:creationId xmlns:a16="http://schemas.microsoft.com/office/drawing/2014/main" id="{74189595-A7EC-048F-2D43-8F826F1B1B40}"/>
              </a:ext>
            </a:extLst>
          </p:cNvPr>
          <p:cNvSpPr>
            <a:spLocks noGrp="1"/>
          </p:cNvSpPr>
          <p:nvPr>
            <p:ph sz="quarter" idx="10"/>
          </p:nvPr>
        </p:nvSpPr>
        <p:spPr/>
        <p:txBody>
          <a:bodyPr/>
          <a:lstStyle/>
          <a:p>
            <a:r>
              <a:rPr lang="en-US"/>
              <a:t>a </a:t>
            </a:r>
            <a:r>
              <a:rPr lang="en-US" b="1"/>
              <a:t>while loop</a:t>
            </a:r>
            <a:r>
              <a:rPr lang="en-US"/>
              <a:t> repeats a block of code as long as the condition holds</a:t>
            </a:r>
            <a:br>
              <a:rPr lang="en-US"/>
            </a:br>
            <a:r>
              <a:rPr lang="en-US"/>
              <a:t>(if the condition is false the first time we see it, we never execute the body)</a:t>
            </a:r>
          </a:p>
          <a:p>
            <a:pPr lvl="1"/>
            <a:r>
              <a:rPr lang="en-US">
                <a:solidFill>
                  <a:srgbClr val="0000FF"/>
                </a:solidFill>
                <a:latin typeface="+mj-lt"/>
              </a:rPr>
              <a:t>while</a:t>
            </a:r>
            <a:r>
              <a:rPr lang="en-US">
                <a:latin typeface="+mj-lt"/>
              </a:rPr>
              <a:t> (</a:t>
            </a:r>
            <a:r>
              <a:rPr lang="en-US">
                <a:solidFill>
                  <a:srgbClr val="0000FF"/>
                </a:solidFill>
                <a:latin typeface="+mj-lt"/>
              </a:rPr>
              <a:t>true</a:t>
            </a:r>
            <a:r>
              <a:rPr lang="en-US">
                <a:latin typeface="+mj-lt"/>
              </a:rPr>
              <a:t>) { </a:t>
            </a:r>
            <a:r>
              <a:rPr lang="en-US">
                <a:solidFill>
                  <a:srgbClr val="BFBFBF"/>
                </a:solidFill>
                <a:latin typeface="+mj-lt"/>
              </a:rPr>
              <a:t>...</a:t>
            </a:r>
            <a:r>
              <a:rPr lang="en-US">
                <a:latin typeface="+mj-lt"/>
              </a:rPr>
              <a:t> }</a:t>
            </a:r>
            <a:r>
              <a:rPr lang="en-US"/>
              <a:t> is an infinite loop</a:t>
            </a:r>
          </a:p>
          <a:p>
            <a:endParaRPr lang="en-US"/>
          </a:p>
        </p:txBody>
      </p:sp>
      <p:sp>
        <p:nvSpPr>
          <p:cNvPr id="2" name="TextBox 1">
            <a:extLst>
              <a:ext uri="{FF2B5EF4-FFF2-40B4-BE49-F238E27FC236}">
                <a16:creationId xmlns:a16="http://schemas.microsoft.com/office/drawing/2014/main" id="{CF468907-F901-ABA5-CBA9-D2B2DA703B68}"/>
              </a:ext>
            </a:extLst>
          </p:cNvPr>
          <p:cNvSpPr txBox="1"/>
          <p:nvPr/>
        </p:nvSpPr>
        <p:spPr>
          <a:xfrm>
            <a:off x="457200" y="2148838"/>
            <a:ext cx="8229600" cy="2031325"/>
          </a:xfrm>
          <a:prstGeom prst="rect">
            <a:avLst/>
          </a:prstGeom>
          <a:solidFill>
            <a:schemeClr val="bg1"/>
          </a:solidFill>
          <a:ln>
            <a:solidFill>
              <a:schemeClr val="tx1"/>
            </a:solidFill>
          </a:ln>
        </p:spPr>
        <p:txBody>
          <a:bodyPr wrap="square" rtlCol="0">
            <a:spAutoFit/>
          </a:bodyPr>
          <a:lstStyle/>
          <a:p>
            <a:pPr lvl="0"/>
            <a:r>
              <a:rPr lang="en-US">
                <a:solidFill>
                  <a:srgbClr val="0000FF"/>
                </a:solidFill>
                <a:latin typeface="Consolas"/>
              </a:rPr>
              <a:t>while </a:t>
            </a:r>
            <a:r>
              <a:rPr lang="en-US">
                <a:solidFill>
                  <a:srgbClr val="000000"/>
                </a:solidFill>
                <a:latin typeface="Consolas"/>
              </a:rPr>
              <a:t>(!gameOver) {</a:t>
            </a:r>
          </a:p>
          <a:p>
            <a:pPr lvl="0"/>
            <a:r>
              <a:rPr lang="en-US">
                <a:latin typeface="Consolas"/>
              </a:rPr>
              <a:t>    </a:t>
            </a:r>
            <a:r>
              <a:rPr lang="en-US">
                <a:solidFill>
                  <a:srgbClr val="BFBFBF"/>
                </a:solidFill>
                <a:latin typeface="Consolas"/>
              </a:rPr>
              <a:t>...</a:t>
            </a:r>
          </a:p>
          <a:p>
            <a:pPr lvl="0"/>
            <a:endParaRPr lang="en-US">
              <a:solidFill>
                <a:srgbClr val="BFBFBF"/>
              </a:solidFill>
              <a:latin typeface="Consolas"/>
            </a:endParaRPr>
          </a:p>
          <a:p>
            <a:pPr lvl="0"/>
            <a:r>
              <a:rPr lang="en-US">
                <a:solidFill>
                  <a:srgbClr val="BFBFBF"/>
                </a:solidFill>
                <a:latin typeface="Consolas"/>
              </a:rPr>
              <a:t>    </a:t>
            </a:r>
            <a:r>
              <a:rPr lang="en-US">
                <a:solidFill>
                  <a:srgbClr val="0000FF"/>
                </a:solidFill>
                <a:latin typeface="Consolas"/>
              </a:rPr>
              <a:t>if </a:t>
            </a:r>
            <a:r>
              <a:rPr lang="en-US">
                <a:latin typeface="Consolas"/>
              </a:rPr>
              <a:t>(player.health &lt;= 0) {</a:t>
            </a:r>
          </a:p>
          <a:p>
            <a:pPr lvl="0"/>
            <a:r>
              <a:rPr lang="en-US">
                <a:latin typeface="Consolas"/>
              </a:rPr>
              <a:t>        gameOver = true;</a:t>
            </a:r>
          </a:p>
          <a:p>
            <a:pPr lvl="0"/>
            <a:r>
              <a:rPr lang="en-US">
                <a:latin typeface="Consolas"/>
              </a:rPr>
              <a:t>    }</a:t>
            </a:r>
          </a:p>
          <a:p>
            <a:pPr lvl="0"/>
            <a:r>
              <a:rPr lang="en-US">
                <a:solidFill>
                  <a:srgbClr val="000000"/>
                </a:solidFill>
                <a:latin typeface="Consolas"/>
              </a:rPr>
              <a:t>}</a:t>
            </a:r>
          </a:p>
        </p:txBody>
      </p:sp>
    </p:spTree>
    <p:extLst>
      <p:ext uri="{BB962C8B-B14F-4D97-AF65-F5344CB8AC3E}">
        <p14:creationId xmlns:p14="http://schemas.microsoft.com/office/powerpoint/2010/main" val="1212564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57067-1385-92B5-82AF-5AE209641FD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FB7252B-0087-69E7-47C8-D8206F62EAB8}"/>
              </a:ext>
            </a:extLst>
          </p:cNvPr>
          <p:cNvSpPr>
            <a:spLocks noGrp="1"/>
          </p:cNvSpPr>
          <p:nvPr>
            <p:ph type="title"/>
          </p:nvPr>
        </p:nvSpPr>
        <p:spPr/>
        <p:txBody>
          <a:bodyPr/>
          <a:lstStyle/>
          <a:p>
            <a:r>
              <a:rPr lang="en-US">
                <a:solidFill>
                  <a:srgbClr val="0000FF"/>
                </a:solidFill>
                <a:latin typeface="+mj-lt"/>
              </a:rPr>
              <a:t>do </a:t>
            </a:r>
            <a:r>
              <a:rPr lang="en-US">
                <a:latin typeface="+mj-lt"/>
              </a:rPr>
              <a:t>{</a:t>
            </a:r>
            <a:r>
              <a:rPr lang="en-US">
                <a:solidFill>
                  <a:srgbClr val="0000FF"/>
                </a:solidFill>
                <a:latin typeface="+mj-lt"/>
              </a:rPr>
              <a:t> </a:t>
            </a:r>
            <a:r>
              <a:rPr lang="en-US">
                <a:solidFill>
                  <a:schemeClr val="bg1">
                    <a:lumMod val="75000"/>
                  </a:schemeClr>
                </a:solidFill>
                <a:latin typeface="+mj-lt"/>
              </a:rPr>
              <a:t>...</a:t>
            </a:r>
            <a:r>
              <a:rPr lang="en-US">
                <a:latin typeface="+mj-lt"/>
              </a:rPr>
              <a:t> } </a:t>
            </a:r>
            <a:r>
              <a:rPr lang="en-US">
                <a:solidFill>
                  <a:srgbClr val="0000FF"/>
                </a:solidFill>
                <a:latin typeface="+mj-lt"/>
              </a:rPr>
              <a:t>while</a:t>
            </a:r>
            <a:r>
              <a:rPr lang="en-US">
                <a:latin typeface="+mj-lt"/>
              </a:rPr>
              <a:t> (</a:t>
            </a:r>
            <a:r>
              <a:rPr lang="en-US">
                <a:solidFill>
                  <a:schemeClr val="bg1">
                    <a:lumMod val="75000"/>
                  </a:schemeClr>
                </a:solidFill>
                <a:latin typeface="+mj-lt"/>
              </a:rPr>
              <a:t>...</a:t>
            </a:r>
            <a:r>
              <a:rPr lang="en-US">
                <a:latin typeface="+mj-lt"/>
              </a:rPr>
              <a:t>);</a:t>
            </a:r>
          </a:p>
        </p:txBody>
      </p:sp>
      <p:sp>
        <p:nvSpPr>
          <p:cNvPr id="4" name="Content Placeholder 3">
            <a:extLst>
              <a:ext uri="{FF2B5EF4-FFF2-40B4-BE49-F238E27FC236}">
                <a16:creationId xmlns:a16="http://schemas.microsoft.com/office/drawing/2014/main" id="{C10BA29A-1C82-2660-1ED8-0C73701F0E27}"/>
              </a:ext>
            </a:extLst>
          </p:cNvPr>
          <p:cNvSpPr>
            <a:spLocks noGrp="1"/>
          </p:cNvSpPr>
          <p:nvPr>
            <p:ph sz="quarter" idx="10"/>
          </p:nvPr>
        </p:nvSpPr>
        <p:spPr/>
        <p:txBody>
          <a:bodyPr/>
          <a:lstStyle/>
          <a:p>
            <a:r>
              <a:rPr lang="en-US"/>
              <a:t>a </a:t>
            </a:r>
            <a:r>
              <a:rPr lang="en-US" b="1"/>
              <a:t>do...while</a:t>
            </a:r>
            <a:r>
              <a:rPr lang="en-US"/>
              <a:t> loop is (sometimes) useful when you know you need to do something at least once (and then potentially a bunch more times)</a:t>
            </a:r>
          </a:p>
        </p:txBody>
      </p:sp>
      <p:sp>
        <p:nvSpPr>
          <p:cNvPr id="5" name="TextBox 4">
            <a:extLst>
              <a:ext uri="{FF2B5EF4-FFF2-40B4-BE49-F238E27FC236}">
                <a16:creationId xmlns:a16="http://schemas.microsoft.com/office/drawing/2014/main" id="{63EC974C-48A8-BE08-348C-796A794C83E8}"/>
              </a:ext>
            </a:extLst>
          </p:cNvPr>
          <p:cNvSpPr txBox="1"/>
          <p:nvPr/>
        </p:nvSpPr>
        <p:spPr>
          <a:xfrm>
            <a:off x="457200" y="1668541"/>
            <a:ext cx="8229600" cy="1200329"/>
          </a:xfrm>
          <a:prstGeom prst="rect">
            <a:avLst/>
          </a:prstGeom>
          <a:solidFill>
            <a:schemeClr val="bg1"/>
          </a:solidFill>
          <a:ln>
            <a:solidFill>
              <a:schemeClr val="tx1"/>
            </a:solidFill>
          </a:ln>
        </p:spPr>
        <p:txBody>
          <a:bodyPr wrap="square" rtlCol="0">
            <a:spAutoFit/>
          </a:bodyPr>
          <a:lstStyle/>
          <a:p>
            <a:r>
              <a:rPr lang="en-US">
                <a:solidFill>
                  <a:srgbClr val="0000FF"/>
                </a:solidFill>
                <a:latin typeface="Consolas"/>
              </a:rPr>
              <a:t>int</a:t>
            </a:r>
            <a:r>
              <a:rPr lang="en-US">
                <a:latin typeface="Consolas"/>
              </a:rPr>
              <a:t> choice;</a:t>
            </a:r>
            <a:endParaRPr lang="en-US">
              <a:solidFill>
                <a:srgbClr val="007B00"/>
              </a:solidFill>
              <a:latin typeface="+mj-lt"/>
            </a:endParaRPr>
          </a:p>
          <a:p>
            <a:pPr marL="0" indent="0">
              <a:buNone/>
            </a:pPr>
            <a:r>
              <a:rPr lang="en-US">
                <a:solidFill>
                  <a:srgbClr val="0000FF"/>
                </a:solidFill>
                <a:latin typeface="+mj-lt"/>
              </a:rPr>
              <a:t>do </a:t>
            </a:r>
            <a:r>
              <a:rPr lang="en-US">
                <a:solidFill>
                  <a:srgbClr val="000000"/>
                </a:solidFill>
                <a:latin typeface="+mj-lt"/>
              </a:rPr>
              <a:t>{</a:t>
            </a:r>
          </a:p>
          <a:p>
            <a:pPr lvl="0"/>
            <a:r>
              <a:rPr lang="en-US">
                <a:solidFill>
                  <a:srgbClr val="000000"/>
                </a:solidFill>
                <a:latin typeface="+mj-lt"/>
              </a:rPr>
              <a:t>    </a:t>
            </a:r>
            <a:r>
              <a:rPr lang="en-US">
                <a:latin typeface="Consolas"/>
              </a:rPr>
              <a:t>choice = getIntFromUser();</a:t>
            </a:r>
            <a:endParaRPr lang="en-US">
              <a:latin typeface="+mj-lt"/>
            </a:endParaRPr>
          </a:p>
          <a:p>
            <a:r>
              <a:rPr lang="en-US">
                <a:latin typeface="+mj-lt"/>
              </a:rPr>
              <a:t>}</a:t>
            </a:r>
            <a:r>
              <a:rPr lang="en-US">
                <a:solidFill>
                  <a:srgbClr val="0000FF"/>
                </a:solidFill>
                <a:latin typeface="+mj-lt"/>
              </a:rPr>
              <a:t> while </a:t>
            </a:r>
            <a:r>
              <a:rPr lang="en-US">
                <a:solidFill>
                  <a:srgbClr val="000000"/>
                </a:solidFill>
                <a:latin typeface="+mj-lt"/>
              </a:rPr>
              <a:t>(!(0 &lt;= choice &amp;&amp; choice &lt;= 2));</a:t>
            </a:r>
          </a:p>
        </p:txBody>
      </p:sp>
      <p:sp>
        <p:nvSpPr>
          <p:cNvPr id="2" name="TextBox 1">
            <a:extLst>
              <a:ext uri="{FF2B5EF4-FFF2-40B4-BE49-F238E27FC236}">
                <a16:creationId xmlns:a16="http://schemas.microsoft.com/office/drawing/2014/main" id="{D9E0A44E-5023-BBF1-6C6E-92CB47BA1C77}"/>
              </a:ext>
            </a:extLst>
          </p:cNvPr>
          <p:cNvSpPr txBox="1"/>
          <p:nvPr/>
        </p:nvSpPr>
        <p:spPr>
          <a:xfrm>
            <a:off x="457200" y="3141741"/>
            <a:ext cx="8229600" cy="1200329"/>
          </a:xfrm>
          <a:prstGeom prst="rect">
            <a:avLst/>
          </a:prstGeom>
          <a:solidFill>
            <a:schemeClr val="bg1"/>
          </a:solidFill>
          <a:ln>
            <a:solidFill>
              <a:schemeClr val="tx1"/>
            </a:solidFill>
          </a:ln>
        </p:spPr>
        <p:txBody>
          <a:bodyPr wrap="square" rtlCol="0">
            <a:spAutoFit/>
          </a:bodyPr>
          <a:lstStyle/>
          <a:p>
            <a:r>
              <a:rPr lang="en-US">
                <a:solidFill>
                  <a:srgbClr val="0000FF"/>
                </a:solidFill>
                <a:latin typeface="Consolas"/>
              </a:rPr>
              <a:t>int</a:t>
            </a:r>
            <a:r>
              <a:rPr lang="en-US">
                <a:latin typeface="Consolas"/>
              </a:rPr>
              <a:t> choice = getIntFromUser();</a:t>
            </a:r>
            <a:endParaRPr lang="en-US">
              <a:solidFill>
                <a:srgbClr val="007B00"/>
              </a:solidFill>
              <a:latin typeface="+mj-lt"/>
            </a:endParaRPr>
          </a:p>
          <a:p>
            <a:r>
              <a:rPr lang="en-US">
                <a:solidFill>
                  <a:srgbClr val="0000FF"/>
                </a:solidFill>
                <a:latin typeface="Consolas"/>
              </a:rPr>
              <a:t>while </a:t>
            </a:r>
            <a:r>
              <a:rPr lang="en-US">
                <a:solidFill>
                  <a:srgbClr val="000000"/>
                </a:solidFill>
                <a:latin typeface="Consolas"/>
              </a:rPr>
              <a:t>(!(0 &lt;= choice &amp;&amp; choice &lt;= 2))</a:t>
            </a:r>
            <a:r>
              <a:rPr lang="en-US">
                <a:solidFill>
                  <a:srgbClr val="0000FF"/>
                </a:solidFill>
                <a:latin typeface="+mj-lt"/>
              </a:rPr>
              <a:t> </a:t>
            </a:r>
            <a:r>
              <a:rPr lang="en-US">
                <a:solidFill>
                  <a:srgbClr val="000000"/>
                </a:solidFill>
                <a:latin typeface="+mj-lt"/>
              </a:rPr>
              <a:t>{</a:t>
            </a:r>
          </a:p>
          <a:p>
            <a:pPr lvl="0"/>
            <a:r>
              <a:rPr lang="en-US">
                <a:solidFill>
                  <a:srgbClr val="000000"/>
                </a:solidFill>
                <a:latin typeface="+mj-lt"/>
              </a:rPr>
              <a:t>    </a:t>
            </a:r>
            <a:r>
              <a:rPr lang="en-US">
                <a:latin typeface="Consolas"/>
              </a:rPr>
              <a:t>choice = getIntFromUser();</a:t>
            </a:r>
            <a:endParaRPr lang="en-US">
              <a:latin typeface="+mj-lt"/>
            </a:endParaRPr>
          </a:p>
          <a:p>
            <a:r>
              <a:rPr lang="en-US">
                <a:latin typeface="+mj-lt"/>
              </a:rPr>
              <a:t>}</a:t>
            </a:r>
            <a:endParaRPr lang="en-US">
              <a:solidFill>
                <a:srgbClr val="000000"/>
              </a:solidFill>
              <a:latin typeface="+mj-lt"/>
            </a:endParaRPr>
          </a:p>
        </p:txBody>
      </p:sp>
    </p:spTree>
    <p:extLst>
      <p:ext uri="{BB962C8B-B14F-4D97-AF65-F5344CB8AC3E}">
        <p14:creationId xmlns:p14="http://schemas.microsoft.com/office/powerpoint/2010/main" val="327406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Lst>
  </p:timing>
</p:sld>
</file>

<file path=ppt/slides/slide7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0DB80-DB09-AE85-6826-239F2B3FFBA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4D62865-2216-4A33-7348-0387ACDF602D}"/>
              </a:ext>
            </a:extLst>
          </p:cNvPr>
          <p:cNvSpPr>
            <a:spLocks noGrp="1"/>
          </p:cNvSpPr>
          <p:nvPr>
            <p:ph type="title"/>
          </p:nvPr>
        </p:nvSpPr>
        <p:spPr/>
        <p:txBody>
          <a:bodyPr/>
          <a:lstStyle/>
          <a:p>
            <a:r>
              <a:rPr lang="en-US">
                <a:latin typeface="+mj-lt"/>
              </a:rPr>
              <a:t>for</a:t>
            </a:r>
          </a:p>
        </p:txBody>
      </p:sp>
    </p:spTree>
    <p:extLst>
      <p:ext uri="{BB962C8B-B14F-4D97-AF65-F5344CB8AC3E}">
        <p14:creationId xmlns:p14="http://schemas.microsoft.com/office/powerpoint/2010/main" val="2080464189"/>
      </p:ext>
    </p:extLst>
  </p:cSld>
  <p:clrMapOvr>
    <a:masterClrMapping/>
  </p:clrMapOvr>
</p:sld>
</file>

<file path=ppt/slides/slide7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91CAB-471C-B2D6-80A0-98E1C9624C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E42524E-C553-0F8C-27A4-4910440F4A09}"/>
              </a:ext>
            </a:extLst>
          </p:cNvPr>
          <p:cNvSpPr>
            <a:spLocks noGrp="1"/>
          </p:cNvSpPr>
          <p:nvPr>
            <p:ph type="title"/>
          </p:nvPr>
        </p:nvSpPr>
        <p:spPr/>
        <p:txBody>
          <a:bodyPr>
            <a:noAutofit/>
          </a:bodyPr>
          <a:lstStyle/>
          <a:p>
            <a:r>
              <a:rPr lang="en-US" sz="2800">
                <a:solidFill>
                  <a:srgbClr val="0000FF"/>
                </a:solidFill>
                <a:latin typeface="+mj-lt"/>
              </a:rPr>
              <a:t>for</a:t>
            </a:r>
            <a:r>
              <a:rPr lang="en-US" sz="2800">
                <a:latin typeface="+mj-lt"/>
              </a:rPr>
              <a:t> (</a:t>
            </a:r>
            <a:r>
              <a:rPr lang="en-US" sz="2800">
                <a:solidFill>
                  <a:schemeClr val="bg1">
                    <a:lumMod val="75000"/>
                  </a:schemeClr>
                </a:solidFill>
                <a:latin typeface="+mj-lt"/>
              </a:rPr>
              <a:t>...</a:t>
            </a:r>
            <a:r>
              <a:rPr lang="en-US" sz="2800">
                <a:latin typeface="+mj-lt"/>
              </a:rPr>
              <a:t>; </a:t>
            </a:r>
            <a:r>
              <a:rPr lang="en-US" sz="2800">
                <a:solidFill>
                  <a:schemeClr val="bg1">
                    <a:lumMod val="75000"/>
                  </a:schemeClr>
                </a:solidFill>
                <a:latin typeface="+mj-lt"/>
              </a:rPr>
              <a:t>condition</a:t>
            </a:r>
            <a:r>
              <a:rPr lang="en-US" sz="2800">
                <a:latin typeface="+mj-lt"/>
              </a:rPr>
              <a:t>; </a:t>
            </a:r>
            <a:r>
              <a:rPr lang="en-US" sz="2800">
                <a:solidFill>
                  <a:schemeClr val="bg1">
                    <a:lumMod val="75000"/>
                  </a:schemeClr>
                </a:solidFill>
                <a:latin typeface="+mj-lt"/>
              </a:rPr>
              <a:t>...</a:t>
            </a:r>
            <a:r>
              <a:rPr lang="en-US" sz="2800">
                <a:latin typeface="+mj-lt"/>
              </a:rPr>
              <a:t>) { </a:t>
            </a:r>
            <a:r>
              <a:rPr lang="en-US" sz="2800">
                <a:solidFill>
                  <a:schemeClr val="bg1">
                    <a:lumMod val="75000"/>
                  </a:schemeClr>
                </a:solidFill>
                <a:latin typeface="+mj-lt"/>
              </a:rPr>
              <a:t>...</a:t>
            </a:r>
            <a:r>
              <a:rPr lang="en-US" sz="2800">
                <a:latin typeface="+mj-lt"/>
              </a:rPr>
              <a:t> } (1/2)</a:t>
            </a:r>
          </a:p>
        </p:txBody>
      </p:sp>
      <p:sp>
        <p:nvSpPr>
          <p:cNvPr id="4" name="Content Placeholder 3">
            <a:extLst>
              <a:ext uri="{FF2B5EF4-FFF2-40B4-BE49-F238E27FC236}">
                <a16:creationId xmlns:a16="http://schemas.microsoft.com/office/drawing/2014/main" id="{C6AEF608-C298-2F5F-EA3E-C3AAF92D0D28}"/>
              </a:ext>
            </a:extLst>
          </p:cNvPr>
          <p:cNvSpPr>
            <a:spLocks noGrp="1"/>
          </p:cNvSpPr>
          <p:nvPr>
            <p:ph sz="quarter" idx="10"/>
          </p:nvPr>
        </p:nvSpPr>
        <p:spPr/>
        <p:txBody>
          <a:bodyPr/>
          <a:lstStyle/>
          <a:p>
            <a:r>
              <a:rPr lang="en-US"/>
              <a:t>a </a:t>
            </a:r>
            <a:r>
              <a:rPr lang="en-US" b="1"/>
              <a:t>for loop</a:t>
            </a:r>
            <a:r>
              <a:rPr lang="en-US"/>
              <a:t> can be a convenient alternative to a while loop</a:t>
            </a:r>
          </a:p>
        </p:txBody>
      </p:sp>
      <p:sp>
        <p:nvSpPr>
          <p:cNvPr id="5" name="TextBox 4">
            <a:extLst>
              <a:ext uri="{FF2B5EF4-FFF2-40B4-BE49-F238E27FC236}">
                <a16:creationId xmlns:a16="http://schemas.microsoft.com/office/drawing/2014/main" id="{014999F8-33EB-3037-2A56-484346910AA4}"/>
              </a:ext>
            </a:extLst>
          </p:cNvPr>
          <p:cNvSpPr txBox="1"/>
          <p:nvPr/>
        </p:nvSpPr>
        <p:spPr>
          <a:xfrm>
            <a:off x="457200" y="1668541"/>
            <a:ext cx="8229600" cy="923330"/>
          </a:xfrm>
          <a:prstGeom prst="rect">
            <a:avLst/>
          </a:prstGeom>
          <a:solidFill>
            <a:schemeClr val="bg1"/>
          </a:solidFill>
          <a:ln>
            <a:solidFill>
              <a:schemeClr val="tx1"/>
            </a:solidFill>
          </a:ln>
        </p:spPr>
        <p:txBody>
          <a:bodyPr wrap="square" rtlCol="0">
            <a:spAutoFit/>
          </a:bodyPr>
          <a:lstStyle/>
          <a:p>
            <a:r>
              <a:rPr lang="nn-NO">
                <a:solidFill>
                  <a:srgbClr val="0000FF"/>
                </a:solidFill>
                <a:latin typeface="Consolas"/>
              </a:rPr>
              <a:t>for</a:t>
            </a:r>
            <a:r>
              <a:rPr lang="nn-NO">
                <a:latin typeface="Consolas"/>
              </a:rPr>
              <a:t> (</a:t>
            </a:r>
            <a:r>
              <a:rPr lang="nn-NO">
                <a:solidFill>
                  <a:srgbClr val="000080"/>
                </a:solidFill>
                <a:latin typeface="Consolas"/>
              </a:rPr>
              <a:t>int</a:t>
            </a:r>
            <a:r>
              <a:rPr lang="nn-NO">
                <a:latin typeface="Consolas"/>
              </a:rPr>
              <a:t> i = 0; i &lt; n; ++i) {</a:t>
            </a:r>
          </a:p>
          <a:p>
            <a:r>
              <a:rPr lang="nn-NO">
                <a:latin typeface="Consolas"/>
              </a:rPr>
              <a:t>    </a:t>
            </a:r>
            <a:r>
              <a:rPr lang="nn-NO">
                <a:solidFill>
                  <a:srgbClr val="BFBFBF"/>
                </a:solidFill>
                <a:latin typeface="Consolas"/>
              </a:rPr>
              <a:t>...</a:t>
            </a:r>
          </a:p>
          <a:p>
            <a:r>
              <a:rPr lang="nn-NO">
                <a:latin typeface="Consolas"/>
              </a:rPr>
              <a:t>}</a:t>
            </a:r>
            <a:endParaRPr lang="en-US">
              <a:latin typeface="+mj-lt"/>
            </a:endParaRPr>
          </a:p>
        </p:txBody>
      </p:sp>
      <p:sp>
        <p:nvSpPr>
          <p:cNvPr id="8" name="TextBox 7">
            <a:extLst>
              <a:ext uri="{FF2B5EF4-FFF2-40B4-BE49-F238E27FC236}">
                <a16:creationId xmlns:a16="http://schemas.microsoft.com/office/drawing/2014/main" id="{64C1BFC8-20CA-D224-80A5-0FBD0E368A49}"/>
              </a:ext>
            </a:extLst>
          </p:cNvPr>
          <p:cNvSpPr txBox="1"/>
          <p:nvPr/>
        </p:nvSpPr>
        <p:spPr>
          <a:xfrm>
            <a:off x="457200" y="2835410"/>
            <a:ext cx="8229600" cy="2031325"/>
          </a:xfrm>
          <a:prstGeom prst="rect">
            <a:avLst/>
          </a:prstGeom>
          <a:solidFill>
            <a:schemeClr val="bg1"/>
          </a:solidFill>
          <a:ln>
            <a:solidFill>
              <a:schemeClr val="tx1"/>
            </a:solidFill>
          </a:ln>
        </p:spPr>
        <p:txBody>
          <a:bodyPr wrap="square" rtlCol="0">
            <a:spAutoFit/>
          </a:bodyPr>
          <a:lstStyle/>
          <a:p>
            <a:r>
              <a:rPr lang="nn-NO">
                <a:latin typeface="+mj-lt"/>
              </a:rPr>
              <a:t>{</a:t>
            </a:r>
          </a:p>
          <a:p>
            <a:r>
              <a:rPr lang="nn-NO">
                <a:latin typeface="+mj-lt"/>
              </a:rPr>
              <a:t>    </a:t>
            </a:r>
            <a:r>
              <a:rPr lang="nn-NO">
                <a:solidFill>
                  <a:srgbClr val="000080"/>
                </a:solidFill>
                <a:latin typeface="+mj-lt"/>
              </a:rPr>
              <a:t>int</a:t>
            </a:r>
            <a:r>
              <a:rPr lang="nn-NO">
                <a:latin typeface="+mj-lt"/>
              </a:rPr>
              <a:t> i = 0;</a:t>
            </a:r>
          </a:p>
          <a:p>
            <a:r>
              <a:rPr lang="nn-NO">
                <a:latin typeface="+mj-lt"/>
              </a:rPr>
              <a:t>    </a:t>
            </a:r>
            <a:r>
              <a:rPr lang="nn-NO">
                <a:solidFill>
                  <a:srgbClr val="0000FF"/>
                </a:solidFill>
                <a:latin typeface="+mj-lt"/>
              </a:rPr>
              <a:t>while</a:t>
            </a:r>
            <a:r>
              <a:rPr lang="nn-NO">
                <a:latin typeface="+mj-lt"/>
              </a:rPr>
              <a:t> (i &lt; n) {</a:t>
            </a:r>
          </a:p>
          <a:p>
            <a:r>
              <a:rPr lang="nn-NO">
                <a:latin typeface="+mj-lt"/>
              </a:rPr>
              <a:t>         </a:t>
            </a:r>
            <a:r>
              <a:rPr lang="nn-NO">
                <a:solidFill>
                  <a:srgbClr val="BFBFBF"/>
                </a:solidFill>
                <a:latin typeface="+mj-lt"/>
              </a:rPr>
              <a:t>...</a:t>
            </a:r>
          </a:p>
          <a:p>
            <a:r>
              <a:rPr lang="nn-NO">
                <a:latin typeface="+mj-lt"/>
              </a:rPr>
              <a:t>         ++i;</a:t>
            </a:r>
          </a:p>
          <a:p>
            <a:r>
              <a:rPr lang="nn-NO">
                <a:latin typeface="+mj-lt"/>
              </a:rPr>
              <a:t>    }</a:t>
            </a:r>
          </a:p>
          <a:p>
            <a:r>
              <a:rPr lang="nn-NO">
                <a:latin typeface="+mj-lt"/>
              </a:rPr>
              <a:t>}</a:t>
            </a:r>
            <a:endParaRPr lang="en-US">
              <a:latin typeface="+mj-lt"/>
            </a:endParaRPr>
          </a:p>
        </p:txBody>
      </p:sp>
    </p:spTree>
    <p:extLst>
      <p:ext uri="{BB962C8B-B14F-4D97-AF65-F5344CB8AC3E}">
        <p14:creationId xmlns:p14="http://schemas.microsoft.com/office/powerpoint/2010/main" val="462098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Lst>
  </p:timing>
</p:sld>
</file>

<file path=ppt/slides/slide7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09B56-0227-B071-507E-22DA518DF2E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E4CF6E5-70F6-DA2F-2FB6-2712FBE56A65}"/>
              </a:ext>
            </a:extLst>
          </p:cNvPr>
          <p:cNvSpPr>
            <a:spLocks noGrp="1"/>
          </p:cNvSpPr>
          <p:nvPr>
            <p:ph type="title"/>
          </p:nvPr>
        </p:nvSpPr>
        <p:spPr/>
        <p:txBody>
          <a:bodyPr>
            <a:noAutofit/>
          </a:bodyPr>
          <a:lstStyle/>
          <a:p>
            <a:r>
              <a:rPr lang="en-US" sz="2800">
                <a:solidFill>
                  <a:srgbClr val="0000FF"/>
                </a:solidFill>
                <a:latin typeface="+mj-lt"/>
              </a:rPr>
              <a:t>for</a:t>
            </a:r>
            <a:r>
              <a:rPr lang="en-US" sz="2800">
                <a:latin typeface="+mj-lt"/>
              </a:rPr>
              <a:t> (</a:t>
            </a:r>
            <a:r>
              <a:rPr lang="en-US" sz="2800">
                <a:solidFill>
                  <a:schemeClr val="bg1">
                    <a:lumMod val="75000"/>
                  </a:schemeClr>
                </a:solidFill>
                <a:latin typeface="+mj-lt"/>
              </a:rPr>
              <a:t>...</a:t>
            </a:r>
            <a:r>
              <a:rPr lang="en-US" sz="2800">
                <a:latin typeface="+mj-lt"/>
              </a:rPr>
              <a:t>; </a:t>
            </a:r>
            <a:r>
              <a:rPr lang="en-US" sz="2800">
                <a:solidFill>
                  <a:schemeClr val="bg1">
                    <a:lumMod val="75000"/>
                  </a:schemeClr>
                </a:solidFill>
                <a:latin typeface="+mj-lt"/>
              </a:rPr>
              <a:t>condition</a:t>
            </a:r>
            <a:r>
              <a:rPr lang="en-US" sz="2800">
                <a:latin typeface="+mj-lt"/>
              </a:rPr>
              <a:t>; </a:t>
            </a:r>
            <a:r>
              <a:rPr lang="en-US" sz="2800">
                <a:solidFill>
                  <a:schemeClr val="bg1">
                    <a:lumMod val="75000"/>
                  </a:schemeClr>
                </a:solidFill>
                <a:latin typeface="+mj-lt"/>
              </a:rPr>
              <a:t>...</a:t>
            </a:r>
            <a:r>
              <a:rPr lang="en-US" sz="2800">
                <a:latin typeface="+mj-lt"/>
              </a:rPr>
              <a:t>) { </a:t>
            </a:r>
            <a:r>
              <a:rPr lang="en-US" sz="2800">
                <a:solidFill>
                  <a:schemeClr val="bg1">
                    <a:lumMod val="75000"/>
                  </a:schemeClr>
                </a:solidFill>
                <a:latin typeface="+mj-lt"/>
              </a:rPr>
              <a:t>...</a:t>
            </a:r>
            <a:r>
              <a:rPr lang="en-US" sz="2800">
                <a:latin typeface="+mj-lt"/>
              </a:rPr>
              <a:t> } (2/2)</a:t>
            </a:r>
          </a:p>
        </p:txBody>
      </p:sp>
      <p:sp>
        <p:nvSpPr>
          <p:cNvPr id="4" name="Content Placeholder 3">
            <a:extLst>
              <a:ext uri="{FF2B5EF4-FFF2-40B4-BE49-F238E27FC236}">
                <a16:creationId xmlns:a16="http://schemas.microsoft.com/office/drawing/2014/main" id="{EB1F9430-19E1-DD31-794E-7F5104AE4197}"/>
              </a:ext>
            </a:extLst>
          </p:cNvPr>
          <p:cNvSpPr>
            <a:spLocks noGrp="1"/>
          </p:cNvSpPr>
          <p:nvPr>
            <p:ph sz="quarter" idx="10"/>
          </p:nvPr>
        </p:nvSpPr>
        <p:spPr/>
        <p:txBody>
          <a:bodyPr/>
          <a:lstStyle/>
          <a:p>
            <a:r>
              <a:rPr lang="en-US"/>
              <a:t>for loops can be kind of wild (probably stick with simple ones for now)</a:t>
            </a:r>
          </a:p>
        </p:txBody>
      </p:sp>
      <p:sp>
        <p:nvSpPr>
          <p:cNvPr id="8" name="TextBox 7">
            <a:extLst>
              <a:ext uri="{FF2B5EF4-FFF2-40B4-BE49-F238E27FC236}">
                <a16:creationId xmlns:a16="http://schemas.microsoft.com/office/drawing/2014/main" id="{E6AE5654-209F-D4D3-3093-C2C25D47FE19}"/>
              </a:ext>
            </a:extLst>
          </p:cNvPr>
          <p:cNvSpPr txBox="1"/>
          <p:nvPr/>
        </p:nvSpPr>
        <p:spPr>
          <a:xfrm>
            <a:off x="457200" y="1556087"/>
            <a:ext cx="8229600" cy="923330"/>
          </a:xfrm>
          <a:prstGeom prst="rect">
            <a:avLst/>
          </a:prstGeom>
          <a:solidFill>
            <a:schemeClr val="bg1"/>
          </a:solidFill>
          <a:ln>
            <a:solidFill>
              <a:schemeClr val="tx1"/>
            </a:solidFill>
          </a:ln>
        </p:spPr>
        <p:txBody>
          <a:bodyPr wrap="square" rtlCol="0">
            <a:spAutoFit/>
          </a:bodyPr>
          <a:lstStyle/>
          <a:p>
            <a:r>
              <a:rPr lang="nn-NO">
                <a:solidFill>
                  <a:srgbClr val="0000FF"/>
                </a:solidFill>
                <a:latin typeface="+mj-lt"/>
              </a:rPr>
              <a:t>for</a:t>
            </a:r>
            <a:r>
              <a:rPr lang="nn-NO">
                <a:latin typeface="+mj-lt"/>
              </a:rPr>
              <a:t> (</a:t>
            </a:r>
            <a:r>
              <a:rPr lang="nn-NO">
                <a:solidFill>
                  <a:srgbClr val="000080"/>
                </a:solidFill>
                <a:latin typeface="+mj-lt"/>
              </a:rPr>
              <a:t>double</a:t>
            </a:r>
            <a:r>
              <a:rPr lang="nn-NO">
                <a:latin typeface="+mj-lt"/>
              </a:rPr>
              <a:t> a = 10.0; a &gt; 1.01; a = </a:t>
            </a:r>
            <a:r>
              <a:rPr lang="nn-NO">
                <a:solidFill>
                  <a:srgbClr val="000080"/>
                </a:solidFill>
                <a:latin typeface="+mj-lt"/>
              </a:rPr>
              <a:t>SQRT</a:t>
            </a:r>
            <a:r>
              <a:rPr lang="nn-NO">
                <a:latin typeface="+mj-lt"/>
              </a:rPr>
              <a:t>(a)) {</a:t>
            </a:r>
          </a:p>
          <a:p>
            <a:r>
              <a:rPr lang="nn-NO">
                <a:latin typeface="+mj-lt"/>
              </a:rPr>
              <a:t>    </a:t>
            </a:r>
            <a:r>
              <a:rPr lang="nn-NO">
                <a:solidFill>
                  <a:srgbClr val="BFBFBF"/>
                </a:solidFill>
                <a:latin typeface="+mj-lt"/>
              </a:rPr>
              <a:t>...</a:t>
            </a:r>
          </a:p>
          <a:p>
            <a:r>
              <a:rPr lang="nn-NO">
                <a:latin typeface="+mj-lt"/>
              </a:rPr>
              <a:t>}</a:t>
            </a:r>
            <a:endParaRPr lang="en-US">
              <a:latin typeface="+mj-lt"/>
            </a:endParaRPr>
          </a:p>
        </p:txBody>
      </p:sp>
      <p:sp>
        <p:nvSpPr>
          <p:cNvPr id="2" name="TextBox 1">
            <a:extLst>
              <a:ext uri="{FF2B5EF4-FFF2-40B4-BE49-F238E27FC236}">
                <a16:creationId xmlns:a16="http://schemas.microsoft.com/office/drawing/2014/main" id="{131ED96D-C220-0E84-8A80-6A8410816C10}"/>
              </a:ext>
            </a:extLst>
          </p:cNvPr>
          <p:cNvSpPr txBox="1"/>
          <p:nvPr/>
        </p:nvSpPr>
        <p:spPr>
          <a:xfrm>
            <a:off x="457200" y="2665344"/>
            <a:ext cx="8229600" cy="923330"/>
          </a:xfrm>
          <a:prstGeom prst="rect">
            <a:avLst/>
          </a:prstGeom>
          <a:solidFill>
            <a:schemeClr val="bg1"/>
          </a:solidFill>
          <a:ln>
            <a:solidFill>
              <a:schemeClr val="tx1"/>
            </a:solidFill>
          </a:ln>
        </p:spPr>
        <p:txBody>
          <a:bodyPr wrap="square" rtlCol="0">
            <a:spAutoFit/>
          </a:bodyPr>
          <a:lstStyle/>
          <a:p>
            <a:r>
              <a:rPr lang="nn-NO">
                <a:solidFill>
                  <a:srgbClr val="0000FF"/>
                </a:solidFill>
                <a:latin typeface="+mj-lt"/>
              </a:rPr>
              <a:t>for</a:t>
            </a:r>
            <a:r>
              <a:rPr lang="nn-NO">
                <a:latin typeface="+mj-lt"/>
              </a:rPr>
              <a:t> (</a:t>
            </a:r>
            <a:r>
              <a:rPr lang="nn-NO">
                <a:solidFill>
                  <a:srgbClr val="000080"/>
                </a:solidFill>
                <a:latin typeface="+mj-lt"/>
              </a:rPr>
              <a:t>int</a:t>
            </a:r>
            <a:r>
              <a:rPr lang="nn-NO">
                <a:latin typeface="+mj-lt"/>
              </a:rPr>
              <a:t> j = n - 1, i = 0; i &lt; n; j = i++) {</a:t>
            </a:r>
          </a:p>
          <a:p>
            <a:r>
              <a:rPr lang="nn-NO">
                <a:latin typeface="+mj-lt"/>
              </a:rPr>
              <a:t>    </a:t>
            </a:r>
            <a:r>
              <a:rPr lang="nn-NO">
                <a:solidFill>
                  <a:srgbClr val="BFBFBF"/>
                </a:solidFill>
                <a:latin typeface="+mj-lt"/>
              </a:rPr>
              <a:t>...</a:t>
            </a:r>
          </a:p>
          <a:p>
            <a:r>
              <a:rPr lang="nn-NO">
                <a:latin typeface="+mj-lt"/>
              </a:rPr>
              <a:t>}</a:t>
            </a:r>
            <a:endParaRPr lang="en-US">
              <a:latin typeface="+mj-lt"/>
            </a:endParaRPr>
          </a:p>
        </p:txBody>
      </p:sp>
      <p:sp>
        <p:nvSpPr>
          <p:cNvPr id="6" name="TextBox 5">
            <a:extLst>
              <a:ext uri="{FF2B5EF4-FFF2-40B4-BE49-F238E27FC236}">
                <a16:creationId xmlns:a16="http://schemas.microsoft.com/office/drawing/2014/main" id="{37856F2B-6FEB-739B-8A33-1D7AF72C57C2}"/>
              </a:ext>
            </a:extLst>
          </p:cNvPr>
          <p:cNvSpPr txBox="1"/>
          <p:nvPr/>
        </p:nvSpPr>
        <p:spPr>
          <a:xfrm>
            <a:off x="457200" y="3791814"/>
            <a:ext cx="8229600" cy="923330"/>
          </a:xfrm>
          <a:prstGeom prst="rect">
            <a:avLst/>
          </a:prstGeom>
          <a:solidFill>
            <a:schemeClr val="bg1"/>
          </a:solidFill>
          <a:ln>
            <a:solidFill>
              <a:schemeClr val="tx1"/>
            </a:solidFill>
          </a:ln>
        </p:spPr>
        <p:txBody>
          <a:bodyPr wrap="square" rtlCol="0">
            <a:spAutoFit/>
          </a:bodyPr>
          <a:lstStyle/>
          <a:p>
            <a:r>
              <a:rPr lang="nn-NO">
                <a:solidFill>
                  <a:srgbClr val="0000FF"/>
                </a:solidFill>
                <a:latin typeface="+mj-lt"/>
              </a:rPr>
              <a:t>for</a:t>
            </a:r>
            <a:r>
              <a:rPr lang="nn-NO">
                <a:latin typeface="+mj-lt"/>
              </a:rPr>
              <a:t> (;;) {</a:t>
            </a:r>
          </a:p>
          <a:p>
            <a:r>
              <a:rPr lang="nn-NO">
                <a:latin typeface="+mj-lt"/>
              </a:rPr>
              <a:t>    </a:t>
            </a:r>
            <a:r>
              <a:rPr lang="nn-NO">
                <a:solidFill>
                  <a:srgbClr val="BFBFBF"/>
                </a:solidFill>
                <a:latin typeface="+mj-lt"/>
              </a:rPr>
              <a:t>...</a:t>
            </a:r>
          </a:p>
          <a:p>
            <a:r>
              <a:rPr lang="nn-NO">
                <a:latin typeface="+mj-lt"/>
              </a:rPr>
              <a:t>}</a:t>
            </a:r>
            <a:endParaRPr lang="en-US">
              <a:latin typeface="+mj-lt"/>
            </a:endParaRPr>
          </a:p>
        </p:txBody>
      </p:sp>
    </p:spTree>
    <p:extLst>
      <p:ext uri="{BB962C8B-B14F-4D97-AF65-F5344CB8AC3E}">
        <p14:creationId xmlns:p14="http://schemas.microsoft.com/office/powerpoint/2010/main" val="1368724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animBg="1"/>
      <p:bldP spid="6" grpId="0" animBg="1"/>
    </p:bldLst>
  </p:timing>
</p:sld>
</file>

<file path=ppt/slides/slide7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35192-3686-FEC5-05DC-050D5B44F43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9F2B909-F624-A4E5-4046-F68C27F849E6}"/>
              </a:ext>
            </a:extLst>
          </p:cNvPr>
          <p:cNvSpPr>
            <a:spLocks noGrp="1"/>
          </p:cNvSpPr>
          <p:nvPr>
            <p:ph type="title"/>
          </p:nvPr>
        </p:nvSpPr>
        <p:spPr/>
        <p:txBody>
          <a:bodyPr/>
          <a:lstStyle/>
          <a:p>
            <a:r>
              <a:rPr lang="en-US">
                <a:latin typeface="+mj-lt"/>
              </a:rPr>
              <a:t>break</a:t>
            </a:r>
            <a:r>
              <a:rPr lang="en-US"/>
              <a:t> and </a:t>
            </a:r>
            <a:r>
              <a:rPr lang="en-US">
                <a:latin typeface="+mj-lt"/>
              </a:rPr>
              <a:t>continue</a:t>
            </a:r>
          </a:p>
        </p:txBody>
      </p:sp>
    </p:spTree>
    <p:extLst>
      <p:ext uri="{BB962C8B-B14F-4D97-AF65-F5344CB8AC3E}">
        <p14:creationId xmlns:p14="http://schemas.microsoft.com/office/powerpoint/2010/main" val="843460383"/>
      </p:ext>
    </p:extLst>
  </p:cSld>
  <p:clrMapOvr>
    <a:masterClrMapping/>
  </p:clrMapOvr>
</p:sld>
</file>

<file path=ppt/slides/slide7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2A0EC-5034-0880-AEDB-396F996A206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17CDCA2-71F6-AD47-8A75-DE2E4CA1D3D9}"/>
              </a:ext>
            </a:extLst>
          </p:cNvPr>
          <p:cNvSpPr>
            <a:spLocks noGrp="1"/>
          </p:cNvSpPr>
          <p:nvPr>
            <p:ph type="title"/>
          </p:nvPr>
        </p:nvSpPr>
        <p:spPr/>
        <p:txBody>
          <a:bodyPr/>
          <a:lstStyle/>
          <a:p>
            <a:r>
              <a:rPr lang="en-US">
                <a:solidFill>
                  <a:srgbClr val="0000FF"/>
                </a:solidFill>
                <a:latin typeface="+mj-lt"/>
              </a:rPr>
              <a:t>break</a:t>
            </a:r>
            <a:endParaRPr lang="en-US">
              <a:latin typeface="+mj-lt"/>
            </a:endParaRPr>
          </a:p>
        </p:txBody>
      </p:sp>
      <p:sp>
        <p:nvSpPr>
          <p:cNvPr id="4" name="Content Placeholder 3">
            <a:extLst>
              <a:ext uri="{FF2B5EF4-FFF2-40B4-BE49-F238E27FC236}">
                <a16:creationId xmlns:a16="http://schemas.microsoft.com/office/drawing/2014/main" id="{63E344CC-F950-0A79-140A-8E4911D4738F}"/>
              </a:ext>
            </a:extLst>
          </p:cNvPr>
          <p:cNvSpPr>
            <a:spLocks noGrp="1"/>
          </p:cNvSpPr>
          <p:nvPr>
            <p:ph sz="quarter" idx="10"/>
          </p:nvPr>
        </p:nvSpPr>
        <p:spPr/>
        <p:txBody>
          <a:bodyPr/>
          <a:lstStyle/>
          <a:p>
            <a:r>
              <a:rPr lang="en-US" b="1"/>
              <a:t>break</a:t>
            </a:r>
            <a:r>
              <a:rPr lang="en-US"/>
              <a:t> breaks out of the inner-most loop</a:t>
            </a:r>
          </a:p>
          <a:p>
            <a:endParaRPr lang="en-US"/>
          </a:p>
        </p:txBody>
      </p:sp>
      <p:sp>
        <p:nvSpPr>
          <p:cNvPr id="2" name="TextBox 1">
            <a:extLst>
              <a:ext uri="{FF2B5EF4-FFF2-40B4-BE49-F238E27FC236}">
                <a16:creationId xmlns:a16="http://schemas.microsoft.com/office/drawing/2014/main" id="{CE358F09-3D20-2BA4-3A97-E2C51D65B898}"/>
              </a:ext>
            </a:extLst>
          </p:cNvPr>
          <p:cNvSpPr txBox="1"/>
          <p:nvPr/>
        </p:nvSpPr>
        <p:spPr>
          <a:xfrm>
            <a:off x="457200" y="1730504"/>
            <a:ext cx="8229600" cy="2031325"/>
          </a:xfrm>
          <a:prstGeom prst="rect">
            <a:avLst/>
          </a:prstGeom>
          <a:solidFill>
            <a:schemeClr val="bg1"/>
          </a:solidFill>
          <a:ln>
            <a:solidFill>
              <a:schemeClr val="tx1"/>
            </a:solidFill>
          </a:ln>
        </p:spPr>
        <p:txBody>
          <a:bodyPr wrap="square" rtlCol="0">
            <a:spAutoFit/>
          </a:bodyPr>
          <a:lstStyle/>
          <a:p>
            <a:pPr lvl="0"/>
            <a:r>
              <a:rPr lang="en-US">
                <a:solidFill>
                  <a:srgbClr val="0000FF"/>
                </a:solidFill>
                <a:latin typeface="Consolas"/>
              </a:rPr>
              <a:t>while </a:t>
            </a:r>
            <a:r>
              <a:rPr lang="en-US">
                <a:latin typeface="Consolas"/>
              </a:rPr>
              <a:t>(true)</a:t>
            </a:r>
            <a:r>
              <a:rPr lang="en-US">
                <a:solidFill>
                  <a:srgbClr val="000000"/>
                </a:solidFill>
                <a:latin typeface="Consolas"/>
              </a:rPr>
              <a:t> {</a:t>
            </a:r>
          </a:p>
          <a:p>
            <a:pPr lvl="0"/>
            <a:r>
              <a:rPr lang="en-US">
                <a:latin typeface="Consolas"/>
              </a:rPr>
              <a:t>    </a:t>
            </a:r>
            <a:r>
              <a:rPr lang="en-US">
                <a:solidFill>
                  <a:srgbClr val="BFBFBF"/>
                </a:solidFill>
                <a:latin typeface="Consolas"/>
              </a:rPr>
              <a:t>...</a:t>
            </a:r>
          </a:p>
          <a:p>
            <a:pPr lvl="0"/>
            <a:endParaRPr lang="en-US">
              <a:solidFill>
                <a:srgbClr val="BFBFBF"/>
              </a:solidFill>
              <a:latin typeface="Consolas"/>
            </a:endParaRPr>
          </a:p>
          <a:p>
            <a:pPr lvl="0"/>
            <a:r>
              <a:rPr lang="en-US">
                <a:solidFill>
                  <a:srgbClr val="BFBFBF"/>
                </a:solidFill>
                <a:latin typeface="Consolas"/>
              </a:rPr>
              <a:t>    </a:t>
            </a:r>
            <a:r>
              <a:rPr lang="en-US">
                <a:solidFill>
                  <a:srgbClr val="0000FF"/>
                </a:solidFill>
                <a:latin typeface="Consolas"/>
              </a:rPr>
              <a:t>if </a:t>
            </a:r>
            <a:r>
              <a:rPr lang="en-US">
                <a:latin typeface="Consolas"/>
              </a:rPr>
              <a:t>(player.health &lt;= 0) {</a:t>
            </a:r>
          </a:p>
          <a:p>
            <a:pPr lvl="0"/>
            <a:r>
              <a:rPr lang="en-US">
                <a:latin typeface="Consolas"/>
              </a:rPr>
              <a:t>        </a:t>
            </a:r>
            <a:r>
              <a:rPr lang="en-US">
                <a:solidFill>
                  <a:srgbClr val="0000FF"/>
                </a:solidFill>
                <a:latin typeface="Consolas"/>
              </a:rPr>
              <a:t>break</a:t>
            </a:r>
            <a:r>
              <a:rPr lang="en-US">
                <a:latin typeface="Consolas"/>
              </a:rPr>
              <a:t>;</a:t>
            </a:r>
            <a:endParaRPr lang="en-US">
              <a:solidFill>
                <a:srgbClr val="0000FF"/>
              </a:solidFill>
              <a:latin typeface="Consolas"/>
            </a:endParaRPr>
          </a:p>
          <a:p>
            <a:pPr lvl="0"/>
            <a:r>
              <a:rPr lang="en-US">
                <a:latin typeface="Consolas"/>
              </a:rPr>
              <a:t>    }</a:t>
            </a:r>
          </a:p>
          <a:p>
            <a:pPr lvl="0"/>
            <a:r>
              <a:rPr lang="en-US">
                <a:solidFill>
                  <a:srgbClr val="000000"/>
                </a:solidFill>
                <a:latin typeface="Consolas"/>
              </a:rPr>
              <a:t>}</a:t>
            </a:r>
          </a:p>
        </p:txBody>
      </p:sp>
    </p:spTree>
    <p:extLst>
      <p:ext uri="{BB962C8B-B14F-4D97-AF65-F5344CB8AC3E}">
        <p14:creationId xmlns:p14="http://schemas.microsoft.com/office/powerpoint/2010/main" val="2458629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E8F44-0C20-264B-EF03-6D7FA039F51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398492F-5A48-C196-BDB9-C2744E09BA84}"/>
              </a:ext>
            </a:extLst>
          </p:cNvPr>
          <p:cNvSpPr>
            <a:spLocks noGrp="1"/>
          </p:cNvSpPr>
          <p:nvPr>
            <p:ph type="title"/>
          </p:nvPr>
        </p:nvSpPr>
        <p:spPr/>
        <p:txBody>
          <a:bodyPr/>
          <a:lstStyle/>
          <a:p>
            <a:r>
              <a:rPr lang="en-US">
                <a:solidFill>
                  <a:srgbClr val="0000FF"/>
                </a:solidFill>
                <a:latin typeface="+mj-lt"/>
              </a:rPr>
              <a:t>continue</a:t>
            </a:r>
            <a:endParaRPr lang="en-US">
              <a:latin typeface="+mj-lt"/>
            </a:endParaRPr>
          </a:p>
        </p:txBody>
      </p:sp>
      <p:sp>
        <p:nvSpPr>
          <p:cNvPr id="4" name="Content Placeholder 3">
            <a:extLst>
              <a:ext uri="{FF2B5EF4-FFF2-40B4-BE49-F238E27FC236}">
                <a16:creationId xmlns:a16="http://schemas.microsoft.com/office/drawing/2014/main" id="{947C1F74-56FE-CF78-65BD-B2E4DD239799}"/>
              </a:ext>
            </a:extLst>
          </p:cNvPr>
          <p:cNvSpPr>
            <a:spLocks noGrp="1"/>
          </p:cNvSpPr>
          <p:nvPr>
            <p:ph sz="quarter" idx="10"/>
          </p:nvPr>
        </p:nvSpPr>
        <p:spPr/>
        <p:txBody>
          <a:bodyPr/>
          <a:lstStyle/>
          <a:p>
            <a:r>
              <a:rPr lang="en-US" b="1"/>
              <a:t>continue</a:t>
            </a:r>
            <a:r>
              <a:rPr lang="en-US"/>
              <a:t> continues to the next iteration of a loop</a:t>
            </a:r>
          </a:p>
          <a:p>
            <a:endParaRPr lang="en-US"/>
          </a:p>
        </p:txBody>
      </p:sp>
      <p:sp>
        <p:nvSpPr>
          <p:cNvPr id="6" name="TextBox 5">
            <a:extLst>
              <a:ext uri="{FF2B5EF4-FFF2-40B4-BE49-F238E27FC236}">
                <a16:creationId xmlns:a16="http://schemas.microsoft.com/office/drawing/2014/main" id="{A27C7F27-2FA2-82E4-20B3-5A155E4D3711}"/>
              </a:ext>
            </a:extLst>
          </p:cNvPr>
          <p:cNvSpPr txBox="1"/>
          <p:nvPr/>
        </p:nvSpPr>
        <p:spPr>
          <a:xfrm>
            <a:off x="457200" y="1730504"/>
            <a:ext cx="8229600" cy="2585323"/>
          </a:xfrm>
          <a:prstGeom prst="rect">
            <a:avLst/>
          </a:prstGeom>
          <a:solidFill>
            <a:schemeClr val="bg1"/>
          </a:solidFill>
          <a:ln>
            <a:solidFill>
              <a:schemeClr val="tx1"/>
            </a:solidFill>
          </a:ln>
        </p:spPr>
        <p:txBody>
          <a:bodyPr wrap="square" rtlCol="0">
            <a:spAutoFit/>
          </a:bodyPr>
          <a:lstStyle/>
          <a:p>
            <a:pPr lvl="0"/>
            <a:r>
              <a:rPr lang="en-US">
                <a:latin typeface="Consolas"/>
              </a:rPr>
              <a:t>for (</a:t>
            </a:r>
            <a:r>
              <a:rPr lang="en-US">
                <a:solidFill>
                  <a:srgbClr val="000080"/>
                </a:solidFill>
                <a:latin typeface="Consolas"/>
              </a:rPr>
              <a:t>int </a:t>
            </a:r>
            <a:r>
              <a:rPr lang="en-US">
                <a:latin typeface="Consolas"/>
              </a:rPr>
              <a:t>i = 0; i &lt; chairs.length; ++i)</a:t>
            </a:r>
            <a:r>
              <a:rPr lang="en-US">
                <a:solidFill>
                  <a:srgbClr val="000000"/>
                </a:solidFill>
                <a:latin typeface="Consolas"/>
              </a:rPr>
              <a:t> {</a:t>
            </a:r>
          </a:p>
          <a:p>
            <a:pPr lvl="0"/>
            <a:r>
              <a:rPr lang="en-US">
                <a:solidFill>
                  <a:srgbClr val="BFBFBF"/>
                </a:solidFill>
                <a:latin typeface="Consolas"/>
              </a:rPr>
              <a:t>    </a:t>
            </a:r>
            <a:r>
              <a:rPr lang="en-US">
                <a:solidFill>
                  <a:srgbClr val="0000FF"/>
                </a:solidFill>
                <a:latin typeface="Consolas"/>
              </a:rPr>
              <a:t>if </a:t>
            </a:r>
            <a:r>
              <a:rPr lang="en-US">
                <a:latin typeface="Consolas"/>
              </a:rPr>
              <a:t>(!chairs[i].hasStudentInIt) {</a:t>
            </a:r>
          </a:p>
          <a:p>
            <a:pPr lvl="0"/>
            <a:r>
              <a:rPr lang="en-US">
                <a:latin typeface="Consolas"/>
              </a:rPr>
              <a:t>        </a:t>
            </a:r>
            <a:r>
              <a:rPr lang="en-US">
                <a:solidFill>
                  <a:srgbClr val="0000FF"/>
                </a:solidFill>
                <a:latin typeface="Consolas"/>
              </a:rPr>
              <a:t>continue</a:t>
            </a:r>
            <a:r>
              <a:rPr lang="en-US">
                <a:latin typeface="Consolas"/>
              </a:rPr>
              <a:t>;</a:t>
            </a:r>
            <a:endParaRPr lang="en-US">
              <a:solidFill>
                <a:srgbClr val="0000FF"/>
              </a:solidFill>
              <a:latin typeface="Consolas"/>
            </a:endParaRPr>
          </a:p>
          <a:p>
            <a:pPr lvl="0"/>
            <a:r>
              <a:rPr lang="en-US">
                <a:latin typeface="Consolas"/>
              </a:rPr>
              <a:t>    }</a:t>
            </a:r>
          </a:p>
          <a:p>
            <a:pPr lvl="0"/>
            <a:endParaRPr lang="en-US">
              <a:latin typeface="Consolas"/>
            </a:endParaRPr>
          </a:p>
          <a:p>
            <a:pPr lvl="0"/>
            <a:r>
              <a:rPr lang="en-US">
                <a:solidFill>
                  <a:srgbClr val="BFBFBF"/>
                </a:solidFill>
                <a:latin typeface="Consolas"/>
              </a:rPr>
              <a:t>    ...PRINT student's name...</a:t>
            </a:r>
          </a:p>
          <a:p>
            <a:r>
              <a:rPr lang="en-US">
                <a:solidFill>
                  <a:srgbClr val="BFBFBF"/>
                </a:solidFill>
                <a:latin typeface="Consolas"/>
              </a:rPr>
              <a:t>    ...PRINT student's social security number... </a:t>
            </a:r>
          </a:p>
          <a:p>
            <a:r>
              <a:rPr lang="en-US">
                <a:solidFill>
                  <a:srgbClr val="BFBFBF"/>
                </a:solidFill>
                <a:latin typeface="Consolas"/>
              </a:rPr>
              <a:t>    ...PRINT student's account and routing numbers...   </a:t>
            </a:r>
            <a:endParaRPr lang="en-US">
              <a:latin typeface="Consolas"/>
            </a:endParaRPr>
          </a:p>
          <a:p>
            <a:pPr lvl="0"/>
            <a:r>
              <a:rPr lang="en-US">
                <a:solidFill>
                  <a:srgbClr val="000000"/>
                </a:solidFill>
                <a:latin typeface="Consolas"/>
              </a:rPr>
              <a:t>}</a:t>
            </a:r>
          </a:p>
        </p:txBody>
      </p:sp>
    </p:spTree>
    <p:extLst>
      <p:ext uri="{BB962C8B-B14F-4D97-AF65-F5344CB8AC3E}">
        <p14:creationId xmlns:p14="http://schemas.microsoft.com/office/powerpoint/2010/main" val="2194101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BC474-F828-6B08-1E62-22FB43A8153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1F685C3-8F25-5608-B1D2-BD566489B465}"/>
              </a:ext>
            </a:extLst>
          </p:cNvPr>
          <p:cNvSpPr>
            <a:spLocks noGrp="1"/>
          </p:cNvSpPr>
          <p:nvPr>
            <p:ph type="title"/>
          </p:nvPr>
        </p:nvSpPr>
        <p:spPr/>
        <p:txBody>
          <a:bodyPr/>
          <a:lstStyle/>
          <a:p>
            <a:r>
              <a:rPr lang="en-US">
                <a:solidFill>
                  <a:srgbClr val="0000FF"/>
                </a:solidFill>
                <a:latin typeface="+mj-lt"/>
              </a:rPr>
              <a:t>continue</a:t>
            </a:r>
            <a:endParaRPr lang="en-US">
              <a:latin typeface="+mj-lt"/>
            </a:endParaRPr>
          </a:p>
        </p:txBody>
      </p:sp>
      <p:sp>
        <p:nvSpPr>
          <p:cNvPr id="4" name="Content Placeholder 3">
            <a:extLst>
              <a:ext uri="{FF2B5EF4-FFF2-40B4-BE49-F238E27FC236}">
                <a16:creationId xmlns:a16="http://schemas.microsoft.com/office/drawing/2014/main" id="{AACFCCCB-FC5C-83B3-E787-B53E40EA1179}"/>
              </a:ext>
            </a:extLst>
          </p:cNvPr>
          <p:cNvSpPr>
            <a:spLocks noGrp="1"/>
          </p:cNvSpPr>
          <p:nvPr>
            <p:ph sz="quarter" idx="10"/>
          </p:nvPr>
        </p:nvSpPr>
        <p:spPr/>
        <p:txBody>
          <a:bodyPr/>
          <a:lstStyle/>
          <a:p>
            <a:r>
              <a:rPr lang="en-US" b="1"/>
              <a:t>you never *need* a continue</a:t>
            </a:r>
            <a:br>
              <a:rPr lang="en-US"/>
            </a:br>
            <a:r>
              <a:rPr lang="en-US"/>
              <a:t>( just wrap the body in an if statement )</a:t>
            </a:r>
          </a:p>
          <a:p>
            <a:endParaRPr lang="en-US"/>
          </a:p>
        </p:txBody>
      </p:sp>
      <p:sp>
        <p:nvSpPr>
          <p:cNvPr id="6" name="TextBox 5">
            <a:extLst>
              <a:ext uri="{FF2B5EF4-FFF2-40B4-BE49-F238E27FC236}">
                <a16:creationId xmlns:a16="http://schemas.microsoft.com/office/drawing/2014/main" id="{1AD62120-8206-8842-23AF-064DBA917831}"/>
              </a:ext>
            </a:extLst>
          </p:cNvPr>
          <p:cNvSpPr txBox="1"/>
          <p:nvPr/>
        </p:nvSpPr>
        <p:spPr>
          <a:xfrm>
            <a:off x="457200" y="1730504"/>
            <a:ext cx="8229600" cy="2031325"/>
          </a:xfrm>
          <a:prstGeom prst="rect">
            <a:avLst/>
          </a:prstGeom>
          <a:solidFill>
            <a:schemeClr val="bg1"/>
          </a:solidFill>
          <a:ln>
            <a:solidFill>
              <a:schemeClr val="tx1"/>
            </a:solidFill>
          </a:ln>
        </p:spPr>
        <p:txBody>
          <a:bodyPr wrap="square" rtlCol="0">
            <a:spAutoFit/>
          </a:bodyPr>
          <a:lstStyle/>
          <a:p>
            <a:pPr lvl="0"/>
            <a:r>
              <a:rPr lang="en-US">
                <a:latin typeface="Consolas"/>
              </a:rPr>
              <a:t>for (</a:t>
            </a:r>
            <a:r>
              <a:rPr lang="en-US">
                <a:solidFill>
                  <a:srgbClr val="000080"/>
                </a:solidFill>
                <a:latin typeface="Consolas"/>
              </a:rPr>
              <a:t>int </a:t>
            </a:r>
            <a:r>
              <a:rPr lang="en-US">
                <a:latin typeface="Consolas"/>
              </a:rPr>
              <a:t>i = 0; i &lt; chairs.length; ++i)</a:t>
            </a:r>
            <a:r>
              <a:rPr lang="en-US">
                <a:solidFill>
                  <a:srgbClr val="000000"/>
                </a:solidFill>
                <a:latin typeface="Consolas"/>
              </a:rPr>
              <a:t> {</a:t>
            </a:r>
          </a:p>
          <a:p>
            <a:pPr lvl="0"/>
            <a:r>
              <a:rPr lang="en-US">
                <a:solidFill>
                  <a:srgbClr val="BFBFBF"/>
                </a:solidFill>
                <a:latin typeface="Consolas"/>
              </a:rPr>
              <a:t>    </a:t>
            </a:r>
            <a:r>
              <a:rPr lang="en-US">
                <a:solidFill>
                  <a:srgbClr val="0000FF"/>
                </a:solidFill>
                <a:latin typeface="Consolas"/>
              </a:rPr>
              <a:t>if </a:t>
            </a:r>
            <a:r>
              <a:rPr lang="en-US">
                <a:latin typeface="Consolas"/>
              </a:rPr>
              <a:t>(chairs[i].hasStudentInIt) {</a:t>
            </a:r>
          </a:p>
          <a:p>
            <a:pPr lvl="0"/>
            <a:r>
              <a:rPr lang="en-US">
                <a:solidFill>
                  <a:srgbClr val="BFBFBF"/>
                </a:solidFill>
                <a:latin typeface="Consolas"/>
              </a:rPr>
              <a:t>        ...PRINT student's name... </a:t>
            </a:r>
          </a:p>
          <a:p>
            <a:r>
              <a:rPr lang="en-US">
                <a:solidFill>
                  <a:srgbClr val="BFBFBF"/>
                </a:solidFill>
                <a:latin typeface="Consolas"/>
              </a:rPr>
              <a:t>        ...PRINT student's social security number...  </a:t>
            </a:r>
            <a:endParaRPr lang="en-US">
              <a:latin typeface="Consolas"/>
            </a:endParaRPr>
          </a:p>
          <a:p>
            <a:r>
              <a:rPr lang="en-US">
                <a:solidFill>
                  <a:srgbClr val="BFBFBF"/>
                </a:solidFill>
                <a:latin typeface="Consolas"/>
              </a:rPr>
              <a:t>        ...PRINT student's account and routing numbers...  </a:t>
            </a:r>
            <a:endParaRPr lang="en-US">
              <a:latin typeface="Consolas"/>
            </a:endParaRPr>
          </a:p>
          <a:p>
            <a:pPr lvl="0"/>
            <a:r>
              <a:rPr lang="en-US">
                <a:solidFill>
                  <a:srgbClr val="000000"/>
                </a:solidFill>
                <a:latin typeface="Consolas"/>
              </a:rPr>
              <a:t>    }</a:t>
            </a:r>
          </a:p>
          <a:p>
            <a:pPr lvl="0"/>
            <a:r>
              <a:rPr lang="en-US">
                <a:solidFill>
                  <a:srgbClr val="000000"/>
                </a:solidFill>
                <a:latin typeface="Consolas"/>
              </a:rPr>
              <a:t>}</a:t>
            </a:r>
          </a:p>
        </p:txBody>
      </p:sp>
    </p:spTree>
    <p:extLst>
      <p:ext uri="{BB962C8B-B14F-4D97-AF65-F5344CB8AC3E}">
        <p14:creationId xmlns:p14="http://schemas.microsoft.com/office/powerpoint/2010/main" val="971877391"/>
      </p:ext>
    </p:extLst>
  </p:cSld>
  <p:clrMapOvr>
    <a:masterClrMapping/>
  </p:clrMapOvr>
</p:sld>
</file>

<file path=ppt/slides/slide7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682E4-BE6A-D14F-B40D-DF65698E6CE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5816FAD-D520-FF18-21F3-71FC263ED23C}"/>
              </a:ext>
            </a:extLst>
          </p:cNvPr>
          <p:cNvSpPr>
            <a:spLocks noGrp="1"/>
          </p:cNvSpPr>
          <p:nvPr>
            <p:ph type="title"/>
          </p:nvPr>
        </p:nvSpPr>
        <p:spPr>
          <a:xfrm>
            <a:off x="457200" y="2143125"/>
            <a:ext cx="8229600" cy="857250"/>
          </a:xfrm>
        </p:spPr>
        <p:txBody>
          <a:bodyPr/>
          <a:lstStyle/>
          <a:p>
            <a:r>
              <a:rPr lang="en-US"/>
              <a:t>exceptions to the rule that "scope is the same as curly braces"</a:t>
            </a:r>
          </a:p>
        </p:txBody>
      </p:sp>
    </p:spTree>
    <p:extLst>
      <p:ext uri="{BB962C8B-B14F-4D97-AF65-F5344CB8AC3E}">
        <p14:creationId xmlns:p14="http://schemas.microsoft.com/office/powerpoint/2010/main" val="1308007837"/>
      </p:ext>
    </p:extLst>
  </p:cSld>
  <p:clrMapOvr>
    <a:masterClrMapping/>
  </p:clrMapOvr>
</p:sld>
</file>

<file path=ppt/slides/slide7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274B6-5B81-293B-47C9-54D8A7C4F3E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FFD3497-2919-FDF3-75C8-29B91EEC9D16}"/>
              </a:ext>
            </a:extLst>
          </p:cNvPr>
          <p:cNvSpPr>
            <a:spLocks noGrp="1"/>
          </p:cNvSpPr>
          <p:nvPr>
            <p:ph type="title"/>
          </p:nvPr>
        </p:nvSpPr>
        <p:spPr/>
        <p:txBody>
          <a:bodyPr/>
          <a:lstStyle/>
          <a:p>
            <a:r>
              <a:rPr lang="en-US">
                <a:solidFill>
                  <a:srgbClr val="0000FF"/>
                </a:solidFill>
                <a:latin typeface="+mj-lt"/>
              </a:rPr>
              <a:t>for</a:t>
            </a:r>
            <a:r>
              <a:rPr lang="en-US">
                <a:latin typeface="+mj-lt"/>
              </a:rPr>
              <a:t> (</a:t>
            </a:r>
            <a:r>
              <a:rPr lang="en-US">
                <a:solidFill>
                  <a:schemeClr val="bg1">
                    <a:lumMod val="75000"/>
                  </a:schemeClr>
                </a:solidFill>
                <a:latin typeface="+mj-lt"/>
              </a:rPr>
              <a:t>.</a:t>
            </a:r>
            <a:r>
              <a:rPr lang="en-US">
                <a:solidFill>
                  <a:srgbClr val="BFBFBF"/>
                </a:solidFill>
                <a:latin typeface="+mj-lt"/>
              </a:rPr>
              <a:t>.</a:t>
            </a:r>
            <a:r>
              <a:rPr lang="en-US">
                <a:solidFill>
                  <a:schemeClr val="bg1">
                    <a:lumMod val="75000"/>
                  </a:schemeClr>
                </a:solidFill>
                <a:latin typeface="+mj-lt"/>
              </a:rPr>
              <a:t>.</a:t>
            </a:r>
            <a:r>
              <a:rPr lang="en-US">
                <a:latin typeface="+mj-lt"/>
              </a:rPr>
              <a:t>; </a:t>
            </a:r>
            <a:r>
              <a:rPr lang="en-US">
                <a:solidFill>
                  <a:schemeClr val="bg1">
                    <a:lumMod val="75000"/>
                  </a:schemeClr>
                </a:solidFill>
                <a:latin typeface="+mj-lt"/>
              </a:rPr>
              <a:t>...</a:t>
            </a:r>
            <a:r>
              <a:rPr lang="en-US">
                <a:latin typeface="+mj-lt"/>
              </a:rPr>
              <a:t>; </a:t>
            </a:r>
            <a:r>
              <a:rPr lang="en-US">
                <a:solidFill>
                  <a:schemeClr val="bg1">
                    <a:lumMod val="75000"/>
                  </a:schemeClr>
                </a:solidFill>
                <a:latin typeface="+mj-lt"/>
              </a:rPr>
              <a:t>...</a:t>
            </a:r>
            <a:r>
              <a:rPr lang="en-US">
                <a:latin typeface="+mj-lt"/>
              </a:rPr>
              <a:t>) { </a:t>
            </a:r>
            <a:r>
              <a:rPr lang="en-US">
                <a:solidFill>
                  <a:schemeClr val="bg1">
                    <a:lumMod val="75000"/>
                  </a:schemeClr>
                </a:solidFill>
                <a:latin typeface="+mj-lt"/>
              </a:rPr>
              <a:t>...</a:t>
            </a:r>
            <a:r>
              <a:rPr lang="en-US">
                <a:latin typeface="+mj-lt"/>
              </a:rPr>
              <a:t> }</a:t>
            </a:r>
          </a:p>
        </p:txBody>
      </p:sp>
      <p:sp>
        <p:nvSpPr>
          <p:cNvPr id="4" name="Content Placeholder 3">
            <a:extLst>
              <a:ext uri="{FF2B5EF4-FFF2-40B4-BE49-F238E27FC236}">
                <a16:creationId xmlns:a16="http://schemas.microsoft.com/office/drawing/2014/main" id="{CCF2AC2A-D460-7559-2EFC-F8FC621C4072}"/>
              </a:ext>
            </a:extLst>
          </p:cNvPr>
          <p:cNvSpPr>
            <a:spLocks noGrp="1"/>
          </p:cNvSpPr>
          <p:nvPr>
            <p:ph sz="quarter" idx="10"/>
          </p:nvPr>
        </p:nvSpPr>
        <p:spPr/>
        <p:txBody>
          <a:bodyPr/>
          <a:lstStyle/>
          <a:p>
            <a:r>
              <a:rPr lang="en-US"/>
              <a:t>variables declared inside the parentheses of a </a:t>
            </a:r>
            <a:r>
              <a:rPr lang="en-US" b="1"/>
              <a:t>for loop</a:t>
            </a:r>
            <a:r>
              <a:rPr lang="en-US"/>
              <a:t> are not available outside of the for loop (this is probably the behavior you already expected)</a:t>
            </a:r>
          </a:p>
        </p:txBody>
      </p:sp>
      <p:sp>
        <p:nvSpPr>
          <p:cNvPr id="5" name="TextBox 4">
            <a:extLst>
              <a:ext uri="{FF2B5EF4-FFF2-40B4-BE49-F238E27FC236}">
                <a16:creationId xmlns:a16="http://schemas.microsoft.com/office/drawing/2014/main" id="{4462541B-6545-94A2-D956-B2B669EBF081}"/>
              </a:ext>
            </a:extLst>
          </p:cNvPr>
          <p:cNvSpPr txBox="1"/>
          <p:nvPr/>
        </p:nvSpPr>
        <p:spPr>
          <a:xfrm>
            <a:off x="457200" y="1627288"/>
            <a:ext cx="8229600" cy="2862322"/>
          </a:xfrm>
          <a:prstGeom prst="rect">
            <a:avLst/>
          </a:prstGeom>
          <a:solidFill>
            <a:schemeClr val="bg1"/>
          </a:solidFill>
          <a:ln>
            <a:solidFill>
              <a:schemeClr val="tx1"/>
            </a:solidFill>
          </a:ln>
        </p:spPr>
        <p:txBody>
          <a:bodyPr wrap="square" rtlCol="0">
            <a:spAutoFit/>
          </a:bodyPr>
          <a:lstStyle/>
          <a:p>
            <a:r>
              <a:rPr lang="en-US" b="1">
                <a:highlight>
                  <a:srgbClr val="FFFF00"/>
                </a:highlight>
                <a:latin typeface="Consolas"/>
              </a:rPr>
              <a:t>Compile Error:</a:t>
            </a:r>
            <a:r>
              <a:rPr lang="en-US">
                <a:highlight>
                  <a:srgbClr val="FFFF00"/>
                </a:highlight>
                <a:latin typeface="Consolas"/>
              </a:rPr>
              <a:t> cannot find symbol i</a:t>
            </a:r>
          </a:p>
          <a:p>
            <a:endParaRPr lang="nn-NO">
              <a:latin typeface="Consolas"/>
            </a:endParaRPr>
          </a:p>
          <a:p>
            <a:r>
              <a:rPr lang="nn-NO">
                <a:solidFill>
                  <a:srgbClr val="0000FF"/>
                </a:solidFill>
                <a:latin typeface="Consolas"/>
              </a:rPr>
              <a:t>class</a:t>
            </a:r>
            <a:r>
              <a:rPr lang="nn-NO">
                <a:latin typeface="Consolas"/>
              </a:rPr>
              <a:t> </a:t>
            </a:r>
            <a:r>
              <a:rPr lang="nn-NO">
                <a:solidFill>
                  <a:srgbClr val="000080"/>
                </a:solidFill>
                <a:latin typeface="Consolas"/>
              </a:rPr>
              <a:t>Main</a:t>
            </a:r>
            <a:r>
              <a:rPr lang="nn-NO">
                <a:latin typeface="Consolas"/>
              </a:rPr>
              <a:t> {</a:t>
            </a:r>
          </a:p>
          <a:p>
            <a:r>
              <a:rPr lang="nn-NO">
                <a:latin typeface="Consolas"/>
              </a:rPr>
              <a:t>    </a:t>
            </a:r>
            <a:r>
              <a:rPr lang="nn-NO">
                <a:solidFill>
                  <a:srgbClr val="0000FF"/>
                </a:solidFill>
                <a:latin typeface="Consolas"/>
              </a:rPr>
              <a:t>public</a:t>
            </a:r>
            <a:r>
              <a:rPr lang="nn-NO">
                <a:latin typeface="Consolas"/>
              </a:rPr>
              <a:t> </a:t>
            </a:r>
            <a:r>
              <a:rPr lang="nn-NO">
                <a:solidFill>
                  <a:srgbClr val="0000FF"/>
                </a:solidFill>
                <a:latin typeface="Consolas"/>
              </a:rPr>
              <a:t>static</a:t>
            </a:r>
            <a:r>
              <a:rPr lang="nn-NO">
                <a:latin typeface="Consolas"/>
              </a:rPr>
              <a:t> </a:t>
            </a:r>
            <a:r>
              <a:rPr lang="nn-NO">
                <a:solidFill>
                  <a:srgbClr val="000080"/>
                </a:solidFill>
                <a:latin typeface="Consolas"/>
              </a:rPr>
              <a:t>void</a:t>
            </a:r>
            <a:r>
              <a:rPr lang="nn-NO">
                <a:latin typeface="Consolas"/>
              </a:rPr>
              <a:t> main(</a:t>
            </a:r>
            <a:r>
              <a:rPr lang="nn-NO">
                <a:solidFill>
                  <a:srgbClr val="000080"/>
                </a:solidFill>
                <a:latin typeface="Consolas"/>
              </a:rPr>
              <a:t>String</a:t>
            </a:r>
            <a:r>
              <a:rPr lang="nn-NO">
                <a:latin typeface="Consolas"/>
              </a:rPr>
              <a:t>[] arguments) {</a:t>
            </a:r>
          </a:p>
          <a:p>
            <a:r>
              <a:rPr lang="nn-NO">
                <a:latin typeface="Consolas"/>
              </a:rPr>
              <a:t>        </a:t>
            </a:r>
            <a:r>
              <a:rPr lang="nn-NO">
                <a:solidFill>
                  <a:srgbClr val="0000FF"/>
                </a:solidFill>
                <a:latin typeface="Consolas"/>
              </a:rPr>
              <a:t>for</a:t>
            </a:r>
            <a:r>
              <a:rPr lang="nn-NO">
                <a:latin typeface="Consolas"/>
              </a:rPr>
              <a:t> (</a:t>
            </a:r>
            <a:r>
              <a:rPr lang="nn-NO">
                <a:solidFill>
                  <a:srgbClr val="000080"/>
                </a:solidFill>
                <a:latin typeface="Consolas"/>
              </a:rPr>
              <a:t>int</a:t>
            </a:r>
            <a:r>
              <a:rPr lang="nn-NO">
                <a:latin typeface="Consolas"/>
              </a:rPr>
              <a:t> i = 0; i &lt; 10; ++i) {</a:t>
            </a:r>
          </a:p>
          <a:p>
            <a:r>
              <a:rPr lang="nn-NO">
                <a:latin typeface="Consolas"/>
              </a:rPr>
              <a:t>            </a:t>
            </a:r>
            <a:r>
              <a:rPr lang="nn-NO">
                <a:solidFill>
                  <a:schemeClr val="bg1">
                    <a:lumMod val="50000"/>
                  </a:schemeClr>
                </a:solidFill>
                <a:latin typeface="Consolas"/>
              </a:rPr>
              <a:t>...</a:t>
            </a:r>
          </a:p>
          <a:p>
            <a:r>
              <a:rPr lang="nn-NO">
                <a:latin typeface="Consolas"/>
              </a:rPr>
              <a:t>        }</a:t>
            </a:r>
          </a:p>
          <a:p>
            <a:r>
              <a:rPr lang="nn-NO">
                <a:highlight>
                  <a:srgbClr val="FFFF00"/>
                </a:highlight>
                <a:latin typeface="Consolas"/>
              </a:rPr>
              <a:t>        </a:t>
            </a:r>
            <a:r>
              <a:rPr lang="nn-NO">
                <a:solidFill>
                  <a:srgbClr val="000080"/>
                </a:solidFill>
                <a:highlight>
                  <a:srgbClr val="FFFF00"/>
                </a:highlight>
                <a:latin typeface="Consolas"/>
              </a:rPr>
              <a:t>PRINT</a:t>
            </a:r>
            <a:r>
              <a:rPr lang="nn-NO">
                <a:highlight>
                  <a:srgbClr val="FFFF00"/>
                </a:highlight>
                <a:latin typeface="Consolas"/>
              </a:rPr>
              <a:t>(i);</a:t>
            </a:r>
          </a:p>
          <a:p>
            <a:r>
              <a:rPr lang="nn-NO">
                <a:latin typeface="Consolas"/>
              </a:rPr>
              <a:t>    } </a:t>
            </a:r>
          </a:p>
          <a:p>
            <a:r>
              <a:rPr lang="nn-NO">
                <a:latin typeface="Consolas"/>
              </a:rPr>
              <a:t>}</a:t>
            </a:r>
            <a:endParaRPr lang="en-US">
              <a:latin typeface="+mj-lt"/>
            </a:endParaRPr>
          </a:p>
        </p:txBody>
      </p:sp>
    </p:spTree>
    <p:extLst>
      <p:ext uri="{BB962C8B-B14F-4D97-AF65-F5344CB8AC3E}">
        <p14:creationId xmlns:p14="http://schemas.microsoft.com/office/powerpoint/2010/main" val="3649692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960EC-4DAB-9D07-2A24-4E0BF7C2B3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19152D-78A6-7311-BD08-4CB995C893E9}"/>
              </a:ext>
            </a:extLst>
          </p:cNvPr>
          <p:cNvSpPr>
            <a:spLocks noGrp="1"/>
          </p:cNvSpPr>
          <p:nvPr>
            <p:ph type="title"/>
          </p:nvPr>
        </p:nvSpPr>
        <p:spPr/>
        <p:txBody>
          <a:bodyPr>
            <a:normAutofit/>
          </a:bodyPr>
          <a:lstStyle/>
          <a:p>
            <a:pPr lvl="0"/>
            <a:r>
              <a:rPr lang="en-US" b="1"/>
              <a:t>☠ if, else, for, while without braces (1/2)</a:t>
            </a:r>
          </a:p>
        </p:txBody>
      </p:sp>
      <p:sp>
        <p:nvSpPr>
          <p:cNvPr id="5" name="Content Placeholder 4">
            <a:extLst>
              <a:ext uri="{FF2B5EF4-FFF2-40B4-BE49-F238E27FC236}">
                <a16:creationId xmlns:a16="http://schemas.microsoft.com/office/drawing/2014/main" id="{40EB6E43-3C10-B191-F494-2FDA132BF7EE}"/>
              </a:ext>
            </a:extLst>
          </p:cNvPr>
          <p:cNvSpPr>
            <a:spLocks noGrp="1"/>
          </p:cNvSpPr>
          <p:nvPr>
            <p:ph sz="quarter" idx="10"/>
          </p:nvPr>
        </p:nvSpPr>
        <p:spPr/>
        <p:txBody>
          <a:bodyPr/>
          <a:lstStyle/>
          <a:p>
            <a:r>
              <a:rPr lang="en-US" b="1"/>
              <a:t>☠ if you (intentionally or unintentionally) forget your curly braces, then Java will assume you wanted them go around</a:t>
            </a:r>
            <a:br>
              <a:rPr lang="en-US" b="1"/>
            </a:br>
            <a:r>
              <a:rPr lang="en-US" b="1" u="sng"/>
              <a:t>just the first statement</a:t>
            </a:r>
            <a:r>
              <a:rPr lang="en-US" b="1"/>
              <a:t> after </a:t>
            </a:r>
            <a:r>
              <a:rPr lang="en-US" b="1">
                <a:latin typeface="+mj-lt"/>
              </a:rPr>
              <a:t>if (...)</a:t>
            </a:r>
            <a:r>
              <a:rPr lang="en-US" b="1"/>
              <a:t>, </a:t>
            </a:r>
            <a:r>
              <a:rPr lang="en-US" b="1">
                <a:latin typeface="+mj-lt"/>
              </a:rPr>
              <a:t>else</a:t>
            </a:r>
            <a:r>
              <a:rPr lang="en-US" b="1"/>
              <a:t>, </a:t>
            </a:r>
            <a:r>
              <a:rPr lang="en-US" b="1">
                <a:latin typeface="+mj-lt"/>
              </a:rPr>
              <a:t>for (...)</a:t>
            </a:r>
            <a:r>
              <a:rPr lang="en-US" b="1"/>
              <a:t>, or </a:t>
            </a:r>
            <a:r>
              <a:rPr lang="en-US" b="1">
                <a:latin typeface="+mj-lt"/>
              </a:rPr>
              <a:t>while (...)</a:t>
            </a:r>
          </a:p>
          <a:p>
            <a:pPr lvl="1"/>
            <a:r>
              <a:rPr lang="en-US" b="1"/>
              <a:t>in this class, i highly recommend always using curly braces</a:t>
            </a:r>
          </a:p>
        </p:txBody>
      </p:sp>
      <p:sp>
        <p:nvSpPr>
          <p:cNvPr id="4" name="TextBox 3">
            <a:extLst>
              <a:ext uri="{FF2B5EF4-FFF2-40B4-BE49-F238E27FC236}">
                <a16:creationId xmlns:a16="http://schemas.microsoft.com/office/drawing/2014/main" id="{271B7BB0-80AC-C447-2B1D-5BD105DD6316}"/>
              </a:ext>
            </a:extLst>
          </p:cNvPr>
          <p:cNvSpPr txBox="1"/>
          <p:nvPr/>
        </p:nvSpPr>
        <p:spPr>
          <a:xfrm>
            <a:off x="457200" y="2439228"/>
            <a:ext cx="8229600" cy="646331"/>
          </a:xfrm>
          <a:prstGeom prst="rect">
            <a:avLst/>
          </a:prstGeom>
          <a:solidFill>
            <a:schemeClr val="bg1"/>
          </a:solidFill>
          <a:ln>
            <a:solidFill>
              <a:schemeClr val="tx1"/>
            </a:solidFill>
          </a:ln>
        </p:spPr>
        <p:txBody>
          <a:bodyPr wrap="square" rtlCol="0">
            <a:spAutoFit/>
          </a:bodyPr>
          <a:lstStyle/>
          <a:p>
            <a:pPr lvl="0"/>
            <a:r>
              <a:rPr lang="en-US">
                <a:solidFill>
                  <a:srgbClr val="0000FF"/>
                </a:solidFill>
                <a:latin typeface="Consolas"/>
              </a:rPr>
              <a:t>if </a:t>
            </a:r>
            <a:r>
              <a:rPr lang="en-US">
                <a:solidFill>
                  <a:srgbClr val="000000"/>
                </a:solidFill>
                <a:latin typeface="Consolas"/>
              </a:rPr>
              <a:t>(choice == 0)</a:t>
            </a:r>
          </a:p>
          <a:p>
            <a:pPr lvl="0"/>
            <a:r>
              <a:rPr lang="en-US">
                <a:solidFill>
                  <a:srgbClr val="000000"/>
                </a:solidFill>
                <a:latin typeface="Consolas"/>
              </a:rPr>
              <a:t>    </a:t>
            </a:r>
            <a:r>
              <a:rPr lang="en-US">
                <a:solidFill>
                  <a:srgbClr val="000080"/>
                </a:solidFill>
                <a:latin typeface="Consolas"/>
                <a:ea typeface="Segoe UI Emoji" panose="020B0502040204020203" pitchFamily="34" charset="0"/>
              </a:rPr>
              <a:t>PRINT</a:t>
            </a:r>
            <a:r>
              <a:rPr lang="en-US">
                <a:latin typeface="Consolas"/>
                <a:ea typeface="Segoe UI Emoji" panose="020B0502040204020203" pitchFamily="34" charset="0"/>
              </a:rPr>
              <a:t>(</a:t>
            </a:r>
            <a:r>
              <a:rPr lang="en-US">
                <a:solidFill>
                  <a:srgbClr val="B71111"/>
                </a:solidFill>
                <a:latin typeface="Consolas"/>
                <a:ea typeface="Segoe UI Emoji" panose="020B0502040204020203" pitchFamily="34" charset="0"/>
              </a:rPr>
              <a:t>"The user chose 0. What a fine choice"</a:t>
            </a:r>
            <a:r>
              <a:rPr lang="en-US">
                <a:latin typeface="Consolas"/>
                <a:ea typeface="Segoe UI Emoji" panose="020B0502040204020203" pitchFamily="34" charset="0"/>
              </a:rPr>
              <a:t>);</a:t>
            </a:r>
            <a:endParaRPr lang="en-US">
              <a:latin typeface="Consolas"/>
            </a:endParaRPr>
          </a:p>
        </p:txBody>
      </p:sp>
      <p:sp>
        <p:nvSpPr>
          <p:cNvPr id="6" name="TextBox 5">
            <a:extLst>
              <a:ext uri="{FF2B5EF4-FFF2-40B4-BE49-F238E27FC236}">
                <a16:creationId xmlns:a16="http://schemas.microsoft.com/office/drawing/2014/main" id="{BAF42792-DC47-7CDC-2AEE-D3315F3588F1}"/>
              </a:ext>
            </a:extLst>
          </p:cNvPr>
          <p:cNvSpPr txBox="1"/>
          <p:nvPr/>
        </p:nvSpPr>
        <p:spPr>
          <a:xfrm>
            <a:off x="457200" y="3346572"/>
            <a:ext cx="8229600" cy="923330"/>
          </a:xfrm>
          <a:prstGeom prst="rect">
            <a:avLst/>
          </a:prstGeom>
          <a:solidFill>
            <a:schemeClr val="bg1"/>
          </a:solidFill>
          <a:ln>
            <a:solidFill>
              <a:schemeClr val="tx1"/>
            </a:solidFill>
          </a:ln>
        </p:spPr>
        <p:txBody>
          <a:bodyPr wrap="square" rtlCol="0">
            <a:spAutoFit/>
          </a:bodyPr>
          <a:lstStyle/>
          <a:p>
            <a:pPr lvl="0"/>
            <a:r>
              <a:rPr lang="en-US">
                <a:solidFill>
                  <a:srgbClr val="0000FF"/>
                </a:solidFill>
                <a:latin typeface="Consolas"/>
              </a:rPr>
              <a:t>if </a:t>
            </a:r>
            <a:r>
              <a:rPr lang="en-US">
                <a:solidFill>
                  <a:srgbClr val="000000"/>
                </a:solidFill>
                <a:latin typeface="Consolas"/>
              </a:rPr>
              <a:t>(choice == 0) {</a:t>
            </a:r>
          </a:p>
          <a:p>
            <a:pPr lvl="0"/>
            <a:r>
              <a:rPr lang="en-US">
                <a:solidFill>
                  <a:srgbClr val="000000"/>
                </a:solidFill>
                <a:latin typeface="Consolas"/>
              </a:rPr>
              <a:t>    </a:t>
            </a:r>
            <a:r>
              <a:rPr lang="en-US">
                <a:solidFill>
                  <a:srgbClr val="000080"/>
                </a:solidFill>
                <a:latin typeface="Consolas"/>
                <a:ea typeface="Segoe UI Emoji" panose="020B0502040204020203" pitchFamily="34" charset="0"/>
              </a:rPr>
              <a:t>PRINT</a:t>
            </a:r>
            <a:r>
              <a:rPr lang="en-US">
                <a:latin typeface="Consolas"/>
                <a:ea typeface="Segoe UI Emoji" panose="020B0502040204020203" pitchFamily="34" charset="0"/>
              </a:rPr>
              <a:t>(</a:t>
            </a:r>
            <a:r>
              <a:rPr lang="en-US">
                <a:solidFill>
                  <a:srgbClr val="B71111"/>
                </a:solidFill>
                <a:latin typeface="Consolas"/>
                <a:ea typeface="Segoe UI Emoji" panose="020B0502040204020203" pitchFamily="34" charset="0"/>
              </a:rPr>
              <a:t>"The user chose 0. What a fine choice"</a:t>
            </a:r>
            <a:r>
              <a:rPr lang="en-US">
                <a:latin typeface="Consolas"/>
                <a:ea typeface="Segoe UI Emoji" panose="020B0502040204020203" pitchFamily="34" charset="0"/>
              </a:rPr>
              <a:t>);</a:t>
            </a:r>
          </a:p>
          <a:p>
            <a:pPr lvl="0"/>
            <a:r>
              <a:rPr lang="en-US">
                <a:latin typeface="Consolas"/>
                <a:ea typeface="Segoe UI Emoji" panose="020B0502040204020203" pitchFamily="34" charset="0"/>
              </a:rPr>
              <a:t>}</a:t>
            </a:r>
            <a:endParaRPr lang="en-US">
              <a:latin typeface="Consolas"/>
            </a:endParaRPr>
          </a:p>
        </p:txBody>
      </p:sp>
    </p:spTree>
    <p:extLst>
      <p:ext uri="{BB962C8B-B14F-4D97-AF65-F5344CB8AC3E}">
        <p14:creationId xmlns:p14="http://schemas.microsoft.com/office/powerpoint/2010/main" val="3305201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7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73AAE-05D3-11D2-59B9-022E50B45F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E25ACE-44F0-166A-BBB1-09B19FC22F9C}"/>
              </a:ext>
            </a:extLst>
          </p:cNvPr>
          <p:cNvSpPr>
            <a:spLocks noGrp="1"/>
          </p:cNvSpPr>
          <p:nvPr>
            <p:ph type="title"/>
          </p:nvPr>
        </p:nvSpPr>
        <p:spPr/>
        <p:txBody>
          <a:bodyPr>
            <a:normAutofit/>
          </a:bodyPr>
          <a:lstStyle/>
          <a:p>
            <a:pPr lvl="0"/>
            <a:r>
              <a:rPr lang="en-US" b="1"/>
              <a:t>☠ if, for, while without braces (2/2)</a:t>
            </a:r>
            <a:endParaRPr lang="en-US"/>
          </a:p>
        </p:txBody>
      </p:sp>
      <p:sp>
        <p:nvSpPr>
          <p:cNvPr id="10" name="TextBox 9">
            <a:extLst>
              <a:ext uri="{FF2B5EF4-FFF2-40B4-BE49-F238E27FC236}">
                <a16:creationId xmlns:a16="http://schemas.microsoft.com/office/drawing/2014/main" id="{8A8E1720-B503-3964-E4C5-B52F4B1E0251}"/>
              </a:ext>
            </a:extLst>
          </p:cNvPr>
          <p:cNvSpPr txBox="1"/>
          <p:nvPr/>
        </p:nvSpPr>
        <p:spPr>
          <a:xfrm>
            <a:off x="457200" y="1098697"/>
            <a:ext cx="8229600" cy="1477328"/>
          </a:xfrm>
          <a:prstGeom prst="rect">
            <a:avLst/>
          </a:prstGeom>
          <a:solidFill>
            <a:schemeClr val="bg1"/>
          </a:solidFill>
          <a:ln>
            <a:solidFill>
              <a:schemeClr val="tx1"/>
            </a:solidFill>
          </a:ln>
        </p:spPr>
        <p:txBody>
          <a:bodyPr wrap="square" rtlCol="0">
            <a:spAutoFit/>
          </a:bodyPr>
          <a:lstStyle/>
          <a:p>
            <a:pPr lvl="0"/>
            <a:r>
              <a:rPr lang="en-US">
                <a:solidFill>
                  <a:srgbClr val="0000FF"/>
                </a:solidFill>
                <a:latin typeface="Consolas"/>
              </a:rPr>
              <a:t>if </a:t>
            </a:r>
            <a:r>
              <a:rPr lang="en-US">
                <a:solidFill>
                  <a:srgbClr val="000000"/>
                </a:solidFill>
                <a:latin typeface="Consolas"/>
              </a:rPr>
              <a:t>(choice == 0)</a:t>
            </a:r>
          </a:p>
          <a:p>
            <a:pPr lvl="0"/>
            <a:r>
              <a:rPr lang="en-US">
                <a:solidFill>
                  <a:srgbClr val="000000"/>
                </a:solidFill>
                <a:latin typeface="Consolas"/>
              </a:rPr>
              <a:t>    </a:t>
            </a:r>
            <a:r>
              <a:rPr lang="en-US">
                <a:latin typeface="Consolas"/>
                <a:ea typeface="Segoe UI Emoji" panose="020B0502040204020203" pitchFamily="34" charset="0"/>
              </a:rPr>
              <a:t>PRINT(</a:t>
            </a:r>
            <a:r>
              <a:rPr lang="en-US">
                <a:solidFill>
                  <a:srgbClr val="B71111"/>
                </a:solidFill>
                <a:latin typeface="Consolas"/>
                <a:ea typeface="Segoe UI Emoji" panose="020B0502040204020203" pitchFamily="34" charset="0"/>
              </a:rPr>
              <a:t>"The user chose 0. What a fine choice"</a:t>
            </a:r>
            <a:r>
              <a:rPr lang="en-US">
                <a:latin typeface="Consolas"/>
                <a:ea typeface="Segoe UI Emoji" panose="020B0502040204020203" pitchFamily="34" charset="0"/>
              </a:rPr>
              <a:t>);</a:t>
            </a:r>
          </a:p>
          <a:p>
            <a:pPr lvl="0"/>
            <a:r>
              <a:rPr lang="en-US">
                <a:solidFill>
                  <a:srgbClr val="0000FF"/>
                </a:solidFill>
                <a:latin typeface="Consolas"/>
              </a:rPr>
              <a:t>else</a:t>
            </a:r>
            <a:endParaRPr lang="en-US">
              <a:latin typeface="Consolas"/>
            </a:endParaRPr>
          </a:p>
          <a:p>
            <a:r>
              <a:rPr lang="en-US">
                <a:solidFill>
                  <a:srgbClr val="000000"/>
                </a:solidFill>
                <a:latin typeface="Consolas"/>
              </a:rPr>
              <a:t>    </a:t>
            </a:r>
            <a:r>
              <a:rPr lang="en-US">
                <a:latin typeface="Consolas"/>
                <a:ea typeface="Segoe UI Emoji" panose="020B0502040204020203" pitchFamily="34" charset="0"/>
              </a:rPr>
              <a:t>PRINT(</a:t>
            </a:r>
            <a:r>
              <a:rPr lang="en-US">
                <a:solidFill>
                  <a:srgbClr val="B71111"/>
                </a:solidFill>
                <a:latin typeface="Consolas"/>
                <a:ea typeface="Segoe UI Emoji" panose="020B0502040204020203" pitchFamily="34" charset="0"/>
              </a:rPr>
              <a:t>"The user did not choose 0."</a:t>
            </a:r>
            <a:r>
              <a:rPr lang="en-US">
                <a:latin typeface="Consolas"/>
                <a:ea typeface="Segoe UI Emoji" panose="020B0502040204020203" pitchFamily="34" charset="0"/>
              </a:rPr>
              <a:t>);</a:t>
            </a:r>
          </a:p>
          <a:p>
            <a:r>
              <a:rPr lang="en-US">
                <a:solidFill>
                  <a:srgbClr val="000080"/>
                </a:solidFill>
                <a:latin typeface="Consolas"/>
                <a:ea typeface="Segoe UI Emoji" panose="020B0502040204020203" pitchFamily="34" charset="0"/>
              </a:rPr>
              <a:t>    </a:t>
            </a:r>
            <a:r>
              <a:rPr lang="en-US">
                <a:latin typeface="Consolas"/>
                <a:ea typeface="Segoe UI Emoji" panose="020B0502040204020203" pitchFamily="34" charset="0"/>
              </a:rPr>
              <a:t>PRINT(</a:t>
            </a:r>
            <a:r>
              <a:rPr lang="en-US">
                <a:solidFill>
                  <a:srgbClr val="B71111"/>
                </a:solidFill>
                <a:latin typeface="Consolas"/>
                <a:ea typeface="Segoe UI Emoji" panose="020B0502040204020203" pitchFamily="34" charset="0"/>
              </a:rPr>
              <a:t>"How avant-garde!"</a:t>
            </a:r>
            <a:r>
              <a:rPr lang="en-US">
                <a:latin typeface="Consolas"/>
                <a:ea typeface="Segoe UI Emoji" panose="020B0502040204020203" pitchFamily="34" charset="0"/>
              </a:rPr>
              <a:t>);</a:t>
            </a:r>
            <a:endParaRPr lang="en-US">
              <a:latin typeface="Consolas"/>
            </a:endParaRPr>
          </a:p>
        </p:txBody>
      </p:sp>
      <p:sp>
        <p:nvSpPr>
          <p:cNvPr id="11" name="TextBox 10">
            <a:extLst>
              <a:ext uri="{FF2B5EF4-FFF2-40B4-BE49-F238E27FC236}">
                <a16:creationId xmlns:a16="http://schemas.microsoft.com/office/drawing/2014/main" id="{AA4ED140-6021-A832-E302-25DE9DE61C21}"/>
              </a:ext>
            </a:extLst>
          </p:cNvPr>
          <p:cNvSpPr txBox="1"/>
          <p:nvPr/>
        </p:nvSpPr>
        <p:spPr>
          <a:xfrm>
            <a:off x="457200" y="2821479"/>
            <a:ext cx="8229600" cy="1754326"/>
          </a:xfrm>
          <a:prstGeom prst="rect">
            <a:avLst/>
          </a:prstGeom>
          <a:solidFill>
            <a:schemeClr val="bg1"/>
          </a:solidFill>
          <a:ln>
            <a:solidFill>
              <a:schemeClr val="tx1"/>
            </a:solidFill>
          </a:ln>
        </p:spPr>
        <p:txBody>
          <a:bodyPr wrap="square" rtlCol="0">
            <a:spAutoFit/>
          </a:bodyPr>
          <a:lstStyle/>
          <a:p>
            <a:pPr lvl="0"/>
            <a:r>
              <a:rPr lang="en-US">
                <a:solidFill>
                  <a:srgbClr val="0000FF"/>
                </a:solidFill>
                <a:latin typeface="Consolas"/>
              </a:rPr>
              <a:t>if </a:t>
            </a:r>
            <a:r>
              <a:rPr lang="en-US">
                <a:solidFill>
                  <a:srgbClr val="000000"/>
                </a:solidFill>
                <a:latin typeface="Consolas"/>
              </a:rPr>
              <a:t>(choice == 0) {</a:t>
            </a:r>
          </a:p>
          <a:p>
            <a:pPr lvl="0"/>
            <a:r>
              <a:rPr lang="en-US">
                <a:solidFill>
                  <a:srgbClr val="000000"/>
                </a:solidFill>
                <a:latin typeface="Consolas"/>
              </a:rPr>
              <a:t>    </a:t>
            </a:r>
            <a:r>
              <a:rPr lang="en-US">
                <a:latin typeface="Consolas"/>
                <a:ea typeface="Segoe UI Emoji" panose="020B0502040204020203" pitchFamily="34" charset="0"/>
              </a:rPr>
              <a:t>PRINT(</a:t>
            </a:r>
            <a:r>
              <a:rPr lang="en-US">
                <a:solidFill>
                  <a:srgbClr val="B71111"/>
                </a:solidFill>
                <a:latin typeface="Consolas"/>
                <a:ea typeface="Segoe UI Emoji" panose="020B0502040204020203" pitchFamily="34" charset="0"/>
              </a:rPr>
              <a:t>"The user chose 0. What a fine choice"</a:t>
            </a:r>
            <a:r>
              <a:rPr lang="en-US">
                <a:latin typeface="Consolas"/>
                <a:ea typeface="Segoe UI Emoji" panose="020B0502040204020203" pitchFamily="34" charset="0"/>
              </a:rPr>
              <a:t>);</a:t>
            </a:r>
          </a:p>
          <a:p>
            <a:pPr lvl="0"/>
            <a:r>
              <a:rPr lang="en-US">
                <a:latin typeface="Consolas"/>
              </a:rPr>
              <a:t>} </a:t>
            </a:r>
            <a:r>
              <a:rPr lang="en-US">
                <a:solidFill>
                  <a:srgbClr val="0000FF"/>
                </a:solidFill>
                <a:latin typeface="Consolas"/>
              </a:rPr>
              <a:t>else</a:t>
            </a:r>
            <a:r>
              <a:rPr lang="en-US">
                <a:latin typeface="Consolas"/>
              </a:rPr>
              <a:t> {</a:t>
            </a:r>
          </a:p>
          <a:p>
            <a:r>
              <a:rPr lang="en-US">
                <a:solidFill>
                  <a:srgbClr val="000000"/>
                </a:solidFill>
                <a:latin typeface="Consolas"/>
              </a:rPr>
              <a:t>    </a:t>
            </a:r>
            <a:r>
              <a:rPr lang="en-US">
                <a:latin typeface="Consolas"/>
                <a:ea typeface="Segoe UI Emoji" panose="020B0502040204020203" pitchFamily="34" charset="0"/>
              </a:rPr>
              <a:t>PRINT(</a:t>
            </a:r>
            <a:r>
              <a:rPr lang="en-US">
                <a:solidFill>
                  <a:srgbClr val="B71111"/>
                </a:solidFill>
                <a:latin typeface="Consolas"/>
                <a:ea typeface="Segoe UI Emoji" panose="020B0502040204020203" pitchFamily="34" charset="0"/>
              </a:rPr>
              <a:t>"The user did not choose 0."</a:t>
            </a:r>
            <a:r>
              <a:rPr lang="en-US">
                <a:latin typeface="Consolas"/>
                <a:ea typeface="Segoe UI Emoji" panose="020B0502040204020203" pitchFamily="34" charset="0"/>
              </a:rPr>
              <a:t>);</a:t>
            </a:r>
          </a:p>
          <a:p>
            <a:r>
              <a:rPr lang="en-US">
                <a:latin typeface="Consolas"/>
                <a:ea typeface="Segoe UI Emoji" panose="020B0502040204020203" pitchFamily="34" charset="0"/>
              </a:rPr>
              <a:t>} </a:t>
            </a:r>
            <a:r>
              <a:rPr lang="en-US">
                <a:solidFill>
                  <a:srgbClr val="007B00"/>
                </a:solidFill>
                <a:latin typeface="Consolas"/>
                <a:ea typeface="Segoe UI Emoji" panose="020B0502040204020203" pitchFamily="34" charset="0"/>
              </a:rPr>
              <a:t>// whoops!</a:t>
            </a:r>
            <a:endParaRPr lang="en-US">
              <a:latin typeface="Consolas"/>
              <a:ea typeface="Segoe UI Emoji" panose="020B0502040204020203" pitchFamily="34" charset="0"/>
            </a:endParaRPr>
          </a:p>
          <a:p>
            <a:r>
              <a:rPr lang="en-US">
                <a:latin typeface="Consolas"/>
                <a:ea typeface="Segoe UI Emoji" panose="020B0502040204020203" pitchFamily="34" charset="0"/>
              </a:rPr>
              <a:t>    PRINT(</a:t>
            </a:r>
            <a:r>
              <a:rPr lang="en-US">
                <a:solidFill>
                  <a:srgbClr val="B71111"/>
                </a:solidFill>
                <a:latin typeface="Consolas"/>
                <a:ea typeface="Segoe UI Emoji" panose="020B0502040204020203" pitchFamily="34" charset="0"/>
              </a:rPr>
              <a:t>"How avant-garde!"</a:t>
            </a:r>
            <a:r>
              <a:rPr lang="en-US">
                <a:latin typeface="Consolas"/>
                <a:ea typeface="Segoe UI Emoji" panose="020B0502040204020203" pitchFamily="34" charset="0"/>
              </a:rPr>
              <a:t>);</a:t>
            </a:r>
          </a:p>
        </p:txBody>
      </p:sp>
    </p:spTree>
    <p:extLst>
      <p:ext uri="{BB962C8B-B14F-4D97-AF65-F5344CB8AC3E}">
        <p14:creationId xmlns:p14="http://schemas.microsoft.com/office/powerpoint/2010/main" val="3217844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7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DE03D-6312-D3F8-968F-4FC0311A7B6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9C36F51-4AD9-BD31-894F-F829DFB857D9}"/>
              </a:ext>
            </a:extLst>
          </p:cNvPr>
          <p:cNvSpPr txBox="1"/>
          <p:nvPr/>
        </p:nvSpPr>
        <p:spPr>
          <a:xfrm>
            <a:off x="3633029" y="211816"/>
            <a:ext cx="3184835" cy="2646878"/>
          </a:xfrm>
          <a:prstGeom prst="rect">
            <a:avLst/>
          </a:prstGeom>
          <a:noFill/>
        </p:spPr>
        <p:txBody>
          <a:bodyPr wrap="square">
            <a:spAutoFit/>
          </a:bodyPr>
          <a:lstStyle/>
          <a:p>
            <a:r>
              <a:rPr kumimoji="0" lang="en-US" sz="166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2800"/>
          </a:p>
        </p:txBody>
      </p:sp>
      <p:sp>
        <p:nvSpPr>
          <p:cNvPr id="8" name="Title 7">
            <a:extLst>
              <a:ext uri="{FF2B5EF4-FFF2-40B4-BE49-F238E27FC236}">
                <a16:creationId xmlns:a16="http://schemas.microsoft.com/office/drawing/2014/main" id="{47BEDEF5-F198-B43A-2B45-1AE81A08FFC3}"/>
              </a:ext>
            </a:extLst>
          </p:cNvPr>
          <p:cNvSpPr>
            <a:spLocks noGrp="1"/>
          </p:cNvSpPr>
          <p:nvPr>
            <p:ph type="title"/>
          </p:nvPr>
        </p:nvSpPr>
        <p:spPr>
          <a:xfrm>
            <a:off x="457200" y="254916"/>
            <a:ext cx="8229600" cy="874637"/>
          </a:xfrm>
        </p:spPr>
        <p:txBody>
          <a:bodyPr/>
          <a:lstStyle/>
          <a:p>
            <a:r>
              <a:rPr lang="en-US" sz="6600"/>
              <a:t>Week01c</a:t>
            </a:r>
          </a:p>
        </p:txBody>
      </p:sp>
      <p:sp>
        <p:nvSpPr>
          <p:cNvPr id="6" name="Content Placeholder 5">
            <a:extLst>
              <a:ext uri="{FF2B5EF4-FFF2-40B4-BE49-F238E27FC236}">
                <a16:creationId xmlns:a16="http://schemas.microsoft.com/office/drawing/2014/main" id="{E0E72126-CC5C-E98B-8089-56837631CBC2}"/>
              </a:ext>
            </a:extLst>
          </p:cNvPr>
          <p:cNvSpPr>
            <a:spLocks noGrp="1"/>
          </p:cNvSpPr>
          <p:nvPr>
            <p:ph sz="quarter" idx="10"/>
          </p:nvPr>
        </p:nvSpPr>
        <p:spPr>
          <a:xfrm>
            <a:off x="457200" y="1129553"/>
            <a:ext cx="8229600" cy="2894013"/>
          </a:xfrm>
        </p:spPr>
        <p:txBody>
          <a:bodyPr>
            <a:noAutofit/>
          </a:bodyPr>
          <a:lstStyle/>
          <a:p>
            <a:r>
              <a:rPr lang="en-US" sz="1800" strike="sngStrike"/>
              <a:t>tips and tricks</a:t>
            </a:r>
          </a:p>
          <a:p>
            <a:r>
              <a:rPr lang="en-US" sz="1800" strike="sngStrike"/>
              <a:t>operators</a:t>
            </a:r>
          </a:p>
          <a:p>
            <a:r>
              <a:rPr lang="en-US" sz="1800" strike="sngStrike"/>
              <a:t>control flow</a:t>
            </a:r>
          </a:p>
          <a:p>
            <a:r>
              <a:rPr lang="en-US" sz="2400"/>
              <a:t>Cow.Java</a:t>
            </a:r>
          </a:p>
          <a:p>
            <a:r>
              <a:rPr lang="en-US" sz="1400"/>
              <a:t>story tiiiime ☕️</a:t>
            </a:r>
          </a:p>
        </p:txBody>
      </p:sp>
      <p:sp>
        <p:nvSpPr>
          <p:cNvPr id="2" name="TextBox 1">
            <a:extLst>
              <a:ext uri="{FF2B5EF4-FFF2-40B4-BE49-F238E27FC236}">
                <a16:creationId xmlns:a16="http://schemas.microsoft.com/office/drawing/2014/main" id="{55AB6197-AC69-221F-A136-E38D910BA92E}"/>
              </a:ext>
            </a:extLst>
          </p:cNvPr>
          <p:cNvSpPr txBox="1"/>
          <p:nvPr/>
        </p:nvSpPr>
        <p:spPr>
          <a:xfrm>
            <a:off x="282988" y="3002016"/>
            <a:ext cx="3751129" cy="2062103"/>
          </a:xfrm>
          <a:prstGeom prst="rect">
            <a:avLst/>
          </a:prstGeom>
          <a:noFill/>
          <a:ln>
            <a:solidFill>
              <a:schemeClr val="tx1"/>
            </a:solidFill>
          </a:ln>
        </p:spPr>
        <p:txBody>
          <a:bodyPr wrap="square" rtlCol="0">
            <a:spAutoFit/>
          </a:bodyPr>
          <a:lstStyle/>
          <a:p>
            <a:r>
              <a:rPr lang="en-US" sz="1600" b="1"/>
              <a:t>BONUS: </a:t>
            </a:r>
            <a:r>
              <a:rPr lang="en-US" sz="1600"/>
              <a:t>what does this print?</a:t>
            </a:r>
            <a:endParaRPr lang="en-US" sz="1600" b="1"/>
          </a:p>
          <a:p>
            <a:r>
              <a:rPr lang="en-US" sz="1600" b="1">
                <a:solidFill>
                  <a:srgbClr val="7F0055"/>
                </a:solidFill>
                <a:effectLst/>
                <a:latin typeface="Menlo" panose="020B0609030804020204" pitchFamily="49" charset="0"/>
              </a:rPr>
              <a:t>double</a:t>
            </a:r>
            <a:r>
              <a:rPr lang="en-US" sz="1600">
                <a:effectLst/>
                <a:latin typeface="Menlo" panose="020B0609030804020204" pitchFamily="49" charset="0"/>
              </a:rPr>
              <a:t> </a:t>
            </a:r>
            <a:r>
              <a:rPr lang="en-US" sz="1600">
                <a:solidFill>
                  <a:srgbClr val="6A3E3E"/>
                </a:solidFill>
                <a:effectLst/>
                <a:latin typeface="Menlo" panose="020B0609030804020204" pitchFamily="49" charset="0"/>
              </a:rPr>
              <a:t>a</a:t>
            </a:r>
            <a:r>
              <a:rPr lang="en-US" sz="1600">
                <a:effectLst/>
                <a:latin typeface="Menlo" panose="020B0609030804020204" pitchFamily="49" charset="0"/>
              </a:rPr>
              <a:t> = -42.0;</a:t>
            </a:r>
          </a:p>
          <a:p>
            <a:r>
              <a:rPr lang="en-US" sz="1600" b="1">
                <a:solidFill>
                  <a:srgbClr val="7F0055"/>
                </a:solidFill>
                <a:effectLst/>
                <a:latin typeface="Menlo" panose="020B0609030804020204" pitchFamily="49" charset="0"/>
              </a:rPr>
              <a:t>double</a:t>
            </a:r>
            <a:r>
              <a:rPr lang="en-US" sz="1600">
                <a:effectLst/>
                <a:latin typeface="Menlo" panose="020B0609030804020204" pitchFamily="49" charset="0"/>
              </a:rPr>
              <a:t> </a:t>
            </a:r>
            <a:r>
              <a:rPr lang="en-US" sz="1600">
                <a:solidFill>
                  <a:srgbClr val="6A3E3E"/>
                </a:solidFill>
                <a:effectLst/>
                <a:latin typeface="Menlo" panose="020B0609030804020204" pitchFamily="49" charset="0"/>
              </a:rPr>
              <a:t>b</a:t>
            </a:r>
            <a:r>
              <a:rPr lang="en-US" sz="1600">
                <a:effectLst/>
                <a:latin typeface="Menlo" panose="020B0609030804020204" pitchFamily="49" charset="0"/>
              </a:rPr>
              <a:t> = 0 * </a:t>
            </a:r>
            <a:r>
              <a:rPr lang="en-US" sz="1600">
                <a:solidFill>
                  <a:srgbClr val="6A3E3E"/>
                </a:solidFill>
                <a:effectLst/>
                <a:latin typeface="Menlo" panose="020B0609030804020204" pitchFamily="49" charset="0"/>
              </a:rPr>
              <a:t>a</a:t>
            </a:r>
            <a:r>
              <a:rPr lang="en-US" sz="1600">
                <a:effectLst/>
                <a:latin typeface="Menlo" panose="020B0609030804020204" pitchFamily="49" charset="0"/>
              </a:rPr>
              <a:t>;</a:t>
            </a:r>
          </a:p>
          <a:p>
            <a:r>
              <a:rPr lang="en-US" sz="1600">
                <a:effectLst/>
                <a:latin typeface="Menlo" panose="020B0609030804020204" pitchFamily="49" charset="0"/>
              </a:rPr>
              <a:t>PRINT(</a:t>
            </a:r>
            <a:r>
              <a:rPr lang="en-US" sz="1600">
                <a:solidFill>
                  <a:srgbClr val="6A3E3E"/>
                </a:solidFill>
                <a:effectLst/>
                <a:latin typeface="Menlo" panose="020B0609030804020204" pitchFamily="49" charset="0"/>
              </a:rPr>
              <a:t>b</a:t>
            </a:r>
            <a:r>
              <a:rPr lang="en-US" sz="1600">
                <a:effectLst/>
                <a:latin typeface="Menlo" panose="020B0609030804020204" pitchFamily="49" charset="0"/>
              </a:rPr>
              <a:t>);</a:t>
            </a:r>
          </a:p>
          <a:p>
            <a:r>
              <a:rPr lang="en-US" sz="1600">
                <a:effectLst/>
                <a:latin typeface="Menlo" panose="020B0609030804020204" pitchFamily="49" charset="0"/>
              </a:rPr>
              <a:t>PRINT(</a:t>
            </a:r>
            <a:r>
              <a:rPr lang="en-US" sz="1600">
                <a:solidFill>
                  <a:srgbClr val="6A3E3E"/>
                </a:solidFill>
                <a:effectLst/>
                <a:latin typeface="Menlo" panose="020B0609030804020204" pitchFamily="49" charset="0"/>
              </a:rPr>
              <a:t>b</a:t>
            </a:r>
            <a:r>
              <a:rPr lang="en-US" sz="1600">
                <a:effectLst/>
                <a:latin typeface="Menlo" panose="020B0609030804020204" pitchFamily="49" charset="0"/>
              </a:rPr>
              <a:t> == 0.0);</a:t>
            </a:r>
          </a:p>
          <a:p>
            <a:r>
              <a:rPr lang="en-US" sz="1600">
                <a:latin typeface="Menlo" panose="020B0609030804020204" pitchFamily="49" charset="0"/>
              </a:rPr>
              <a:t>PRINT(1.0 / 0.0);</a:t>
            </a:r>
          </a:p>
          <a:p>
            <a:r>
              <a:rPr lang="en-US" sz="1600">
                <a:latin typeface="Menlo" panose="020B0609030804020204" pitchFamily="49" charset="0"/>
              </a:rPr>
              <a:t>PRINT(1.0 / b);</a:t>
            </a:r>
          </a:p>
          <a:p>
            <a:r>
              <a:rPr lang="en-US" sz="1600">
                <a:effectLst/>
                <a:latin typeface="Menlo" panose="020B0609030804020204" pitchFamily="49" charset="0"/>
              </a:rPr>
              <a:t>PRINT(1.0 / 0.0 == 1.0 / b);</a:t>
            </a:r>
          </a:p>
        </p:txBody>
      </p:sp>
      <p:sp>
        <p:nvSpPr>
          <p:cNvPr id="9" name="TextBox 8">
            <a:extLst>
              <a:ext uri="{FF2B5EF4-FFF2-40B4-BE49-F238E27FC236}">
                <a16:creationId xmlns:a16="http://schemas.microsoft.com/office/drawing/2014/main" id="{A2848B8C-493B-CAD2-F1ED-84E6626FE985}"/>
              </a:ext>
            </a:extLst>
          </p:cNvPr>
          <p:cNvSpPr txBox="1"/>
          <p:nvPr/>
        </p:nvSpPr>
        <p:spPr>
          <a:xfrm>
            <a:off x="7160983" y="982427"/>
            <a:ext cx="1402847" cy="1862048"/>
          </a:xfrm>
          <a:prstGeom prst="rect">
            <a:avLst/>
          </a:prstGeom>
          <a:noFill/>
        </p:spPr>
        <p:txBody>
          <a:bodyPr wrap="square">
            <a:spAutoFit/>
          </a:bodyPr>
          <a:lstStyle/>
          <a:p>
            <a:pPr algn="r"/>
            <a:r>
              <a:rPr kumimoji="0" lang="en-US" sz="115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5400"/>
          </a:p>
        </p:txBody>
      </p:sp>
      <p:sp>
        <p:nvSpPr>
          <p:cNvPr id="10" name="TextBox 9">
            <a:extLst>
              <a:ext uri="{FF2B5EF4-FFF2-40B4-BE49-F238E27FC236}">
                <a16:creationId xmlns:a16="http://schemas.microsoft.com/office/drawing/2014/main" id="{0A3518BA-EF75-5575-34A9-66C68D6739F5}"/>
              </a:ext>
            </a:extLst>
          </p:cNvPr>
          <p:cNvSpPr txBox="1"/>
          <p:nvPr/>
        </p:nvSpPr>
        <p:spPr>
          <a:xfrm>
            <a:off x="7557953" y="1872200"/>
            <a:ext cx="843371" cy="584775"/>
          </a:xfrm>
          <a:prstGeom prst="rect">
            <a:avLst/>
          </a:prstGeom>
          <a:noFill/>
        </p:spPr>
        <p:txBody>
          <a:bodyPr wrap="square">
            <a:spAutoFit/>
          </a:bodyPr>
          <a:lstStyle/>
          <a:p>
            <a:pPr algn="r"/>
            <a:r>
              <a:rPr lang="en-US" sz="3200">
                <a:solidFill>
                  <a:srgbClr val="000000"/>
                </a:solidFill>
                <a:ea typeface="Segoe UI Emoji" panose="020B0502040204020203" pitchFamily="34" charset="0"/>
              </a:rPr>
              <a:t>🦜</a:t>
            </a:r>
            <a:endParaRPr lang="en-US" sz="1200"/>
          </a:p>
        </p:txBody>
      </p:sp>
      <p:sp>
        <p:nvSpPr>
          <p:cNvPr id="11" name="Freeform 10">
            <a:extLst>
              <a:ext uri="{FF2B5EF4-FFF2-40B4-BE49-F238E27FC236}">
                <a16:creationId xmlns:a16="http://schemas.microsoft.com/office/drawing/2014/main" id="{2D3E4D1E-1874-6583-77E3-9F035516FB6A}"/>
              </a:ext>
            </a:extLst>
          </p:cNvPr>
          <p:cNvSpPr/>
          <p:nvPr/>
        </p:nvSpPr>
        <p:spPr>
          <a:xfrm>
            <a:off x="6051716" y="1702679"/>
            <a:ext cx="1968964" cy="912432"/>
          </a:xfrm>
          <a:custGeom>
            <a:avLst/>
            <a:gdLst>
              <a:gd name="csX0" fmla="*/ 927749 w 1968964"/>
              <a:gd name="csY0" fmla="*/ 431871 h 912432"/>
              <a:gd name="csX1" fmla="*/ 1968964 w 1968964"/>
              <a:gd name="csY1" fmla="*/ 899083 h 912432"/>
              <a:gd name="csX2" fmla="*/ 0 w 1968964"/>
              <a:gd name="csY2" fmla="*/ 912432 h 912432"/>
              <a:gd name="csX3" fmla="*/ 126815 w 1968964"/>
              <a:gd name="csY3" fmla="*/ 24729 h 912432"/>
              <a:gd name="csX4" fmla="*/ 927749 w 1968964"/>
              <a:gd name="csY4" fmla="*/ 431871 h 912432"/>
            </a:gdLst>
            <a:ahLst/>
            <a:cxnLst>
              <a:cxn ang="0">
                <a:pos x="csX0" y="csY0"/>
              </a:cxn>
              <a:cxn ang="0">
                <a:pos x="csX1" y="csY1"/>
              </a:cxn>
              <a:cxn ang="0">
                <a:pos x="csX2" y="csY2"/>
              </a:cxn>
              <a:cxn ang="0">
                <a:pos x="csX3" y="csY3"/>
              </a:cxn>
              <a:cxn ang="0">
                <a:pos x="csX4" y="csY4"/>
              </a:cxn>
            </a:cxnLst>
            <a:rect l="l" t="t" r="r" b="b"/>
            <a:pathLst>
              <a:path w="1968964" h="912432">
                <a:moveTo>
                  <a:pt x="927749" y="431871"/>
                </a:moveTo>
                <a:cubicBezTo>
                  <a:pt x="1234774" y="577597"/>
                  <a:pt x="1518438" y="801191"/>
                  <a:pt x="1968964" y="899083"/>
                </a:cubicBezTo>
                <a:lnTo>
                  <a:pt x="0" y="912432"/>
                </a:lnTo>
                <a:lnTo>
                  <a:pt x="126815" y="24729"/>
                </a:lnTo>
                <a:cubicBezTo>
                  <a:pt x="246955" y="-100973"/>
                  <a:pt x="620724" y="286145"/>
                  <a:pt x="927749" y="431871"/>
                </a:cubicBezTo>
                <a:close/>
              </a:path>
            </a:pathLst>
          </a:custGeom>
          <a:solidFill>
            <a:srgbClr val="3AA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140C2CF-B4D2-4650-0CE2-83DD1A8E7F8D}"/>
              </a:ext>
            </a:extLst>
          </p:cNvPr>
          <p:cNvSpPr txBox="1"/>
          <p:nvPr/>
        </p:nvSpPr>
        <p:spPr>
          <a:xfrm>
            <a:off x="4133849" y="2601906"/>
            <a:ext cx="4829175" cy="2246769"/>
          </a:xfrm>
          <a:prstGeom prst="rect">
            <a:avLst/>
          </a:prstGeom>
          <a:solidFill>
            <a:schemeClr val="accent5">
              <a:lumMod val="20000"/>
              <a:lumOff val="80000"/>
            </a:schemeClr>
          </a:solidFill>
          <a:ln>
            <a:solidFill>
              <a:schemeClr val="tx1"/>
            </a:solidFill>
          </a:ln>
        </p:spPr>
        <p:txBody>
          <a:bodyPr wrap="square" rtlCol="0">
            <a:spAutoFit/>
          </a:bodyPr>
          <a:lstStyle/>
          <a:p>
            <a:r>
              <a:rPr lang="en-US" sz="2000" b="1"/>
              <a:t>REVIEW / WARMUP</a:t>
            </a:r>
          </a:p>
          <a:p>
            <a:r>
              <a:rPr lang="en-US" sz="2000"/>
              <a:t>1) what is 678 % 10? </a:t>
            </a:r>
            <a:endParaRPr lang="en-US" sz="2000" b="1"/>
          </a:p>
          <a:p>
            <a:r>
              <a:rPr lang="en-US" sz="2000"/>
              <a:t>2) what is 678 / 10?   </a:t>
            </a:r>
            <a:endParaRPr lang="en-US" sz="2000" b="1"/>
          </a:p>
          <a:p>
            <a:r>
              <a:rPr lang="en-US" sz="2000"/>
              <a:t>3) what is 6 / 10?          </a:t>
            </a:r>
          </a:p>
          <a:p>
            <a:r>
              <a:rPr lang="en-US" sz="2000"/>
              <a:t>4) implement</a:t>
            </a:r>
            <a:br>
              <a:rPr lang="en-US" sz="2000"/>
            </a:br>
            <a:r>
              <a:rPr lang="en-US" sz="2000" b="1">
                <a:latin typeface="Consolas" panose="020B0609020204030204" pitchFamily="49" charset="0"/>
                <a:cs typeface="Consolas" panose="020B0609020204030204" pitchFamily="49" charset="0"/>
              </a:rPr>
              <a:t>int digitSum(int n) { ... }</a:t>
            </a:r>
          </a:p>
          <a:p>
            <a:r>
              <a:rPr lang="en-US" sz="2000"/>
              <a:t>using a while loop</a:t>
            </a:r>
          </a:p>
        </p:txBody>
      </p:sp>
      <p:sp>
        <p:nvSpPr>
          <p:cNvPr id="3" name="TextBox 2">
            <a:extLst>
              <a:ext uri="{FF2B5EF4-FFF2-40B4-BE49-F238E27FC236}">
                <a16:creationId xmlns:a16="http://schemas.microsoft.com/office/drawing/2014/main" id="{EC7D17CA-9A14-24D4-3785-6B64418D6940}"/>
              </a:ext>
            </a:extLst>
          </p:cNvPr>
          <p:cNvSpPr txBox="1"/>
          <p:nvPr/>
        </p:nvSpPr>
        <p:spPr>
          <a:xfrm>
            <a:off x="6172200" y="195034"/>
            <a:ext cx="2863736" cy="646331"/>
          </a:xfrm>
          <a:prstGeom prst="rect">
            <a:avLst/>
          </a:prstGeom>
          <a:noFill/>
        </p:spPr>
        <p:txBody>
          <a:bodyPr wrap="square" rtlCol="0">
            <a:spAutoFit/>
          </a:bodyPr>
          <a:lstStyle/>
          <a:p>
            <a:r>
              <a:rPr lang="en-US" b="1">
                <a:solidFill>
                  <a:srgbClr val="F80B8D"/>
                </a:solidFill>
              </a:rPr>
              <a:t>NOTE: </a:t>
            </a:r>
            <a:r>
              <a:rPr lang="en-US">
                <a:solidFill>
                  <a:srgbClr val="F80B8D"/>
                </a:solidFill>
              </a:rPr>
              <a:t>Colloquium @ 2:30ish in Wege (TCL123)</a:t>
            </a:r>
          </a:p>
        </p:txBody>
      </p:sp>
      <p:sp>
        <p:nvSpPr>
          <p:cNvPr id="5" name="TextBox 4">
            <a:extLst>
              <a:ext uri="{FF2B5EF4-FFF2-40B4-BE49-F238E27FC236}">
                <a16:creationId xmlns:a16="http://schemas.microsoft.com/office/drawing/2014/main" id="{E2656C84-4893-0EAD-1616-0D6588DB16B8}"/>
              </a:ext>
            </a:extLst>
          </p:cNvPr>
          <p:cNvSpPr txBox="1"/>
          <p:nvPr/>
        </p:nvSpPr>
        <p:spPr>
          <a:xfrm>
            <a:off x="6159915" y="803321"/>
            <a:ext cx="3184835" cy="369332"/>
          </a:xfrm>
          <a:prstGeom prst="rect">
            <a:avLst/>
          </a:prstGeom>
          <a:noFill/>
        </p:spPr>
        <p:txBody>
          <a:bodyPr wrap="square" rtlCol="0">
            <a:spAutoFit/>
          </a:bodyPr>
          <a:lstStyle/>
          <a:p>
            <a:r>
              <a:rPr lang="en-US" b="1">
                <a:solidFill>
                  <a:srgbClr val="F80B8D"/>
                </a:solidFill>
              </a:rPr>
              <a:t>NOTE: </a:t>
            </a:r>
            <a:r>
              <a:rPr lang="en-US">
                <a:solidFill>
                  <a:srgbClr val="F80B8D"/>
                </a:solidFill>
              </a:rPr>
              <a:t>HW01 due Monday</a:t>
            </a:r>
          </a:p>
        </p:txBody>
      </p:sp>
      <p:sp>
        <p:nvSpPr>
          <p:cNvPr id="7" name="TextBox 6">
            <a:extLst>
              <a:ext uri="{FF2B5EF4-FFF2-40B4-BE49-F238E27FC236}">
                <a16:creationId xmlns:a16="http://schemas.microsoft.com/office/drawing/2014/main" id="{9FCBD765-358F-E60C-FC68-1B22F0971716}"/>
              </a:ext>
            </a:extLst>
          </p:cNvPr>
          <p:cNvSpPr txBox="1"/>
          <p:nvPr/>
        </p:nvSpPr>
        <p:spPr>
          <a:xfrm>
            <a:off x="3787436" y="70250"/>
            <a:ext cx="2372479" cy="369332"/>
          </a:xfrm>
          <a:prstGeom prst="rect">
            <a:avLst/>
          </a:prstGeom>
          <a:noFill/>
        </p:spPr>
        <p:txBody>
          <a:bodyPr wrap="square" rtlCol="0">
            <a:spAutoFit/>
          </a:bodyPr>
          <a:lstStyle/>
          <a:p>
            <a:r>
              <a:rPr lang="en-US" b="1">
                <a:solidFill>
                  <a:srgbClr val="F80B8D"/>
                </a:solidFill>
              </a:rPr>
              <a:t>NOTE: </a:t>
            </a:r>
            <a:r>
              <a:rPr lang="en-US">
                <a:solidFill>
                  <a:srgbClr val="F80B8D"/>
                </a:solidFill>
              </a:rPr>
              <a:t>Health Policy</a:t>
            </a:r>
          </a:p>
        </p:txBody>
      </p:sp>
    </p:spTree>
    <p:extLst>
      <p:ext uri="{BB962C8B-B14F-4D97-AF65-F5344CB8AC3E}">
        <p14:creationId xmlns:p14="http://schemas.microsoft.com/office/powerpoint/2010/main" val="640725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Lst>
  </p:timing>
</p:sld>
</file>

<file path=ppt/slides/slide7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61ED2-4D0F-6F49-5405-96815D2DE2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C8EC55-7A0B-45DB-0DB0-3603F6517166}"/>
              </a:ext>
            </a:extLst>
          </p:cNvPr>
          <p:cNvSpPr>
            <a:spLocks noGrp="1"/>
          </p:cNvSpPr>
          <p:nvPr>
            <p:ph type="title"/>
          </p:nvPr>
        </p:nvSpPr>
        <p:spPr/>
        <p:txBody>
          <a:bodyPr/>
          <a:lstStyle/>
          <a:p>
            <a:r>
              <a:rPr lang="en-US" sz="2400"/>
              <a:t>Java doesn't have a</a:t>
            </a:r>
            <a:br>
              <a:rPr lang="en-US"/>
            </a:br>
            <a:r>
              <a:rPr lang="en-US"/>
              <a:t>goto</a:t>
            </a:r>
          </a:p>
        </p:txBody>
      </p:sp>
      <p:sp>
        <p:nvSpPr>
          <p:cNvPr id="3" name="TextBox 2">
            <a:extLst>
              <a:ext uri="{FF2B5EF4-FFF2-40B4-BE49-F238E27FC236}">
                <a16:creationId xmlns:a16="http://schemas.microsoft.com/office/drawing/2014/main" id="{F02785D4-94AB-BE70-76AE-90624E6CD893}"/>
              </a:ext>
            </a:extLst>
          </p:cNvPr>
          <p:cNvSpPr txBox="1"/>
          <p:nvPr/>
        </p:nvSpPr>
        <p:spPr>
          <a:xfrm>
            <a:off x="1253396" y="276624"/>
            <a:ext cx="4049484" cy="646331"/>
          </a:xfrm>
          <a:prstGeom prst="rect">
            <a:avLst/>
          </a:prstGeom>
          <a:noFill/>
        </p:spPr>
        <p:txBody>
          <a:bodyPr wrap="square" rtlCol="0">
            <a:spAutoFit/>
          </a:bodyPr>
          <a:lstStyle/>
          <a:p>
            <a:r>
              <a:rPr lang="en-US" b="1">
                <a:solidFill>
                  <a:schemeClr val="bg1">
                    <a:lumMod val="85000"/>
                  </a:schemeClr>
                </a:solidFill>
              </a:rPr>
              <a:t>NOTE:</a:t>
            </a:r>
            <a:r>
              <a:rPr lang="en-US">
                <a:solidFill>
                  <a:schemeClr val="bg1">
                    <a:lumMod val="85000"/>
                  </a:schemeClr>
                </a:solidFill>
              </a:rPr>
              <a:t> gray sections are just for fun; not on the HW; not on the tests</a:t>
            </a:r>
          </a:p>
        </p:txBody>
      </p:sp>
      <p:pic>
        <p:nvPicPr>
          <p:cNvPr id="6" name="Picture 5">
            <a:extLst>
              <a:ext uri="{FF2B5EF4-FFF2-40B4-BE49-F238E27FC236}">
                <a16:creationId xmlns:a16="http://schemas.microsoft.com/office/drawing/2014/main" id="{3E30C3CF-5E56-3E51-BDC5-6DB83B0232B0}"/>
              </a:ext>
            </a:extLst>
          </p:cNvPr>
          <p:cNvPicPr>
            <a:picLocks noChangeAspect="1"/>
          </p:cNvPicPr>
          <p:nvPr/>
        </p:nvPicPr>
        <p:blipFill>
          <a:blip r:embed="rId2">
            <a:duotone>
              <a:schemeClr val="bg2">
                <a:shade val="45000"/>
                <a:satMod val="135000"/>
              </a:schemeClr>
              <a:prstClr val="white"/>
            </a:duotone>
          </a:blip>
          <a:stretch>
            <a:fillRect/>
          </a:stretch>
        </p:blipFill>
        <p:spPr>
          <a:xfrm flipH="1">
            <a:off x="-487455" y="18934"/>
            <a:ext cx="2544251" cy="1930987"/>
          </a:xfrm>
          <a:prstGeom prst="rect">
            <a:avLst/>
          </a:prstGeom>
        </p:spPr>
      </p:pic>
    </p:spTree>
    <p:extLst>
      <p:ext uri="{BB962C8B-B14F-4D97-AF65-F5344CB8AC3E}">
        <p14:creationId xmlns:p14="http://schemas.microsoft.com/office/powerpoint/2010/main" val="3441687311"/>
      </p:ext>
    </p:extLst>
  </p:cSld>
  <p:clrMapOvr>
    <a:masterClrMapping/>
  </p:clrMapOvr>
</p:sld>
</file>

<file path=ppt/slides/slide7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F6B5C-D99D-46A6-5D8A-DB2BB9D70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1DBDC1-551D-34F1-0E13-9C8AA589DC54}"/>
              </a:ext>
            </a:extLst>
          </p:cNvPr>
          <p:cNvSpPr>
            <a:spLocks noGrp="1"/>
          </p:cNvSpPr>
          <p:nvPr>
            <p:ph type="title"/>
          </p:nvPr>
        </p:nvSpPr>
        <p:spPr/>
        <p:txBody>
          <a:bodyPr/>
          <a:lstStyle/>
          <a:p>
            <a:r>
              <a:rPr lang="en-US"/>
              <a:t>goto</a:t>
            </a:r>
          </a:p>
        </p:txBody>
      </p:sp>
    </p:spTree>
    <p:extLst>
      <p:ext uri="{BB962C8B-B14F-4D97-AF65-F5344CB8AC3E}">
        <p14:creationId xmlns:p14="http://schemas.microsoft.com/office/powerpoint/2010/main" val="3427053371"/>
      </p:ext>
    </p:extLst>
  </p:cSld>
  <p:clrMapOvr>
    <a:masterClrMapping/>
  </p:clrMapOvr>
</p:sld>
</file>

<file path=ppt/slides/slide7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5FBAB-5C94-8C53-0469-3DC59C40A89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95E85E4-B662-7FC1-223A-72B6C3BEA860}"/>
              </a:ext>
            </a:extLst>
          </p:cNvPr>
          <p:cNvSpPr>
            <a:spLocks noGrp="1"/>
          </p:cNvSpPr>
          <p:nvPr>
            <p:ph type="title"/>
          </p:nvPr>
        </p:nvSpPr>
        <p:spPr/>
        <p:txBody>
          <a:bodyPr>
            <a:noAutofit/>
          </a:bodyPr>
          <a:lstStyle/>
          <a:p>
            <a:r>
              <a:rPr lang="en-US" sz="2800">
                <a:solidFill>
                  <a:srgbClr val="0000FF"/>
                </a:solidFill>
                <a:latin typeface="+mj-lt"/>
              </a:rPr>
              <a:t>goto</a:t>
            </a:r>
            <a:r>
              <a:rPr lang="en-US" sz="2800">
                <a:latin typeface="+mj-lt"/>
              </a:rPr>
              <a:t> </a:t>
            </a:r>
            <a:r>
              <a:rPr lang="en-US" sz="2800">
                <a:solidFill>
                  <a:schemeClr val="bg1">
                    <a:lumMod val="75000"/>
                  </a:schemeClr>
                </a:solidFill>
                <a:latin typeface="+mj-lt"/>
              </a:rPr>
              <a:t>label</a:t>
            </a:r>
            <a:r>
              <a:rPr lang="en-US" sz="2800">
                <a:latin typeface="+mj-lt"/>
              </a:rPr>
              <a:t>;</a:t>
            </a:r>
          </a:p>
        </p:txBody>
      </p:sp>
      <p:sp>
        <p:nvSpPr>
          <p:cNvPr id="4" name="Content Placeholder 3">
            <a:extLst>
              <a:ext uri="{FF2B5EF4-FFF2-40B4-BE49-F238E27FC236}">
                <a16:creationId xmlns:a16="http://schemas.microsoft.com/office/drawing/2014/main" id="{F7FBEF8F-C888-80B9-1973-63327D291B99}"/>
              </a:ext>
            </a:extLst>
          </p:cNvPr>
          <p:cNvSpPr>
            <a:spLocks noGrp="1"/>
          </p:cNvSpPr>
          <p:nvPr>
            <p:ph sz="quarter" idx="10"/>
          </p:nvPr>
        </p:nvSpPr>
        <p:spPr/>
        <p:txBody>
          <a:bodyPr/>
          <a:lstStyle/>
          <a:p>
            <a:r>
              <a:rPr lang="en-US"/>
              <a:t>a </a:t>
            </a:r>
            <a:r>
              <a:rPr lang="en-US" b="1" err="1"/>
              <a:t>goto</a:t>
            </a:r>
            <a:r>
              <a:rPr lang="en-US"/>
              <a:t> "goes to" some </a:t>
            </a:r>
            <a:r>
              <a:rPr lang="en-US" b="1"/>
              <a:t>label</a:t>
            </a:r>
          </a:p>
          <a:p>
            <a:pPr lvl="1"/>
            <a:r>
              <a:rPr lang="en-US"/>
              <a:t>it turns out loops are just convenient alternatives to </a:t>
            </a:r>
            <a:r>
              <a:rPr lang="en-US" err="1"/>
              <a:t>goto's</a:t>
            </a:r>
            <a:endParaRPr lang="en-US"/>
          </a:p>
          <a:p>
            <a:pPr lvl="1"/>
            <a:r>
              <a:rPr lang="en-US" err="1"/>
              <a:t>goto's</a:t>
            </a:r>
            <a:r>
              <a:rPr lang="en-US"/>
              <a:t> are considered *spooky*👻</a:t>
            </a:r>
          </a:p>
        </p:txBody>
      </p:sp>
      <p:sp>
        <p:nvSpPr>
          <p:cNvPr id="5" name="TextBox 4">
            <a:extLst>
              <a:ext uri="{FF2B5EF4-FFF2-40B4-BE49-F238E27FC236}">
                <a16:creationId xmlns:a16="http://schemas.microsoft.com/office/drawing/2014/main" id="{CB6B0089-AE19-454F-2CBF-B41EBEFF97E2}"/>
              </a:ext>
            </a:extLst>
          </p:cNvPr>
          <p:cNvSpPr txBox="1"/>
          <p:nvPr/>
        </p:nvSpPr>
        <p:spPr>
          <a:xfrm>
            <a:off x="457200" y="2094696"/>
            <a:ext cx="8229600" cy="954107"/>
          </a:xfrm>
          <a:prstGeom prst="rect">
            <a:avLst/>
          </a:prstGeom>
          <a:solidFill>
            <a:schemeClr val="bg1"/>
          </a:solidFill>
          <a:ln>
            <a:solidFill>
              <a:schemeClr val="tx1"/>
            </a:solidFill>
          </a:ln>
        </p:spPr>
        <p:txBody>
          <a:bodyPr wrap="square" rtlCol="0">
            <a:spAutoFit/>
          </a:bodyPr>
          <a:lstStyle/>
          <a:p>
            <a:r>
              <a:rPr lang="nn-NO">
                <a:solidFill>
                  <a:srgbClr val="0000FF"/>
                </a:solidFill>
                <a:latin typeface="Consolas"/>
              </a:rPr>
              <a:t>while</a:t>
            </a:r>
            <a:r>
              <a:rPr lang="nn-NO">
                <a:latin typeface="Consolas"/>
              </a:rPr>
              <a:t> (</a:t>
            </a:r>
            <a:r>
              <a:rPr lang="en-US">
                <a:latin typeface="Consolas"/>
                <a:ea typeface="Segoe UI Emoji" panose="020B0502040204020203" pitchFamily="34" charset="0"/>
                <a:cs typeface="+mj-cs"/>
              </a:rPr>
              <a:t>condition</a:t>
            </a:r>
            <a:r>
              <a:rPr lang="nn-NO">
                <a:latin typeface="Consolas"/>
              </a:rPr>
              <a:t>) {</a:t>
            </a:r>
          </a:p>
          <a:p>
            <a:r>
              <a:rPr lang="nn-NO">
                <a:latin typeface="Consolas"/>
              </a:rPr>
              <a:t>    </a:t>
            </a:r>
            <a:r>
              <a:rPr lang="nn-NO">
                <a:solidFill>
                  <a:srgbClr val="BFBFBF"/>
                </a:solidFill>
                <a:latin typeface="Consolas"/>
              </a:rPr>
              <a:t>...</a:t>
            </a:r>
          </a:p>
          <a:p>
            <a:r>
              <a:rPr lang="nn-NO">
                <a:latin typeface="Consolas"/>
              </a:rPr>
              <a:t>}</a:t>
            </a:r>
            <a:endParaRPr lang="en-US">
              <a:latin typeface="+mj-lt"/>
            </a:endParaRPr>
          </a:p>
        </p:txBody>
      </p:sp>
      <p:sp>
        <p:nvSpPr>
          <p:cNvPr id="8" name="TextBox 7">
            <a:extLst>
              <a:ext uri="{FF2B5EF4-FFF2-40B4-BE49-F238E27FC236}">
                <a16:creationId xmlns:a16="http://schemas.microsoft.com/office/drawing/2014/main" id="{B9D02587-BDD3-8DB8-364D-6D5AF006F02A}"/>
              </a:ext>
            </a:extLst>
          </p:cNvPr>
          <p:cNvSpPr txBox="1"/>
          <p:nvPr/>
        </p:nvSpPr>
        <p:spPr>
          <a:xfrm>
            <a:off x="457200" y="3180826"/>
            <a:ext cx="8229600" cy="1815882"/>
          </a:xfrm>
          <a:prstGeom prst="rect">
            <a:avLst/>
          </a:prstGeom>
          <a:solidFill>
            <a:schemeClr val="bg1"/>
          </a:solidFill>
          <a:ln>
            <a:solidFill>
              <a:schemeClr val="tx1"/>
            </a:solidFill>
          </a:ln>
        </p:spPr>
        <p:txBody>
          <a:bodyPr wrap="square" rtlCol="0">
            <a:spAutoFit/>
          </a:bodyPr>
          <a:lstStyle/>
          <a:p>
            <a:pPr lvl="0"/>
            <a:r>
              <a:rPr lang="nn-NO" sz="1600">
                <a:solidFill>
                  <a:srgbClr val="0000FF"/>
                </a:solidFill>
                <a:latin typeface="Consolas"/>
              </a:rPr>
              <a:t>label</a:t>
            </a:r>
            <a:r>
              <a:rPr lang="nn-NO" sz="1600">
                <a:solidFill>
                  <a:srgbClr val="000000"/>
                </a:solidFill>
                <a:latin typeface="Consolas"/>
              </a:rPr>
              <a:t> </a:t>
            </a:r>
            <a:r>
              <a:rPr lang="nn-NO" sz="1600">
                <a:solidFill>
                  <a:srgbClr val="000080"/>
                </a:solidFill>
                <a:latin typeface="Consolas"/>
              </a:rPr>
              <a:t>BEGINNING_OF_WHILE</a:t>
            </a:r>
            <a:r>
              <a:rPr lang="nn-NO" sz="1600">
                <a:solidFill>
                  <a:srgbClr val="000000"/>
                </a:solidFill>
                <a:latin typeface="Consolas"/>
              </a:rPr>
              <a:t>:</a:t>
            </a:r>
            <a:endParaRPr lang="nn-NO" sz="1600">
              <a:solidFill>
                <a:srgbClr val="0000FF"/>
              </a:solidFill>
              <a:latin typeface="+mj-lt"/>
            </a:endParaRPr>
          </a:p>
          <a:p>
            <a:r>
              <a:rPr lang="nn-NO" sz="1600">
                <a:solidFill>
                  <a:srgbClr val="0000FF"/>
                </a:solidFill>
                <a:latin typeface="+mj-lt"/>
              </a:rPr>
              <a:t>if</a:t>
            </a:r>
            <a:r>
              <a:rPr lang="nn-NO" sz="1600">
                <a:latin typeface="+mj-lt"/>
              </a:rPr>
              <a:t> (!(</a:t>
            </a:r>
            <a:r>
              <a:rPr lang="en-US" sz="1600">
                <a:latin typeface="Consolas"/>
                <a:ea typeface="Segoe UI Emoji" panose="020B0502040204020203" pitchFamily="34" charset="0"/>
              </a:rPr>
              <a:t>condition)</a:t>
            </a:r>
            <a:r>
              <a:rPr lang="nn-NO" sz="1600">
                <a:latin typeface="+mj-lt"/>
              </a:rPr>
              <a:t>) {</a:t>
            </a:r>
          </a:p>
          <a:p>
            <a:r>
              <a:rPr lang="nn-NO" sz="1600">
                <a:solidFill>
                  <a:srgbClr val="BFBFBF"/>
                </a:solidFill>
                <a:latin typeface="+mj-lt"/>
              </a:rPr>
              <a:t>    </a:t>
            </a:r>
            <a:r>
              <a:rPr lang="en-US" sz="1600">
                <a:solidFill>
                  <a:srgbClr val="0000FF"/>
                </a:solidFill>
                <a:latin typeface="Consolas"/>
                <a:ea typeface="Segoe UI Emoji" panose="020B0502040204020203" pitchFamily="34" charset="0"/>
                <a:cs typeface="+mj-cs"/>
              </a:rPr>
              <a:t>goto </a:t>
            </a:r>
            <a:r>
              <a:rPr lang="nn-NO" sz="1600">
                <a:solidFill>
                  <a:srgbClr val="000080"/>
                </a:solidFill>
                <a:latin typeface="Consolas"/>
              </a:rPr>
              <a:t>END_OF_WHILE</a:t>
            </a:r>
            <a:r>
              <a:rPr lang="nn-NO" sz="1600">
                <a:solidFill>
                  <a:srgbClr val="000000"/>
                </a:solidFill>
                <a:latin typeface="Consolas"/>
              </a:rPr>
              <a:t>;</a:t>
            </a:r>
            <a:endParaRPr lang="nn-NO" sz="1600">
              <a:solidFill>
                <a:srgbClr val="BFBFBF"/>
              </a:solidFill>
              <a:latin typeface="+mj-lt"/>
            </a:endParaRPr>
          </a:p>
          <a:p>
            <a:r>
              <a:rPr lang="nn-NO" sz="1600">
                <a:latin typeface="+mj-lt"/>
              </a:rPr>
              <a:t>}</a:t>
            </a:r>
          </a:p>
          <a:p>
            <a:r>
              <a:rPr lang="nn-NO" sz="1600">
                <a:solidFill>
                  <a:srgbClr val="BFBFBF"/>
                </a:solidFill>
                <a:latin typeface="Consolas"/>
              </a:rPr>
              <a:t>...</a:t>
            </a:r>
          </a:p>
          <a:p>
            <a:r>
              <a:rPr lang="en-US" sz="1600">
                <a:solidFill>
                  <a:srgbClr val="0000FF"/>
                </a:solidFill>
                <a:latin typeface="Consolas"/>
                <a:ea typeface="Segoe UI Emoji" panose="020B0502040204020203" pitchFamily="34" charset="0"/>
              </a:rPr>
              <a:t>goto </a:t>
            </a:r>
            <a:r>
              <a:rPr lang="nn-NO" sz="1600">
                <a:solidFill>
                  <a:srgbClr val="000080"/>
                </a:solidFill>
                <a:latin typeface="Consolas"/>
              </a:rPr>
              <a:t>BEGINNING_OF_WHILE</a:t>
            </a:r>
            <a:r>
              <a:rPr lang="nn-NO" sz="1600">
                <a:solidFill>
                  <a:srgbClr val="000000"/>
                </a:solidFill>
                <a:latin typeface="Consolas"/>
              </a:rPr>
              <a:t>;</a:t>
            </a:r>
            <a:endParaRPr lang="nn-NO" sz="1600">
              <a:latin typeface="+mj-lt"/>
            </a:endParaRPr>
          </a:p>
          <a:p>
            <a:r>
              <a:rPr lang="nn-NO" sz="1600">
                <a:solidFill>
                  <a:srgbClr val="0000FF"/>
                </a:solidFill>
                <a:latin typeface="+mj-lt"/>
              </a:rPr>
              <a:t>label</a:t>
            </a:r>
            <a:r>
              <a:rPr lang="nn-NO" sz="1600">
                <a:latin typeface="+mj-lt"/>
              </a:rPr>
              <a:t> </a:t>
            </a:r>
            <a:r>
              <a:rPr lang="nn-NO" sz="1600">
                <a:solidFill>
                  <a:srgbClr val="000080"/>
                </a:solidFill>
                <a:latin typeface="+mj-lt"/>
              </a:rPr>
              <a:t>END_OF_WHILE</a:t>
            </a:r>
            <a:r>
              <a:rPr lang="nn-NO" sz="1600">
                <a:latin typeface="+mj-lt"/>
              </a:rPr>
              <a:t>:</a:t>
            </a:r>
          </a:p>
        </p:txBody>
      </p:sp>
    </p:spTree>
    <p:extLst>
      <p:ext uri="{BB962C8B-B14F-4D97-AF65-F5344CB8AC3E}">
        <p14:creationId xmlns:p14="http://schemas.microsoft.com/office/powerpoint/2010/main" val="4225032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Lst>
  </p:timing>
</p:sld>
</file>

<file path=ppt/slides/slide7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46468-8BA4-9E9B-74E2-3BE37A70E92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B24AC16-7AD0-6BED-CEB2-E961B0B96907}"/>
              </a:ext>
            </a:extLst>
          </p:cNvPr>
          <p:cNvPicPr>
            <a:picLocks noChangeAspect="1"/>
          </p:cNvPicPr>
          <p:nvPr/>
        </p:nvPicPr>
        <p:blipFill>
          <a:blip r:embed="rId2"/>
          <a:stretch>
            <a:fillRect/>
          </a:stretch>
        </p:blipFill>
        <p:spPr>
          <a:xfrm>
            <a:off x="463589" y="0"/>
            <a:ext cx="8216821" cy="5143500"/>
          </a:xfrm>
          <a:prstGeom prst="rect">
            <a:avLst/>
          </a:prstGeom>
        </p:spPr>
      </p:pic>
    </p:spTree>
    <p:extLst>
      <p:ext uri="{BB962C8B-B14F-4D97-AF65-F5344CB8AC3E}">
        <p14:creationId xmlns:p14="http://schemas.microsoft.com/office/powerpoint/2010/main" val="2546769916"/>
      </p:ext>
    </p:extLst>
  </p:cSld>
  <p:clrMapOvr>
    <a:masterClrMapping/>
  </p:clrMapOvr>
</p:sld>
</file>

<file path=ppt/slides/slide7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721D7-0DC6-2338-EB45-776AB14B35B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4AE8D64-A8E5-55DD-0E34-BF408FF3A1A0}"/>
              </a:ext>
            </a:extLst>
          </p:cNvPr>
          <p:cNvPicPr>
            <a:picLocks noChangeAspect="1"/>
          </p:cNvPicPr>
          <p:nvPr/>
        </p:nvPicPr>
        <p:blipFill>
          <a:blip r:embed="rId2"/>
          <a:stretch>
            <a:fillRect/>
          </a:stretch>
        </p:blipFill>
        <p:spPr>
          <a:xfrm>
            <a:off x="949860" y="0"/>
            <a:ext cx="7244279" cy="5143500"/>
          </a:xfrm>
          <a:prstGeom prst="rect">
            <a:avLst/>
          </a:prstGeom>
        </p:spPr>
      </p:pic>
    </p:spTree>
    <p:extLst>
      <p:ext uri="{BB962C8B-B14F-4D97-AF65-F5344CB8AC3E}">
        <p14:creationId xmlns:p14="http://schemas.microsoft.com/office/powerpoint/2010/main" val="815348761"/>
      </p:ext>
    </p:extLst>
  </p:cSld>
  <p:clrMapOvr>
    <a:masterClrMapping/>
  </p:clrMapOvr>
</p:sld>
</file>

<file path=ppt/slides/slide7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29FE7-F3D9-2972-03BC-ADADFC151CC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ADA6856-6C94-61AB-8640-1DAD8902AF77}"/>
              </a:ext>
            </a:extLst>
          </p:cNvPr>
          <p:cNvPicPr>
            <a:picLocks noChangeAspect="1"/>
          </p:cNvPicPr>
          <p:nvPr/>
        </p:nvPicPr>
        <p:blipFill>
          <a:blip r:embed="rId2"/>
          <a:stretch>
            <a:fillRect/>
          </a:stretch>
        </p:blipFill>
        <p:spPr>
          <a:xfrm>
            <a:off x="2792802" y="0"/>
            <a:ext cx="3558396" cy="5143500"/>
          </a:xfrm>
          <a:prstGeom prst="rect">
            <a:avLst/>
          </a:prstGeom>
        </p:spPr>
      </p:pic>
    </p:spTree>
    <p:extLst>
      <p:ext uri="{BB962C8B-B14F-4D97-AF65-F5344CB8AC3E}">
        <p14:creationId xmlns:p14="http://schemas.microsoft.com/office/powerpoint/2010/main" val="4127282594"/>
      </p:ext>
    </p:extLst>
  </p:cSld>
  <p:clrMapOvr>
    <a:masterClrMapping/>
  </p:clrMapOvr>
</p:sld>
</file>

<file path=ppt/slides/slide7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82E1E-95C0-9104-37F8-5875C557A68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9BEC439-A987-4324-4350-25D61098FD1B}"/>
              </a:ext>
            </a:extLst>
          </p:cNvPr>
          <p:cNvPicPr>
            <a:picLocks noChangeAspect="1"/>
          </p:cNvPicPr>
          <p:nvPr/>
        </p:nvPicPr>
        <p:blipFill>
          <a:blip r:embed="rId2"/>
          <a:stretch>
            <a:fillRect/>
          </a:stretch>
        </p:blipFill>
        <p:spPr>
          <a:xfrm>
            <a:off x="723900" y="313911"/>
            <a:ext cx="6615566" cy="1113511"/>
          </a:xfrm>
          <a:prstGeom prst="rect">
            <a:avLst/>
          </a:prstGeom>
          <a:ln>
            <a:solidFill>
              <a:schemeClr val="tx1"/>
            </a:solidFill>
          </a:ln>
        </p:spPr>
      </p:pic>
      <p:pic>
        <p:nvPicPr>
          <p:cNvPr id="5" name="Picture 4">
            <a:extLst>
              <a:ext uri="{FF2B5EF4-FFF2-40B4-BE49-F238E27FC236}">
                <a16:creationId xmlns:a16="http://schemas.microsoft.com/office/drawing/2014/main" id="{3AEEE666-B9D3-7323-FB7C-29D7DA5BD1EA}"/>
              </a:ext>
            </a:extLst>
          </p:cNvPr>
          <p:cNvPicPr>
            <a:picLocks noChangeAspect="1"/>
          </p:cNvPicPr>
          <p:nvPr/>
        </p:nvPicPr>
        <p:blipFill>
          <a:blip r:embed="rId3"/>
          <a:stretch>
            <a:fillRect/>
          </a:stretch>
        </p:blipFill>
        <p:spPr>
          <a:xfrm>
            <a:off x="661987" y="1547172"/>
            <a:ext cx="6722005" cy="974322"/>
          </a:xfrm>
          <a:prstGeom prst="rect">
            <a:avLst/>
          </a:prstGeom>
          <a:ln>
            <a:solidFill>
              <a:schemeClr val="tx1"/>
            </a:solidFill>
          </a:ln>
        </p:spPr>
      </p:pic>
      <p:pic>
        <p:nvPicPr>
          <p:cNvPr id="7" name="Picture 6">
            <a:extLst>
              <a:ext uri="{FF2B5EF4-FFF2-40B4-BE49-F238E27FC236}">
                <a16:creationId xmlns:a16="http://schemas.microsoft.com/office/drawing/2014/main" id="{A4CDEAD5-B52D-423F-B425-C0EDFFF4408D}"/>
              </a:ext>
            </a:extLst>
          </p:cNvPr>
          <p:cNvPicPr>
            <a:picLocks noChangeAspect="1"/>
          </p:cNvPicPr>
          <p:nvPr/>
        </p:nvPicPr>
        <p:blipFill>
          <a:blip r:embed="rId4"/>
          <a:stretch>
            <a:fillRect/>
          </a:stretch>
        </p:blipFill>
        <p:spPr>
          <a:xfrm>
            <a:off x="2600324" y="2641244"/>
            <a:ext cx="3389659" cy="2120584"/>
          </a:xfrm>
          <a:prstGeom prst="rect">
            <a:avLst/>
          </a:prstGeom>
          <a:ln>
            <a:solidFill>
              <a:schemeClr val="tx1"/>
            </a:solidFill>
          </a:ln>
        </p:spPr>
      </p:pic>
    </p:spTree>
    <p:extLst>
      <p:ext uri="{BB962C8B-B14F-4D97-AF65-F5344CB8AC3E}">
        <p14:creationId xmlns:p14="http://schemas.microsoft.com/office/powerpoint/2010/main" val="3886367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5AC98-B5D5-8E4A-EDEE-5EB9210ABD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A7F087-A1FA-A39B-19DC-33C3CA5DB9AB}"/>
              </a:ext>
            </a:extLst>
          </p:cNvPr>
          <p:cNvSpPr>
            <a:spLocks noGrp="1"/>
          </p:cNvSpPr>
          <p:nvPr>
            <p:ph type="title"/>
          </p:nvPr>
        </p:nvSpPr>
        <p:spPr/>
        <p:txBody>
          <a:bodyPr/>
          <a:lstStyle/>
          <a:p>
            <a:r>
              <a:rPr lang="en-US"/>
              <a:t>story time ☕️</a:t>
            </a:r>
          </a:p>
        </p:txBody>
      </p:sp>
    </p:spTree>
    <p:extLst>
      <p:ext uri="{BB962C8B-B14F-4D97-AF65-F5344CB8AC3E}">
        <p14:creationId xmlns:p14="http://schemas.microsoft.com/office/powerpoint/2010/main" val="965912225"/>
      </p:ext>
    </p:extLst>
  </p:cSld>
  <p:clrMapOvr>
    <a:masterClrMapping/>
  </p:clrMapOvr>
</p:sld>
</file>

<file path=ppt/slides/slide7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A4114-F422-5271-7C05-16A3BB4A034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129001F-549D-04C0-9A98-50181D6EDC34}"/>
              </a:ext>
            </a:extLst>
          </p:cNvPr>
          <p:cNvPicPr>
            <a:picLocks noChangeAspect="1"/>
          </p:cNvPicPr>
          <p:nvPr/>
        </p:nvPicPr>
        <p:blipFill>
          <a:blip r:embed="rId2"/>
          <a:stretch>
            <a:fillRect/>
          </a:stretch>
        </p:blipFill>
        <p:spPr>
          <a:xfrm>
            <a:off x="1432505" y="0"/>
            <a:ext cx="6278990" cy="5143500"/>
          </a:xfrm>
          <a:prstGeom prst="rect">
            <a:avLst/>
          </a:prstGeom>
        </p:spPr>
      </p:pic>
    </p:spTree>
    <p:extLst>
      <p:ext uri="{BB962C8B-B14F-4D97-AF65-F5344CB8AC3E}">
        <p14:creationId xmlns:p14="http://schemas.microsoft.com/office/powerpoint/2010/main" val="2698782475"/>
      </p:ext>
    </p:extLst>
  </p:cSld>
  <p:clrMapOvr>
    <a:masterClrMapping/>
  </p:clrMapOvr>
</p:sld>
</file>

<file path=ppt/slides/slide7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D4178-23AC-2186-3BF9-A891E8CCC99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53724F1-766C-AD1F-F4D7-7E7DD4DF2A87}"/>
              </a:ext>
            </a:extLst>
          </p:cNvPr>
          <p:cNvPicPr>
            <a:picLocks noChangeAspect="1"/>
          </p:cNvPicPr>
          <p:nvPr/>
        </p:nvPicPr>
        <p:blipFill>
          <a:blip r:embed="rId2"/>
          <a:stretch>
            <a:fillRect/>
          </a:stretch>
        </p:blipFill>
        <p:spPr>
          <a:xfrm>
            <a:off x="1529661" y="0"/>
            <a:ext cx="6084677" cy="5143500"/>
          </a:xfrm>
          <a:prstGeom prst="rect">
            <a:avLst/>
          </a:prstGeom>
        </p:spPr>
      </p:pic>
    </p:spTree>
    <p:extLst>
      <p:ext uri="{BB962C8B-B14F-4D97-AF65-F5344CB8AC3E}">
        <p14:creationId xmlns:p14="http://schemas.microsoft.com/office/powerpoint/2010/main" val="1810398794"/>
      </p:ext>
    </p:extLst>
  </p:cSld>
  <p:clrMapOvr>
    <a:masterClrMapping/>
  </p:clrMapOvr>
</p:sld>
</file>

<file path=ppt/slides/slide7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07E9A-2769-5D51-FA42-6C319BA5250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E9B9BA3-F7AE-9309-5C66-E0DD088608F3}"/>
              </a:ext>
            </a:extLst>
          </p:cNvPr>
          <p:cNvPicPr>
            <a:picLocks noChangeAspect="1"/>
          </p:cNvPicPr>
          <p:nvPr/>
        </p:nvPicPr>
        <p:blipFill>
          <a:blip r:embed="rId2"/>
          <a:stretch>
            <a:fillRect/>
          </a:stretch>
        </p:blipFill>
        <p:spPr>
          <a:xfrm>
            <a:off x="1324770" y="0"/>
            <a:ext cx="6494460" cy="5143500"/>
          </a:xfrm>
          <a:prstGeom prst="rect">
            <a:avLst/>
          </a:prstGeom>
        </p:spPr>
      </p:pic>
    </p:spTree>
    <p:extLst>
      <p:ext uri="{BB962C8B-B14F-4D97-AF65-F5344CB8AC3E}">
        <p14:creationId xmlns:p14="http://schemas.microsoft.com/office/powerpoint/2010/main" val="3771782755"/>
      </p:ext>
    </p:extLst>
  </p:cSld>
  <p:clrMapOvr>
    <a:masterClrMapping/>
  </p:clrMapOvr>
</p:sld>
</file>

<file path=ppt/slides/slide7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429D7-5C98-9E0B-EAFA-B2D9E31E441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6A39CBA-62DE-B7D0-CE7B-3E0A9581203D}"/>
              </a:ext>
            </a:extLst>
          </p:cNvPr>
          <p:cNvPicPr>
            <a:picLocks noChangeAspect="1"/>
          </p:cNvPicPr>
          <p:nvPr/>
        </p:nvPicPr>
        <p:blipFill>
          <a:blip r:embed="rId2"/>
          <a:stretch>
            <a:fillRect/>
          </a:stretch>
        </p:blipFill>
        <p:spPr>
          <a:xfrm>
            <a:off x="1324770" y="0"/>
            <a:ext cx="6494460" cy="5143500"/>
          </a:xfrm>
          <a:prstGeom prst="rect">
            <a:avLst/>
          </a:prstGeom>
        </p:spPr>
      </p:pic>
      <p:sp>
        <p:nvSpPr>
          <p:cNvPr id="2" name="TextBox 1">
            <a:extLst>
              <a:ext uri="{FF2B5EF4-FFF2-40B4-BE49-F238E27FC236}">
                <a16:creationId xmlns:a16="http://schemas.microsoft.com/office/drawing/2014/main" id="{7F91C1CD-C8E7-52CC-A283-A3BF4D0F555A}"/>
              </a:ext>
            </a:extLst>
          </p:cNvPr>
          <p:cNvSpPr txBox="1"/>
          <p:nvPr/>
        </p:nvSpPr>
        <p:spPr>
          <a:xfrm>
            <a:off x="6538365" y="2112021"/>
            <a:ext cx="161841" cy="369332"/>
          </a:xfrm>
          <a:prstGeom prst="rect">
            <a:avLst/>
          </a:prstGeom>
          <a:noFill/>
        </p:spPr>
        <p:txBody>
          <a:bodyPr wrap="square" rtlCol="0">
            <a:spAutoFit/>
          </a:bodyPr>
          <a:lstStyle/>
          <a:p>
            <a:r>
              <a:rPr lang="en-US"/>
              <a:t>{</a:t>
            </a:r>
          </a:p>
        </p:txBody>
      </p:sp>
      <p:sp>
        <p:nvSpPr>
          <p:cNvPr id="4" name="TextBox 3">
            <a:extLst>
              <a:ext uri="{FF2B5EF4-FFF2-40B4-BE49-F238E27FC236}">
                <a16:creationId xmlns:a16="http://schemas.microsoft.com/office/drawing/2014/main" id="{7BDBE784-9DC2-85D3-2CE8-61E8C55EDD35}"/>
              </a:ext>
            </a:extLst>
          </p:cNvPr>
          <p:cNvSpPr txBox="1"/>
          <p:nvPr/>
        </p:nvSpPr>
        <p:spPr>
          <a:xfrm>
            <a:off x="3340662" y="2346624"/>
            <a:ext cx="161841" cy="369332"/>
          </a:xfrm>
          <a:prstGeom prst="rect">
            <a:avLst/>
          </a:prstGeom>
          <a:noFill/>
        </p:spPr>
        <p:txBody>
          <a:bodyPr wrap="square" rtlCol="0">
            <a:spAutoFit/>
          </a:bodyPr>
          <a:lstStyle/>
          <a:p>
            <a:r>
              <a:rPr lang="en-US"/>
              <a:t>}</a:t>
            </a:r>
          </a:p>
        </p:txBody>
      </p:sp>
      <p:sp>
        <p:nvSpPr>
          <p:cNvPr id="5" name="TextBox 4">
            <a:extLst>
              <a:ext uri="{FF2B5EF4-FFF2-40B4-BE49-F238E27FC236}">
                <a16:creationId xmlns:a16="http://schemas.microsoft.com/office/drawing/2014/main" id="{980A1115-C96C-0C6E-9A2A-F3A15E027D3B}"/>
              </a:ext>
            </a:extLst>
          </p:cNvPr>
          <p:cNvSpPr txBox="1"/>
          <p:nvPr/>
        </p:nvSpPr>
        <p:spPr>
          <a:xfrm>
            <a:off x="1907023" y="2665887"/>
            <a:ext cx="1791037" cy="276999"/>
          </a:xfrm>
          <a:prstGeom prst="rect">
            <a:avLst/>
          </a:prstGeom>
          <a:solidFill>
            <a:srgbClr val="FBFBFD"/>
          </a:solidFill>
        </p:spPr>
        <p:txBody>
          <a:bodyPr wrap="square" rtlCol="0">
            <a:spAutoFit/>
          </a:bodyPr>
          <a:lstStyle/>
          <a:p>
            <a:r>
              <a:rPr lang="en-US" sz="1200">
                <a:latin typeface="Consolas" panose="020B0609020204030204" pitchFamily="49" charset="0"/>
                <a:cs typeface="Consolas" panose="020B0609020204030204" pitchFamily="49" charset="0"/>
              </a:rPr>
              <a:t>goto fail;</a:t>
            </a:r>
          </a:p>
        </p:txBody>
      </p:sp>
    </p:spTree>
    <p:extLst>
      <p:ext uri="{BB962C8B-B14F-4D97-AF65-F5344CB8AC3E}">
        <p14:creationId xmlns:p14="http://schemas.microsoft.com/office/powerpoint/2010/main" val="3501226174"/>
      </p:ext>
    </p:extLst>
  </p:cSld>
  <p:clrMapOvr>
    <a:masterClrMapping/>
  </p:clrMapOvr>
</p:sld>
</file>

<file path=ppt/slides/slide7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C7F92-39F1-69AD-16A8-2ACDC3E370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A965C4-19E9-6A2C-FE61-B7B088436B72}"/>
              </a:ext>
            </a:extLst>
          </p:cNvPr>
          <p:cNvSpPr>
            <a:spLocks noGrp="1"/>
          </p:cNvSpPr>
          <p:nvPr>
            <p:ph type="title"/>
          </p:nvPr>
        </p:nvSpPr>
        <p:spPr/>
        <p:txBody>
          <a:bodyPr/>
          <a:lstStyle/>
          <a:p>
            <a:r>
              <a:rPr lang="en-US" sz="4000"/>
              <a:t> did the bug </a:t>
            </a:r>
            <a:r>
              <a:rPr lang="en-US" sz="4000" i="1"/>
              <a:t>really</a:t>
            </a:r>
            <a:r>
              <a:rPr lang="en-US" sz="4000"/>
              <a:t> happen because they left out the curly braces?</a:t>
            </a:r>
          </a:p>
        </p:txBody>
      </p:sp>
    </p:spTree>
    <p:extLst>
      <p:ext uri="{BB962C8B-B14F-4D97-AF65-F5344CB8AC3E}">
        <p14:creationId xmlns:p14="http://schemas.microsoft.com/office/powerpoint/2010/main" val="2543477931"/>
      </p:ext>
    </p:extLst>
  </p:cSld>
  <p:clrMapOvr>
    <a:masterClrMapping/>
  </p:clrMapOvr>
</p:sld>
</file>

<file path=ppt/slides/slide7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9CB5C-75AB-56D5-725C-F21FD0DD963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E804DDB-E2B3-DB04-FE50-F1D7D2F37923}"/>
              </a:ext>
            </a:extLst>
          </p:cNvPr>
          <p:cNvPicPr>
            <a:picLocks noChangeAspect="1"/>
          </p:cNvPicPr>
          <p:nvPr/>
        </p:nvPicPr>
        <p:blipFill>
          <a:blip r:embed="rId2"/>
          <a:stretch>
            <a:fillRect/>
          </a:stretch>
        </p:blipFill>
        <p:spPr>
          <a:xfrm>
            <a:off x="0" y="1132737"/>
            <a:ext cx="9144000" cy="2878026"/>
          </a:xfrm>
          <a:prstGeom prst="rect">
            <a:avLst/>
          </a:prstGeom>
        </p:spPr>
      </p:pic>
    </p:spTree>
    <p:extLst>
      <p:ext uri="{BB962C8B-B14F-4D97-AF65-F5344CB8AC3E}">
        <p14:creationId xmlns:p14="http://schemas.microsoft.com/office/powerpoint/2010/main" val="3725628256"/>
      </p:ext>
    </p:extLst>
  </p:cSld>
  <p:clrMapOvr>
    <a:masterClrMapping/>
  </p:clrMapOvr>
</p:sld>
</file>

<file path=ppt/slides/slide7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228A8-ED0F-0F21-DCFA-70321603AFA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D0F1D1C-75AD-8F34-30E8-5F044C85E16E}"/>
              </a:ext>
            </a:extLst>
          </p:cNvPr>
          <p:cNvPicPr>
            <a:picLocks noChangeAspect="1"/>
          </p:cNvPicPr>
          <p:nvPr/>
        </p:nvPicPr>
        <p:blipFill>
          <a:blip r:embed="rId2"/>
          <a:stretch>
            <a:fillRect/>
          </a:stretch>
        </p:blipFill>
        <p:spPr>
          <a:xfrm>
            <a:off x="0" y="1132737"/>
            <a:ext cx="9144000" cy="2878026"/>
          </a:xfrm>
          <a:prstGeom prst="rect">
            <a:avLst/>
          </a:prstGeom>
        </p:spPr>
      </p:pic>
      <p:sp>
        <p:nvSpPr>
          <p:cNvPr id="3" name="Rectangle 2">
            <a:extLst>
              <a:ext uri="{FF2B5EF4-FFF2-40B4-BE49-F238E27FC236}">
                <a16:creationId xmlns:a16="http://schemas.microsoft.com/office/drawing/2014/main" id="{B37911D2-A64F-76CA-0937-299FCD1EC5E2}"/>
              </a:ext>
            </a:extLst>
          </p:cNvPr>
          <p:cNvSpPr/>
          <p:nvPr/>
        </p:nvSpPr>
        <p:spPr>
          <a:xfrm>
            <a:off x="-220889" y="857386"/>
            <a:ext cx="7527235" cy="276970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D878FB2-8278-68A2-3C87-45113189E5ED}"/>
              </a:ext>
            </a:extLst>
          </p:cNvPr>
          <p:cNvSpPr/>
          <p:nvPr/>
        </p:nvSpPr>
        <p:spPr>
          <a:xfrm>
            <a:off x="1934818" y="79513"/>
            <a:ext cx="7527235" cy="276970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5EF79FF-E89C-A50D-59B9-B3A9C8EEB124}"/>
              </a:ext>
            </a:extLst>
          </p:cNvPr>
          <p:cNvSpPr/>
          <p:nvPr/>
        </p:nvSpPr>
        <p:spPr>
          <a:xfrm>
            <a:off x="3631978" y="3627091"/>
            <a:ext cx="7527235" cy="276970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63953"/>
      </p:ext>
    </p:extLst>
  </p:cSld>
  <p:clrMapOvr>
    <a:masterClrMapping/>
  </p:clrMapOvr>
</p:sld>
</file>

<file path=ppt/slides/slide7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9A6EA-231B-E39D-75D2-BBBC43374E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3097B7-7F14-1186-17FC-2151DBBA0535}"/>
              </a:ext>
            </a:extLst>
          </p:cNvPr>
          <p:cNvSpPr>
            <a:spLocks noGrp="1"/>
          </p:cNvSpPr>
          <p:nvPr>
            <p:ph type="title"/>
          </p:nvPr>
        </p:nvSpPr>
        <p:spPr/>
        <p:txBody>
          <a:bodyPr/>
          <a:lstStyle/>
          <a:p>
            <a:r>
              <a:rPr lang="en-US" sz="9600"/>
              <a:t>press CTRL+A and then press Tab</a:t>
            </a:r>
          </a:p>
        </p:txBody>
      </p:sp>
    </p:spTree>
    <p:extLst>
      <p:ext uri="{BB962C8B-B14F-4D97-AF65-F5344CB8AC3E}">
        <p14:creationId xmlns:p14="http://schemas.microsoft.com/office/powerpoint/2010/main" val="839279091"/>
      </p:ext>
    </p:extLst>
  </p:cSld>
  <p:clrMapOvr>
    <a:masterClrMapping/>
  </p:clrMapOvr>
</p:sld>
</file>

<file path=ppt/slides/slide7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048A0-3CBC-A053-AB9D-DC0CD7822A5F}"/>
              </a:ext>
            </a:extLst>
          </p:cNvPr>
          <p:cNvSpPr>
            <a:spLocks noGrp="1"/>
          </p:cNvSpPr>
          <p:nvPr>
            <p:ph type="title"/>
          </p:nvPr>
        </p:nvSpPr>
        <p:spPr/>
        <p:txBody>
          <a:bodyPr/>
          <a:lstStyle/>
          <a:p>
            <a:r>
              <a:rPr lang="en-US"/>
              <a:t>🙂👍</a:t>
            </a:r>
          </a:p>
        </p:txBody>
      </p:sp>
    </p:spTree>
    <p:extLst>
      <p:ext uri="{BB962C8B-B14F-4D97-AF65-F5344CB8AC3E}">
        <p14:creationId xmlns:p14="http://schemas.microsoft.com/office/powerpoint/2010/main" val="671880421"/>
      </p:ext>
    </p:extLst>
  </p:cSld>
  <p:clrMapOvr>
    <a:masterClrMapping/>
  </p:clrMapOvr>
</p:sld>
</file>

<file path=ppt/slides/slide7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30E0A-86A3-0C57-4811-A5EAB539D8D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11FC199-7A38-6034-1D2B-F72D77444983}"/>
              </a:ext>
            </a:extLst>
          </p:cNvPr>
          <p:cNvSpPr>
            <a:spLocks noGrp="1"/>
          </p:cNvSpPr>
          <p:nvPr>
            <p:ph type="title"/>
          </p:nvPr>
        </p:nvSpPr>
        <p:spPr/>
        <p:txBody>
          <a:bodyPr/>
          <a:lstStyle/>
          <a:p>
            <a:r>
              <a:rPr lang="en-US"/>
              <a:t>Cow.Java</a:t>
            </a:r>
          </a:p>
        </p:txBody>
      </p:sp>
    </p:spTree>
    <p:extLst>
      <p:ext uri="{BB962C8B-B14F-4D97-AF65-F5344CB8AC3E}">
        <p14:creationId xmlns:p14="http://schemas.microsoft.com/office/powerpoint/2010/main" val="655551583"/>
      </p:ext>
    </p:extLst>
  </p:cSld>
  <p:clrMapOvr>
    <a:masterClrMapping/>
  </p:clrMapOvr>
</p:sld>
</file>

<file path=ppt/slides/slide7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049C5-1D2B-3A46-6166-C6C16911BBA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90E11-5FF5-F586-F90B-FFF0BC42421B}"/>
              </a:ext>
            </a:extLst>
          </p:cNvPr>
          <p:cNvSpPr>
            <a:spLocks noGrp="1"/>
          </p:cNvSpPr>
          <p:nvPr>
            <p:ph type="title"/>
          </p:nvPr>
        </p:nvSpPr>
        <p:spPr/>
        <p:txBody>
          <a:bodyPr/>
          <a:lstStyle/>
          <a:p>
            <a:r>
              <a:rPr lang="en-US"/>
              <a:t>overview</a:t>
            </a:r>
            <a:br>
              <a:rPr lang="en-US" sz="1800"/>
            </a:br>
            <a:r>
              <a:rPr lang="en-US" sz="1800"/>
              <a:t>during a </a:t>
            </a:r>
            <a:r>
              <a:rPr lang="en-US" sz="1800" b="1"/>
              <a:t>frame</a:t>
            </a:r>
            <a:r>
              <a:rPr lang="en-US" sz="1800"/>
              <a:t> (like a frame of a movie)</a:t>
            </a:r>
            <a:br>
              <a:rPr lang="en-US" sz="1800"/>
            </a:br>
            <a:r>
              <a:rPr lang="en-US" sz="1800"/>
              <a:t>we </a:t>
            </a:r>
            <a:r>
              <a:rPr lang="en-US" sz="1800" b="1"/>
              <a:t>update</a:t>
            </a:r>
            <a:r>
              <a:rPr lang="en-US" sz="1800"/>
              <a:t> and </a:t>
            </a:r>
            <a:r>
              <a:rPr lang="en-US" sz="1800" b="1"/>
              <a:t>draw</a:t>
            </a:r>
            <a:r>
              <a:rPr lang="en-US" sz="1800"/>
              <a:t> the world</a:t>
            </a:r>
            <a:endParaRPr lang="en-US"/>
          </a:p>
        </p:txBody>
      </p:sp>
    </p:spTree>
    <p:extLst>
      <p:ext uri="{BB962C8B-B14F-4D97-AF65-F5344CB8AC3E}">
        <p14:creationId xmlns:p14="http://schemas.microsoft.com/office/powerpoint/2010/main" val="3472500915"/>
      </p:ext>
    </p:extLst>
  </p:cSld>
  <p:clrMapOvr>
    <a:masterClrMapping/>
  </p:clrMapOvr>
</p:sld>
</file>

<file path=ppt/slides/slide7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B250B-7B73-AEAE-218A-35F27E1AE870}"/>
            </a:ext>
          </a:extLst>
        </p:cNvPr>
        <p:cNvGrpSpPr/>
        <p:nvPr/>
      </p:nvGrpSpPr>
      <p:grpSpPr>
        <a:xfrm>
          <a:off x="0" y="0"/>
          <a:ext cx="0" cy="0"/>
          <a:chOff x="0" y="0"/>
          <a:chExt cx="0" cy="0"/>
        </a:xfrm>
      </p:grpSpPr>
      <p:pic>
        <p:nvPicPr>
          <p:cNvPr id="1026" name="Picture 2" descr="Movie Projector with Film Reel Plays the Old Retro Video on Projection  Screen, Stock Video - Envato Elements">
            <a:extLst>
              <a:ext uri="{FF2B5EF4-FFF2-40B4-BE49-F238E27FC236}">
                <a16:creationId xmlns:a16="http://schemas.microsoft.com/office/drawing/2014/main" id="{CE4238F2-6840-143E-7B72-D7A096F460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500" y="463550"/>
            <a:ext cx="7493000" cy="4216400"/>
          </a:xfrm>
          <a:prstGeom prst="rect">
            <a:avLst/>
          </a:prstGeom>
          <a:noFill/>
          <a:extLst>
            <a:ext uri="{909E8E84-426E-40DD-AFC4-6F175D3DCCD1}">
              <a14:hiddenFill xmlns:a14="http://schemas.microsoft.com/office/drawing/2010/main">
                <a:solidFill>
                  <a:srgbClr val="FFFFFF"/>
                </a:solidFill>
              </a14:hiddenFill>
            </a:ext>
          </a:extLst>
        </p:spPr>
      </p:pic>
      <p:grpSp>
        <p:nvGrpSpPr>
          <p:cNvPr id="33" name="Group 32">
            <a:extLst>
              <a:ext uri="{FF2B5EF4-FFF2-40B4-BE49-F238E27FC236}">
                <a16:creationId xmlns:a16="http://schemas.microsoft.com/office/drawing/2014/main" id="{F2F0DCBB-C7B2-554C-D650-8B9D8D936429}"/>
              </a:ext>
            </a:extLst>
          </p:cNvPr>
          <p:cNvGrpSpPr/>
          <p:nvPr/>
        </p:nvGrpSpPr>
        <p:grpSpPr>
          <a:xfrm>
            <a:off x="3273153" y="1834362"/>
            <a:ext cx="2258967" cy="418634"/>
            <a:chOff x="3273153" y="1834362"/>
            <a:chExt cx="2258967" cy="418634"/>
          </a:xfrm>
        </p:grpSpPr>
        <p:sp>
          <p:nvSpPr>
            <p:cNvPr id="3" name="Rectangle 2">
              <a:extLst>
                <a:ext uri="{FF2B5EF4-FFF2-40B4-BE49-F238E27FC236}">
                  <a16:creationId xmlns:a16="http://schemas.microsoft.com/office/drawing/2014/main" id="{32AC6933-3B0B-78C7-4A6D-AF570BDEC066}"/>
                </a:ext>
              </a:extLst>
            </p:cNvPr>
            <p:cNvSpPr/>
            <p:nvPr/>
          </p:nvSpPr>
          <p:spPr>
            <a:xfrm rot="799928">
              <a:off x="3273153" y="1834362"/>
              <a:ext cx="405517" cy="270344"/>
            </a:xfrm>
            <a:prstGeom prst="rect">
              <a:avLst/>
            </a:prstGeom>
            <a:noFill/>
            <a:ln w="571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31" name="TextBox 30">
              <a:extLst>
                <a:ext uri="{FF2B5EF4-FFF2-40B4-BE49-F238E27FC236}">
                  <a16:creationId xmlns:a16="http://schemas.microsoft.com/office/drawing/2014/main" id="{BED078D7-35E2-CCE7-7F03-EB60AB21EBC1}"/>
                </a:ext>
              </a:extLst>
            </p:cNvPr>
            <p:cNvSpPr txBox="1"/>
            <p:nvPr/>
          </p:nvSpPr>
          <p:spPr>
            <a:xfrm>
              <a:off x="3765602" y="1883664"/>
              <a:ext cx="1766518" cy="369332"/>
            </a:xfrm>
            <a:prstGeom prst="rect">
              <a:avLst/>
            </a:prstGeom>
            <a:solidFill>
              <a:schemeClr val="tx1"/>
            </a:solidFill>
          </p:spPr>
          <p:txBody>
            <a:bodyPr wrap="square" rtlCol="0">
              <a:spAutoFit/>
            </a:bodyPr>
            <a:lstStyle/>
            <a:p>
              <a:r>
                <a:rPr lang="en-US">
                  <a:solidFill>
                    <a:schemeClr val="bg1"/>
                  </a:solidFill>
                  <a:latin typeface="Consolas" panose="020B0609020204030204" pitchFamily="49" charset="0"/>
                  <a:cs typeface="Consolas" panose="020B0609020204030204" pitchFamily="49" charset="0"/>
                </a:rPr>
                <a:t>beginFrame()</a:t>
              </a:r>
            </a:p>
          </p:txBody>
        </p:sp>
      </p:grpSp>
      <p:grpSp>
        <p:nvGrpSpPr>
          <p:cNvPr id="34" name="Group 33">
            <a:extLst>
              <a:ext uri="{FF2B5EF4-FFF2-40B4-BE49-F238E27FC236}">
                <a16:creationId xmlns:a16="http://schemas.microsoft.com/office/drawing/2014/main" id="{AB23A474-5539-4182-335E-394CCA2637E7}"/>
              </a:ext>
            </a:extLst>
          </p:cNvPr>
          <p:cNvGrpSpPr/>
          <p:nvPr/>
        </p:nvGrpSpPr>
        <p:grpSpPr>
          <a:xfrm>
            <a:off x="3434697" y="1502130"/>
            <a:ext cx="2258967" cy="418634"/>
            <a:chOff x="3273153" y="1834362"/>
            <a:chExt cx="2258967" cy="418634"/>
          </a:xfrm>
        </p:grpSpPr>
        <p:sp>
          <p:nvSpPr>
            <p:cNvPr id="35" name="Rectangle 34">
              <a:extLst>
                <a:ext uri="{FF2B5EF4-FFF2-40B4-BE49-F238E27FC236}">
                  <a16:creationId xmlns:a16="http://schemas.microsoft.com/office/drawing/2014/main" id="{C9FC45BC-7698-F437-9DB3-E01044B8911C}"/>
                </a:ext>
              </a:extLst>
            </p:cNvPr>
            <p:cNvSpPr/>
            <p:nvPr/>
          </p:nvSpPr>
          <p:spPr>
            <a:xfrm rot="799928">
              <a:off x="3273153" y="1834362"/>
              <a:ext cx="405517" cy="270344"/>
            </a:xfrm>
            <a:prstGeom prst="rect">
              <a:avLst/>
            </a:prstGeom>
            <a:noFill/>
            <a:ln w="571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36" name="TextBox 35">
              <a:extLst>
                <a:ext uri="{FF2B5EF4-FFF2-40B4-BE49-F238E27FC236}">
                  <a16:creationId xmlns:a16="http://schemas.microsoft.com/office/drawing/2014/main" id="{02BD65B4-05A8-0385-B431-2A6CC022AF8A}"/>
                </a:ext>
              </a:extLst>
            </p:cNvPr>
            <p:cNvSpPr txBox="1"/>
            <p:nvPr/>
          </p:nvSpPr>
          <p:spPr>
            <a:xfrm>
              <a:off x="3765602" y="1883664"/>
              <a:ext cx="1766518" cy="369332"/>
            </a:xfrm>
            <a:prstGeom prst="rect">
              <a:avLst/>
            </a:prstGeom>
            <a:solidFill>
              <a:schemeClr val="tx1"/>
            </a:solidFill>
          </p:spPr>
          <p:txBody>
            <a:bodyPr wrap="square" rtlCol="0">
              <a:spAutoFit/>
            </a:bodyPr>
            <a:lstStyle/>
            <a:p>
              <a:r>
                <a:rPr lang="en-US">
                  <a:solidFill>
                    <a:schemeClr val="bg1"/>
                  </a:solidFill>
                  <a:latin typeface="Consolas" panose="020B0609020204030204" pitchFamily="49" charset="0"/>
                  <a:cs typeface="Consolas" panose="020B0609020204030204" pitchFamily="49" charset="0"/>
                </a:rPr>
                <a:t>beginFrame()</a:t>
              </a:r>
            </a:p>
          </p:txBody>
        </p:sp>
      </p:grpSp>
      <p:grpSp>
        <p:nvGrpSpPr>
          <p:cNvPr id="37" name="Group 36">
            <a:extLst>
              <a:ext uri="{FF2B5EF4-FFF2-40B4-BE49-F238E27FC236}">
                <a16:creationId xmlns:a16="http://schemas.microsoft.com/office/drawing/2014/main" id="{0D620A4C-CF33-610A-F022-E800BBB632B5}"/>
              </a:ext>
            </a:extLst>
          </p:cNvPr>
          <p:cNvGrpSpPr/>
          <p:nvPr/>
        </p:nvGrpSpPr>
        <p:grpSpPr>
          <a:xfrm>
            <a:off x="3641961" y="1179042"/>
            <a:ext cx="2258967" cy="418634"/>
            <a:chOff x="3273153" y="1834362"/>
            <a:chExt cx="2258967" cy="418634"/>
          </a:xfrm>
        </p:grpSpPr>
        <p:sp>
          <p:nvSpPr>
            <p:cNvPr id="38" name="Rectangle 37">
              <a:extLst>
                <a:ext uri="{FF2B5EF4-FFF2-40B4-BE49-F238E27FC236}">
                  <a16:creationId xmlns:a16="http://schemas.microsoft.com/office/drawing/2014/main" id="{93BE7A15-9C56-26A0-5983-DFDA9F85F45E}"/>
                </a:ext>
              </a:extLst>
            </p:cNvPr>
            <p:cNvSpPr/>
            <p:nvPr/>
          </p:nvSpPr>
          <p:spPr>
            <a:xfrm rot="799928">
              <a:off x="3273153" y="1834362"/>
              <a:ext cx="405517" cy="270344"/>
            </a:xfrm>
            <a:prstGeom prst="rect">
              <a:avLst/>
            </a:prstGeom>
            <a:noFill/>
            <a:ln w="571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39" name="TextBox 38">
              <a:extLst>
                <a:ext uri="{FF2B5EF4-FFF2-40B4-BE49-F238E27FC236}">
                  <a16:creationId xmlns:a16="http://schemas.microsoft.com/office/drawing/2014/main" id="{1E5D6855-6F1D-4868-65A1-EFB331F7E28E}"/>
                </a:ext>
              </a:extLst>
            </p:cNvPr>
            <p:cNvSpPr txBox="1"/>
            <p:nvPr/>
          </p:nvSpPr>
          <p:spPr>
            <a:xfrm>
              <a:off x="3765602" y="1883664"/>
              <a:ext cx="1766518" cy="369332"/>
            </a:xfrm>
            <a:prstGeom prst="rect">
              <a:avLst/>
            </a:prstGeom>
            <a:solidFill>
              <a:schemeClr val="tx1"/>
            </a:solidFill>
          </p:spPr>
          <p:txBody>
            <a:bodyPr wrap="square" rtlCol="0">
              <a:spAutoFit/>
            </a:bodyPr>
            <a:lstStyle/>
            <a:p>
              <a:r>
                <a:rPr lang="en-US">
                  <a:solidFill>
                    <a:schemeClr val="bg1"/>
                  </a:solidFill>
                  <a:latin typeface="Consolas" panose="020B0609020204030204" pitchFamily="49" charset="0"/>
                  <a:cs typeface="Consolas" panose="020B0609020204030204" pitchFamily="49" charset="0"/>
                </a:rPr>
                <a:t>beginFrame()</a:t>
              </a:r>
            </a:p>
          </p:txBody>
        </p:sp>
      </p:grpSp>
      <p:grpSp>
        <p:nvGrpSpPr>
          <p:cNvPr id="40" name="Group 39">
            <a:extLst>
              <a:ext uri="{FF2B5EF4-FFF2-40B4-BE49-F238E27FC236}">
                <a16:creationId xmlns:a16="http://schemas.microsoft.com/office/drawing/2014/main" id="{0F9A4F73-7E12-4831-B989-E68312057C9D}"/>
              </a:ext>
            </a:extLst>
          </p:cNvPr>
          <p:cNvGrpSpPr/>
          <p:nvPr/>
        </p:nvGrpSpPr>
        <p:grpSpPr>
          <a:xfrm>
            <a:off x="3849225" y="810234"/>
            <a:ext cx="2258967" cy="418634"/>
            <a:chOff x="3273153" y="1834362"/>
            <a:chExt cx="2258967" cy="418634"/>
          </a:xfrm>
        </p:grpSpPr>
        <p:sp>
          <p:nvSpPr>
            <p:cNvPr id="41" name="Rectangle 40">
              <a:extLst>
                <a:ext uri="{FF2B5EF4-FFF2-40B4-BE49-F238E27FC236}">
                  <a16:creationId xmlns:a16="http://schemas.microsoft.com/office/drawing/2014/main" id="{41DA08DD-6C1C-3350-A188-A84376119D1D}"/>
                </a:ext>
              </a:extLst>
            </p:cNvPr>
            <p:cNvSpPr/>
            <p:nvPr/>
          </p:nvSpPr>
          <p:spPr>
            <a:xfrm rot="799928">
              <a:off x="3273153" y="1834362"/>
              <a:ext cx="405517" cy="270344"/>
            </a:xfrm>
            <a:prstGeom prst="rect">
              <a:avLst/>
            </a:prstGeom>
            <a:noFill/>
            <a:ln w="571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42" name="TextBox 41">
              <a:extLst>
                <a:ext uri="{FF2B5EF4-FFF2-40B4-BE49-F238E27FC236}">
                  <a16:creationId xmlns:a16="http://schemas.microsoft.com/office/drawing/2014/main" id="{556128BC-A8C7-A3C8-C8F0-881774834222}"/>
                </a:ext>
              </a:extLst>
            </p:cNvPr>
            <p:cNvSpPr txBox="1"/>
            <p:nvPr/>
          </p:nvSpPr>
          <p:spPr>
            <a:xfrm>
              <a:off x="3765602" y="1883664"/>
              <a:ext cx="1766518" cy="369332"/>
            </a:xfrm>
            <a:prstGeom prst="rect">
              <a:avLst/>
            </a:prstGeom>
            <a:solidFill>
              <a:schemeClr val="tx1"/>
            </a:solidFill>
          </p:spPr>
          <p:txBody>
            <a:bodyPr wrap="square" rtlCol="0">
              <a:spAutoFit/>
            </a:bodyPr>
            <a:lstStyle/>
            <a:p>
              <a:r>
                <a:rPr lang="en-US">
                  <a:solidFill>
                    <a:schemeClr val="bg1"/>
                  </a:solidFill>
                  <a:latin typeface="Consolas" panose="020B0609020204030204" pitchFamily="49" charset="0"/>
                  <a:cs typeface="Consolas" panose="020B0609020204030204" pitchFamily="49" charset="0"/>
                </a:rPr>
                <a:t>beginFrame()</a:t>
              </a:r>
            </a:p>
          </p:txBody>
        </p:sp>
      </p:grpSp>
      <p:grpSp>
        <p:nvGrpSpPr>
          <p:cNvPr id="43" name="Group 42">
            <a:extLst>
              <a:ext uri="{FF2B5EF4-FFF2-40B4-BE49-F238E27FC236}">
                <a16:creationId xmlns:a16="http://schemas.microsoft.com/office/drawing/2014/main" id="{E6228006-C51D-0F12-3627-13B235B7B068}"/>
              </a:ext>
            </a:extLst>
          </p:cNvPr>
          <p:cNvGrpSpPr/>
          <p:nvPr/>
        </p:nvGrpSpPr>
        <p:grpSpPr>
          <a:xfrm>
            <a:off x="4001625" y="413994"/>
            <a:ext cx="2258967" cy="418634"/>
            <a:chOff x="3273153" y="1834362"/>
            <a:chExt cx="2258967" cy="418634"/>
          </a:xfrm>
        </p:grpSpPr>
        <p:sp>
          <p:nvSpPr>
            <p:cNvPr id="44" name="Rectangle 43">
              <a:extLst>
                <a:ext uri="{FF2B5EF4-FFF2-40B4-BE49-F238E27FC236}">
                  <a16:creationId xmlns:a16="http://schemas.microsoft.com/office/drawing/2014/main" id="{BC5CABBB-FA64-B535-6BDE-3012D1E4BCB2}"/>
                </a:ext>
              </a:extLst>
            </p:cNvPr>
            <p:cNvSpPr/>
            <p:nvPr/>
          </p:nvSpPr>
          <p:spPr>
            <a:xfrm rot="799928">
              <a:off x="3273153" y="1834362"/>
              <a:ext cx="405517" cy="270344"/>
            </a:xfrm>
            <a:prstGeom prst="rect">
              <a:avLst/>
            </a:prstGeom>
            <a:noFill/>
            <a:ln w="571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45" name="TextBox 44">
              <a:extLst>
                <a:ext uri="{FF2B5EF4-FFF2-40B4-BE49-F238E27FC236}">
                  <a16:creationId xmlns:a16="http://schemas.microsoft.com/office/drawing/2014/main" id="{0F94E7D5-7723-863B-8097-7497787D9E3E}"/>
                </a:ext>
              </a:extLst>
            </p:cNvPr>
            <p:cNvSpPr txBox="1"/>
            <p:nvPr/>
          </p:nvSpPr>
          <p:spPr>
            <a:xfrm>
              <a:off x="3765602" y="1883664"/>
              <a:ext cx="1766518" cy="369332"/>
            </a:xfrm>
            <a:prstGeom prst="rect">
              <a:avLst/>
            </a:prstGeom>
            <a:solidFill>
              <a:schemeClr val="tx1"/>
            </a:solidFill>
          </p:spPr>
          <p:txBody>
            <a:bodyPr wrap="square" rtlCol="0">
              <a:spAutoFit/>
            </a:bodyPr>
            <a:lstStyle/>
            <a:p>
              <a:r>
                <a:rPr lang="en-US">
                  <a:solidFill>
                    <a:schemeClr val="bg1"/>
                  </a:solidFill>
                  <a:latin typeface="Consolas" panose="020B0609020204030204" pitchFamily="49" charset="0"/>
                  <a:cs typeface="Consolas" panose="020B0609020204030204" pitchFamily="49" charset="0"/>
                </a:rPr>
                <a:t>beginFrame()</a:t>
              </a:r>
            </a:p>
          </p:txBody>
        </p:sp>
      </p:grpSp>
      <p:grpSp>
        <p:nvGrpSpPr>
          <p:cNvPr id="46" name="Group 45">
            <a:extLst>
              <a:ext uri="{FF2B5EF4-FFF2-40B4-BE49-F238E27FC236}">
                <a16:creationId xmlns:a16="http://schemas.microsoft.com/office/drawing/2014/main" id="{0293E45D-E08F-6DF6-600B-33F68224BBF5}"/>
              </a:ext>
            </a:extLst>
          </p:cNvPr>
          <p:cNvGrpSpPr/>
          <p:nvPr/>
        </p:nvGrpSpPr>
        <p:grpSpPr>
          <a:xfrm>
            <a:off x="4154025" y="26898"/>
            <a:ext cx="2258967" cy="418634"/>
            <a:chOff x="3273153" y="1834362"/>
            <a:chExt cx="2258967" cy="418634"/>
          </a:xfrm>
        </p:grpSpPr>
        <p:sp>
          <p:nvSpPr>
            <p:cNvPr id="47" name="Rectangle 46">
              <a:extLst>
                <a:ext uri="{FF2B5EF4-FFF2-40B4-BE49-F238E27FC236}">
                  <a16:creationId xmlns:a16="http://schemas.microsoft.com/office/drawing/2014/main" id="{17E921F2-ED95-D57A-07CF-9AC90AF92510}"/>
                </a:ext>
              </a:extLst>
            </p:cNvPr>
            <p:cNvSpPr/>
            <p:nvPr/>
          </p:nvSpPr>
          <p:spPr>
            <a:xfrm rot="799928">
              <a:off x="3273153" y="1834362"/>
              <a:ext cx="405517" cy="270344"/>
            </a:xfrm>
            <a:prstGeom prst="rect">
              <a:avLst/>
            </a:prstGeom>
            <a:noFill/>
            <a:ln w="571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48" name="TextBox 47">
              <a:extLst>
                <a:ext uri="{FF2B5EF4-FFF2-40B4-BE49-F238E27FC236}">
                  <a16:creationId xmlns:a16="http://schemas.microsoft.com/office/drawing/2014/main" id="{BBFED1C5-D896-B23E-6AC8-A359BC5178F3}"/>
                </a:ext>
              </a:extLst>
            </p:cNvPr>
            <p:cNvSpPr txBox="1"/>
            <p:nvPr/>
          </p:nvSpPr>
          <p:spPr>
            <a:xfrm>
              <a:off x="3765602" y="1883664"/>
              <a:ext cx="1766518" cy="369332"/>
            </a:xfrm>
            <a:prstGeom prst="rect">
              <a:avLst/>
            </a:prstGeom>
            <a:solidFill>
              <a:schemeClr val="tx1"/>
            </a:solidFill>
          </p:spPr>
          <p:txBody>
            <a:bodyPr wrap="square" rtlCol="0">
              <a:spAutoFit/>
            </a:bodyPr>
            <a:lstStyle/>
            <a:p>
              <a:r>
                <a:rPr lang="en-US">
                  <a:solidFill>
                    <a:schemeClr val="bg1"/>
                  </a:solidFill>
                  <a:latin typeface="Consolas" panose="020B0609020204030204" pitchFamily="49" charset="0"/>
                  <a:cs typeface="Consolas" panose="020B0609020204030204" pitchFamily="49" charset="0"/>
                </a:rPr>
                <a:t>beginFrame()</a:t>
              </a:r>
            </a:p>
          </p:txBody>
        </p:sp>
      </p:grpSp>
    </p:spTree>
    <p:extLst>
      <p:ext uri="{BB962C8B-B14F-4D97-AF65-F5344CB8AC3E}">
        <p14:creationId xmlns:p14="http://schemas.microsoft.com/office/powerpoint/2010/main" val="189868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74BA9-6C59-6E9A-07C0-994F72A3B37A}"/>
              </a:ext>
            </a:extLst>
          </p:cNvPr>
          <p:cNvSpPr>
            <a:spLocks noGrp="1"/>
          </p:cNvSpPr>
          <p:nvPr>
            <p:ph type="title"/>
          </p:nvPr>
        </p:nvSpPr>
        <p:spPr/>
        <p:txBody>
          <a:bodyPr/>
          <a:lstStyle/>
          <a:p>
            <a:r>
              <a:rPr lang="en-US"/>
              <a:t>[discussion of update-draw loop]</a:t>
            </a:r>
          </a:p>
        </p:txBody>
      </p:sp>
    </p:spTree>
    <p:extLst>
      <p:ext uri="{BB962C8B-B14F-4D97-AF65-F5344CB8AC3E}">
        <p14:creationId xmlns:p14="http://schemas.microsoft.com/office/powerpoint/2010/main" val="2475687199"/>
      </p:ext>
    </p:extLst>
  </p:cSld>
  <p:clrMapOvr>
    <a:masterClrMapping/>
  </p:clrMapOvr>
</p:sld>
</file>

<file path=ppt/slides/slide7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74878-9004-F317-1518-14FFE8A44EB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9EF6F54-EEA8-CF50-3925-B9BCAE0AEDDC}"/>
              </a:ext>
            </a:extLst>
          </p:cNvPr>
          <p:cNvSpPr>
            <a:spLocks noGrp="1"/>
          </p:cNvSpPr>
          <p:nvPr>
            <p:ph type="title"/>
          </p:nvPr>
        </p:nvSpPr>
        <p:spPr/>
        <p:txBody>
          <a:bodyPr/>
          <a:lstStyle/>
          <a:p>
            <a:r>
              <a:rPr lang="en-US"/>
              <a:t>your best friend</a:t>
            </a:r>
          </a:p>
        </p:txBody>
      </p:sp>
    </p:spTree>
    <p:extLst>
      <p:ext uri="{BB962C8B-B14F-4D97-AF65-F5344CB8AC3E}">
        <p14:creationId xmlns:p14="http://schemas.microsoft.com/office/powerpoint/2010/main" val="567405000"/>
      </p:ext>
    </p:extLst>
  </p:cSld>
  <p:clrMapOvr>
    <a:masterClrMapping/>
  </p:clrMapOvr>
</p:sld>
</file>

<file path=ppt/slides/slide7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CDB3D-3067-0D30-1B8F-78E0481BB436}"/>
            </a:ext>
          </a:extLst>
        </p:cNvPr>
        <p:cNvGrpSpPr/>
        <p:nvPr/>
      </p:nvGrpSpPr>
      <p:grpSpPr>
        <a:xfrm>
          <a:off x="0" y="0"/>
          <a:ext cx="0" cy="0"/>
          <a:chOff x="0" y="0"/>
          <a:chExt cx="0" cy="0"/>
        </a:xfrm>
      </p:grpSpPr>
      <p:pic>
        <p:nvPicPr>
          <p:cNvPr id="2050" name="Picture 2" descr="Spongebob Squarepants Imagination GIF - Spongebob ...">
            <a:extLst>
              <a:ext uri="{FF2B5EF4-FFF2-40B4-BE49-F238E27FC236}">
                <a16:creationId xmlns:a16="http://schemas.microsoft.com/office/drawing/2014/main" id="{27B1F232-3CCE-7388-10C3-667851F311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9700" y="628650"/>
            <a:ext cx="6324600" cy="38862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A4E6A7F-3FA4-32C5-8890-1F7C181EDD06}"/>
              </a:ext>
            </a:extLst>
          </p:cNvPr>
          <p:cNvSpPr txBox="1"/>
          <p:nvPr/>
        </p:nvSpPr>
        <p:spPr>
          <a:xfrm>
            <a:off x="1916264" y="3753016"/>
            <a:ext cx="5534108" cy="707886"/>
          </a:xfrm>
          <a:prstGeom prst="rect">
            <a:avLst/>
          </a:prstGeom>
          <a:solidFill>
            <a:schemeClr val="tx1"/>
          </a:solidFill>
        </p:spPr>
        <p:txBody>
          <a:bodyPr wrap="square" rtlCol="0">
            <a:spAutoFit/>
          </a:bodyPr>
          <a:lstStyle/>
          <a:p>
            <a:pPr algn="ctr"/>
            <a:r>
              <a:rPr lang="en-US" sz="4000">
                <a:solidFill>
                  <a:schemeClr val="bg1"/>
                </a:solidFill>
                <a:latin typeface="Impact" panose="020B0806030902050204" pitchFamily="34" charset="0"/>
              </a:rPr>
              <a:t>DOCUMENTATION</a:t>
            </a:r>
          </a:p>
        </p:txBody>
      </p:sp>
    </p:spTree>
    <p:extLst>
      <p:ext uri="{BB962C8B-B14F-4D97-AF65-F5344CB8AC3E}">
        <p14:creationId xmlns:p14="http://schemas.microsoft.com/office/powerpoint/2010/main" val="1660636079"/>
      </p:ext>
    </p:extLst>
  </p:cSld>
  <p:clrMapOvr>
    <a:masterClrMapping/>
  </p:clrMapOvr>
</p:sld>
</file>

<file path=ppt/slides/slide7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5CE41-EDCA-D6C8-54BB-7F8AF07E107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0AE67F2-F622-FA92-9A71-9AED16CE1BB0}"/>
              </a:ext>
            </a:extLst>
          </p:cNvPr>
          <p:cNvSpPr>
            <a:spLocks noGrp="1"/>
          </p:cNvSpPr>
          <p:nvPr>
            <p:ph type="title"/>
          </p:nvPr>
        </p:nvSpPr>
        <p:spPr/>
        <p:txBody>
          <a:bodyPr/>
          <a:lstStyle/>
          <a:p>
            <a:r>
              <a:rPr lang="en-US"/>
              <a:t>[examples]</a:t>
            </a:r>
          </a:p>
        </p:txBody>
      </p:sp>
    </p:spTree>
    <p:extLst>
      <p:ext uri="{BB962C8B-B14F-4D97-AF65-F5344CB8AC3E}">
        <p14:creationId xmlns:p14="http://schemas.microsoft.com/office/powerpoint/2010/main" val="459218522"/>
      </p:ext>
    </p:extLst>
  </p:cSld>
  <p:clrMapOvr>
    <a:masterClrMapping/>
  </p:clrMapOvr>
</p:sld>
</file>

<file path=ppt/slides/slide7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53B4DC-B4E2-335A-E689-68AA0AAE787D}"/>
              </a:ext>
            </a:extLst>
          </p:cNvPr>
          <p:cNvSpPr>
            <a:spLocks noGrp="1"/>
          </p:cNvSpPr>
          <p:nvPr>
            <p:ph type="title"/>
          </p:nvPr>
        </p:nvSpPr>
        <p:spPr/>
        <p:txBody>
          <a:bodyPr/>
          <a:lstStyle/>
          <a:p>
            <a:r>
              <a:rPr lang="en-US"/>
              <a:t>Cow.java examples</a:t>
            </a:r>
          </a:p>
        </p:txBody>
      </p:sp>
      <p:sp>
        <p:nvSpPr>
          <p:cNvPr id="4" name="Content Placeholder 3">
            <a:extLst>
              <a:ext uri="{FF2B5EF4-FFF2-40B4-BE49-F238E27FC236}">
                <a16:creationId xmlns:a16="http://schemas.microsoft.com/office/drawing/2014/main" id="{134CAEF5-18F4-BD60-0F29-4382FFD4E060}"/>
              </a:ext>
            </a:extLst>
          </p:cNvPr>
          <p:cNvSpPr>
            <a:spLocks noGrp="1"/>
          </p:cNvSpPr>
          <p:nvPr>
            <p:ph sz="quarter" idx="10"/>
          </p:nvPr>
        </p:nvSpPr>
        <p:spPr/>
        <p:txBody>
          <a:bodyPr/>
          <a:lstStyle/>
          <a:p>
            <a:r>
              <a:rPr lang="en-US"/>
              <a:t>rainbow circle example</a:t>
            </a:r>
          </a:p>
          <a:p>
            <a:r>
              <a:rPr lang="en-US"/>
              <a:t>grid</a:t>
            </a:r>
          </a:p>
          <a:p>
            <a:r>
              <a:rPr lang="en-US"/>
              <a:t>checkerboard</a:t>
            </a:r>
          </a:p>
          <a:p>
            <a:r>
              <a:rPr lang="en-US"/>
              <a:t>paint</a:t>
            </a:r>
          </a:p>
        </p:txBody>
      </p:sp>
    </p:spTree>
    <p:extLst>
      <p:ext uri="{BB962C8B-B14F-4D97-AF65-F5344CB8AC3E}">
        <p14:creationId xmlns:p14="http://schemas.microsoft.com/office/powerpoint/2010/main" val="273445414"/>
      </p:ext>
    </p:extLst>
  </p:cSld>
  <p:clrMapOvr>
    <a:masterClrMapping/>
  </p:clrMapOvr>
</p:sld>
</file>

<file path=ppt/slides/slide7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C8878EE0-6FC0-968E-0C31-4212557C2D0F}"/>
              </a:ext>
            </a:extLst>
          </p:cNvPr>
          <p:cNvSpPr txBox="1"/>
          <p:nvPr/>
        </p:nvSpPr>
        <p:spPr>
          <a:xfrm>
            <a:off x="4528061" y="1457094"/>
            <a:ext cx="5149512" cy="3770263"/>
          </a:xfrm>
          <a:prstGeom prst="rect">
            <a:avLst/>
          </a:prstGeom>
          <a:noFill/>
        </p:spPr>
        <p:txBody>
          <a:bodyPr wrap="square">
            <a:spAutoFit/>
          </a:bodyPr>
          <a:lstStyle/>
          <a:p>
            <a:pPr algn="r"/>
            <a:r>
              <a:rPr kumimoji="0" lang="en-US" sz="239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sz="8000"/>
          </a:p>
        </p:txBody>
      </p:sp>
      <p:sp>
        <p:nvSpPr>
          <p:cNvPr id="8" name="Title 7">
            <a:extLst>
              <a:ext uri="{FF2B5EF4-FFF2-40B4-BE49-F238E27FC236}">
                <a16:creationId xmlns:a16="http://schemas.microsoft.com/office/drawing/2014/main" id="{F3A8D9A8-BE50-4FCF-9531-F4CF472C631B}"/>
              </a:ext>
            </a:extLst>
          </p:cNvPr>
          <p:cNvSpPr>
            <a:spLocks noGrp="1"/>
          </p:cNvSpPr>
          <p:nvPr>
            <p:ph type="title"/>
          </p:nvPr>
        </p:nvSpPr>
        <p:spPr>
          <a:xfrm>
            <a:off x="223520" y="66451"/>
            <a:ext cx="8229600" cy="1893924"/>
          </a:xfrm>
        </p:spPr>
        <p:txBody>
          <a:bodyPr/>
          <a:lstStyle/>
          <a:p>
            <a:r>
              <a:rPr lang="en-US"/>
              <a:t>Week00</a:t>
            </a:r>
          </a:p>
        </p:txBody>
      </p:sp>
      <p:sp>
        <p:nvSpPr>
          <p:cNvPr id="4" name="TextBox 3">
            <a:extLst>
              <a:ext uri="{FF2B5EF4-FFF2-40B4-BE49-F238E27FC236}">
                <a16:creationId xmlns:a16="http://schemas.microsoft.com/office/drawing/2014/main" id="{31E1DEFD-D267-C30A-1BB1-D3D4456426FB}"/>
              </a:ext>
            </a:extLst>
          </p:cNvPr>
          <p:cNvSpPr txBox="1"/>
          <p:nvPr/>
        </p:nvSpPr>
        <p:spPr>
          <a:xfrm>
            <a:off x="2842953" y="1794332"/>
            <a:ext cx="3428267" cy="1200329"/>
          </a:xfrm>
          <a:prstGeom prst="rect">
            <a:avLst/>
          </a:prstGeom>
          <a:noFill/>
        </p:spPr>
        <p:txBody>
          <a:bodyPr wrap="square" rtlCol="0">
            <a:spAutoFit/>
          </a:bodyPr>
          <a:lstStyle/>
          <a:p>
            <a:pPr algn="ctr"/>
            <a:r>
              <a:rPr lang="en-US" b="1">
                <a:solidFill>
                  <a:srgbClr val="F80B8D"/>
                </a:solidFill>
              </a:rPr>
              <a:t>NOTE: </a:t>
            </a:r>
            <a:r>
              <a:rPr lang="en-US" sz="1800">
                <a:solidFill>
                  <a:srgbClr val="F80B8D"/>
                </a:solidFill>
              </a:rPr>
              <a:t>HW00 due Monday</a:t>
            </a:r>
          </a:p>
          <a:p>
            <a:pPr algn="ctr"/>
            <a:r>
              <a:rPr lang="en-US">
                <a:solidFill>
                  <a:srgbClr val="F80B8D"/>
                </a:solidFill>
              </a:rPr>
              <a:t>(if you have trouble with set-up, don't stress ; worst case we figure it out next week)</a:t>
            </a:r>
          </a:p>
        </p:txBody>
      </p:sp>
      <p:sp>
        <p:nvSpPr>
          <p:cNvPr id="7" name="TextBox 6">
            <a:extLst>
              <a:ext uri="{FF2B5EF4-FFF2-40B4-BE49-F238E27FC236}">
                <a16:creationId xmlns:a16="http://schemas.microsoft.com/office/drawing/2014/main" id="{2E4A286D-3E35-AC15-E309-D448B3AD227B}"/>
              </a:ext>
            </a:extLst>
          </p:cNvPr>
          <p:cNvSpPr txBox="1"/>
          <p:nvPr/>
        </p:nvSpPr>
        <p:spPr>
          <a:xfrm>
            <a:off x="3522606" y="3058367"/>
            <a:ext cx="2400300" cy="646331"/>
          </a:xfrm>
          <a:prstGeom prst="rect">
            <a:avLst/>
          </a:prstGeom>
          <a:noFill/>
        </p:spPr>
        <p:txBody>
          <a:bodyPr wrap="square">
            <a:spAutoFit/>
          </a:bodyPr>
          <a:lstStyle/>
          <a:p>
            <a:pPr algn="ctr"/>
            <a:r>
              <a:rPr lang="en-US" sz="1800" b="1">
                <a:solidFill>
                  <a:srgbClr val="F80B8D"/>
                </a:solidFill>
              </a:rPr>
              <a:t>NOTE: </a:t>
            </a:r>
            <a:r>
              <a:rPr lang="en-US" sz="1800">
                <a:solidFill>
                  <a:srgbClr val="F80B8D"/>
                </a:solidFill>
              </a:rPr>
              <a:t>Help Hours start tomorrow!</a:t>
            </a:r>
            <a:endParaRPr lang="en-US">
              <a:solidFill>
                <a:srgbClr val="F80B8D"/>
              </a:solidFill>
            </a:endParaRPr>
          </a:p>
        </p:txBody>
      </p:sp>
      <p:sp>
        <p:nvSpPr>
          <p:cNvPr id="9" name="TextBox 8">
            <a:extLst>
              <a:ext uri="{FF2B5EF4-FFF2-40B4-BE49-F238E27FC236}">
                <a16:creationId xmlns:a16="http://schemas.microsoft.com/office/drawing/2014/main" id="{2AB0475D-BD30-2CCF-FA8B-36995D3861A6}"/>
              </a:ext>
            </a:extLst>
          </p:cNvPr>
          <p:cNvSpPr txBox="1"/>
          <p:nvPr/>
        </p:nvSpPr>
        <p:spPr>
          <a:xfrm>
            <a:off x="7102817" y="1077120"/>
            <a:ext cx="2027981" cy="923330"/>
          </a:xfrm>
          <a:prstGeom prst="rect">
            <a:avLst/>
          </a:prstGeom>
          <a:noFill/>
        </p:spPr>
        <p:txBody>
          <a:bodyPr wrap="square">
            <a:spAutoFit/>
          </a:bodyPr>
          <a:lstStyle/>
          <a:p>
            <a:pPr algn="ctr"/>
            <a:r>
              <a:rPr lang="en-US" sz="1800" b="1">
                <a:solidFill>
                  <a:srgbClr val="F80B8D"/>
                </a:solidFill>
              </a:rPr>
              <a:t>Hans </a:t>
            </a:r>
            <a:r>
              <a:rPr lang="en-US" b="1">
                <a:solidFill>
                  <a:srgbClr val="F80B8D"/>
                </a:solidFill>
              </a:rPr>
              <a:t>t</a:t>
            </a:r>
            <a:r>
              <a:rPr lang="en-US" sz="1800" b="1">
                <a:solidFill>
                  <a:srgbClr val="F80B8D"/>
                </a:solidFill>
              </a:rPr>
              <a:t>he </a:t>
            </a:r>
            <a:r>
              <a:rPr lang="en-US" b="1">
                <a:solidFill>
                  <a:srgbClr val="F80B8D"/>
                </a:solidFill>
              </a:rPr>
              <a:t>Announcement</a:t>
            </a:r>
            <a:r>
              <a:rPr lang="en-US" sz="1800" b="1">
                <a:solidFill>
                  <a:srgbClr val="F80B8D"/>
                </a:solidFill>
              </a:rPr>
              <a:t> Parrot</a:t>
            </a:r>
            <a:endParaRPr lang="en-US">
              <a:solidFill>
                <a:srgbClr val="F80B8D"/>
              </a:solidFill>
            </a:endParaRPr>
          </a:p>
        </p:txBody>
      </p:sp>
      <p:sp>
        <p:nvSpPr>
          <p:cNvPr id="2" name="TextBox 1">
            <a:extLst>
              <a:ext uri="{FF2B5EF4-FFF2-40B4-BE49-F238E27FC236}">
                <a16:creationId xmlns:a16="http://schemas.microsoft.com/office/drawing/2014/main" id="{3E018E68-8E46-9B7D-26FE-9B7259BC84D0}"/>
              </a:ext>
            </a:extLst>
          </p:cNvPr>
          <p:cNvSpPr txBox="1"/>
          <p:nvPr/>
        </p:nvSpPr>
        <p:spPr>
          <a:xfrm>
            <a:off x="2236124" y="3768405"/>
            <a:ext cx="4035096" cy="1200329"/>
          </a:xfrm>
          <a:prstGeom prst="rect">
            <a:avLst/>
          </a:prstGeom>
          <a:noFill/>
        </p:spPr>
        <p:txBody>
          <a:bodyPr wrap="square">
            <a:spAutoFit/>
          </a:bodyPr>
          <a:lstStyle/>
          <a:p>
            <a:pPr algn="ctr"/>
            <a:r>
              <a:rPr lang="en-US" sz="1800" b="1">
                <a:solidFill>
                  <a:srgbClr val="F80B8D"/>
                </a:solidFill>
              </a:rPr>
              <a:t>NOTE: </a:t>
            </a:r>
            <a:r>
              <a:rPr lang="en-US" sz="1800">
                <a:solidFill>
                  <a:srgbClr val="F80B8D"/>
                </a:solidFill>
              </a:rPr>
              <a:t>Jim has to run directly from 10am lecture to the airport;</a:t>
            </a:r>
            <a:br>
              <a:rPr lang="en-US" sz="1800">
                <a:solidFill>
                  <a:srgbClr val="F80B8D"/>
                </a:solidFill>
              </a:rPr>
            </a:br>
            <a:r>
              <a:rPr lang="en-US" sz="1800">
                <a:solidFill>
                  <a:srgbClr val="F80B8D"/>
                </a:solidFill>
              </a:rPr>
              <a:t>i promise i will answer your questions after i am back on Monday</a:t>
            </a:r>
            <a:endParaRPr lang="en-US">
              <a:solidFill>
                <a:srgbClr val="F80B8D"/>
              </a:solidFill>
            </a:endParaRPr>
          </a:p>
        </p:txBody>
      </p:sp>
      <p:sp>
        <p:nvSpPr>
          <p:cNvPr id="10" name="Content Placeholder 5">
            <a:extLst>
              <a:ext uri="{FF2B5EF4-FFF2-40B4-BE49-F238E27FC236}">
                <a16:creationId xmlns:a16="http://schemas.microsoft.com/office/drawing/2014/main" id="{7C778C66-F90A-ADF7-C933-E6337728732F}"/>
              </a:ext>
            </a:extLst>
          </p:cNvPr>
          <p:cNvSpPr txBox="1">
            <a:spLocks/>
          </p:cNvSpPr>
          <p:nvPr/>
        </p:nvSpPr>
        <p:spPr>
          <a:xfrm>
            <a:off x="457200" y="1840437"/>
            <a:ext cx="8229600" cy="2894013"/>
          </a:xfrm>
          <a:prstGeom prst="rect">
            <a:avLst/>
          </a:prstGeom>
        </p:spPr>
        <p:txBody>
          <a:bodyPr vert="horz" lIns="91440" tIns="45720" rIns="91440" bIns="45720" rtlCol="0">
            <a:noAutofit/>
          </a:bodyPr>
          <a:lstStyle>
            <a:lvl1pPr marL="285739" indent="-285739" algn="l" defTabSz="342886" rtl="0" eaLnBrk="1" latinLnBrk="0" hangingPunct="1">
              <a:spcBef>
                <a:spcPct val="20000"/>
              </a:spcBef>
              <a:buClr>
                <a:schemeClr val="tx1"/>
              </a:buClr>
              <a:buFont typeface="System Font Regular"/>
              <a:buChar char="−"/>
              <a:defRPr sz="2800" kern="1200">
                <a:solidFill>
                  <a:schemeClr val="tx1"/>
                </a:solidFill>
                <a:latin typeface="+mn-lt"/>
                <a:ea typeface="Segoe UI Emoji" panose="020B0502040204020203" pitchFamily="34" charset="0"/>
                <a:cs typeface="+mn-cs"/>
              </a:defRPr>
            </a:lvl1pPr>
            <a:lvl2pPr marL="628625" indent="-285739" algn="l" defTabSz="342886" rtl="0" eaLnBrk="1" latinLnBrk="0" hangingPunct="1">
              <a:spcBef>
                <a:spcPct val="20000"/>
              </a:spcBef>
              <a:buClr>
                <a:schemeClr val="tx1"/>
              </a:buClr>
              <a:buFont typeface="System Font Regular"/>
              <a:buChar char="−"/>
              <a:defRPr sz="2800" kern="1200">
                <a:solidFill>
                  <a:schemeClr val="tx1"/>
                </a:solidFill>
                <a:latin typeface="+mn-lt"/>
                <a:ea typeface="Segoe UI Emoji" panose="020B0502040204020203" pitchFamily="34" charset="0"/>
                <a:cs typeface="+mn-cs"/>
              </a:defRPr>
            </a:lvl2pPr>
            <a:lvl3pPr marL="971511" indent="-285739" algn="l" defTabSz="342886" rtl="0" eaLnBrk="1" latinLnBrk="0" hangingPunct="1">
              <a:spcBef>
                <a:spcPct val="20000"/>
              </a:spcBef>
              <a:buClr>
                <a:schemeClr val="tx1"/>
              </a:buClr>
              <a:buFont typeface="System Font Regular"/>
              <a:buChar char="−"/>
              <a:defRPr sz="2800" kern="1200">
                <a:solidFill>
                  <a:schemeClr val="tx1"/>
                </a:solidFill>
                <a:latin typeface="+mn-lt"/>
                <a:ea typeface="Segoe UI Emoji" panose="020B0502040204020203" pitchFamily="34" charset="0"/>
                <a:cs typeface="+mn-cs"/>
              </a:defRPr>
            </a:lvl3pPr>
            <a:lvl4pPr marL="1314397" indent="-285739" algn="l" defTabSz="342886" rtl="0" eaLnBrk="1" latinLnBrk="0" hangingPunct="1">
              <a:spcBef>
                <a:spcPct val="20000"/>
              </a:spcBef>
              <a:buClr>
                <a:schemeClr val="tx1"/>
              </a:buClr>
              <a:buFont typeface="System Font Regular"/>
              <a:buChar char="−"/>
              <a:defRPr sz="2800" kern="1200">
                <a:solidFill>
                  <a:schemeClr val="tx1"/>
                </a:solidFill>
                <a:latin typeface="+mn-lt"/>
                <a:ea typeface="Segoe UI Emoji" panose="020B0502040204020203" pitchFamily="34" charset="0"/>
                <a:cs typeface="+mn-cs"/>
              </a:defRPr>
            </a:lvl4pPr>
            <a:lvl5pPr marL="1657284" indent="-285739" algn="l" defTabSz="342886" rtl="0" eaLnBrk="1" latinLnBrk="0" hangingPunct="1">
              <a:spcBef>
                <a:spcPct val="20000"/>
              </a:spcBef>
              <a:buClr>
                <a:schemeClr val="tx1"/>
              </a:buClr>
              <a:buFont typeface="System Font Regular"/>
              <a:buChar char="−"/>
              <a:defRPr sz="2800" kern="1200">
                <a:solidFill>
                  <a:schemeClr val="tx1"/>
                </a:solidFill>
                <a:latin typeface="+mn-lt"/>
                <a:ea typeface="Segoe UI Emoji" panose="020B0502040204020203" pitchFamily="34" charset="0"/>
                <a:cs typeface="+mn-cs"/>
              </a:defRPr>
            </a:lvl5pPr>
            <a:lvl6pPr marL="2057318" indent="-342886" algn="l" defTabSz="342886" rtl="0" eaLnBrk="1" latinLnBrk="0" hangingPunct="1">
              <a:spcBef>
                <a:spcPct val="20000"/>
              </a:spcBef>
              <a:buFont typeface="Arial"/>
              <a:buChar char="•"/>
              <a:defRPr sz="1500" kern="1200">
                <a:solidFill>
                  <a:schemeClr val="tx1"/>
                </a:solidFill>
                <a:latin typeface="+mn-lt"/>
                <a:ea typeface="+mn-ea"/>
                <a:cs typeface="+mn-cs"/>
              </a:defRPr>
            </a:lvl6pPr>
            <a:lvl7pPr marL="2400204" indent="-342886" algn="l" defTabSz="342886" rtl="0" eaLnBrk="1" latinLnBrk="0" hangingPunct="1">
              <a:spcBef>
                <a:spcPct val="20000"/>
              </a:spcBef>
              <a:buFont typeface="Arial"/>
              <a:buChar char="•"/>
              <a:defRPr sz="1500" kern="1200">
                <a:solidFill>
                  <a:schemeClr val="tx1"/>
                </a:solidFill>
                <a:latin typeface="+mn-lt"/>
                <a:ea typeface="+mn-ea"/>
                <a:cs typeface="+mn-cs"/>
              </a:defRPr>
            </a:lvl7pPr>
            <a:lvl8pPr marL="2743090" indent="-342886" algn="l" defTabSz="342886" rtl="0" eaLnBrk="1" latinLnBrk="0" hangingPunct="1">
              <a:spcBef>
                <a:spcPct val="20000"/>
              </a:spcBef>
              <a:buFont typeface="Arial"/>
              <a:buChar char="•"/>
              <a:defRPr sz="1500" kern="1200">
                <a:solidFill>
                  <a:schemeClr val="tx1"/>
                </a:solidFill>
                <a:latin typeface="+mn-lt"/>
                <a:ea typeface="+mn-ea"/>
                <a:cs typeface="+mn-cs"/>
              </a:defRPr>
            </a:lvl8pPr>
            <a:lvl9pPr marL="3085977" indent="-342886" algn="l" defTabSz="342886" rtl="0" eaLnBrk="1" latinLnBrk="0" hangingPunct="1">
              <a:spcBef>
                <a:spcPct val="20000"/>
              </a:spcBef>
              <a:buFont typeface="Arial"/>
              <a:buChar char="•"/>
              <a:defRPr sz="1500" kern="1200">
                <a:solidFill>
                  <a:schemeClr val="tx1"/>
                </a:solidFill>
                <a:latin typeface="+mn-lt"/>
                <a:ea typeface="+mn-ea"/>
                <a:cs typeface="+mn-cs"/>
              </a:defRPr>
            </a:lvl9pPr>
          </a:lstStyle>
          <a:p>
            <a:r>
              <a:rPr lang="en-US" sz="1800"/>
              <a:t>introductions</a:t>
            </a:r>
          </a:p>
          <a:p>
            <a:r>
              <a:rPr lang="en-US" sz="1800"/>
              <a:t>take roll</a:t>
            </a:r>
          </a:p>
          <a:p>
            <a:r>
              <a:rPr lang="en-US" sz="1800"/>
              <a:t>syllabus</a:t>
            </a:r>
          </a:p>
          <a:p>
            <a:r>
              <a:rPr lang="en-US" sz="1800"/>
              <a:t>hello Java</a:t>
            </a:r>
          </a:p>
          <a:p>
            <a:r>
              <a:rPr lang="en-US" sz="1800"/>
              <a:t>success tips</a:t>
            </a:r>
          </a:p>
        </p:txBody>
      </p:sp>
      <p:sp>
        <p:nvSpPr>
          <p:cNvPr id="11" name="TextBox 10">
            <a:extLst>
              <a:ext uri="{FF2B5EF4-FFF2-40B4-BE49-F238E27FC236}">
                <a16:creationId xmlns:a16="http://schemas.microsoft.com/office/drawing/2014/main" id="{8471430C-96CD-701A-3FFF-497CE36DDE2F}"/>
              </a:ext>
            </a:extLst>
          </p:cNvPr>
          <p:cNvSpPr txBox="1"/>
          <p:nvPr/>
        </p:nvSpPr>
        <p:spPr>
          <a:xfrm>
            <a:off x="5702531" y="261008"/>
            <a:ext cx="3428267" cy="646331"/>
          </a:xfrm>
          <a:prstGeom prst="rect">
            <a:avLst/>
          </a:prstGeom>
          <a:noFill/>
        </p:spPr>
        <p:txBody>
          <a:bodyPr wrap="square" rtlCol="0">
            <a:spAutoFit/>
          </a:bodyPr>
          <a:lstStyle/>
          <a:p>
            <a:pPr algn="ctr"/>
            <a:r>
              <a:rPr lang="en-US" b="1">
                <a:solidFill>
                  <a:srgbClr val="F80B8D"/>
                </a:solidFill>
              </a:rPr>
              <a:t>NOTE: </a:t>
            </a:r>
            <a:r>
              <a:rPr lang="en-US">
                <a:solidFill>
                  <a:srgbClr val="F80B8D"/>
                </a:solidFill>
              </a:rPr>
              <a:t>CS Colloquium today</a:t>
            </a:r>
            <a:br>
              <a:rPr lang="en-US">
                <a:solidFill>
                  <a:srgbClr val="F80B8D"/>
                </a:solidFill>
              </a:rPr>
            </a:br>
            <a:r>
              <a:rPr lang="en-US">
                <a:solidFill>
                  <a:srgbClr val="F80B8D"/>
                </a:solidFill>
              </a:rPr>
              <a:t>@ 2:30 pm in TCL 123 (Wege)</a:t>
            </a:r>
            <a:endParaRPr lang="en-US" sz="1800">
              <a:solidFill>
                <a:srgbClr val="F80B8D"/>
              </a:solidFill>
            </a:endParaRPr>
          </a:p>
        </p:txBody>
      </p:sp>
    </p:spTree>
    <p:extLst>
      <p:ext uri="{BB962C8B-B14F-4D97-AF65-F5344CB8AC3E}">
        <p14:creationId xmlns:p14="http://schemas.microsoft.com/office/powerpoint/2010/main" val="2237974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9" grpId="0"/>
      <p:bldP spid="2" grpId="0"/>
      <p:bldP spid="11" grpId="0"/>
    </p:bldLst>
  </p:timing>
</p:sld>
</file>

<file path=ppt/slides/slide7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BDCE5-D634-6DB8-DD71-23AF391FB35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4680B5D-5B45-A4A5-36F5-5C5EEF72F452}"/>
              </a:ext>
            </a:extLst>
          </p:cNvPr>
          <p:cNvSpPr>
            <a:spLocks noGrp="1"/>
          </p:cNvSpPr>
          <p:nvPr>
            <p:ph type="title"/>
          </p:nvPr>
        </p:nvSpPr>
        <p:spPr/>
        <p:txBody>
          <a:bodyPr/>
          <a:lstStyle/>
          <a:p>
            <a:r>
              <a:rPr lang="en-US" sz="8800"/>
              <a:t>introduce class</a:t>
            </a:r>
          </a:p>
        </p:txBody>
      </p:sp>
    </p:spTree>
    <p:extLst>
      <p:ext uri="{BB962C8B-B14F-4D97-AF65-F5344CB8AC3E}">
        <p14:creationId xmlns:p14="http://schemas.microsoft.com/office/powerpoint/2010/main" val="1582866507"/>
      </p:ext>
    </p:extLst>
  </p:cSld>
  <p:clrMapOvr>
    <a:masterClrMapping/>
  </p:clrMapOvr>
</p:sld>
</file>

<file path=ppt/slides/slide7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C9916FD-09DB-920B-EF31-34ABF7097ECD}"/>
              </a:ext>
            </a:extLst>
          </p:cNvPr>
          <p:cNvSpPr>
            <a:spLocks noGrp="1"/>
          </p:cNvSpPr>
          <p:nvPr>
            <p:ph type="title"/>
          </p:nvPr>
        </p:nvSpPr>
        <p:spPr/>
        <p:txBody>
          <a:bodyPr/>
          <a:lstStyle/>
          <a:p>
            <a:r>
              <a:rPr lang="en-US"/>
              <a:t>what is CS 136?</a:t>
            </a:r>
          </a:p>
        </p:txBody>
      </p:sp>
      <p:sp>
        <p:nvSpPr>
          <p:cNvPr id="4" name="Content Placeholder 3">
            <a:extLst>
              <a:ext uri="{FF2B5EF4-FFF2-40B4-BE49-F238E27FC236}">
                <a16:creationId xmlns:a16="http://schemas.microsoft.com/office/drawing/2014/main" id="{1F8DA952-E12C-2585-A7E6-77C8B8E03C86}"/>
              </a:ext>
            </a:extLst>
          </p:cNvPr>
          <p:cNvSpPr>
            <a:spLocks noGrp="1"/>
          </p:cNvSpPr>
          <p:nvPr>
            <p:ph sz="quarter" idx="10"/>
          </p:nvPr>
        </p:nvSpPr>
        <p:spPr/>
        <p:txBody>
          <a:bodyPr/>
          <a:lstStyle/>
          <a:p>
            <a:r>
              <a:rPr lang="en-US"/>
              <a:t>a computer science major requirement 🎉</a:t>
            </a:r>
          </a:p>
          <a:p>
            <a:r>
              <a:rPr lang="en-US"/>
              <a:t>bigger problems</a:t>
            </a:r>
          </a:p>
          <a:p>
            <a:r>
              <a:rPr lang="en-US"/>
              <a:t>harder problems</a:t>
            </a:r>
          </a:p>
          <a:p>
            <a:r>
              <a:rPr lang="en-US"/>
              <a:t>going beyond "it works" to different measures of "good"</a:t>
            </a:r>
          </a:p>
          <a:p>
            <a:pPr lvl="1"/>
            <a:r>
              <a:rPr lang="en-US"/>
              <a:t>speed 🦔</a:t>
            </a:r>
          </a:p>
          <a:p>
            <a:pPr lvl="1"/>
            <a:r>
              <a:rPr lang="en-US"/>
              <a:t>space 🐘</a:t>
            </a:r>
          </a:p>
          <a:p>
            <a:pPr lvl="1"/>
            <a:r>
              <a:rPr lang="en-US"/>
              <a:t>elegance? ✨</a:t>
            </a:r>
          </a:p>
          <a:p>
            <a:endParaRPr lang="en-US"/>
          </a:p>
        </p:txBody>
      </p:sp>
    </p:spTree>
    <p:extLst>
      <p:ext uri="{BB962C8B-B14F-4D97-AF65-F5344CB8AC3E}">
        <p14:creationId xmlns:p14="http://schemas.microsoft.com/office/powerpoint/2010/main" val="1259214913"/>
      </p:ext>
    </p:extLst>
  </p:cSld>
  <p:clrMapOvr>
    <a:masterClrMapping/>
  </p:clrMapOvr>
</p:sld>
</file>

<file path=ppt/slides/slide7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A96D69F-FCEC-DA03-5258-9FBC4939356F}"/>
              </a:ext>
            </a:extLst>
          </p:cNvPr>
          <p:cNvSpPr>
            <a:spLocks noGrp="1"/>
          </p:cNvSpPr>
          <p:nvPr>
            <p:ph type="title"/>
          </p:nvPr>
        </p:nvSpPr>
        <p:spPr/>
        <p:txBody>
          <a:bodyPr/>
          <a:lstStyle/>
          <a:p>
            <a:r>
              <a:rPr lang="en-US"/>
              <a:t>introduce self</a:t>
            </a:r>
          </a:p>
        </p:txBody>
      </p:sp>
    </p:spTree>
    <p:extLst>
      <p:ext uri="{BB962C8B-B14F-4D97-AF65-F5344CB8AC3E}">
        <p14:creationId xmlns:p14="http://schemas.microsoft.com/office/powerpoint/2010/main" val="461836379"/>
      </p:ext>
    </p:extLst>
  </p:cSld>
  <p:clrMapOvr>
    <a:masterClrMapping/>
  </p:clrMapOvr>
</p:sld>
</file>

<file path=ppt/slides/slide7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E20E3C1-4139-8B57-59D0-8106F9688CDF}"/>
              </a:ext>
            </a:extLst>
          </p:cNvPr>
          <p:cNvSpPr>
            <a:spLocks noGrp="1"/>
          </p:cNvSpPr>
          <p:nvPr>
            <p:ph type="title"/>
          </p:nvPr>
        </p:nvSpPr>
        <p:spPr/>
        <p:txBody>
          <a:bodyPr/>
          <a:lstStyle/>
          <a:p>
            <a:r>
              <a:rPr lang="en-US"/>
              <a:t>hi, i'm jim.</a:t>
            </a:r>
          </a:p>
        </p:txBody>
      </p:sp>
    </p:spTree>
    <p:extLst>
      <p:ext uri="{BB962C8B-B14F-4D97-AF65-F5344CB8AC3E}">
        <p14:creationId xmlns:p14="http://schemas.microsoft.com/office/powerpoint/2010/main" val="516032969"/>
      </p:ext>
    </p:extLst>
  </p:cSld>
  <p:clrMapOvr>
    <a:masterClrMapping/>
  </p:clrMapOvr>
</p:sld>
</file>

<file path=ppt/slides/slide7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27E56-A19C-5886-3E91-DBFB28DB451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160CA0C-8D1E-E481-193B-B4548E6E27C1}"/>
              </a:ext>
            </a:extLst>
          </p:cNvPr>
          <p:cNvSpPr>
            <a:spLocks noGrp="1"/>
          </p:cNvSpPr>
          <p:nvPr>
            <p:ph type="title"/>
          </p:nvPr>
        </p:nvSpPr>
        <p:spPr/>
        <p:txBody>
          <a:bodyPr/>
          <a:lstStyle/>
          <a:p>
            <a:r>
              <a:rPr lang="en-US" dirty="0"/>
              <a:t>hi, i'm jim</a:t>
            </a:r>
          </a:p>
        </p:txBody>
      </p:sp>
      <p:sp>
        <p:nvSpPr>
          <p:cNvPr id="2" name="Content Placeholder 1">
            <a:extLst>
              <a:ext uri="{FF2B5EF4-FFF2-40B4-BE49-F238E27FC236}">
                <a16:creationId xmlns:a16="http://schemas.microsoft.com/office/drawing/2014/main" id="{73E4EC1F-2673-0E9E-947A-ED239E7AAD18}"/>
              </a:ext>
            </a:extLst>
          </p:cNvPr>
          <p:cNvSpPr>
            <a:spLocks noGrp="1"/>
          </p:cNvSpPr>
          <p:nvPr>
            <p:ph sz="quarter" idx="10"/>
          </p:nvPr>
        </p:nvSpPr>
        <p:spPr/>
        <p:txBody>
          <a:bodyPr/>
          <a:lstStyle/>
          <a:p>
            <a:pPr lvl="1"/>
            <a:endParaRPr lang="en-US"/>
          </a:p>
          <a:p>
            <a:pPr lvl="1"/>
            <a:r>
              <a:rPr lang="en-US"/>
              <a:t>PowerPoint</a:t>
            </a:r>
          </a:p>
          <a:p>
            <a:pPr lvl="1"/>
            <a:r>
              <a:rPr lang="en-US"/>
              <a:t>plants</a:t>
            </a:r>
          </a:p>
          <a:p>
            <a:pPr lvl="1"/>
            <a:r>
              <a:rPr lang="en-US"/>
              <a:t>art</a:t>
            </a:r>
          </a:p>
          <a:p>
            <a:pPr lvl="1"/>
            <a:r>
              <a:rPr lang="en-US"/>
              <a:t>coding</a:t>
            </a:r>
          </a:p>
          <a:p>
            <a:pPr lvl="1"/>
            <a:r>
              <a:rPr lang="en-US"/>
              <a:t>teaching</a:t>
            </a:r>
          </a:p>
          <a:p>
            <a:pPr lvl="2"/>
            <a:r>
              <a:rPr lang="en-US"/>
              <a:t>(i really like this class)</a:t>
            </a:r>
          </a:p>
        </p:txBody>
      </p:sp>
      <p:sp>
        <p:nvSpPr>
          <p:cNvPr id="5" name="TextBox 4">
            <a:extLst>
              <a:ext uri="{FF2B5EF4-FFF2-40B4-BE49-F238E27FC236}">
                <a16:creationId xmlns:a16="http://schemas.microsoft.com/office/drawing/2014/main" id="{60A329E7-2D20-BE78-932D-9455DE3B1DD4}"/>
              </a:ext>
            </a:extLst>
          </p:cNvPr>
          <p:cNvSpPr txBox="1"/>
          <p:nvPr/>
        </p:nvSpPr>
        <p:spPr>
          <a:xfrm>
            <a:off x="457200" y="922084"/>
            <a:ext cx="4572000" cy="369332"/>
          </a:xfrm>
          <a:prstGeom prst="rect">
            <a:avLst/>
          </a:prstGeom>
          <a:noFill/>
        </p:spPr>
        <p:txBody>
          <a:bodyPr wrap="square">
            <a:spAutoFit/>
          </a:bodyPr>
          <a:lstStyle/>
          <a:p>
            <a:pPr marL="285739" marR="0" lvl="0" indent="-285739" algn="l" defTabSz="342886" rtl="0" eaLnBrk="1" fontAlgn="auto" latinLnBrk="0" hangingPunct="1">
              <a:lnSpc>
                <a:spcPct val="100000"/>
              </a:lnSpc>
              <a:spcBef>
                <a:spcPct val="20000"/>
              </a:spcBef>
              <a:spcAft>
                <a:spcPts val="0"/>
              </a:spcAft>
              <a:buClr>
                <a:srgbClr val="FFFFFF">
                  <a:lumMod val="65000"/>
                </a:srgbClr>
              </a:buClr>
              <a:buSzTx/>
              <a:buFont typeface="System Font Regular"/>
              <a:buChar char="−"/>
              <a:tabLst/>
              <a:defRPr/>
            </a:pPr>
            <a:r>
              <a:rPr kumimoji="0" lang="en-US" sz="1800" b="0" i="0" u="none" strike="noStrike" kern="1200" cap="none" spc="0" normalizeH="0" baseline="0" noProof="0">
                <a:ln>
                  <a:noFill/>
                </a:ln>
                <a:solidFill>
                  <a:srgbClr val="000000"/>
                </a:solidFill>
                <a:effectLst/>
                <a:uLnTx/>
                <a:uFillTx/>
                <a:latin typeface="Arial"/>
                <a:ea typeface="Segoe UI Emoji" panose="020B0502040204020203" pitchFamily="34" charset="0"/>
                <a:cs typeface="+mn-cs"/>
              </a:rPr>
              <a:t>interests</a:t>
            </a:r>
          </a:p>
        </p:txBody>
      </p:sp>
    </p:spTree>
    <p:extLst>
      <p:ext uri="{BB962C8B-B14F-4D97-AF65-F5344CB8AC3E}">
        <p14:creationId xmlns:p14="http://schemas.microsoft.com/office/powerpoint/2010/main" val="29773635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6B66B-0C7A-DCD9-DC82-623E8EEDE5A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6D17043-7F11-2762-2270-1A883E15C656}"/>
              </a:ext>
            </a:extLst>
          </p:cNvPr>
          <p:cNvSpPr>
            <a:spLocks noGrp="1"/>
          </p:cNvSpPr>
          <p:nvPr>
            <p:ph type="title"/>
          </p:nvPr>
        </p:nvSpPr>
        <p:spPr/>
        <p:txBody>
          <a:bodyPr/>
          <a:lstStyle/>
          <a:p>
            <a:r>
              <a:rPr lang="en-US"/>
              <a:t>here is</a:t>
            </a:r>
            <a:br>
              <a:rPr lang="en-US"/>
            </a:br>
            <a:r>
              <a:rPr lang="en-US"/>
              <a:t>my favorite houseplant</a:t>
            </a:r>
          </a:p>
        </p:txBody>
      </p:sp>
    </p:spTree>
    <p:extLst>
      <p:ext uri="{BB962C8B-B14F-4D97-AF65-F5344CB8AC3E}">
        <p14:creationId xmlns:p14="http://schemas.microsoft.com/office/powerpoint/2010/main" val="3037255929"/>
      </p:ext>
    </p:extLst>
  </p:cSld>
  <p:clrMapOvr>
    <a:masterClrMapping/>
  </p:clrMapOvr>
</p:sld>
</file>

<file path=ppt/slides/slide7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G_5692">
            <a:extLst>
              <a:ext uri="{FF2B5EF4-FFF2-40B4-BE49-F238E27FC236}">
                <a16:creationId xmlns:a16="http://schemas.microsoft.com/office/drawing/2014/main" id="{5E02D099-133E-8388-FD57-10832CF399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9796" y="208326"/>
            <a:ext cx="3384407" cy="451254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46DD621-373D-7DBB-A659-A13E7BD7BE2D}"/>
              </a:ext>
            </a:extLst>
          </p:cNvPr>
          <p:cNvSpPr txBox="1"/>
          <p:nvPr/>
        </p:nvSpPr>
        <p:spPr>
          <a:xfrm>
            <a:off x="3250276" y="3283527"/>
            <a:ext cx="606829" cy="369332"/>
          </a:xfrm>
          <a:prstGeom prst="rect">
            <a:avLst/>
          </a:prstGeom>
          <a:solidFill>
            <a:schemeClr val="bg1"/>
          </a:solidFill>
          <a:ln>
            <a:solidFill>
              <a:schemeClr val="tx1"/>
            </a:solidFill>
          </a:ln>
        </p:spPr>
        <p:txBody>
          <a:bodyPr wrap="square" rtlCol="0">
            <a:spAutoFit/>
          </a:bodyPr>
          <a:lstStyle/>
          <a:p>
            <a:pPr algn="r"/>
            <a:r>
              <a:rPr lang="en-US"/>
              <a:t>Bob</a:t>
            </a:r>
          </a:p>
        </p:txBody>
      </p:sp>
    </p:spTree>
    <p:extLst>
      <p:ext uri="{BB962C8B-B14F-4D97-AF65-F5344CB8AC3E}">
        <p14:creationId xmlns:p14="http://schemas.microsoft.com/office/powerpoint/2010/main" val="3738910496"/>
      </p:ext>
    </p:extLst>
  </p:cSld>
  <p:clrMapOvr>
    <a:masterClrMapping/>
  </p:clrMapOvr>
</p:sld>
</file>

<file path=ppt/slides/slide7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C0CDB-8FFC-44DC-139B-9CB51B1E268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16D78C2-7595-A1D6-5E45-1B3159C04787}"/>
              </a:ext>
            </a:extLst>
          </p:cNvPr>
          <p:cNvSpPr>
            <a:spLocks noGrp="1"/>
          </p:cNvSpPr>
          <p:nvPr>
            <p:ph type="title"/>
          </p:nvPr>
        </p:nvSpPr>
        <p:spPr/>
        <p:txBody>
          <a:bodyPr/>
          <a:lstStyle/>
          <a:p>
            <a:r>
              <a:rPr lang="en-US"/>
              <a:t>here is</a:t>
            </a:r>
            <a:br>
              <a:rPr lang="en-US"/>
            </a:br>
            <a:r>
              <a:rPr lang="en-US"/>
              <a:t>some art i did</a:t>
            </a:r>
          </a:p>
        </p:txBody>
      </p:sp>
    </p:spTree>
    <p:extLst>
      <p:ext uri="{BB962C8B-B14F-4D97-AF65-F5344CB8AC3E}">
        <p14:creationId xmlns:p14="http://schemas.microsoft.com/office/powerpoint/2010/main" val="3968811351"/>
      </p:ext>
    </p:extLst>
  </p:cSld>
  <p:clrMapOvr>
    <a:masterClrMapping/>
  </p:clrMapOvr>
</p:sld>
</file>

<file path=ppt/slides/slide7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IMG_1142">
            <a:extLst>
              <a:ext uri="{FF2B5EF4-FFF2-40B4-BE49-F238E27FC236}">
                <a16:creationId xmlns:a16="http://schemas.microsoft.com/office/drawing/2014/main" id="{44CD2F8E-AC3F-C796-00A8-B72E276B99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5200" y="234950"/>
            <a:ext cx="4673600" cy="467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8192798"/>
      </p:ext>
    </p:extLst>
  </p:cSld>
  <p:clrMapOvr>
    <a:masterClrMapping/>
  </p:clrMapOvr>
</p:sld>
</file>

<file path=ppt/slides/slide7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E1CB4-3D92-D467-D521-79457F3F7F7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B5787FB-3370-A1CC-92B8-5B6F831057CC}"/>
              </a:ext>
            </a:extLst>
          </p:cNvPr>
          <p:cNvSpPr>
            <a:spLocks noGrp="1"/>
          </p:cNvSpPr>
          <p:nvPr>
            <p:ph type="title"/>
          </p:nvPr>
        </p:nvSpPr>
        <p:spPr/>
        <p:txBody>
          <a:bodyPr/>
          <a:lstStyle/>
          <a:p>
            <a:r>
              <a:rPr lang="en-US"/>
              <a:t>here is</a:t>
            </a:r>
            <a:br>
              <a:rPr lang="en-US"/>
            </a:br>
            <a:r>
              <a:rPr lang="en-US"/>
              <a:t>some code i wrote</a:t>
            </a:r>
          </a:p>
        </p:txBody>
      </p:sp>
    </p:spTree>
    <p:extLst>
      <p:ext uri="{BB962C8B-B14F-4D97-AF65-F5344CB8AC3E}">
        <p14:creationId xmlns:p14="http://schemas.microsoft.com/office/powerpoint/2010/main" val="1421565408"/>
      </p:ext>
    </p:extLst>
  </p:cSld>
  <p:clrMapOvr>
    <a:masterClrMapping/>
  </p:clrMapOvr>
</p:sld>
</file>

<file path=ppt/slides/slide7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A560A-6FC9-33D3-1857-7F445B6B986C}"/>
              </a:ext>
            </a:extLst>
          </p:cNvPr>
          <p:cNvSpPr>
            <a:spLocks noGrp="1"/>
          </p:cNvSpPr>
          <p:nvPr>
            <p:ph type="title"/>
          </p:nvPr>
        </p:nvSpPr>
        <p:spPr/>
        <p:txBody>
          <a:bodyPr/>
          <a:lstStyle/>
          <a:p>
            <a:r>
              <a:rPr lang="en-US"/>
              <a:t>[show Conversation]</a:t>
            </a:r>
          </a:p>
        </p:txBody>
      </p:sp>
    </p:spTree>
    <p:extLst>
      <p:ext uri="{BB962C8B-B14F-4D97-AF65-F5344CB8AC3E}">
        <p14:creationId xmlns:p14="http://schemas.microsoft.com/office/powerpoint/2010/main" val="2837848637"/>
      </p:ext>
    </p:extLst>
  </p:cSld>
  <p:clrMapOvr>
    <a:masterClrMapping/>
  </p:clrMapOvr>
</p:sld>
</file>

<file path=ppt/slides/slide7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56F33-3365-4613-EC35-8AB937AA977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5FEB298-6BF9-AF1E-CDE3-6227F16EDA2E}"/>
              </a:ext>
            </a:extLst>
          </p:cNvPr>
          <p:cNvSpPr>
            <a:spLocks noGrp="1"/>
          </p:cNvSpPr>
          <p:nvPr>
            <p:ph type="title"/>
          </p:nvPr>
        </p:nvSpPr>
        <p:spPr/>
        <p:txBody>
          <a:bodyPr/>
          <a:lstStyle/>
          <a:p>
            <a:r>
              <a:rPr lang="en-US"/>
              <a:t>here are my goals</a:t>
            </a:r>
            <a:br>
              <a:rPr lang="en-US"/>
            </a:br>
            <a:r>
              <a:rPr lang="en-US"/>
              <a:t>for the course</a:t>
            </a:r>
          </a:p>
        </p:txBody>
      </p:sp>
    </p:spTree>
    <p:extLst>
      <p:ext uri="{BB962C8B-B14F-4D97-AF65-F5344CB8AC3E}">
        <p14:creationId xmlns:p14="http://schemas.microsoft.com/office/powerpoint/2010/main" val="2640765873"/>
      </p:ext>
    </p:extLst>
  </p:cSld>
  <p:clrMapOvr>
    <a:masterClrMapping/>
  </p:clrMapOvr>
</p:sld>
</file>

<file path=ppt/slides/slide7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9B61FA-00F3-38AB-851C-96AE6C3C0F2C}"/>
              </a:ext>
            </a:extLst>
          </p:cNvPr>
          <p:cNvSpPr>
            <a:spLocks noGrp="1"/>
          </p:cNvSpPr>
          <p:nvPr>
            <p:ph type="title"/>
          </p:nvPr>
        </p:nvSpPr>
        <p:spPr/>
        <p:txBody>
          <a:bodyPr/>
          <a:lstStyle/>
          <a:p>
            <a:r>
              <a:rPr lang="en-US" sz="3600"/>
              <a:t>i want you to...</a:t>
            </a:r>
            <a:br>
              <a:rPr lang="en-US" sz="3600"/>
            </a:br>
            <a:r>
              <a:rPr lang="en-US" sz="3600"/>
              <a:t>1. </a:t>
            </a:r>
            <a:r>
              <a:rPr lang="en-US" sz="3600" b="1"/>
              <a:t>have fun</a:t>
            </a:r>
            <a:r>
              <a:rPr lang="en-US" sz="3600"/>
              <a:t> doing cool homework</a:t>
            </a:r>
            <a:br>
              <a:rPr lang="en-US" sz="3600"/>
            </a:br>
            <a:r>
              <a:rPr lang="en-US" sz="3600"/>
              <a:t>2. </a:t>
            </a:r>
            <a:r>
              <a:rPr lang="en-US" sz="3600" b="1"/>
              <a:t>not feel stressed</a:t>
            </a:r>
            <a:r>
              <a:rPr lang="en-US" sz="3600"/>
              <a:t> about this class</a:t>
            </a:r>
          </a:p>
        </p:txBody>
      </p:sp>
    </p:spTree>
    <p:extLst>
      <p:ext uri="{BB962C8B-B14F-4D97-AF65-F5344CB8AC3E}">
        <p14:creationId xmlns:p14="http://schemas.microsoft.com/office/powerpoint/2010/main" val="1029919632"/>
      </p:ext>
    </p:extLst>
  </p:cSld>
  <p:clrMapOvr>
    <a:masterClrMapping/>
  </p:clrMapOvr>
</p:sld>
</file>

<file path=ppt/slides/slide7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The fun scale: understanding the types of fun - Sketchplanations">
            <a:extLst>
              <a:ext uri="{FF2B5EF4-FFF2-40B4-BE49-F238E27FC236}">
                <a16:creationId xmlns:a16="http://schemas.microsoft.com/office/drawing/2014/main" id="{530D87A8-E625-AA7A-2F58-07ED5E24D620}"/>
              </a:ext>
            </a:extLst>
          </p:cNvPr>
          <p:cNvPicPr>
            <a:picLocks noChangeAspect="1"/>
          </p:cNvPicPr>
          <p:nvPr/>
        </p:nvPicPr>
        <p:blipFill>
          <a:blip r:embed="rId2"/>
          <a:stretch>
            <a:fillRect/>
          </a:stretch>
        </p:blipFill>
        <p:spPr>
          <a:xfrm>
            <a:off x="2001520" y="5080"/>
            <a:ext cx="5140960" cy="5140960"/>
          </a:xfrm>
          <a:prstGeom prst="rect">
            <a:avLst/>
          </a:prstGeom>
        </p:spPr>
      </p:pic>
    </p:spTree>
    <p:extLst>
      <p:ext uri="{BB962C8B-B14F-4D97-AF65-F5344CB8AC3E}">
        <p14:creationId xmlns:p14="http://schemas.microsoft.com/office/powerpoint/2010/main" val="205833442"/>
      </p:ext>
    </p:extLst>
  </p:cSld>
  <p:clrMapOvr>
    <a:masterClrMapping/>
  </p:clrMapOvr>
</p:sld>
</file>

<file path=ppt/slides/slide7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5D0207-07BB-3714-1878-449C201D773B}"/>
            </a:ext>
          </a:extLst>
        </p:cNvPr>
        <p:cNvGrpSpPr/>
        <p:nvPr/>
      </p:nvGrpSpPr>
      <p:grpSpPr>
        <a:xfrm>
          <a:off x="0" y="0"/>
          <a:ext cx="0" cy="0"/>
          <a:chOff x="0" y="0"/>
          <a:chExt cx="0" cy="0"/>
        </a:xfrm>
      </p:grpSpPr>
      <p:pic>
        <p:nvPicPr>
          <p:cNvPr id="3" name="Picture 2" descr="The fun scale: understanding the types of fun - Sketchplanations">
            <a:extLst>
              <a:ext uri="{FF2B5EF4-FFF2-40B4-BE49-F238E27FC236}">
                <a16:creationId xmlns:a16="http://schemas.microsoft.com/office/drawing/2014/main" id="{97271001-1E76-B6A4-984D-790CB5D4DEBC}"/>
              </a:ext>
            </a:extLst>
          </p:cNvPr>
          <p:cNvPicPr>
            <a:picLocks noChangeAspect="1"/>
          </p:cNvPicPr>
          <p:nvPr/>
        </p:nvPicPr>
        <p:blipFill>
          <a:blip r:embed="rId2"/>
          <a:srcRect l="31621" t="25988" r="35375" b="8004"/>
          <a:stretch>
            <a:fillRect/>
          </a:stretch>
        </p:blipFill>
        <p:spPr>
          <a:xfrm>
            <a:off x="3627120" y="1341120"/>
            <a:ext cx="1696720" cy="3393440"/>
          </a:xfrm>
          <a:prstGeom prst="rect">
            <a:avLst/>
          </a:prstGeom>
        </p:spPr>
      </p:pic>
    </p:spTree>
    <p:extLst>
      <p:ext uri="{BB962C8B-B14F-4D97-AF65-F5344CB8AC3E}">
        <p14:creationId xmlns:p14="http://schemas.microsoft.com/office/powerpoint/2010/main" val="3815653871"/>
      </p:ext>
    </p:extLst>
  </p:cSld>
  <p:clrMapOvr>
    <a:masterClrMapping/>
  </p:clrMapOvr>
</p:sld>
</file>

<file path=ppt/slides/slide7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63C1B-855F-8FA9-4BCF-2E6328E8E7B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D3B9081-E32A-A62D-668C-F76FD1284C7A}"/>
              </a:ext>
            </a:extLst>
          </p:cNvPr>
          <p:cNvSpPr>
            <a:spLocks noGrp="1"/>
          </p:cNvSpPr>
          <p:nvPr>
            <p:ph type="title"/>
          </p:nvPr>
        </p:nvSpPr>
        <p:spPr/>
        <p:txBody>
          <a:bodyPr/>
          <a:lstStyle/>
          <a:p>
            <a:r>
              <a:rPr lang="en-US"/>
              <a:t>take roll</a:t>
            </a:r>
          </a:p>
        </p:txBody>
      </p:sp>
    </p:spTree>
    <p:extLst>
      <p:ext uri="{BB962C8B-B14F-4D97-AF65-F5344CB8AC3E}">
        <p14:creationId xmlns:p14="http://schemas.microsoft.com/office/powerpoint/2010/main" val="1115793243"/>
      </p:ext>
    </p:extLst>
  </p:cSld>
  <p:clrMapOvr>
    <a:masterClrMapping/>
  </p:clrMapOvr>
</p:sld>
</file>

<file path=ppt/slides/slide7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C9688C-1437-911A-D05F-3D78EF05D5E9}"/>
              </a:ext>
            </a:extLst>
          </p:cNvPr>
          <p:cNvSpPr>
            <a:spLocks noGrp="1"/>
          </p:cNvSpPr>
          <p:nvPr>
            <p:ph type="title"/>
          </p:nvPr>
        </p:nvSpPr>
        <p:spPr/>
        <p:txBody>
          <a:bodyPr/>
          <a:lstStyle/>
          <a:p>
            <a:r>
              <a:rPr lang="en-US"/>
              <a:t>this is the only time i will ever take roll</a:t>
            </a:r>
          </a:p>
        </p:txBody>
      </p:sp>
      <p:sp>
        <p:nvSpPr>
          <p:cNvPr id="5" name="Content Placeholder 4">
            <a:extLst>
              <a:ext uri="{FF2B5EF4-FFF2-40B4-BE49-F238E27FC236}">
                <a16:creationId xmlns:a16="http://schemas.microsoft.com/office/drawing/2014/main" id="{6E47DF52-D178-41F2-034E-91F79F374347}"/>
              </a:ext>
            </a:extLst>
          </p:cNvPr>
          <p:cNvSpPr>
            <a:spLocks noGrp="1"/>
          </p:cNvSpPr>
          <p:nvPr>
            <p:ph sz="quarter" idx="10"/>
          </p:nvPr>
        </p:nvSpPr>
        <p:spPr/>
        <p:txBody>
          <a:bodyPr/>
          <a:lstStyle/>
          <a:p>
            <a:r>
              <a:rPr lang="en-US"/>
              <a:t>please correct me if i mispronounce your name</a:t>
            </a:r>
          </a:p>
          <a:p>
            <a:r>
              <a:rPr lang="en-US"/>
              <a:t>if you are not yet enrolled, please shout out your name when i'm done</a:t>
            </a:r>
          </a:p>
        </p:txBody>
      </p:sp>
    </p:spTree>
    <p:extLst>
      <p:ext uri="{BB962C8B-B14F-4D97-AF65-F5344CB8AC3E}">
        <p14:creationId xmlns:p14="http://schemas.microsoft.com/office/powerpoint/2010/main" val="3998629637"/>
      </p:ext>
    </p:extLst>
  </p:cSld>
  <p:clrMapOvr>
    <a:masterClrMapping/>
  </p:clrMapOvr>
</p:sld>
</file>

<file path=ppt/slides/slide7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76B85-5CD5-ADD6-FE75-86F75E6EB68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C1D9D0C-3D07-DBC2-C98E-A2B1FF902042}"/>
              </a:ext>
            </a:extLst>
          </p:cNvPr>
          <p:cNvSpPr>
            <a:spLocks noGrp="1"/>
          </p:cNvSpPr>
          <p:nvPr>
            <p:ph type="title"/>
          </p:nvPr>
        </p:nvSpPr>
        <p:spPr/>
        <p:txBody>
          <a:bodyPr/>
          <a:lstStyle/>
          <a:p>
            <a:r>
              <a:rPr lang="en-US"/>
              <a:t>syllabus</a:t>
            </a:r>
          </a:p>
        </p:txBody>
      </p:sp>
    </p:spTree>
    <p:extLst>
      <p:ext uri="{BB962C8B-B14F-4D97-AF65-F5344CB8AC3E}">
        <p14:creationId xmlns:p14="http://schemas.microsoft.com/office/powerpoint/2010/main" val="3636847625"/>
      </p:ext>
    </p:extLst>
  </p:cSld>
  <p:clrMapOvr>
    <a:masterClrMapping/>
  </p:clrMapOvr>
</p:sld>
</file>

<file path=ppt/slides/slide7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E1F11-A6DF-3E71-64F4-3EDA1C0CFBC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319E3A6-44C3-1FC3-DE31-3FC3CA4FF0C9}"/>
              </a:ext>
            </a:extLst>
          </p:cNvPr>
          <p:cNvSpPr>
            <a:spLocks noGrp="1"/>
          </p:cNvSpPr>
          <p:nvPr>
            <p:ph type="title"/>
          </p:nvPr>
        </p:nvSpPr>
        <p:spPr/>
        <p:txBody>
          <a:bodyPr/>
          <a:lstStyle/>
          <a:p>
            <a:r>
              <a:rPr lang="en-US"/>
              <a:t>syllabus</a:t>
            </a:r>
          </a:p>
        </p:txBody>
      </p:sp>
    </p:spTree>
    <p:extLst>
      <p:ext uri="{BB962C8B-B14F-4D97-AF65-F5344CB8AC3E}">
        <p14:creationId xmlns:p14="http://schemas.microsoft.com/office/powerpoint/2010/main" val="1092803408"/>
      </p:ext>
    </p:extLst>
  </p:cSld>
  <p:clrMapOvr>
    <a:masterClrMapping/>
  </p:clrMapOvr>
</p:sld>
</file>

<file path=ppt/slides/slide7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0CA35-6D74-B1C4-60EE-A2E91020159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4056770-F88A-CF9F-F2BE-2D5740DEA412}"/>
              </a:ext>
            </a:extLst>
          </p:cNvPr>
          <p:cNvSpPr>
            <a:spLocks noGrp="1"/>
          </p:cNvSpPr>
          <p:nvPr>
            <p:ph type="title"/>
          </p:nvPr>
        </p:nvSpPr>
        <p:spPr/>
        <p:txBody>
          <a:bodyPr/>
          <a:lstStyle/>
          <a:p>
            <a:r>
              <a:rPr lang="en-US"/>
              <a:t>sylla</a:t>
            </a:r>
            <a:r>
              <a:rPr lang="en-US">
                <a:solidFill>
                  <a:srgbClr val="7121FF"/>
                </a:solidFill>
              </a:rPr>
              <a:t>bus</a:t>
            </a:r>
          </a:p>
        </p:txBody>
      </p:sp>
      <p:sp>
        <p:nvSpPr>
          <p:cNvPr id="6" name="TextBox 5">
            <a:extLst>
              <a:ext uri="{FF2B5EF4-FFF2-40B4-BE49-F238E27FC236}">
                <a16:creationId xmlns:a16="http://schemas.microsoft.com/office/drawing/2014/main" id="{24E3EF15-8204-A9D6-241D-FC500A7D5F96}"/>
              </a:ext>
            </a:extLst>
          </p:cNvPr>
          <p:cNvSpPr txBox="1"/>
          <p:nvPr/>
        </p:nvSpPr>
        <p:spPr>
          <a:xfrm>
            <a:off x="4681956" y="2110085"/>
            <a:ext cx="1209554" cy="923330"/>
          </a:xfrm>
          <a:prstGeom prst="rect">
            <a:avLst/>
          </a:prstGeom>
          <a:noFill/>
        </p:spPr>
        <p:txBody>
          <a:bodyPr wrap="square">
            <a:spAutoFit/>
          </a:bodyPr>
          <a:lstStyle/>
          <a:p>
            <a:r>
              <a:rPr kumimoji="0" lang="en-US" sz="5400" b="0" i="0" u="none" strike="noStrike" kern="1200" cap="none" spc="0" normalizeH="0" baseline="0" noProof="0">
                <a:ln>
                  <a:noFill/>
                </a:ln>
                <a:solidFill>
                  <a:srgbClr val="FFFFFF"/>
                </a:solidFill>
                <a:effectLst/>
                <a:uLnTx/>
                <a:uFillTx/>
                <a:latin typeface="Arial"/>
                <a:ea typeface="Segoe UI Emoji" panose="020B0502040204020203" pitchFamily="34" charset="0"/>
                <a:cs typeface="+mj-cs"/>
              </a:rPr>
              <a:t>🚌</a:t>
            </a:r>
            <a:endParaRPr lang="en-US"/>
          </a:p>
        </p:txBody>
      </p:sp>
    </p:spTree>
    <p:extLst>
      <p:ext uri="{BB962C8B-B14F-4D97-AF65-F5344CB8AC3E}">
        <p14:creationId xmlns:p14="http://schemas.microsoft.com/office/powerpoint/2010/main" val="1148427098"/>
      </p:ext>
    </p:extLst>
  </p:cSld>
  <p:clrMapOvr>
    <a:masterClrMapping/>
  </p:clrMapOvr>
</p:sld>
</file>

<file path=ppt/slides/slide7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53589-00E5-529C-AF56-8B00741838B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ADEEAFC-2C67-AD3A-9C02-177283699FB3}"/>
              </a:ext>
            </a:extLst>
          </p:cNvPr>
          <p:cNvSpPr>
            <a:spLocks noGrp="1"/>
          </p:cNvSpPr>
          <p:nvPr>
            <p:ph type="title"/>
          </p:nvPr>
        </p:nvSpPr>
        <p:spPr/>
        <p:txBody>
          <a:bodyPr/>
          <a:lstStyle/>
          <a:p>
            <a:r>
              <a:rPr lang="en-US">
                <a:solidFill>
                  <a:srgbClr val="7121FF"/>
                </a:solidFill>
              </a:rPr>
              <a:t>syll</a:t>
            </a:r>
            <a:r>
              <a:rPr lang="en-US"/>
              <a:t>a</a:t>
            </a:r>
            <a:r>
              <a:rPr lang="en-US">
                <a:solidFill>
                  <a:srgbClr val="7121FF"/>
                </a:solidFill>
              </a:rPr>
              <a:t>bus</a:t>
            </a:r>
          </a:p>
        </p:txBody>
      </p:sp>
      <p:sp>
        <p:nvSpPr>
          <p:cNvPr id="6" name="TextBox 5">
            <a:extLst>
              <a:ext uri="{FF2B5EF4-FFF2-40B4-BE49-F238E27FC236}">
                <a16:creationId xmlns:a16="http://schemas.microsoft.com/office/drawing/2014/main" id="{489786DC-BF5A-D3A0-DC1C-CD3B3C3C110F}"/>
              </a:ext>
            </a:extLst>
          </p:cNvPr>
          <p:cNvSpPr txBox="1"/>
          <p:nvPr/>
        </p:nvSpPr>
        <p:spPr>
          <a:xfrm>
            <a:off x="4681956" y="2110085"/>
            <a:ext cx="1209554" cy="923330"/>
          </a:xfrm>
          <a:prstGeom prst="rect">
            <a:avLst/>
          </a:prstGeom>
          <a:noFill/>
        </p:spPr>
        <p:txBody>
          <a:bodyPr wrap="square">
            <a:spAutoFit/>
          </a:bodyPr>
          <a:lstStyle/>
          <a:p>
            <a:r>
              <a:rPr kumimoji="0" lang="en-US" sz="5400" b="0" i="0" u="none" strike="noStrike" kern="1200" cap="none" spc="0" normalizeH="0" baseline="0" noProof="0">
                <a:ln>
                  <a:noFill/>
                </a:ln>
                <a:solidFill>
                  <a:srgbClr val="FFFFFF"/>
                </a:solidFill>
                <a:effectLst/>
                <a:uLnTx/>
                <a:uFillTx/>
                <a:latin typeface="Arial"/>
                <a:ea typeface="Segoe UI Emoji" panose="020B0502040204020203" pitchFamily="34" charset="0"/>
                <a:cs typeface="+mj-cs"/>
              </a:rPr>
              <a:t>🚌</a:t>
            </a:r>
            <a:endParaRPr lang="en-US"/>
          </a:p>
        </p:txBody>
      </p:sp>
      <p:sp>
        <p:nvSpPr>
          <p:cNvPr id="2" name="TextBox 1">
            <a:extLst>
              <a:ext uri="{FF2B5EF4-FFF2-40B4-BE49-F238E27FC236}">
                <a16:creationId xmlns:a16="http://schemas.microsoft.com/office/drawing/2014/main" id="{61573AF6-6FFF-F86B-7CC5-08AB2CE8F4B9}"/>
              </a:ext>
            </a:extLst>
          </p:cNvPr>
          <p:cNvSpPr txBox="1"/>
          <p:nvPr/>
        </p:nvSpPr>
        <p:spPr>
          <a:xfrm>
            <a:off x="3246700" y="2143125"/>
            <a:ext cx="1209554" cy="923330"/>
          </a:xfrm>
          <a:prstGeom prst="rect">
            <a:avLst/>
          </a:prstGeom>
          <a:noFill/>
        </p:spPr>
        <p:txBody>
          <a:bodyPr wrap="square">
            <a:spAutoFit/>
          </a:bodyPr>
          <a:lstStyle/>
          <a:p>
            <a:r>
              <a:rPr kumimoji="0" lang="en-US" sz="5400" b="0" i="0" u="none" strike="noStrike" kern="1200" cap="none" spc="0" normalizeH="0" baseline="0" noProof="0">
                <a:ln>
                  <a:noFill/>
                </a:ln>
                <a:solidFill>
                  <a:srgbClr val="FFFFFF"/>
                </a:solidFill>
                <a:effectLst/>
                <a:uLnTx/>
                <a:uFillTx/>
                <a:latin typeface="Arial"/>
                <a:ea typeface="Segoe UI Emoji" panose="020B0502040204020203" pitchFamily="34" charset="0"/>
                <a:cs typeface="+mj-cs"/>
              </a:rPr>
              <a:t>🪟</a:t>
            </a:r>
            <a:endParaRPr lang="en-US"/>
          </a:p>
        </p:txBody>
      </p:sp>
      <p:sp>
        <p:nvSpPr>
          <p:cNvPr id="3" name="Rectangle 2">
            <a:extLst>
              <a:ext uri="{FF2B5EF4-FFF2-40B4-BE49-F238E27FC236}">
                <a16:creationId xmlns:a16="http://schemas.microsoft.com/office/drawing/2014/main" id="{FE709BBB-82ED-17E1-9D5B-4FA9E971BD81}"/>
              </a:ext>
            </a:extLst>
          </p:cNvPr>
          <p:cNvSpPr/>
          <p:nvPr/>
        </p:nvSpPr>
        <p:spPr>
          <a:xfrm>
            <a:off x="3426106" y="2882097"/>
            <a:ext cx="752355" cy="219083"/>
          </a:xfrm>
          <a:prstGeom prst="rect">
            <a:avLst/>
          </a:prstGeom>
          <a:solidFill>
            <a:schemeClr val="accent3">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600ABFFA-0E22-486A-0A7E-2721AD98A119}"/>
              </a:ext>
            </a:extLst>
          </p:cNvPr>
          <p:cNvCxnSpPr>
            <a:cxnSpLocks/>
          </p:cNvCxnSpPr>
          <p:nvPr/>
        </p:nvCxnSpPr>
        <p:spPr>
          <a:xfrm>
            <a:off x="2529825" y="2630088"/>
            <a:ext cx="806578" cy="358712"/>
          </a:xfrm>
          <a:prstGeom prst="straightConnector1">
            <a:avLst/>
          </a:prstGeom>
          <a:ln w="762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77841490"/>
      </p:ext>
    </p:extLst>
  </p:cSld>
  <p:clrMapOvr>
    <a:masterClrMapping/>
  </p:clrMapOvr>
</p:sld>
</file>

<file path=ppt/slides/slide7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09987-52A6-5C7C-0C54-65AF6565CD1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5127B5F-39FE-7F4F-415F-A9D2CF02A48B}"/>
              </a:ext>
            </a:extLst>
          </p:cNvPr>
          <p:cNvSpPr>
            <a:spLocks noGrp="1"/>
          </p:cNvSpPr>
          <p:nvPr>
            <p:ph type="title"/>
          </p:nvPr>
        </p:nvSpPr>
        <p:spPr/>
        <p:txBody>
          <a:bodyPr/>
          <a:lstStyle/>
          <a:p>
            <a:r>
              <a:rPr lang="en-US"/>
              <a:t>the syllabus is online</a:t>
            </a:r>
            <a:br>
              <a:rPr lang="en-US"/>
            </a:br>
            <a:r>
              <a:rPr lang="en-US" sz="3200">
                <a:hlinkClick r:id="rId2"/>
              </a:rPr>
              <a:t>https://github.com/james-bern/CS136/wiki</a:t>
            </a:r>
            <a:endParaRPr lang="en-US"/>
          </a:p>
        </p:txBody>
      </p:sp>
    </p:spTree>
    <p:extLst>
      <p:ext uri="{BB962C8B-B14F-4D97-AF65-F5344CB8AC3E}">
        <p14:creationId xmlns:p14="http://schemas.microsoft.com/office/powerpoint/2010/main" val="690835234"/>
      </p:ext>
    </p:extLst>
  </p:cSld>
  <p:clrMapOvr>
    <a:masterClrMapping/>
  </p:clrMapOvr>
</p:sld>
</file>

<file path=ppt/slides/slide7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B92C9-8117-BEB1-4B26-6EF55CDBC69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82C0540-8C6B-BDFD-5187-DD7DF9AAB2C4}"/>
              </a:ext>
            </a:extLst>
          </p:cNvPr>
          <p:cNvSpPr>
            <a:spLocks noGrp="1"/>
          </p:cNvSpPr>
          <p:nvPr>
            <p:ph type="title"/>
          </p:nvPr>
        </p:nvSpPr>
        <p:spPr/>
        <p:txBody>
          <a:bodyPr/>
          <a:lstStyle/>
          <a:p>
            <a:r>
              <a:rPr lang="en-US"/>
              <a:t>😈 AI</a:t>
            </a:r>
          </a:p>
        </p:txBody>
      </p:sp>
    </p:spTree>
    <p:extLst>
      <p:ext uri="{BB962C8B-B14F-4D97-AF65-F5344CB8AC3E}">
        <p14:creationId xmlns:p14="http://schemas.microsoft.com/office/powerpoint/2010/main" val="1115599061"/>
      </p:ext>
    </p:extLst>
  </p:cSld>
  <p:clrMapOvr>
    <a:masterClrMapping/>
  </p:clrMapOvr>
</p:sld>
</file>

<file path=ppt/slides/slide7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D9191-E142-D64E-3754-B112B2D0357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9593EFB-AD0B-E311-BD8F-C003F44E5571}"/>
              </a:ext>
            </a:extLst>
          </p:cNvPr>
          <p:cNvSpPr>
            <a:spLocks noGrp="1"/>
          </p:cNvSpPr>
          <p:nvPr>
            <p:ph type="title"/>
          </p:nvPr>
        </p:nvSpPr>
        <p:spPr/>
        <p:txBody>
          <a:bodyPr/>
          <a:lstStyle/>
          <a:p>
            <a:r>
              <a:rPr lang="en-US"/>
              <a:t>😈 about AI</a:t>
            </a:r>
          </a:p>
        </p:txBody>
      </p:sp>
    </p:spTree>
    <p:extLst>
      <p:ext uri="{BB962C8B-B14F-4D97-AF65-F5344CB8AC3E}">
        <p14:creationId xmlns:p14="http://schemas.microsoft.com/office/powerpoint/2010/main" val="791462785"/>
      </p:ext>
    </p:extLst>
  </p:cSld>
  <p:clrMapOvr>
    <a:masterClrMapping/>
  </p:clrMapOvr>
</p:sld>
</file>

<file path=ppt/slides/slide7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777004-D327-A975-B3D9-6793FFA01923}"/>
              </a:ext>
            </a:extLst>
          </p:cNvPr>
          <p:cNvSpPr>
            <a:spLocks noGrp="1"/>
          </p:cNvSpPr>
          <p:nvPr>
            <p:ph type="title"/>
          </p:nvPr>
        </p:nvSpPr>
        <p:spPr/>
        <p:txBody>
          <a:bodyPr/>
          <a:lstStyle/>
          <a:p>
            <a:r>
              <a:rPr lang="en-US" sz="3600"/>
              <a:t>so...</a:t>
            </a:r>
          </a:p>
        </p:txBody>
      </p:sp>
    </p:spTree>
    <p:extLst>
      <p:ext uri="{BB962C8B-B14F-4D97-AF65-F5344CB8AC3E}">
        <p14:creationId xmlns:p14="http://schemas.microsoft.com/office/powerpoint/2010/main" val="2939109312"/>
      </p:ext>
    </p:extLst>
  </p:cSld>
  <p:clrMapOvr>
    <a:masterClrMapping/>
  </p:clrMapOvr>
</p:sld>
</file>

<file path=ppt/slides/slide7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2A15B-C1BC-17C0-5ADF-8B1F6A18BB2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0B7F6D-1AF6-9A7C-4CD0-B591905B0AC9}"/>
              </a:ext>
            </a:extLst>
          </p:cNvPr>
          <p:cNvSpPr>
            <a:spLocks noGrp="1"/>
          </p:cNvSpPr>
          <p:nvPr>
            <p:ph type="title"/>
          </p:nvPr>
        </p:nvSpPr>
        <p:spPr/>
        <p:txBody>
          <a:bodyPr/>
          <a:lstStyle/>
          <a:p>
            <a:r>
              <a:rPr lang="en-US" sz="3600"/>
              <a:t>things are really weird right now</a:t>
            </a:r>
          </a:p>
        </p:txBody>
      </p:sp>
    </p:spTree>
    <p:extLst>
      <p:ext uri="{BB962C8B-B14F-4D97-AF65-F5344CB8AC3E}">
        <p14:creationId xmlns:p14="http://schemas.microsoft.com/office/powerpoint/2010/main" val="4282016690"/>
      </p:ext>
    </p:extLst>
  </p:cSld>
  <p:clrMapOvr>
    <a:masterClrMapping/>
  </p:clrMapOvr>
</p:sld>
</file>

<file path=ppt/slides/slide7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EC7A65-131B-ED8F-F4ED-5270524CFACB}"/>
              </a:ext>
            </a:extLst>
          </p:cNvPr>
          <p:cNvSpPr>
            <a:spLocks noGrp="1"/>
          </p:cNvSpPr>
          <p:nvPr>
            <p:ph type="title"/>
          </p:nvPr>
        </p:nvSpPr>
        <p:spPr>
          <a:xfrm>
            <a:off x="1978429" y="2143125"/>
            <a:ext cx="5187142" cy="857250"/>
          </a:xfrm>
        </p:spPr>
        <p:txBody>
          <a:bodyPr/>
          <a:lstStyle/>
          <a:p>
            <a:r>
              <a:rPr lang="en-US" sz="4000"/>
              <a:t>😈and AI can definitely do CS 136</a:t>
            </a:r>
            <a:br>
              <a:rPr lang="en-US" sz="4000"/>
            </a:br>
            <a:endParaRPr lang="en-US" sz="4000"/>
          </a:p>
        </p:txBody>
      </p:sp>
    </p:spTree>
    <p:extLst>
      <p:ext uri="{BB962C8B-B14F-4D97-AF65-F5344CB8AC3E}">
        <p14:creationId xmlns:p14="http://schemas.microsoft.com/office/powerpoint/2010/main" val="3258742677"/>
      </p:ext>
    </p:extLst>
  </p:cSld>
  <p:clrMapOvr>
    <a:masterClrMapping/>
  </p:clrMapOvr>
</p:sld>
</file>

<file path=ppt/slides/slide7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CF6132-F86D-EE06-514C-2AA26DDAE533}"/>
              </a:ext>
            </a:extLst>
          </p:cNvPr>
          <p:cNvSpPr>
            <a:spLocks noGrp="1"/>
          </p:cNvSpPr>
          <p:nvPr>
            <p:ph type="title"/>
          </p:nvPr>
        </p:nvSpPr>
        <p:spPr>
          <a:xfrm>
            <a:off x="457200" y="254915"/>
            <a:ext cx="8229600" cy="949721"/>
          </a:xfrm>
        </p:spPr>
        <p:txBody>
          <a:bodyPr/>
          <a:lstStyle/>
          <a:p>
            <a:r>
              <a:rPr lang="en-US"/>
              <a:t>how to use AI</a:t>
            </a:r>
            <a:br>
              <a:rPr lang="en-US"/>
            </a:br>
            <a:r>
              <a:rPr lang="en-US" sz="2400"/>
              <a:t>(i believe the kids call this </a:t>
            </a:r>
            <a:r>
              <a:rPr lang="en-US" sz="2400" u="sng"/>
              <a:t>prompt engineering</a:t>
            </a:r>
            <a:r>
              <a:rPr lang="en-US" sz="2400"/>
              <a:t>)</a:t>
            </a:r>
            <a:endParaRPr lang="en-US"/>
          </a:p>
        </p:txBody>
      </p:sp>
      <p:sp>
        <p:nvSpPr>
          <p:cNvPr id="4" name="Content Placeholder 3">
            <a:extLst>
              <a:ext uri="{FF2B5EF4-FFF2-40B4-BE49-F238E27FC236}">
                <a16:creationId xmlns:a16="http://schemas.microsoft.com/office/drawing/2014/main" id="{9A075C26-EE99-A94E-AB8C-34D5816654BD}"/>
              </a:ext>
            </a:extLst>
          </p:cNvPr>
          <p:cNvSpPr>
            <a:spLocks noGrp="1"/>
          </p:cNvSpPr>
          <p:nvPr>
            <p:ph sz="quarter" idx="10"/>
          </p:nvPr>
        </p:nvSpPr>
        <p:spPr>
          <a:xfrm>
            <a:off x="457200" y="1204637"/>
            <a:ext cx="8229600" cy="4080272"/>
          </a:xfrm>
        </p:spPr>
        <p:txBody>
          <a:bodyPr/>
          <a:lstStyle/>
          <a:p>
            <a:r>
              <a:rPr lang="en-US"/>
              <a:t>copy and paste all code and TODO's into the box</a:t>
            </a:r>
          </a:p>
          <a:p>
            <a:r>
              <a:rPr lang="en-US"/>
              <a:t>type </a:t>
            </a:r>
            <a:r>
              <a:rPr lang="en-US">
                <a:solidFill>
                  <a:schemeClr val="accent6">
                    <a:lumMod val="75000"/>
                  </a:schemeClr>
                </a:solidFill>
              </a:rPr>
              <a:t>"finish HW02 perfectly but make it look like a person did it &lt;3"</a:t>
            </a:r>
          </a:p>
          <a:p>
            <a:r>
              <a:rPr lang="en-US"/>
              <a:t>press ENTER</a:t>
            </a:r>
          </a:p>
          <a:p>
            <a:pPr marL="0" indent="0">
              <a:buNone/>
            </a:pPr>
            <a:endParaRPr lang="en-US"/>
          </a:p>
        </p:txBody>
      </p:sp>
    </p:spTree>
    <p:extLst>
      <p:ext uri="{BB962C8B-B14F-4D97-AF65-F5344CB8AC3E}">
        <p14:creationId xmlns:p14="http://schemas.microsoft.com/office/powerpoint/2010/main" val="1409369273"/>
      </p:ext>
    </p:extLst>
  </p:cSld>
  <p:clrMapOvr>
    <a:masterClrMapping/>
  </p:clrMapOvr>
  <p:transition spd="slow">
    <p:push dir="u"/>
  </p:transition>
</p:sld>
</file>

<file path=ppt/slides/slide7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E900FB-F990-DC2A-0269-A81120376B98}"/>
              </a:ext>
            </a:extLst>
          </p:cNvPr>
          <p:cNvPicPr>
            <a:picLocks noChangeAspect="1"/>
          </p:cNvPicPr>
          <p:nvPr/>
        </p:nvPicPr>
        <p:blipFill>
          <a:blip r:embed="rId2"/>
          <a:stretch>
            <a:fillRect/>
          </a:stretch>
        </p:blipFill>
        <p:spPr>
          <a:xfrm>
            <a:off x="2083424" y="0"/>
            <a:ext cx="4977151" cy="5143500"/>
          </a:xfrm>
          <a:prstGeom prst="rect">
            <a:avLst/>
          </a:prstGeom>
        </p:spPr>
      </p:pic>
    </p:spTree>
    <p:extLst>
      <p:ext uri="{BB962C8B-B14F-4D97-AF65-F5344CB8AC3E}">
        <p14:creationId xmlns:p14="http://schemas.microsoft.com/office/powerpoint/2010/main" val="3121267308"/>
      </p:ext>
    </p:extLst>
  </p:cSld>
  <p:clrMapOvr>
    <a:masterClrMapping/>
  </p:clrMapOvr>
  <p:transition spd="slow">
    <p:push dir="d"/>
  </p:transition>
</p:sld>
</file>

<file path=ppt/slides/slide7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0EF1C-CC81-A07F-F960-688293723D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F2E0DFA-0EC8-DE11-7240-DBCB0711D284}"/>
              </a:ext>
            </a:extLst>
          </p:cNvPr>
          <p:cNvSpPr>
            <a:spLocks noGrp="1"/>
          </p:cNvSpPr>
          <p:nvPr>
            <p:ph type="title"/>
          </p:nvPr>
        </p:nvSpPr>
        <p:spPr/>
        <p:txBody>
          <a:bodyPr/>
          <a:lstStyle/>
          <a:p>
            <a:r>
              <a:rPr lang="en-US"/>
              <a:t>😈 AI policy</a:t>
            </a:r>
          </a:p>
        </p:txBody>
      </p:sp>
    </p:spTree>
    <p:extLst>
      <p:ext uri="{BB962C8B-B14F-4D97-AF65-F5344CB8AC3E}">
        <p14:creationId xmlns:p14="http://schemas.microsoft.com/office/powerpoint/2010/main" val="2299029028"/>
      </p:ext>
    </p:extLst>
  </p:cSld>
  <p:clrMapOvr>
    <a:masterClrMapping/>
  </p:clrMapOvr>
</p:sld>
</file>

<file path=ppt/slides/slide7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A901702-7FF7-DB78-C2E8-890771B1B08B}"/>
              </a:ext>
            </a:extLst>
          </p:cNvPr>
          <p:cNvSpPr>
            <a:spLocks noGrp="1"/>
          </p:cNvSpPr>
          <p:nvPr>
            <p:ph type="title"/>
          </p:nvPr>
        </p:nvSpPr>
        <p:spPr/>
        <p:txBody>
          <a:bodyPr/>
          <a:lstStyle/>
          <a:p>
            <a:r>
              <a:rPr lang="en-US"/>
              <a:t>no AI. 🙅</a:t>
            </a:r>
          </a:p>
        </p:txBody>
      </p:sp>
    </p:spTree>
    <p:extLst>
      <p:ext uri="{BB962C8B-B14F-4D97-AF65-F5344CB8AC3E}">
        <p14:creationId xmlns:p14="http://schemas.microsoft.com/office/powerpoint/2010/main" val="2643397864"/>
      </p:ext>
    </p:extLst>
  </p:cSld>
  <p:clrMapOvr>
    <a:masterClrMapping/>
  </p:clrMapOvr>
</p:sld>
</file>

<file path=ppt/slides/slide791.xml><?xml version="1.0" encoding="utf-8"?>
<p:sld xmlns:a="http://schemas.openxmlformats.org/drawingml/2006/main" xmlns:r="http://schemas.openxmlformats.org/officeDocument/2006/relationships" xmlns:p="http://schemas.openxmlformats.org/presentationml/2006/main">
  <p:cSld>
    <p:bg>
      <p:bgPr>
        <a:solidFill>
          <a:srgbClr val="923A3A"/>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84744B-BD37-3FBA-BEE6-D7416670D4D2}"/>
              </a:ext>
            </a:extLst>
          </p:cNvPr>
          <p:cNvPicPr>
            <a:picLocks noChangeAspect="1"/>
          </p:cNvPicPr>
          <p:nvPr/>
        </p:nvPicPr>
        <p:blipFill>
          <a:blip r:embed="rId3"/>
          <a:stretch>
            <a:fillRect/>
          </a:stretch>
        </p:blipFill>
        <p:spPr>
          <a:xfrm>
            <a:off x="2124451" y="296394"/>
            <a:ext cx="4895097" cy="4847106"/>
          </a:xfrm>
          <a:prstGeom prst="rect">
            <a:avLst/>
          </a:prstGeom>
        </p:spPr>
      </p:pic>
      <p:sp>
        <p:nvSpPr>
          <p:cNvPr id="5" name="TextBox 4">
            <a:extLst>
              <a:ext uri="{FF2B5EF4-FFF2-40B4-BE49-F238E27FC236}">
                <a16:creationId xmlns:a16="http://schemas.microsoft.com/office/drawing/2014/main" id="{DC74E597-3441-7775-40B1-57A88B6C9B20}"/>
              </a:ext>
            </a:extLst>
          </p:cNvPr>
          <p:cNvSpPr txBox="1"/>
          <p:nvPr/>
        </p:nvSpPr>
        <p:spPr>
          <a:xfrm>
            <a:off x="5354320" y="4764040"/>
            <a:ext cx="2164080" cy="369332"/>
          </a:xfrm>
          <a:prstGeom prst="rect">
            <a:avLst/>
          </a:prstGeom>
          <a:noFill/>
        </p:spPr>
        <p:txBody>
          <a:bodyPr wrap="square">
            <a:spAutoFit/>
          </a:bodyPr>
          <a:lstStyle/>
          <a:p>
            <a:r>
              <a:rPr lang="en-US" i="1">
                <a:solidFill>
                  <a:srgbClr val="FF6568"/>
                </a:solidFill>
              </a:rPr>
              <a:t>BONESofBURIED</a:t>
            </a:r>
          </a:p>
        </p:txBody>
      </p:sp>
    </p:spTree>
    <p:extLst>
      <p:ext uri="{BB962C8B-B14F-4D97-AF65-F5344CB8AC3E}">
        <p14:creationId xmlns:p14="http://schemas.microsoft.com/office/powerpoint/2010/main" val="663640525"/>
      </p:ext>
    </p:extLst>
  </p:cSld>
  <p:clrMapOvr>
    <a:masterClrMapping/>
  </p:clrMapOvr>
</p:sld>
</file>

<file path=ppt/slides/slide7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EB7FB6-AF6D-44DF-9813-03858BD7422A}"/>
              </a:ext>
            </a:extLst>
          </p:cNvPr>
          <p:cNvPicPr>
            <a:picLocks noChangeAspect="1"/>
          </p:cNvPicPr>
          <p:nvPr/>
        </p:nvPicPr>
        <p:blipFill>
          <a:blip r:embed="rId2"/>
          <a:stretch>
            <a:fillRect/>
          </a:stretch>
        </p:blipFill>
        <p:spPr>
          <a:xfrm>
            <a:off x="685800" y="1115987"/>
            <a:ext cx="7772400" cy="2911526"/>
          </a:xfrm>
          <a:prstGeom prst="rect">
            <a:avLst/>
          </a:prstGeom>
          <a:ln>
            <a:solidFill>
              <a:schemeClr val="tx1"/>
            </a:solidFill>
          </a:ln>
        </p:spPr>
      </p:pic>
    </p:spTree>
    <p:extLst>
      <p:ext uri="{BB962C8B-B14F-4D97-AF65-F5344CB8AC3E}">
        <p14:creationId xmlns:p14="http://schemas.microsoft.com/office/powerpoint/2010/main" val="1177511330"/>
      </p:ext>
    </p:extLst>
  </p:cSld>
  <p:clrMapOvr>
    <a:masterClrMapping/>
  </p:clrMapOvr>
</p:sld>
</file>

<file path=ppt/slides/slide7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B65D2-3941-CEB1-D081-5D038AE45A6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1B9722D-477C-2AAF-5B8B-782151733934}"/>
              </a:ext>
            </a:extLst>
          </p:cNvPr>
          <p:cNvPicPr>
            <a:picLocks noChangeAspect="1"/>
          </p:cNvPicPr>
          <p:nvPr/>
        </p:nvPicPr>
        <p:blipFill>
          <a:blip r:embed="rId2"/>
          <a:srcRect l="71070" t="20200" r="18877" b="69522"/>
          <a:stretch>
            <a:fillRect/>
          </a:stretch>
        </p:blipFill>
        <p:spPr>
          <a:xfrm>
            <a:off x="6209607" y="1704109"/>
            <a:ext cx="781398" cy="299258"/>
          </a:xfrm>
          <a:prstGeom prst="rect">
            <a:avLst/>
          </a:prstGeom>
          <a:ln>
            <a:noFill/>
          </a:ln>
        </p:spPr>
      </p:pic>
    </p:spTree>
    <p:extLst>
      <p:ext uri="{BB962C8B-B14F-4D97-AF65-F5344CB8AC3E}">
        <p14:creationId xmlns:p14="http://schemas.microsoft.com/office/powerpoint/2010/main" val="755617682"/>
      </p:ext>
    </p:extLst>
  </p:cSld>
  <p:clrMapOvr>
    <a:masterClrMapping/>
  </p:clrMapOvr>
</p:sld>
</file>

<file path=ppt/slides/slide7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A5955-F23A-FE51-CBCA-C84B5B5EC7D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DCE9B0C-07B8-9944-69FE-8EF481755B32}"/>
              </a:ext>
            </a:extLst>
          </p:cNvPr>
          <p:cNvPicPr>
            <a:picLocks noChangeAspect="1"/>
          </p:cNvPicPr>
          <p:nvPr/>
        </p:nvPicPr>
        <p:blipFill>
          <a:blip r:embed="rId2"/>
          <a:srcRect l="71070" t="20200" r="20086" b="69522"/>
          <a:stretch>
            <a:fillRect/>
          </a:stretch>
        </p:blipFill>
        <p:spPr>
          <a:xfrm rot="21061263">
            <a:off x="2863977" y="1155887"/>
            <a:ext cx="4716746" cy="2053244"/>
          </a:xfrm>
          <a:prstGeom prst="rect">
            <a:avLst/>
          </a:prstGeom>
          <a:ln>
            <a:noFill/>
          </a:ln>
        </p:spPr>
      </p:pic>
    </p:spTree>
    <p:extLst>
      <p:ext uri="{BB962C8B-B14F-4D97-AF65-F5344CB8AC3E}">
        <p14:creationId xmlns:p14="http://schemas.microsoft.com/office/powerpoint/2010/main" val="852976448"/>
      </p:ext>
    </p:extLst>
  </p:cSld>
  <p:clrMapOvr>
    <a:masterClrMapping/>
  </p:clrMapOvr>
</p:sld>
</file>

<file path=ppt/slides/slide7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n't be Evil, Google, Australia and Facebook">
            <a:extLst>
              <a:ext uri="{FF2B5EF4-FFF2-40B4-BE49-F238E27FC236}">
                <a16:creationId xmlns:a16="http://schemas.microsoft.com/office/drawing/2014/main" id="{104AD782-E9D4-80A4-894F-50B1D81D3C90}"/>
              </a:ext>
            </a:extLst>
          </p:cNvPr>
          <p:cNvPicPr>
            <a:picLocks noChangeAspect="1"/>
          </p:cNvPicPr>
          <p:nvPr/>
        </p:nvPicPr>
        <p:blipFill>
          <a:blip r:embed="rId2"/>
          <a:stretch>
            <a:fillRect/>
          </a:stretch>
        </p:blipFill>
        <p:spPr>
          <a:xfrm>
            <a:off x="1730883" y="643197"/>
            <a:ext cx="5682234" cy="3859184"/>
          </a:xfrm>
          <a:prstGeom prst="rect">
            <a:avLst/>
          </a:prstGeom>
        </p:spPr>
      </p:pic>
      <p:sp>
        <p:nvSpPr>
          <p:cNvPr id="6" name="TextBox 5">
            <a:extLst>
              <a:ext uri="{FF2B5EF4-FFF2-40B4-BE49-F238E27FC236}">
                <a16:creationId xmlns:a16="http://schemas.microsoft.com/office/drawing/2014/main" id="{99A9E03C-9247-F3AE-BA51-A26CA4EE1EAC}"/>
              </a:ext>
            </a:extLst>
          </p:cNvPr>
          <p:cNvSpPr txBox="1"/>
          <p:nvPr/>
        </p:nvSpPr>
        <p:spPr>
          <a:xfrm>
            <a:off x="2841117" y="4500303"/>
            <a:ext cx="4572000" cy="369332"/>
          </a:xfrm>
          <a:prstGeom prst="rect">
            <a:avLst/>
          </a:prstGeom>
          <a:noFill/>
        </p:spPr>
        <p:txBody>
          <a:bodyPr wrap="square">
            <a:spAutoFit/>
          </a:bodyPr>
          <a:lstStyle/>
          <a:p>
            <a:pPr algn="r"/>
            <a:r>
              <a:rPr lang="en-US" i="1"/>
              <a:t>Miri Segal, Don't be evil, 2011</a:t>
            </a:r>
          </a:p>
        </p:txBody>
      </p:sp>
    </p:spTree>
    <p:extLst>
      <p:ext uri="{BB962C8B-B14F-4D97-AF65-F5344CB8AC3E}">
        <p14:creationId xmlns:p14="http://schemas.microsoft.com/office/powerpoint/2010/main" val="2940756757"/>
      </p:ext>
    </p:extLst>
  </p:cSld>
  <p:clrMapOvr>
    <a:masterClrMapping/>
  </p:clrMapOvr>
</p:sld>
</file>

<file path=ppt/slides/slide7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3C114-8A73-3B02-E0BD-15474C77438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83B1BFC-FAAF-C5A5-975D-97B5C70339F0}"/>
              </a:ext>
            </a:extLst>
          </p:cNvPr>
          <p:cNvSpPr>
            <a:spLocks noGrp="1"/>
          </p:cNvSpPr>
          <p:nvPr>
            <p:ph type="title"/>
          </p:nvPr>
        </p:nvSpPr>
        <p:spPr/>
        <p:txBody>
          <a:bodyPr/>
          <a:lstStyle/>
          <a:p>
            <a:r>
              <a:rPr lang="en-US" sz="4000"/>
              <a:t>the website will have Documentation and</a:t>
            </a:r>
            <a:br>
              <a:rPr lang="en-US" sz="4000"/>
            </a:br>
            <a:r>
              <a:rPr lang="en-US" sz="4000"/>
              <a:t>Frequently Asked Questions</a:t>
            </a:r>
            <a:br>
              <a:rPr lang="en-US" sz="4000"/>
            </a:br>
            <a:r>
              <a:rPr lang="en-US" sz="4000"/>
              <a:t>🙂👍</a:t>
            </a:r>
          </a:p>
        </p:txBody>
      </p:sp>
    </p:spTree>
    <p:extLst>
      <p:ext uri="{BB962C8B-B14F-4D97-AF65-F5344CB8AC3E}">
        <p14:creationId xmlns:p14="http://schemas.microsoft.com/office/powerpoint/2010/main" val="2471922774"/>
      </p:ext>
    </p:extLst>
  </p:cSld>
  <p:clrMapOvr>
    <a:masterClrMapping/>
  </p:clrMapOvr>
</p:sld>
</file>

<file path=ppt/slides/slide7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90298-016E-AF82-1077-497C0B0177E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8C45773-710C-6895-9991-3017286AB64B}"/>
              </a:ext>
            </a:extLst>
          </p:cNvPr>
          <p:cNvSpPr>
            <a:spLocks noGrp="1"/>
          </p:cNvSpPr>
          <p:nvPr>
            <p:ph type="title"/>
          </p:nvPr>
        </p:nvSpPr>
        <p:spPr/>
        <p:txBody>
          <a:bodyPr/>
          <a:lstStyle/>
          <a:p>
            <a:r>
              <a:rPr lang="en-US" sz="3600"/>
              <a:t>also we have really awesome TA's</a:t>
            </a:r>
            <a:br>
              <a:rPr lang="en-US" sz="3600"/>
            </a:br>
            <a:r>
              <a:rPr lang="en-US" sz="3600"/>
              <a:t>🙂👍</a:t>
            </a:r>
            <a:br>
              <a:rPr lang="en-US" sz="3600"/>
            </a:br>
            <a:r>
              <a:rPr lang="en-US" sz="3600"/>
              <a:t>(we enjoy helping you with homework that's why we have this job)</a:t>
            </a:r>
          </a:p>
        </p:txBody>
      </p:sp>
    </p:spTree>
    <p:extLst>
      <p:ext uri="{BB962C8B-B14F-4D97-AF65-F5344CB8AC3E}">
        <p14:creationId xmlns:p14="http://schemas.microsoft.com/office/powerpoint/2010/main" val="3087764994"/>
      </p:ext>
    </p:extLst>
  </p:cSld>
  <p:clrMapOvr>
    <a:masterClrMapping/>
  </p:clrMapOvr>
</p:sld>
</file>

<file path=ppt/slides/slide7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4D55C-666F-CC10-ED0F-0326BF072AF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71A08ED-3FDE-3378-2E81-589491F392F3}"/>
              </a:ext>
            </a:extLst>
          </p:cNvPr>
          <p:cNvSpPr>
            <a:spLocks noGrp="1"/>
          </p:cNvSpPr>
          <p:nvPr>
            <p:ph type="title"/>
          </p:nvPr>
        </p:nvSpPr>
        <p:spPr/>
        <p:txBody>
          <a:bodyPr/>
          <a:lstStyle/>
          <a:p>
            <a:r>
              <a:rPr lang="en-US" sz="3600"/>
              <a:t>it's gonna buff out</a:t>
            </a:r>
            <a:br>
              <a:rPr lang="en-US" sz="3600"/>
            </a:br>
            <a:r>
              <a:rPr lang="en-US" sz="3600"/>
              <a:t>🙂👍</a:t>
            </a:r>
          </a:p>
        </p:txBody>
      </p:sp>
    </p:spTree>
    <p:extLst>
      <p:ext uri="{BB962C8B-B14F-4D97-AF65-F5344CB8AC3E}">
        <p14:creationId xmlns:p14="http://schemas.microsoft.com/office/powerpoint/2010/main" val="228615757"/>
      </p:ext>
    </p:extLst>
  </p:cSld>
  <p:clrMapOvr>
    <a:masterClrMapping/>
  </p:clrMapOvr>
</p:sld>
</file>

<file path=ppt/slides/slide7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6785B-3BAF-A7E6-35C3-25D4DD2CAD2A}"/>
              </a:ext>
            </a:extLst>
          </p:cNvPr>
          <p:cNvSpPr>
            <a:spLocks noGrp="1"/>
          </p:cNvSpPr>
          <p:nvPr>
            <p:ph type="title"/>
          </p:nvPr>
        </p:nvSpPr>
        <p:spPr/>
        <p:txBody>
          <a:bodyPr/>
          <a:lstStyle/>
          <a:p>
            <a:r>
              <a:rPr lang="en-US"/>
              <a:t>rationale for AI policy</a:t>
            </a:r>
          </a:p>
        </p:txBody>
      </p:sp>
      <p:sp>
        <p:nvSpPr>
          <p:cNvPr id="4" name="Content Placeholder 3">
            <a:extLst>
              <a:ext uri="{FF2B5EF4-FFF2-40B4-BE49-F238E27FC236}">
                <a16:creationId xmlns:a16="http://schemas.microsoft.com/office/drawing/2014/main" id="{E78259C2-15AB-736F-7B87-1F7E414A120E}"/>
              </a:ext>
            </a:extLst>
          </p:cNvPr>
          <p:cNvSpPr>
            <a:spLocks noGrp="1"/>
          </p:cNvSpPr>
          <p:nvPr>
            <p:ph sz="quarter" idx="10"/>
          </p:nvPr>
        </p:nvSpPr>
        <p:spPr/>
        <p:txBody>
          <a:bodyPr/>
          <a:lstStyle/>
          <a:p>
            <a:r>
              <a:rPr lang="en-US"/>
              <a:t>when i use AI, i seem to not learn anything</a:t>
            </a:r>
          </a:p>
          <a:p>
            <a:r>
              <a:rPr lang="en-US"/>
              <a:t>using AI doesn't seem like a very deep skill yet</a:t>
            </a:r>
          </a:p>
        </p:txBody>
      </p:sp>
      <p:pic>
        <p:nvPicPr>
          <p:cNvPr id="6" name="Picture 5">
            <a:extLst>
              <a:ext uri="{FF2B5EF4-FFF2-40B4-BE49-F238E27FC236}">
                <a16:creationId xmlns:a16="http://schemas.microsoft.com/office/drawing/2014/main" id="{86513D9D-829E-42AA-F57D-175E9DC61502}"/>
              </a:ext>
            </a:extLst>
          </p:cNvPr>
          <p:cNvPicPr>
            <a:picLocks noChangeAspect="1"/>
          </p:cNvPicPr>
          <p:nvPr/>
        </p:nvPicPr>
        <p:blipFill>
          <a:blip r:embed="rId2"/>
          <a:stretch>
            <a:fillRect/>
          </a:stretch>
        </p:blipFill>
        <p:spPr>
          <a:xfrm>
            <a:off x="4013463" y="1799072"/>
            <a:ext cx="3961614" cy="941427"/>
          </a:xfrm>
          <a:prstGeom prst="rect">
            <a:avLst/>
          </a:prstGeom>
          <a:ln>
            <a:solidFill>
              <a:schemeClr val="tx1"/>
            </a:solidFill>
          </a:ln>
        </p:spPr>
      </p:pic>
    </p:spTree>
    <p:extLst>
      <p:ext uri="{BB962C8B-B14F-4D97-AF65-F5344CB8AC3E}">
        <p14:creationId xmlns:p14="http://schemas.microsoft.com/office/powerpoint/2010/main" val="1675039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994FC-16AA-1C64-BF82-3E7BF77B90D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0372A2C-2B6C-6359-D040-B6A604628A64}"/>
              </a:ext>
            </a:extLst>
          </p:cNvPr>
          <p:cNvSpPr>
            <a:spLocks noGrp="1"/>
          </p:cNvSpPr>
          <p:nvPr>
            <p:ph type="title"/>
          </p:nvPr>
        </p:nvSpPr>
        <p:spPr/>
        <p:txBody>
          <a:bodyPr/>
          <a:lstStyle/>
          <a:p>
            <a:r>
              <a:rPr lang="en-US"/>
              <a:t>so let's have a nice semester and learn some cool stuff 🙂👍</a:t>
            </a:r>
          </a:p>
        </p:txBody>
      </p:sp>
    </p:spTree>
    <p:extLst>
      <p:ext uri="{BB962C8B-B14F-4D97-AF65-F5344CB8AC3E}">
        <p14:creationId xmlns:p14="http://schemas.microsoft.com/office/powerpoint/2010/main" val="3358573926"/>
      </p:ext>
    </p:extLst>
  </p:cSld>
  <p:clrMapOvr>
    <a:masterClrMapping/>
  </p:clrMapOvr>
</p:sld>
</file>

<file path=ppt/slides/slide8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Verde Farms 93/7 Lean Grass Fed Free Range Ground Beef - 16 Oz - randalls">
            <a:extLst>
              <a:ext uri="{FF2B5EF4-FFF2-40B4-BE49-F238E27FC236}">
                <a16:creationId xmlns:a16="http://schemas.microsoft.com/office/drawing/2014/main" id="{BFDC0F84-8838-1C01-16E7-12034F7A08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0" y="0"/>
            <a:ext cx="5143500" cy="51435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991FDE41-5AF4-D6FE-1D62-B11959547D35}"/>
              </a:ext>
            </a:extLst>
          </p:cNvPr>
          <p:cNvSpPr/>
          <p:nvPr/>
        </p:nvSpPr>
        <p:spPr>
          <a:xfrm>
            <a:off x="2955851" y="1881963"/>
            <a:ext cx="3189768" cy="478465"/>
          </a:xfrm>
          <a:prstGeom prst="rect">
            <a:avLst/>
          </a:prstGeom>
          <a:solidFill>
            <a:srgbClr val="7BD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a:solidFill>
                  <a:srgbClr val="007B00"/>
                </a:solidFill>
                <a:latin typeface="Baskerville" panose="02020502070401020303" pitchFamily="18" charset="0"/>
                <a:ea typeface="Baskerville" panose="02020502070401020303" pitchFamily="18" charset="0"/>
              </a:rPr>
              <a:t>CODE</a:t>
            </a:r>
          </a:p>
        </p:txBody>
      </p:sp>
      <p:sp>
        <p:nvSpPr>
          <p:cNvPr id="4" name="TextBox 3">
            <a:extLst>
              <a:ext uri="{FF2B5EF4-FFF2-40B4-BE49-F238E27FC236}">
                <a16:creationId xmlns:a16="http://schemas.microsoft.com/office/drawing/2014/main" id="{F168EC4C-551F-F233-5D76-C985CCBBEA2A}"/>
              </a:ext>
            </a:extLst>
          </p:cNvPr>
          <p:cNvSpPr txBox="1"/>
          <p:nvPr/>
        </p:nvSpPr>
        <p:spPr>
          <a:xfrm>
            <a:off x="4987636" y="3659422"/>
            <a:ext cx="1737360" cy="769441"/>
          </a:xfrm>
          <a:prstGeom prst="rect">
            <a:avLst/>
          </a:prstGeom>
          <a:noFill/>
        </p:spPr>
        <p:txBody>
          <a:bodyPr wrap="square">
            <a:spAutoFit/>
          </a:bodyPr>
          <a:lstStyle/>
          <a:p>
            <a:r>
              <a:rPr kumimoji="0" lang="en-US" sz="44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t>
            </a:r>
            <a:endParaRPr lang="en-US"/>
          </a:p>
        </p:txBody>
      </p:sp>
    </p:spTree>
    <p:extLst>
      <p:ext uri="{BB962C8B-B14F-4D97-AF65-F5344CB8AC3E}">
        <p14:creationId xmlns:p14="http://schemas.microsoft.com/office/powerpoint/2010/main" val="4023055279"/>
      </p:ext>
    </p:extLst>
  </p:cSld>
  <p:clrMapOvr>
    <a:masterClrMapping/>
  </p:clrMapOvr>
</p:sld>
</file>

<file path=ppt/slides/slide8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mall Data: The Next Big Thing">
            <a:extLst>
              <a:ext uri="{FF2B5EF4-FFF2-40B4-BE49-F238E27FC236}">
                <a16:creationId xmlns:a16="http://schemas.microsoft.com/office/drawing/2014/main" id="{44491187-4F11-80B1-258A-07E9C264324F}"/>
              </a:ext>
            </a:extLst>
          </p:cNvPr>
          <p:cNvPicPr>
            <a:picLocks noChangeAspect="1"/>
          </p:cNvPicPr>
          <p:nvPr/>
        </p:nvPicPr>
        <p:blipFill>
          <a:blip r:embed="rId2"/>
          <a:srcRect b="22640"/>
          <a:stretch>
            <a:fillRect/>
          </a:stretch>
        </p:blipFill>
        <p:spPr>
          <a:xfrm>
            <a:off x="2984500" y="1343660"/>
            <a:ext cx="3175000" cy="2456180"/>
          </a:xfrm>
          <a:prstGeom prst="rect">
            <a:avLst/>
          </a:prstGeom>
        </p:spPr>
      </p:pic>
    </p:spTree>
    <p:extLst>
      <p:ext uri="{BB962C8B-B14F-4D97-AF65-F5344CB8AC3E}">
        <p14:creationId xmlns:p14="http://schemas.microsoft.com/office/powerpoint/2010/main" val="135450705"/>
      </p:ext>
    </p:extLst>
  </p:cSld>
  <p:clrMapOvr>
    <a:masterClrMapping/>
  </p:clrMapOvr>
</p:sld>
</file>

<file path=ppt/slides/slide8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C62BE-FC70-1FBA-BA4C-F562911C7220}"/>
            </a:ext>
          </a:extLst>
        </p:cNvPr>
        <p:cNvGrpSpPr/>
        <p:nvPr/>
      </p:nvGrpSpPr>
      <p:grpSpPr>
        <a:xfrm>
          <a:off x="0" y="0"/>
          <a:ext cx="0" cy="0"/>
          <a:chOff x="0" y="0"/>
          <a:chExt cx="0" cy="0"/>
        </a:xfrm>
      </p:grpSpPr>
      <p:pic>
        <p:nvPicPr>
          <p:cNvPr id="2" name="Picture 1" descr="Small Data: The Next Big Thing">
            <a:extLst>
              <a:ext uri="{FF2B5EF4-FFF2-40B4-BE49-F238E27FC236}">
                <a16:creationId xmlns:a16="http://schemas.microsoft.com/office/drawing/2014/main" id="{00061829-6052-28F4-BD36-AF1AF610C5C1}"/>
              </a:ext>
            </a:extLst>
          </p:cNvPr>
          <p:cNvPicPr>
            <a:picLocks noChangeAspect="1"/>
          </p:cNvPicPr>
          <p:nvPr/>
        </p:nvPicPr>
        <p:blipFill>
          <a:blip r:embed="rId2"/>
          <a:srcRect b="22640"/>
          <a:stretch>
            <a:fillRect/>
          </a:stretch>
        </p:blipFill>
        <p:spPr>
          <a:xfrm>
            <a:off x="3920554" y="2067791"/>
            <a:ext cx="1302892" cy="1007918"/>
          </a:xfrm>
          <a:prstGeom prst="rect">
            <a:avLst/>
          </a:prstGeom>
        </p:spPr>
      </p:pic>
    </p:spTree>
    <p:extLst>
      <p:ext uri="{BB962C8B-B14F-4D97-AF65-F5344CB8AC3E}">
        <p14:creationId xmlns:p14="http://schemas.microsoft.com/office/powerpoint/2010/main" val="2263943216"/>
      </p:ext>
    </p:extLst>
  </p:cSld>
  <p:clrMapOvr>
    <a:masterClrMapping/>
  </p:clrMapOvr>
</p:sld>
</file>

<file path=ppt/slides/slide8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49D9CE-B875-9D13-8BB7-33365310ADF2}"/>
              </a:ext>
            </a:extLst>
          </p:cNvPr>
          <p:cNvSpPr>
            <a:spLocks noGrp="1"/>
          </p:cNvSpPr>
          <p:nvPr>
            <p:ph type="title"/>
          </p:nvPr>
        </p:nvSpPr>
        <p:spPr/>
        <p:txBody>
          <a:bodyPr/>
          <a:lstStyle/>
          <a:p>
            <a:r>
              <a:rPr lang="en-US"/>
              <a:t>grading</a:t>
            </a:r>
          </a:p>
        </p:txBody>
      </p:sp>
    </p:spTree>
    <p:extLst>
      <p:ext uri="{BB962C8B-B14F-4D97-AF65-F5344CB8AC3E}">
        <p14:creationId xmlns:p14="http://schemas.microsoft.com/office/powerpoint/2010/main" val="779300780"/>
      </p:ext>
    </p:extLst>
  </p:cSld>
  <p:clrMapOvr>
    <a:masterClrMapping/>
  </p:clrMapOvr>
</p:sld>
</file>

<file path=ppt/slides/slide8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978640-8170-616A-E91B-BA1DD20D5CC1}"/>
              </a:ext>
            </a:extLst>
          </p:cNvPr>
          <p:cNvSpPr>
            <a:spLocks noGrp="1"/>
          </p:cNvSpPr>
          <p:nvPr>
            <p:ph type="title"/>
          </p:nvPr>
        </p:nvSpPr>
        <p:spPr/>
        <p:txBody>
          <a:bodyPr/>
          <a:lstStyle/>
          <a:p>
            <a:r>
              <a:rPr lang="en-US"/>
              <a:t>final grade</a:t>
            </a:r>
          </a:p>
        </p:txBody>
      </p:sp>
      <p:sp>
        <p:nvSpPr>
          <p:cNvPr id="4" name="Content Placeholder 3">
            <a:extLst>
              <a:ext uri="{FF2B5EF4-FFF2-40B4-BE49-F238E27FC236}">
                <a16:creationId xmlns:a16="http://schemas.microsoft.com/office/drawing/2014/main" id="{797EC46A-211A-D113-3169-B423D60A472A}"/>
              </a:ext>
            </a:extLst>
          </p:cNvPr>
          <p:cNvSpPr>
            <a:spLocks noGrp="1"/>
          </p:cNvSpPr>
          <p:nvPr>
            <p:ph sz="quarter" idx="10"/>
          </p:nvPr>
        </p:nvSpPr>
        <p:spPr/>
        <p:txBody>
          <a:bodyPr>
            <a:normAutofit/>
          </a:bodyPr>
          <a:lstStyle/>
          <a:p>
            <a:r>
              <a:rPr lang="en-US" sz="2000" b="1"/>
              <a:t>final grade</a:t>
            </a:r>
            <a:r>
              <a:rPr lang="en-US" sz="2000"/>
              <a:t> is...</a:t>
            </a:r>
          </a:p>
          <a:p>
            <a:pPr lvl="1"/>
            <a:r>
              <a:rPr lang="en-US" sz="2000"/>
              <a:t>40% homework interviews</a:t>
            </a:r>
          </a:p>
          <a:p>
            <a:pPr lvl="1"/>
            <a:r>
              <a:rPr lang="en-US" sz="2000"/>
              <a:t>25% midterm</a:t>
            </a:r>
          </a:p>
          <a:p>
            <a:pPr lvl="1"/>
            <a:r>
              <a:rPr lang="en-US" sz="2000"/>
              <a:t>25% final</a:t>
            </a:r>
          </a:p>
          <a:p>
            <a:pPr lvl="1"/>
            <a:r>
              <a:rPr lang="en-US" sz="2000"/>
              <a:t>10% free points (get these just by emailing me your homework)</a:t>
            </a:r>
          </a:p>
          <a:p>
            <a:pPr lvl="1"/>
            <a:endParaRPr lang="en-US" sz="2000"/>
          </a:p>
          <a:p>
            <a:pPr lvl="1"/>
            <a:r>
              <a:rPr lang="en-US" sz="2000" b="1"/>
              <a:t>note: </a:t>
            </a:r>
            <a:r>
              <a:rPr lang="en-US" sz="2000"/>
              <a:t>all exams will be </a:t>
            </a:r>
            <a:r>
              <a:rPr lang="en-US" sz="2000" u="sng"/>
              <a:t>based on the homework</a:t>
            </a:r>
            <a:r>
              <a:rPr lang="en-US" sz="2000"/>
              <a:t>,</a:t>
            </a:r>
            <a:br>
              <a:rPr lang="en-US" sz="2000" u="sng"/>
            </a:br>
            <a:r>
              <a:rPr lang="en-US" sz="2000"/>
              <a:t>and are meant to be very </a:t>
            </a:r>
            <a:r>
              <a:rPr lang="en-US" sz="2000" u="sng"/>
              <a:t>unsurprising</a:t>
            </a:r>
            <a:r>
              <a:rPr lang="en-US" sz="2000" b="1"/>
              <a:t> 🙂👍</a:t>
            </a:r>
          </a:p>
          <a:p>
            <a:pPr lvl="1"/>
            <a:endParaRPr lang="en-US" sz="2000" b="1"/>
          </a:p>
          <a:p>
            <a:pPr lvl="1"/>
            <a:r>
              <a:rPr lang="en-US" sz="2000"/>
              <a:t>your final grade may be curved, but only up</a:t>
            </a:r>
            <a:br>
              <a:rPr lang="en-US" sz="2000"/>
            </a:br>
            <a:r>
              <a:rPr lang="en-US" sz="2000"/>
              <a:t>(the curve cannot make your grade worse)</a:t>
            </a:r>
          </a:p>
        </p:txBody>
      </p:sp>
    </p:spTree>
    <p:extLst>
      <p:ext uri="{BB962C8B-B14F-4D97-AF65-F5344CB8AC3E}">
        <p14:creationId xmlns:p14="http://schemas.microsoft.com/office/powerpoint/2010/main" val="1315235984"/>
      </p:ext>
    </p:extLst>
  </p:cSld>
  <p:clrMapOvr>
    <a:masterClrMapping/>
  </p:clrMapOvr>
</p:sld>
</file>

<file path=ppt/slides/slide8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E91BF-C5C6-79B1-6685-2F8B52E1DC03}"/>
              </a:ext>
            </a:extLst>
          </p:cNvPr>
          <p:cNvSpPr>
            <a:spLocks noGrp="1"/>
          </p:cNvSpPr>
          <p:nvPr>
            <p:ph type="title"/>
          </p:nvPr>
        </p:nvSpPr>
        <p:spPr/>
        <p:txBody>
          <a:bodyPr/>
          <a:lstStyle/>
          <a:p>
            <a:r>
              <a:rPr lang="en-US"/>
              <a:t>homework and homework interviews</a:t>
            </a:r>
          </a:p>
        </p:txBody>
      </p:sp>
      <p:sp>
        <p:nvSpPr>
          <p:cNvPr id="3" name="Content Placeholder 2">
            <a:extLst>
              <a:ext uri="{FF2B5EF4-FFF2-40B4-BE49-F238E27FC236}">
                <a16:creationId xmlns:a16="http://schemas.microsoft.com/office/drawing/2014/main" id="{62C267B7-159D-7687-FA9A-A0B99E7E9CA4}"/>
              </a:ext>
            </a:extLst>
          </p:cNvPr>
          <p:cNvSpPr>
            <a:spLocks noGrp="1"/>
          </p:cNvSpPr>
          <p:nvPr>
            <p:ph sz="quarter" idx="10"/>
          </p:nvPr>
        </p:nvSpPr>
        <p:spPr/>
        <p:txBody>
          <a:bodyPr/>
          <a:lstStyle/>
          <a:p>
            <a:r>
              <a:rPr lang="en-US"/>
              <a:t>each homework</a:t>
            </a:r>
            <a:r>
              <a:rPr lang="en-US" b="1"/>
              <a:t> </a:t>
            </a:r>
            <a:r>
              <a:rPr lang="en-US"/>
              <a:t>has </a:t>
            </a:r>
            <a:r>
              <a:rPr lang="en-US" b="1"/>
              <a:t>levels</a:t>
            </a:r>
            <a:r>
              <a:rPr lang="en-US"/>
              <a:t> on an A- (90), A (95), A+ (100) scale</a:t>
            </a:r>
          </a:p>
          <a:p>
            <a:pPr lvl="1"/>
            <a:r>
              <a:rPr lang="en-US"/>
              <a:t>A- 	is meant to be doable</a:t>
            </a:r>
          </a:p>
          <a:p>
            <a:pPr lvl="1"/>
            <a:r>
              <a:rPr lang="en-US"/>
              <a:t>A 	is meant to be challenging</a:t>
            </a:r>
          </a:p>
          <a:p>
            <a:pPr lvl="1"/>
            <a:r>
              <a:rPr lang="en-US"/>
              <a:t>A+ 	is meant to be </a:t>
            </a:r>
            <a:r>
              <a:rPr lang="en-US" i="1"/>
              <a:t>a growth opportunity </a:t>
            </a:r>
            <a:r>
              <a:rPr lang="en-US"/>
              <a:t>🪴</a:t>
            </a:r>
          </a:p>
          <a:p>
            <a:r>
              <a:rPr lang="en-US"/>
              <a:t>on half of the homeworks (not counting HW00), you will be interviewed in lab </a:t>
            </a:r>
            <a:br>
              <a:rPr lang="en-US"/>
            </a:br>
            <a:r>
              <a:rPr lang="en-US"/>
              <a:t>(this is how you actually get points)</a:t>
            </a:r>
          </a:p>
          <a:p>
            <a:pPr lvl="1"/>
            <a:r>
              <a:rPr lang="en-US"/>
              <a:t>high pass 	– all the points for your level, plus a sticker 🦜</a:t>
            </a:r>
          </a:p>
          <a:p>
            <a:pPr lvl="1"/>
            <a:r>
              <a:rPr lang="en-US"/>
              <a:t>pass		– all the points for your level</a:t>
            </a:r>
          </a:p>
          <a:p>
            <a:pPr lvl="1"/>
            <a:r>
              <a:rPr lang="en-US"/>
              <a:t>low pass 	– 80</a:t>
            </a:r>
          </a:p>
          <a:p>
            <a:pPr lvl="1"/>
            <a:r>
              <a:rPr lang="en-US"/>
              <a:t>fail 			– 50</a:t>
            </a:r>
          </a:p>
          <a:p>
            <a:r>
              <a:rPr lang="en-US"/>
              <a:t>you can drop your lowest homework score</a:t>
            </a:r>
          </a:p>
          <a:p>
            <a:pPr lvl="1"/>
            <a:r>
              <a:rPr lang="en-US"/>
              <a:t>(10 / 2) - 1 = 4 homework interviews</a:t>
            </a:r>
          </a:p>
          <a:p>
            <a:endParaRPr lang="en-US"/>
          </a:p>
        </p:txBody>
      </p:sp>
    </p:spTree>
    <p:extLst>
      <p:ext uri="{BB962C8B-B14F-4D97-AF65-F5344CB8AC3E}">
        <p14:creationId xmlns:p14="http://schemas.microsoft.com/office/powerpoint/2010/main" val="1286722244"/>
      </p:ext>
    </p:extLst>
  </p:cSld>
  <p:clrMapOvr>
    <a:masterClrMapping/>
  </p:clrMapOvr>
</p:sld>
</file>

<file path=ppt/slides/slide8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95216-A555-00FF-C343-CACAD36E04B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416F391-CD95-BECD-AB40-C0F191387340}"/>
              </a:ext>
            </a:extLst>
          </p:cNvPr>
          <p:cNvSpPr>
            <a:spLocks noGrp="1"/>
          </p:cNvSpPr>
          <p:nvPr>
            <p:ph type="title"/>
          </p:nvPr>
        </p:nvSpPr>
        <p:spPr/>
        <p:txBody>
          <a:bodyPr/>
          <a:lstStyle/>
          <a:p>
            <a:r>
              <a:rPr lang="en-US"/>
              <a:t>midterm and final</a:t>
            </a:r>
          </a:p>
        </p:txBody>
      </p:sp>
      <p:sp>
        <p:nvSpPr>
          <p:cNvPr id="4" name="Content Placeholder 3">
            <a:extLst>
              <a:ext uri="{FF2B5EF4-FFF2-40B4-BE49-F238E27FC236}">
                <a16:creationId xmlns:a16="http://schemas.microsoft.com/office/drawing/2014/main" id="{3F1FBAC1-1F1D-78B1-573E-B87593C0C0B6}"/>
              </a:ext>
            </a:extLst>
          </p:cNvPr>
          <p:cNvSpPr>
            <a:spLocks noGrp="1"/>
          </p:cNvSpPr>
          <p:nvPr>
            <p:ph sz="quarter" idx="10"/>
          </p:nvPr>
        </p:nvSpPr>
        <p:spPr/>
        <p:txBody>
          <a:bodyPr>
            <a:normAutofit/>
          </a:bodyPr>
          <a:lstStyle/>
          <a:p>
            <a:r>
              <a:rPr lang="en-US" sz="2000"/>
              <a:t>the midterm exam covers homework from the first half of the course</a:t>
            </a:r>
          </a:p>
          <a:p>
            <a:r>
              <a:rPr lang="en-US" sz="2000"/>
              <a:t>the final exam covers homework from the second half of the course</a:t>
            </a:r>
          </a:p>
          <a:p>
            <a:r>
              <a:rPr lang="en-US" sz="2000"/>
              <a:t>both exams are in-person, on-paper, proctored, no-notes</a:t>
            </a:r>
          </a:p>
        </p:txBody>
      </p:sp>
    </p:spTree>
    <p:extLst>
      <p:ext uri="{BB962C8B-B14F-4D97-AF65-F5344CB8AC3E}">
        <p14:creationId xmlns:p14="http://schemas.microsoft.com/office/powerpoint/2010/main" val="174542051"/>
      </p:ext>
    </p:extLst>
  </p:cSld>
  <p:clrMapOvr>
    <a:masterClrMapping/>
  </p:clrMapOvr>
</p:sld>
</file>

<file path=ppt/slides/slide8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862665-39F7-003D-6F0F-78CDC8C8DC1A}"/>
              </a:ext>
            </a:extLst>
          </p:cNvPr>
          <p:cNvSpPr>
            <a:spLocks noGrp="1"/>
          </p:cNvSpPr>
          <p:nvPr>
            <p:ph type="title"/>
          </p:nvPr>
        </p:nvSpPr>
        <p:spPr/>
        <p:txBody>
          <a:bodyPr/>
          <a:lstStyle/>
          <a:p>
            <a:r>
              <a:rPr lang="en-US"/>
              <a:t>grading is meant to be</a:t>
            </a:r>
            <a:br>
              <a:rPr lang="en-US"/>
            </a:br>
            <a:r>
              <a:rPr lang="en-US" b="1"/>
              <a:t>low stress</a:t>
            </a:r>
            <a:br>
              <a:rPr lang="en-US" b="1"/>
            </a:br>
            <a:r>
              <a:rPr lang="en-US" b="1"/>
              <a:t>🙂👍</a:t>
            </a:r>
            <a:endParaRPr lang="en-US"/>
          </a:p>
        </p:txBody>
      </p:sp>
    </p:spTree>
    <p:extLst>
      <p:ext uri="{BB962C8B-B14F-4D97-AF65-F5344CB8AC3E}">
        <p14:creationId xmlns:p14="http://schemas.microsoft.com/office/powerpoint/2010/main" val="2452387729"/>
      </p:ext>
    </p:extLst>
  </p:cSld>
  <p:clrMapOvr>
    <a:masterClrMapping/>
  </p:clrMapOvr>
</p:sld>
</file>

<file path=ppt/slides/slide8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3027B8-7010-301C-F92C-F2A96E82C5D4}"/>
              </a:ext>
            </a:extLst>
          </p:cNvPr>
          <p:cNvSpPr>
            <a:spLocks noGrp="1"/>
          </p:cNvSpPr>
          <p:nvPr>
            <p:ph type="title"/>
          </p:nvPr>
        </p:nvSpPr>
        <p:spPr/>
        <p:txBody>
          <a:bodyPr/>
          <a:lstStyle/>
          <a:p>
            <a:r>
              <a:rPr lang="en-US"/>
              <a:t>collaboration</a:t>
            </a:r>
          </a:p>
        </p:txBody>
      </p:sp>
    </p:spTree>
    <p:extLst>
      <p:ext uri="{BB962C8B-B14F-4D97-AF65-F5344CB8AC3E}">
        <p14:creationId xmlns:p14="http://schemas.microsoft.com/office/powerpoint/2010/main" val="2334441168"/>
      </p:ext>
    </p:extLst>
  </p:cSld>
  <p:clrMapOvr>
    <a:masterClrMapping/>
  </p:clrMapOvr>
</p:sld>
</file>

<file path=ppt/slides/slide8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395EA4-A5D7-8F47-EBBF-474A0EEAF41A}"/>
              </a:ext>
            </a:extLst>
          </p:cNvPr>
          <p:cNvPicPr>
            <a:picLocks noChangeAspect="1"/>
          </p:cNvPicPr>
          <p:nvPr/>
        </p:nvPicPr>
        <p:blipFill>
          <a:blip r:embed="rId2"/>
          <a:stretch>
            <a:fillRect/>
          </a:stretch>
        </p:blipFill>
        <p:spPr>
          <a:xfrm>
            <a:off x="353765" y="576434"/>
            <a:ext cx="8436470" cy="3990631"/>
          </a:xfrm>
          <a:prstGeom prst="rect">
            <a:avLst/>
          </a:prstGeom>
        </p:spPr>
      </p:pic>
    </p:spTree>
    <p:extLst>
      <p:ext uri="{BB962C8B-B14F-4D97-AF65-F5344CB8AC3E}">
        <p14:creationId xmlns:p14="http://schemas.microsoft.com/office/powerpoint/2010/main" val="1524417769"/>
      </p:ext>
    </p:extLst>
  </p:cSld>
  <p:clrMapOvr>
    <a:masterClrMapping/>
  </p:clrMapOvr>
</p:sld>
</file>

<file path=ppt/slides/slide8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368A6-C01A-AD1A-0D75-F9C3BE731CE2}"/>
            </a:ext>
          </a:extLst>
        </p:cNvPr>
        <p:cNvGrpSpPr/>
        <p:nvPr/>
      </p:nvGrpSpPr>
      <p:grpSpPr>
        <a:xfrm>
          <a:off x="0" y="0"/>
          <a:ext cx="0" cy="0"/>
          <a:chOff x="0" y="0"/>
          <a:chExt cx="0" cy="0"/>
        </a:xfrm>
      </p:grpSpPr>
    </p:spTree>
    <p:extLst>
      <p:ext uri="{BB962C8B-B14F-4D97-AF65-F5344CB8AC3E}">
        <p14:creationId xmlns:p14="http://schemas.microsoft.com/office/powerpoint/2010/main" val="2443902404"/>
      </p:ext>
    </p:extLst>
  </p:cSld>
  <p:clrMapOvr>
    <a:masterClrMapping/>
  </p:clrMapOvr>
</p:sld>
</file>

<file path=ppt/slides/slide8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36570-8222-3531-4646-0CFF9607F02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D200AF4-6369-87AE-7C71-22D57D5EEAF3}"/>
              </a:ext>
            </a:extLst>
          </p:cNvPr>
          <p:cNvSpPr>
            <a:spLocks noGrp="1"/>
          </p:cNvSpPr>
          <p:nvPr>
            <p:ph type="title"/>
          </p:nvPr>
        </p:nvSpPr>
        <p:spPr/>
        <p:txBody>
          <a:bodyPr/>
          <a:lstStyle/>
          <a:p>
            <a:r>
              <a:rPr lang="en-US"/>
              <a:t>Java</a:t>
            </a:r>
          </a:p>
        </p:txBody>
      </p:sp>
    </p:spTree>
    <p:extLst>
      <p:ext uri="{BB962C8B-B14F-4D97-AF65-F5344CB8AC3E}">
        <p14:creationId xmlns:p14="http://schemas.microsoft.com/office/powerpoint/2010/main" val="991795231"/>
      </p:ext>
    </p:extLst>
  </p:cSld>
  <p:clrMapOvr>
    <a:masterClrMapping/>
  </p:clrMapOvr>
</p:sld>
</file>

<file path=ppt/slides/slide8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B2F31-79A8-9516-9514-E1129EA409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4BA8D8-E690-58D4-B792-E96451D49E75}"/>
              </a:ext>
            </a:extLst>
          </p:cNvPr>
          <p:cNvSpPr>
            <a:spLocks noGrp="1"/>
          </p:cNvSpPr>
          <p:nvPr>
            <p:ph type="title"/>
          </p:nvPr>
        </p:nvSpPr>
        <p:spPr/>
        <p:txBody>
          <a:bodyPr/>
          <a:lstStyle/>
          <a:p>
            <a:r>
              <a:rPr lang="en-US"/>
              <a:t>Java</a:t>
            </a:r>
          </a:p>
        </p:txBody>
      </p:sp>
    </p:spTree>
    <p:extLst>
      <p:ext uri="{BB962C8B-B14F-4D97-AF65-F5344CB8AC3E}">
        <p14:creationId xmlns:p14="http://schemas.microsoft.com/office/powerpoint/2010/main" val="4157963512"/>
      </p:ext>
    </p:extLst>
  </p:cSld>
  <p:clrMapOvr>
    <a:masterClrMapping/>
  </p:clrMapOvr>
</p:sld>
</file>

<file path=ppt/slides/slide8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33669-5911-0DD4-DAAF-604B4632F7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33741D-7691-16BC-1198-1DBFCDC024D8}"/>
              </a:ext>
            </a:extLst>
          </p:cNvPr>
          <p:cNvSpPr>
            <a:spLocks noGrp="1"/>
          </p:cNvSpPr>
          <p:nvPr>
            <p:ph type="title"/>
          </p:nvPr>
        </p:nvSpPr>
        <p:spPr/>
        <p:txBody>
          <a:bodyPr/>
          <a:lstStyle/>
          <a:p>
            <a:r>
              <a:rPr lang="en-US"/>
              <a:t>☕️</a:t>
            </a:r>
          </a:p>
        </p:txBody>
      </p:sp>
    </p:spTree>
    <p:extLst>
      <p:ext uri="{BB962C8B-B14F-4D97-AF65-F5344CB8AC3E}">
        <p14:creationId xmlns:p14="http://schemas.microsoft.com/office/powerpoint/2010/main" val="134224272"/>
      </p:ext>
    </p:extLst>
  </p:cSld>
  <p:clrMapOvr>
    <a:masterClrMapping/>
  </p:clrMapOvr>
</p:sld>
</file>

<file path=ppt/slides/slide8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53F42F-09BD-937A-D26D-D2874527AA09}"/>
              </a:ext>
            </a:extLst>
          </p:cNvPr>
          <p:cNvSpPr>
            <a:spLocks noGrp="1"/>
          </p:cNvSpPr>
          <p:nvPr>
            <p:ph type="title"/>
          </p:nvPr>
        </p:nvSpPr>
        <p:spPr/>
        <p:txBody>
          <a:bodyPr/>
          <a:lstStyle/>
          <a:p>
            <a:r>
              <a:rPr lang="en-US"/>
              <a:t>this class is in a language called </a:t>
            </a:r>
            <a:r>
              <a:rPr lang="en-US" b="1"/>
              <a:t>Java</a:t>
            </a:r>
          </a:p>
        </p:txBody>
      </p:sp>
    </p:spTree>
    <p:extLst>
      <p:ext uri="{BB962C8B-B14F-4D97-AF65-F5344CB8AC3E}">
        <p14:creationId xmlns:p14="http://schemas.microsoft.com/office/powerpoint/2010/main" val="2234638599"/>
      </p:ext>
    </p:extLst>
  </p:cSld>
  <p:clrMapOvr>
    <a:masterClrMapping/>
  </p:clrMapOvr>
</p:sld>
</file>

<file path=ppt/slides/slide8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90064-A8E1-C004-C7F2-6D401C97D53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18344A6-34A4-3224-8533-5A0FBDA77604}"/>
              </a:ext>
            </a:extLst>
          </p:cNvPr>
          <p:cNvSpPr>
            <a:spLocks noGrp="1"/>
          </p:cNvSpPr>
          <p:nvPr>
            <p:ph type="title"/>
          </p:nvPr>
        </p:nvSpPr>
        <p:spPr>
          <a:xfrm>
            <a:off x="232756" y="2143125"/>
            <a:ext cx="8678488" cy="857250"/>
          </a:xfrm>
        </p:spPr>
        <p:txBody>
          <a:bodyPr/>
          <a:lstStyle/>
          <a:p>
            <a:r>
              <a:rPr lang="en-US"/>
              <a:t>it also uses a library i wrote called Cow.Java to help you make games and interactive apps</a:t>
            </a:r>
          </a:p>
        </p:txBody>
      </p:sp>
    </p:spTree>
    <p:extLst>
      <p:ext uri="{BB962C8B-B14F-4D97-AF65-F5344CB8AC3E}">
        <p14:creationId xmlns:p14="http://schemas.microsoft.com/office/powerpoint/2010/main" val="3860539917"/>
      </p:ext>
    </p:extLst>
  </p:cSld>
  <p:clrMapOvr>
    <a:masterClrMapping/>
  </p:clrMapOvr>
</p:sld>
</file>

<file path=ppt/slides/slide8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746C8-A411-0151-DAFB-6F59EA08A8D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D8AA2AA-0F20-FF03-49DD-B7FE0C83672C}"/>
              </a:ext>
            </a:extLst>
          </p:cNvPr>
          <p:cNvSpPr>
            <a:spLocks noGrp="1"/>
          </p:cNvSpPr>
          <p:nvPr>
            <p:ph type="title"/>
          </p:nvPr>
        </p:nvSpPr>
        <p:spPr/>
        <p:txBody>
          <a:bodyPr/>
          <a:lstStyle/>
          <a:p>
            <a:r>
              <a:rPr lang="en-US"/>
              <a:t>type</a:t>
            </a:r>
          </a:p>
        </p:txBody>
      </p:sp>
    </p:spTree>
    <p:extLst>
      <p:ext uri="{BB962C8B-B14F-4D97-AF65-F5344CB8AC3E}">
        <p14:creationId xmlns:p14="http://schemas.microsoft.com/office/powerpoint/2010/main" val="3603698896"/>
      </p:ext>
    </p:extLst>
  </p:cSld>
  <p:clrMapOvr>
    <a:masterClrMapping/>
  </p:clrMapOvr>
</p:sld>
</file>

<file path=ppt/slides/slide8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242AE-704C-8FFD-4416-02A1A5BDC5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38BAEB-39B1-B292-E4FB-3CBA6C0729CE}"/>
              </a:ext>
            </a:extLst>
          </p:cNvPr>
          <p:cNvSpPr>
            <a:spLocks noGrp="1"/>
          </p:cNvSpPr>
          <p:nvPr>
            <p:ph type="title"/>
          </p:nvPr>
        </p:nvSpPr>
        <p:spPr/>
        <p:txBody>
          <a:bodyPr/>
          <a:lstStyle/>
          <a:p>
            <a:r>
              <a:rPr lang="en-US"/>
              <a:t>type</a:t>
            </a:r>
          </a:p>
        </p:txBody>
      </p:sp>
      <p:sp>
        <p:nvSpPr>
          <p:cNvPr id="3" name="TextBox 2">
            <a:extLst>
              <a:ext uri="{FF2B5EF4-FFF2-40B4-BE49-F238E27FC236}">
                <a16:creationId xmlns:a16="http://schemas.microsoft.com/office/drawing/2014/main" id="{8FDD966A-9B58-4ED5-7C93-98753EB0EFA4}"/>
              </a:ext>
            </a:extLst>
          </p:cNvPr>
          <p:cNvSpPr txBox="1"/>
          <p:nvPr/>
        </p:nvSpPr>
        <p:spPr>
          <a:xfrm>
            <a:off x="-1224643" y="432707"/>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230751320"/>
      </p:ext>
    </p:extLst>
  </p:cSld>
  <p:clrMapOvr>
    <a:masterClrMapping/>
  </p:clrMapOvr>
</p:sld>
</file>

<file path=ppt/slides/slide8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FCE9A-7191-488F-FF60-2F82D2E46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BD846E-EC9C-2A0C-F41A-151DB5565293}"/>
              </a:ext>
            </a:extLst>
          </p:cNvPr>
          <p:cNvSpPr>
            <a:spLocks noGrp="1"/>
          </p:cNvSpPr>
          <p:nvPr>
            <p:ph type="title"/>
          </p:nvPr>
        </p:nvSpPr>
        <p:spPr>
          <a:xfrm>
            <a:off x="457200" y="254915"/>
            <a:ext cx="8229600" cy="914661"/>
          </a:xfrm>
        </p:spPr>
        <p:txBody>
          <a:bodyPr>
            <a:normAutofit/>
          </a:bodyPr>
          <a:lstStyle/>
          <a:p>
            <a:r>
              <a:rPr lang="en-US"/>
              <a:t>a variable in Java has a </a:t>
            </a:r>
            <a:r>
              <a:rPr lang="en-US" b="1"/>
              <a:t>type</a:t>
            </a:r>
            <a:br>
              <a:rPr lang="en-US"/>
            </a:br>
            <a:r>
              <a:rPr lang="en-US"/>
              <a:t>"what </a:t>
            </a:r>
            <a:r>
              <a:rPr lang="en-US" i="1"/>
              <a:t>kind of thing</a:t>
            </a:r>
            <a:r>
              <a:rPr lang="en-US"/>
              <a:t> is this variable?"</a:t>
            </a:r>
          </a:p>
        </p:txBody>
      </p:sp>
      <p:sp>
        <p:nvSpPr>
          <p:cNvPr id="4" name="TextBox 3">
            <a:extLst>
              <a:ext uri="{FF2B5EF4-FFF2-40B4-BE49-F238E27FC236}">
                <a16:creationId xmlns:a16="http://schemas.microsoft.com/office/drawing/2014/main" id="{C1DBD15F-3583-F882-114B-B47D26A294F7}"/>
              </a:ext>
            </a:extLst>
          </p:cNvPr>
          <p:cNvSpPr txBox="1"/>
          <p:nvPr/>
        </p:nvSpPr>
        <p:spPr>
          <a:xfrm>
            <a:off x="457200" y="1418959"/>
            <a:ext cx="8229600" cy="1034129"/>
          </a:xfrm>
          <a:prstGeom prst="rect">
            <a:avLst/>
          </a:prstGeom>
          <a:solidFill>
            <a:schemeClr val="accent3">
              <a:lumMod val="20000"/>
              <a:lumOff val="80000"/>
            </a:schemeClr>
          </a:solid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7B00"/>
                </a:solidFill>
                <a:latin typeface="Consolas"/>
                <a:ea typeface="Segoe UI Emoji" panose="020B0502040204020203" pitchFamily="34" charset="0"/>
              </a:rPr>
              <a:t># okay in Python</a:t>
            </a:r>
            <a:endParaRPr lang="en-US">
              <a:solidFill>
                <a:srgbClr val="000000"/>
              </a:solidFill>
              <a:latin typeface="Consolas"/>
              <a:ea typeface="Segoe UI Emoji" panose="020B0502040204020203" pitchFamily="34" charset="0"/>
            </a:endParaRPr>
          </a:p>
          <a:p>
            <a:pPr defTabSz="342886">
              <a:spcBef>
                <a:spcPct val="20000"/>
              </a:spcBef>
              <a:buClr>
                <a:srgbClr val="FFFFFF">
                  <a:lumMod val="65000"/>
                </a:srgbClr>
              </a:buClr>
            </a:pPr>
            <a:r>
              <a:rPr lang="en-US">
                <a:solidFill>
                  <a:srgbClr val="000000"/>
                </a:solidFill>
                <a:latin typeface="Consolas"/>
                <a:ea typeface="Segoe UI Emoji" panose="020B0502040204020203" pitchFamily="34" charset="0"/>
              </a:rPr>
              <a:t>foo = </a:t>
            </a:r>
            <a:r>
              <a:rPr lang="en-US">
                <a:solidFill>
                  <a:srgbClr val="0CB5B5"/>
                </a:solidFill>
                <a:latin typeface="Consolas"/>
                <a:ea typeface="Segoe UI Emoji" panose="020B0502040204020203" pitchFamily="34" charset="0"/>
              </a:rPr>
              <a:t>7</a:t>
            </a:r>
            <a:r>
              <a:rPr lang="en-US">
                <a:solidFill>
                  <a:srgbClr val="000000"/>
                </a:solidFill>
                <a:latin typeface="Consolas"/>
                <a:ea typeface="Segoe UI Emoji" panose="020B0502040204020203" pitchFamily="34" charset="0"/>
              </a:rPr>
              <a:t>     </a:t>
            </a:r>
            <a:r>
              <a:rPr lang="en-US">
                <a:solidFill>
                  <a:srgbClr val="007B00"/>
                </a:solidFill>
                <a:latin typeface="Consolas"/>
                <a:ea typeface="Segoe UI Emoji" panose="020B0502040204020203" pitchFamily="34" charset="0"/>
              </a:rPr>
              <a:t># foo is an int</a:t>
            </a:r>
            <a:endParaRPr lang="en-US">
              <a:solidFill>
                <a:srgbClr val="000000"/>
              </a:solidFill>
              <a:latin typeface="Consolas"/>
              <a:ea typeface="Segoe UI Emoji" panose="020B0502040204020203" pitchFamily="34" charset="0"/>
            </a:endParaRPr>
          </a:p>
          <a:p>
            <a:pPr lvl="0" defTabSz="342886">
              <a:spcBef>
                <a:spcPct val="20000"/>
              </a:spcBef>
              <a:buClr>
                <a:srgbClr val="FFFFFF">
                  <a:lumMod val="65000"/>
                </a:srgbClr>
              </a:buClr>
            </a:pPr>
            <a:r>
              <a:rPr lang="en-US">
                <a:solidFill>
                  <a:srgbClr val="000000"/>
                </a:solidFill>
                <a:latin typeface="Consolas"/>
                <a:ea typeface="Segoe UI Emoji" panose="020B0502040204020203" pitchFamily="34" charset="0"/>
              </a:rPr>
              <a:t>foo = </a:t>
            </a:r>
            <a:r>
              <a:rPr lang="en-US">
                <a:solidFill>
                  <a:srgbClr val="0000FF"/>
                </a:solidFill>
                <a:latin typeface="Consolas"/>
                <a:ea typeface="Segoe UI Emoji" panose="020B0502040204020203" pitchFamily="34" charset="0"/>
              </a:rPr>
              <a:t>False</a:t>
            </a:r>
            <a:r>
              <a:rPr lang="en-US">
                <a:solidFill>
                  <a:srgbClr val="000000"/>
                </a:solidFill>
                <a:latin typeface="Consolas"/>
                <a:ea typeface="Segoe UI Emoji" panose="020B0502040204020203" pitchFamily="34" charset="0"/>
              </a:rPr>
              <a:t> </a:t>
            </a:r>
            <a:r>
              <a:rPr lang="en-US">
                <a:solidFill>
                  <a:srgbClr val="007B00"/>
                </a:solidFill>
                <a:latin typeface="Consolas"/>
                <a:ea typeface="Segoe UI Emoji" panose="020B0502040204020203" pitchFamily="34" charset="0"/>
              </a:rPr>
              <a:t># now, foo is a </a:t>
            </a:r>
            <a:r>
              <a:rPr lang="en-US" err="1">
                <a:solidFill>
                  <a:srgbClr val="007B00"/>
                </a:solidFill>
                <a:latin typeface="Consolas"/>
                <a:ea typeface="Segoe UI Emoji" panose="020B0502040204020203" pitchFamily="34" charset="0"/>
              </a:rPr>
              <a:t>boolean</a:t>
            </a:r>
            <a:endParaRPr lang="en-US">
              <a:solidFill>
                <a:srgbClr val="000000"/>
              </a:solidFill>
              <a:latin typeface="Consolas"/>
              <a:ea typeface="Segoe UI Emoji" panose="020B0502040204020203" pitchFamily="34" charset="0"/>
            </a:endParaRPr>
          </a:p>
        </p:txBody>
      </p:sp>
      <p:sp>
        <p:nvSpPr>
          <p:cNvPr id="6" name="TextBox 5">
            <a:extLst>
              <a:ext uri="{FF2B5EF4-FFF2-40B4-BE49-F238E27FC236}">
                <a16:creationId xmlns:a16="http://schemas.microsoft.com/office/drawing/2014/main" id="{7295C3B3-EBFD-1C73-150C-17C8BDFBEA37}"/>
              </a:ext>
            </a:extLst>
          </p:cNvPr>
          <p:cNvSpPr txBox="1"/>
          <p:nvPr/>
        </p:nvSpPr>
        <p:spPr>
          <a:xfrm>
            <a:off x="457200" y="2701924"/>
            <a:ext cx="8229600" cy="1366528"/>
          </a:xfrm>
          <a:prstGeom prst="rect">
            <a:avLst/>
          </a:prstGeom>
          <a:solidFill>
            <a:schemeClr val="accent1">
              <a:lumMod val="20000"/>
              <a:lumOff val="80000"/>
            </a:schemeClr>
          </a:solidFill>
          <a:ln>
            <a:solidFill>
              <a:schemeClr val="tx1"/>
            </a:solidFill>
          </a:ln>
        </p:spPr>
        <p:txBody>
          <a:bodyPr wrap="square" rtlCol="0">
            <a:spAutoFit/>
          </a:bodyPr>
          <a:lstStyle/>
          <a:p>
            <a:pPr lvl="0" defTabSz="342886">
              <a:spcBef>
                <a:spcPct val="20000"/>
              </a:spcBef>
              <a:buClr>
                <a:srgbClr val="FFFFFF">
                  <a:lumMod val="65000"/>
                </a:srgbClr>
              </a:buClr>
            </a:pPr>
            <a:r>
              <a:rPr lang="en-US">
                <a:solidFill>
                  <a:srgbClr val="007B00"/>
                </a:solidFill>
                <a:latin typeface="Consolas"/>
                <a:ea typeface="Segoe UI Emoji" panose="020B0502040204020203" pitchFamily="34" charset="0"/>
              </a:rPr>
              <a:t>// NOT okay in Java</a:t>
            </a:r>
          </a:p>
          <a:p>
            <a:pPr lvl="0" defTabSz="342886">
              <a:spcBef>
                <a:spcPct val="20000"/>
              </a:spcBef>
              <a:buClr>
                <a:srgbClr val="FFFFFF">
                  <a:lumMod val="65000"/>
                </a:srgbClr>
              </a:buClr>
            </a:pPr>
            <a:r>
              <a:rPr lang="en-US">
                <a:solidFill>
                  <a:srgbClr val="000080"/>
                </a:solidFill>
                <a:latin typeface="Consolas"/>
                <a:ea typeface="Segoe UI Emoji" panose="020B0502040204020203" pitchFamily="34" charset="0"/>
              </a:rPr>
              <a:t>int</a:t>
            </a:r>
            <a:r>
              <a:rPr lang="en-US">
                <a:solidFill>
                  <a:srgbClr val="000000"/>
                </a:solidFill>
                <a:latin typeface="Consolas"/>
                <a:ea typeface="Segoe UI Emoji" panose="020B0502040204020203" pitchFamily="34" charset="0"/>
              </a:rPr>
              <a:t> foo = </a:t>
            </a:r>
            <a:r>
              <a:rPr lang="en-US">
                <a:solidFill>
                  <a:srgbClr val="0CB5B5"/>
                </a:solidFill>
                <a:latin typeface="Consolas"/>
                <a:ea typeface="Segoe UI Emoji" panose="020B0502040204020203" pitchFamily="34" charset="0"/>
              </a:rPr>
              <a:t>7</a:t>
            </a:r>
            <a:r>
              <a:rPr lang="en-US">
                <a:solidFill>
                  <a:srgbClr val="000000"/>
                </a:solidFill>
                <a:latin typeface="Consolas"/>
                <a:ea typeface="Segoe UI Emoji" panose="020B0502040204020203" pitchFamily="34" charset="0"/>
              </a:rPr>
              <a:t>; </a:t>
            </a:r>
            <a:r>
              <a:rPr lang="en-US">
                <a:solidFill>
                  <a:srgbClr val="007B00"/>
                </a:solidFill>
                <a:latin typeface="Consolas"/>
                <a:ea typeface="Segoe UI Emoji" panose="020B0502040204020203" pitchFamily="34" charset="0"/>
              </a:rPr>
              <a:t>// foo is an int</a:t>
            </a:r>
            <a:endParaRPr lang="en-US">
              <a:solidFill>
                <a:srgbClr val="000000"/>
              </a:solidFill>
              <a:latin typeface="Consolas"/>
              <a:ea typeface="Segoe UI Emoji" panose="020B0502040204020203" pitchFamily="34" charset="0"/>
            </a:endParaRPr>
          </a:p>
          <a:p>
            <a:pPr lvl="0" defTabSz="342886">
              <a:spcBef>
                <a:spcPct val="20000"/>
              </a:spcBef>
              <a:buClr>
                <a:srgbClr val="FFFFFF">
                  <a:lumMod val="65000"/>
                </a:srgbClr>
              </a:buClr>
            </a:pPr>
            <a:r>
              <a:rPr lang="en-US">
                <a:solidFill>
                  <a:srgbClr val="000000"/>
                </a:solidFill>
                <a:latin typeface="Consolas"/>
                <a:ea typeface="Segoe UI Emoji" panose="020B0502040204020203" pitchFamily="34" charset="0"/>
              </a:rPr>
              <a:t>foo = </a:t>
            </a:r>
            <a:r>
              <a:rPr lang="en-US">
                <a:solidFill>
                  <a:srgbClr val="0000FF"/>
                </a:solidFill>
                <a:latin typeface="Consolas"/>
                <a:ea typeface="Segoe UI Emoji" panose="020B0502040204020203" pitchFamily="34" charset="0"/>
              </a:rPr>
              <a:t>false</a:t>
            </a:r>
            <a:r>
              <a:rPr lang="en-US">
                <a:solidFill>
                  <a:srgbClr val="000000"/>
                </a:solidFill>
                <a:latin typeface="Consolas"/>
                <a:ea typeface="Segoe UI Emoji" panose="020B0502040204020203" pitchFamily="34" charset="0"/>
              </a:rPr>
              <a:t>; </a:t>
            </a:r>
            <a:r>
              <a:rPr lang="en-US">
                <a:solidFill>
                  <a:srgbClr val="000000"/>
                </a:solidFill>
                <a:highlight>
                  <a:srgbClr val="FFFF00"/>
                </a:highlight>
                <a:latin typeface="Consolas"/>
                <a:ea typeface="Segoe UI Emoji" panose="020B0502040204020203" pitchFamily="34" charset="0"/>
              </a:rPr>
              <a:t>// Error: incompatible types:</a:t>
            </a:r>
          </a:p>
          <a:p>
            <a:pPr lvl="0" defTabSz="342886">
              <a:spcBef>
                <a:spcPct val="20000"/>
              </a:spcBef>
              <a:buClr>
                <a:srgbClr val="FFFFFF">
                  <a:lumMod val="65000"/>
                </a:srgbClr>
              </a:buClr>
            </a:pPr>
            <a:r>
              <a:rPr lang="en-US">
                <a:solidFill>
                  <a:srgbClr val="000000"/>
                </a:solidFill>
                <a:latin typeface="Consolas"/>
                <a:ea typeface="Segoe UI Emoji" panose="020B0502040204020203" pitchFamily="34" charset="0"/>
              </a:rPr>
              <a:t>             </a:t>
            </a:r>
            <a:r>
              <a:rPr lang="en-US">
                <a:solidFill>
                  <a:srgbClr val="000000"/>
                </a:solidFill>
                <a:highlight>
                  <a:srgbClr val="FFFF00"/>
                </a:highlight>
                <a:latin typeface="Consolas"/>
                <a:ea typeface="Segoe UI Emoji" panose="020B0502040204020203" pitchFamily="34" charset="0"/>
              </a:rPr>
              <a:t>// boolean cannot be converted to int</a:t>
            </a:r>
          </a:p>
        </p:txBody>
      </p:sp>
    </p:spTree>
    <p:extLst>
      <p:ext uri="{BB962C8B-B14F-4D97-AF65-F5344CB8AC3E}">
        <p14:creationId xmlns:p14="http://schemas.microsoft.com/office/powerpoint/2010/main" val="2011029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8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724D9-B0F6-FECE-C71F-A1975E2807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C78CCD-7FC5-F62F-1303-9AA9F22E093A}"/>
              </a:ext>
            </a:extLst>
          </p:cNvPr>
          <p:cNvSpPr>
            <a:spLocks noGrp="1"/>
          </p:cNvSpPr>
          <p:nvPr>
            <p:ph type="title"/>
          </p:nvPr>
        </p:nvSpPr>
        <p:spPr/>
        <p:txBody>
          <a:bodyPr>
            <a:normAutofit fontScale="90000"/>
          </a:bodyPr>
          <a:lstStyle/>
          <a:p>
            <a:r>
              <a:rPr lang="en-US" sz="3200" b="1">
                <a:effectLst/>
              </a:rPr>
              <a:t>declaring</a:t>
            </a:r>
            <a:r>
              <a:rPr lang="en-US" sz="3200">
                <a:effectLst/>
              </a:rPr>
              <a:t> and </a:t>
            </a:r>
            <a:r>
              <a:rPr lang="en-US" sz="3200" b="1">
                <a:effectLst/>
              </a:rPr>
              <a:t>initializing</a:t>
            </a:r>
            <a:r>
              <a:rPr lang="en-US" sz="3200">
                <a:effectLst/>
              </a:rPr>
              <a:t> are separate things</a:t>
            </a:r>
            <a:br>
              <a:rPr lang="en-US" sz="3200">
                <a:effectLst/>
              </a:rPr>
            </a:br>
            <a:r>
              <a:rPr lang="en-US" sz="3200">
                <a:effectLst/>
              </a:rPr>
              <a:t>(that can, optionally, be combined on one line)</a:t>
            </a:r>
            <a:endParaRPr lang="en-US"/>
          </a:p>
        </p:txBody>
      </p:sp>
      <p:sp>
        <p:nvSpPr>
          <p:cNvPr id="3" name="Content Placeholder 2">
            <a:extLst>
              <a:ext uri="{FF2B5EF4-FFF2-40B4-BE49-F238E27FC236}">
                <a16:creationId xmlns:a16="http://schemas.microsoft.com/office/drawing/2014/main" id="{E495827F-8327-0163-2B83-831FCEB5A247}"/>
              </a:ext>
            </a:extLst>
          </p:cNvPr>
          <p:cNvSpPr>
            <a:spLocks noGrp="1"/>
          </p:cNvSpPr>
          <p:nvPr>
            <p:ph sz="quarter" idx="10"/>
          </p:nvPr>
        </p:nvSpPr>
        <p:spPr/>
        <p:txBody>
          <a:bodyPr/>
          <a:lstStyle/>
          <a:p>
            <a:endParaRPr lang="en-US">
              <a:solidFill>
                <a:srgbClr val="000080"/>
              </a:solidFill>
              <a:effectLst/>
              <a:latin typeface="+mj-lt"/>
            </a:endParaRPr>
          </a:p>
          <a:p>
            <a:r>
              <a:rPr lang="en-US">
                <a:solidFill>
                  <a:srgbClr val="007B00"/>
                </a:solidFill>
                <a:effectLst/>
                <a:latin typeface="+mj-lt"/>
              </a:rPr>
              <a:t>// Option A: one line</a:t>
            </a:r>
            <a:br>
              <a:rPr lang="en-US">
                <a:latin typeface="+mj-lt"/>
              </a:rPr>
            </a:br>
            <a:r>
              <a:rPr lang="en-US">
                <a:solidFill>
                  <a:srgbClr val="000080"/>
                </a:solidFill>
                <a:effectLst/>
                <a:latin typeface="+mj-lt"/>
              </a:rPr>
              <a:t>int</a:t>
            </a:r>
            <a:r>
              <a:rPr lang="en-US">
                <a:latin typeface="+mj-lt"/>
              </a:rPr>
              <a:t> foo = </a:t>
            </a:r>
            <a:r>
              <a:rPr lang="en-US">
                <a:solidFill>
                  <a:srgbClr val="02B5B5"/>
                </a:solidFill>
                <a:latin typeface="+mj-lt"/>
              </a:rPr>
              <a:t>7</a:t>
            </a:r>
            <a:r>
              <a:rPr lang="en-US">
                <a:latin typeface="+mj-lt"/>
              </a:rPr>
              <a:t>; </a:t>
            </a:r>
            <a:r>
              <a:rPr lang="en-US">
                <a:solidFill>
                  <a:srgbClr val="007B00"/>
                </a:solidFill>
                <a:effectLst/>
                <a:latin typeface="+mj-lt"/>
              </a:rPr>
              <a:t>// </a:t>
            </a:r>
            <a:r>
              <a:rPr lang="en-US" b="1">
                <a:solidFill>
                  <a:srgbClr val="007B00"/>
                </a:solidFill>
                <a:effectLst/>
                <a:latin typeface="+mj-lt"/>
              </a:rPr>
              <a:t>declare</a:t>
            </a:r>
            <a:r>
              <a:rPr lang="en-US">
                <a:solidFill>
                  <a:srgbClr val="007B00"/>
                </a:solidFill>
                <a:effectLst/>
                <a:latin typeface="+mj-lt"/>
              </a:rPr>
              <a:t> int foo and </a:t>
            </a:r>
            <a:r>
              <a:rPr lang="en-US" b="1">
                <a:solidFill>
                  <a:srgbClr val="007B00"/>
                </a:solidFill>
                <a:effectLst/>
                <a:latin typeface="+mj-lt"/>
              </a:rPr>
              <a:t>initialize</a:t>
            </a:r>
            <a:r>
              <a:rPr lang="en-US">
                <a:solidFill>
                  <a:srgbClr val="007B00"/>
                </a:solidFill>
                <a:effectLst/>
                <a:latin typeface="+mj-lt"/>
              </a:rPr>
              <a:t> foo to 7</a:t>
            </a:r>
            <a:endParaRPr lang="en-US">
              <a:latin typeface="+mj-lt"/>
            </a:endParaRPr>
          </a:p>
          <a:p>
            <a:pPr marL="0" indent="0">
              <a:buNone/>
            </a:pPr>
            <a:endParaRPr lang="en-US">
              <a:solidFill>
                <a:srgbClr val="007B00"/>
              </a:solidFill>
              <a:latin typeface="+mj-lt"/>
            </a:endParaRPr>
          </a:p>
          <a:p>
            <a:r>
              <a:rPr lang="en-US">
                <a:solidFill>
                  <a:srgbClr val="007B00"/>
                </a:solidFill>
                <a:effectLst/>
                <a:latin typeface="+mj-lt"/>
              </a:rPr>
              <a:t>// Option B: two lines</a:t>
            </a:r>
            <a:br>
              <a:rPr lang="en-US">
                <a:solidFill>
                  <a:srgbClr val="007B00"/>
                </a:solidFill>
                <a:effectLst/>
                <a:latin typeface="+mj-lt"/>
              </a:rPr>
            </a:br>
            <a:r>
              <a:rPr lang="en-US">
                <a:solidFill>
                  <a:srgbClr val="000080"/>
                </a:solidFill>
                <a:effectLst/>
                <a:latin typeface="+mj-lt"/>
              </a:rPr>
              <a:t>int</a:t>
            </a:r>
            <a:r>
              <a:rPr lang="en-US">
                <a:latin typeface="+mj-lt"/>
              </a:rPr>
              <a:t> foo; </a:t>
            </a:r>
            <a:r>
              <a:rPr lang="en-US">
                <a:solidFill>
                  <a:srgbClr val="007B00"/>
                </a:solidFill>
                <a:effectLst/>
                <a:latin typeface="+mj-lt"/>
              </a:rPr>
              <a:t>// </a:t>
            </a:r>
            <a:r>
              <a:rPr lang="en-US" b="1">
                <a:solidFill>
                  <a:srgbClr val="007B00"/>
                </a:solidFill>
                <a:effectLst/>
                <a:latin typeface="+mj-lt"/>
              </a:rPr>
              <a:t>declare</a:t>
            </a:r>
            <a:r>
              <a:rPr lang="en-US">
                <a:solidFill>
                  <a:srgbClr val="007B00"/>
                </a:solidFill>
                <a:effectLst/>
                <a:latin typeface="+mj-lt"/>
              </a:rPr>
              <a:t> a variable foo of type int</a:t>
            </a:r>
            <a:br>
              <a:rPr lang="en-US">
                <a:latin typeface="+mj-lt"/>
              </a:rPr>
            </a:br>
            <a:r>
              <a:rPr lang="en-US">
                <a:latin typeface="+mj-lt"/>
              </a:rPr>
              <a:t>foo = </a:t>
            </a:r>
            <a:r>
              <a:rPr lang="en-US">
                <a:solidFill>
                  <a:srgbClr val="02B5B5"/>
                </a:solidFill>
                <a:latin typeface="+mj-lt"/>
              </a:rPr>
              <a:t>7</a:t>
            </a:r>
            <a:r>
              <a:rPr lang="en-US">
                <a:latin typeface="+mj-lt"/>
              </a:rPr>
              <a:t>; </a:t>
            </a:r>
            <a:r>
              <a:rPr lang="en-US">
                <a:solidFill>
                  <a:srgbClr val="007B00"/>
                </a:solidFill>
                <a:effectLst/>
                <a:latin typeface="+mj-lt"/>
              </a:rPr>
              <a:t>// </a:t>
            </a:r>
            <a:r>
              <a:rPr lang="en-US" b="1">
                <a:solidFill>
                  <a:srgbClr val="007B00"/>
                </a:solidFill>
                <a:effectLst/>
                <a:latin typeface="+mj-lt"/>
              </a:rPr>
              <a:t>initialize</a:t>
            </a:r>
            <a:r>
              <a:rPr lang="en-US">
                <a:solidFill>
                  <a:srgbClr val="007B00"/>
                </a:solidFill>
                <a:effectLst/>
                <a:latin typeface="+mj-lt"/>
              </a:rPr>
              <a:t> foo to 7</a:t>
            </a:r>
            <a:endParaRPr lang="en-US">
              <a:solidFill>
                <a:srgbClr val="000080"/>
              </a:solidFill>
              <a:effectLst/>
              <a:latin typeface="+mj-lt"/>
            </a:endParaRPr>
          </a:p>
          <a:p>
            <a:endParaRPr lang="en-US">
              <a:latin typeface="+mj-lt"/>
            </a:endParaRPr>
          </a:p>
          <a:p>
            <a:endParaRPr lang="en-US">
              <a:latin typeface="+mj-lt"/>
            </a:endParaRPr>
          </a:p>
        </p:txBody>
      </p:sp>
    </p:spTree>
    <p:extLst>
      <p:ext uri="{BB962C8B-B14F-4D97-AF65-F5344CB8AC3E}">
        <p14:creationId xmlns:p14="http://schemas.microsoft.com/office/powerpoint/2010/main" val="724571615"/>
      </p:ext>
    </p:extLst>
  </p:cSld>
  <p:clrMapOvr>
    <a:masterClrMapping/>
  </p:clrMapOvr>
</p:sld>
</file>

<file path=ppt/slides/slide8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47F09-3BA2-12B1-3FB2-56B5E8F4ED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06BE00-76E4-1C2F-D7B8-19370CB2FCD2}"/>
              </a:ext>
            </a:extLst>
          </p:cNvPr>
          <p:cNvSpPr>
            <a:spLocks noGrp="1"/>
          </p:cNvSpPr>
          <p:nvPr>
            <p:ph type="title"/>
          </p:nvPr>
        </p:nvSpPr>
        <p:spPr/>
        <p:txBody>
          <a:bodyPr/>
          <a:lstStyle/>
          <a:p>
            <a:r>
              <a:rPr lang="en-US"/>
              <a:t>primitive types</a:t>
            </a:r>
          </a:p>
        </p:txBody>
      </p:sp>
    </p:spTree>
    <p:extLst>
      <p:ext uri="{BB962C8B-B14F-4D97-AF65-F5344CB8AC3E}">
        <p14:creationId xmlns:p14="http://schemas.microsoft.com/office/powerpoint/2010/main" val="30313247"/>
      </p:ext>
    </p:extLst>
  </p:cSld>
  <p:clrMapOvr>
    <a:masterClrMapping/>
  </p:clrMapOvr>
</p:sld>
</file>

<file path=ppt/slides/slide8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AECA8-714B-8DE2-C21F-3DFB459869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4052A2-D0D1-4FA4-AAA4-69EC3C19E14D}"/>
              </a:ext>
            </a:extLst>
          </p:cNvPr>
          <p:cNvSpPr>
            <a:spLocks noGrp="1"/>
          </p:cNvSpPr>
          <p:nvPr>
            <p:ph type="title"/>
          </p:nvPr>
        </p:nvSpPr>
        <p:spPr>
          <a:xfrm>
            <a:off x="457200" y="254916"/>
            <a:ext cx="8229600" cy="667168"/>
          </a:xfrm>
        </p:spPr>
        <p:txBody>
          <a:bodyPr/>
          <a:lstStyle/>
          <a:p>
            <a:r>
              <a:rPr lang="en-US" err="1"/>
              <a:t>primitive types</a:t>
            </a:r>
            <a:endParaRPr lang="en-US"/>
          </a:p>
        </p:txBody>
      </p:sp>
      <p:sp>
        <p:nvSpPr>
          <p:cNvPr id="3" name="Content Placeholder 2">
            <a:extLst>
              <a:ext uri="{FF2B5EF4-FFF2-40B4-BE49-F238E27FC236}">
                <a16:creationId xmlns:a16="http://schemas.microsoft.com/office/drawing/2014/main" id="{8A106B10-1076-C22D-47BD-F1AA38EBE1B9}"/>
              </a:ext>
            </a:extLst>
          </p:cNvPr>
          <p:cNvSpPr>
            <a:spLocks noGrp="1"/>
          </p:cNvSpPr>
          <p:nvPr>
            <p:ph sz="quarter" idx="10"/>
          </p:nvPr>
        </p:nvSpPr>
        <p:spPr>
          <a:xfrm>
            <a:off x="457200" y="963337"/>
            <a:ext cx="8229600" cy="4080271"/>
          </a:xfrm>
        </p:spPr>
        <p:txBody>
          <a:bodyPr/>
          <a:lstStyle/>
          <a:p>
            <a:r>
              <a:rPr lang="en-US"/>
              <a:t>in this class, "a variable being a </a:t>
            </a:r>
            <a:r>
              <a:rPr lang="en-US" b="1"/>
              <a:t>primitive</a:t>
            </a:r>
            <a:r>
              <a:rPr lang="en-US"/>
              <a:t>"</a:t>
            </a:r>
            <a:r>
              <a:rPr lang="en-US" b="1"/>
              <a:t> </a:t>
            </a:r>
            <a:r>
              <a:rPr lang="en-US"/>
              <a:t>means that the variable is a </a:t>
            </a:r>
            <a:r>
              <a:rPr lang="en-US" sz="1800" err="1">
                <a:solidFill>
                  <a:srgbClr val="000080"/>
                </a:solidFill>
                <a:effectLst/>
                <a:latin typeface="Consolas" panose="020B0609020204030204" pitchFamily="49" charset="0"/>
              </a:rPr>
              <a:t>boolean</a:t>
            </a:r>
            <a:r>
              <a:rPr lang="en-US"/>
              <a:t>, </a:t>
            </a:r>
            <a:r>
              <a:rPr lang="en-US" sz="1800">
                <a:solidFill>
                  <a:srgbClr val="000080"/>
                </a:solidFill>
                <a:effectLst/>
                <a:latin typeface="Consolas" panose="020B0609020204030204" pitchFamily="49" charset="0"/>
              </a:rPr>
              <a:t>char</a:t>
            </a:r>
            <a:r>
              <a:rPr lang="en-US"/>
              <a:t>, </a:t>
            </a:r>
            <a:r>
              <a:rPr lang="en-US" sz="1800">
                <a:solidFill>
                  <a:srgbClr val="000080"/>
                </a:solidFill>
                <a:effectLst/>
                <a:latin typeface="Consolas" panose="020B0609020204030204" pitchFamily="49" charset="0"/>
              </a:rPr>
              <a:t>double</a:t>
            </a:r>
            <a:r>
              <a:rPr lang="en-US"/>
              <a:t>, or </a:t>
            </a:r>
            <a:r>
              <a:rPr lang="en-US" sz="1800">
                <a:solidFill>
                  <a:srgbClr val="000080"/>
                </a:solidFill>
                <a:effectLst/>
                <a:latin typeface="Consolas" panose="020B0609020204030204" pitchFamily="49" charset="0"/>
              </a:rPr>
              <a:t>int</a:t>
            </a:r>
            <a:endParaRPr lang="en-US"/>
          </a:p>
          <a:p>
            <a:endParaRPr lang="en-US"/>
          </a:p>
          <a:p>
            <a:r>
              <a:rPr lang="en-US"/>
              <a:t>primitive types are simple</a:t>
            </a:r>
          </a:p>
          <a:p>
            <a:r>
              <a:rPr lang="en-US"/>
              <a:t>primitive types are small</a:t>
            </a:r>
          </a:p>
          <a:p>
            <a:r>
              <a:rPr lang="en-US"/>
              <a:t>primitive types are NOT Objects</a:t>
            </a:r>
          </a:p>
          <a:p>
            <a:pPr lvl="1"/>
            <a:r>
              <a:rPr lang="en-US"/>
              <a:t>we will talk about Objects later</a:t>
            </a:r>
          </a:p>
          <a:p>
            <a:pPr lvl="1"/>
            <a:r>
              <a:rPr lang="en-US" b="1"/>
              <a:t>examples of Objects:</a:t>
            </a:r>
            <a:r>
              <a:rPr lang="en-US"/>
              <a:t> </a:t>
            </a:r>
            <a:r>
              <a:rPr lang="en-US" sz="1800" err="1">
                <a:solidFill>
                  <a:srgbClr val="000080"/>
                </a:solidFill>
                <a:effectLst/>
                <a:latin typeface="Consolas" panose="020B0609020204030204" pitchFamily="49" charset="0"/>
              </a:rPr>
              <a:t>String</a:t>
            </a:r>
            <a:r>
              <a:rPr lang="en-US"/>
              <a:t>, </a:t>
            </a:r>
            <a:r>
              <a:rPr lang="en-US" sz="1800" err="1">
                <a:solidFill>
                  <a:srgbClr val="000080"/>
                </a:solidFill>
                <a:effectLst/>
                <a:latin typeface="Consolas" panose="020B0609020204030204" pitchFamily="49" charset="0"/>
              </a:rPr>
              <a:t>MyVeryCoolClass</a:t>
            </a:r>
            <a:r>
              <a:rPr lang="en-US"/>
              <a:t>, </a:t>
            </a:r>
            <a:r>
              <a:rPr lang="en-US" sz="1800">
                <a:solidFill>
                  <a:srgbClr val="000080"/>
                </a:solidFill>
                <a:effectLst/>
                <a:latin typeface="Consolas" panose="020B0609020204030204" pitchFamily="49" charset="0"/>
              </a:rPr>
              <a:t>int[]</a:t>
            </a:r>
            <a:r>
              <a:rPr lang="en-US"/>
              <a:t> (array of ints)</a:t>
            </a:r>
          </a:p>
          <a:p>
            <a:endParaRPr lang="en-US"/>
          </a:p>
        </p:txBody>
      </p:sp>
    </p:spTree>
    <p:extLst>
      <p:ext uri="{BB962C8B-B14F-4D97-AF65-F5344CB8AC3E}">
        <p14:creationId xmlns:p14="http://schemas.microsoft.com/office/powerpoint/2010/main" val="2354833434"/>
      </p:ext>
    </p:extLst>
  </p:cSld>
  <p:clrMapOvr>
    <a:masterClrMapping/>
  </p:clrMapOvr>
</p:sld>
</file>

<file path=ppt/slides/slide8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08F69-B96B-A6CB-57D4-AC620DFDBC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4463F7-C96A-3EF1-3AEA-0001E6763A35}"/>
              </a:ext>
            </a:extLst>
          </p:cNvPr>
          <p:cNvSpPr>
            <a:spLocks noGrp="1"/>
          </p:cNvSpPr>
          <p:nvPr>
            <p:ph type="title"/>
          </p:nvPr>
        </p:nvSpPr>
        <p:spPr/>
        <p:txBody>
          <a:bodyPr/>
          <a:lstStyle/>
          <a:p>
            <a:r>
              <a:rPr lang="en-US" sz="3200" err="1">
                <a:solidFill>
                  <a:srgbClr val="000080"/>
                </a:solidFill>
                <a:effectLst/>
                <a:latin typeface="Consolas" panose="020B0609020204030204" pitchFamily="49" charset="0"/>
              </a:rPr>
              <a:t>boolean</a:t>
            </a:r>
            <a:r>
              <a:rPr lang="en-US"/>
              <a:t>, </a:t>
            </a:r>
            <a:r>
              <a:rPr lang="en-US" sz="3200">
                <a:solidFill>
                  <a:srgbClr val="000080"/>
                </a:solidFill>
                <a:effectLst/>
                <a:latin typeface="Consolas" panose="020B0609020204030204" pitchFamily="49" charset="0"/>
              </a:rPr>
              <a:t>char</a:t>
            </a:r>
            <a:r>
              <a:rPr lang="en-US"/>
              <a:t>, </a:t>
            </a:r>
            <a:r>
              <a:rPr lang="en-US" sz="3200">
                <a:solidFill>
                  <a:srgbClr val="000080"/>
                </a:solidFill>
                <a:effectLst/>
                <a:latin typeface="Consolas" panose="020B0609020204030204" pitchFamily="49" charset="0"/>
              </a:rPr>
              <a:t>double</a:t>
            </a:r>
            <a:r>
              <a:rPr lang="en-US"/>
              <a:t>, </a:t>
            </a:r>
            <a:r>
              <a:rPr lang="en-US" sz="3200">
                <a:solidFill>
                  <a:srgbClr val="000080"/>
                </a:solidFill>
                <a:effectLst/>
                <a:latin typeface="Consolas" panose="020B0609020204030204" pitchFamily="49" charset="0"/>
              </a:rPr>
              <a:t>int</a:t>
            </a:r>
            <a:endParaRPr lang="en-US">
              <a:solidFill>
                <a:srgbClr val="000080"/>
              </a:solidFill>
              <a:latin typeface="+mj-lt"/>
            </a:endParaRPr>
          </a:p>
        </p:txBody>
      </p:sp>
      <p:sp>
        <p:nvSpPr>
          <p:cNvPr id="3" name="Content Placeholder 2">
            <a:extLst>
              <a:ext uri="{FF2B5EF4-FFF2-40B4-BE49-F238E27FC236}">
                <a16:creationId xmlns:a16="http://schemas.microsoft.com/office/drawing/2014/main" id="{87AA41E4-CB22-3F37-B194-33EC39627F93}"/>
              </a:ext>
            </a:extLst>
          </p:cNvPr>
          <p:cNvSpPr>
            <a:spLocks noGrp="1"/>
          </p:cNvSpPr>
          <p:nvPr>
            <p:ph sz="quarter" idx="10"/>
          </p:nvPr>
        </p:nvSpPr>
        <p:spPr/>
        <p:txBody>
          <a:bodyPr/>
          <a:lstStyle/>
          <a:p>
            <a:r>
              <a:rPr lang="en-US"/>
              <a:t>a </a:t>
            </a:r>
            <a:r>
              <a:rPr lang="en-US" sz="1800" b="1" err="1">
                <a:solidFill>
                  <a:srgbClr val="000080"/>
                </a:solidFill>
                <a:effectLst/>
                <a:latin typeface="Consolas" panose="020B0609020204030204" pitchFamily="49" charset="0"/>
              </a:rPr>
              <a:t>boolean</a:t>
            </a:r>
            <a:r>
              <a:rPr lang="en-US"/>
              <a:t> stores a truth value</a:t>
            </a:r>
          </a:p>
          <a:p>
            <a:pPr lvl="1"/>
            <a:r>
              <a:rPr lang="en-US">
                <a:solidFill>
                  <a:srgbClr val="0000FF"/>
                </a:solidFill>
                <a:latin typeface="+mj-lt"/>
              </a:rPr>
              <a:t>true</a:t>
            </a:r>
            <a:r>
              <a:rPr lang="en-US">
                <a:latin typeface="+mj-lt"/>
              </a:rPr>
              <a:t>, </a:t>
            </a:r>
            <a:r>
              <a:rPr lang="en-US">
                <a:solidFill>
                  <a:srgbClr val="0000FF"/>
                </a:solidFill>
                <a:latin typeface="+mj-lt"/>
              </a:rPr>
              <a:t>false</a:t>
            </a:r>
          </a:p>
          <a:p>
            <a:r>
              <a:rPr lang="en-US"/>
              <a:t>a </a:t>
            </a:r>
            <a:r>
              <a:rPr lang="en-US" b="1">
                <a:solidFill>
                  <a:srgbClr val="000080"/>
                </a:solidFill>
                <a:latin typeface="Consolas" panose="020B0609020204030204" pitchFamily="49" charset="0"/>
              </a:rPr>
              <a:t>char</a:t>
            </a:r>
            <a:r>
              <a:rPr lang="en-US"/>
              <a:t> stores a character</a:t>
            </a:r>
          </a:p>
          <a:p>
            <a:pPr lvl="1">
              <a:buClr>
                <a:srgbClr val="FFFFFF">
                  <a:lumMod val="65000"/>
                </a:srgbClr>
              </a:buClr>
            </a:pPr>
            <a:r>
              <a:rPr lang="en-US">
                <a:solidFill>
                  <a:srgbClr val="FF00FF"/>
                </a:solidFill>
                <a:latin typeface="+mj-lt"/>
              </a:rPr>
              <a:t>'\0'</a:t>
            </a:r>
            <a:r>
              <a:rPr lang="en-US">
                <a:solidFill>
                  <a:srgbClr val="000000"/>
                </a:solidFill>
                <a:latin typeface="+mj-lt"/>
              </a:rPr>
              <a:t>,</a:t>
            </a:r>
            <a:r>
              <a:rPr lang="en-US">
                <a:solidFill>
                  <a:srgbClr val="AB9B0D"/>
                </a:solidFill>
                <a:latin typeface="+mj-lt"/>
              </a:rPr>
              <a:t> </a:t>
            </a:r>
            <a:r>
              <a:rPr lang="en-US">
                <a:solidFill>
                  <a:srgbClr val="FF00FF"/>
                </a:solidFill>
                <a:latin typeface="+mj-lt"/>
              </a:rPr>
              <a:t>'a'</a:t>
            </a:r>
            <a:r>
              <a:rPr lang="en-US">
                <a:solidFill>
                  <a:srgbClr val="000000"/>
                </a:solidFill>
                <a:latin typeface="+mj-lt"/>
              </a:rPr>
              <a:t>, </a:t>
            </a:r>
            <a:r>
              <a:rPr lang="en-US">
                <a:solidFill>
                  <a:srgbClr val="FF00FF"/>
                </a:solidFill>
                <a:latin typeface="+mj-lt"/>
              </a:rPr>
              <a:t>'Z'</a:t>
            </a:r>
            <a:r>
              <a:rPr lang="en-US">
                <a:solidFill>
                  <a:srgbClr val="000000"/>
                </a:solidFill>
                <a:latin typeface="+mj-lt"/>
              </a:rPr>
              <a:t>, </a:t>
            </a:r>
            <a:r>
              <a:rPr lang="en-US">
                <a:solidFill>
                  <a:srgbClr val="FF00FF"/>
                </a:solidFill>
                <a:latin typeface="+mj-lt"/>
              </a:rPr>
              <a:t>'!', '\n'</a:t>
            </a:r>
          </a:p>
          <a:p>
            <a:r>
              <a:rPr lang="en-US"/>
              <a:t>a </a:t>
            </a:r>
            <a:r>
              <a:rPr lang="en-US" b="1">
                <a:solidFill>
                  <a:srgbClr val="000080"/>
                </a:solidFill>
                <a:latin typeface="Consolas" panose="020B0609020204030204" pitchFamily="49" charset="0"/>
              </a:rPr>
              <a:t>double</a:t>
            </a:r>
            <a:r>
              <a:rPr lang="en-US"/>
              <a:t> stores a real number</a:t>
            </a:r>
          </a:p>
          <a:p>
            <a:pPr lvl="1"/>
            <a:r>
              <a:rPr lang="en-US">
                <a:solidFill>
                  <a:srgbClr val="02B5B5"/>
                </a:solidFill>
                <a:latin typeface="+mj-lt"/>
              </a:rPr>
              <a:t>0</a:t>
            </a:r>
            <a:r>
              <a:rPr lang="en-US">
                <a:latin typeface="+mj-lt"/>
              </a:rPr>
              <a:t>.</a:t>
            </a:r>
            <a:r>
              <a:rPr lang="en-US">
                <a:solidFill>
                  <a:srgbClr val="02B5B5"/>
                </a:solidFill>
                <a:latin typeface="+mj-lt"/>
              </a:rPr>
              <a:t>0</a:t>
            </a:r>
            <a:r>
              <a:rPr lang="en-US">
                <a:latin typeface="+mj-lt"/>
              </a:rPr>
              <a:t>, -</a:t>
            </a:r>
            <a:r>
              <a:rPr lang="en-US">
                <a:solidFill>
                  <a:srgbClr val="02B5B5"/>
                </a:solidFill>
                <a:latin typeface="+mj-lt"/>
              </a:rPr>
              <a:t>0</a:t>
            </a:r>
            <a:r>
              <a:rPr lang="en-US">
                <a:latin typeface="+mj-lt"/>
              </a:rPr>
              <a:t>.</a:t>
            </a:r>
            <a:r>
              <a:rPr lang="en-US">
                <a:solidFill>
                  <a:srgbClr val="02B5B5"/>
                </a:solidFill>
                <a:latin typeface="+mj-lt"/>
              </a:rPr>
              <a:t>5</a:t>
            </a:r>
            <a:r>
              <a:rPr lang="en-US">
                <a:latin typeface="+mj-lt"/>
              </a:rPr>
              <a:t>, </a:t>
            </a:r>
            <a:r>
              <a:rPr lang="en-US">
                <a:solidFill>
                  <a:srgbClr val="02B5B5"/>
                </a:solidFill>
                <a:latin typeface="+mj-lt"/>
              </a:rPr>
              <a:t>3</a:t>
            </a:r>
            <a:r>
              <a:rPr lang="en-US">
                <a:latin typeface="+mj-lt"/>
              </a:rPr>
              <a:t>.</a:t>
            </a:r>
            <a:r>
              <a:rPr lang="en-US">
                <a:solidFill>
                  <a:srgbClr val="02B5B5"/>
                </a:solidFill>
                <a:latin typeface="+mj-lt"/>
              </a:rPr>
              <a:t>1415926</a:t>
            </a:r>
            <a:r>
              <a:rPr lang="en-US">
                <a:latin typeface="+mj-lt"/>
              </a:rPr>
              <a:t>, </a:t>
            </a:r>
            <a:r>
              <a:rPr lang="en-US" err="1">
                <a:solidFill>
                  <a:srgbClr val="000080"/>
                </a:solidFill>
                <a:latin typeface="+mj-lt"/>
              </a:rPr>
              <a:t>Double</a:t>
            </a:r>
            <a:r>
              <a:rPr lang="en-US" err="1">
                <a:latin typeface="+mj-lt"/>
              </a:rPr>
              <a:t>.</a:t>
            </a:r>
            <a:r>
              <a:rPr lang="en-US" err="1">
                <a:solidFill>
                  <a:srgbClr val="000080"/>
                </a:solidFill>
                <a:latin typeface="+mj-lt"/>
              </a:rPr>
              <a:t>NEGATIVE_INFINITY</a:t>
            </a:r>
            <a:endParaRPr lang="en-US">
              <a:solidFill>
                <a:srgbClr val="000080"/>
              </a:solidFill>
              <a:latin typeface="+mj-lt"/>
            </a:endParaRPr>
          </a:p>
          <a:p>
            <a:r>
              <a:rPr lang="en-US"/>
              <a:t>an </a:t>
            </a:r>
            <a:r>
              <a:rPr lang="en-US" b="1">
                <a:solidFill>
                  <a:srgbClr val="000080"/>
                </a:solidFill>
                <a:latin typeface="Consolas" panose="020B0609020204030204" pitchFamily="49" charset="0"/>
              </a:rPr>
              <a:t>int</a:t>
            </a:r>
            <a:r>
              <a:rPr lang="en-US"/>
              <a:t> stores an integer</a:t>
            </a:r>
          </a:p>
          <a:p>
            <a:pPr lvl="1"/>
            <a:r>
              <a:rPr lang="en-US">
                <a:solidFill>
                  <a:srgbClr val="02B5B5"/>
                </a:solidFill>
                <a:latin typeface="+mj-lt"/>
              </a:rPr>
              <a:t>0</a:t>
            </a:r>
            <a:r>
              <a:rPr lang="en-US">
                <a:latin typeface="+mj-lt"/>
              </a:rPr>
              <a:t>, -</a:t>
            </a:r>
            <a:r>
              <a:rPr lang="en-US">
                <a:solidFill>
                  <a:srgbClr val="02B5B5"/>
                </a:solidFill>
                <a:latin typeface="+mj-lt"/>
              </a:rPr>
              <a:t>1</a:t>
            </a:r>
            <a:r>
              <a:rPr lang="en-US">
                <a:latin typeface="+mj-lt"/>
              </a:rPr>
              <a:t>, </a:t>
            </a:r>
            <a:r>
              <a:rPr lang="en-US">
                <a:solidFill>
                  <a:srgbClr val="02B5B5"/>
                </a:solidFill>
                <a:latin typeface="+mj-lt"/>
              </a:rPr>
              <a:t>4</a:t>
            </a:r>
          </a:p>
        </p:txBody>
      </p:sp>
    </p:spTree>
    <p:extLst>
      <p:ext uri="{BB962C8B-B14F-4D97-AF65-F5344CB8AC3E}">
        <p14:creationId xmlns:p14="http://schemas.microsoft.com/office/powerpoint/2010/main" val="1111115318"/>
      </p:ext>
    </p:extLst>
  </p:cSld>
  <p:clrMapOvr>
    <a:masterClrMapping/>
  </p:clrMapOvr>
</p:sld>
</file>

<file path=ppt/slides/slide8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F53BE-4FA7-B67C-AAD6-2C862BE1E7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94B982-0C07-920E-4DAB-BA0AEA1FB3C1}"/>
              </a:ext>
            </a:extLst>
          </p:cNvPr>
          <p:cNvSpPr>
            <a:spLocks noGrp="1"/>
          </p:cNvSpPr>
          <p:nvPr>
            <p:ph type="title"/>
          </p:nvPr>
        </p:nvSpPr>
        <p:spPr/>
        <p:txBody>
          <a:bodyPr/>
          <a:lstStyle/>
          <a:p>
            <a:r>
              <a:rPr lang="en-US"/>
              <a:t>primitive type Venn diagram</a:t>
            </a:r>
          </a:p>
        </p:txBody>
      </p:sp>
      <p:sp>
        <p:nvSpPr>
          <p:cNvPr id="6" name="Oval 5">
            <a:extLst>
              <a:ext uri="{FF2B5EF4-FFF2-40B4-BE49-F238E27FC236}">
                <a16:creationId xmlns:a16="http://schemas.microsoft.com/office/drawing/2014/main" id="{B3E2F192-71DA-BC53-B804-360091D5B032}"/>
              </a:ext>
            </a:extLst>
          </p:cNvPr>
          <p:cNvSpPr/>
          <p:nvPr/>
        </p:nvSpPr>
        <p:spPr>
          <a:xfrm>
            <a:off x="2697480" y="1047157"/>
            <a:ext cx="3749040" cy="3749040"/>
          </a:xfrm>
          <a:prstGeom prst="ellipse">
            <a:avLst/>
          </a:prstGeom>
          <a:noFill/>
          <a:ln w="762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4000"/>
          </a:p>
        </p:txBody>
      </p:sp>
      <p:sp>
        <p:nvSpPr>
          <p:cNvPr id="7" name="Oval 6">
            <a:extLst>
              <a:ext uri="{FF2B5EF4-FFF2-40B4-BE49-F238E27FC236}">
                <a16:creationId xmlns:a16="http://schemas.microsoft.com/office/drawing/2014/main" id="{A389A823-7732-7FB0-4628-5039ED7E6AAD}"/>
              </a:ext>
            </a:extLst>
          </p:cNvPr>
          <p:cNvSpPr/>
          <p:nvPr/>
        </p:nvSpPr>
        <p:spPr>
          <a:xfrm>
            <a:off x="4171950" y="1906512"/>
            <a:ext cx="2072640" cy="2072640"/>
          </a:xfrm>
          <a:prstGeom prst="ellipse">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sz="4000"/>
          </a:p>
        </p:txBody>
      </p:sp>
      <p:sp>
        <p:nvSpPr>
          <p:cNvPr id="8" name="TextBox 7">
            <a:extLst>
              <a:ext uri="{FF2B5EF4-FFF2-40B4-BE49-F238E27FC236}">
                <a16:creationId xmlns:a16="http://schemas.microsoft.com/office/drawing/2014/main" id="{1DACA7FE-115B-02E2-DFE3-386810839101}"/>
              </a:ext>
            </a:extLst>
          </p:cNvPr>
          <p:cNvSpPr txBox="1"/>
          <p:nvPr/>
        </p:nvSpPr>
        <p:spPr>
          <a:xfrm>
            <a:off x="1234440" y="1754734"/>
            <a:ext cx="1741170" cy="523220"/>
          </a:xfrm>
          <a:prstGeom prst="rect">
            <a:avLst/>
          </a:prstGeom>
          <a:noFill/>
        </p:spPr>
        <p:txBody>
          <a:bodyPr wrap="square" rtlCol="0">
            <a:spAutoFit/>
          </a:bodyPr>
          <a:lstStyle/>
          <a:p>
            <a:r>
              <a:rPr lang="en-US" sz="2800">
                <a:solidFill>
                  <a:srgbClr val="F92671"/>
                </a:solidFill>
              </a:rPr>
              <a:t>numbers</a:t>
            </a:r>
          </a:p>
        </p:txBody>
      </p:sp>
      <p:sp>
        <p:nvSpPr>
          <p:cNvPr id="9" name="TextBox 8">
            <a:extLst>
              <a:ext uri="{FF2B5EF4-FFF2-40B4-BE49-F238E27FC236}">
                <a16:creationId xmlns:a16="http://schemas.microsoft.com/office/drawing/2014/main" id="{8407BC96-B69C-32B7-554B-064EEA33BE3D}"/>
              </a:ext>
            </a:extLst>
          </p:cNvPr>
          <p:cNvSpPr txBox="1"/>
          <p:nvPr/>
        </p:nvSpPr>
        <p:spPr>
          <a:xfrm>
            <a:off x="3464509" y="1604076"/>
            <a:ext cx="1344930" cy="461665"/>
          </a:xfrm>
          <a:prstGeom prst="rect">
            <a:avLst/>
          </a:prstGeom>
          <a:noFill/>
        </p:spPr>
        <p:txBody>
          <a:bodyPr wrap="square" rtlCol="0">
            <a:spAutoFit/>
          </a:bodyPr>
          <a:lstStyle/>
          <a:p>
            <a:pPr algn="ctr"/>
            <a:r>
              <a:rPr lang="en-US" sz="2400">
                <a:solidFill>
                  <a:srgbClr val="FD971F"/>
                </a:solidFill>
              </a:rPr>
              <a:t>integers</a:t>
            </a:r>
            <a:endParaRPr lang="en-US" sz="2000">
              <a:solidFill>
                <a:srgbClr val="FD971F"/>
              </a:solidFill>
            </a:endParaRPr>
          </a:p>
        </p:txBody>
      </p:sp>
      <p:sp>
        <p:nvSpPr>
          <p:cNvPr id="11" name="TextBox 10">
            <a:extLst>
              <a:ext uri="{FF2B5EF4-FFF2-40B4-BE49-F238E27FC236}">
                <a16:creationId xmlns:a16="http://schemas.microsoft.com/office/drawing/2014/main" id="{B8B7EE89-76A2-2B4A-F06E-CE82843406C3}"/>
              </a:ext>
            </a:extLst>
          </p:cNvPr>
          <p:cNvSpPr txBox="1"/>
          <p:nvPr/>
        </p:nvSpPr>
        <p:spPr>
          <a:xfrm>
            <a:off x="4787265" y="2501969"/>
            <a:ext cx="853440" cy="400110"/>
          </a:xfrm>
          <a:prstGeom prst="rect">
            <a:avLst/>
          </a:prstGeom>
          <a:noFill/>
        </p:spPr>
        <p:txBody>
          <a:bodyPr wrap="square">
            <a:spAutoFit/>
          </a:bodyPr>
          <a:lstStyle/>
          <a:p>
            <a:pPr algn="ctr"/>
            <a:r>
              <a:rPr lang="en-US" sz="2000">
                <a:solidFill>
                  <a:srgbClr val="000080"/>
                </a:solidFill>
                <a:latin typeface="Consolas" panose="020B0609020204030204" pitchFamily="49" charset="0"/>
              </a:rPr>
              <a:t>char</a:t>
            </a:r>
            <a:endParaRPr lang="en-US" sz="2000">
              <a:solidFill>
                <a:srgbClr val="000080"/>
              </a:solidFill>
            </a:endParaRPr>
          </a:p>
        </p:txBody>
      </p:sp>
      <p:sp>
        <p:nvSpPr>
          <p:cNvPr id="12" name="TextBox 11">
            <a:extLst>
              <a:ext uri="{FF2B5EF4-FFF2-40B4-BE49-F238E27FC236}">
                <a16:creationId xmlns:a16="http://schemas.microsoft.com/office/drawing/2014/main" id="{348D69CD-D50B-896C-A8DE-AB2A054FB130}"/>
              </a:ext>
            </a:extLst>
          </p:cNvPr>
          <p:cNvSpPr txBox="1"/>
          <p:nvPr/>
        </p:nvSpPr>
        <p:spPr>
          <a:xfrm>
            <a:off x="4787265" y="2910550"/>
            <a:ext cx="853440" cy="400110"/>
          </a:xfrm>
          <a:prstGeom prst="rect">
            <a:avLst/>
          </a:prstGeom>
          <a:noFill/>
        </p:spPr>
        <p:txBody>
          <a:bodyPr wrap="square">
            <a:spAutoFit/>
          </a:bodyPr>
          <a:lstStyle/>
          <a:p>
            <a:pPr algn="ctr"/>
            <a:r>
              <a:rPr lang="en-US" sz="2000">
                <a:solidFill>
                  <a:srgbClr val="000080"/>
                </a:solidFill>
                <a:latin typeface="Consolas" panose="020B0609020204030204" pitchFamily="49" charset="0"/>
              </a:rPr>
              <a:t>int</a:t>
            </a:r>
            <a:endParaRPr lang="en-US" sz="2000">
              <a:solidFill>
                <a:srgbClr val="000080"/>
              </a:solidFill>
            </a:endParaRPr>
          </a:p>
        </p:txBody>
      </p:sp>
      <p:sp>
        <p:nvSpPr>
          <p:cNvPr id="13" name="TextBox 12">
            <a:extLst>
              <a:ext uri="{FF2B5EF4-FFF2-40B4-BE49-F238E27FC236}">
                <a16:creationId xmlns:a16="http://schemas.microsoft.com/office/drawing/2014/main" id="{A38E9185-BC36-54BB-0446-D817C6E9A577}"/>
              </a:ext>
            </a:extLst>
          </p:cNvPr>
          <p:cNvSpPr txBox="1"/>
          <p:nvPr/>
        </p:nvSpPr>
        <p:spPr>
          <a:xfrm>
            <a:off x="2787015" y="2732802"/>
            <a:ext cx="1143000" cy="400110"/>
          </a:xfrm>
          <a:prstGeom prst="rect">
            <a:avLst/>
          </a:prstGeom>
          <a:noFill/>
        </p:spPr>
        <p:txBody>
          <a:bodyPr wrap="square">
            <a:spAutoFit/>
          </a:bodyPr>
          <a:lstStyle/>
          <a:p>
            <a:pPr algn="ctr"/>
            <a:r>
              <a:rPr lang="en-US" sz="2000">
                <a:solidFill>
                  <a:srgbClr val="000080"/>
                </a:solidFill>
                <a:latin typeface="Consolas" panose="020B0609020204030204" pitchFamily="49" charset="0"/>
              </a:rPr>
              <a:t>double</a:t>
            </a:r>
            <a:endParaRPr lang="en-US" sz="2000">
              <a:solidFill>
                <a:srgbClr val="000080"/>
              </a:solidFill>
            </a:endParaRPr>
          </a:p>
        </p:txBody>
      </p:sp>
      <p:sp>
        <p:nvSpPr>
          <p:cNvPr id="14" name="TextBox 13">
            <a:extLst>
              <a:ext uri="{FF2B5EF4-FFF2-40B4-BE49-F238E27FC236}">
                <a16:creationId xmlns:a16="http://schemas.microsoft.com/office/drawing/2014/main" id="{238B3B67-29A2-B6D3-2393-BD1E7DA5E238}"/>
              </a:ext>
            </a:extLst>
          </p:cNvPr>
          <p:cNvSpPr txBox="1"/>
          <p:nvPr/>
        </p:nvSpPr>
        <p:spPr>
          <a:xfrm>
            <a:off x="7040880" y="2702024"/>
            <a:ext cx="1356360" cy="400110"/>
          </a:xfrm>
          <a:prstGeom prst="rect">
            <a:avLst/>
          </a:prstGeom>
          <a:noFill/>
        </p:spPr>
        <p:txBody>
          <a:bodyPr wrap="square">
            <a:spAutoFit/>
          </a:bodyPr>
          <a:lstStyle/>
          <a:p>
            <a:pPr algn="ctr"/>
            <a:r>
              <a:rPr lang="en-US" sz="2000" err="1">
                <a:solidFill>
                  <a:srgbClr val="000080"/>
                </a:solidFill>
                <a:latin typeface="Consolas" panose="020B0609020204030204" pitchFamily="49" charset="0"/>
              </a:rPr>
              <a:t>boolean</a:t>
            </a:r>
            <a:endParaRPr lang="en-US" sz="2000">
              <a:solidFill>
                <a:srgbClr val="000080"/>
              </a:solidFill>
            </a:endParaRPr>
          </a:p>
        </p:txBody>
      </p:sp>
    </p:spTree>
    <p:extLst>
      <p:ext uri="{BB962C8B-B14F-4D97-AF65-F5344CB8AC3E}">
        <p14:creationId xmlns:p14="http://schemas.microsoft.com/office/powerpoint/2010/main" val="3872434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1" grpId="0"/>
      <p:bldP spid="12" grpId="0"/>
      <p:bldP spid="13" grpId="0"/>
      <p:bldP spid="14" grpId="0"/>
    </p:bldLst>
  </p:timing>
</p:sld>
</file>

<file path=ppt/slides/slide8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15474-53D1-CF59-FE2D-027277B55E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3FAC72-8211-DECC-A5A0-06ADEE2570FC}"/>
              </a:ext>
            </a:extLst>
          </p:cNvPr>
          <p:cNvSpPr>
            <a:spLocks noGrp="1"/>
          </p:cNvSpPr>
          <p:nvPr>
            <p:ph type="title"/>
          </p:nvPr>
        </p:nvSpPr>
        <p:spPr/>
        <p:txBody>
          <a:bodyPr/>
          <a:lstStyle/>
          <a:p>
            <a:r>
              <a:rPr lang="en-US" sz="3200">
                <a:solidFill>
                  <a:srgbClr val="000080"/>
                </a:solidFill>
                <a:effectLst/>
                <a:latin typeface="Consolas" panose="020B0609020204030204" pitchFamily="49" charset="0"/>
              </a:rPr>
              <a:t>char</a:t>
            </a:r>
            <a:r>
              <a:rPr lang="en-US" sz="3200">
                <a:effectLst/>
              </a:rPr>
              <a:t> </a:t>
            </a:r>
            <a:r>
              <a:rPr lang="en-US"/>
              <a:t>is an integer type</a:t>
            </a:r>
            <a:endParaRPr lang="en-US">
              <a:latin typeface="+mj-lt"/>
            </a:endParaRPr>
          </a:p>
        </p:txBody>
      </p:sp>
      <p:sp>
        <p:nvSpPr>
          <p:cNvPr id="3" name="Content Placeholder 2">
            <a:extLst>
              <a:ext uri="{FF2B5EF4-FFF2-40B4-BE49-F238E27FC236}">
                <a16:creationId xmlns:a16="http://schemas.microsoft.com/office/drawing/2014/main" id="{BC7F2691-9CC4-3705-CBDB-D88279192B09}"/>
              </a:ext>
            </a:extLst>
          </p:cNvPr>
          <p:cNvSpPr>
            <a:spLocks noGrp="1"/>
          </p:cNvSpPr>
          <p:nvPr>
            <p:ph sz="quarter" idx="10"/>
          </p:nvPr>
        </p:nvSpPr>
        <p:spPr/>
        <p:txBody>
          <a:bodyPr/>
          <a:lstStyle/>
          <a:p>
            <a:r>
              <a:rPr lang="en-US"/>
              <a:t>a </a:t>
            </a:r>
            <a:r>
              <a:rPr lang="en-US" b="1">
                <a:solidFill>
                  <a:srgbClr val="000080"/>
                </a:solidFill>
                <a:latin typeface="Consolas" panose="020B0609020204030204" pitchFamily="49" charset="0"/>
              </a:rPr>
              <a:t>char</a:t>
            </a:r>
            <a:r>
              <a:rPr lang="en-US"/>
              <a:t> is an integer type</a:t>
            </a:r>
          </a:p>
          <a:p>
            <a:pPr lvl="1"/>
            <a:r>
              <a:rPr lang="en-US"/>
              <a:t>each </a:t>
            </a:r>
            <a:r>
              <a:rPr lang="en-US">
                <a:solidFill>
                  <a:srgbClr val="000080"/>
                </a:solidFill>
                <a:latin typeface="Consolas" panose="020B0609020204030204" pitchFamily="49" charset="0"/>
              </a:rPr>
              <a:t>char</a:t>
            </a:r>
            <a:r>
              <a:rPr lang="en-US"/>
              <a:t> has a corresponding integer, for example </a:t>
            </a:r>
            <a:r>
              <a:rPr lang="en-US">
                <a:latin typeface="Consolas" panose="020B0609020204030204" pitchFamily="49" charset="0"/>
              </a:rPr>
              <a:t>(</a:t>
            </a:r>
            <a:r>
              <a:rPr lang="en-US">
                <a:solidFill>
                  <a:srgbClr val="FF00FF"/>
                </a:solidFill>
                <a:latin typeface="Consolas" panose="020B0609020204030204" pitchFamily="49" charset="0"/>
              </a:rPr>
              <a:t>'a'</a:t>
            </a:r>
            <a:r>
              <a:rPr lang="en-US"/>
              <a:t> </a:t>
            </a:r>
            <a:r>
              <a:rPr lang="en-US">
                <a:latin typeface="Consolas" panose="020B0609020204030204" pitchFamily="49" charset="0"/>
              </a:rPr>
              <a:t>==</a:t>
            </a:r>
            <a:r>
              <a:rPr lang="en-US"/>
              <a:t> </a:t>
            </a:r>
            <a:r>
              <a:rPr lang="en-US">
                <a:solidFill>
                  <a:srgbClr val="02B5B5"/>
                </a:solidFill>
                <a:latin typeface="Consolas" panose="020B0609020204030204" pitchFamily="49" charset="0"/>
              </a:rPr>
              <a:t>97</a:t>
            </a:r>
            <a:r>
              <a:rPr lang="en-US">
                <a:latin typeface="Consolas" panose="020B0609020204030204" pitchFamily="49" charset="0"/>
              </a:rPr>
              <a:t>)</a:t>
            </a:r>
            <a:endParaRPr lang="en-US"/>
          </a:p>
          <a:p>
            <a:pPr lvl="1"/>
            <a:r>
              <a:rPr lang="en-US"/>
              <a:t>the letters are in order </a:t>
            </a:r>
            <a:r>
              <a:rPr lang="en-US">
                <a:latin typeface="Consolas" panose="020B0609020204030204" pitchFamily="49" charset="0"/>
              </a:rPr>
              <a:t>(</a:t>
            </a:r>
            <a:r>
              <a:rPr lang="en-US">
                <a:solidFill>
                  <a:srgbClr val="FF00FF"/>
                </a:solidFill>
                <a:latin typeface="Consolas" panose="020B0609020204030204" pitchFamily="49" charset="0"/>
              </a:rPr>
              <a:t>'a'</a:t>
            </a:r>
            <a:r>
              <a:rPr lang="en-US">
                <a:latin typeface="Consolas" panose="020B0609020204030204" pitchFamily="49" charset="0"/>
              </a:rPr>
              <a:t> == </a:t>
            </a:r>
            <a:r>
              <a:rPr lang="en-US">
                <a:solidFill>
                  <a:srgbClr val="02B5B5"/>
                </a:solidFill>
                <a:latin typeface="Consolas" panose="020B0609020204030204" pitchFamily="49" charset="0"/>
              </a:rPr>
              <a:t>97</a:t>
            </a:r>
            <a:r>
              <a:rPr lang="en-US">
                <a:latin typeface="Consolas" panose="020B0609020204030204" pitchFamily="49" charset="0"/>
              </a:rPr>
              <a:t>)</a:t>
            </a:r>
            <a:r>
              <a:rPr lang="en-US"/>
              <a:t>, </a:t>
            </a:r>
            <a:r>
              <a:rPr lang="en-US">
                <a:latin typeface="Consolas" panose="020B0609020204030204" pitchFamily="49" charset="0"/>
              </a:rPr>
              <a:t>(</a:t>
            </a:r>
            <a:r>
              <a:rPr lang="en-US">
                <a:solidFill>
                  <a:srgbClr val="FF00FF"/>
                </a:solidFill>
                <a:latin typeface="Consolas" panose="020B0609020204030204" pitchFamily="49" charset="0"/>
              </a:rPr>
              <a:t>'b'</a:t>
            </a:r>
            <a:r>
              <a:rPr lang="en-US">
                <a:latin typeface="Consolas" panose="020B0609020204030204" pitchFamily="49" charset="0"/>
              </a:rPr>
              <a:t> == </a:t>
            </a:r>
            <a:r>
              <a:rPr lang="en-US">
                <a:solidFill>
                  <a:srgbClr val="02B5B5"/>
                </a:solidFill>
                <a:latin typeface="Consolas" panose="020B0609020204030204" pitchFamily="49" charset="0"/>
              </a:rPr>
              <a:t>98</a:t>
            </a:r>
            <a:r>
              <a:rPr lang="en-US">
                <a:latin typeface="Consolas" panose="020B0609020204030204" pitchFamily="49" charset="0"/>
              </a:rPr>
              <a:t>)</a:t>
            </a:r>
            <a:r>
              <a:rPr lang="en-US"/>
              <a:t>, </a:t>
            </a:r>
            <a:r>
              <a:rPr lang="en-US">
                <a:latin typeface="Consolas" panose="020B0609020204030204" pitchFamily="49" charset="0"/>
              </a:rPr>
              <a:t>(</a:t>
            </a:r>
            <a:r>
              <a:rPr lang="en-US">
                <a:solidFill>
                  <a:srgbClr val="FF00FF"/>
                </a:solidFill>
                <a:latin typeface="Consolas" panose="020B0609020204030204" pitchFamily="49" charset="0"/>
              </a:rPr>
              <a:t>'c'</a:t>
            </a:r>
            <a:r>
              <a:rPr lang="en-US">
                <a:latin typeface="Consolas" panose="020B0609020204030204" pitchFamily="49" charset="0"/>
              </a:rPr>
              <a:t> == </a:t>
            </a:r>
            <a:r>
              <a:rPr lang="en-US">
                <a:solidFill>
                  <a:srgbClr val="02B5B5"/>
                </a:solidFill>
                <a:latin typeface="Consolas" panose="020B0609020204030204" pitchFamily="49" charset="0"/>
              </a:rPr>
              <a:t>99</a:t>
            </a:r>
            <a:r>
              <a:rPr lang="en-US">
                <a:latin typeface="Consolas" panose="020B0609020204030204" pitchFamily="49" charset="0"/>
              </a:rPr>
              <a:t>)</a:t>
            </a:r>
            <a:r>
              <a:rPr lang="en-US"/>
              <a:t>...</a:t>
            </a:r>
          </a:p>
          <a:p>
            <a:pPr lvl="1"/>
            <a:r>
              <a:rPr lang="en-US"/>
              <a:t>the numbers are also in order </a:t>
            </a:r>
            <a:r>
              <a:rPr lang="en-US">
                <a:latin typeface="Consolas" panose="020B0609020204030204" pitchFamily="49" charset="0"/>
              </a:rPr>
              <a:t>(</a:t>
            </a:r>
            <a:r>
              <a:rPr lang="en-US">
                <a:solidFill>
                  <a:srgbClr val="FF00FF"/>
                </a:solidFill>
                <a:latin typeface="Consolas" panose="020B0609020204030204" pitchFamily="49" charset="0"/>
              </a:rPr>
              <a:t>'0'</a:t>
            </a:r>
            <a:r>
              <a:rPr lang="en-US">
                <a:latin typeface="Consolas" panose="020B0609020204030204" pitchFamily="49" charset="0"/>
              </a:rPr>
              <a:t> == </a:t>
            </a:r>
            <a:r>
              <a:rPr lang="en-US">
                <a:solidFill>
                  <a:srgbClr val="02B5B5"/>
                </a:solidFill>
                <a:latin typeface="Consolas" panose="020B0609020204030204" pitchFamily="49" charset="0"/>
              </a:rPr>
              <a:t>48</a:t>
            </a:r>
            <a:r>
              <a:rPr lang="en-US">
                <a:latin typeface="Consolas" panose="020B0609020204030204" pitchFamily="49" charset="0"/>
              </a:rPr>
              <a:t>)</a:t>
            </a:r>
            <a:r>
              <a:rPr lang="en-US"/>
              <a:t>, </a:t>
            </a:r>
            <a:r>
              <a:rPr lang="en-US">
                <a:latin typeface="Consolas" panose="020B0609020204030204" pitchFamily="49" charset="0"/>
              </a:rPr>
              <a:t>(</a:t>
            </a:r>
            <a:r>
              <a:rPr lang="en-US">
                <a:solidFill>
                  <a:srgbClr val="FF00FF"/>
                </a:solidFill>
                <a:latin typeface="Consolas" panose="020B0609020204030204" pitchFamily="49" charset="0"/>
              </a:rPr>
              <a:t>'1'</a:t>
            </a:r>
            <a:r>
              <a:rPr lang="en-US">
                <a:latin typeface="Consolas" panose="020B0609020204030204" pitchFamily="49" charset="0"/>
              </a:rPr>
              <a:t> == </a:t>
            </a:r>
            <a:r>
              <a:rPr lang="en-US">
                <a:solidFill>
                  <a:srgbClr val="02B5B5"/>
                </a:solidFill>
                <a:latin typeface="Consolas" panose="020B0609020204030204" pitchFamily="49" charset="0"/>
              </a:rPr>
              <a:t>49</a:t>
            </a:r>
            <a:r>
              <a:rPr lang="en-US">
                <a:latin typeface="Consolas" panose="020B0609020204030204" pitchFamily="49" charset="0"/>
              </a:rPr>
              <a:t>)</a:t>
            </a:r>
            <a:r>
              <a:rPr lang="en-US"/>
              <a:t>...</a:t>
            </a:r>
          </a:p>
          <a:p>
            <a:pPr lvl="1"/>
            <a:r>
              <a:rPr lang="en-US"/>
              <a:t>you can do math with </a:t>
            </a:r>
            <a:r>
              <a:rPr lang="en-US">
                <a:solidFill>
                  <a:srgbClr val="000080"/>
                </a:solidFill>
                <a:latin typeface="Consolas" panose="020B0609020204030204" pitchFamily="49" charset="0"/>
              </a:rPr>
              <a:t>char</a:t>
            </a:r>
            <a:r>
              <a:rPr lang="en-US"/>
              <a:t>'s</a:t>
            </a:r>
          </a:p>
          <a:p>
            <a:pPr lvl="2"/>
            <a:r>
              <a:rPr lang="en-US">
                <a:solidFill>
                  <a:srgbClr val="000080"/>
                </a:solidFill>
                <a:latin typeface="Consolas" panose="020B0609020204030204" pitchFamily="49" charset="0"/>
              </a:rPr>
              <a:t>char</a:t>
            </a:r>
            <a:r>
              <a:rPr lang="en-US">
                <a:solidFill>
                  <a:srgbClr val="12191C"/>
                </a:solidFill>
                <a:latin typeface="Consolas" panose="020B0609020204030204" pitchFamily="49" charset="0"/>
              </a:rPr>
              <a:t> foo </a:t>
            </a:r>
            <a:r>
              <a:rPr lang="en-US">
                <a:latin typeface="Consolas" panose="020B0609020204030204" pitchFamily="49" charset="0"/>
              </a:rPr>
              <a:t>= </a:t>
            </a:r>
            <a:r>
              <a:rPr lang="en-US">
                <a:solidFill>
                  <a:srgbClr val="FF00FF"/>
                </a:solidFill>
                <a:latin typeface="Consolas" panose="020B0609020204030204" pitchFamily="49" charset="0"/>
              </a:rPr>
              <a:t>'a'</a:t>
            </a:r>
            <a:r>
              <a:rPr lang="en-US">
                <a:latin typeface="Consolas" panose="020B0609020204030204" pitchFamily="49" charset="0"/>
              </a:rPr>
              <a:t> + </a:t>
            </a:r>
            <a:r>
              <a:rPr lang="en-US">
                <a:solidFill>
                  <a:srgbClr val="02B5B5"/>
                </a:solidFill>
                <a:latin typeface="Consolas" panose="020B0609020204030204" pitchFamily="49" charset="0"/>
              </a:rPr>
              <a:t>2</a:t>
            </a:r>
            <a:r>
              <a:rPr lang="en-US">
                <a:solidFill>
                  <a:srgbClr val="12191C"/>
                </a:solidFill>
                <a:latin typeface="Consolas" panose="020B0609020204030204" pitchFamily="49" charset="0"/>
              </a:rPr>
              <a:t>;</a:t>
            </a:r>
            <a:r>
              <a:rPr lang="en-US">
                <a:solidFill>
                  <a:srgbClr val="007B00"/>
                </a:solidFill>
                <a:latin typeface="Consolas" panose="020B0609020204030204" pitchFamily="49" charset="0"/>
              </a:rPr>
              <a:t> // foo is 'c'</a:t>
            </a:r>
          </a:p>
          <a:p>
            <a:pPr lvl="2"/>
            <a:r>
              <a:rPr lang="en-US">
                <a:solidFill>
                  <a:srgbClr val="000080"/>
                </a:solidFill>
                <a:latin typeface="Consolas" panose="020B0609020204030204" pitchFamily="49" charset="0"/>
              </a:rPr>
              <a:t>char</a:t>
            </a:r>
            <a:r>
              <a:rPr lang="en-US">
                <a:solidFill>
                  <a:srgbClr val="12191C"/>
                </a:solidFill>
                <a:latin typeface="Consolas" panose="020B0609020204030204" pitchFamily="49" charset="0"/>
              </a:rPr>
              <a:t> bar </a:t>
            </a:r>
            <a:r>
              <a:rPr lang="en-US">
                <a:latin typeface="Consolas" panose="020B0609020204030204" pitchFamily="49" charset="0"/>
              </a:rPr>
              <a:t>=</a:t>
            </a:r>
            <a:r>
              <a:rPr lang="en-US">
                <a:solidFill>
                  <a:srgbClr val="12191C"/>
                </a:solidFill>
                <a:latin typeface="Consolas" panose="020B0609020204030204" pitchFamily="49" charset="0"/>
              </a:rPr>
              <a:t> </a:t>
            </a:r>
            <a:r>
              <a:rPr lang="en-US">
                <a:solidFill>
                  <a:srgbClr val="FF00FF"/>
                </a:solidFill>
                <a:latin typeface="Consolas" panose="020B0609020204030204" pitchFamily="49" charset="0"/>
              </a:rPr>
              <a:t>'0'</a:t>
            </a:r>
            <a:r>
              <a:rPr lang="en-US">
                <a:solidFill>
                  <a:srgbClr val="12191C"/>
                </a:solidFill>
                <a:latin typeface="Consolas" panose="020B0609020204030204" pitchFamily="49" charset="0"/>
              </a:rPr>
              <a:t> </a:t>
            </a:r>
            <a:r>
              <a:rPr lang="en-US">
                <a:latin typeface="Consolas" panose="020B0609020204030204" pitchFamily="49" charset="0"/>
              </a:rPr>
              <a:t>+</a:t>
            </a:r>
            <a:r>
              <a:rPr lang="en-US">
                <a:solidFill>
                  <a:srgbClr val="12191C"/>
                </a:solidFill>
                <a:latin typeface="Consolas" panose="020B0609020204030204" pitchFamily="49" charset="0"/>
              </a:rPr>
              <a:t> </a:t>
            </a:r>
            <a:r>
              <a:rPr lang="en-US">
                <a:solidFill>
                  <a:srgbClr val="02B5B5"/>
                </a:solidFill>
                <a:latin typeface="Consolas" panose="020B0609020204030204" pitchFamily="49" charset="0"/>
              </a:rPr>
              <a:t>7</a:t>
            </a:r>
            <a:r>
              <a:rPr lang="en-US">
                <a:solidFill>
                  <a:srgbClr val="12191C"/>
                </a:solidFill>
                <a:latin typeface="Consolas" panose="020B0609020204030204" pitchFamily="49" charset="0"/>
              </a:rPr>
              <a:t>;</a:t>
            </a:r>
            <a:r>
              <a:rPr lang="en-US">
                <a:solidFill>
                  <a:srgbClr val="007B00"/>
                </a:solidFill>
                <a:latin typeface="Consolas" panose="020B0609020204030204" pitchFamily="49" charset="0"/>
              </a:rPr>
              <a:t> // bar is '7'</a:t>
            </a:r>
          </a:p>
          <a:p>
            <a:pPr lvl="2"/>
            <a:r>
              <a:rPr lang="en-US">
                <a:solidFill>
                  <a:srgbClr val="000080"/>
                </a:solidFill>
                <a:latin typeface="Consolas" panose="020B0609020204030204" pitchFamily="49" charset="0"/>
              </a:rPr>
              <a:t>int</a:t>
            </a:r>
            <a:r>
              <a:rPr lang="en-US">
                <a:solidFill>
                  <a:srgbClr val="12191C"/>
                </a:solidFill>
                <a:latin typeface="Consolas" panose="020B0609020204030204" pitchFamily="49" charset="0"/>
              </a:rPr>
              <a:t>  </a:t>
            </a:r>
            <a:r>
              <a:rPr lang="en-US" err="1">
                <a:solidFill>
                  <a:srgbClr val="12191C"/>
                </a:solidFill>
                <a:latin typeface="Consolas" panose="020B0609020204030204" pitchFamily="49" charset="0"/>
              </a:rPr>
              <a:t>baz</a:t>
            </a:r>
            <a:r>
              <a:rPr lang="en-US">
                <a:solidFill>
                  <a:srgbClr val="12191C"/>
                </a:solidFill>
                <a:latin typeface="Consolas" panose="020B0609020204030204" pitchFamily="49" charset="0"/>
              </a:rPr>
              <a:t> </a:t>
            </a:r>
            <a:r>
              <a:rPr lang="en-US">
                <a:latin typeface="Consolas" panose="020B0609020204030204" pitchFamily="49" charset="0"/>
              </a:rPr>
              <a:t>=</a:t>
            </a:r>
            <a:r>
              <a:rPr lang="en-US">
                <a:solidFill>
                  <a:srgbClr val="12191C"/>
                </a:solidFill>
                <a:latin typeface="Consolas" panose="020B0609020204030204" pitchFamily="49" charset="0"/>
              </a:rPr>
              <a:t> </a:t>
            </a:r>
            <a:r>
              <a:rPr lang="en-US">
                <a:solidFill>
                  <a:srgbClr val="FF00FF"/>
                </a:solidFill>
                <a:latin typeface="Consolas" panose="020B0609020204030204" pitchFamily="49" charset="0"/>
              </a:rPr>
              <a:t>'6'</a:t>
            </a:r>
            <a:r>
              <a:rPr lang="en-US">
                <a:solidFill>
                  <a:srgbClr val="12191C"/>
                </a:solidFill>
                <a:latin typeface="Consolas" panose="020B0609020204030204" pitchFamily="49" charset="0"/>
              </a:rPr>
              <a:t> </a:t>
            </a:r>
            <a:r>
              <a:rPr lang="en-US">
                <a:latin typeface="Consolas" panose="020B0609020204030204" pitchFamily="49" charset="0"/>
              </a:rPr>
              <a:t>-</a:t>
            </a:r>
            <a:r>
              <a:rPr lang="en-US">
                <a:solidFill>
                  <a:srgbClr val="12191C"/>
                </a:solidFill>
                <a:latin typeface="Consolas" panose="020B0609020204030204" pitchFamily="49" charset="0"/>
              </a:rPr>
              <a:t> </a:t>
            </a:r>
            <a:r>
              <a:rPr lang="en-US">
                <a:solidFill>
                  <a:srgbClr val="FF00FF"/>
                </a:solidFill>
                <a:latin typeface="Consolas" panose="020B0609020204030204" pitchFamily="49" charset="0"/>
              </a:rPr>
              <a:t>'0'</a:t>
            </a:r>
            <a:r>
              <a:rPr lang="en-US">
                <a:solidFill>
                  <a:srgbClr val="12191C"/>
                </a:solidFill>
                <a:latin typeface="Consolas" panose="020B0609020204030204" pitchFamily="49" charset="0"/>
              </a:rPr>
              <a:t>; </a:t>
            </a:r>
            <a:r>
              <a:rPr lang="en-US">
                <a:solidFill>
                  <a:srgbClr val="007B00"/>
                </a:solidFill>
                <a:latin typeface="Consolas" panose="020B0609020204030204" pitchFamily="49" charset="0"/>
              </a:rPr>
              <a:t>// </a:t>
            </a:r>
            <a:r>
              <a:rPr lang="en-US" err="1">
                <a:solidFill>
                  <a:srgbClr val="007B00"/>
                </a:solidFill>
                <a:latin typeface="Consolas" panose="020B0609020204030204" pitchFamily="49" charset="0"/>
              </a:rPr>
              <a:t>baz</a:t>
            </a:r>
            <a:r>
              <a:rPr lang="en-US">
                <a:solidFill>
                  <a:srgbClr val="007B00"/>
                </a:solidFill>
                <a:latin typeface="Consolas" panose="020B0609020204030204" pitchFamily="49" charset="0"/>
              </a:rPr>
              <a:t> is 6</a:t>
            </a:r>
          </a:p>
          <a:p>
            <a:pPr lvl="2"/>
            <a:endParaRPr lang="en-US">
              <a:solidFill>
                <a:srgbClr val="12191C"/>
              </a:solidFill>
              <a:latin typeface="Consolas" panose="020B0609020204030204" pitchFamily="49" charset="0"/>
            </a:endParaRPr>
          </a:p>
          <a:p>
            <a:pPr lvl="2"/>
            <a:endParaRPr lang="en-US"/>
          </a:p>
          <a:p>
            <a:pPr marL="0" indent="0">
              <a:buNone/>
            </a:pPr>
            <a:endParaRPr lang="en-US">
              <a:latin typeface="+mj-lt"/>
            </a:endParaRPr>
          </a:p>
        </p:txBody>
      </p:sp>
    </p:spTree>
    <p:extLst>
      <p:ext uri="{BB962C8B-B14F-4D97-AF65-F5344CB8AC3E}">
        <p14:creationId xmlns:p14="http://schemas.microsoft.com/office/powerpoint/2010/main" val="2267689608"/>
      </p:ext>
    </p:extLst>
  </p:cSld>
  <p:clrMapOvr>
    <a:masterClrMapping/>
  </p:clrMapOvr>
</p:sld>
</file>

<file path=ppt/slides/slide8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4972F-719D-8250-D9DA-9B133B4712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5BE44C-E86A-2336-85E3-734218965477}"/>
              </a:ext>
            </a:extLst>
          </p:cNvPr>
          <p:cNvSpPr>
            <a:spLocks noGrp="1"/>
          </p:cNvSpPr>
          <p:nvPr>
            <p:ph type="title"/>
          </p:nvPr>
        </p:nvSpPr>
        <p:spPr/>
        <p:txBody>
          <a:bodyPr/>
          <a:lstStyle/>
          <a:p>
            <a:r>
              <a:rPr lang="en-US"/>
              <a:t>zero</a:t>
            </a:r>
          </a:p>
        </p:txBody>
      </p:sp>
      <p:sp>
        <p:nvSpPr>
          <p:cNvPr id="3" name="Content Placeholder 2">
            <a:extLst>
              <a:ext uri="{FF2B5EF4-FFF2-40B4-BE49-F238E27FC236}">
                <a16:creationId xmlns:a16="http://schemas.microsoft.com/office/drawing/2014/main" id="{1E004AC0-EC2B-F17E-F163-11754E407B0D}"/>
              </a:ext>
            </a:extLst>
          </p:cNvPr>
          <p:cNvSpPr>
            <a:spLocks noGrp="1"/>
          </p:cNvSpPr>
          <p:nvPr>
            <p:ph sz="quarter" idx="10"/>
          </p:nvPr>
        </p:nvSpPr>
        <p:spPr/>
        <p:txBody>
          <a:bodyPr/>
          <a:lstStyle/>
          <a:p>
            <a:r>
              <a:rPr lang="en-US"/>
              <a:t>each primitive data type has its own notion of what it means to "be zero"</a:t>
            </a:r>
          </a:p>
          <a:p>
            <a:pPr lvl="1"/>
            <a:r>
              <a:rPr lang="en-US" sz="1800">
                <a:solidFill>
                  <a:srgbClr val="000080"/>
                </a:solidFill>
                <a:effectLst/>
                <a:latin typeface="+mj-lt"/>
              </a:rPr>
              <a:t>int</a:t>
            </a:r>
            <a:r>
              <a:rPr lang="en-US">
                <a:latin typeface="+mj-lt"/>
              </a:rPr>
              <a:t>     zero =     </a:t>
            </a:r>
            <a:r>
              <a:rPr lang="en-US">
                <a:solidFill>
                  <a:srgbClr val="02B5B5"/>
                </a:solidFill>
                <a:latin typeface="+mj-lt"/>
              </a:rPr>
              <a:t>0</a:t>
            </a:r>
            <a:r>
              <a:rPr lang="en-US">
                <a:latin typeface="+mj-lt"/>
              </a:rPr>
              <a:t>;</a:t>
            </a:r>
          </a:p>
          <a:p>
            <a:pPr lvl="1"/>
            <a:r>
              <a:rPr lang="en-US" sz="1800">
                <a:solidFill>
                  <a:srgbClr val="000080"/>
                </a:solidFill>
                <a:effectLst/>
                <a:latin typeface="+mj-lt"/>
              </a:rPr>
              <a:t>double</a:t>
            </a:r>
            <a:r>
              <a:rPr lang="en-US">
                <a:latin typeface="+mj-lt"/>
              </a:rPr>
              <a:t>  zero =   </a:t>
            </a:r>
            <a:r>
              <a:rPr lang="en-US">
                <a:solidFill>
                  <a:srgbClr val="02B5B5"/>
                </a:solidFill>
                <a:latin typeface="+mj-lt"/>
              </a:rPr>
              <a:t>0</a:t>
            </a:r>
            <a:r>
              <a:rPr lang="en-US">
                <a:latin typeface="+mj-lt"/>
              </a:rPr>
              <a:t>.</a:t>
            </a:r>
            <a:r>
              <a:rPr lang="en-US">
                <a:solidFill>
                  <a:srgbClr val="02B5B5"/>
                </a:solidFill>
                <a:latin typeface="+mj-lt"/>
              </a:rPr>
              <a:t>0</a:t>
            </a:r>
            <a:r>
              <a:rPr lang="en-US">
                <a:latin typeface="+mj-lt"/>
              </a:rPr>
              <a:t>;</a:t>
            </a:r>
          </a:p>
          <a:p>
            <a:pPr lvl="1"/>
            <a:r>
              <a:rPr lang="en-US" sz="1800" err="1">
                <a:solidFill>
                  <a:srgbClr val="000080"/>
                </a:solidFill>
                <a:effectLst/>
                <a:latin typeface="+mj-lt"/>
              </a:rPr>
              <a:t>boolean</a:t>
            </a:r>
            <a:r>
              <a:rPr lang="en-US">
                <a:latin typeface="+mj-lt"/>
              </a:rPr>
              <a:t> zero = </a:t>
            </a:r>
            <a:r>
              <a:rPr lang="en-US">
                <a:solidFill>
                  <a:srgbClr val="0000FF"/>
                </a:solidFill>
                <a:latin typeface="+mj-lt"/>
              </a:rPr>
              <a:t>false</a:t>
            </a:r>
            <a:r>
              <a:rPr lang="en-US">
                <a:latin typeface="+mj-lt"/>
              </a:rPr>
              <a:t>;</a:t>
            </a:r>
          </a:p>
          <a:p>
            <a:pPr lvl="1"/>
            <a:r>
              <a:rPr lang="en-US">
                <a:solidFill>
                  <a:srgbClr val="000080"/>
                </a:solidFill>
                <a:effectLst/>
                <a:latin typeface="+mj-lt"/>
              </a:rPr>
              <a:t>char</a:t>
            </a:r>
            <a:r>
              <a:rPr lang="en-US">
                <a:latin typeface="+mj-lt"/>
              </a:rPr>
              <a:t>    zero =  </a:t>
            </a:r>
            <a:r>
              <a:rPr lang="en-US">
                <a:solidFill>
                  <a:srgbClr val="FF00FF"/>
                </a:solidFill>
                <a:effectLst/>
                <a:latin typeface="+mj-lt"/>
              </a:rPr>
              <a:t>'\0'</a:t>
            </a:r>
            <a:r>
              <a:rPr lang="en-US">
                <a:effectLst/>
                <a:latin typeface="+mj-lt"/>
              </a:rPr>
              <a:t>;</a:t>
            </a:r>
            <a:r>
              <a:rPr lang="en-US">
                <a:solidFill>
                  <a:srgbClr val="007B00"/>
                </a:solidFill>
                <a:latin typeface="Consolas" panose="020B0609020204030204" pitchFamily="49" charset="0"/>
              </a:rPr>
              <a:t> // the "null character"</a:t>
            </a:r>
          </a:p>
          <a:p>
            <a:pPr lvl="1"/>
            <a:endParaRPr lang="en-US">
              <a:effectLst/>
              <a:latin typeface="+mj-lt"/>
            </a:endParaRPr>
          </a:p>
          <a:p>
            <a:pPr lvl="1"/>
            <a:endParaRPr lang="en-US">
              <a:solidFill>
                <a:srgbClr val="592FA4"/>
              </a:solidFill>
              <a:latin typeface="+mj-lt"/>
            </a:endParaRPr>
          </a:p>
        </p:txBody>
      </p:sp>
    </p:spTree>
    <p:extLst>
      <p:ext uri="{BB962C8B-B14F-4D97-AF65-F5344CB8AC3E}">
        <p14:creationId xmlns:p14="http://schemas.microsoft.com/office/powerpoint/2010/main" val="773003704"/>
      </p:ext>
    </p:extLst>
  </p:cSld>
  <p:clrMapOvr>
    <a:masterClrMapping/>
  </p:clrMapOvr>
</p:sld>
</file>

<file path=ppt/slides/slide8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30ED4-3207-9633-3871-C0F206BEB85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540E28D-8A83-3EAD-24B9-BA74384763E1}"/>
              </a:ext>
            </a:extLst>
          </p:cNvPr>
          <p:cNvSpPr>
            <a:spLocks noGrp="1"/>
          </p:cNvSpPr>
          <p:nvPr>
            <p:ph type="title"/>
          </p:nvPr>
        </p:nvSpPr>
        <p:spPr/>
        <p:txBody>
          <a:bodyPr/>
          <a:lstStyle/>
          <a:p>
            <a:r>
              <a:rPr lang="en-US"/>
              <a:t>whitespace</a:t>
            </a:r>
          </a:p>
        </p:txBody>
      </p:sp>
    </p:spTree>
    <p:extLst>
      <p:ext uri="{BB962C8B-B14F-4D97-AF65-F5344CB8AC3E}">
        <p14:creationId xmlns:p14="http://schemas.microsoft.com/office/powerpoint/2010/main" val="1229443723"/>
      </p:ext>
    </p:extLst>
  </p:cSld>
  <p:clrMapOvr>
    <a:masterClrMapping/>
  </p:clrMapOvr>
</p:sld>
</file>

<file path=ppt/slides/slide8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7B9B9-6124-50B6-D584-ADF18B24D73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CFA2356-55B0-EC49-3B56-071D2968BAEE}"/>
              </a:ext>
            </a:extLst>
          </p:cNvPr>
          <p:cNvSpPr>
            <a:spLocks noGrp="1"/>
          </p:cNvSpPr>
          <p:nvPr>
            <p:ph type="title"/>
          </p:nvPr>
        </p:nvSpPr>
        <p:spPr/>
        <p:txBody>
          <a:bodyPr/>
          <a:lstStyle/>
          <a:p>
            <a:r>
              <a:rPr lang="en-US"/>
              <a:t>whitespace</a:t>
            </a:r>
          </a:p>
        </p:txBody>
      </p:sp>
    </p:spTree>
    <p:extLst>
      <p:ext uri="{BB962C8B-B14F-4D97-AF65-F5344CB8AC3E}">
        <p14:creationId xmlns:p14="http://schemas.microsoft.com/office/powerpoint/2010/main" val="1602213496"/>
      </p:ext>
    </p:extLst>
  </p:cSld>
  <p:clrMapOvr>
    <a:masterClrMapping/>
  </p:clrMapOvr>
</p:sld>
</file>

<file path=ppt/slides/slide8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D9A0C-E2AB-52FC-835A-582B45AFE8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1222B-8B74-B57A-7C72-108907E79F13}"/>
              </a:ext>
            </a:extLst>
          </p:cNvPr>
          <p:cNvSpPr>
            <a:spLocks noGrp="1"/>
          </p:cNvSpPr>
          <p:nvPr>
            <p:ph type="title"/>
          </p:nvPr>
        </p:nvSpPr>
        <p:spPr>
          <a:xfrm>
            <a:off x="457200" y="254916"/>
            <a:ext cx="8229600" cy="667168"/>
          </a:xfrm>
        </p:spPr>
        <p:txBody>
          <a:bodyPr>
            <a:normAutofit/>
          </a:bodyPr>
          <a:lstStyle/>
          <a:p>
            <a:pPr lvl="0"/>
            <a:r>
              <a:rPr lang="en-US"/>
              <a:t>whitespace</a:t>
            </a:r>
          </a:p>
        </p:txBody>
      </p:sp>
      <p:sp>
        <p:nvSpPr>
          <p:cNvPr id="3" name="Content Placeholder 2">
            <a:extLst>
              <a:ext uri="{FF2B5EF4-FFF2-40B4-BE49-F238E27FC236}">
                <a16:creationId xmlns:a16="http://schemas.microsoft.com/office/drawing/2014/main" id="{148C6E6D-DE4C-A7AD-75A7-AB9C845E9D22}"/>
              </a:ext>
            </a:extLst>
          </p:cNvPr>
          <p:cNvSpPr>
            <a:spLocks noGrp="1"/>
          </p:cNvSpPr>
          <p:nvPr>
            <p:ph sz="quarter" idx="10"/>
          </p:nvPr>
        </p:nvSpPr>
        <p:spPr>
          <a:xfrm>
            <a:off x="457200" y="963338"/>
            <a:ext cx="8229600" cy="4080271"/>
          </a:xfrm>
        </p:spPr>
        <p:txBody>
          <a:bodyPr>
            <a:noAutofit/>
          </a:bodyPr>
          <a:lstStyle/>
          <a:p>
            <a:pPr lvl="0"/>
            <a:r>
              <a:rPr lang="en-US" sz="1600" b="1"/>
              <a:t>whitespace</a:t>
            </a:r>
            <a:r>
              <a:rPr lang="en-US" sz="1600"/>
              <a:t> includes spaces, tabs, and newlines</a:t>
            </a:r>
          </a:p>
          <a:p>
            <a:pPr lvl="0"/>
            <a:r>
              <a:rPr lang="en-US" sz="1600"/>
              <a:t>🐍 Python does care about whitespace (indentation </a:t>
            </a:r>
            <a:r>
              <a:rPr lang="en-US" sz="1600" i="1"/>
              <a:t>changes what code does</a:t>
            </a:r>
            <a:r>
              <a:rPr lang="en-US" sz="1600"/>
              <a:t>)</a:t>
            </a:r>
          </a:p>
          <a:p>
            <a:pPr lvl="0"/>
            <a:r>
              <a:rPr lang="en-US" sz="1600"/>
              <a:t>☕️ </a:t>
            </a:r>
            <a:r>
              <a:rPr lang="en-US" sz="1600" b="1"/>
              <a:t>Java does NOT care about whitespace (it cares about curly braces)</a:t>
            </a:r>
          </a:p>
          <a:p>
            <a:r>
              <a:rPr lang="en-US">
                <a:solidFill>
                  <a:schemeClr val="bg2"/>
                </a:solidFill>
              </a:rPr>
              <a:t>🗣️ </a:t>
            </a:r>
            <a:r>
              <a:rPr lang="en-US" sz="1600">
                <a:solidFill>
                  <a:schemeClr val="accent6"/>
                </a:solidFill>
              </a:rPr>
              <a:t>do </a:t>
            </a:r>
            <a:r>
              <a:rPr lang="en-US" sz="1600" i="1">
                <a:solidFill>
                  <a:schemeClr val="accent6"/>
                </a:solidFill>
              </a:rPr>
              <a:t>you</a:t>
            </a:r>
            <a:r>
              <a:rPr lang="en-US" sz="1600">
                <a:solidFill>
                  <a:schemeClr val="accent6"/>
                </a:solidFill>
              </a:rPr>
              <a:t> care about whitespace?</a:t>
            </a:r>
          </a:p>
          <a:p>
            <a:pPr lvl="1"/>
            <a:r>
              <a:rPr lang="en-US" sz="1600"/>
              <a:t>some guidelines:</a:t>
            </a:r>
          </a:p>
          <a:p>
            <a:pPr lvl="2"/>
            <a:r>
              <a:rPr lang="en-US" sz="1600"/>
              <a:t>be consistent</a:t>
            </a:r>
          </a:p>
          <a:p>
            <a:pPr lvl="2"/>
            <a:r>
              <a:rPr lang="en-US" sz="1600"/>
              <a:t>make sure your curly braces line up</a:t>
            </a:r>
          </a:p>
          <a:p>
            <a:pPr lvl="2"/>
            <a:r>
              <a:rPr lang="en-US" sz="1600">
                <a:solidFill>
                  <a:schemeClr val="accent2"/>
                </a:solidFill>
              </a:rPr>
              <a:t>✨ use </a:t>
            </a:r>
            <a:r>
              <a:rPr lang="en-US" sz="1600" err="1">
                <a:solidFill>
                  <a:schemeClr val="accent2"/>
                </a:solidFill>
              </a:rPr>
              <a:t>DrJava auto-indentation feature </a:t>
            </a:r>
            <a:r>
              <a:rPr lang="en-US" sz="1600">
                <a:solidFill>
                  <a:schemeClr val="accent2"/>
                </a:solidFill>
              </a:rPr>
              <a:t>(see Tut00)! no excuses!</a:t>
            </a:r>
          </a:p>
        </p:txBody>
      </p:sp>
      <p:graphicFrame>
        <p:nvGraphicFramePr>
          <p:cNvPr id="13" name="Table 7">
            <a:extLst>
              <a:ext uri="{FF2B5EF4-FFF2-40B4-BE49-F238E27FC236}">
                <a16:creationId xmlns:a16="http://schemas.microsoft.com/office/drawing/2014/main" id="{CAC7F10F-0F9F-B10D-0143-3AAB85BB3EA2}"/>
              </a:ext>
            </a:extLst>
          </p:cNvPr>
          <p:cNvGraphicFramePr>
            <a:graphicFrameLocks noGrp="1"/>
          </p:cNvGraphicFramePr>
          <p:nvPr>
            <p:extLst>
              <p:ext uri="{D42A27DB-BD31-4B8C-83A1-F6EECF244321}">
                <p14:modId xmlns:p14="http://schemas.microsoft.com/office/powerpoint/2010/main" val="2593658448"/>
              </p:ext>
            </p:extLst>
          </p:nvPr>
        </p:nvGraphicFramePr>
        <p:xfrm>
          <a:off x="0" y="3497580"/>
          <a:ext cx="9144000" cy="1645920"/>
        </p:xfrm>
        <a:graphic>
          <a:graphicData uri="http://schemas.openxmlformats.org/drawingml/2006/table">
            <a:tbl>
              <a:tblPr firstRow="1">
                <a:tableStyleId>{073A0DAA-6AF3-43AB-8588-CEC1D06C72B9}</a:tableStyleId>
              </a:tblPr>
              <a:tblGrid>
                <a:gridCol w="4327071">
                  <a:extLst>
                    <a:ext uri="{9D8B030D-6E8A-4147-A177-3AD203B41FA5}">
                      <a16:colId xmlns:a16="http://schemas.microsoft.com/office/drawing/2014/main" val="2975339222"/>
                    </a:ext>
                  </a:extLst>
                </a:gridCol>
                <a:gridCol w="4816929">
                  <a:extLst>
                    <a:ext uri="{9D8B030D-6E8A-4147-A177-3AD203B41FA5}">
                      <a16:colId xmlns:a16="http://schemas.microsoft.com/office/drawing/2014/main" val="1028628246"/>
                    </a:ext>
                  </a:extLst>
                </a:gridCol>
              </a:tblGrid>
              <a:tr h="335280">
                <a:tc>
                  <a:txBody>
                    <a:bodyPr/>
                    <a:lstStyle/>
                    <a:p>
                      <a:pPr marL="12700" marR="0" lvl="0" indent="0" algn="ctr" defTabSz="342900" rtl="0" eaLnBrk="1" fontAlgn="auto" latinLnBrk="0" hangingPunct="1">
                        <a:lnSpc>
                          <a:spcPct val="100000"/>
                        </a:lnSpc>
                        <a:spcBef>
                          <a:spcPct val="20000"/>
                        </a:spcBef>
                        <a:spcAft>
                          <a:spcPts val="0"/>
                        </a:spcAft>
                        <a:buClrTx/>
                        <a:buSzTx/>
                        <a:buFont typeface="Arial"/>
                        <a:buNone/>
                        <a:tabLst/>
                        <a:defRPr/>
                      </a:pPr>
                      <a:r>
                        <a:rPr kumimoji="0" lang="en-US" sz="1600" b="0" i="0" u="none" strike="noStrike" kern="1200" cap="none" spc="0" normalizeH="0" baseline="0" noProof="0">
                          <a:ln>
                            <a:noFill/>
                          </a:ln>
                          <a:solidFill>
                            <a:schemeClr val="bg2"/>
                          </a:solidFill>
                          <a:effectLst/>
                          <a:uLnTx/>
                          <a:uFillTx/>
                          <a:latin typeface="+mn-lt"/>
                          <a:ea typeface="Segoe UI Emoji" panose="020B0502040204020203" pitchFamily="34" charset="0"/>
                          <a:cs typeface="Consolas" panose="020B0609020204030204" pitchFamily="49" charset="0"/>
                        </a:rPr>
                        <a:t>sparks joy</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2700" marR="0" lvl="0" indent="0" algn="ctr" defTabSz="342900" rtl="0" eaLnBrk="1" fontAlgn="auto" latinLnBrk="0" hangingPunct="1">
                        <a:lnSpc>
                          <a:spcPct val="100000"/>
                        </a:lnSpc>
                        <a:spcBef>
                          <a:spcPct val="20000"/>
                        </a:spcBef>
                        <a:spcAft>
                          <a:spcPts val="0"/>
                        </a:spcAft>
                        <a:buClrTx/>
                        <a:buSzTx/>
                        <a:buFont typeface="Arial"/>
                        <a:buNone/>
                        <a:tabLst/>
                        <a:defRPr/>
                      </a:pPr>
                      <a:r>
                        <a:rPr kumimoji="0" lang="en-US" sz="1600" b="0" i="0" u="none" strike="noStrike" kern="1200" cap="none" spc="0" normalizeH="0" baseline="0" noProof="0">
                          <a:ln>
                            <a:noFill/>
                          </a:ln>
                          <a:solidFill>
                            <a:schemeClr val="bg2"/>
                          </a:solidFill>
                          <a:effectLst/>
                          <a:uLnTx/>
                          <a:uFillTx/>
                          <a:latin typeface="+mn-lt"/>
                          <a:ea typeface="Segoe UI Emoji" panose="020B0502040204020203" pitchFamily="34" charset="0"/>
                          <a:cs typeface="Consolas" panose="020B0609020204030204" pitchFamily="49" charset="0"/>
                        </a:rPr>
                        <a:t>NOT equivalent -- doesn’t spark joy</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84446206"/>
                  </a:ext>
                </a:extLst>
              </a:tr>
              <a:tr h="1310640">
                <a:tc>
                  <a:txBody>
                    <a:bodyPr/>
                    <a:lstStyle/>
                    <a:p>
                      <a:r>
                        <a:rPr lang="nn-NO" sz="1600" b="0">
                          <a:solidFill>
                            <a:srgbClr val="0000FF"/>
                          </a:solidFill>
                          <a:effectLst/>
                          <a:latin typeface="+mj-lt"/>
                        </a:rPr>
                        <a:t>for</a:t>
                      </a:r>
                      <a:r>
                        <a:rPr lang="nn-NO" sz="1600" b="0">
                          <a:solidFill>
                            <a:srgbClr val="000000"/>
                          </a:solidFill>
                          <a:effectLst/>
                          <a:latin typeface="+mj-lt"/>
                        </a:rPr>
                        <a:t> (</a:t>
                      </a:r>
                      <a:r>
                        <a:rPr lang="nn-NO" sz="1600" b="0">
                          <a:solidFill>
                            <a:srgbClr val="0000FF"/>
                          </a:solidFill>
                          <a:effectLst/>
                          <a:latin typeface="+mj-lt"/>
                        </a:rPr>
                        <a:t>int</a:t>
                      </a:r>
                      <a:r>
                        <a:rPr lang="nn-NO" sz="1600" b="0">
                          <a:solidFill>
                            <a:srgbClr val="000000"/>
                          </a:solidFill>
                          <a:effectLst/>
                          <a:latin typeface="+mj-lt"/>
                        </a:rPr>
                        <a:t> i = </a:t>
                      </a:r>
                      <a:r>
                        <a:rPr lang="nn-NO" sz="1600" b="0">
                          <a:solidFill>
                            <a:srgbClr val="098658"/>
                          </a:solidFill>
                          <a:effectLst/>
                          <a:latin typeface="+mj-lt"/>
                        </a:rPr>
                        <a:t>0</a:t>
                      </a:r>
                      <a:r>
                        <a:rPr lang="nn-NO" sz="1600" b="0">
                          <a:solidFill>
                            <a:srgbClr val="000000"/>
                          </a:solidFill>
                          <a:effectLst/>
                          <a:latin typeface="+mj-lt"/>
                        </a:rPr>
                        <a:t>; i &lt; </a:t>
                      </a:r>
                      <a:r>
                        <a:rPr lang="nn-NO" sz="1600" b="0">
                          <a:solidFill>
                            <a:srgbClr val="098658"/>
                          </a:solidFill>
                          <a:effectLst/>
                          <a:latin typeface="+mj-lt"/>
                        </a:rPr>
                        <a:t>10</a:t>
                      </a:r>
                      <a:r>
                        <a:rPr lang="nn-NO" sz="1600" b="0">
                          <a:solidFill>
                            <a:srgbClr val="000000"/>
                          </a:solidFill>
                          <a:effectLst/>
                          <a:latin typeface="+mj-lt"/>
                        </a:rPr>
                        <a:t>; ++i) {</a:t>
                      </a:r>
                    </a:p>
                    <a:p>
                      <a:r>
                        <a:rPr lang="nn-NO" sz="1600" b="0">
                          <a:solidFill>
                            <a:srgbClr val="000000"/>
                          </a:solidFill>
                          <a:effectLst/>
                          <a:latin typeface="+mj-lt"/>
                        </a:rPr>
                        <a:t>    </a:t>
                      </a:r>
                      <a:r>
                        <a:rPr lang="nn-NO" sz="1600" b="0">
                          <a:solidFill>
                            <a:srgbClr val="0000FF"/>
                          </a:solidFill>
                          <a:effectLst/>
                          <a:latin typeface="+mj-lt"/>
                        </a:rPr>
                        <a:t>if</a:t>
                      </a:r>
                      <a:r>
                        <a:rPr lang="nn-NO" sz="1600" b="0">
                          <a:solidFill>
                            <a:srgbClr val="000000"/>
                          </a:solidFill>
                          <a:effectLst/>
                          <a:latin typeface="+mj-lt"/>
                        </a:rPr>
                        <a:t> (i % </a:t>
                      </a:r>
                      <a:r>
                        <a:rPr lang="nn-NO" sz="1600" b="0">
                          <a:solidFill>
                            <a:srgbClr val="098658"/>
                          </a:solidFill>
                          <a:effectLst/>
                          <a:latin typeface="+mj-lt"/>
                        </a:rPr>
                        <a:t>3</a:t>
                      </a:r>
                      <a:r>
                        <a:rPr lang="nn-NO" sz="1600" b="0">
                          <a:solidFill>
                            <a:srgbClr val="000000"/>
                          </a:solidFill>
                          <a:effectLst/>
                          <a:latin typeface="+mj-lt"/>
                        </a:rPr>
                        <a:t> == </a:t>
                      </a:r>
                      <a:r>
                        <a:rPr lang="nn-NO" sz="1600" b="0">
                          <a:solidFill>
                            <a:srgbClr val="098658"/>
                          </a:solidFill>
                          <a:effectLst/>
                          <a:latin typeface="+mj-lt"/>
                        </a:rPr>
                        <a:t>0</a:t>
                      </a:r>
                      <a:r>
                        <a:rPr lang="nn-NO" sz="1600" b="0">
                          <a:solidFill>
                            <a:srgbClr val="000000"/>
                          </a:solidFill>
                          <a:effectLst/>
                          <a:latin typeface="+mj-lt"/>
                        </a:rPr>
                        <a:t>) {</a:t>
                      </a:r>
                    </a:p>
                    <a:p>
                      <a:r>
                        <a:rPr lang="nn-NO" sz="1600" b="0">
                          <a:solidFill>
                            <a:srgbClr val="000000"/>
                          </a:solidFill>
                          <a:effectLst/>
                          <a:latin typeface="+mj-lt"/>
                        </a:rPr>
                        <a:t>        </a:t>
                      </a:r>
                      <a:r>
                        <a:rPr lang="en-US" sz="1600">
                          <a:solidFill>
                            <a:srgbClr val="000080"/>
                          </a:solidFill>
                          <a:latin typeface="Consolas"/>
                          <a:ea typeface="Segoe UI Emoji" panose="020B0502040204020203" pitchFamily="34" charset="0"/>
                        </a:rPr>
                        <a:t>PRINT</a:t>
                      </a:r>
                      <a:r>
                        <a:rPr lang="nn-NO" sz="1600" b="0">
                          <a:solidFill>
                            <a:srgbClr val="000000"/>
                          </a:solidFill>
                          <a:effectLst/>
                          <a:latin typeface="+mj-lt"/>
                        </a:rPr>
                        <a:t>(</a:t>
                      </a:r>
                      <a:r>
                        <a:rPr lang="nn-NO" sz="1600" b="0">
                          <a:solidFill>
                            <a:srgbClr val="A31515"/>
                          </a:solidFill>
                          <a:effectLst/>
                          <a:latin typeface="+mj-lt"/>
                        </a:rPr>
                        <a:t>"fizz"</a:t>
                      </a:r>
                      <a:r>
                        <a:rPr lang="nn-NO" sz="1600" b="0">
                          <a:solidFill>
                            <a:srgbClr val="000000"/>
                          </a:solidFill>
                          <a:effectLst/>
                          <a:latin typeface="+mj-lt"/>
                        </a:rPr>
                        <a:t>);</a:t>
                      </a:r>
                    </a:p>
                    <a:p>
                      <a:r>
                        <a:rPr lang="nn-NO" sz="1600" b="0">
                          <a:solidFill>
                            <a:srgbClr val="000000"/>
                          </a:solidFill>
                          <a:effectLst/>
                          <a:latin typeface="+mj-lt"/>
                        </a:rPr>
                        <a:t>    }</a:t>
                      </a:r>
                    </a:p>
                    <a:p>
                      <a:r>
                        <a:rPr lang="nn-NO" sz="1600" b="0">
                          <a:solidFill>
                            <a:srgbClr val="000000"/>
                          </a:solidFill>
                          <a:effectLst/>
                          <a:latin typeface="+mj-lt"/>
                        </a:rPr>
                        <a: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nn-NO" sz="1600" b="0">
                          <a:solidFill>
                            <a:srgbClr val="0000FF"/>
                          </a:solidFill>
                          <a:effectLst/>
                          <a:latin typeface="+mj-lt"/>
                        </a:rPr>
                        <a:t>for</a:t>
                      </a:r>
                      <a:r>
                        <a:rPr lang="nn-NO" sz="1600" b="0">
                          <a:solidFill>
                            <a:srgbClr val="000000"/>
                          </a:solidFill>
                          <a:effectLst/>
                          <a:latin typeface="+mj-lt"/>
                        </a:rPr>
                        <a:t> (</a:t>
                      </a:r>
                      <a:r>
                        <a:rPr lang="nn-NO" sz="1600" b="0">
                          <a:solidFill>
                            <a:srgbClr val="0000FF"/>
                          </a:solidFill>
                          <a:effectLst/>
                          <a:latin typeface="+mj-lt"/>
                        </a:rPr>
                        <a:t>int</a:t>
                      </a:r>
                      <a:r>
                        <a:rPr lang="nn-NO" sz="1600" b="0">
                          <a:solidFill>
                            <a:srgbClr val="000000"/>
                          </a:solidFill>
                          <a:effectLst/>
                          <a:latin typeface="+mj-lt"/>
                        </a:rPr>
                        <a:t> i = </a:t>
                      </a:r>
                      <a:r>
                        <a:rPr lang="nn-NO" sz="1600" b="0">
                          <a:solidFill>
                            <a:srgbClr val="098658"/>
                          </a:solidFill>
                          <a:effectLst/>
                          <a:latin typeface="+mj-lt"/>
                        </a:rPr>
                        <a:t>0</a:t>
                      </a:r>
                      <a:r>
                        <a:rPr lang="nn-NO" sz="1600" b="0">
                          <a:solidFill>
                            <a:srgbClr val="000000"/>
                          </a:solidFill>
                          <a:effectLst/>
                          <a:latin typeface="+mj-lt"/>
                        </a:rPr>
                        <a:t>; i &lt; </a:t>
                      </a:r>
                      <a:r>
                        <a:rPr lang="nn-NO" sz="1600" b="0">
                          <a:solidFill>
                            <a:srgbClr val="098658"/>
                          </a:solidFill>
                          <a:effectLst/>
                          <a:latin typeface="+mj-lt"/>
                        </a:rPr>
                        <a:t>10</a:t>
                      </a:r>
                      <a:r>
                        <a:rPr lang="nn-NO" sz="1600" b="0">
                          <a:solidFill>
                            <a:srgbClr val="000000"/>
                          </a:solidFill>
                          <a:effectLst/>
                          <a:latin typeface="+mj-lt"/>
                        </a:rPr>
                        <a:t>; ++i) {</a:t>
                      </a:r>
                    </a:p>
                    <a:p>
                      <a:r>
                        <a:rPr lang="nn-NO" sz="1600" b="0">
                          <a:solidFill>
                            <a:srgbClr val="000000"/>
                          </a:solidFill>
                          <a:effectLst/>
                          <a:latin typeface="+mj-lt"/>
                        </a:rPr>
                        <a:t>    </a:t>
                      </a:r>
                      <a:r>
                        <a:rPr lang="nn-NO" sz="1600" b="0">
                          <a:solidFill>
                            <a:srgbClr val="0000FF"/>
                          </a:solidFill>
                          <a:effectLst/>
                          <a:latin typeface="+mj-lt"/>
                        </a:rPr>
                        <a:t>if</a:t>
                      </a:r>
                      <a:r>
                        <a:rPr lang="nn-NO" sz="1600" b="0">
                          <a:solidFill>
                            <a:srgbClr val="000000"/>
                          </a:solidFill>
                          <a:effectLst/>
                          <a:latin typeface="+mj-lt"/>
                        </a:rPr>
                        <a:t> (i % </a:t>
                      </a:r>
                      <a:r>
                        <a:rPr lang="nn-NO" sz="1600" b="0">
                          <a:solidFill>
                            <a:srgbClr val="098658"/>
                          </a:solidFill>
                          <a:effectLst/>
                          <a:latin typeface="+mj-lt"/>
                        </a:rPr>
                        <a:t>3</a:t>
                      </a:r>
                      <a:r>
                        <a:rPr lang="nn-NO" sz="1600" b="0">
                          <a:solidFill>
                            <a:srgbClr val="000000"/>
                          </a:solidFill>
                          <a:effectLst/>
                          <a:latin typeface="+mj-lt"/>
                        </a:rPr>
                        <a:t> == </a:t>
                      </a:r>
                      <a:r>
                        <a:rPr lang="nn-NO" sz="1600" b="0">
                          <a:solidFill>
                            <a:srgbClr val="098658"/>
                          </a:solidFill>
                          <a:effectLst/>
                          <a:latin typeface="+mj-lt"/>
                        </a:rPr>
                        <a:t>0</a:t>
                      </a:r>
                      <a:r>
                        <a:rPr lang="nn-NO" sz="1600" b="0">
                          <a:solidFill>
                            <a:srgbClr val="000000"/>
                          </a:solidFill>
                          <a:effectLst/>
                          <a:latin typeface="+mj-lt"/>
                        </a:rPr>
                        <a:t>) {                   }</a:t>
                      </a:r>
                    </a:p>
                    <a:p>
                      <a:r>
                        <a:rPr lang="nn-NO" sz="1600" b="0">
                          <a:solidFill>
                            <a:srgbClr val="000000"/>
                          </a:solidFill>
                          <a:effectLst/>
                          <a:latin typeface="+mj-lt"/>
                        </a:rPr>
                        <a:t>        </a:t>
                      </a:r>
                      <a:r>
                        <a:rPr lang="en-US" sz="1600">
                          <a:solidFill>
                            <a:srgbClr val="000080"/>
                          </a:solidFill>
                          <a:latin typeface="Consolas"/>
                          <a:ea typeface="Segoe UI Emoji" panose="020B0502040204020203" pitchFamily="34" charset="0"/>
                        </a:rPr>
                        <a:t>PRINT</a:t>
                      </a:r>
                      <a:r>
                        <a:rPr lang="nn-NO" sz="1600" b="0">
                          <a:solidFill>
                            <a:srgbClr val="000000"/>
                          </a:solidFill>
                          <a:effectLst/>
                          <a:latin typeface="+mj-lt"/>
                        </a:rPr>
                        <a:t>(</a:t>
                      </a:r>
                      <a:r>
                        <a:rPr lang="nn-NO" sz="1600" b="0">
                          <a:solidFill>
                            <a:srgbClr val="A31515"/>
                          </a:solidFill>
                          <a:effectLst/>
                          <a:latin typeface="+mj-lt"/>
                        </a:rPr>
                        <a:t>"fizz"</a:t>
                      </a:r>
                      <a:r>
                        <a:rPr lang="nn-NO" sz="1600" b="0">
                          <a:solidFill>
                            <a:srgbClr val="000000"/>
                          </a:solidFill>
                          <a:effectLst/>
                          <a:latin typeface="+mj-lt"/>
                        </a:rPr>
                        <a:t>);</a:t>
                      </a:r>
                    </a:p>
                    <a:p>
                      <a:endParaRPr lang="nn-NO" sz="1600" b="0">
                        <a:solidFill>
                          <a:srgbClr val="000000"/>
                        </a:solidFill>
                        <a:effectLst/>
                        <a:latin typeface="+mj-lt"/>
                      </a:endParaRPr>
                    </a:p>
                    <a:p>
                      <a:r>
                        <a:rPr lang="nn-NO" sz="1600" b="0">
                          <a:solidFill>
                            <a:srgbClr val="000000"/>
                          </a:solidFill>
                          <a:effectLst/>
                          <a:latin typeface="+mj-lt"/>
                        </a:rPr>
                        <a: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0195477"/>
                  </a:ext>
                </a:extLst>
              </a:tr>
            </a:tbl>
          </a:graphicData>
        </a:graphic>
      </p:graphicFrame>
    </p:spTree>
    <p:extLst>
      <p:ext uri="{BB962C8B-B14F-4D97-AF65-F5344CB8AC3E}">
        <p14:creationId xmlns:p14="http://schemas.microsoft.com/office/powerpoint/2010/main" val="4244907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6E5C3-2564-C2B5-E2D1-23A9C1D2B3D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DD4ECC2-F3A2-6D14-B95C-5F092B0416BA}"/>
              </a:ext>
            </a:extLst>
          </p:cNvPr>
          <p:cNvSpPr>
            <a:spLocks noGrp="1"/>
          </p:cNvSpPr>
          <p:nvPr>
            <p:ph type="title"/>
          </p:nvPr>
        </p:nvSpPr>
        <p:spPr/>
        <p:txBody>
          <a:bodyPr/>
          <a:lstStyle/>
          <a:p>
            <a:r>
              <a:rPr lang="en-US"/>
              <a:t>scope</a:t>
            </a:r>
          </a:p>
        </p:txBody>
      </p:sp>
    </p:spTree>
    <p:extLst>
      <p:ext uri="{BB962C8B-B14F-4D97-AF65-F5344CB8AC3E}">
        <p14:creationId xmlns:p14="http://schemas.microsoft.com/office/powerpoint/2010/main" val="2015532087"/>
      </p:ext>
    </p:extLst>
  </p:cSld>
  <p:clrMapOvr>
    <a:masterClrMapping/>
  </p:clrMapOvr>
</p:sld>
</file>

<file path=ppt/slides/slide8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6BF38-D974-FA6F-138B-039795B28F9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1924830-8161-85C9-6096-D6BC59116652}"/>
              </a:ext>
            </a:extLst>
          </p:cNvPr>
          <p:cNvSpPr>
            <a:spLocks noGrp="1"/>
          </p:cNvSpPr>
          <p:nvPr>
            <p:ph type="title"/>
          </p:nvPr>
        </p:nvSpPr>
        <p:spPr>
          <a:xfrm>
            <a:off x="457200" y="2143125"/>
            <a:ext cx="8229600" cy="857250"/>
          </a:xfrm>
        </p:spPr>
        <p:txBody>
          <a:bodyPr/>
          <a:lstStyle/>
          <a:p>
            <a:r>
              <a:rPr lang="en-US"/>
              <a:t>scope</a:t>
            </a:r>
          </a:p>
        </p:txBody>
      </p:sp>
    </p:spTree>
    <p:extLst>
      <p:ext uri="{BB962C8B-B14F-4D97-AF65-F5344CB8AC3E}">
        <p14:creationId xmlns:p14="http://schemas.microsoft.com/office/powerpoint/2010/main" val="3146169591"/>
      </p:ext>
    </p:extLst>
  </p:cSld>
  <p:clrMapOvr>
    <a:masterClrMapping/>
  </p:clrMapOvr>
</p:sld>
</file>

<file path=ppt/slides/slide8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4B9A5-1C7F-16B3-8673-EE4E0E07EB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F633A-DBA9-DC25-5D55-801FE0A4FA78}"/>
              </a:ext>
            </a:extLst>
          </p:cNvPr>
          <p:cNvSpPr>
            <a:spLocks noGrp="1"/>
          </p:cNvSpPr>
          <p:nvPr>
            <p:ph type="title"/>
          </p:nvPr>
        </p:nvSpPr>
        <p:spPr/>
        <p:txBody>
          <a:bodyPr/>
          <a:lstStyle/>
          <a:p>
            <a:r>
              <a:rPr lang="en-US"/>
              <a:t>scope</a:t>
            </a:r>
          </a:p>
        </p:txBody>
      </p:sp>
      <p:sp>
        <p:nvSpPr>
          <p:cNvPr id="3" name="Content Placeholder 2">
            <a:extLst>
              <a:ext uri="{FF2B5EF4-FFF2-40B4-BE49-F238E27FC236}">
                <a16:creationId xmlns:a16="http://schemas.microsoft.com/office/drawing/2014/main" id="{E87488CF-BA80-0090-37D6-1376B0EC6FE8}"/>
              </a:ext>
            </a:extLst>
          </p:cNvPr>
          <p:cNvSpPr>
            <a:spLocks noGrp="1"/>
          </p:cNvSpPr>
          <p:nvPr>
            <p:ph sz="quarter" idx="10"/>
          </p:nvPr>
        </p:nvSpPr>
        <p:spPr/>
        <p:txBody>
          <a:bodyPr/>
          <a:lstStyle/>
          <a:p>
            <a:r>
              <a:rPr lang="en-US"/>
              <a:t>a </a:t>
            </a:r>
            <a:r>
              <a:rPr lang="en-US" b="1"/>
              <a:t>scope</a:t>
            </a:r>
            <a:r>
              <a:rPr lang="en-US"/>
              <a:t> is a region of code in which variables live</a:t>
            </a:r>
          </a:p>
          <a:p>
            <a:pPr lvl="1"/>
            <a:r>
              <a:rPr lang="en-US"/>
              <a:t>in Java, a scope is (usually) defined by a pair of curly braces</a:t>
            </a:r>
          </a:p>
          <a:p>
            <a:pPr lvl="2"/>
            <a:r>
              <a:rPr lang="en-US">
                <a:solidFill>
                  <a:srgbClr val="BFBFBF"/>
                </a:solidFill>
                <a:latin typeface="Consolas" panose="020B0609020204030204" pitchFamily="49" charset="0"/>
              </a:rPr>
              <a:t>OUTER_SCOPE</a:t>
            </a:r>
            <a:r>
              <a:rPr lang="en-US">
                <a:latin typeface="Consolas" panose="020B0609020204030204" pitchFamily="49" charset="0"/>
              </a:rPr>
              <a:t> </a:t>
            </a:r>
            <a:r>
              <a:rPr lang="en-US">
                <a:highlight>
                  <a:srgbClr val="00FFFF"/>
                </a:highlight>
                <a:latin typeface="Consolas" panose="020B0609020204030204" pitchFamily="49" charset="0"/>
              </a:rPr>
              <a:t>{ INNER_SCOPE }</a:t>
            </a:r>
            <a:r>
              <a:rPr lang="en-US">
                <a:latin typeface="Consolas" panose="020B0609020204030204" pitchFamily="49" charset="0"/>
              </a:rPr>
              <a:t> </a:t>
            </a:r>
            <a:r>
              <a:rPr lang="en-US">
                <a:solidFill>
                  <a:srgbClr val="BFBFBF"/>
                </a:solidFill>
                <a:latin typeface="Consolas" panose="020B0609020204030204" pitchFamily="49" charset="0"/>
              </a:rPr>
              <a:t>OUTER_SCOPE</a:t>
            </a:r>
          </a:p>
        </p:txBody>
      </p:sp>
      <p:sp>
        <p:nvSpPr>
          <p:cNvPr id="4" name="TextBox 3">
            <a:extLst>
              <a:ext uri="{FF2B5EF4-FFF2-40B4-BE49-F238E27FC236}">
                <a16:creationId xmlns:a16="http://schemas.microsoft.com/office/drawing/2014/main" id="{E438C9A1-B462-B120-835D-8DE9E9F279C5}"/>
              </a:ext>
            </a:extLst>
          </p:cNvPr>
          <p:cNvSpPr txBox="1"/>
          <p:nvPr/>
        </p:nvSpPr>
        <p:spPr>
          <a:xfrm>
            <a:off x="457200" y="2181286"/>
            <a:ext cx="8229600" cy="2862322"/>
          </a:xfrm>
          <a:prstGeom prst="rect">
            <a:avLst/>
          </a:prstGeom>
          <a:solidFill>
            <a:schemeClr val="bg1"/>
          </a:solidFill>
          <a:ln>
            <a:solidFill>
              <a:schemeClr val="tx1"/>
            </a:solidFill>
          </a:ln>
        </p:spPr>
        <p:txBody>
          <a:bodyPr wrap="square" rtlCol="0">
            <a:spAutoFit/>
          </a:bodyPr>
          <a:lstStyle/>
          <a:p>
            <a:pPr lvl="0"/>
            <a:r>
              <a:rPr lang="en-US">
                <a:solidFill>
                  <a:srgbClr val="000000"/>
                </a:solidFill>
                <a:latin typeface="Consolas"/>
              </a:rPr>
              <a:t>{</a:t>
            </a:r>
          </a:p>
          <a:p>
            <a:pPr lvl="0"/>
            <a:r>
              <a:rPr lang="en-US">
                <a:solidFill>
                  <a:srgbClr val="000000"/>
                </a:solidFill>
                <a:latin typeface="Consolas"/>
              </a:rPr>
              <a:t>    </a:t>
            </a:r>
            <a:r>
              <a:rPr lang="en-US">
                <a:solidFill>
                  <a:srgbClr val="0000FF"/>
                </a:solidFill>
                <a:latin typeface="Consolas"/>
              </a:rPr>
              <a:t>int </a:t>
            </a:r>
            <a:r>
              <a:rPr lang="en-US">
                <a:latin typeface="Consolas"/>
              </a:rPr>
              <a:t>i;</a:t>
            </a:r>
            <a:endParaRPr lang="en-US">
              <a:solidFill>
                <a:srgbClr val="BFBFBF"/>
              </a:solidFill>
              <a:latin typeface="Consolas"/>
            </a:endParaRPr>
          </a:p>
          <a:p>
            <a:pPr lvl="0"/>
            <a:r>
              <a:rPr lang="en-US">
                <a:solidFill>
                  <a:srgbClr val="BFBFBF"/>
                </a:solidFill>
                <a:latin typeface="Consolas"/>
              </a:rPr>
              <a:t>    </a:t>
            </a:r>
            <a:r>
              <a:rPr lang="en-US">
                <a:latin typeface="Consolas"/>
              </a:rPr>
              <a:t>{</a:t>
            </a:r>
          </a:p>
          <a:p>
            <a:pPr lvl="0"/>
            <a:r>
              <a:rPr lang="en-US">
                <a:latin typeface="Consolas"/>
              </a:rPr>
              <a:t>        </a:t>
            </a:r>
            <a:r>
              <a:rPr lang="en-US">
                <a:solidFill>
                  <a:srgbClr val="0000FF"/>
                </a:solidFill>
                <a:latin typeface="Consolas"/>
              </a:rPr>
              <a:t>int </a:t>
            </a:r>
            <a:r>
              <a:rPr lang="en-US">
                <a:latin typeface="Consolas"/>
              </a:rPr>
              <a:t>j;</a:t>
            </a:r>
          </a:p>
          <a:p>
            <a:pPr lvl="0"/>
            <a:r>
              <a:rPr lang="en-US">
                <a:latin typeface="Consolas"/>
              </a:rPr>
              <a:t>        </a:t>
            </a:r>
            <a:r>
              <a:rPr lang="en-US">
                <a:solidFill>
                  <a:srgbClr val="007B00"/>
                </a:solidFill>
                <a:latin typeface="Consolas"/>
              </a:rPr>
              <a:t>// you CAN use i here </a:t>
            </a:r>
            <a:r>
              <a:rPr lang="en-US">
                <a:solidFill>
                  <a:srgbClr val="007B00"/>
                </a:solidFill>
                <a:latin typeface="Segoe UI Emoji" panose="020B0502040204020203" pitchFamily="34" charset="0"/>
                <a:ea typeface="Segoe UI Emoji" panose="020B0502040204020203" pitchFamily="34" charset="0"/>
              </a:rPr>
              <a:t>🙆‍♂️</a:t>
            </a:r>
            <a:endParaRPr lang="en-US">
              <a:solidFill>
                <a:srgbClr val="007B00"/>
              </a:solidFill>
              <a:latin typeface="Consolas"/>
            </a:endParaRPr>
          </a:p>
          <a:p>
            <a:pPr lvl="0"/>
            <a:r>
              <a:rPr lang="en-US">
                <a:latin typeface="Consolas"/>
              </a:rPr>
              <a:t>        </a:t>
            </a:r>
            <a:r>
              <a:rPr lang="en-US">
                <a:solidFill>
                  <a:srgbClr val="007B00"/>
                </a:solidFill>
                <a:latin typeface="Consolas"/>
              </a:rPr>
              <a:t>// you CAN use j here</a:t>
            </a:r>
            <a:r>
              <a:rPr lang="en-US">
                <a:solidFill>
                  <a:srgbClr val="007B00"/>
                </a:solidFill>
                <a:latin typeface="Segoe UI Emoji" panose="020B0502040204020203" pitchFamily="34" charset="0"/>
                <a:ea typeface="Segoe UI Emoji" panose="020B0502040204020203" pitchFamily="34" charset="0"/>
              </a:rPr>
              <a:t> 🙆‍♂️</a:t>
            </a:r>
            <a:endParaRPr lang="en-US">
              <a:solidFill>
                <a:srgbClr val="0000FF"/>
              </a:solidFill>
              <a:latin typeface="Consolas"/>
            </a:endParaRPr>
          </a:p>
          <a:p>
            <a:pPr lvl="0"/>
            <a:r>
              <a:rPr lang="en-US">
                <a:latin typeface="Consolas"/>
              </a:rPr>
              <a:t>    }</a:t>
            </a:r>
          </a:p>
          <a:p>
            <a:pPr lvl="0"/>
            <a:r>
              <a:rPr lang="en-US">
                <a:latin typeface="Consolas"/>
              </a:rPr>
              <a:t>    </a:t>
            </a:r>
            <a:r>
              <a:rPr lang="en-US">
                <a:solidFill>
                  <a:srgbClr val="007B00"/>
                </a:solidFill>
                <a:latin typeface="Consolas"/>
              </a:rPr>
              <a:t>// you CAN use i here</a:t>
            </a:r>
            <a:r>
              <a:rPr lang="en-US">
                <a:solidFill>
                  <a:srgbClr val="007B00"/>
                </a:solidFill>
                <a:latin typeface="Segoe UI Emoji" panose="020B0502040204020203" pitchFamily="34" charset="0"/>
                <a:ea typeface="Segoe UI Emoji" panose="020B0502040204020203" pitchFamily="34" charset="0"/>
              </a:rPr>
              <a:t> 🙆‍♂️</a:t>
            </a:r>
            <a:endParaRPr lang="en-US">
              <a:solidFill>
                <a:srgbClr val="007B00"/>
              </a:solidFill>
              <a:latin typeface="Consolas"/>
            </a:endParaRPr>
          </a:p>
          <a:p>
            <a:pPr lvl="0"/>
            <a:r>
              <a:rPr lang="en-US">
                <a:latin typeface="Consolas"/>
              </a:rPr>
              <a:t>    </a:t>
            </a:r>
            <a:r>
              <a:rPr lang="en-US">
                <a:solidFill>
                  <a:srgbClr val="007B00"/>
                </a:solidFill>
                <a:latin typeface="Consolas"/>
              </a:rPr>
              <a:t>// you CANNOT use j here </a:t>
            </a:r>
            <a:r>
              <a:rPr lang="en-US">
                <a:solidFill>
                  <a:srgbClr val="007B00"/>
                </a:solidFill>
                <a:latin typeface="Segoe UI Emoji" panose="020B0502040204020203" pitchFamily="34" charset="0"/>
                <a:ea typeface="Segoe UI Emoji" panose="020B0502040204020203" pitchFamily="34" charset="0"/>
              </a:rPr>
              <a:t>🙅</a:t>
            </a:r>
            <a:endParaRPr lang="en-US">
              <a:solidFill>
                <a:srgbClr val="007B00"/>
              </a:solidFill>
              <a:latin typeface="Consolas"/>
            </a:endParaRPr>
          </a:p>
          <a:p>
            <a:pPr lvl="0"/>
            <a:r>
              <a:rPr lang="en-US">
                <a:solidFill>
                  <a:srgbClr val="000000"/>
                </a:solidFill>
                <a:latin typeface="Consolas"/>
              </a:rPr>
              <a:t>}</a:t>
            </a:r>
          </a:p>
        </p:txBody>
      </p:sp>
    </p:spTree>
    <p:extLst>
      <p:ext uri="{BB962C8B-B14F-4D97-AF65-F5344CB8AC3E}">
        <p14:creationId xmlns:p14="http://schemas.microsoft.com/office/powerpoint/2010/main" val="988809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6F411-635B-1BD2-EF72-DE03D06FF7A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D23740F-B3F5-2465-2882-8C9027765E94}"/>
              </a:ext>
            </a:extLst>
          </p:cNvPr>
          <p:cNvSpPr>
            <a:spLocks noGrp="1"/>
          </p:cNvSpPr>
          <p:nvPr>
            <p:ph type="title"/>
          </p:nvPr>
        </p:nvSpPr>
        <p:spPr/>
        <p:txBody>
          <a:bodyPr/>
          <a:lstStyle/>
          <a:p>
            <a:r>
              <a:rPr lang="en-US"/>
              <a:t>common scope-related errors</a:t>
            </a:r>
          </a:p>
        </p:txBody>
      </p:sp>
    </p:spTree>
    <p:extLst>
      <p:ext uri="{BB962C8B-B14F-4D97-AF65-F5344CB8AC3E}">
        <p14:creationId xmlns:p14="http://schemas.microsoft.com/office/powerpoint/2010/main" val="718565456"/>
      </p:ext>
    </p:extLst>
  </p:cSld>
  <p:clrMapOvr>
    <a:masterClrMapping/>
  </p:clrMapOvr>
</p:sld>
</file>

<file path=ppt/slides/slide8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2C6A9-D660-E1F7-46C0-7A97A91B64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6C2CD4-65D3-FA83-7414-ADAB2EE482CC}"/>
              </a:ext>
            </a:extLst>
          </p:cNvPr>
          <p:cNvSpPr>
            <a:spLocks noGrp="1"/>
          </p:cNvSpPr>
          <p:nvPr>
            <p:ph type="title"/>
          </p:nvPr>
        </p:nvSpPr>
        <p:spPr/>
        <p:txBody>
          <a:bodyPr/>
          <a:lstStyle/>
          <a:p>
            <a:r>
              <a:rPr lang="en-US">
                <a:effectLst/>
              </a:rPr>
              <a:t>cannot be resolved to a variable</a:t>
            </a:r>
            <a:endParaRPr lang="en-US"/>
          </a:p>
        </p:txBody>
      </p:sp>
      <p:sp>
        <p:nvSpPr>
          <p:cNvPr id="12" name="TextBox 11">
            <a:extLst>
              <a:ext uri="{FF2B5EF4-FFF2-40B4-BE49-F238E27FC236}">
                <a16:creationId xmlns:a16="http://schemas.microsoft.com/office/drawing/2014/main" id="{C34600BF-9ED0-69F2-C1F2-74B410DFB916}"/>
              </a:ext>
            </a:extLst>
          </p:cNvPr>
          <p:cNvSpPr txBox="1"/>
          <p:nvPr/>
        </p:nvSpPr>
        <p:spPr>
          <a:xfrm>
            <a:off x="457200" y="918266"/>
            <a:ext cx="8229600" cy="3693319"/>
          </a:xfrm>
          <a:prstGeom prst="rect">
            <a:avLst/>
          </a:prstGeom>
          <a:solidFill>
            <a:schemeClr val="bg1"/>
          </a:solidFill>
          <a:ln>
            <a:solidFill>
              <a:schemeClr val="tx1"/>
            </a:solidFill>
          </a:ln>
        </p:spPr>
        <p:txBody>
          <a:bodyPr wrap="square" rtlCol="0">
            <a:spAutoFit/>
          </a:bodyPr>
          <a:lstStyle/>
          <a:p>
            <a:pPr lvl="0"/>
            <a:r>
              <a:rPr lang="en-US" b="1">
                <a:highlight>
                  <a:srgbClr val="FFFF00"/>
                </a:highlight>
                <a:latin typeface="Consolas"/>
              </a:rPr>
              <a:t>Compile Error:</a:t>
            </a:r>
            <a:r>
              <a:rPr lang="en-US">
                <a:highlight>
                  <a:srgbClr val="FFFF00"/>
                </a:highlight>
                <a:latin typeface="Consolas"/>
              </a:rPr>
              <a:t> f</a:t>
            </a:r>
            <a:r>
              <a:rPr lang="en-US">
                <a:highlight>
                  <a:srgbClr val="FFFF00"/>
                </a:highlight>
                <a:latin typeface="Consolas" panose="020B0609020204030204" pitchFamily="49" charset="0"/>
                <a:cs typeface="Consolas" panose="020B0609020204030204" pitchFamily="49" charset="0"/>
              </a:rPr>
              <a:t>oo </a:t>
            </a:r>
            <a:r>
              <a:rPr lang="en-US">
                <a:effectLst/>
                <a:highlight>
                  <a:srgbClr val="FFFF00"/>
                </a:highlight>
                <a:latin typeface="Consolas" panose="020B0609020204030204" pitchFamily="49" charset="0"/>
                <a:cs typeface="Consolas" panose="020B0609020204030204" pitchFamily="49" charset="0"/>
              </a:rPr>
              <a:t>cannot be resolved to a variable</a:t>
            </a:r>
            <a:endParaRPr lang="en-US">
              <a:highlight>
                <a:srgbClr val="FFFF00"/>
              </a:highlight>
              <a:latin typeface="Consolas" panose="020B0609020204030204" pitchFamily="49" charset="0"/>
              <a:cs typeface="Consolas" panose="020B0609020204030204" pitchFamily="49" charset="0"/>
            </a:endParaRPr>
          </a:p>
          <a:p>
            <a:pPr lvl="0"/>
            <a:endParaRPr lang="en-US">
              <a:solidFill>
                <a:srgbClr val="0000FF"/>
              </a:solidFill>
              <a:highlight>
                <a:srgbClr val="FFFF00"/>
              </a:highlight>
              <a:latin typeface="Consolas"/>
            </a:endParaRPr>
          </a:p>
          <a:p>
            <a:pPr lvl="0"/>
            <a:r>
              <a:rPr lang="en-US">
                <a:solidFill>
                  <a:srgbClr val="0000FF"/>
                </a:solidFill>
                <a:latin typeface="Consolas"/>
              </a:rPr>
              <a:t>class</a:t>
            </a:r>
            <a:r>
              <a:rPr lang="en-US">
                <a:latin typeface="Consolas"/>
              </a:rPr>
              <a:t> </a:t>
            </a:r>
            <a:r>
              <a:rPr lang="en-US">
                <a:solidFill>
                  <a:srgbClr val="000080"/>
                </a:solidFill>
                <a:latin typeface="Consolas"/>
              </a:rPr>
              <a:t>Main</a:t>
            </a:r>
            <a:r>
              <a:rPr lang="en-US">
                <a:latin typeface="Consolas"/>
              </a:rPr>
              <a:t> extends </a:t>
            </a:r>
            <a:r>
              <a:rPr lang="en-US">
                <a:solidFill>
                  <a:srgbClr val="000080"/>
                </a:solidFill>
                <a:latin typeface="Consolas"/>
              </a:rPr>
              <a:t>Cow </a:t>
            </a:r>
            <a:r>
              <a:rPr lang="en-US">
                <a:latin typeface="Consolas"/>
              </a:rPr>
              <a:t>{</a:t>
            </a:r>
          </a:p>
          <a:p>
            <a:pPr lvl="0"/>
            <a:r>
              <a:rPr lang="en-US">
                <a:latin typeface="Consolas"/>
              </a:rPr>
              <a:t>    </a:t>
            </a:r>
            <a:r>
              <a:rPr lang="en-US">
                <a:solidFill>
                  <a:srgbClr val="0000FF"/>
                </a:solidFill>
                <a:latin typeface="Consolas"/>
              </a:rPr>
              <a:t>public</a:t>
            </a:r>
            <a:r>
              <a:rPr lang="en-US">
                <a:latin typeface="Consolas"/>
              </a:rPr>
              <a:t> </a:t>
            </a:r>
            <a:r>
              <a:rPr lang="en-US">
                <a:solidFill>
                  <a:srgbClr val="0000FF"/>
                </a:solidFill>
                <a:latin typeface="Consolas"/>
              </a:rPr>
              <a:t>static</a:t>
            </a:r>
            <a:r>
              <a:rPr lang="en-US">
                <a:latin typeface="Consolas"/>
              </a:rPr>
              <a:t> </a:t>
            </a:r>
            <a:r>
              <a:rPr lang="en-US">
                <a:solidFill>
                  <a:srgbClr val="000080"/>
                </a:solidFill>
                <a:latin typeface="Consolas"/>
              </a:rPr>
              <a:t>void</a:t>
            </a:r>
            <a:r>
              <a:rPr lang="en-US">
                <a:latin typeface="Consolas"/>
              </a:rPr>
              <a:t> main(</a:t>
            </a:r>
            <a:r>
              <a:rPr lang="en-US">
                <a:solidFill>
                  <a:srgbClr val="000080"/>
                </a:solidFill>
                <a:latin typeface="Consolas"/>
              </a:rPr>
              <a:t>String</a:t>
            </a:r>
            <a:r>
              <a:rPr lang="en-US">
                <a:latin typeface="Consolas"/>
              </a:rPr>
              <a:t>[] arguments) {</a:t>
            </a:r>
          </a:p>
          <a:p>
            <a:pPr lvl="0"/>
            <a:r>
              <a:rPr lang="en-US">
                <a:latin typeface="Consolas"/>
              </a:rPr>
              <a:t>        </a:t>
            </a:r>
            <a:r>
              <a:rPr lang="en-US">
                <a:solidFill>
                  <a:srgbClr val="0000FF"/>
                </a:solidFill>
                <a:latin typeface="Consolas"/>
              </a:rPr>
              <a:t>if</a:t>
            </a:r>
            <a:r>
              <a:rPr lang="en-US">
                <a:latin typeface="Consolas"/>
              </a:rPr>
              <a:t> (</a:t>
            </a:r>
            <a:r>
              <a:rPr lang="en-US">
                <a:solidFill>
                  <a:srgbClr val="BFBFBF"/>
                </a:solidFill>
                <a:latin typeface="Consolas"/>
              </a:rPr>
              <a:t>...</a:t>
            </a:r>
            <a:r>
              <a:rPr lang="en-US">
                <a:latin typeface="Consolas"/>
              </a:rPr>
              <a:t>) {</a:t>
            </a:r>
          </a:p>
          <a:p>
            <a:pPr lvl="0"/>
            <a:r>
              <a:rPr lang="en-US">
                <a:latin typeface="Consolas"/>
              </a:rPr>
              <a:t>            </a:t>
            </a:r>
            <a:r>
              <a:rPr lang="en-US">
                <a:solidFill>
                  <a:srgbClr val="000080"/>
                </a:solidFill>
                <a:latin typeface="Consolas"/>
              </a:rPr>
              <a:t>int</a:t>
            </a:r>
            <a:r>
              <a:rPr lang="en-US">
                <a:latin typeface="Consolas"/>
              </a:rPr>
              <a:t> foo = 0;</a:t>
            </a:r>
          </a:p>
          <a:p>
            <a:pPr lvl="0"/>
            <a:r>
              <a:rPr lang="en-US">
                <a:latin typeface="Consolas"/>
              </a:rPr>
              <a:t>        } </a:t>
            </a:r>
            <a:r>
              <a:rPr lang="en-US">
                <a:solidFill>
                  <a:srgbClr val="0000FF"/>
                </a:solidFill>
                <a:latin typeface="Consolas"/>
              </a:rPr>
              <a:t>else</a:t>
            </a:r>
            <a:r>
              <a:rPr lang="en-US">
                <a:latin typeface="Consolas"/>
              </a:rPr>
              <a:t> {</a:t>
            </a:r>
          </a:p>
          <a:p>
            <a:pPr lvl="0"/>
            <a:r>
              <a:rPr lang="en-US">
                <a:latin typeface="Consolas"/>
              </a:rPr>
              <a:t>            </a:t>
            </a:r>
            <a:r>
              <a:rPr lang="en-US">
                <a:solidFill>
                  <a:srgbClr val="000080"/>
                </a:solidFill>
                <a:latin typeface="Consolas"/>
              </a:rPr>
              <a:t>int</a:t>
            </a:r>
            <a:r>
              <a:rPr lang="en-US">
                <a:latin typeface="Consolas"/>
              </a:rPr>
              <a:t> foo = 1;</a:t>
            </a:r>
          </a:p>
          <a:p>
            <a:pPr lvl="0"/>
            <a:r>
              <a:rPr lang="en-US">
                <a:latin typeface="Consolas"/>
              </a:rPr>
              <a:t>        }</a:t>
            </a:r>
          </a:p>
          <a:p>
            <a:pPr lvl="0"/>
            <a:r>
              <a:rPr lang="en-US">
                <a:highlight>
                  <a:srgbClr val="FFFF00"/>
                </a:highlight>
                <a:latin typeface="Consolas"/>
              </a:rPr>
              <a:t>        PRINT(foo);</a:t>
            </a:r>
          </a:p>
          <a:p>
            <a:pPr lvl="0"/>
            <a:r>
              <a:rPr lang="en-US">
                <a:latin typeface="Consolas"/>
              </a:rPr>
              <a:t>    }</a:t>
            </a:r>
          </a:p>
          <a:p>
            <a:pPr lvl="0"/>
            <a:r>
              <a:rPr lang="en-US">
                <a:latin typeface="Consolas"/>
              </a:rPr>
              <a:t>}</a:t>
            </a:r>
          </a:p>
          <a:p>
            <a:pPr lvl="0"/>
            <a:endParaRPr lang="en-US">
              <a:latin typeface="Consolas"/>
            </a:endParaRPr>
          </a:p>
        </p:txBody>
      </p:sp>
    </p:spTree>
    <p:extLst>
      <p:ext uri="{BB962C8B-B14F-4D97-AF65-F5344CB8AC3E}">
        <p14:creationId xmlns:p14="http://schemas.microsoft.com/office/powerpoint/2010/main" val="1691261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8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99AAA-7B47-A883-1A00-E015D7DF8C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19AB0A-0736-6087-CB93-850F78ABE5B8}"/>
              </a:ext>
            </a:extLst>
          </p:cNvPr>
          <p:cNvSpPr>
            <a:spLocks noGrp="1"/>
          </p:cNvSpPr>
          <p:nvPr>
            <p:ph type="title"/>
          </p:nvPr>
        </p:nvSpPr>
        <p:spPr/>
        <p:txBody>
          <a:bodyPr/>
          <a:lstStyle/>
          <a:p>
            <a:r>
              <a:rPr lang="en-US">
                <a:effectLst/>
              </a:rPr>
              <a:t>cannot be resolved to a variable</a:t>
            </a:r>
            <a:endParaRPr lang="en-US"/>
          </a:p>
        </p:txBody>
      </p:sp>
      <p:sp>
        <p:nvSpPr>
          <p:cNvPr id="3" name="TextBox 2">
            <a:extLst>
              <a:ext uri="{FF2B5EF4-FFF2-40B4-BE49-F238E27FC236}">
                <a16:creationId xmlns:a16="http://schemas.microsoft.com/office/drawing/2014/main" id="{EBE266BE-37EC-87A1-AB41-311675913FA8}"/>
              </a:ext>
            </a:extLst>
          </p:cNvPr>
          <p:cNvSpPr txBox="1"/>
          <p:nvPr/>
        </p:nvSpPr>
        <p:spPr>
          <a:xfrm>
            <a:off x="457200" y="922084"/>
            <a:ext cx="8229600" cy="3693319"/>
          </a:xfrm>
          <a:prstGeom prst="rect">
            <a:avLst/>
          </a:prstGeom>
          <a:solidFill>
            <a:schemeClr val="bg1"/>
          </a:solidFill>
          <a:ln>
            <a:solidFill>
              <a:schemeClr val="tx1"/>
            </a:solidFill>
          </a:ln>
        </p:spPr>
        <p:txBody>
          <a:bodyPr wrap="square" rtlCol="0">
            <a:spAutoFit/>
          </a:bodyPr>
          <a:lstStyle/>
          <a:p>
            <a:pPr lvl="0"/>
            <a:endParaRPr lang="en-US">
              <a:latin typeface="Consolas"/>
            </a:endParaRPr>
          </a:p>
          <a:p>
            <a:pPr lvl="0"/>
            <a:endParaRPr lang="en-US">
              <a:solidFill>
                <a:srgbClr val="0000FF"/>
              </a:solidFill>
              <a:latin typeface="Consolas"/>
            </a:endParaRPr>
          </a:p>
          <a:p>
            <a:pPr lvl="0"/>
            <a:r>
              <a:rPr lang="en-US">
                <a:solidFill>
                  <a:srgbClr val="0000FF"/>
                </a:solidFill>
                <a:latin typeface="Consolas"/>
              </a:rPr>
              <a:t>class</a:t>
            </a:r>
            <a:r>
              <a:rPr lang="en-US">
                <a:latin typeface="Consolas"/>
              </a:rPr>
              <a:t> </a:t>
            </a:r>
            <a:r>
              <a:rPr lang="en-US">
                <a:solidFill>
                  <a:srgbClr val="000080"/>
                </a:solidFill>
                <a:latin typeface="Consolas"/>
              </a:rPr>
              <a:t>Main</a:t>
            </a:r>
            <a:r>
              <a:rPr lang="en-US">
                <a:latin typeface="Consolas"/>
              </a:rPr>
              <a:t> extends </a:t>
            </a:r>
            <a:r>
              <a:rPr lang="en-US">
                <a:solidFill>
                  <a:srgbClr val="000080"/>
                </a:solidFill>
                <a:latin typeface="Consolas"/>
              </a:rPr>
              <a:t>Cow </a:t>
            </a:r>
            <a:r>
              <a:rPr lang="en-US">
                <a:latin typeface="Consolas"/>
              </a:rPr>
              <a:t>{</a:t>
            </a:r>
          </a:p>
          <a:p>
            <a:pPr lvl="0"/>
            <a:r>
              <a:rPr lang="en-US">
                <a:latin typeface="Consolas"/>
              </a:rPr>
              <a:t>    </a:t>
            </a:r>
            <a:r>
              <a:rPr lang="en-US">
                <a:solidFill>
                  <a:srgbClr val="0000FF"/>
                </a:solidFill>
                <a:latin typeface="Consolas"/>
              </a:rPr>
              <a:t>public</a:t>
            </a:r>
            <a:r>
              <a:rPr lang="en-US">
                <a:latin typeface="Consolas"/>
              </a:rPr>
              <a:t> </a:t>
            </a:r>
            <a:r>
              <a:rPr lang="en-US">
                <a:solidFill>
                  <a:srgbClr val="0000FF"/>
                </a:solidFill>
                <a:latin typeface="Consolas"/>
              </a:rPr>
              <a:t>static</a:t>
            </a:r>
            <a:r>
              <a:rPr lang="en-US">
                <a:latin typeface="Consolas"/>
              </a:rPr>
              <a:t> </a:t>
            </a:r>
            <a:r>
              <a:rPr lang="en-US">
                <a:solidFill>
                  <a:srgbClr val="000080"/>
                </a:solidFill>
                <a:latin typeface="Consolas"/>
              </a:rPr>
              <a:t>void</a:t>
            </a:r>
            <a:r>
              <a:rPr lang="en-US">
                <a:latin typeface="Consolas"/>
              </a:rPr>
              <a:t> main(</a:t>
            </a:r>
            <a:r>
              <a:rPr lang="en-US">
                <a:solidFill>
                  <a:srgbClr val="000080"/>
                </a:solidFill>
                <a:latin typeface="Consolas"/>
              </a:rPr>
              <a:t>String</a:t>
            </a:r>
            <a:r>
              <a:rPr lang="en-US">
                <a:latin typeface="Consolas"/>
              </a:rPr>
              <a:t>[] arguments) {</a:t>
            </a:r>
          </a:p>
          <a:p>
            <a:r>
              <a:rPr lang="en-US">
                <a:latin typeface="Consolas"/>
              </a:rPr>
              <a:t>        </a:t>
            </a:r>
            <a:r>
              <a:rPr lang="en-US">
                <a:solidFill>
                  <a:srgbClr val="000080"/>
                </a:solidFill>
                <a:latin typeface="Consolas"/>
              </a:rPr>
              <a:t>int</a:t>
            </a:r>
            <a:r>
              <a:rPr lang="en-US">
                <a:latin typeface="Consolas"/>
              </a:rPr>
              <a:t> foo;</a:t>
            </a:r>
          </a:p>
          <a:p>
            <a:pPr lvl="0"/>
            <a:r>
              <a:rPr lang="en-US">
                <a:latin typeface="Consolas"/>
              </a:rPr>
              <a:t>        </a:t>
            </a:r>
            <a:r>
              <a:rPr lang="en-US">
                <a:solidFill>
                  <a:srgbClr val="0000FF"/>
                </a:solidFill>
                <a:latin typeface="Consolas"/>
              </a:rPr>
              <a:t>if</a:t>
            </a:r>
            <a:r>
              <a:rPr lang="en-US">
                <a:latin typeface="Consolas"/>
              </a:rPr>
              <a:t> (</a:t>
            </a:r>
            <a:r>
              <a:rPr lang="en-US">
                <a:solidFill>
                  <a:srgbClr val="BFBFBF"/>
                </a:solidFill>
                <a:latin typeface="Consolas"/>
              </a:rPr>
              <a:t>...</a:t>
            </a:r>
            <a:r>
              <a:rPr lang="en-US">
                <a:latin typeface="Consolas"/>
              </a:rPr>
              <a:t>) {</a:t>
            </a:r>
          </a:p>
          <a:p>
            <a:pPr lvl="0"/>
            <a:r>
              <a:rPr lang="en-US">
                <a:latin typeface="Consolas"/>
              </a:rPr>
              <a:t>            foo = 0;</a:t>
            </a:r>
          </a:p>
          <a:p>
            <a:pPr lvl="0"/>
            <a:r>
              <a:rPr lang="en-US">
                <a:latin typeface="Consolas"/>
              </a:rPr>
              <a:t>        } </a:t>
            </a:r>
            <a:r>
              <a:rPr lang="en-US">
                <a:solidFill>
                  <a:srgbClr val="0000FF"/>
                </a:solidFill>
                <a:latin typeface="Consolas"/>
              </a:rPr>
              <a:t>else</a:t>
            </a:r>
            <a:r>
              <a:rPr lang="en-US">
                <a:latin typeface="Consolas"/>
              </a:rPr>
              <a:t> {</a:t>
            </a:r>
          </a:p>
          <a:p>
            <a:pPr lvl="0"/>
            <a:r>
              <a:rPr lang="en-US">
                <a:latin typeface="Consolas"/>
              </a:rPr>
              <a:t>            foo = 1;</a:t>
            </a:r>
          </a:p>
          <a:p>
            <a:pPr lvl="0"/>
            <a:r>
              <a:rPr lang="en-US">
                <a:latin typeface="Consolas"/>
              </a:rPr>
              <a:t>        }</a:t>
            </a:r>
          </a:p>
          <a:p>
            <a:pPr lvl="0"/>
            <a:r>
              <a:rPr lang="en-US">
                <a:latin typeface="Consolas"/>
              </a:rPr>
              <a:t>        </a:t>
            </a:r>
            <a:r>
              <a:rPr lang="en-US">
                <a:solidFill>
                  <a:srgbClr val="000080"/>
                </a:solidFill>
                <a:latin typeface="Consolas"/>
              </a:rPr>
              <a:t>PRINT</a:t>
            </a:r>
            <a:r>
              <a:rPr lang="en-US">
                <a:latin typeface="Consolas"/>
              </a:rPr>
              <a:t>(foo);</a:t>
            </a:r>
          </a:p>
          <a:p>
            <a:pPr lvl="0"/>
            <a:r>
              <a:rPr lang="en-US">
                <a:latin typeface="Consolas"/>
              </a:rPr>
              <a:t>    }</a:t>
            </a:r>
          </a:p>
          <a:p>
            <a:pPr lvl="0"/>
            <a:r>
              <a:rPr lang="en-US">
                <a:latin typeface="Consolas"/>
              </a:rPr>
              <a:t>} </a:t>
            </a:r>
            <a:endParaRPr lang="en-US">
              <a:solidFill>
                <a:srgbClr val="000000"/>
              </a:solidFill>
              <a:latin typeface="Consolas"/>
            </a:endParaRPr>
          </a:p>
        </p:txBody>
      </p:sp>
    </p:spTree>
    <p:extLst>
      <p:ext uri="{BB962C8B-B14F-4D97-AF65-F5344CB8AC3E}">
        <p14:creationId xmlns:p14="http://schemas.microsoft.com/office/powerpoint/2010/main" val="15130694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8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5D139-6AFF-56E6-3749-AE54AC5448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10644E-33BD-2A68-C0D2-3FE7D64BF5B3}"/>
              </a:ext>
            </a:extLst>
          </p:cNvPr>
          <p:cNvSpPr>
            <a:spLocks noGrp="1"/>
          </p:cNvSpPr>
          <p:nvPr>
            <p:ph type="title"/>
          </p:nvPr>
        </p:nvSpPr>
        <p:spPr/>
        <p:txBody>
          <a:bodyPr/>
          <a:lstStyle/>
          <a:p>
            <a:r>
              <a:rPr lang="en-US"/>
              <a:t>d</a:t>
            </a:r>
            <a:r>
              <a:rPr lang="en-US">
                <a:effectLst/>
              </a:rPr>
              <a:t>uplicate local variable</a:t>
            </a:r>
            <a:endParaRPr lang="en-US"/>
          </a:p>
        </p:txBody>
      </p:sp>
      <p:sp>
        <p:nvSpPr>
          <p:cNvPr id="4" name="TextBox 3">
            <a:extLst>
              <a:ext uri="{FF2B5EF4-FFF2-40B4-BE49-F238E27FC236}">
                <a16:creationId xmlns:a16="http://schemas.microsoft.com/office/drawing/2014/main" id="{59AB4DF6-D9FE-80D6-2045-B6D49B0B0D8E}"/>
              </a:ext>
            </a:extLst>
          </p:cNvPr>
          <p:cNvSpPr txBox="1"/>
          <p:nvPr/>
        </p:nvSpPr>
        <p:spPr>
          <a:xfrm>
            <a:off x="457200" y="918266"/>
            <a:ext cx="8229600" cy="3693319"/>
          </a:xfrm>
          <a:prstGeom prst="rect">
            <a:avLst/>
          </a:prstGeom>
          <a:solidFill>
            <a:schemeClr val="bg1"/>
          </a:solidFill>
          <a:ln>
            <a:solidFill>
              <a:schemeClr val="tx1"/>
            </a:solidFill>
          </a:ln>
        </p:spPr>
        <p:txBody>
          <a:bodyPr wrap="square" rtlCol="0">
            <a:spAutoFit/>
          </a:bodyPr>
          <a:lstStyle/>
          <a:p>
            <a:r>
              <a:rPr lang="en-US" b="1">
                <a:highlight>
                  <a:srgbClr val="FFFF00"/>
                </a:highlight>
                <a:latin typeface="Consolas"/>
              </a:rPr>
              <a:t>Compile Error:</a:t>
            </a:r>
            <a:r>
              <a:rPr lang="en-US">
                <a:highlight>
                  <a:srgbClr val="FFFF00"/>
                </a:highlight>
                <a:latin typeface="Consolas"/>
              </a:rPr>
              <a:t> duplicate local variable foo</a:t>
            </a:r>
          </a:p>
          <a:p>
            <a:pPr lvl="0"/>
            <a:endParaRPr lang="en-US">
              <a:latin typeface="Consolas"/>
            </a:endParaRPr>
          </a:p>
          <a:p>
            <a:pPr lvl="0"/>
            <a:r>
              <a:rPr lang="en-US">
                <a:solidFill>
                  <a:srgbClr val="0000FF"/>
                </a:solidFill>
                <a:latin typeface="Consolas"/>
              </a:rPr>
              <a:t>class</a:t>
            </a:r>
            <a:r>
              <a:rPr lang="en-US">
                <a:latin typeface="Consolas"/>
              </a:rPr>
              <a:t> </a:t>
            </a:r>
            <a:r>
              <a:rPr lang="en-US">
                <a:solidFill>
                  <a:srgbClr val="000080"/>
                </a:solidFill>
                <a:latin typeface="Consolas"/>
              </a:rPr>
              <a:t>Main</a:t>
            </a:r>
            <a:r>
              <a:rPr lang="en-US">
                <a:latin typeface="Consolas"/>
              </a:rPr>
              <a:t> extends </a:t>
            </a:r>
            <a:r>
              <a:rPr lang="en-US">
                <a:solidFill>
                  <a:srgbClr val="000080"/>
                </a:solidFill>
                <a:latin typeface="Consolas"/>
              </a:rPr>
              <a:t>Cow </a:t>
            </a:r>
            <a:r>
              <a:rPr lang="en-US">
                <a:latin typeface="Consolas"/>
              </a:rPr>
              <a:t>{</a:t>
            </a:r>
          </a:p>
          <a:p>
            <a:pPr lvl="0"/>
            <a:r>
              <a:rPr lang="en-US">
                <a:latin typeface="Consolas"/>
              </a:rPr>
              <a:t>    </a:t>
            </a:r>
            <a:r>
              <a:rPr lang="en-US">
                <a:solidFill>
                  <a:srgbClr val="0000FF"/>
                </a:solidFill>
                <a:latin typeface="Consolas"/>
              </a:rPr>
              <a:t>public</a:t>
            </a:r>
            <a:r>
              <a:rPr lang="en-US">
                <a:latin typeface="Consolas"/>
              </a:rPr>
              <a:t> </a:t>
            </a:r>
            <a:r>
              <a:rPr lang="en-US">
                <a:solidFill>
                  <a:srgbClr val="0000FF"/>
                </a:solidFill>
                <a:latin typeface="Consolas"/>
              </a:rPr>
              <a:t>static</a:t>
            </a:r>
            <a:r>
              <a:rPr lang="en-US">
                <a:latin typeface="Consolas"/>
              </a:rPr>
              <a:t> </a:t>
            </a:r>
            <a:r>
              <a:rPr lang="en-US">
                <a:solidFill>
                  <a:srgbClr val="000080"/>
                </a:solidFill>
                <a:latin typeface="Consolas"/>
              </a:rPr>
              <a:t>void</a:t>
            </a:r>
            <a:r>
              <a:rPr lang="en-US">
                <a:latin typeface="Consolas"/>
              </a:rPr>
              <a:t> main(</a:t>
            </a:r>
            <a:r>
              <a:rPr lang="en-US">
                <a:solidFill>
                  <a:srgbClr val="000080"/>
                </a:solidFill>
                <a:latin typeface="Consolas"/>
              </a:rPr>
              <a:t>String</a:t>
            </a:r>
            <a:r>
              <a:rPr lang="en-US">
                <a:latin typeface="Consolas"/>
              </a:rPr>
              <a:t>[] arguments) {</a:t>
            </a:r>
          </a:p>
          <a:p>
            <a:r>
              <a:rPr lang="en-US">
                <a:latin typeface="Consolas"/>
              </a:rPr>
              <a:t>        </a:t>
            </a:r>
            <a:r>
              <a:rPr lang="en-US">
                <a:solidFill>
                  <a:srgbClr val="000080"/>
                </a:solidFill>
                <a:latin typeface="Consolas"/>
              </a:rPr>
              <a:t>int</a:t>
            </a:r>
            <a:r>
              <a:rPr lang="en-US">
                <a:latin typeface="Consolas"/>
              </a:rPr>
              <a:t> foo;</a:t>
            </a:r>
          </a:p>
          <a:p>
            <a:pPr lvl="0"/>
            <a:r>
              <a:rPr lang="en-US">
                <a:latin typeface="Consolas"/>
              </a:rPr>
              <a:t>        </a:t>
            </a:r>
            <a:r>
              <a:rPr lang="en-US">
                <a:solidFill>
                  <a:srgbClr val="0000FF"/>
                </a:solidFill>
                <a:latin typeface="Consolas"/>
              </a:rPr>
              <a:t>if</a:t>
            </a:r>
            <a:r>
              <a:rPr lang="en-US">
                <a:latin typeface="Consolas"/>
              </a:rPr>
              <a:t> (</a:t>
            </a:r>
            <a:r>
              <a:rPr lang="en-US">
                <a:solidFill>
                  <a:srgbClr val="BFBFBF"/>
                </a:solidFill>
                <a:latin typeface="Consolas"/>
              </a:rPr>
              <a:t>...</a:t>
            </a:r>
            <a:r>
              <a:rPr lang="en-US">
                <a:latin typeface="Consolas"/>
              </a:rPr>
              <a:t>) {</a:t>
            </a:r>
          </a:p>
          <a:p>
            <a:pPr lvl="0"/>
            <a:r>
              <a:rPr lang="en-US">
                <a:highlight>
                  <a:srgbClr val="FFFF00"/>
                </a:highlight>
                <a:latin typeface="Consolas"/>
              </a:rPr>
              <a:t>            </a:t>
            </a:r>
            <a:r>
              <a:rPr lang="en-US">
                <a:solidFill>
                  <a:srgbClr val="000080"/>
                </a:solidFill>
                <a:highlight>
                  <a:srgbClr val="FFFF00"/>
                </a:highlight>
                <a:latin typeface="Consolas"/>
              </a:rPr>
              <a:t>int </a:t>
            </a:r>
            <a:r>
              <a:rPr lang="en-US">
                <a:highlight>
                  <a:srgbClr val="FFFF00"/>
                </a:highlight>
                <a:latin typeface="Consolas"/>
              </a:rPr>
              <a:t>foo = 0;</a:t>
            </a:r>
          </a:p>
          <a:p>
            <a:pPr lvl="0"/>
            <a:r>
              <a:rPr lang="en-US">
                <a:latin typeface="Consolas"/>
              </a:rPr>
              <a:t>        } </a:t>
            </a:r>
            <a:r>
              <a:rPr lang="en-US">
                <a:solidFill>
                  <a:srgbClr val="0000FF"/>
                </a:solidFill>
                <a:latin typeface="Consolas"/>
              </a:rPr>
              <a:t>else</a:t>
            </a:r>
            <a:r>
              <a:rPr lang="en-US">
                <a:latin typeface="Consolas"/>
              </a:rPr>
              <a:t> {</a:t>
            </a:r>
          </a:p>
          <a:p>
            <a:pPr lvl="0"/>
            <a:r>
              <a:rPr lang="en-US">
                <a:latin typeface="Consolas"/>
              </a:rPr>
              <a:t>            foo = 1;</a:t>
            </a:r>
          </a:p>
          <a:p>
            <a:pPr lvl="0"/>
            <a:r>
              <a:rPr lang="en-US">
                <a:latin typeface="Consolas"/>
              </a:rPr>
              <a:t>        }</a:t>
            </a:r>
          </a:p>
          <a:p>
            <a:pPr lvl="0"/>
            <a:r>
              <a:rPr lang="en-US">
                <a:latin typeface="Consolas"/>
              </a:rPr>
              <a:t>        PRINT(foo);</a:t>
            </a:r>
          </a:p>
          <a:p>
            <a:pPr lvl="0"/>
            <a:r>
              <a:rPr lang="en-US">
                <a:latin typeface="Consolas"/>
              </a:rPr>
              <a:t>    }</a:t>
            </a:r>
          </a:p>
          <a:p>
            <a:pPr lvl="0"/>
            <a:r>
              <a:rPr lang="en-US">
                <a:latin typeface="Consolas"/>
              </a:rPr>
              <a:t>} </a:t>
            </a:r>
            <a:endParaRPr lang="en-US">
              <a:solidFill>
                <a:srgbClr val="000000"/>
              </a:solidFill>
              <a:latin typeface="Consolas"/>
            </a:endParaRPr>
          </a:p>
        </p:txBody>
      </p:sp>
    </p:spTree>
    <p:extLst>
      <p:ext uri="{BB962C8B-B14F-4D97-AF65-F5344CB8AC3E}">
        <p14:creationId xmlns:p14="http://schemas.microsoft.com/office/powerpoint/2010/main" val="836674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A806E-99EC-D7ED-89B7-A7BFB6DB39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285EE4-FA4F-F8D0-0333-66D074413042}"/>
              </a:ext>
            </a:extLst>
          </p:cNvPr>
          <p:cNvSpPr>
            <a:spLocks noGrp="1"/>
          </p:cNvSpPr>
          <p:nvPr>
            <p:ph type="title"/>
          </p:nvPr>
        </p:nvSpPr>
        <p:spPr/>
        <p:txBody>
          <a:bodyPr/>
          <a:lstStyle/>
          <a:p>
            <a:r>
              <a:rPr lang="en-US"/>
              <a:t>d</a:t>
            </a:r>
            <a:r>
              <a:rPr lang="en-US">
                <a:effectLst/>
              </a:rPr>
              <a:t>uplicate local variable</a:t>
            </a:r>
            <a:endParaRPr lang="en-US"/>
          </a:p>
        </p:txBody>
      </p:sp>
      <p:sp>
        <p:nvSpPr>
          <p:cNvPr id="5" name="TextBox 4">
            <a:extLst>
              <a:ext uri="{FF2B5EF4-FFF2-40B4-BE49-F238E27FC236}">
                <a16:creationId xmlns:a16="http://schemas.microsoft.com/office/drawing/2014/main" id="{9C546448-514D-477A-70F9-C51DD124293D}"/>
              </a:ext>
            </a:extLst>
          </p:cNvPr>
          <p:cNvSpPr txBox="1"/>
          <p:nvPr/>
        </p:nvSpPr>
        <p:spPr>
          <a:xfrm>
            <a:off x="457200" y="922084"/>
            <a:ext cx="8229600" cy="3693319"/>
          </a:xfrm>
          <a:prstGeom prst="rect">
            <a:avLst/>
          </a:prstGeom>
          <a:solidFill>
            <a:schemeClr val="bg1"/>
          </a:solidFill>
          <a:ln>
            <a:solidFill>
              <a:schemeClr val="tx1"/>
            </a:solidFill>
          </a:ln>
        </p:spPr>
        <p:txBody>
          <a:bodyPr wrap="square" rtlCol="0">
            <a:spAutoFit/>
          </a:bodyPr>
          <a:lstStyle/>
          <a:p>
            <a:pPr lvl="0"/>
            <a:endParaRPr lang="en-US">
              <a:latin typeface="Consolas"/>
            </a:endParaRPr>
          </a:p>
          <a:p>
            <a:pPr lvl="0"/>
            <a:endParaRPr lang="en-US">
              <a:latin typeface="Consolas"/>
            </a:endParaRPr>
          </a:p>
          <a:p>
            <a:pPr lvl="0"/>
            <a:r>
              <a:rPr lang="en-US">
                <a:solidFill>
                  <a:srgbClr val="0000FF"/>
                </a:solidFill>
                <a:latin typeface="Consolas"/>
              </a:rPr>
              <a:t>class</a:t>
            </a:r>
            <a:r>
              <a:rPr lang="en-US">
                <a:latin typeface="Consolas"/>
              </a:rPr>
              <a:t> </a:t>
            </a:r>
            <a:r>
              <a:rPr lang="en-US">
                <a:solidFill>
                  <a:srgbClr val="000080"/>
                </a:solidFill>
                <a:latin typeface="Consolas"/>
              </a:rPr>
              <a:t>Main</a:t>
            </a:r>
            <a:r>
              <a:rPr lang="en-US">
                <a:latin typeface="Consolas"/>
              </a:rPr>
              <a:t> extends </a:t>
            </a:r>
            <a:r>
              <a:rPr lang="en-US">
                <a:solidFill>
                  <a:srgbClr val="000080"/>
                </a:solidFill>
                <a:latin typeface="Consolas"/>
              </a:rPr>
              <a:t>Cow </a:t>
            </a:r>
            <a:r>
              <a:rPr lang="en-US">
                <a:latin typeface="Consolas"/>
              </a:rPr>
              <a:t>{</a:t>
            </a:r>
          </a:p>
          <a:p>
            <a:pPr lvl="0"/>
            <a:r>
              <a:rPr lang="en-US">
                <a:latin typeface="Consolas"/>
              </a:rPr>
              <a:t>    </a:t>
            </a:r>
            <a:r>
              <a:rPr lang="en-US">
                <a:solidFill>
                  <a:srgbClr val="0000FF"/>
                </a:solidFill>
                <a:latin typeface="Consolas"/>
              </a:rPr>
              <a:t>public</a:t>
            </a:r>
            <a:r>
              <a:rPr lang="en-US">
                <a:latin typeface="Consolas"/>
              </a:rPr>
              <a:t> </a:t>
            </a:r>
            <a:r>
              <a:rPr lang="en-US">
                <a:solidFill>
                  <a:srgbClr val="0000FF"/>
                </a:solidFill>
                <a:latin typeface="Consolas"/>
              </a:rPr>
              <a:t>static</a:t>
            </a:r>
            <a:r>
              <a:rPr lang="en-US">
                <a:latin typeface="Consolas"/>
              </a:rPr>
              <a:t> </a:t>
            </a:r>
            <a:r>
              <a:rPr lang="en-US">
                <a:solidFill>
                  <a:srgbClr val="000080"/>
                </a:solidFill>
                <a:latin typeface="Consolas"/>
              </a:rPr>
              <a:t>void</a:t>
            </a:r>
            <a:r>
              <a:rPr lang="en-US">
                <a:latin typeface="Consolas"/>
              </a:rPr>
              <a:t> main(</a:t>
            </a:r>
            <a:r>
              <a:rPr lang="en-US">
                <a:solidFill>
                  <a:srgbClr val="000080"/>
                </a:solidFill>
                <a:latin typeface="Consolas"/>
              </a:rPr>
              <a:t>String</a:t>
            </a:r>
            <a:r>
              <a:rPr lang="en-US">
                <a:latin typeface="Consolas"/>
              </a:rPr>
              <a:t>[] arguments) {</a:t>
            </a:r>
          </a:p>
          <a:p>
            <a:r>
              <a:rPr lang="en-US">
                <a:latin typeface="Consolas"/>
              </a:rPr>
              <a:t>        </a:t>
            </a:r>
            <a:r>
              <a:rPr lang="en-US">
                <a:solidFill>
                  <a:srgbClr val="000080"/>
                </a:solidFill>
                <a:latin typeface="Consolas"/>
              </a:rPr>
              <a:t>int</a:t>
            </a:r>
            <a:r>
              <a:rPr lang="en-US">
                <a:latin typeface="Consolas"/>
              </a:rPr>
              <a:t> foo;</a:t>
            </a:r>
          </a:p>
          <a:p>
            <a:pPr lvl="0"/>
            <a:r>
              <a:rPr lang="en-US">
                <a:latin typeface="Consolas"/>
              </a:rPr>
              <a:t>        </a:t>
            </a:r>
            <a:r>
              <a:rPr lang="en-US">
                <a:solidFill>
                  <a:srgbClr val="0000FF"/>
                </a:solidFill>
                <a:latin typeface="Consolas"/>
              </a:rPr>
              <a:t>if</a:t>
            </a:r>
            <a:r>
              <a:rPr lang="en-US">
                <a:latin typeface="Consolas"/>
              </a:rPr>
              <a:t> (</a:t>
            </a:r>
            <a:r>
              <a:rPr lang="en-US">
                <a:solidFill>
                  <a:srgbClr val="BFBFBF"/>
                </a:solidFill>
                <a:latin typeface="Consolas"/>
              </a:rPr>
              <a:t>...</a:t>
            </a:r>
            <a:r>
              <a:rPr lang="en-US">
                <a:latin typeface="Consolas"/>
              </a:rPr>
              <a:t>) {</a:t>
            </a:r>
          </a:p>
          <a:p>
            <a:pPr lvl="0"/>
            <a:r>
              <a:rPr lang="en-US">
                <a:latin typeface="Consolas"/>
              </a:rPr>
              <a:t>            foo = 0;</a:t>
            </a:r>
          </a:p>
          <a:p>
            <a:pPr lvl="0"/>
            <a:r>
              <a:rPr lang="en-US">
                <a:latin typeface="Consolas"/>
              </a:rPr>
              <a:t>        } </a:t>
            </a:r>
            <a:r>
              <a:rPr lang="en-US">
                <a:solidFill>
                  <a:srgbClr val="0000FF"/>
                </a:solidFill>
                <a:latin typeface="Consolas"/>
              </a:rPr>
              <a:t>else</a:t>
            </a:r>
            <a:r>
              <a:rPr lang="en-US">
                <a:latin typeface="Consolas"/>
              </a:rPr>
              <a:t> {</a:t>
            </a:r>
          </a:p>
          <a:p>
            <a:pPr lvl="0"/>
            <a:r>
              <a:rPr lang="en-US">
                <a:latin typeface="Consolas"/>
              </a:rPr>
              <a:t>            foo = 1;</a:t>
            </a:r>
          </a:p>
          <a:p>
            <a:pPr lvl="0"/>
            <a:r>
              <a:rPr lang="en-US">
                <a:latin typeface="Consolas"/>
              </a:rPr>
              <a:t>        }</a:t>
            </a:r>
          </a:p>
          <a:p>
            <a:pPr lvl="0"/>
            <a:r>
              <a:rPr lang="en-US">
                <a:latin typeface="Consolas"/>
              </a:rPr>
              <a:t>        PRINT(foo);</a:t>
            </a:r>
          </a:p>
          <a:p>
            <a:pPr lvl="0"/>
            <a:r>
              <a:rPr lang="en-US">
                <a:latin typeface="Consolas"/>
              </a:rPr>
              <a:t>    }</a:t>
            </a:r>
          </a:p>
          <a:p>
            <a:pPr lvl="0"/>
            <a:r>
              <a:rPr lang="en-US">
                <a:latin typeface="Consolas"/>
              </a:rPr>
              <a:t>} </a:t>
            </a:r>
            <a:endParaRPr lang="en-US">
              <a:solidFill>
                <a:srgbClr val="000000"/>
              </a:solidFill>
              <a:latin typeface="Consolas"/>
            </a:endParaRPr>
          </a:p>
        </p:txBody>
      </p:sp>
    </p:spTree>
    <p:extLst>
      <p:ext uri="{BB962C8B-B14F-4D97-AF65-F5344CB8AC3E}">
        <p14:creationId xmlns:p14="http://schemas.microsoft.com/office/powerpoint/2010/main" val="37080448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8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51022540"/>
      </p:ext>
    </p:extLst>
  </p:cSld>
  <p:clrMapOvr>
    <a:masterClrMapping/>
  </p:clrMapOvr>
</p:sld>
</file>

<file path=ppt/slides/slide8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16EA4-D384-27A5-0437-D1DFCB123587}"/>
              </a:ext>
            </a:extLst>
          </p:cNvPr>
          <p:cNvSpPr>
            <a:spLocks noGrp="1"/>
          </p:cNvSpPr>
          <p:nvPr>
            <p:ph type="title"/>
          </p:nvPr>
        </p:nvSpPr>
        <p:spPr/>
        <p:txBody>
          <a:bodyPr/>
          <a:lstStyle/>
          <a:p>
            <a:r>
              <a:rPr lang="en-US"/>
              <a:t>success tips</a:t>
            </a:r>
          </a:p>
        </p:txBody>
      </p:sp>
    </p:spTree>
    <p:extLst>
      <p:ext uri="{BB962C8B-B14F-4D97-AF65-F5344CB8AC3E}">
        <p14:creationId xmlns:p14="http://schemas.microsoft.com/office/powerpoint/2010/main" val="1221500142"/>
      </p:ext>
    </p:extLst>
  </p:cSld>
  <p:clrMapOvr>
    <a:masterClrMapping/>
  </p:clrMapOvr>
</p:sld>
</file>

<file path=ppt/slides/slide8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4AE6DC3-05AA-92D6-B92C-F4134915FE8F}"/>
              </a:ext>
            </a:extLst>
          </p:cNvPr>
          <p:cNvSpPr>
            <a:spLocks noGrp="1"/>
          </p:cNvSpPr>
          <p:nvPr>
            <p:ph type="title"/>
          </p:nvPr>
        </p:nvSpPr>
        <p:spPr/>
        <p:txBody>
          <a:bodyPr/>
          <a:lstStyle/>
          <a:p>
            <a:r>
              <a:rPr lang="en-US"/>
              <a:t>success tips (1/3)</a:t>
            </a:r>
          </a:p>
        </p:txBody>
      </p:sp>
      <p:sp>
        <p:nvSpPr>
          <p:cNvPr id="4" name="Content Placeholder 3">
            <a:extLst>
              <a:ext uri="{FF2B5EF4-FFF2-40B4-BE49-F238E27FC236}">
                <a16:creationId xmlns:a16="http://schemas.microsoft.com/office/drawing/2014/main" id="{FDD86481-38F3-21F8-CA04-647DE0460DE0}"/>
              </a:ext>
            </a:extLst>
          </p:cNvPr>
          <p:cNvSpPr>
            <a:spLocks noGrp="1"/>
          </p:cNvSpPr>
          <p:nvPr>
            <p:ph sz="quarter" idx="10"/>
          </p:nvPr>
        </p:nvSpPr>
        <p:spPr/>
        <p:txBody>
          <a:bodyPr/>
          <a:lstStyle/>
          <a:p>
            <a:r>
              <a:rPr lang="en-US"/>
              <a:t>start homework early! ( very hard to code well while stressed )</a:t>
            </a:r>
          </a:p>
          <a:p>
            <a:endParaRPr lang="en-US"/>
          </a:p>
          <a:p>
            <a:r>
              <a:rPr lang="en-US"/>
              <a:t>don't work in a vaccuum</a:t>
            </a:r>
          </a:p>
          <a:p>
            <a:pPr lvl="1"/>
            <a:r>
              <a:rPr lang="en-US"/>
              <a:t>collaborate with your friends / acquaintences / enemies</a:t>
            </a:r>
          </a:p>
          <a:p>
            <a:pPr lvl="1"/>
            <a:r>
              <a:rPr lang="en-US"/>
              <a:t>come to </a:t>
            </a:r>
            <a:r>
              <a:rPr lang="en-US" b="1"/>
              <a:t>help hours</a:t>
            </a:r>
            <a:r>
              <a:rPr lang="en-US"/>
              <a:t> ( they are there for you! )</a:t>
            </a:r>
          </a:p>
        </p:txBody>
      </p:sp>
    </p:spTree>
    <p:extLst>
      <p:ext uri="{BB962C8B-B14F-4D97-AF65-F5344CB8AC3E}">
        <p14:creationId xmlns:p14="http://schemas.microsoft.com/office/powerpoint/2010/main" val="2261681108"/>
      </p:ext>
    </p:extLst>
  </p:cSld>
  <p:clrMapOvr>
    <a:masterClrMapping/>
  </p:clrMapOvr>
</p:sld>
</file>

<file path=ppt/slides/slide8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4AE6DC3-05AA-92D6-B92C-F4134915FE8F}"/>
              </a:ext>
            </a:extLst>
          </p:cNvPr>
          <p:cNvSpPr>
            <a:spLocks noGrp="1"/>
          </p:cNvSpPr>
          <p:nvPr>
            <p:ph type="title"/>
          </p:nvPr>
        </p:nvSpPr>
        <p:spPr/>
        <p:txBody>
          <a:bodyPr/>
          <a:lstStyle/>
          <a:p>
            <a:r>
              <a:rPr lang="en-US"/>
              <a:t>success tips (2/3)</a:t>
            </a:r>
          </a:p>
        </p:txBody>
      </p:sp>
      <p:sp>
        <p:nvSpPr>
          <p:cNvPr id="4" name="Content Placeholder 3">
            <a:extLst>
              <a:ext uri="{FF2B5EF4-FFF2-40B4-BE49-F238E27FC236}">
                <a16:creationId xmlns:a16="http://schemas.microsoft.com/office/drawing/2014/main" id="{FDD86481-38F3-21F8-CA04-647DE0460DE0}"/>
              </a:ext>
            </a:extLst>
          </p:cNvPr>
          <p:cNvSpPr>
            <a:spLocks noGrp="1"/>
          </p:cNvSpPr>
          <p:nvPr>
            <p:ph sz="quarter" idx="10"/>
          </p:nvPr>
        </p:nvSpPr>
        <p:spPr/>
        <p:txBody>
          <a:bodyPr/>
          <a:lstStyle/>
          <a:p>
            <a:r>
              <a:rPr lang="en-US"/>
              <a:t>try to fix your own bugs (this is a hard skill; it takes time to build)</a:t>
            </a:r>
            <a:br>
              <a:rPr lang="en-US"/>
            </a:br>
            <a:endParaRPr lang="en-US"/>
          </a:p>
          <a:p>
            <a:r>
              <a:rPr lang="en-US"/>
              <a:t>however, if you are stuck, you can ask for help</a:t>
            </a:r>
          </a:p>
          <a:p>
            <a:pPr lvl="1"/>
            <a:r>
              <a:rPr lang="en-US"/>
              <a:t>there is literally no judgement here; we all have different starting points; my only goal is for all students to get stronger and have fun </a:t>
            </a:r>
            <a:r>
              <a:rPr lang="en-US">
                <a:sym typeface="Wingdings" pitchFamily="2" charset="2"/>
              </a:rPr>
              <a:t>🙂👍</a:t>
            </a:r>
          </a:p>
          <a:p>
            <a:pPr lvl="2"/>
            <a:r>
              <a:rPr lang="en-US">
                <a:sym typeface="Wingdings" pitchFamily="2" charset="2"/>
              </a:rPr>
              <a:t>and, for what it's worth, i was a mechanical engineering undergrad and my first comp sci course was *terrifying* (though, eventually, fun)</a:t>
            </a:r>
            <a:endParaRPr lang="en-US"/>
          </a:p>
        </p:txBody>
      </p:sp>
    </p:spTree>
    <p:extLst>
      <p:ext uri="{BB962C8B-B14F-4D97-AF65-F5344CB8AC3E}">
        <p14:creationId xmlns:p14="http://schemas.microsoft.com/office/powerpoint/2010/main" val="1753274276"/>
      </p:ext>
    </p:extLst>
  </p:cSld>
  <p:clrMapOvr>
    <a:masterClrMapping/>
  </p:clrMapOvr>
</p:sld>
</file>

<file path=ppt/slides/slide8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21AF9F-FE3B-A2C8-58C3-7F294DF5772E}"/>
              </a:ext>
            </a:extLst>
          </p:cNvPr>
          <p:cNvSpPr>
            <a:spLocks noGrp="1"/>
          </p:cNvSpPr>
          <p:nvPr>
            <p:ph type="title"/>
          </p:nvPr>
        </p:nvSpPr>
        <p:spPr/>
        <p:txBody>
          <a:bodyPr/>
          <a:lstStyle/>
          <a:p>
            <a:r>
              <a:rPr lang="en-US"/>
              <a:t>most importantly though</a:t>
            </a:r>
          </a:p>
        </p:txBody>
      </p:sp>
    </p:spTree>
    <p:extLst>
      <p:ext uri="{BB962C8B-B14F-4D97-AF65-F5344CB8AC3E}">
        <p14:creationId xmlns:p14="http://schemas.microsoft.com/office/powerpoint/2010/main" val="2530757068"/>
      </p:ext>
    </p:extLst>
  </p:cSld>
  <p:clrMapOvr>
    <a:masterClrMapping/>
  </p:clrMapOvr>
</p:sld>
</file>

<file path=ppt/slides/slide8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own installs new pedestrian crossing lights, signs along Main Street – The  Williams Record">
            <a:extLst>
              <a:ext uri="{FF2B5EF4-FFF2-40B4-BE49-F238E27FC236}">
                <a16:creationId xmlns:a16="http://schemas.microsoft.com/office/drawing/2014/main" id="{475F1FF6-1FF9-A1AB-8B2D-21EEC2BA5C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3857625" cy="51435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Town installs new pedestrian crossing lights, signs along Main Street – The  Williams Record">
            <a:extLst>
              <a:ext uri="{FF2B5EF4-FFF2-40B4-BE49-F238E27FC236}">
                <a16:creationId xmlns:a16="http://schemas.microsoft.com/office/drawing/2014/main" id="{B31D1394-D1CA-0421-7E96-23387406089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768" t="56697" r="55856" b="29370"/>
          <a:stretch/>
        </p:blipFill>
        <p:spPr bwMode="auto">
          <a:xfrm>
            <a:off x="4572000" y="889522"/>
            <a:ext cx="2784389" cy="3364456"/>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89F68B8C-2B80-9809-A7FC-77FF59078EB1}"/>
              </a:ext>
            </a:extLst>
          </p:cNvPr>
          <p:cNvCxnSpPr>
            <a:cxnSpLocks/>
          </p:cNvCxnSpPr>
          <p:nvPr/>
        </p:nvCxnSpPr>
        <p:spPr>
          <a:xfrm flipH="1">
            <a:off x="6038335" y="2940908"/>
            <a:ext cx="1606379" cy="518984"/>
          </a:xfrm>
          <a:prstGeom prst="straightConnector1">
            <a:avLst/>
          </a:prstGeom>
          <a:ln w="762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sp>
        <p:nvSpPr>
          <p:cNvPr id="2" name="Title 3">
            <a:extLst>
              <a:ext uri="{FF2B5EF4-FFF2-40B4-BE49-F238E27FC236}">
                <a16:creationId xmlns:a16="http://schemas.microsoft.com/office/drawing/2014/main" id="{171BF83E-3E72-ECD1-E097-4D9B02EDF623}"/>
              </a:ext>
            </a:extLst>
          </p:cNvPr>
          <p:cNvSpPr txBox="1">
            <a:spLocks/>
          </p:cNvSpPr>
          <p:nvPr/>
        </p:nvSpPr>
        <p:spPr>
          <a:xfrm>
            <a:off x="2487706" y="179855"/>
            <a:ext cx="8054788" cy="857250"/>
          </a:xfrm>
          <a:prstGeom prst="rect">
            <a:avLst/>
          </a:prstGeom>
        </p:spPr>
        <p:txBody>
          <a:bodyPr/>
          <a:lstStyle>
            <a:lvl1pPr algn="ctr" defTabSz="342886" rtl="0" eaLnBrk="1" latinLnBrk="0" hangingPunct="1">
              <a:spcBef>
                <a:spcPct val="0"/>
              </a:spcBef>
              <a:buNone/>
              <a:defRPr sz="3200" kern="1200">
                <a:solidFill>
                  <a:schemeClr val="tx1"/>
                </a:solidFill>
                <a:latin typeface="+mn-lt"/>
                <a:ea typeface="Segoe UI Emoji" panose="020B0502040204020203" pitchFamily="34" charset="0"/>
                <a:cs typeface="+mj-cs"/>
              </a:defRPr>
            </a:lvl1pPr>
          </a:lstStyle>
          <a:p>
            <a:r>
              <a:rPr lang="en-US"/>
              <a:t>you gotta push the button</a:t>
            </a:r>
          </a:p>
        </p:txBody>
      </p:sp>
    </p:spTree>
    <p:extLst>
      <p:ext uri="{BB962C8B-B14F-4D97-AF65-F5344CB8AC3E}">
        <p14:creationId xmlns:p14="http://schemas.microsoft.com/office/powerpoint/2010/main" val="3878320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5034A-14ED-C784-2570-03BD419CDE8D}"/>
            </a:ext>
          </a:extLst>
        </p:cNvPr>
        <p:cNvGrpSpPr/>
        <p:nvPr/>
      </p:nvGrpSpPr>
      <p:grpSpPr>
        <a:xfrm>
          <a:off x="0" y="0"/>
          <a:ext cx="0" cy="0"/>
          <a:chOff x="0" y="0"/>
          <a:chExt cx="0" cy="0"/>
        </a:xfrm>
      </p:grpSpPr>
      <p:pic>
        <p:nvPicPr>
          <p:cNvPr id="3" name="Picture 2" descr="Town installs new pedestrian crossing lights, signs along Main Street – The  Williams Record">
            <a:extLst>
              <a:ext uri="{FF2B5EF4-FFF2-40B4-BE49-F238E27FC236}">
                <a16:creationId xmlns:a16="http://schemas.microsoft.com/office/drawing/2014/main" id="{63160A3B-3788-4434-5BC8-91DD8DDD62D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768" t="56697" r="55856" b="29370"/>
          <a:stretch/>
        </p:blipFill>
        <p:spPr bwMode="auto">
          <a:xfrm>
            <a:off x="0" y="-6857249"/>
            <a:ext cx="10415171" cy="12584945"/>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F7D9DC74-842D-0A8E-1FF9-566E38998ABB}"/>
              </a:ext>
            </a:extLst>
          </p:cNvPr>
          <p:cNvCxnSpPr>
            <a:cxnSpLocks/>
          </p:cNvCxnSpPr>
          <p:nvPr/>
        </p:nvCxnSpPr>
        <p:spPr>
          <a:xfrm flipH="1">
            <a:off x="5567688" y="1210235"/>
            <a:ext cx="3966277" cy="1456280"/>
          </a:xfrm>
          <a:prstGeom prst="straightConnector1">
            <a:avLst/>
          </a:prstGeom>
          <a:ln w="3048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ED11A382-03E7-CE1A-54F0-D6ECD366B3EA}"/>
              </a:ext>
            </a:extLst>
          </p:cNvPr>
          <p:cNvCxnSpPr>
            <a:cxnSpLocks/>
          </p:cNvCxnSpPr>
          <p:nvPr/>
        </p:nvCxnSpPr>
        <p:spPr>
          <a:xfrm flipH="1" flipV="1">
            <a:off x="5567688" y="3184469"/>
            <a:ext cx="2939818" cy="1497591"/>
          </a:xfrm>
          <a:prstGeom prst="straightConnector1">
            <a:avLst/>
          </a:prstGeom>
          <a:ln w="3048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95B3FA0B-F809-71CA-86C7-C9AA40D67A06}"/>
              </a:ext>
            </a:extLst>
          </p:cNvPr>
          <p:cNvCxnSpPr>
            <a:cxnSpLocks/>
          </p:cNvCxnSpPr>
          <p:nvPr/>
        </p:nvCxnSpPr>
        <p:spPr>
          <a:xfrm>
            <a:off x="1887720" y="445116"/>
            <a:ext cx="2684280" cy="2126634"/>
          </a:xfrm>
          <a:prstGeom prst="straightConnector1">
            <a:avLst/>
          </a:prstGeom>
          <a:ln w="3048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F35B315A-B0BC-E69F-2301-E97B11560E5F}"/>
              </a:ext>
            </a:extLst>
          </p:cNvPr>
          <p:cNvCxnSpPr>
            <a:cxnSpLocks/>
          </p:cNvCxnSpPr>
          <p:nvPr/>
        </p:nvCxnSpPr>
        <p:spPr>
          <a:xfrm flipH="1">
            <a:off x="5207585" y="-1699631"/>
            <a:ext cx="483185" cy="3931158"/>
          </a:xfrm>
          <a:prstGeom prst="straightConnector1">
            <a:avLst/>
          </a:prstGeom>
          <a:ln w="3048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E556F9CC-E518-F4CE-397E-4F500B99420A}"/>
              </a:ext>
            </a:extLst>
          </p:cNvPr>
          <p:cNvCxnSpPr>
            <a:cxnSpLocks/>
          </p:cNvCxnSpPr>
          <p:nvPr/>
        </p:nvCxnSpPr>
        <p:spPr>
          <a:xfrm flipV="1">
            <a:off x="3576313" y="3471615"/>
            <a:ext cx="1153745" cy="3343769"/>
          </a:xfrm>
          <a:prstGeom prst="straightConnector1">
            <a:avLst/>
          </a:prstGeom>
          <a:ln w="3048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10AD0BF6-E7F7-0710-2564-6E747150A34C}"/>
              </a:ext>
            </a:extLst>
          </p:cNvPr>
          <p:cNvCxnSpPr>
            <a:cxnSpLocks/>
          </p:cNvCxnSpPr>
          <p:nvPr/>
        </p:nvCxnSpPr>
        <p:spPr>
          <a:xfrm flipV="1">
            <a:off x="636494" y="3053052"/>
            <a:ext cx="3756678" cy="2090448"/>
          </a:xfrm>
          <a:prstGeom prst="straightConnector1">
            <a:avLst/>
          </a:prstGeom>
          <a:ln w="3048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AA90494E-7CE5-A5F1-797E-D721C0FB1E48}"/>
              </a:ext>
            </a:extLst>
          </p:cNvPr>
          <p:cNvCxnSpPr>
            <a:cxnSpLocks/>
          </p:cNvCxnSpPr>
          <p:nvPr/>
        </p:nvCxnSpPr>
        <p:spPr>
          <a:xfrm flipH="1" flipV="1">
            <a:off x="5690770" y="2935983"/>
            <a:ext cx="5869599" cy="2522244"/>
          </a:xfrm>
          <a:prstGeom prst="straightConnector1">
            <a:avLst/>
          </a:prstGeom>
          <a:ln w="3048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53787EC-3335-18CA-52E0-EEB09C457BF1}"/>
              </a:ext>
            </a:extLst>
          </p:cNvPr>
          <p:cNvCxnSpPr>
            <a:cxnSpLocks/>
          </p:cNvCxnSpPr>
          <p:nvPr/>
        </p:nvCxnSpPr>
        <p:spPr>
          <a:xfrm flipH="1" flipV="1">
            <a:off x="5100593" y="3413118"/>
            <a:ext cx="5208495" cy="4629153"/>
          </a:xfrm>
          <a:prstGeom prst="straightConnector1">
            <a:avLst/>
          </a:prstGeom>
          <a:ln w="3048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FCA86B46-EB98-2789-38FF-08431D62AA62}"/>
              </a:ext>
            </a:extLst>
          </p:cNvPr>
          <p:cNvCxnSpPr>
            <a:cxnSpLocks/>
          </p:cNvCxnSpPr>
          <p:nvPr/>
        </p:nvCxnSpPr>
        <p:spPr>
          <a:xfrm flipH="1" flipV="1">
            <a:off x="4946578" y="3848106"/>
            <a:ext cx="3022907" cy="6885893"/>
          </a:xfrm>
          <a:prstGeom prst="straightConnector1">
            <a:avLst/>
          </a:prstGeom>
          <a:ln w="584200">
            <a:solidFill>
              <a:schemeClr val="accent3"/>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73469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E34CD6-A14C-0787-A612-1AADEDE5EB65}"/>
              </a:ext>
            </a:extLst>
          </p:cNvPr>
          <p:cNvPicPr>
            <a:picLocks noChangeAspect="1"/>
          </p:cNvPicPr>
          <p:nvPr/>
        </p:nvPicPr>
        <p:blipFill>
          <a:blip r:embed="rId2"/>
          <a:srcRect l="28542" t="31667" r="16837" b="30555"/>
          <a:stretch>
            <a:fillRect/>
          </a:stretch>
        </p:blipFill>
        <p:spPr>
          <a:xfrm>
            <a:off x="0" y="0"/>
            <a:ext cx="9144000" cy="5551714"/>
          </a:xfrm>
          <a:prstGeom prst="rect">
            <a:avLst/>
          </a:prstGeom>
        </p:spPr>
      </p:pic>
    </p:spTree>
    <p:extLst>
      <p:ext uri="{BB962C8B-B14F-4D97-AF65-F5344CB8AC3E}">
        <p14:creationId xmlns:p14="http://schemas.microsoft.com/office/powerpoint/2010/main" val="273694721"/>
      </p:ext>
    </p:extLst>
  </p:cSld>
  <p:clrMapOvr>
    <a:masterClrMapping/>
  </p:clrMapOvr>
</p:sld>
</file>

<file path=ppt/slides/slide8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6FA07-926D-BA76-F7EB-ECB913338E9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EF939B8-00DC-CB9A-AAE8-56D50B9DCE6F}"/>
              </a:ext>
            </a:extLst>
          </p:cNvPr>
          <p:cNvSpPr>
            <a:spLocks noGrp="1"/>
          </p:cNvSpPr>
          <p:nvPr>
            <p:ph type="title"/>
          </p:nvPr>
        </p:nvSpPr>
        <p:spPr/>
        <p:txBody>
          <a:bodyPr/>
          <a:lstStyle/>
          <a:p>
            <a:r>
              <a:rPr lang="en-US" sz="6000"/>
              <a:t>HW00 due on Monday </a:t>
            </a:r>
            <a:r>
              <a:rPr lang="en-US" sz="4000"/>
              <a:t>(if you have trouble with setup,</a:t>
            </a:r>
            <a:br>
              <a:rPr lang="en-US" sz="4000"/>
            </a:br>
            <a:r>
              <a:rPr lang="en-US" sz="4000"/>
              <a:t>go to TA help hours; you can also shoot me an email)</a:t>
            </a:r>
            <a:br>
              <a:rPr lang="en-US" sz="6000"/>
            </a:br>
            <a:r>
              <a:rPr lang="en-US" sz="6000"/>
              <a:t>see you then! 🌞</a:t>
            </a:r>
          </a:p>
        </p:txBody>
      </p:sp>
    </p:spTree>
    <p:extLst>
      <p:ext uri="{BB962C8B-B14F-4D97-AF65-F5344CB8AC3E}">
        <p14:creationId xmlns:p14="http://schemas.microsoft.com/office/powerpoint/2010/main" val="2208744966"/>
      </p:ext>
    </p:extLst>
  </p:cSld>
  <p:clrMapOvr>
    <a:masterClrMapping/>
  </p:clrMapOvr>
</p:sld>
</file>

<file path=ppt/slides/slide8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F8DF5-7B4E-CEFE-9B83-F08AD10125C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0B43FF0-71B1-8AB4-4010-A23AFBB78AED}"/>
              </a:ext>
            </a:extLst>
          </p:cNvPr>
          <p:cNvSpPr>
            <a:spLocks noGrp="1"/>
          </p:cNvSpPr>
          <p:nvPr>
            <p:ph type="body" sz="quarter" idx="4294967295"/>
          </p:nvPr>
        </p:nvSpPr>
        <p:spPr>
          <a:xfrm>
            <a:off x="430340" y="400050"/>
            <a:ext cx="8256460" cy="4343400"/>
          </a:xfrm>
        </p:spPr>
        <p:txBody>
          <a:bodyPr/>
          <a:lstStyle/>
          <a:p>
            <a:endParaRPr lang="en-US"/>
          </a:p>
        </p:txBody>
      </p:sp>
    </p:spTree>
    <p:extLst>
      <p:ext uri="{BB962C8B-B14F-4D97-AF65-F5344CB8AC3E}">
        <p14:creationId xmlns:p14="http://schemas.microsoft.com/office/powerpoint/2010/main" val="3754289521"/>
      </p:ext>
    </p:extLst>
  </p:cSld>
  <p:clrMapOvr>
    <a:masterClrMapping/>
  </p:clrMapOvr>
</p:sld>
</file>

<file path=ppt/slides/slide8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CD52B-C86E-4C49-4ACA-9A16BC9C1AD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5348419-DA96-3C03-7DD5-55E244E38557}"/>
              </a:ext>
            </a:extLst>
          </p:cNvPr>
          <p:cNvSpPr>
            <a:spLocks noGrp="1"/>
          </p:cNvSpPr>
          <p:nvPr>
            <p:ph type="title"/>
          </p:nvPr>
        </p:nvSpPr>
        <p:spPr/>
        <p:txBody>
          <a:bodyPr/>
          <a:lstStyle/>
          <a:p>
            <a:r>
              <a:rPr lang="en-US" sz="8800"/>
              <a:t>☕️ the art of coding things in the right order</a:t>
            </a:r>
            <a:br>
              <a:rPr lang="en-US" sz="8800"/>
            </a:br>
            <a:r>
              <a:rPr lang="en-US" sz="2800" i="1"/>
              <a:t>compile and run early compile and run often</a:t>
            </a:r>
            <a:endParaRPr lang="en-US" sz="8800" i="1"/>
          </a:p>
        </p:txBody>
      </p:sp>
    </p:spTree>
    <p:extLst>
      <p:ext uri="{BB962C8B-B14F-4D97-AF65-F5344CB8AC3E}">
        <p14:creationId xmlns:p14="http://schemas.microsoft.com/office/powerpoint/2010/main" val="2104704087"/>
      </p:ext>
    </p:extLst>
  </p:cSld>
  <p:clrMapOvr>
    <a:masterClrMapping/>
  </p:clrMapOvr>
</p:sld>
</file>

<file path=ppt/slides/slide8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FD4BA-574D-C9D3-AFC6-3EAC1B4DF1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79249-3FBE-7399-9AA5-C95643FD7203}"/>
              </a:ext>
            </a:extLst>
          </p:cNvPr>
          <p:cNvSpPr>
            <a:spLocks noGrp="1"/>
          </p:cNvSpPr>
          <p:nvPr>
            <p:ph type="title"/>
          </p:nvPr>
        </p:nvSpPr>
        <p:spPr/>
        <p:txBody>
          <a:bodyPr/>
          <a:lstStyle/>
          <a:p>
            <a:r>
              <a:rPr lang="en-US" sz="4400">
                <a:solidFill>
                  <a:srgbClr val="0000FF"/>
                </a:solidFill>
              </a:rPr>
              <a:t>why implement Rule 22 first? why not just skip straight to the general case?</a:t>
            </a:r>
            <a:endParaRPr lang="en-US"/>
          </a:p>
        </p:txBody>
      </p:sp>
    </p:spTree>
    <p:extLst>
      <p:ext uri="{BB962C8B-B14F-4D97-AF65-F5344CB8AC3E}">
        <p14:creationId xmlns:p14="http://schemas.microsoft.com/office/powerpoint/2010/main" val="1766203473"/>
      </p:ext>
    </p:extLst>
  </p:cSld>
  <p:clrMapOvr>
    <a:masterClrMapping/>
  </p:clrMapOvr>
</p:sld>
</file>

<file path=ppt/slides/slide8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8B22F-8ACA-18FC-AD48-1E1665D00B0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626FEF-6168-E0EC-1D3B-8ED57D108411}"/>
              </a:ext>
            </a:extLst>
          </p:cNvPr>
          <p:cNvSpPr>
            <a:spLocks noGrp="1"/>
          </p:cNvSpPr>
          <p:nvPr>
            <p:ph type="title"/>
          </p:nvPr>
        </p:nvSpPr>
        <p:spPr/>
        <p:txBody>
          <a:bodyPr/>
          <a:lstStyle/>
          <a:p>
            <a:r>
              <a:rPr lang="en-US" sz="2400"/>
              <a:t>well, let us imagine...</a:t>
            </a:r>
          </a:p>
        </p:txBody>
      </p:sp>
      <p:pic>
        <p:nvPicPr>
          <p:cNvPr id="1026" name="Picture 2" descr="Imagination Spongebob | Know Your Meme">
            <a:extLst>
              <a:ext uri="{FF2B5EF4-FFF2-40B4-BE49-F238E27FC236}">
                <a16:creationId xmlns:a16="http://schemas.microsoft.com/office/drawing/2014/main" id="{2009EA5A-9266-2942-1F0B-6CE6390FBB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2884394"/>
            <a:ext cx="304800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8225781"/>
      </p:ext>
    </p:extLst>
  </p:cSld>
  <p:clrMapOvr>
    <a:masterClrMapping/>
  </p:clrMapOvr>
</p:sld>
</file>

<file path=ppt/slides/slide8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C6747-CA4E-1A46-52C9-836E23F65C7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545A89A-1561-0A22-8779-F840F35275D6}"/>
              </a:ext>
            </a:extLst>
          </p:cNvPr>
          <p:cNvSpPr>
            <a:spLocks noGrp="1"/>
          </p:cNvSpPr>
          <p:nvPr>
            <p:ph type="title"/>
          </p:nvPr>
        </p:nvSpPr>
        <p:spPr/>
        <p:txBody>
          <a:bodyPr/>
          <a:lstStyle/>
          <a:p>
            <a:r>
              <a:rPr lang="en-US"/>
              <a:t>let's imagine...</a:t>
            </a:r>
          </a:p>
        </p:txBody>
      </p:sp>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4062A10E-429A-A465-8627-16182E976AF5}"/>
                  </a:ext>
                </a:extLst>
              </p:cNvPr>
              <p:cNvSpPr>
                <a:spLocks noGrp="1"/>
              </p:cNvSpPr>
              <p:nvPr>
                <p:ph sz="quarter" idx="10"/>
              </p:nvPr>
            </p:nvSpPr>
            <p:spPr>
              <a:xfrm>
                <a:off x="457200" y="963337"/>
                <a:ext cx="8229600" cy="4080271"/>
              </a:xfrm>
            </p:spPr>
            <p:txBody>
              <a:bodyPr>
                <a:normAutofit/>
              </a:bodyPr>
              <a:lstStyle/>
              <a:p>
                <a:r>
                  <a:rPr lang="en-US"/>
                  <a:t>...you decide to develop </a:t>
                </a:r>
                <a14:m>
                  <m:oMath xmlns:m="http://schemas.openxmlformats.org/officeDocument/2006/math">
                    <m:r>
                      <a:rPr lang="en-US" b="0" i="1">
                        <a:latin typeface="Cambria Math" panose="02040503050406030204" pitchFamily="18" charset="0"/>
                      </a:rPr>
                      <m:t>𝑛</m:t>
                    </m:r>
                  </m:oMath>
                </a14:m>
                <a:r>
                  <a:rPr lang="en-US"/>
                  <a:t> different things at once...</a:t>
                </a:r>
              </a:p>
              <a:p>
                <a:pPr lvl="1"/>
                <a:r>
                  <a:rPr lang="en-US"/>
                  <a:t>...and then, finally, you compile and run...</a:t>
                </a:r>
              </a:p>
              <a:p>
                <a:pPr lvl="2"/>
                <a:r>
                  <a:rPr lang="en-US"/>
                  <a:t>...aaaaand you have a bug! 🐛</a:t>
                </a:r>
              </a:p>
              <a:p>
                <a:endParaRPr lang="en-US"/>
              </a:p>
              <a:p>
                <a:r>
                  <a:rPr lang="en-US"/>
                  <a:t>so...what is the cause of the bug? what code is broken? 🤔</a:t>
                </a:r>
              </a:p>
              <a:p>
                <a:pPr lvl="1"/>
                <a:r>
                  <a:rPr lang="en-US"/>
                  <a:t>well...i guess it could be any of the </a:t>
                </a:r>
                <a14:m>
                  <m:oMath xmlns:m="http://schemas.openxmlformats.org/officeDocument/2006/math">
                    <m:r>
                      <a:rPr lang="en-US" i="1">
                        <a:latin typeface="Cambria Math" panose="02040503050406030204" pitchFamily="18" charset="0"/>
                      </a:rPr>
                      <m:t>𝑛</m:t>
                    </m:r>
                  </m:oMath>
                </a14:m>
                <a:r>
                  <a:rPr lang="en-US"/>
                  <a:t> things you just wrote!</a:t>
                </a:r>
              </a:p>
              <a:p>
                <a:pPr lvl="1"/>
                <a:endParaRPr lang="en-US"/>
              </a:p>
              <a:p>
                <a:pPr lvl="1"/>
                <a:endParaRPr lang="en-US"/>
              </a:p>
              <a:p>
                <a:r>
                  <a:rPr lang="en-US" b="1"/>
                  <a:t>and while </a:t>
                </a:r>
                <a14:m>
                  <m:oMath xmlns:m="http://schemas.openxmlformats.org/officeDocument/2006/math">
                    <m:r>
                      <a:rPr lang="en-US" b="0" i="1">
                        <a:latin typeface="Cambria Math" panose="02040503050406030204" pitchFamily="18" charset="0"/>
                        <a:ea typeface="Cambria Math" panose="02040503050406030204" pitchFamily="18" charset="0"/>
                      </a:rPr>
                      <m:t>𝒪</m:t>
                    </m:r>
                    <m:r>
                      <a:rPr lang="en-US" b="0" i="1">
                        <a:latin typeface="Cambria Math" panose="02040503050406030204" pitchFamily="18" charset="0"/>
                      </a:rPr>
                      <m:t>(</m:t>
                    </m:r>
                    <m:r>
                      <a:rPr lang="en-US" b="0" i="1">
                        <a:latin typeface="Cambria Math" panose="02040503050406030204" pitchFamily="18" charset="0"/>
                      </a:rPr>
                      <m:t>𝑛</m:t>
                    </m:r>
                    <m:r>
                      <a:rPr lang="en-US" b="0" i="1">
                        <a:latin typeface="Cambria Math" panose="02040503050406030204" pitchFamily="18" charset="0"/>
                      </a:rPr>
                      <m:t>)</m:t>
                    </m:r>
                  </m:oMath>
                </a14:m>
                <a:r>
                  <a:rPr lang="en-US" b="1"/>
                  <a:t> possible sources of bugs might seem bad...</a:t>
                </a:r>
              </a:p>
            </p:txBody>
          </p:sp>
        </mc:Choice>
        <mc:Fallback xmlns="">
          <p:sp>
            <p:nvSpPr>
              <p:cNvPr id="2" name="Text Placeholder 1"/>
              <p:cNvSpPr>
                <a:spLocks noGrp="1" noRot="1" noChangeAspect="1" noMove="1" noResize="1" noEditPoints="1" noAdjustHandles="1" noChangeArrowheads="1" noChangeShapeType="1" noTextEdit="1"/>
              </p:cNvSpPr>
              <p:nvPr>
                <p:ph sz="quarter" idx="10"/>
              </p:nvPr>
            </p:nvSpPr>
            <p:spPr>
              <a:xfrm>
                <a:off x="457200" y="963337"/>
                <a:ext cx="8229600" cy="4080271"/>
              </a:xfrm>
              <a:blipFill>
                <a:blip r:embed="rId2"/>
                <a:stretch>
                  <a:fillRect l="-617" t="-621"/>
                </a:stretch>
              </a:blipFill>
            </p:spPr>
            <p:txBody>
              <a:bodyPr/>
              <a:lstStyle/>
              <a:p>
                <a:r>
                  <a:rPr lang="en-US">
                    <a:noFill/>
                  </a:rPr>
                  <a:t> </a:t>
                </a:r>
              </a:p>
            </p:txBody>
          </p:sp>
        </mc:Fallback>
      </mc:AlternateContent>
    </p:spTree>
    <p:extLst>
      <p:ext uri="{BB962C8B-B14F-4D97-AF65-F5344CB8AC3E}">
        <p14:creationId xmlns:p14="http://schemas.microsoft.com/office/powerpoint/2010/main" val="1041553270"/>
      </p:ext>
    </p:extLst>
  </p:cSld>
  <p:clrMapOvr>
    <a:masterClrMapping/>
  </p:clrMapOvr>
</p:sld>
</file>

<file path=ppt/slides/slide8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A1529-AA2D-7A26-5907-01E17A90B53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9CB354C-2B30-9DBD-55F6-93D538637C6F}"/>
              </a:ext>
            </a:extLst>
          </p:cNvPr>
          <p:cNvSpPr>
            <a:spLocks noGrp="1"/>
          </p:cNvSpPr>
          <p:nvPr>
            <p:ph type="title"/>
          </p:nvPr>
        </p:nvSpPr>
        <p:spPr/>
        <p:txBody>
          <a:bodyPr/>
          <a:lstStyle/>
          <a:p>
            <a:r>
              <a:rPr lang="en-US" sz="2800"/>
              <a:t>...the reality is</a:t>
            </a:r>
            <a:br>
              <a:rPr lang="en-US" sz="4400"/>
            </a:br>
            <a:r>
              <a:rPr lang="en-US" sz="4400"/>
              <a:t>✨</a:t>
            </a:r>
            <a:r>
              <a:rPr lang="en-US" sz="4400" b="1"/>
              <a:t>so much worse</a:t>
            </a:r>
            <a:r>
              <a:rPr lang="en-US" sz="4400"/>
              <a:t>✨!</a:t>
            </a:r>
            <a:endParaRPr lang="en-US"/>
          </a:p>
        </p:txBody>
      </p:sp>
    </p:spTree>
    <p:extLst>
      <p:ext uri="{BB962C8B-B14F-4D97-AF65-F5344CB8AC3E}">
        <p14:creationId xmlns:p14="http://schemas.microsoft.com/office/powerpoint/2010/main" val="326120822"/>
      </p:ext>
    </p:extLst>
  </p:cSld>
  <p:clrMapOvr>
    <a:masterClrMapping/>
  </p:clrMapOvr>
</p:sld>
</file>

<file path=ppt/slides/slide8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D478E-7F44-2B0D-6A6D-04C3AA9C011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67218E0-1EF2-15AB-1B03-089D3C53379C}"/>
              </a:ext>
            </a:extLst>
          </p:cNvPr>
          <p:cNvSpPr>
            <a:spLocks noGrp="1"/>
          </p:cNvSpPr>
          <p:nvPr>
            <p:ph type="title"/>
          </p:nvPr>
        </p:nvSpPr>
        <p:spPr/>
        <p:txBody>
          <a:bodyPr>
            <a:noAutofit/>
          </a:bodyPr>
          <a:lstStyle/>
          <a:p>
            <a:r>
              <a:rPr lang="en-US" sz="2800"/>
              <a:t>because broken code likes to interact with</a:t>
            </a:r>
            <a:br>
              <a:rPr lang="en-US" sz="2800"/>
            </a:br>
            <a:r>
              <a:rPr lang="en-US" sz="2800"/>
              <a:t>other broken code, to make✨</a:t>
            </a:r>
            <a:r>
              <a:rPr lang="en-US" sz="2800" b="1"/>
              <a:t>super bugs</a:t>
            </a:r>
            <a:r>
              <a:rPr lang="en-US" sz="2800"/>
              <a:t>✨!</a:t>
            </a:r>
          </a:p>
        </p:txBody>
      </p:sp>
      <p:pic>
        <p:nvPicPr>
          <p:cNvPr id="4098" name="Picture 2" descr="Super Bug Encyclopedia: The Biggest, Fastest, Deadliest Creepy-Crawlers on  the Planet (Super Encyclopedias): DK, Smithsonian Institution:  9781465446008: Amazon.com: Books">
            <a:extLst>
              <a:ext uri="{FF2B5EF4-FFF2-40B4-BE49-F238E27FC236}">
                <a16:creationId xmlns:a16="http://schemas.microsoft.com/office/drawing/2014/main" id="{65137CBF-CA86-7EE0-20B7-8C7609ACEF3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4894" y="1247486"/>
            <a:ext cx="2994212" cy="3560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9043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02E54-B407-DF2C-F0EB-0FF0FF152DB4}"/>
            </a:ext>
          </a:extLst>
        </p:cNvPr>
        <p:cNvGrpSpPr/>
        <p:nvPr/>
      </p:nvGrpSpPr>
      <p:grpSpPr>
        <a:xfrm>
          <a:off x="0" y="0"/>
          <a:ext cx="0" cy="0"/>
          <a:chOff x="0" y="0"/>
          <a:chExt cx="0" cy="0"/>
        </a:xfrm>
      </p:grpSpPr>
    </p:spTree>
    <p:extLst>
      <p:ext uri="{BB962C8B-B14F-4D97-AF65-F5344CB8AC3E}">
        <p14:creationId xmlns:p14="http://schemas.microsoft.com/office/powerpoint/2010/main" val="2996969544"/>
      </p:ext>
    </p:extLst>
  </p:cSld>
  <p:clrMapOvr>
    <a:masterClrMapping/>
  </p:clrMapOvr>
</p:sld>
</file>

<file path=ppt/slides/slide8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9E174-2326-18EE-4365-69CD5B7C07EE}"/>
            </a:ext>
          </a:extLst>
        </p:cNvPr>
        <p:cNvGrpSpPr/>
        <p:nvPr/>
      </p:nvGrpSpPr>
      <p:grpSpPr>
        <a:xfrm>
          <a:off x="0" y="0"/>
          <a:ext cx="0" cy="0"/>
          <a:chOff x="0" y="0"/>
          <a:chExt cx="0" cy="0"/>
        </a:xfrm>
      </p:grpSpPr>
      <p:pic>
        <p:nvPicPr>
          <p:cNvPr id="1026" name="Picture 2" descr="https://upload.wikimedia.org/wikipedia/commons/thumb/1/16/Powers_of_two_cuboids.svg/800px-Powers_of_two_cuboids.svg.png">
            <a:extLst>
              <a:ext uri="{FF2B5EF4-FFF2-40B4-BE49-F238E27FC236}">
                <a16:creationId xmlns:a16="http://schemas.microsoft.com/office/drawing/2014/main" id="{0B8128EB-3130-9161-DD0F-FA13F6CB868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579" t="10763" r="83160" b="79224"/>
          <a:stretch/>
        </p:blipFill>
        <p:spPr bwMode="auto">
          <a:xfrm>
            <a:off x="2754086" y="903514"/>
            <a:ext cx="402771" cy="43542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CB53B5A-9F33-4985-674F-AD0436DA2C92}"/>
              </a:ext>
            </a:extLst>
          </p:cNvPr>
          <p:cNvSpPr txBox="1"/>
          <p:nvPr/>
        </p:nvSpPr>
        <p:spPr>
          <a:xfrm>
            <a:off x="1480456" y="1534884"/>
            <a:ext cx="3015343"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700" b="0" i="0" u="none" strike="noStrike" kern="1200" cap="none" spc="0" normalizeH="0" baseline="0" noProof="0">
                <a:ln>
                  <a:noFill/>
                </a:ln>
                <a:solidFill>
                  <a:srgbClr val="000000"/>
                </a:solidFill>
                <a:effectLst/>
                <a:uLnTx/>
                <a:uFillTx/>
                <a:latin typeface="Arial"/>
                <a:ea typeface="+mn-ea"/>
                <a:cs typeface="+mn-cs"/>
              </a:rPr>
              <a:t>developing one thing at a time</a:t>
            </a:r>
          </a:p>
        </p:txBody>
      </p:sp>
      <p:cxnSp>
        <p:nvCxnSpPr>
          <p:cNvPr id="6" name="Straight Connector 5">
            <a:extLst>
              <a:ext uri="{FF2B5EF4-FFF2-40B4-BE49-F238E27FC236}">
                <a16:creationId xmlns:a16="http://schemas.microsoft.com/office/drawing/2014/main" id="{1DC099DB-1E4D-D55A-1C78-AA5799FE57AC}"/>
              </a:ext>
            </a:extLst>
          </p:cNvPr>
          <p:cNvCxnSpPr>
            <a:cxnSpLocks/>
          </p:cNvCxnSpPr>
          <p:nvPr/>
        </p:nvCxnSpPr>
        <p:spPr>
          <a:xfrm flipH="1" flipV="1">
            <a:off x="2667000" y="707572"/>
            <a:ext cx="217714" cy="381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8048A09-C50B-A27A-EEF3-09F7C3E06599}"/>
              </a:ext>
            </a:extLst>
          </p:cNvPr>
          <p:cNvCxnSpPr>
            <a:cxnSpLocks/>
          </p:cNvCxnSpPr>
          <p:nvPr/>
        </p:nvCxnSpPr>
        <p:spPr>
          <a:xfrm flipV="1">
            <a:off x="2982686" y="685800"/>
            <a:ext cx="315686" cy="3483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738A68D-B0A7-CA26-68E3-33C89CB761D0}"/>
              </a:ext>
            </a:extLst>
          </p:cNvPr>
          <p:cNvSpPr txBox="1"/>
          <p:nvPr/>
        </p:nvSpPr>
        <p:spPr>
          <a:xfrm>
            <a:off x="2136642" y="174794"/>
            <a:ext cx="1060716" cy="55399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Arial"/>
                <a:ea typeface="+mn-ea"/>
                <a:cs typeface="+mn-cs"/>
              </a:rPr>
              <a:t>not broken</a:t>
            </a:r>
          </a:p>
        </p:txBody>
      </p:sp>
      <p:sp>
        <p:nvSpPr>
          <p:cNvPr id="11" name="TextBox 10">
            <a:extLst>
              <a:ext uri="{FF2B5EF4-FFF2-40B4-BE49-F238E27FC236}">
                <a16:creationId xmlns:a16="http://schemas.microsoft.com/office/drawing/2014/main" id="{DA115869-2802-8C0F-B4AA-BC65959D30AA}"/>
              </a:ext>
            </a:extLst>
          </p:cNvPr>
          <p:cNvSpPr txBox="1"/>
          <p:nvPr/>
        </p:nvSpPr>
        <p:spPr>
          <a:xfrm>
            <a:off x="3156856" y="374833"/>
            <a:ext cx="886545" cy="3231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Arial"/>
                <a:ea typeface="+mn-ea"/>
                <a:cs typeface="+mn-cs"/>
              </a:rPr>
              <a:t>broken</a:t>
            </a:r>
          </a:p>
        </p:txBody>
      </p:sp>
    </p:spTree>
    <p:extLst>
      <p:ext uri="{BB962C8B-B14F-4D97-AF65-F5344CB8AC3E}">
        <p14:creationId xmlns:p14="http://schemas.microsoft.com/office/powerpoint/2010/main" val="230876665"/>
      </p:ext>
    </p:extLst>
  </p:cSld>
  <p:clrMapOvr>
    <a:masterClrMapping/>
  </p:clrMapOvr>
</p:sld>
</file>

<file path=ppt/slides/slide8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81B83-5C42-73F7-4BBD-150E6BD6DFE2}"/>
            </a:ext>
          </a:extLst>
        </p:cNvPr>
        <p:cNvGrpSpPr/>
        <p:nvPr/>
      </p:nvGrpSpPr>
      <p:grpSpPr>
        <a:xfrm>
          <a:off x="0" y="0"/>
          <a:ext cx="0" cy="0"/>
          <a:chOff x="0" y="0"/>
          <a:chExt cx="0" cy="0"/>
        </a:xfrm>
      </p:grpSpPr>
      <p:pic>
        <p:nvPicPr>
          <p:cNvPr id="1026" name="Picture 2" descr="https://upload.wikimedia.org/wikipedia/commons/thumb/1/16/Powers_of_two_cuboids.svg/800px-Powers_of_two_cuboids.svg.png">
            <a:extLst>
              <a:ext uri="{FF2B5EF4-FFF2-40B4-BE49-F238E27FC236}">
                <a16:creationId xmlns:a16="http://schemas.microsoft.com/office/drawing/2014/main" id="{8878ACC5-89D5-B9A9-40BA-094E5166BF1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591" t="9261" r="71645" b="79724"/>
          <a:stretch/>
        </p:blipFill>
        <p:spPr bwMode="auto">
          <a:xfrm>
            <a:off x="2754086" y="903514"/>
            <a:ext cx="511629" cy="478972"/>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a:extLst>
              <a:ext uri="{FF2B5EF4-FFF2-40B4-BE49-F238E27FC236}">
                <a16:creationId xmlns:a16="http://schemas.microsoft.com/office/drawing/2014/main" id="{081BDD9D-4E4F-5B1A-55A5-62797DDA13CB}"/>
              </a:ext>
            </a:extLst>
          </p:cNvPr>
          <p:cNvCxnSpPr>
            <a:cxnSpLocks/>
          </p:cNvCxnSpPr>
          <p:nvPr/>
        </p:nvCxnSpPr>
        <p:spPr>
          <a:xfrm flipH="1" flipV="1">
            <a:off x="2667000" y="707572"/>
            <a:ext cx="217714" cy="381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94D820A-99D7-BC1D-1176-9DED3A8DA657}"/>
              </a:ext>
            </a:extLst>
          </p:cNvPr>
          <p:cNvCxnSpPr>
            <a:cxnSpLocks/>
          </p:cNvCxnSpPr>
          <p:nvPr/>
        </p:nvCxnSpPr>
        <p:spPr>
          <a:xfrm flipV="1">
            <a:off x="2982686" y="685800"/>
            <a:ext cx="315686" cy="3483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094C6F0-37BA-8793-387D-D2574580E8E4}"/>
              </a:ext>
            </a:extLst>
          </p:cNvPr>
          <p:cNvSpPr txBox="1"/>
          <p:nvPr/>
        </p:nvSpPr>
        <p:spPr>
          <a:xfrm>
            <a:off x="3347356" y="370115"/>
            <a:ext cx="1224643" cy="3231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Arial"/>
                <a:ea typeface="+mn-ea"/>
                <a:cs typeface="+mn-cs"/>
              </a:rPr>
              <a:t>A is broken</a:t>
            </a:r>
          </a:p>
        </p:txBody>
      </p:sp>
      <p:cxnSp>
        <p:nvCxnSpPr>
          <p:cNvPr id="13" name="Straight Connector 12">
            <a:extLst>
              <a:ext uri="{FF2B5EF4-FFF2-40B4-BE49-F238E27FC236}">
                <a16:creationId xmlns:a16="http://schemas.microsoft.com/office/drawing/2014/main" id="{BDFFA3FF-3820-D8BF-EFB7-3956ED63B1E5}"/>
              </a:ext>
            </a:extLst>
          </p:cNvPr>
          <p:cNvCxnSpPr>
            <a:cxnSpLocks/>
          </p:cNvCxnSpPr>
          <p:nvPr/>
        </p:nvCxnSpPr>
        <p:spPr>
          <a:xfrm flipV="1">
            <a:off x="2645229" y="1159327"/>
            <a:ext cx="315686" cy="3483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47C07E5-85FF-DAA1-E266-29CB38E08999}"/>
              </a:ext>
            </a:extLst>
          </p:cNvPr>
          <p:cNvSpPr txBox="1"/>
          <p:nvPr/>
        </p:nvSpPr>
        <p:spPr>
          <a:xfrm>
            <a:off x="2032427" y="1519107"/>
            <a:ext cx="1211515" cy="3231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Arial"/>
                <a:ea typeface="+mn-ea"/>
                <a:cs typeface="+mn-cs"/>
              </a:rPr>
              <a:t>B is broken</a:t>
            </a:r>
          </a:p>
        </p:txBody>
      </p:sp>
      <p:cxnSp>
        <p:nvCxnSpPr>
          <p:cNvPr id="15" name="Straight Connector 14">
            <a:extLst>
              <a:ext uri="{FF2B5EF4-FFF2-40B4-BE49-F238E27FC236}">
                <a16:creationId xmlns:a16="http://schemas.microsoft.com/office/drawing/2014/main" id="{2A8FED93-2D4F-0F84-2EFB-AC163224B51E}"/>
              </a:ext>
            </a:extLst>
          </p:cNvPr>
          <p:cNvCxnSpPr>
            <a:cxnSpLocks/>
          </p:cNvCxnSpPr>
          <p:nvPr/>
        </p:nvCxnSpPr>
        <p:spPr>
          <a:xfrm flipH="1" flipV="1">
            <a:off x="3091543" y="1088570"/>
            <a:ext cx="462642" cy="50926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1644A85-2C53-5B47-4F6B-BFB10B2D87AD}"/>
              </a:ext>
            </a:extLst>
          </p:cNvPr>
          <p:cNvSpPr txBox="1"/>
          <p:nvPr/>
        </p:nvSpPr>
        <p:spPr>
          <a:xfrm>
            <a:off x="3545539" y="1560594"/>
            <a:ext cx="2296206" cy="3231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Arial"/>
                <a:ea typeface="+mn-ea"/>
                <a:cs typeface="+mn-cs"/>
              </a:rPr>
              <a:t>A and B are both broken</a:t>
            </a:r>
          </a:p>
        </p:txBody>
      </p:sp>
      <p:sp>
        <p:nvSpPr>
          <p:cNvPr id="19" name="TextBox 18">
            <a:extLst>
              <a:ext uri="{FF2B5EF4-FFF2-40B4-BE49-F238E27FC236}">
                <a16:creationId xmlns:a16="http://schemas.microsoft.com/office/drawing/2014/main" id="{313D7EB7-6D75-C07D-BDC3-7E16E9CEE16A}"/>
              </a:ext>
            </a:extLst>
          </p:cNvPr>
          <p:cNvSpPr txBox="1"/>
          <p:nvPr/>
        </p:nvSpPr>
        <p:spPr>
          <a:xfrm>
            <a:off x="3265715" y="2305408"/>
            <a:ext cx="3015343"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700" b="0" i="0" u="none" strike="noStrike" kern="1200" cap="none" spc="0" normalizeH="0" baseline="0" noProof="0">
                <a:ln>
                  <a:noFill/>
                </a:ln>
                <a:solidFill>
                  <a:srgbClr val="000000"/>
                </a:solidFill>
                <a:effectLst/>
                <a:uLnTx/>
                <a:uFillTx/>
                <a:latin typeface="Arial"/>
                <a:ea typeface="+mn-ea"/>
                <a:cs typeface="+mn-cs"/>
              </a:rPr>
              <a:t>developing two things at a time</a:t>
            </a:r>
          </a:p>
        </p:txBody>
      </p:sp>
      <p:sp>
        <p:nvSpPr>
          <p:cNvPr id="2" name="TextBox 1">
            <a:extLst>
              <a:ext uri="{FF2B5EF4-FFF2-40B4-BE49-F238E27FC236}">
                <a16:creationId xmlns:a16="http://schemas.microsoft.com/office/drawing/2014/main" id="{10353EA6-56BC-F1CE-2833-7558CB723A5A}"/>
              </a:ext>
            </a:extLst>
          </p:cNvPr>
          <p:cNvSpPr txBox="1"/>
          <p:nvPr/>
        </p:nvSpPr>
        <p:spPr>
          <a:xfrm>
            <a:off x="2136642" y="174794"/>
            <a:ext cx="1060716" cy="55399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Arial"/>
                <a:ea typeface="+mn-ea"/>
                <a:cs typeface="+mn-cs"/>
              </a:rPr>
              <a:t>not broken</a:t>
            </a:r>
          </a:p>
        </p:txBody>
      </p:sp>
    </p:spTree>
    <p:extLst>
      <p:ext uri="{BB962C8B-B14F-4D97-AF65-F5344CB8AC3E}">
        <p14:creationId xmlns:p14="http://schemas.microsoft.com/office/powerpoint/2010/main" val="1124181916"/>
      </p:ext>
    </p:extLst>
  </p:cSld>
  <p:clrMapOvr>
    <a:masterClrMapping/>
  </p:clrMapOvr>
</p:sld>
</file>

<file path=ppt/slides/slide8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F984B-74E9-9679-0A97-D0678D90A2BC}"/>
            </a:ext>
          </a:extLst>
        </p:cNvPr>
        <p:cNvGrpSpPr/>
        <p:nvPr/>
      </p:nvGrpSpPr>
      <p:grpSpPr>
        <a:xfrm>
          <a:off x="0" y="0"/>
          <a:ext cx="0" cy="0"/>
          <a:chOff x="0" y="0"/>
          <a:chExt cx="0" cy="0"/>
        </a:xfrm>
      </p:grpSpPr>
      <p:pic>
        <p:nvPicPr>
          <p:cNvPr id="3074" name="Picture 2" descr="Who's That Pokémon? | Know Your Meme">
            <a:extLst>
              <a:ext uri="{FF2B5EF4-FFF2-40B4-BE49-F238E27FC236}">
                <a16:creationId xmlns:a16="http://schemas.microsoft.com/office/drawing/2014/main" id="{55C64DD0-54CF-119A-1CFC-C4A568B935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2" y="0"/>
            <a:ext cx="9138047"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Freeform: Shape 1">
            <a:extLst>
              <a:ext uri="{FF2B5EF4-FFF2-40B4-BE49-F238E27FC236}">
                <a16:creationId xmlns:a16="http://schemas.microsoft.com/office/drawing/2014/main" id="{BBC4E761-74B5-852C-B53F-585D7849CA52}"/>
              </a:ext>
            </a:extLst>
          </p:cNvPr>
          <p:cNvSpPr/>
          <p:nvPr/>
        </p:nvSpPr>
        <p:spPr>
          <a:xfrm>
            <a:off x="4588933" y="3691467"/>
            <a:ext cx="3564467" cy="900638"/>
          </a:xfrm>
          <a:custGeom>
            <a:avLst/>
            <a:gdLst>
              <a:gd name="connsiteX0" fmla="*/ 0 w 4752622"/>
              <a:gd name="connsiteY0" fmla="*/ 880533 h 1200850"/>
              <a:gd name="connsiteX1" fmla="*/ 45155 w 4752622"/>
              <a:gd name="connsiteY1" fmla="*/ 812800 h 1200850"/>
              <a:gd name="connsiteX2" fmla="*/ 1727200 w 4752622"/>
              <a:gd name="connsiteY2" fmla="*/ 0 h 1200850"/>
              <a:gd name="connsiteX3" fmla="*/ 1614311 w 4752622"/>
              <a:gd name="connsiteY3" fmla="*/ 541866 h 1200850"/>
              <a:gd name="connsiteX4" fmla="*/ 1580444 w 4752622"/>
              <a:gd name="connsiteY4" fmla="*/ 733777 h 1200850"/>
              <a:gd name="connsiteX5" fmla="*/ 2111022 w 4752622"/>
              <a:gd name="connsiteY5" fmla="*/ 372533 h 1200850"/>
              <a:gd name="connsiteX6" fmla="*/ 2111022 w 4752622"/>
              <a:gd name="connsiteY6" fmla="*/ 880533 h 1200850"/>
              <a:gd name="connsiteX7" fmla="*/ 2065866 w 4752622"/>
              <a:gd name="connsiteY7" fmla="*/ 1196622 h 1200850"/>
              <a:gd name="connsiteX8" fmla="*/ 2077155 w 4752622"/>
              <a:gd name="connsiteY8" fmla="*/ 1128888 h 1200850"/>
              <a:gd name="connsiteX9" fmla="*/ 2765778 w 4752622"/>
              <a:gd name="connsiteY9" fmla="*/ 575733 h 1200850"/>
              <a:gd name="connsiteX10" fmla="*/ 3025422 w 4752622"/>
              <a:gd name="connsiteY10" fmla="*/ 462844 h 1200850"/>
              <a:gd name="connsiteX11" fmla="*/ 3036711 w 4752622"/>
              <a:gd name="connsiteY11" fmla="*/ 824088 h 1200850"/>
              <a:gd name="connsiteX12" fmla="*/ 4154311 w 4752622"/>
              <a:gd name="connsiteY12" fmla="*/ 203200 h 1200850"/>
              <a:gd name="connsiteX13" fmla="*/ 4459111 w 4752622"/>
              <a:gd name="connsiteY13" fmla="*/ 519288 h 1200850"/>
              <a:gd name="connsiteX14" fmla="*/ 4718755 w 4752622"/>
              <a:gd name="connsiteY14" fmla="*/ 654755 h 1200850"/>
              <a:gd name="connsiteX15" fmla="*/ 4752622 w 4752622"/>
              <a:gd name="connsiteY15" fmla="*/ 677333 h 1200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52622" h="1200850">
                <a:moveTo>
                  <a:pt x="0" y="880533"/>
                </a:moveTo>
                <a:cubicBezTo>
                  <a:pt x="15052" y="857955"/>
                  <a:pt x="23056" y="828546"/>
                  <a:pt x="45155" y="812800"/>
                </a:cubicBezTo>
                <a:cubicBezTo>
                  <a:pt x="1033599" y="108533"/>
                  <a:pt x="660812" y="306768"/>
                  <a:pt x="1727200" y="0"/>
                </a:cubicBezTo>
                <a:cubicBezTo>
                  <a:pt x="1792466" y="326337"/>
                  <a:pt x="1770047" y="55191"/>
                  <a:pt x="1614311" y="541866"/>
                </a:cubicBezTo>
                <a:cubicBezTo>
                  <a:pt x="1594513" y="603734"/>
                  <a:pt x="1518960" y="754737"/>
                  <a:pt x="1580444" y="733777"/>
                </a:cubicBezTo>
                <a:cubicBezTo>
                  <a:pt x="1782959" y="664738"/>
                  <a:pt x="1934163" y="492948"/>
                  <a:pt x="2111022" y="372533"/>
                </a:cubicBezTo>
                <a:cubicBezTo>
                  <a:pt x="2191797" y="587930"/>
                  <a:pt x="2156785" y="455593"/>
                  <a:pt x="2111022" y="880533"/>
                </a:cubicBezTo>
                <a:cubicBezTo>
                  <a:pt x="2099626" y="986354"/>
                  <a:pt x="2080247" y="1091165"/>
                  <a:pt x="2065866" y="1196622"/>
                </a:cubicBezTo>
                <a:cubicBezTo>
                  <a:pt x="2062773" y="1219302"/>
                  <a:pt x="2060032" y="1144078"/>
                  <a:pt x="2077155" y="1128888"/>
                </a:cubicBezTo>
                <a:cubicBezTo>
                  <a:pt x="2297408" y="933502"/>
                  <a:pt x="2524844" y="744960"/>
                  <a:pt x="2765778" y="575733"/>
                </a:cubicBezTo>
                <a:cubicBezTo>
                  <a:pt x="2843006" y="521489"/>
                  <a:pt x="2938874" y="500474"/>
                  <a:pt x="3025422" y="462844"/>
                </a:cubicBezTo>
                <a:cubicBezTo>
                  <a:pt x="3029185" y="583259"/>
                  <a:pt x="3028516" y="703894"/>
                  <a:pt x="3036711" y="824088"/>
                </a:cubicBezTo>
                <a:cubicBezTo>
                  <a:pt x="3078321" y="1434362"/>
                  <a:pt x="3543921" y="624809"/>
                  <a:pt x="4154311" y="203200"/>
                </a:cubicBezTo>
                <a:cubicBezTo>
                  <a:pt x="4359894" y="244314"/>
                  <a:pt x="4057745" y="171437"/>
                  <a:pt x="4459111" y="519288"/>
                </a:cubicBezTo>
                <a:cubicBezTo>
                  <a:pt x="4532881" y="583222"/>
                  <a:pt x="4632804" y="608473"/>
                  <a:pt x="4718755" y="654755"/>
                </a:cubicBezTo>
                <a:cubicBezTo>
                  <a:pt x="4730701" y="661187"/>
                  <a:pt x="4741333" y="669807"/>
                  <a:pt x="4752622" y="677333"/>
                </a:cubicBezTo>
              </a:path>
            </a:pathLst>
          </a:custGeom>
          <a:noFill/>
          <a:ln w="3048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Arial"/>
              <a:ea typeface="+mn-ea"/>
              <a:cs typeface="+mn-cs"/>
            </a:endParaRPr>
          </a:p>
        </p:txBody>
      </p:sp>
      <p:sp>
        <p:nvSpPr>
          <p:cNvPr id="4" name="TextBox 3">
            <a:extLst>
              <a:ext uri="{FF2B5EF4-FFF2-40B4-BE49-F238E27FC236}">
                <a16:creationId xmlns:a16="http://schemas.microsoft.com/office/drawing/2014/main" id="{4FFA128D-0117-EA4D-5B4C-E88EA0C06104}"/>
              </a:ext>
            </a:extLst>
          </p:cNvPr>
          <p:cNvSpPr txBox="1"/>
          <p:nvPr/>
        </p:nvSpPr>
        <p:spPr>
          <a:xfrm>
            <a:off x="5219140" y="3710205"/>
            <a:ext cx="3924860"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0000FF"/>
                </a:solidFill>
                <a:effectLst/>
                <a:highlight>
                  <a:srgbClr val="FFFF00"/>
                </a:highlight>
                <a:uLnTx/>
                <a:uFillTx/>
                <a:latin typeface="Comic Sans MS" panose="030F0702030302020204" pitchFamily="66" charset="0"/>
                <a:ea typeface="+mn-ea"/>
                <a:cs typeface="+mn-cs"/>
              </a:rPr>
              <a:t>asymptotic</a:t>
            </a:r>
            <a:br>
              <a:rPr kumimoji="0" lang="en-US" sz="3600" b="0" i="0" u="none" strike="noStrike" kern="1200" cap="none" spc="0" normalizeH="0" baseline="0" noProof="0">
                <a:ln>
                  <a:noFill/>
                </a:ln>
                <a:solidFill>
                  <a:srgbClr val="0000FF"/>
                </a:solidFill>
                <a:effectLst/>
                <a:highlight>
                  <a:srgbClr val="FFFF00"/>
                </a:highlight>
                <a:uLnTx/>
                <a:uFillTx/>
                <a:latin typeface="Comic Sans MS" panose="030F0702030302020204" pitchFamily="66" charset="0"/>
                <a:ea typeface="+mn-ea"/>
                <a:cs typeface="+mn-cs"/>
              </a:rPr>
            </a:br>
            <a:r>
              <a:rPr kumimoji="0" lang="en-US" sz="3600" b="0" i="0" u="none" strike="noStrike" kern="1200" cap="none" spc="0" normalizeH="0" baseline="0" noProof="0">
                <a:ln>
                  <a:noFill/>
                </a:ln>
                <a:solidFill>
                  <a:srgbClr val="0000FF"/>
                </a:solidFill>
                <a:effectLst/>
                <a:highlight>
                  <a:srgbClr val="FFFF00"/>
                </a:highlight>
                <a:uLnTx/>
                <a:uFillTx/>
                <a:latin typeface="Comic Sans MS" panose="030F0702030302020204" pitchFamily="66" charset="0"/>
                <a:ea typeface="+mn-ea"/>
                <a:cs typeface="+mn-cs"/>
              </a:rPr>
              <a:t>bug-finding time</a:t>
            </a:r>
          </a:p>
        </p:txBody>
      </p:sp>
    </p:spTree>
    <p:extLst>
      <p:ext uri="{BB962C8B-B14F-4D97-AF65-F5344CB8AC3E}">
        <p14:creationId xmlns:p14="http://schemas.microsoft.com/office/powerpoint/2010/main" val="2195622326"/>
      </p:ext>
    </p:extLst>
  </p:cSld>
  <p:clrMapOvr>
    <a:masterClrMapping/>
  </p:clrMapOvr>
</p:sld>
</file>

<file path=ppt/slides/slide8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E8D05-A220-E407-0451-356242C9710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E5211B0-7C0A-4EA9-A321-26CE2BB8C1DB}"/>
                  </a:ext>
                </a:extLst>
              </p:cNvPr>
              <p:cNvSpPr txBox="1"/>
              <p:nvPr/>
            </p:nvSpPr>
            <p:spPr>
              <a:xfrm>
                <a:off x="6473941" y="3064330"/>
                <a:ext cx="1616529"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𝒪</m:t>
                      </m:r>
                      <m: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p>
                        <m:sSupPr>
                          <m:ctrlP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pPr>
                        <m:e>
                          <m: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e>
                        <m:sup>
                          <m: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𝑛</m:t>
                          </m:r>
                        </m:sup>
                      </m:sSup>
                      <m: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oMath>
                  </m:oMathPara>
                </a14:m>
                <a:endParaRPr kumimoji="0" lang="en-US" sz="3600" b="0" i="0" u="none" strike="noStrike" kern="1200" cap="none" spc="0" normalizeH="0" baseline="0" noProof="0">
                  <a:ln>
                    <a:noFill/>
                  </a:ln>
                  <a:solidFill>
                    <a:srgbClr val="000000"/>
                  </a:solidFill>
                  <a:effectLst/>
                  <a:uLnTx/>
                  <a:uFillTx/>
                  <a:latin typeface="Arial"/>
                  <a:ea typeface="+mn-ea"/>
                  <a:cs typeface="+mn-cs"/>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6473941" y="3064330"/>
                <a:ext cx="1616529" cy="646331"/>
              </a:xfrm>
              <a:prstGeom prst="rect">
                <a:avLst/>
              </a:prstGeom>
              <a:blipFill>
                <a:blip r:embed="rId2"/>
                <a:stretch>
                  <a:fillRect b="-23077"/>
                </a:stretch>
              </a:blipFill>
            </p:spPr>
            <p:txBody>
              <a:bodyPr/>
              <a:lstStyle/>
              <a:p>
                <a:r>
                  <a:rPr lang="en-US">
                    <a:noFill/>
                  </a:rPr>
                  <a:t> </a:t>
                </a:r>
              </a:p>
            </p:txBody>
          </p:sp>
        </mc:Fallback>
      </mc:AlternateContent>
      <p:pic>
        <p:nvPicPr>
          <p:cNvPr id="4" name="Picture 2" descr="https://upload.wikimedia.org/wikipedia/commons/thumb/1/16/Powers_of_two_cuboids.svg/800px-Powers_of_two_cuboids.svg.png">
            <a:extLst>
              <a:ext uri="{FF2B5EF4-FFF2-40B4-BE49-F238E27FC236}">
                <a16:creationId xmlns:a16="http://schemas.microsoft.com/office/drawing/2014/main" id="{C81836A4-1922-85F7-1C74-BD391B6A188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9" r="314" b="-138"/>
          <a:stretch/>
        </p:blipFill>
        <p:spPr bwMode="auto">
          <a:xfrm>
            <a:off x="2024743" y="500743"/>
            <a:ext cx="4343400" cy="435428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54A60B3-8B94-2842-DE1D-D82129C372FD}"/>
              </a:ext>
            </a:extLst>
          </p:cNvPr>
          <p:cNvSpPr txBox="1"/>
          <p:nvPr/>
        </p:nvSpPr>
        <p:spPr>
          <a:xfrm>
            <a:off x="7028328" y="3917576"/>
            <a:ext cx="1891553"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gl;hf </a:t>
            </a:r>
            <a:r>
              <a:rPr kumimoji="0" lang="en-US" sz="2400" b="0" i="0" u="none" strike="noStrike" kern="1200" cap="none" spc="0" normalizeH="0" baseline="0" noProof="0">
                <a:ln>
                  <a:noFill/>
                </a:ln>
                <a:solidFill>
                  <a:srgbClr val="FFFFFF"/>
                </a:solidFill>
                <a:effectLst/>
                <a:uLnTx/>
                <a:uFillTx/>
                <a:latin typeface="Arial"/>
                <a:ea typeface="Segoe UI Emoji" panose="020B0502040204020203" pitchFamily="34" charset="0"/>
                <a:cs typeface="+mn-cs"/>
              </a:rPr>
              <a:t>🙂👍</a:t>
            </a: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927190754"/>
      </p:ext>
    </p:extLst>
  </p:cSld>
  <p:clrMapOvr>
    <a:masterClrMapping/>
  </p:clrMapOvr>
</p:sld>
</file>

<file path=ppt/slides/slide8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63474-EA77-1BAA-89F5-4E892CCC6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C4DAB0-86A2-CDAF-FEE9-41E0FA148226}"/>
              </a:ext>
            </a:extLst>
          </p:cNvPr>
          <p:cNvSpPr>
            <a:spLocks noGrp="1"/>
          </p:cNvSpPr>
          <p:nvPr>
            <p:ph type="title"/>
          </p:nvPr>
        </p:nvSpPr>
        <p:spPr/>
        <p:txBody>
          <a:bodyPr/>
          <a:lstStyle/>
          <a:p>
            <a:r>
              <a:rPr lang="en-US"/>
              <a:t>big lesson</a:t>
            </a:r>
          </a:p>
        </p:txBody>
      </p:sp>
      <p:sp>
        <p:nvSpPr>
          <p:cNvPr id="3" name="Content Placeholder 2">
            <a:extLst>
              <a:ext uri="{FF2B5EF4-FFF2-40B4-BE49-F238E27FC236}">
                <a16:creationId xmlns:a16="http://schemas.microsoft.com/office/drawing/2014/main" id="{8002CFD2-3D25-9C84-0D44-913C1267F88F}"/>
              </a:ext>
            </a:extLst>
          </p:cNvPr>
          <p:cNvSpPr>
            <a:spLocks noGrp="1"/>
          </p:cNvSpPr>
          <p:nvPr>
            <p:ph sz="quarter" idx="10"/>
          </p:nvPr>
        </p:nvSpPr>
        <p:spPr/>
        <p:txBody>
          <a:bodyPr/>
          <a:lstStyle/>
          <a:p>
            <a:r>
              <a:rPr lang="en-US"/>
              <a:t>implement code one thing at a time</a:t>
            </a:r>
          </a:p>
          <a:p>
            <a:r>
              <a:rPr lang="en-US"/>
              <a:t>compile and run and test after implementing every single thing</a:t>
            </a:r>
          </a:p>
          <a:p>
            <a:r>
              <a:rPr lang="en-US"/>
              <a:t>this is a learned skill!</a:t>
            </a:r>
          </a:p>
          <a:p>
            <a:endParaRPr lang="en-US"/>
          </a:p>
          <a:p>
            <a:r>
              <a:rPr lang="en-US"/>
              <a:t>how i would actually implement the automata homework</a:t>
            </a:r>
          </a:p>
          <a:p>
            <a:pPr lvl="1"/>
            <a:r>
              <a:rPr lang="en-US"/>
              <a:t>make the array</a:t>
            </a:r>
          </a:p>
          <a:p>
            <a:pPr lvl="1"/>
            <a:r>
              <a:rPr lang="en-US"/>
              <a:t>print the array as an array</a:t>
            </a:r>
          </a:p>
          <a:p>
            <a:pPr lvl="1"/>
            <a:r>
              <a:rPr lang="en-US"/>
              <a:t>print the array as a string</a:t>
            </a:r>
          </a:p>
          <a:p>
            <a:pPr lvl="1"/>
            <a:r>
              <a:rPr lang="en-US"/>
              <a:t>update the array once using Rule 22 and print the result</a:t>
            </a:r>
          </a:p>
          <a:p>
            <a:pPr lvl="1"/>
            <a:r>
              <a:rPr lang="en-US"/>
              <a:t>wrap the printing and update in a for loop</a:t>
            </a:r>
          </a:p>
          <a:p>
            <a:pPr lvl="1"/>
            <a:r>
              <a:rPr lang="en-US"/>
              <a:t>implement code to handle all rules and test it on Rule 22</a:t>
            </a:r>
          </a:p>
          <a:p>
            <a:pPr lvl="1"/>
            <a:r>
              <a:rPr lang="en-US"/>
              <a:t>test it on the other rules</a:t>
            </a:r>
          </a:p>
          <a:p>
            <a:pPr lvl="1"/>
            <a:endParaRPr lang="en-US"/>
          </a:p>
        </p:txBody>
      </p:sp>
    </p:spTree>
    <p:extLst>
      <p:ext uri="{BB962C8B-B14F-4D97-AF65-F5344CB8AC3E}">
        <p14:creationId xmlns:p14="http://schemas.microsoft.com/office/powerpoint/2010/main" val="3349179893"/>
      </p:ext>
    </p:extLst>
  </p:cSld>
  <p:clrMapOvr>
    <a:masterClrMapping/>
  </p:clrMapOvr>
</p:sld>
</file>

<file path=ppt/slides/slide8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EA1E9-3B05-E2E0-907A-CF6CA31207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F7621C-7C6F-8CD1-A043-71128766D0D0}"/>
              </a:ext>
            </a:extLst>
          </p:cNvPr>
          <p:cNvSpPr>
            <a:spLocks noGrp="1"/>
          </p:cNvSpPr>
          <p:nvPr>
            <p:ph type="title"/>
          </p:nvPr>
        </p:nvSpPr>
        <p:spPr/>
        <p:txBody>
          <a:bodyPr/>
          <a:lstStyle/>
          <a:p>
            <a:r>
              <a:rPr lang="en-US"/>
              <a:t>this is a learned skill!</a:t>
            </a:r>
          </a:p>
        </p:txBody>
      </p:sp>
    </p:spTree>
    <p:extLst>
      <p:ext uri="{BB962C8B-B14F-4D97-AF65-F5344CB8AC3E}">
        <p14:creationId xmlns:p14="http://schemas.microsoft.com/office/powerpoint/2010/main" val="1587624700"/>
      </p:ext>
    </p:extLst>
  </p:cSld>
  <p:clrMapOvr>
    <a:masterClrMapping/>
  </p:clrMapOvr>
</p:sld>
</file>

<file path=ppt/slides/slide8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7BB0E-2697-FAC7-C3B0-CCDF1E9F7F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678297-CA0E-AC65-989E-3DD4298E7E4A}"/>
              </a:ext>
            </a:extLst>
          </p:cNvPr>
          <p:cNvSpPr>
            <a:spLocks noGrp="1"/>
          </p:cNvSpPr>
          <p:nvPr>
            <p:ph type="title"/>
          </p:nvPr>
        </p:nvSpPr>
        <p:spPr/>
        <p:txBody>
          <a:bodyPr/>
          <a:lstStyle/>
          <a:p>
            <a:r>
              <a:rPr lang="en-US"/>
              <a:t>in summary</a:t>
            </a:r>
          </a:p>
        </p:txBody>
      </p:sp>
      <p:pic>
        <p:nvPicPr>
          <p:cNvPr id="3" name="Picture 4" descr="Housing Market 'In Free Fall' As New Construction Plummets—Here's When  'Reset' Could Cool Prices">
            <a:extLst>
              <a:ext uri="{FF2B5EF4-FFF2-40B4-BE49-F238E27FC236}">
                <a16:creationId xmlns:a16="http://schemas.microsoft.com/office/drawing/2014/main" id="{CD458BD0-76DE-CD12-2BB6-DD65427208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9212" y="1425742"/>
            <a:ext cx="4074696" cy="229201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Most Efficient Solar Panels Of 2023 – Forbes Home">
            <a:extLst>
              <a:ext uri="{FF2B5EF4-FFF2-40B4-BE49-F238E27FC236}">
                <a16:creationId xmlns:a16="http://schemas.microsoft.com/office/drawing/2014/main" id="{81E6215C-71B9-7344-9AC9-109A0A8B60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092" y="1425742"/>
            <a:ext cx="4076709" cy="2292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9947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D7304-BE46-8CF7-E012-CA55A7723F3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BF3ABFF-9954-74DB-9F52-B6FB97BE7DB7}"/>
              </a:ext>
            </a:extLst>
          </p:cNvPr>
          <p:cNvSpPr>
            <a:spLocks noGrp="1"/>
          </p:cNvSpPr>
          <p:nvPr>
            <p:ph type="title"/>
          </p:nvPr>
        </p:nvSpPr>
        <p:spPr/>
        <p:txBody>
          <a:bodyPr/>
          <a:lstStyle/>
          <a:p>
            <a:r>
              <a:rPr lang="en-US"/>
              <a:t>colloquium</a:t>
            </a:r>
          </a:p>
        </p:txBody>
      </p:sp>
    </p:spTree>
    <p:extLst>
      <p:ext uri="{BB962C8B-B14F-4D97-AF65-F5344CB8AC3E}">
        <p14:creationId xmlns:p14="http://schemas.microsoft.com/office/powerpoint/2010/main" val="3822160098"/>
      </p:ext>
    </p:extLst>
  </p:cSld>
  <p:clrMapOvr>
    <a:masterClrMapping/>
  </p:clrMapOvr>
</p:sld>
</file>

<file path=ppt/slides/slide8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A067B-D5C6-09E1-0C38-3EF00434185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DD103CC-7219-8F98-057B-084297103A96}"/>
              </a:ext>
            </a:extLst>
          </p:cNvPr>
          <p:cNvSpPr>
            <a:spLocks noGrp="1"/>
          </p:cNvSpPr>
          <p:nvPr>
            <p:ph type="title"/>
          </p:nvPr>
        </p:nvSpPr>
        <p:spPr/>
        <p:txBody>
          <a:bodyPr/>
          <a:lstStyle/>
          <a:p>
            <a:r>
              <a:rPr lang="en-US"/>
              <a:t>where is everyone?</a:t>
            </a:r>
          </a:p>
        </p:txBody>
      </p:sp>
    </p:spTree>
    <p:extLst>
      <p:ext uri="{BB962C8B-B14F-4D97-AF65-F5344CB8AC3E}">
        <p14:creationId xmlns:p14="http://schemas.microsoft.com/office/powerpoint/2010/main" val="4175934557"/>
      </p:ext>
    </p:extLst>
  </p:cSld>
  <p:clrMapOvr>
    <a:masterClrMapping/>
  </p:clrMapOvr>
</p:sld>
</file>

<file path=ppt/slides/slide8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C6D61-DD7D-677D-BE1B-8D20C61BBB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D98374-EA71-5243-CE42-4A3BE2D934A9}"/>
              </a:ext>
            </a:extLst>
          </p:cNvPr>
          <p:cNvSpPr>
            <a:spLocks noGrp="1"/>
          </p:cNvSpPr>
          <p:nvPr>
            <p:ph type="title"/>
          </p:nvPr>
        </p:nvSpPr>
        <p:spPr/>
        <p:txBody>
          <a:bodyPr/>
          <a:lstStyle/>
          <a:p>
            <a:pPr algn="l"/>
            <a:r>
              <a:rPr lang="en-US"/>
              <a:t>San Diego 🌞🏝️🏄‍♀️🌮</a:t>
            </a:r>
          </a:p>
        </p:txBody>
      </p:sp>
      <p:pic>
        <p:nvPicPr>
          <p:cNvPr id="4" name="Picture 3">
            <a:extLst>
              <a:ext uri="{FF2B5EF4-FFF2-40B4-BE49-F238E27FC236}">
                <a16:creationId xmlns:a16="http://schemas.microsoft.com/office/drawing/2014/main" id="{148993EF-AA83-B6E1-925C-E647CF42ACD7}"/>
              </a:ext>
            </a:extLst>
          </p:cNvPr>
          <p:cNvPicPr>
            <a:picLocks noChangeAspect="1"/>
          </p:cNvPicPr>
          <p:nvPr/>
        </p:nvPicPr>
        <p:blipFill>
          <a:blip r:embed="rId2"/>
          <a:stretch>
            <a:fillRect/>
          </a:stretch>
        </p:blipFill>
        <p:spPr>
          <a:xfrm>
            <a:off x="457200" y="1089813"/>
            <a:ext cx="4708234" cy="3528037"/>
          </a:xfrm>
          <a:prstGeom prst="rect">
            <a:avLst/>
          </a:prstGeom>
          <a:ln>
            <a:solidFill>
              <a:schemeClr val="tx1"/>
            </a:solidFill>
          </a:ln>
        </p:spPr>
      </p:pic>
      <p:pic>
        <p:nvPicPr>
          <p:cNvPr id="6" name="Picture 5">
            <a:extLst>
              <a:ext uri="{FF2B5EF4-FFF2-40B4-BE49-F238E27FC236}">
                <a16:creationId xmlns:a16="http://schemas.microsoft.com/office/drawing/2014/main" id="{CC72FA66-F283-9AA0-2A37-29C7703443B6}"/>
              </a:ext>
            </a:extLst>
          </p:cNvPr>
          <p:cNvPicPr>
            <a:picLocks noChangeAspect="1"/>
          </p:cNvPicPr>
          <p:nvPr/>
        </p:nvPicPr>
        <p:blipFill>
          <a:blip r:embed="rId3"/>
          <a:stretch>
            <a:fillRect/>
          </a:stretch>
        </p:blipFill>
        <p:spPr>
          <a:xfrm>
            <a:off x="5491711" y="357919"/>
            <a:ext cx="2491297" cy="4427661"/>
          </a:xfrm>
          <a:prstGeom prst="rect">
            <a:avLst/>
          </a:prstGeom>
          <a:ln>
            <a:solidFill>
              <a:schemeClr val="tx1"/>
            </a:solidFill>
          </a:ln>
        </p:spPr>
      </p:pic>
    </p:spTree>
    <p:extLst>
      <p:ext uri="{BB962C8B-B14F-4D97-AF65-F5344CB8AC3E}">
        <p14:creationId xmlns:p14="http://schemas.microsoft.com/office/powerpoint/2010/main" val="387466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57F75-2A2A-5449-6E13-1958A65E2AC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22C5EB7-2A4C-3F71-1A53-715E136D279E}"/>
              </a:ext>
            </a:extLst>
          </p:cNvPr>
          <p:cNvSpPr>
            <a:spLocks noGrp="1"/>
          </p:cNvSpPr>
          <p:nvPr>
            <p:ph type="title"/>
          </p:nvPr>
        </p:nvSpPr>
        <p:spPr/>
        <p:txBody>
          <a:bodyPr/>
          <a:lstStyle/>
          <a:p>
            <a:r>
              <a:rPr lang="en-US"/>
              <a:t>we have snacks!</a:t>
            </a:r>
          </a:p>
        </p:txBody>
      </p:sp>
    </p:spTree>
    <p:extLst>
      <p:ext uri="{BB962C8B-B14F-4D97-AF65-F5344CB8AC3E}">
        <p14:creationId xmlns:p14="http://schemas.microsoft.com/office/powerpoint/2010/main" val="1212160311"/>
      </p:ext>
    </p:extLst>
  </p:cSld>
  <p:clrMapOvr>
    <a:masterClrMapping/>
  </p:clrMapOvr>
</p:sld>
</file>

<file path=ppt/slides/slide8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6844679-076D-A037-4A96-C78457E587DE}"/>
              </a:ext>
            </a:extLst>
          </p:cNvPr>
          <p:cNvSpPr>
            <a:spLocks noGrp="1"/>
          </p:cNvSpPr>
          <p:nvPr>
            <p:ph type="title"/>
          </p:nvPr>
        </p:nvSpPr>
        <p:spPr/>
        <p:txBody>
          <a:bodyPr/>
          <a:lstStyle/>
          <a:p>
            <a:r>
              <a:rPr lang="en-US"/>
              <a:t>wait till the end 🍪</a:t>
            </a:r>
          </a:p>
        </p:txBody>
      </p:sp>
    </p:spTree>
    <p:extLst>
      <p:ext uri="{BB962C8B-B14F-4D97-AF65-F5344CB8AC3E}">
        <p14:creationId xmlns:p14="http://schemas.microsoft.com/office/powerpoint/2010/main" val="544149099"/>
      </p:ext>
    </p:extLst>
  </p:cSld>
  <p:clrMapOvr>
    <a:masterClrMapping/>
  </p:clrMapOvr>
</p:sld>
</file>

<file path=ppt/slides/slide8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5AEBA-A0BB-366C-04E5-5694916AB17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44C71BF-45D6-2A6C-CE60-EB9DD958E528}"/>
              </a:ext>
            </a:extLst>
          </p:cNvPr>
          <p:cNvSpPr>
            <a:spLocks noGrp="1"/>
          </p:cNvSpPr>
          <p:nvPr>
            <p:ph type="title"/>
          </p:nvPr>
        </p:nvSpPr>
        <p:spPr/>
        <p:txBody>
          <a:bodyPr/>
          <a:lstStyle/>
          <a:p>
            <a:r>
              <a:rPr lang="en-US"/>
              <a:t>wait till the end 🥲</a:t>
            </a:r>
          </a:p>
        </p:txBody>
      </p:sp>
    </p:spTree>
    <p:extLst>
      <p:ext uri="{BB962C8B-B14F-4D97-AF65-F5344CB8AC3E}">
        <p14:creationId xmlns:p14="http://schemas.microsoft.com/office/powerpoint/2010/main" val="103167368"/>
      </p:ext>
    </p:extLst>
  </p:cSld>
  <p:clrMapOvr>
    <a:masterClrMapping/>
  </p:clrMapOvr>
</p:sld>
</file>

<file path=ppt/slides/slide8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381F1-5B4F-A1FF-8C73-4765C25E3C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28DBAA-AA47-910C-0381-D1D085FF015B}"/>
              </a:ext>
            </a:extLst>
          </p:cNvPr>
          <p:cNvSpPr>
            <a:spLocks noGrp="1"/>
          </p:cNvSpPr>
          <p:nvPr>
            <p:ph type="title"/>
          </p:nvPr>
        </p:nvSpPr>
        <p:spPr/>
        <p:txBody>
          <a:bodyPr/>
          <a:lstStyle/>
          <a:p>
            <a:r>
              <a:rPr lang="en-US" sz="28700"/>
              <a:t>🥲</a:t>
            </a:r>
            <a:endParaRPr lang="en-US" sz="85700"/>
          </a:p>
        </p:txBody>
      </p:sp>
    </p:spTree>
    <p:extLst>
      <p:ext uri="{BB962C8B-B14F-4D97-AF65-F5344CB8AC3E}">
        <p14:creationId xmlns:p14="http://schemas.microsoft.com/office/powerpoint/2010/main" val="9093450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8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0C43F-4EA6-B7CF-9DC3-D687993BC9F8}"/>
              </a:ext>
            </a:extLst>
          </p:cNvPr>
          <p:cNvSpPr>
            <a:spLocks noGrp="1"/>
          </p:cNvSpPr>
          <p:nvPr>
            <p:ph type="title"/>
          </p:nvPr>
        </p:nvSpPr>
        <p:spPr/>
        <p:txBody>
          <a:bodyPr/>
          <a:lstStyle/>
          <a:p>
            <a:r>
              <a:rPr lang="en-US" sz="28700"/>
              <a:t>🍪</a:t>
            </a:r>
          </a:p>
        </p:txBody>
      </p:sp>
    </p:spTree>
    <p:extLst>
      <p:ext uri="{BB962C8B-B14F-4D97-AF65-F5344CB8AC3E}">
        <p14:creationId xmlns:p14="http://schemas.microsoft.com/office/powerpoint/2010/main" val="4095313240"/>
      </p:ext>
    </p:extLst>
  </p:cSld>
  <p:clrMapOvr>
    <a:masterClrMapping/>
  </p:clrMapOvr>
</p:sld>
</file>

<file path=ppt/slides/slide8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1BA50-7DF0-94BA-9D46-AB2A3D3810CB}"/>
              </a:ext>
            </a:extLst>
          </p:cNvPr>
          <p:cNvSpPr>
            <a:spLocks noGrp="1"/>
          </p:cNvSpPr>
          <p:nvPr>
            <p:ph type="title"/>
          </p:nvPr>
        </p:nvSpPr>
        <p:spPr/>
        <p:txBody>
          <a:bodyPr/>
          <a:lstStyle/>
          <a:p>
            <a:r>
              <a:rPr lang="en-US"/>
              <a:t>odd.</a:t>
            </a:r>
          </a:p>
        </p:txBody>
      </p:sp>
    </p:spTree>
    <p:extLst>
      <p:ext uri="{BB962C8B-B14F-4D97-AF65-F5344CB8AC3E}">
        <p14:creationId xmlns:p14="http://schemas.microsoft.com/office/powerpoint/2010/main" val="3919602362"/>
      </p:ext>
    </p:extLst>
  </p:cSld>
  <p:clrMapOvr>
    <a:masterClrMapping/>
  </p:clrMapOvr>
</p:sld>
</file>

<file path=ppt/slides/slide8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4B827-6F07-F83B-F7D0-044E41FD428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8D2C610-9B20-8353-6E99-6D8DBBB525E7}"/>
              </a:ext>
            </a:extLst>
          </p:cNvPr>
          <p:cNvSpPr>
            <a:spLocks noGrp="1"/>
          </p:cNvSpPr>
          <p:nvPr>
            <p:ph type="title"/>
          </p:nvPr>
        </p:nvSpPr>
        <p:spPr/>
        <p:txBody>
          <a:bodyPr/>
          <a:lstStyle/>
          <a:p>
            <a:r>
              <a:rPr lang="en-US"/>
              <a:t>announcements</a:t>
            </a:r>
          </a:p>
        </p:txBody>
      </p:sp>
    </p:spTree>
    <p:extLst>
      <p:ext uri="{BB962C8B-B14F-4D97-AF65-F5344CB8AC3E}">
        <p14:creationId xmlns:p14="http://schemas.microsoft.com/office/powerpoint/2010/main" val="1763505249"/>
      </p:ext>
    </p:extLst>
  </p:cSld>
  <p:clrMapOvr>
    <a:masterClrMapping/>
  </p:clrMapOvr>
</p:sld>
</file>

<file path=ppt/slides/slide8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793FB-294C-DC94-95BF-B8AF075157D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114D8C4-D556-5DDD-BAC1-6756E06EA53C}"/>
              </a:ext>
            </a:extLst>
          </p:cNvPr>
          <p:cNvSpPr>
            <a:spLocks noGrp="1"/>
          </p:cNvSpPr>
          <p:nvPr>
            <p:ph type="title"/>
          </p:nvPr>
        </p:nvSpPr>
        <p:spPr/>
        <p:txBody>
          <a:bodyPr/>
          <a:lstStyle/>
          <a:p>
            <a:r>
              <a:rPr lang="en-US"/>
              <a:t>juggling club is after colloquium </a:t>
            </a:r>
            <a:r>
              <a:rPr lang="en-US" sz="8800"/>
              <a:t>🤹‍♀️</a:t>
            </a:r>
            <a:endParaRPr lang="en-US"/>
          </a:p>
        </p:txBody>
      </p:sp>
    </p:spTree>
    <p:extLst>
      <p:ext uri="{BB962C8B-B14F-4D97-AF65-F5344CB8AC3E}">
        <p14:creationId xmlns:p14="http://schemas.microsoft.com/office/powerpoint/2010/main" val="3704391291"/>
      </p:ext>
    </p:extLst>
  </p:cSld>
  <p:clrMapOvr>
    <a:masterClrMapping/>
  </p:clrMapOvr>
</p:sld>
</file>

<file path=ppt/slides/slide8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1D831-5BCD-524B-433C-D4C69FE8C44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9231D4A-4B84-3A1C-BAC4-DA33D9F442C4}"/>
              </a:ext>
            </a:extLst>
          </p:cNvPr>
          <p:cNvSpPr>
            <a:spLocks noGrp="1"/>
          </p:cNvSpPr>
          <p:nvPr>
            <p:ph type="title"/>
          </p:nvPr>
        </p:nvSpPr>
        <p:spPr/>
        <p:txBody>
          <a:bodyPr/>
          <a:lstStyle/>
          <a:p>
            <a:r>
              <a:rPr lang="en-US">
                <a:solidFill>
                  <a:schemeClr val="bg1"/>
                </a:solidFill>
              </a:rPr>
              <a:t>juggging club after colloquium</a:t>
            </a:r>
            <a:r>
              <a:rPr lang="en-US"/>
              <a:t> </a:t>
            </a:r>
            <a:r>
              <a:rPr lang="en-US" sz="8800"/>
              <a:t>🤹‍♀️</a:t>
            </a:r>
            <a:endParaRPr lang="en-US"/>
          </a:p>
        </p:txBody>
      </p:sp>
      <p:sp>
        <p:nvSpPr>
          <p:cNvPr id="3" name="TextBox 2">
            <a:extLst>
              <a:ext uri="{FF2B5EF4-FFF2-40B4-BE49-F238E27FC236}">
                <a16:creationId xmlns:a16="http://schemas.microsoft.com/office/drawing/2014/main" id="{B73373DF-1198-94E9-846A-A346DCCF01AC}"/>
              </a:ext>
            </a:extLst>
          </p:cNvPr>
          <p:cNvSpPr txBox="1"/>
          <p:nvPr/>
        </p:nvSpPr>
        <p:spPr>
          <a:xfrm rot="18738036">
            <a:off x="2574239" y="666681"/>
            <a:ext cx="1587223"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juggling</a:t>
            </a:r>
            <a:endParaRPr lang="en-US"/>
          </a:p>
        </p:txBody>
      </p:sp>
      <p:sp>
        <p:nvSpPr>
          <p:cNvPr id="6" name="TextBox 5">
            <a:extLst>
              <a:ext uri="{FF2B5EF4-FFF2-40B4-BE49-F238E27FC236}">
                <a16:creationId xmlns:a16="http://schemas.microsoft.com/office/drawing/2014/main" id="{6FBADF46-2F95-D49A-9E21-EB0CAB2C431F}"/>
              </a:ext>
            </a:extLst>
          </p:cNvPr>
          <p:cNvSpPr txBox="1"/>
          <p:nvPr/>
        </p:nvSpPr>
        <p:spPr>
          <a:xfrm rot="20171125">
            <a:off x="3350029" y="1312788"/>
            <a:ext cx="926327"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club</a:t>
            </a:r>
            <a:endParaRPr lang="en-US"/>
          </a:p>
        </p:txBody>
      </p:sp>
      <p:sp>
        <p:nvSpPr>
          <p:cNvPr id="7" name="TextBox 6">
            <a:extLst>
              <a:ext uri="{FF2B5EF4-FFF2-40B4-BE49-F238E27FC236}">
                <a16:creationId xmlns:a16="http://schemas.microsoft.com/office/drawing/2014/main" id="{4FF0A1FB-B2A0-279E-35D8-6EA366B4A81E}"/>
              </a:ext>
            </a:extLst>
          </p:cNvPr>
          <p:cNvSpPr txBox="1"/>
          <p:nvPr/>
        </p:nvSpPr>
        <p:spPr>
          <a:xfrm>
            <a:off x="4288864" y="708537"/>
            <a:ext cx="926327"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is</a:t>
            </a:r>
            <a:endParaRPr lang="en-US"/>
          </a:p>
        </p:txBody>
      </p:sp>
      <p:sp>
        <p:nvSpPr>
          <p:cNvPr id="8" name="TextBox 7">
            <a:extLst>
              <a:ext uri="{FF2B5EF4-FFF2-40B4-BE49-F238E27FC236}">
                <a16:creationId xmlns:a16="http://schemas.microsoft.com/office/drawing/2014/main" id="{E1BD55DC-76E8-B7A7-A91A-C32F5966C7DC}"/>
              </a:ext>
            </a:extLst>
          </p:cNvPr>
          <p:cNvSpPr txBox="1"/>
          <p:nvPr/>
        </p:nvSpPr>
        <p:spPr>
          <a:xfrm rot="816189">
            <a:off x="4475340" y="1312788"/>
            <a:ext cx="926327"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after</a:t>
            </a:r>
            <a:endParaRPr lang="en-US"/>
          </a:p>
        </p:txBody>
      </p:sp>
      <p:sp>
        <p:nvSpPr>
          <p:cNvPr id="9" name="TextBox 8">
            <a:extLst>
              <a:ext uri="{FF2B5EF4-FFF2-40B4-BE49-F238E27FC236}">
                <a16:creationId xmlns:a16="http://schemas.microsoft.com/office/drawing/2014/main" id="{A73C8794-EEF7-DEF4-88BA-D78A7922EC9D}"/>
              </a:ext>
            </a:extLst>
          </p:cNvPr>
          <p:cNvSpPr txBox="1"/>
          <p:nvPr/>
        </p:nvSpPr>
        <p:spPr>
          <a:xfrm rot="5066157">
            <a:off x="4616834" y="1123455"/>
            <a:ext cx="2088462" cy="523220"/>
          </a:xfrm>
          <a:prstGeom prst="rect">
            <a:avLst/>
          </a:prstGeom>
          <a:noFill/>
        </p:spPr>
        <p:txBody>
          <a:bodyPr wrap="square">
            <a:spAutoFit/>
          </a:bodyPr>
          <a:lstStyle/>
          <a:p>
            <a:pPr algn="ctr"/>
            <a:r>
              <a:rPr kumimoji="0" lang="en-US" sz="2800" b="0" i="0" u="none" strike="noStrike" kern="1200" cap="none" spc="0" normalizeH="0" baseline="0" noProof="0">
                <a:ln>
                  <a:noFill/>
                </a:ln>
                <a:solidFill>
                  <a:srgbClr val="000000"/>
                </a:solidFill>
                <a:effectLst/>
                <a:uLnTx/>
                <a:uFillTx/>
                <a:latin typeface="Arial"/>
                <a:ea typeface="Segoe UI Emoji" panose="020B0502040204020203" pitchFamily="34" charset="0"/>
                <a:cs typeface="+mj-cs"/>
              </a:rPr>
              <a:t>colloquium</a:t>
            </a:r>
            <a:endParaRPr lang="en-US"/>
          </a:p>
        </p:txBody>
      </p:sp>
      <p:sp>
        <p:nvSpPr>
          <p:cNvPr id="10" name="Oval 9">
            <a:extLst>
              <a:ext uri="{FF2B5EF4-FFF2-40B4-BE49-F238E27FC236}">
                <a16:creationId xmlns:a16="http://schemas.microsoft.com/office/drawing/2014/main" id="{92350127-BCED-8593-76ED-25E9648E16E1}"/>
              </a:ext>
            </a:extLst>
          </p:cNvPr>
          <p:cNvSpPr/>
          <p:nvPr/>
        </p:nvSpPr>
        <p:spPr>
          <a:xfrm>
            <a:off x="3987685" y="2647784"/>
            <a:ext cx="262829" cy="262829"/>
          </a:xfrm>
          <a:prstGeom prst="ellipse">
            <a:avLst/>
          </a:prstGeom>
          <a:solidFill>
            <a:schemeClr val="bg1"/>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3FFEB9E0-6AB9-BBE9-4AE0-0A7CED3C6A85}"/>
              </a:ext>
            </a:extLst>
          </p:cNvPr>
          <p:cNvSpPr/>
          <p:nvPr/>
        </p:nvSpPr>
        <p:spPr>
          <a:xfrm>
            <a:off x="4140085" y="2283350"/>
            <a:ext cx="262829" cy="262829"/>
          </a:xfrm>
          <a:prstGeom prst="ellipse">
            <a:avLst/>
          </a:prstGeom>
          <a:solidFill>
            <a:schemeClr val="bg1"/>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F0787CE-79DB-C68E-F9C7-6823CA8BBBE7}"/>
              </a:ext>
            </a:extLst>
          </p:cNvPr>
          <p:cNvSpPr/>
          <p:nvPr/>
        </p:nvSpPr>
        <p:spPr>
          <a:xfrm>
            <a:off x="4807088" y="2318327"/>
            <a:ext cx="262829" cy="262829"/>
          </a:xfrm>
          <a:prstGeom prst="ellipse">
            <a:avLst/>
          </a:prstGeom>
          <a:solidFill>
            <a:schemeClr val="bg1"/>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210BB96D-DEE9-30FD-CF61-C06B62B46C41}"/>
              </a:ext>
            </a:extLst>
          </p:cNvPr>
          <p:cNvSpPr/>
          <p:nvPr/>
        </p:nvSpPr>
        <p:spPr>
          <a:xfrm>
            <a:off x="4906062" y="2747177"/>
            <a:ext cx="262829" cy="262829"/>
          </a:xfrm>
          <a:prstGeom prst="ellipse">
            <a:avLst/>
          </a:prstGeom>
          <a:solidFill>
            <a:schemeClr val="bg1"/>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618227"/>
      </p:ext>
    </p:extLst>
  </p:cSld>
  <p:clrMapOvr>
    <a:masterClrMapping/>
  </p:clrMapOvr>
</p:sld>
</file>

<file path=ppt/slides/slide8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4C3D6-73E4-E268-F7AB-1F2CC2A3B98D}"/>
              </a:ext>
            </a:extLst>
          </p:cNvPr>
          <p:cNvSpPr>
            <a:spLocks noGrp="1"/>
          </p:cNvSpPr>
          <p:nvPr>
            <p:ph type="title"/>
          </p:nvPr>
        </p:nvSpPr>
        <p:spPr/>
        <p:txBody>
          <a:bodyPr/>
          <a:lstStyle/>
          <a:p>
            <a:r>
              <a:rPr lang="en-US" b="1"/>
              <a:t>note:</a:t>
            </a:r>
            <a:r>
              <a:rPr lang="en-US"/>
              <a:t> alumnus Rich Ward '89</a:t>
            </a:r>
            <a:br>
              <a:rPr lang="en-US"/>
            </a:br>
            <a:r>
              <a:rPr lang="en-US"/>
              <a:t>sent us juggling clubs!</a:t>
            </a:r>
            <a:br>
              <a:rPr lang="en-US"/>
            </a:br>
            <a:br>
              <a:rPr lang="en-US"/>
            </a:br>
            <a:r>
              <a:rPr lang="en-US" sz="3600"/>
              <a:t>they are fun and purple and gold </a:t>
            </a:r>
            <a:endParaRPr lang="en-US" b="1"/>
          </a:p>
        </p:txBody>
      </p:sp>
    </p:spTree>
    <p:extLst>
      <p:ext uri="{BB962C8B-B14F-4D97-AF65-F5344CB8AC3E}">
        <p14:creationId xmlns:p14="http://schemas.microsoft.com/office/powerpoint/2010/main" val="1668270758"/>
      </p:ext>
    </p:extLst>
  </p:cSld>
  <p:clrMapOvr>
    <a:masterClrMapping/>
  </p:clrMapOvr>
</p:sld>
</file>

<file path=ppt/slides/slide8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EFA2E-C9B8-3111-F64F-0B32120E50E0}"/>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A476A675-AC40-3A2C-9F26-D212736430D5}"/>
              </a:ext>
            </a:extLst>
          </p:cNvPr>
          <p:cNvPicPr>
            <a:picLocks noChangeAspect="1"/>
          </p:cNvPicPr>
          <p:nvPr/>
        </p:nvPicPr>
        <p:blipFill>
          <a:blip r:embed="rId2"/>
          <a:stretch>
            <a:fillRect/>
          </a:stretch>
        </p:blipFill>
        <p:spPr>
          <a:xfrm>
            <a:off x="685800" y="36612"/>
            <a:ext cx="7772400" cy="5070276"/>
          </a:xfrm>
          <a:prstGeom prst="rect">
            <a:avLst/>
          </a:prstGeom>
        </p:spPr>
      </p:pic>
    </p:spTree>
    <p:extLst>
      <p:ext uri="{BB962C8B-B14F-4D97-AF65-F5344CB8AC3E}">
        <p14:creationId xmlns:p14="http://schemas.microsoft.com/office/powerpoint/2010/main" val="2126832550"/>
      </p:ext>
    </p:extLst>
  </p:cSld>
  <p:clrMapOvr>
    <a:masterClrMapping/>
  </p:clrMapOvr>
  <p:transition spd="slow">
    <p:push dir="u"/>
  </p:transition>
</p:sld>
</file>

<file path=ppt/slides/slide8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79C04-2DD1-8751-9378-D7D1589C1E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D2BCAA-1156-D448-5A48-6ACE2D990606}"/>
              </a:ext>
            </a:extLst>
          </p:cNvPr>
          <p:cNvSpPr>
            <a:spLocks noGrp="1"/>
          </p:cNvSpPr>
          <p:nvPr>
            <p:ph type="title"/>
          </p:nvPr>
        </p:nvSpPr>
        <p:spPr/>
        <p:txBody>
          <a:bodyPr/>
          <a:lstStyle/>
          <a:p>
            <a:endParaRPr lang="en-US"/>
          </a:p>
        </p:txBody>
      </p:sp>
      <p:pic>
        <p:nvPicPr>
          <p:cNvPr id="3" name="Picture 2">
            <a:extLst>
              <a:ext uri="{FF2B5EF4-FFF2-40B4-BE49-F238E27FC236}">
                <a16:creationId xmlns:a16="http://schemas.microsoft.com/office/drawing/2014/main" id="{EDD30542-8805-22C0-E9BE-9EE433030511}"/>
              </a:ext>
            </a:extLst>
          </p:cNvPr>
          <p:cNvPicPr>
            <a:picLocks noChangeAspect="1"/>
          </p:cNvPicPr>
          <p:nvPr/>
        </p:nvPicPr>
        <p:blipFill>
          <a:blip r:embed="rId2"/>
          <a:stretch>
            <a:fillRect/>
          </a:stretch>
        </p:blipFill>
        <p:spPr>
          <a:xfrm>
            <a:off x="1466490" y="0"/>
            <a:ext cx="6211019" cy="5143500"/>
          </a:xfrm>
          <a:prstGeom prst="rect">
            <a:avLst/>
          </a:prstGeom>
        </p:spPr>
      </p:pic>
    </p:spTree>
    <p:extLst>
      <p:ext uri="{BB962C8B-B14F-4D97-AF65-F5344CB8AC3E}">
        <p14:creationId xmlns:p14="http://schemas.microsoft.com/office/powerpoint/2010/main" val="14592956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86612-EF34-9F93-2D8A-C46D7E6481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3383EB-838B-2632-8C57-A5DC4DCC6134}"/>
              </a:ext>
            </a:extLst>
          </p:cNvPr>
          <p:cNvSpPr>
            <a:spLocks noGrp="1"/>
          </p:cNvSpPr>
          <p:nvPr>
            <p:ph type="title"/>
          </p:nvPr>
        </p:nvSpPr>
        <p:spPr/>
        <p:txBody>
          <a:bodyPr/>
          <a:lstStyle/>
          <a:p>
            <a:r>
              <a:rPr lang="en-US" b="1"/>
              <a:t>note:</a:t>
            </a:r>
            <a:r>
              <a:rPr lang="en-US"/>
              <a:t> alumnus Rich Ward '89</a:t>
            </a:r>
            <a:br>
              <a:rPr lang="en-US"/>
            </a:br>
            <a:r>
              <a:rPr lang="en-US"/>
              <a:t>sent us juggling clubs!</a:t>
            </a:r>
            <a:br>
              <a:rPr lang="en-US"/>
            </a:br>
            <a:br>
              <a:rPr lang="en-US"/>
            </a:br>
            <a:r>
              <a:rPr lang="en-US" sz="3600"/>
              <a:t>they are fun and purple and gold </a:t>
            </a:r>
            <a:endParaRPr lang="en-US" b="1"/>
          </a:p>
        </p:txBody>
      </p:sp>
    </p:spTree>
    <p:extLst>
      <p:ext uri="{BB962C8B-B14F-4D97-AF65-F5344CB8AC3E}">
        <p14:creationId xmlns:p14="http://schemas.microsoft.com/office/powerpoint/2010/main" val="2546459274"/>
      </p:ext>
    </p:extLst>
  </p:cSld>
  <p:clrMapOvr>
    <a:masterClrMapping/>
  </p:clrMapOvr>
  <p:transition spd="slow">
    <p:push dir="d"/>
  </p:transition>
</p:sld>
</file>

<file path=ppt/slides/slide8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D4DED-1F3C-09D3-9A5C-637FF1539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CB7EFA-C7FC-C6AC-FBFE-2BE0E0B1BFEB}"/>
              </a:ext>
            </a:extLst>
          </p:cNvPr>
          <p:cNvSpPr>
            <a:spLocks noGrp="1"/>
          </p:cNvSpPr>
          <p:nvPr>
            <p:ph type="title"/>
          </p:nvPr>
        </p:nvSpPr>
        <p:spPr/>
        <p:txBody>
          <a:bodyPr/>
          <a:lstStyle/>
          <a:p>
            <a:r>
              <a:rPr lang="en-US" sz="2000" b="1"/>
              <a:t>note:</a:t>
            </a:r>
            <a:r>
              <a:rPr lang="en-US" sz="2000"/>
              <a:t> in unrelated news,</a:t>
            </a:r>
            <a:br>
              <a:rPr lang="en-US" sz="2000"/>
            </a:br>
            <a:r>
              <a:rPr lang="en-US" sz="2000"/>
              <a:t>the Registered Student Organization </a:t>
            </a:r>
            <a:br>
              <a:rPr lang="en-US" sz="2000"/>
            </a:br>
            <a:r>
              <a:rPr lang="en-US" sz="2000"/>
              <a:t>known as the Williams Juggling Club is now</a:t>
            </a:r>
            <a:br>
              <a:rPr lang="en-US" sz="2000"/>
            </a:br>
            <a:r>
              <a:rPr lang="en-US" sz="2000" b="1">
                <a:solidFill>
                  <a:schemeClr val="accent6">
                    <a:lumMod val="50000"/>
                  </a:schemeClr>
                </a:solidFill>
              </a:rPr>
              <a:t>the Ward Juggling Club ✨</a:t>
            </a:r>
          </a:p>
        </p:txBody>
      </p:sp>
    </p:spTree>
    <p:extLst>
      <p:ext uri="{BB962C8B-B14F-4D97-AF65-F5344CB8AC3E}">
        <p14:creationId xmlns:p14="http://schemas.microsoft.com/office/powerpoint/2010/main" val="2958837705"/>
      </p:ext>
    </p:extLst>
  </p:cSld>
  <p:clrMapOvr>
    <a:masterClrMapping/>
  </p:clrMapOvr>
</p:sld>
</file>

<file path=ppt/slides/slide8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D2A35-138A-89CA-A684-636ACAC109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E5E14E-C880-7746-6DC5-8AC30C8CEC53}"/>
              </a:ext>
            </a:extLst>
          </p:cNvPr>
          <p:cNvSpPr>
            <a:spLocks noGrp="1"/>
          </p:cNvSpPr>
          <p:nvPr>
            <p:ph type="title"/>
          </p:nvPr>
        </p:nvSpPr>
        <p:spPr/>
        <p:txBody>
          <a:bodyPr/>
          <a:lstStyle/>
          <a:p>
            <a:r>
              <a:rPr lang="en-US" sz="3200"/>
              <a:t>:D</a:t>
            </a:r>
            <a:endParaRPr lang="en-US" sz="3200">
              <a:solidFill>
                <a:schemeClr val="accent6">
                  <a:lumMod val="50000"/>
                </a:schemeClr>
              </a:solidFill>
            </a:endParaRPr>
          </a:p>
        </p:txBody>
      </p:sp>
    </p:spTree>
    <p:extLst>
      <p:ext uri="{BB962C8B-B14F-4D97-AF65-F5344CB8AC3E}">
        <p14:creationId xmlns:p14="http://schemas.microsoft.com/office/powerpoint/2010/main" val="3296592503"/>
      </p:ext>
    </p:extLst>
  </p:cSld>
  <p:clrMapOvr>
    <a:masterClrMapping/>
  </p:clrMapOvr>
</p:sld>
</file>

<file path=ppt/slides/slide8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B7F10-88E0-C9A7-FB53-346102623EF2}"/>
              </a:ext>
            </a:extLst>
          </p:cNvPr>
          <p:cNvSpPr>
            <a:spLocks noGrp="1"/>
          </p:cNvSpPr>
          <p:nvPr>
            <p:ph type="title"/>
          </p:nvPr>
        </p:nvSpPr>
        <p:spPr/>
        <p:txBody>
          <a:bodyPr/>
          <a:lstStyle/>
          <a:p>
            <a:r>
              <a:rPr lang="en-US"/>
              <a:t>any other announcements?</a:t>
            </a:r>
          </a:p>
        </p:txBody>
      </p:sp>
    </p:spTree>
    <p:extLst>
      <p:ext uri="{BB962C8B-B14F-4D97-AF65-F5344CB8AC3E}">
        <p14:creationId xmlns:p14="http://schemas.microsoft.com/office/powerpoint/2010/main" val="3018851853"/>
      </p:ext>
    </p:extLst>
  </p:cSld>
  <p:clrMapOvr>
    <a:masterClrMapping/>
  </p:clrMapOvr>
</p:sld>
</file>

<file path=ppt/slides/slide8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B69CDC-3440-8EDB-DD40-87140F5D0D6A}"/>
              </a:ext>
            </a:extLst>
          </p:cNvPr>
          <p:cNvSpPr>
            <a:spLocks noGrp="1"/>
          </p:cNvSpPr>
          <p:nvPr>
            <p:ph type="title"/>
          </p:nvPr>
        </p:nvSpPr>
        <p:spPr/>
        <p:txBody>
          <a:bodyPr/>
          <a:lstStyle/>
          <a:p>
            <a:r>
              <a:rPr lang="en-US"/>
              <a:t>speaker</a:t>
            </a:r>
          </a:p>
        </p:txBody>
      </p:sp>
    </p:spTree>
    <p:extLst>
      <p:ext uri="{BB962C8B-B14F-4D97-AF65-F5344CB8AC3E}">
        <p14:creationId xmlns:p14="http://schemas.microsoft.com/office/powerpoint/2010/main" val="657384212"/>
      </p:ext>
    </p:extLst>
  </p:cSld>
  <p:clrMapOvr>
    <a:masterClrMapping/>
  </p:clrMapOvr>
</p:sld>
</file>

<file path=ppt/slides/slide8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4B796-6155-AD66-26CB-9ED0A87049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BFBDEC-B7C3-F636-3031-027018D10813}"/>
              </a:ext>
            </a:extLst>
          </p:cNvPr>
          <p:cNvSpPr>
            <a:spLocks noGrp="1"/>
          </p:cNvSpPr>
          <p:nvPr>
            <p:ph type="title"/>
          </p:nvPr>
        </p:nvSpPr>
        <p:spPr/>
        <p:txBody>
          <a:bodyPr/>
          <a:lstStyle/>
          <a:p>
            <a:r>
              <a:rPr lang="en-US"/>
              <a:t>Hannah Gommerstadt</a:t>
            </a:r>
          </a:p>
        </p:txBody>
      </p:sp>
      <p:sp>
        <p:nvSpPr>
          <p:cNvPr id="3" name="Content Placeholder 2">
            <a:extLst>
              <a:ext uri="{FF2B5EF4-FFF2-40B4-BE49-F238E27FC236}">
                <a16:creationId xmlns:a16="http://schemas.microsoft.com/office/drawing/2014/main" id="{C55FAEFE-5DEF-2797-532C-2067C2FB5B34}"/>
              </a:ext>
            </a:extLst>
          </p:cNvPr>
          <p:cNvSpPr>
            <a:spLocks noGrp="1"/>
          </p:cNvSpPr>
          <p:nvPr>
            <p:ph sz="quarter" idx="10"/>
          </p:nvPr>
        </p:nvSpPr>
        <p:spPr/>
        <p:txBody>
          <a:bodyPr/>
          <a:lstStyle/>
          <a:p>
            <a:r>
              <a:rPr lang="en-US" b="1"/>
              <a:t>Position:</a:t>
            </a:r>
            <a:r>
              <a:rPr lang="en-US"/>
              <a:t> Assistant Professor of Computer Science at Vassar</a:t>
            </a:r>
          </a:p>
          <a:p>
            <a:r>
              <a:rPr lang="en-US" b="1"/>
              <a:t>Research:</a:t>
            </a:r>
            <a:r>
              <a:rPr lang="en-US"/>
              <a:t> Programming Languages; Concurrent Data Structures</a:t>
            </a:r>
          </a:p>
          <a:p>
            <a:r>
              <a:rPr lang="en-US" b="1"/>
              <a:t>Teaching: </a:t>
            </a:r>
            <a:r>
              <a:rPr lang="en-US"/>
              <a:t>Compilers, Functional Programming, Discrete Math</a:t>
            </a:r>
          </a:p>
          <a:p>
            <a:r>
              <a:rPr lang="en-US" b="1"/>
              <a:t>Hobbies:</a:t>
            </a:r>
            <a:r>
              <a:rPr lang="en-US"/>
              <a:t> Hiking</a:t>
            </a:r>
            <a:endParaRPr lang="en-US" b="1"/>
          </a:p>
        </p:txBody>
      </p:sp>
      <p:sp>
        <p:nvSpPr>
          <p:cNvPr id="8" name="Rectangle 7">
            <a:extLst>
              <a:ext uri="{FF2B5EF4-FFF2-40B4-BE49-F238E27FC236}">
                <a16:creationId xmlns:a16="http://schemas.microsoft.com/office/drawing/2014/main" id="{59FEDB30-56EC-9320-9F87-653CF352EA12}"/>
              </a:ext>
            </a:extLst>
          </p:cNvPr>
          <p:cNvSpPr/>
          <p:nvPr/>
        </p:nvSpPr>
        <p:spPr>
          <a:xfrm>
            <a:off x="7870467" y="-328656"/>
            <a:ext cx="500932" cy="643659"/>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6CD60C2-6FAE-1690-8964-324897BCAD38}"/>
              </a:ext>
            </a:extLst>
          </p:cNvPr>
          <p:cNvSpPr txBox="1"/>
          <p:nvPr/>
        </p:nvSpPr>
        <p:spPr>
          <a:xfrm>
            <a:off x="7513983" y="-261996"/>
            <a:ext cx="1630017" cy="1446550"/>
          </a:xfrm>
          <a:prstGeom prst="rect">
            <a:avLst/>
          </a:prstGeom>
          <a:noFill/>
        </p:spPr>
        <p:txBody>
          <a:bodyPr wrap="square">
            <a:spAutoFit/>
          </a:bodyPr>
          <a:lstStyle/>
          <a:p>
            <a:r>
              <a:rPr kumimoji="0" lang="en-US" sz="8800" b="1" i="0" u="none" strike="noStrike" kern="1200" cap="none" spc="0" normalizeH="0" baseline="0" noProof="0">
                <a:ln>
                  <a:noFill/>
                </a:ln>
                <a:solidFill>
                  <a:srgbClr val="AE81FF">
                    <a:lumMod val="50000"/>
                  </a:srgbClr>
                </a:solidFill>
                <a:effectLst/>
                <a:uLnTx/>
                <a:uFillTx/>
                <a:latin typeface="Arial"/>
                <a:ea typeface="Segoe UI Emoji" panose="020B0502040204020203" pitchFamily="34" charset="0"/>
                <a:cs typeface="+mj-cs"/>
              </a:rPr>
              <a:t>🥾</a:t>
            </a:r>
            <a:endParaRPr lang="en-US" sz="8000"/>
          </a:p>
        </p:txBody>
      </p:sp>
      <p:sp>
        <p:nvSpPr>
          <p:cNvPr id="14" name="Rectangle 13">
            <a:extLst>
              <a:ext uri="{FF2B5EF4-FFF2-40B4-BE49-F238E27FC236}">
                <a16:creationId xmlns:a16="http://schemas.microsoft.com/office/drawing/2014/main" id="{3D0D2817-E6E2-402E-22EF-8A60FDBD5E72}"/>
              </a:ext>
            </a:extLst>
          </p:cNvPr>
          <p:cNvSpPr/>
          <p:nvPr/>
        </p:nvSpPr>
        <p:spPr>
          <a:xfrm>
            <a:off x="7513983" y="-261996"/>
            <a:ext cx="500932" cy="643659"/>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FD25B3A-C2A1-216A-6C63-1C6BA0BBF2B6}"/>
              </a:ext>
            </a:extLst>
          </p:cNvPr>
          <p:cNvSpPr txBox="1"/>
          <p:nvPr/>
        </p:nvSpPr>
        <p:spPr>
          <a:xfrm>
            <a:off x="7125694" y="-109596"/>
            <a:ext cx="1630017" cy="1446550"/>
          </a:xfrm>
          <a:prstGeom prst="rect">
            <a:avLst/>
          </a:prstGeom>
          <a:noFill/>
        </p:spPr>
        <p:txBody>
          <a:bodyPr wrap="square">
            <a:spAutoFit/>
          </a:bodyPr>
          <a:lstStyle/>
          <a:p>
            <a:r>
              <a:rPr kumimoji="0" lang="en-US" sz="8800" b="1" i="0" u="none" strike="noStrike" kern="1200" cap="none" spc="0" normalizeH="0" baseline="0" noProof="0">
                <a:ln>
                  <a:noFill/>
                </a:ln>
                <a:solidFill>
                  <a:srgbClr val="AE81FF">
                    <a:lumMod val="50000"/>
                  </a:srgbClr>
                </a:solidFill>
                <a:effectLst/>
                <a:uLnTx/>
                <a:uFillTx/>
                <a:latin typeface="Arial"/>
                <a:ea typeface="Segoe UI Emoji" panose="020B0502040204020203" pitchFamily="34" charset="0"/>
                <a:cs typeface="+mj-cs"/>
              </a:rPr>
              <a:t>🥾</a:t>
            </a:r>
            <a:endParaRPr lang="en-US" sz="8000"/>
          </a:p>
        </p:txBody>
      </p:sp>
    </p:spTree>
    <p:extLst>
      <p:ext uri="{BB962C8B-B14F-4D97-AF65-F5344CB8AC3E}">
        <p14:creationId xmlns:p14="http://schemas.microsoft.com/office/powerpoint/2010/main" val="3999408715"/>
      </p:ext>
    </p:extLst>
  </p:cSld>
  <p:clrMapOvr>
    <a:masterClrMapping/>
  </p:clrMapOvr>
</p:sld>
</file>

<file path=ppt/slides/slide8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8033A6-DDEB-2CCA-79B7-04F28086A707}"/>
              </a:ext>
            </a:extLst>
          </p:cNvPr>
          <p:cNvSpPr>
            <a:spLocks noGrp="1"/>
          </p:cNvSpPr>
          <p:nvPr>
            <p:ph type="title"/>
          </p:nvPr>
        </p:nvSpPr>
        <p:spPr>
          <a:xfrm>
            <a:off x="457200" y="234462"/>
            <a:ext cx="8229600" cy="4674576"/>
          </a:xfrm>
        </p:spPr>
        <p:txBody>
          <a:bodyPr/>
          <a:lstStyle/>
          <a:p>
            <a:pPr algn="l"/>
            <a:r>
              <a:rPr lang="en-US" sz="2400">
                <a:latin typeface="Consolas" panose="020B0609020204030204" pitchFamily="49" charset="0"/>
                <a:cs typeface="Consolas" panose="020B0609020204030204" pitchFamily="49" charset="0"/>
              </a:rPr>
              <a:t>int a =      5;</a:t>
            </a:r>
            <a:br>
              <a:rPr lang="en-US" sz="2400">
                <a:latin typeface="Consolas" panose="020B0609020204030204" pitchFamily="49" charset="0"/>
                <a:cs typeface="Consolas" panose="020B0609020204030204" pitchFamily="49" charset="0"/>
              </a:rPr>
            </a:br>
            <a:r>
              <a:rPr lang="en-US" sz="2400">
                <a:latin typeface="Consolas" panose="020B0609020204030204" pitchFamily="49" charset="0"/>
                <a:cs typeface="Consolas" panose="020B0609020204030204" pitchFamily="49" charset="0"/>
              </a:rPr>
              <a:t>    int b=8;</a:t>
            </a:r>
            <a:br>
              <a:rPr lang="en-US" sz="2400">
                <a:latin typeface="Consolas" panose="020B0609020204030204" pitchFamily="49" charset="0"/>
                <a:cs typeface="Consolas" panose="020B0609020204030204" pitchFamily="49" charset="0"/>
              </a:rPr>
            </a:br>
            <a:br>
              <a:rPr lang="en-US" sz="2400">
                <a:latin typeface="Consolas" panose="020B0609020204030204" pitchFamily="49" charset="0"/>
                <a:cs typeface="Consolas" panose="020B0609020204030204" pitchFamily="49" charset="0"/>
              </a:rPr>
            </a:br>
            <a:endParaRPr lang="en-US" sz="240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864536346"/>
      </p:ext>
    </p:extLst>
  </p:cSld>
  <p:clrMapOvr>
    <a:masterClrMapping/>
  </p:clrMapOvr>
</p:sld>
</file>

<file path=ppt/theme/theme1.xml><?xml version="1.0" encoding="utf-8"?>
<a:theme xmlns:a="http://schemas.openxmlformats.org/drawingml/2006/main" name="Jim">
  <a:themeElements>
    <a:clrScheme name="Jim">
      <a:dk1>
        <a:srgbClr val="000000"/>
      </a:dk1>
      <a:lt1>
        <a:srgbClr val="FFFFFF"/>
      </a:lt1>
      <a:dk2>
        <a:srgbClr val="7B3F00"/>
      </a:dk2>
      <a:lt2>
        <a:srgbClr val="7F7F7F"/>
      </a:lt2>
      <a:accent1>
        <a:srgbClr val="F92671"/>
      </a:accent1>
      <a:accent2>
        <a:srgbClr val="FD971F"/>
      </a:accent2>
      <a:accent3>
        <a:srgbClr val="FFFF32"/>
      </a:accent3>
      <a:accent4>
        <a:srgbClr val="A6E22E"/>
      </a:accent4>
      <a:accent5>
        <a:srgbClr val="66D9ED"/>
      </a:accent5>
      <a:accent6>
        <a:srgbClr val="AE81FF"/>
      </a:accent6>
      <a:hlink>
        <a:srgbClr val="0000FF"/>
      </a:hlink>
      <a:folHlink>
        <a:srgbClr val="666699"/>
      </a:folHlink>
    </a:clrScheme>
    <a:fontScheme name="Jim Heading is Code Body is Everything Else">
      <a:majorFont>
        <a:latin typeface="Consola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132644</TotalTime>
  <Words>29456</Words>
  <Application>Microsoft Macintosh PowerPoint</Application>
  <PresentationFormat>On-screen Show (16:9)</PresentationFormat>
  <Paragraphs>4809</Paragraphs>
  <Slides>883</Slides>
  <Notes>106</Notes>
  <HiddenSlides>10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883</vt:i4>
      </vt:variant>
    </vt:vector>
  </HeadingPairs>
  <TitlesOfParts>
    <vt:vector size="897" baseType="lpstr">
      <vt:lpstr>-apple-system</vt:lpstr>
      <vt:lpstr>Arial</vt:lpstr>
      <vt:lpstr>Baskerville</vt:lpstr>
      <vt:lpstr>Calibri</vt:lpstr>
      <vt:lpstr>Cambria Math</vt:lpstr>
      <vt:lpstr>Comic Sans MS</vt:lpstr>
      <vt:lpstr>Consolas</vt:lpstr>
      <vt:lpstr>Impact</vt:lpstr>
      <vt:lpstr>Menlo</vt:lpstr>
      <vt:lpstr>Segoe UI Emoji</vt:lpstr>
      <vt:lpstr>System Font Regular</vt:lpstr>
      <vt:lpstr>Wingdings</vt:lpstr>
      <vt:lpstr>Zapfino</vt:lpstr>
      <vt:lpstr>Jim</vt:lpstr>
      <vt:lpstr>Week07</vt:lpstr>
      <vt:lpstr>real-world dictionaries note: these are NOT hash maps (hash maps are NOT ordered)</vt:lpstr>
      <vt:lpstr>PowerPoint Presentation</vt:lpstr>
      <vt:lpstr>common occurrence in ye olden times</vt:lpstr>
      <vt:lpstr>note: this advice made no sense</vt:lpstr>
      <vt:lpstr>unless...</vt:lpstr>
      <vt:lpstr>PowerPoint Presentation</vt:lpstr>
      <vt:lpstr>maps</vt:lpstr>
      <vt:lpstr>map interface</vt:lpstr>
      <vt:lpstr>map</vt:lpstr>
      <vt:lpstr>analogy</vt:lpstr>
      <vt:lpstr>let us imagine...</vt:lpstr>
      <vt:lpstr>you have a three week long road trip planned to Bennington, but your prized parrot Hans is deathly afraid of driving  it's time to put Hans in the bird kennel</vt:lpstr>
      <vt:lpstr>PowerPoint Presentation</vt:lpstr>
      <vt:lpstr>you return invigorated from a lovely trek to Bennington  it's time to get Hans from the bird kennel</vt:lpstr>
      <vt:lpstr>PowerPoint Presentation</vt:lpstr>
      <vt:lpstr>PowerPoint Presentation</vt:lpstr>
      <vt:lpstr>map interface</vt:lpstr>
      <vt:lpstr>simple example</vt:lpstr>
      <vt:lpstr>HashMap&lt;Character, Integer&gt; map = new HashMap&lt;&gt;(); PRINT(map); // {}  map.put('a', 1); PRINT(map); // {a=1}  map.put('b', 1); PRINT(map); // {a=1, b=1}  map.put('b', 2); PRINT(map); // {a=1, b=2}</vt:lpstr>
      <vt:lpstr>motivating example</vt:lpstr>
      <vt:lpstr>Pokémon</vt:lpstr>
      <vt:lpstr>number  name</vt:lpstr>
      <vt:lpstr>an array</vt:lpstr>
      <vt:lpstr>the answer is always array</vt:lpstr>
      <vt:lpstr>even during the map lecture</vt:lpstr>
      <vt:lpstr>number  name (Option A)</vt:lpstr>
      <vt:lpstr>number  name (Option B)</vt:lpstr>
      <vt:lpstr>number  name (Option C)</vt:lpstr>
      <vt:lpstr>lesson: if you're mapping from A  B, and A is something like 0, 1, 2, 3, ...  ...then you can just use an array 🙂👍 (or an array list, if you don't know the length ahead of time) </vt:lpstr>
      <vt:lpstr>buuut, if you're mapping from A  B, and A is nothing like 0, 1, 2, 3, ...  ...then you may want a map 🗺️ </vt:lpstr>
      <vt:lpstr>name  number</vt:lpstr>
      <vt:lpstr>name  number</vt:lpstr>
      <vt:lpstr>[let's implement numberFromName] TODO (Jim): use keySet() method in test code</vt:lpstr>
      <vt:lpstr>PokemonExample</vt:lpstr>
      <vt:lpstr>reminder: hash maps are NOT ordered (even though we put Pokemon into the hash map in order, the hash map did NOT store them in order)</vt:lpstr>
      <vt:lpstr>maps in other languages</vt:lpstr>
      <vt:lpstr>🐍 Python has a built-in map (dictionary)</vt:lpstr>
      <vt:lpstr>🥰 Lua's only data structure is a map (table)</vt:lpstr>
      <vt:lpstr>PowerPoint Presentation</vt:lpstr>
      <vt:lpstr>Week07b</vt:lpstr>
      <vt:lpstr>map interface</vt:lpstr>
      <vt:lpstr>motivation</vt:lpstr>
      <vt:lpstr>let's get motivated !</vt:lpstr>
      <vt:lpstr>PowerPoint Presentation</vt:lpstr>
      <vt:lpstr>so basically...</vt:lpstr>
      <vt:lpstr>in ~1953 someone realized that if you combined an array, the %, and something called a "hash function," you could implement a map that had O(1) get and set!</vt:lpstr>
      <vt:lpstr>let's learn how this works 🙂👍</vt:lpstr>
      <vt:lpstr>review: % vs. MODULO (Math.floorMod)</vt:lpstr>
      <vt:lpstr>PowerPoint Presentation</vt:lpstr>
      <vt:lpstr>PowerPoint Presentation</vt:lpstr>
      <vt:lpstr>%</vt:lpstr>
      <vt:lpstr>MODULO(x, y)</vt:lpstr>
      <vt:lpstr>hash function</vt:lpstr>
      <vt:lpstr>hash function</vt:lpstr>
      <vt:lpstr>hash function</vt:lpstr>
      <vt:lpstr>hash function</vt:lpstr>
      <vt:lpstr>let's play...is it a hash function?</vt:lpstr>
      <vt:lpstr>PowerPoint Presentation</vt:lpstr>
      <vt:lpstr>let's play...do they collide?</vt:lpstr>
      <vt:lpstr>hashCode()</vt:lpstr>
      <vt:lpstr>hashCode()</vt:lpstr>
      <vt:lpstr>hashCode()</vt:lpstr>
      <vt:lpstr>PowerPoint Presentation</vt:lpstr>
      <vt:lpstr>hash maps</vt:lpstr>
      <vt:lpstr>hash map</vt:lpstr>
      <vt:lpstr>PowerPoint Presentation</vt:lpstr>
      <vt:lpstr>PowerPoint Presentation</vt:lpstr>
      <vt:lpstr>separate chaining</vt:lpstr>
      <vt:lpstr>separate chaining</vt:lpstr>
      <vt:lpstr>analogy</vt:lpstr>
      <vt:lpstr>previously, on Hans the Parrot</vt:lpstr>
      <vt:lpstr>you have a three week long road trip planned to Bennington, but your prized parrot Hans is deathly afraid of driving  it's time to put Hans in the bird kennel</vt:lpstr>
      <vt:lpstr>PowerPoint Presentation</vt:lpstr>
      <vt:lpstr>you return invigorated from a lovely trek to Bennington  it's time to get Hans from the bird kennel</vt:lpstr>
      <vt:lpstr>PowerPoint Presentation</vt:lpstr>
      <vt:lpstr>PowerPoint Presentation</vt:lpstr>
      <vt:lpstr>now, let us imagine again...</vt:lpstr>
      <vt:lpstr>in a thrilling twist, it turns out that the Bennington trip was secretly cover for Agent Hans's corporate espionage of the bird kennel (rumor had it they were keeping the birds in buckets 🤨)  it's time to get Hans back to the hideout</vt:lpstr>
      <vt:lpstr>PowerPoint Presentation</vt:lpstr>
      <vt:lpstr>PowerPoint Presentation</vt:lpstr>
      <vt:lpstr>int[] arrayOfInts; ArrayList&lt;KeyValuePair&gt;[] buckets;</vt:lpstr>
      <vt:lpstr>//               Bucket[] buckets ArrayList&lt;KeyValuePair&gt;[] buckets;</vt:lpstr>
      <vt:lpstr>ArrayList&lt;KeyValuePair&gt;[] buckets;</vt:lpstr>
      <vt:lpstr>ArrayList&lt;KeyValuePair&gt;[] buckets;</vt:lpstr>
      <vt:lpstr>ArrayList&lt;KeyValuePair&gt;[] buckets;</vt:lpstr>
      <vt:lpstr>hash map questions</vt:lpstr>
      <vt:lpstr>how big should we make the array?</vt:lpstr>
      <vt:lpstr>why would need to resize (grow) a hash map? how do we resize a hash map? why might this be slow?</vt:lpstr>
      <vt:lpstr>Week07c</vt:lpstr>
      <vt:lpstr> Given an array of integers nums and an integer target, return indices of the two numbers such that they add up to target. You may assume that each input would have exactly one solution, and you may not use the same element twice. You can return the answer in any order.   Example 1: Input: nums = [2,7,11,15], target = 9 Output: [0,1] Explanation: Because nums[0] + nums[1] == 9, we return [0, 1].  Example 2: Input: nums = [3,2,4], target = 6 Output: [1,2]  Example 3: Input: nums = [3,3], target = 6 Output: [0,1] </vt:lpstr>
      <vt:lpstr>PowerPoint Presentation</vt:lpstr>
      <vt:lpstr>review: hash maps are O(1) (ish)</vt:lpstr>
      <vt:lpstr>what happens when we call map.get(key)?</vt:lpstr>
      <vt:lpstr>PowerPoint Presentation</vt:lpstr>
      <vt:lpstr>step 1: hashing the key (in our specific case, where key is a String and we use key.hashCode())</vt:lpstr>
      <vt:lpstr>step 1: hashing the key (our specific case, where key is a String and we use key.hashCode()) </vt:lpstr>
      <vt:lpstr>getting (a reference to) the correct bucket (our specific case, where bucket is an unsorted ArrayList&lt;KeyValuePair&gt;)</vt:lpstr>
      <vt:lpstr>searching the bucket for the key (our specific case, where bucket is an unsorted ArrayList&lt;KeyValuePair&gt;)</vt:lpstr>
      <vt:lpstr>growing</vt:lpstr>
      <vt:lpstr>🤨 also what about growing the hash map (when it gets too full)?!  that has to make map.put O(n) !</vt:lpstr>
      <vt:lpstr>put is O(1) amortized runtime 🙂🤨</vt:lpstr>
      <vt:lpstr>REVIEW: amortized</vt:lpstr>
      <vt:lpstr>summary</vt:lpstr>
      <vt:lpstr>lesson: there is a lot of subltety hiding in the seemingly simple statement "hash maps are O(1)"  buuut, in an interview, still probably just say O(1) 🙂👍</vt:lpstr>
      <vt:lpstr>Tutorial: hash map with separate chaining (using array list buckets)</vt:lpstr>
      <vt:lpstr>PowerPoint Presentation</vt:lpstr>
      <vt:lpstr>open addressing</vt:lpstr>
      <vt:lpstr>a hash map with separate chaining used an array of buckets of key-value pairs  put(key,value) hash key to find bucketIndex add (key, value) to buckets[bucketIndex]</vt:lpstr>
      <vt:lpstr>a hash map with open addressing just uses an array of key-value pairs (slots)  put(key, value) hash key to find slotIndex if slots[slotIndex] is full, try slots[slotIndex + 1] if slots[slotIndex + 1] is full, try slots[slotIndex + 2] if slots[slotIndex + 2] is full, try slots[slotIndex + 3] ... put (key,value) in first empty slot</vt:lpstr>
      <vt:lpstr>get(key) is interesting hash key to find slotIndex  is key in slots[slotIndex]?  if yes, return slot.value; is key in slots[slotIndex + 1]?   if yes, return slot.value; is key in slots[slotIndex + 2]?  ...  give up if you hit an empty slot map does NOT contain key  return null;</vt:lpstr>
      <vt:lpstr>note: must be very careful when removing (deleting) key-value  pairs from a hash map implemented using open addressing</vt:lpstr>
      <vt:lpstr>note: these slides described a specific kind of open addressing called linear probing  open addressing is a strategy for resolving collisions linear probing is just one way of doing open addressing</vt:lpstr>
      <vt:lpstr>fun friday menu - jim rants about comments and syntax highlighting - jim codes (some of) microsoft paint from scratch - jim updates you on his CAD software - jim talks about his favorite element - jim reads aloud from grugbrain.dev - jim reads aloud from vim creep - jim reads aloud from hexing the technical interview - jim reads aloud from the truth about lisp - jim reads aloud from the worst API ever made</vt:lpstr>
      <vt:lpstr>🦉 would you fancy a Kahoot?</vt:lpstr>
      <vt:lpstr>Week06</vt:lpstr>
      <vt:lpstr>wrap-up: array list</vt:lpstr>
      <vt:lpstr>big-O runtime of void add(ElementType e);</vt:lpstr>
      <vt:lpstr>review: big-O runtime</vt:lpstr>
      <vt:lpstr>big-O runtime</vt:lpstr>
      <vt:lpstr>best case and worst case runtime of adding to the back of an array list</vt:lpstr>
      <vt:lpstr>best case</vt:lpstr>
      <vt:lpstr>worst case</vt:lpstr>
      <vt:lpstr>sometimes the best case and worst case are very different</vt:lpstr>
      <vt:lpstr>amortized runtime of adding to the back of an array list</vt:lpstr>
      <vt:lpstr>amortized</vt:lpstr>
      <vt:lpstr>PowerPoint Presentation</vt:lpstr>
      <vt:lpstr>PowerPoint Presentation</vt:lpstr>
      <vt:lpstr>amortized runtime</vt:lpstr>
      <vt:lpstr>*intuition</vt:lpstr>
      <vt:lpstr>*proof</vt:lpstr>
      <vt:lpstr>the amortized run time is less pessimistic than worst case</vt:lpstr>
      <vt:lpstr>the most relevant runtime depends on context 🧠 when might worst case be more relevant? 🧠 when might amortized be more relevant?</vt:lpstr>
      <vt:lpstr>best case and worst case runtime of inserting into the front of an array list</vt:lpstr>
      <vt:lpstr>best case and worst cast</vt:lpstr>
      <vt:lpstr>lesson?: sometimes best case and worst case are the same</vt:lpstr>
      <vt:lpstr>review: queue</vt:lpstr>
      <vt:lpstr>PowerPoint Presentation</vt:lpstr>
      <vt:lpstr>queue interface</vt:lpstr>
      <vt:lpstr>PowerPoint Presentation</vt:lpstr>
      <vt:lpstr>wrap-up: deque (double-ended queue)</vt:lpstr>
      <vt:lpstr>naive deque implemenation</vt:lpstr>
      <vt:lpstr>implementing a deque using a left-aligned, left-facing internal array</vt:lpstr>
      <vt:lpstr>wonderful deque implemenation</vt:lpstr>
      <vt:lpstr>neat idea: store the queue in the middle</vt:lpstr>
      <vt:lpstr>neat idea: store the queue in the middle</vt:lpstr>
      <vt:lpstr>extension: treat the array as circular</vt:lpstr>
      <vt:lpstr>extension: treat the array as circular</vt:lpstr>
      <vt:lpstr>big picture lesson </vt:lpstr>
      <vt:lpstr>once you get past CS136, data structures are actually kind of rich and complicated and messy</vt:lpstr>
      <vt:lpstr>PowerPoint Presentation</vt:lpstr>
      <vt:lpstr>midterm notes</vt:lpstr>
      <vt:lpstr>about english</vt:lpstr>
      <vt:lpstr>things to know</vt:lpstr>
      <vt:lpstr>midterm questions?</vt:lpstr>
      <vt:lpstr>where did the PostScript Starter Code come from?</vt:lpstr>
      <vt:lpstr>the big decision in the Starter Code is that we're going to chop the program into a list of "tokens"  and each token could be a boolean, double, String, or list</vt:lpstr>
      <vt:lpstr>in Python, a variable's type is dynamic</vt:lpstr>
      <vt:lpstr>in Java, a variable's type is static</vt:lpstr>
      <vt:lpstr>examples</vt:lpstr>
      <vt:lpstr>in Java, a variable's type is static</vt:lpstr>
      <vt:lpstr>in Java, a variable's type is static</vt:lpstr>
      <vt:lpstr>tl;dr</vt:lpstr>
      <vt:lpstr>use these functions 🙂👍</vt:lpstr>
      <vt:lpstr>and these functions!! 🙂👍</vt:lpstr>
      <vt:lpstr>PowerPoint Presentation</vt:lpstr>
      <vt:lpstr>PowerPoint Presentation</vt:lpstr>
      <vt:lpstr>Java vs. C philosophy of data structures</vt:lpstr>
      <vt:lpstr>[scavenger hunt]</vt:lpstr>
      <vt:lpstr>can i call get(...) or set(...) on Java's ArrayDeque?  why or why not?</vt:lpstr>
      <vt:lpstr>fun friday menu - jim rants about comments and syntax highlighting - jim codes (some of) microsoft paint from scratch - jim updates you on his CAD software - jim talks about usage code - jim talks about his favorite element - jim reads aloud from grugbrain.dev - jim talks incoherently about Vim</vt:lpstr>
      <vt:lpstr>Tungsten queube 😀  did you know Tungsten is really hard? Tungsten alloys can be as hard as Sapphire! that's really hard!  did you know the density of Tungsten is 19.25 g/cm3? that's really dense!—almost as dense as gold! (Gold is 19.32 g/cm3)  Tungsten is not suuper cheap (cube from the Amazon.com was $60) but Tungsten is also not like...expensive  what could YOU do with Tungsten?</vt:lpstr>
      <vt:lpstr>PowerPoint Presentation</vt:lpstr>
      <vt:lpstr>PowerPoint Presentation</vt:lpstr>
      <vt:lpstr>PowerPoint Presentation</vt:lpstr>
      <vt:lpstr>PowerPoint Presentation</vt:lpstr>
      <vt:lpstr>Week05</vt:lpstr>
      <vt:lpstr>PowerPoint Presentation</vt:lpstr>
      <vt:lpstr>PowerPoint Presentation</vt:lpstr>
      <vt:lpstr>FlipBook</vt:lpstr>
      <vt:lpstr>were array lists a good choice for implementing a Flip Book?  💭 (how) could you have done it with just arrays?</vt:lpstr>
      <vt:lpstr>you can do anything</vt:lpstr>
      <vt:lpstr>PowerPoint Presentation</vt:lpstr>
      <vt:lpstr>well, we didn't know how many...</vt:lpstr>
      <vt:lpstr>"Alternative" 1: just use arrays, but resize them yourself when needed (essentially, implement the functionality of an array list without actually having a class)</vt:lpstr>
      <vt:lpstr>"Alternative" 2: 🐘 use a BIG multi-dimensional array // ~30,000,000 elements Point[][][] flipbook = new Point[64][512][1024]; // NOTE: we also need all these counter variables // can't just call .size() like before! int numPages = 0; int[] numStrokes = new int[64]; int[][] numPoints = new int[64][512];</vt:lpstr>
      <vt:lpstr>these alternatives are probably kind of trash; array lists considered helpful 🙂👍</vt:lpstr>
      <vt:lpstr>interface</vt:lpstr>
      <vt:lpstr>PowerPoint Presentation</vt:lpstr>
      <vt:lpstr>PowerPoint Presentation</vt:lpstr>
      <vt:lpstr>interface</vt:lpstr>
      <vt:lpstr>PowerPoint Presentation</vt:lpstr>
      <vt:lpstr>you can get (very) formal about interfaces (abstract data types)</vt:lpstr>
      <vt:lpstr>i typically won't.  just know there is a difference between  an interface ("a list") and a specific implementation (ArrayList&lt;Element&gt;)</vt:lpstr>
      <vt:lpstr>stack</vt:lpstr>
      <vt:lpstr>analogy</vt:lpstr>
      <vt:lpstr>a stack is like a helicopter pilot with a socially unacceptable hobby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stack interface</vt:lpstr>
      <vt:lpstr>PowerPoint Presentation</vt:lpstr>
      <vt:lpstr>what does this print?</vt:lpstr>
      <vt:lpstr>Stack&lt;Integer&gt; stack = new Stack&lt;&gt;(); stack.push(2); stack.push(3); stack.push(4); stack.push(5); PRINT(stack.pop()); PRINT(stack.peek()); PRINT(stack.size()); PRINT(stack);</vt:lpstr>
      <vt:lpstr>Stack&lt;Integer&gt; stack = new Stack&lt;&gt;(); stack.push(2); stack.push(3); stack.push(4); stack.push(5); PRINT(stack.pop());  // 5 PRINT(stack.peek()); // 4 PRINT(stack.size()); // 3 PRINT(stack); // BOTTOM[ 2, 3, 4 ]TOP</vt:lpstr>
      <vt:lpstr>queue</vt:lpstr>
      <vt:lpstr>queue</vt:lpstr>
      <vt:lpstr>PowerPoint Presentation</vt:lpstr>
      <vt:lpstr>analogy</vt:lpstr>
      <vt:lpstr>a queue is like a line of very polite people patiently waiting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queue</vt:lpstr>
      <vt:lpstr>PowerPoint Presentation</vt:lpstr>
      <vt:lpstr>PowerPoint Presentation</vt:lpstr>
      <vt:lpstr>PowerPoint Presentation</vt:lpstr>
      <vt:lpstr>queue interface</vt:lpstr>
      <vt:lpstr>what does this print?</vt:lpstr>
      <vt:lpstr>ArrayDeque&lt;Integer&gt; queue = new ArrayDeque&lt;&gt;(); queue.add(7); queue.add(8); queue.add(9); PRINT(queue.remove()); PRINT(queue.peek()); PRINT(queue.size()); PRINT(queue);</vt:lpstr>
      <vt:lpstr>ArrayDeque&lt;Integer&gt; queue = new ArrayDeque&lt;&gt;(); queue.add(7); queue.add(8); queue.add(9); PRINT(queue.remove()); // 7 PRINT(queue.peek());   // 8 PRINT(queue.size());   // 2 PRINT(queue); // FRONT[ 8, 9 ]BACK </vt:lpstr>
      <vt:lpstr>stacks &amp; queues (why are these in the same lecture)</vt:lpstr>
      <vt:lpstr>stack interface</vt:lpstr>
      <vt:lpstr>queue interface</vt:lpstr>
      <vt:lpstr>stacks and queues</vt:lpstr>
      <vt:lpstr>💭 what are some examples of stacks and queues in... - real life? - computers? - computer science?</vt:lpstr>
      <vt:lpstr>PowerPoint Presentation</vt:lpstr>
      <vt:lpstr>PowerPoint Presentation</vt:lpstr>
      <vt:lpstr>PowerPoint Presentation</vt:lpstr>
      <vt:lpstr>PowerPoint Presentation</vt:lpstr>
      <vt:lpstr>[input buffering in Safari's address bar]</vt:lpstr>
      <vt:lpstr>Stack, Queue, and ArrayList (philosophies of Java vs Python)</vt:lpstr>
      <vt:lpstr>🧠 why not just use ArrayList as a stack? what is the point of having a seperate Stack class? ...isn't it literally just a less powerful ArrayList?</vt:lpstr>
      <vt:lpstr>well, Java loooves classes</vt:lpstr>
      <vt:lpstr>but Python favors elegance</vt:lpstr>
      <vt:lpstr>PowerPoint Presentation</vt:lpstr>
      <vt:lpstr>Stack and Queue tutorial 💻</vt:lpstr>
      <vt:lpstr>PowerPoint Presentation</vt:lpstr>
      <vt:lpstr>Week05b</vt:lpstr>
      <vt:lpstr>[mildly interesting animation thing]</vt:lpstr>
      <vt:lpstr>PowerPoint Presentation</vt:lpstr>
      <vt:lpstr>Tungsten break 😀 did you know the density of Tungsten is 19.25 g/cm3? Gold is 19.32 g/cm3  did you know Tungsten is really hard? Tungsten alloys can be as hard as Sapphire! that's really hard!  Tungsten is expensive (that cube is $60) but not like...that expensive  what could YOU do with Tungsten?</vt:lpstr>
      <vt:lpstr>Week04</vt:lpstr>
      <vt:lpstr>say hi to WoW students</vt:lpstr>
      <vt:lpstr>talk about trees 🌳</vt:lpstr>
      <vt:lpstr>where are we?</vt:lpstr>
      <vt:lpstr>at the turning point of CS136</vt:lpstr>
      <vt:lpstr>data structures</vt:lpstr>
      <vt:lpstr>data</vt:lpstr>
      <vt:lpstr>data is numbers</vt:lpstr>
      <vt:lpstr>a data structure helps you organizes your data...  ...the right data structure for a task is... - easy to work with -- programmer time - runs fast -- runtime (user time)</vt:lpstr>
      <vt:lpstr>PowerPoint Presentation</vt:lpstr>
      <vt:lpstr>PowerPoint Presentation</vt:lpstr>
      <vt:lpstr>array list</vt:lpstr>
      <vt:lpstr>array list</vt:lpstr>
      <vt:lpstr>motivation</vt:lpstr>
      <vt:lpstr>arrays are super useful, but...</vt:lpstr>
      <vt:lpstr>arrays are super useful, but... 🧠</vt:lpstr>
      <vt:lpstr>main limitation of arrays: can't change length</vt:lpstr>
      <vt:lpstr>review: array metaphor</vt:lpstr>
      <vt:lpstr>an array is like a very organized person's flower planter  - one flower per square - the planter can't change size   (it is made of artisinal woods or something)</vt:lpstr>
      <vt:lpstr>PowerPoint Presentation</vt:lpstr>
      <vt:lpstr>how an array list works (metaphor)</vt:lpstr>
      <vt:lpstr>let us imagine...</vt:lpstr>
      <vt:lpstr>you have a bunch of pieces of produce you need to put somewhere for quick access, but you don't know how many  ...off to the produce bank we 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interface</vt:lpstr>
      <vt:lpstr>an array list is a kind of list</vt:lpstr>
      <vt:lpstr>ArrayList&lt;ElementType&gt;</vt:lpstr>
      <vt:lpstr>ArrayList&lt;ElementType&gt;</vt:lpstr>
      <vt:lpstr>usage code</vt:lpstr>
      <vt:lpstr>what does this code print? (the home game)</vt:lpstr>
      <vt:lpstr>usage code</vt:lpstr>
      <vt:lpstr>size (length) of the list vs. the list's capacity</vt:lpstr>
      <vt:lpstr>PowerPoint Presentation</vt:lpstr>
      <vt:lpstr>PowerPoint Presentation</vt:lpstr>
      <vt:lpstr>the internal array</vt:lpstr>
      <vt:lpstr>✅ length is not the same thing as capacity</vt:lpstr>
      <vt:lpstr>implementation continued</vt:lpstr>
      <vt:lpstr>ArrayList() { ... } // constructor</vt:lpstr>
      <vt:lpstr>ElementType get(int index) { ... }</vt:lpstr>
      <vt:lpstr>void add(ElementType element) { ... }</vt:lpstr>
      <vt:lpstr>add (details)</vt:lpstr>
      <vt:lpstr>void add(ElementType element) { ... }</vt:lpstr>
      <vt:lpstr>PowerPoint Presentation</vt:lpstr>
      <vt:lpstr>PowerPoint Presentation</vt:lpstr>
      <vt:lpstr>PowerPoint Presentation</vt:lpstr>
      <vt:lpstr>PowerPoint Presentation</vt:lpstr>
      <vt:lpstr>PowerPoint Presentation</vt:lpstr>
      <vt:lpstr>PowerPoint Presentation</vt:lpstr>
      <vt:lpstr>void add(int index, ElementType element)</vt:lpstr>
      <vt:lpstr>PowerPoint Presentation</vt:lpstr>
      <vt:lpstr>PowerPoint Presentation</vt:lpstr>
      <vt:lpstr>PowerPoint Presentation</vt:lpstr>
      <vt:lpstr>PowerPoint Presentation</vt:lpstr>
      <vt:lpstr>☠️ like in HW02 (text box), need to iterate backwards</vt:lpstr>
      <vt:lpstr>epelia</vt:lpstr>
      <vt:lpstr>epheeee</vt:lpstr>
      <vt:lpstr>PowerPoint Presentation</vt:lpstr>
      <vt:lpstr>PowerPoint Presentation</vt:lpstr>
      <vt:lpstr>PowerPoint Presentation</vt:lpstr>
      <vt:lpstr>PowerPoint Presentation</vt:lpstr>
      <vt:lpstr>PowerPoint Presentation</vt:lpstr>
      <vt:lpstr>PowerPoint Presentation</vt:lpstr>
      <vt:lpstr>final note on add</vt:lpstr>
      <vt:lpstr>final note on add</vt:lpstr>
      <vt:lpstr>Week04b</vt:lpstr>
      <vt:lpstr>[HW04 preview] 👻</vt:lpstr>
      <vt:lpstr>review array list animations from Week04a</vt:lpstr>
      <vt:lpstr>Tut04</vt:lpstr>
      <vt:lpstr>Week04c</vt:lpstr>
      <vt:lpstr>deleting while iterating backwards, grugbrain, comments (including stb), Vim, Kahoot! (including Jim's unpublished Kahoot! op-ed) </vt:lpstr>
      <vt:lpstr>https://grugbrain.dev</vt:lpstr>
      <vt:lpstr>Week03</vt:lpstr>
      <vt:lpstr>but first, something nice</vt:lpstr>
      <vt:lpstr>🦉 secret agent owl</vt:lpstr>
      <vt:lpstr>🦉 secret agent owl</vt:lpstr>
      <vt:lpstr>🦉 secret agent owl</vt:lpstr>
      <vt:lpstr>functions</vt:lpstr>
      <vt:lpstr>anatomy of a function</vt:lpstr>
      <vt:lpstr>anatomy of a function (1/2)</vt:lpstr>
      <vt:lpstr>anatomy of a function (2/2)</vt:lpstr>
      <vt:lpstr>return</vt:lpstr>
      <vt:lpstr>return (1/2)</vt:lpstr>
      <vt:lpstr>return (2/2)</vt:lpstr>
      <vt:lpstr>return (2/2)</vt:lpstr>
      <vt:lpstr>return (3/2)</vt:lpstr>
      <vt:lpstr>return (3/2)</vt:lpstr>
      <vt:lpstr>return (2/2)</vt:lpstr>
      <vt:lpstr>return (2/2)</vt:lpstr>
      <vt:lpstr>void</vt:lpstr>
      <vt:lpstr>void</vt:lpstr>
      <vt:lpstr>the call stack</vt:lpstr>
      <vt:lpstr>the call stack</vt:lpstr>
      <vt:lpstr>🤔</vt:lpstr>
      <vt:lpstr>[let's see what DrJava does]</vt:lpstr>
      <vt:lpstr>recursive functions</vt:lpstr>
      <vt:lpstr>recursive functions (1/2)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fin.</vt:lpstr>
      <vt:lpstr>recursive functions (2/2)</vt:lpstr>
      <vt:lpstr>PowerPoint Presentation</vt:lpstr>
      <vt:lpstr>classes</vt:lpstr>
      <vt:lpstr>anatomy of a class</vt:lpstr>
      <vt:lpstr>anatomy of a class (1/2)</vt:lpstr>
      <vt:lpstr>anatomy of a class (2/2)</vt:lpstr>
      <vt:lpstr>dot</vt:lpstr>
      <vt:lpstr>dot</vt:lpstr>
      <vt:lpstr>terminology</vt:lpstr>
      <vt:lpstr>class vs. object (instance of a class)</vt:lpstr>
      <vt:lpstr>[off the record note on OOP (Object Oriented Programming) terminology]</vt:lpstr>
      <vt:lpstr>new and constructors</vt:lpstr>
      <vt:lpstr>new</vt:lpstr>
      <vt:lpstr>constructors (1/2)</vt:lpstr>
      <vt:lpstr>constructors (2/2)</vt:lpstr>
      <vt:lpstr>this 🐍 in Python, this is self</vt:lpstr>
      <vt:lpstr>this</vt:lpstr>
      <vt:lpstr>Week03b</vt:lpstr>
      <vt:lpstr>🦉 secret agent owl</vt:lpstr>
      <vt:lpstr>HW03 preview 👻</vt:lpstr>
      <vt:lpstr>static (wrapping up last lecture)</vt:lpstr>
      <vt:lpstr>static variables and static methods</vt:lpstr>
      <vt:lpstr>instance variables vs static variables</vt:lpstr>
      <vt:lpstr>instance methods vs static methods</vt:lpstr>
      <vt:lpstr>and now... today's lecture!</vt:lpstr>
      <vt:lpstr>☠️ this is the hardest lecture in 136</vt:lpstr>
      <vt:lpstr>but learning this stuff is very worth 🙂👍 review this lecture a few times  (i am sure you will all do this)</vt:lpstr>
      <vt:lpstr>but learning this stuff is very worth 🙂👍 note: you will likely need to review this lecture a few times (i am sure you will all do this)</vt:lpstr>
      <vt:lpstr>note: i am intentionally breaking my examples into many, many steps to teach you about memory  no need to actually code this way! int foo = 7; // &lt;-- Totes fine.</vt:lpstr>
      <vt:lpstr>memory FUNdaMENTALs</vt:lpstr>
      <vt:lpstr>the two kinds of variables in Java</vt:lpstr>
      <vt:lpstr>a variable in Java is either...  a primitive or a reference to an Object</vt:lpstr>
      <vt:lpstr>primitives (review)</vt:lpstr>
      <vt:lpstr>primitive types</vt:lpstr>
      <vt:lpstr>boolean, char, double, int</vt:lpstr>
      <vt:lpstr>primitives</vt:lpstr>
      <vt:lpstr>references to Objects</vt:lpstr>
      <vt:lpstr>references (1/2)</vt:lpstr>
      <vt:lpstr>references (2/2)</vt:lpstr>
      <vt:lpstr>null</vt:lpstr>
      <vt:lpstr>null (1/2)</vt:lpstr>
      <vt:lpstr>null (2/2)</vt:lpstr>
      <vt:lpstr>the stack and the heap (where stuff lives)</vt:lpstr>
      <vt:lpstr>overview</vt:lpstr>
      <vt:lpstr>let's get more specific than saying "variables live in memory"  we divide memory into two parts: the stack and the heap </vt:lpstr>
      <vt:lpstr>PowerPoint Presentation</vt:lpstr>
      <vt:lpstr>primitives live on the stack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Objects live on the heap (but local variable references to objects live on the stack)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stack variables disappear when they leave scope  Objects are garbage collected when nothing refers to them anymore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garbage collector</vt:lpstr>
      <vt:lpstr>garbage collector</vt:lpstr>
      <vt:lpstr>[review all examples at least one more time]</vt:lpstr>
      <vt:lpstr>passing arguments to functions</vt:lpstr>
      <vt:lpstr>arguments to functions are passed by value  (a copy of the) value of the primitive or (a copy of the) value of the reference</vt:lpstr>
      <vt:lpstr>primitives are passed by value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are also passed by value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b-b-b-b-bonus question!</vt:lpstr>
      <vt:lpstr>PowerPoint Presentation</vt:lpstr>
      <vt:lpstr>PowerPoint Presentation</vt:lpstr>
      <vt:lpstr>PowerPoint Presentation</vt:lpstr>
      <vt:lpstr>PowerPoint Presentation</vt:lpstr>
      <vt:lpstr>PowerPoint Presentation</vt:lpstr>
      <vt:lpstr>Week03c</vt:lpstr>
      <vt:lpstr>PowerPoint Presentation</vt:lpstr>
      <vt:lpstr>PowerPoint Presentation</vt:lpstr>
      <vt:lpstr>PowerPoint Presentation</vt:lpstr>
      <vt:lpstr>PowerPoint Presentation</vt:lpstr>
      <vt:lpstr>conference photos</vt:lpstr>
      <vt:lpstr>built-in classes (classes that are "built in" to Java)</vt:lpstr>
      <vt:lpstr>built-in classes tend to be "special" (they break the rules of other classes in Java)</vt:lpstr>
      <vt:lpstr>review: instantiating a class (creating an object)</vt:lpstr>
      <vt:lpstr>constructors</vt:lpstr>
      <vt:lpstr>review: array</vt:lpstr>
      <vt:lpstr>creating an array (1/2)</vt:lpstr>
      <vt:lpstr>creating an array (2/2)</vt:lpstr>
      <vt:lpstr>String</vt:lpstr>
      <vt:lpstr>String (1/2)</vt:lpstr>
      <vt:lpstr>String (2/2)</vt:lpstr>
      <vt:lpstr>String concatenation (1/2)</vt:lpstr>
      <vt:lpstr>String concatenation (2/2)</vt:lpstr>
      <vt:lpstr>PowerPoint Presentation</vt:lpstr>
      <vt:lpstr>inside of a String (1/4)</vt:lpstr>
      <vt:lpstr>inside of a String (2/4)</vt:lpstr>
      <vt:lpstr>XStringExample</vt:lpstr>
      <vt:lpstr>inside of a String (3/4)</vt:lpstr>
      <vt:lpstr>interlude</vt:lpstr>
      <vt:lpstr>inside a String (4/4)</vt:lpstr>
      <vt:lpstr>questions on HW03 ? 👻</vt:lpstr>
      <vt:lpstr>pool[i] inside of specific updates (don't use enemy1 and enemy2)</vt:lpstr>
      <vt:lpstr>why i gave you a player reference</vt:lpstr>
      <vt:lpstr>this inside of fireBullet</vt:lpstr>
      <vt:lpstr>☕️ the art of coding things in the right order compile and run early, compile and run often</vt:lpstr>
      <vt:lpstr>well, let us imagine...</vt:lpstr>
      <vt:lpstr>let's imagine...</vt:lpstr>
      <vt:lpstr>...the reality is ✨so much worse✨!</vt:lpstr>
      <vt:lpstr>because broken code likes to interact with other broken code, to make✨super bugs✨!</vt:lpstr>
      <vt:lpstr>PowerPoint Presentation</vt:lpstr>
      <vt:lpstr>PowerPoint Presentation</vt:lpstr>
      <vt:lpstr>PowerPoint Presentation</vt:lpstr>
      <vt:lpstr>PowerPoint Presentation</vt:lpstr>
      <vt:lpstr>PowerPoint Presentation</vt:lpstr>
      <vt:lpstr>PowerPoint Presentation</vt:lpstr>
      <vt:lpstr>big lesson</vt:lpstr>
      <vt:lpstr>this is a learned skill!</vt:lpstr>
      <vt:lpstr>in summary</vt:lpstr>
      <vt:lpstr>Week02</vt:lpstr>
      <vt:lpstr>arrays</vt:lpstr>
      <vt:lpstr>metaphor</vt:lpstr>
      <vt:lpstr>an array is like a very organized person's flower planter  - one flower per square - the planter can't change size   (it is made of artisinal woods or something)</vt:lpstr>
      <vt:lpstr>PowerPoint Presentation</vt:lpstr>
      <vt:lpstr>mental model of an array</vt:lpstr>
      <vt:lpstr>mental model of an array</vt:lpstr>
      <vt:lpstr>PowerPoint Presentation</vt:lpstr>
      <vt:lpstr>PowerPoint Presentation</vt:lpstr>
      <vt:lpstr>learn about memory and become a real CS pro  a couple important questions to ask yourself: https://www.youtube.com/watch?v=BNtcWpY4YLY</vt:lpstr>
      <vt:lpstr>arrays</vt:lpstr>
      <vt:lpstr>arrays (1/2)</vt:lpstr>
      <vt:lpstr>arrays (2/2)</vt:lpstr>
      <vt:lpstr>array operations</vt:lpstr>
      <vt:lpstr>array operations</vt:lpstr>
      <vt:lpstr>creating an array (1/2)</vt:lpstr>
      <vt:lpstr>creating an array (2/2)</vt:lpstr>
      <vt:lpstr>getting an array's length</vt:lpstr>
      <vt:lpstr>getting the value of an element of an array</vt:lpstr>
      <vt:lpstr>setting the value of an element of an array</vt:lpstr>
      <vt:lpstr>☠ printing the elements of an array</vt:lpstr>
      <vt:lpstr>iterating over an array</vt:lpstr>
      <vt:lpstr>iterating over an array</vt:lpstr>
      <vt:lpstr>[example in DrJava]</vt:lpstr>
      <vt:lpstr>PowerPoint Presentation</vt:lpstr>
      <vt:lpstr>how many arrays?</vt:lpstr>
      <vt:lpstr>big O</vt:lpstr>
      <vt:lpstr>big O (math)</vt:lpstr>
      <vt:lpstr>big O (1/2)</vt:lpstr>
      <vt:lpstr>big O (2/2) </vt:lpstr>
      <vt:lpstr>logarithmic growth is the inverse of exponential growth (the best slide transition in the entire class)</vt:lpstr>
      <vt:lpstr>y = 2x       </vt:lpstr>
      <vt:lpstr>y = 2x       x = log2 y</vt:lpstr>
      <vt:lpstr>y = 2x       x = log2 y</vt:lpstr>
      <vt:lpstr>y = 2x       x = log2 y</vt:lpstr>
      <vt:lpstr>big O runtime (code)</vt:lpstr>
      <vt:lpstr>big-O runtime (1/2)</vt:lpstr>
      <vt:lpstr>big O runtime (2/2) </vt:lpstr>
      <vt:lpstr>fun examples</vt:lpstr>
      <vt:lpstr>Caaaaaaaaaaaarl</vt:lpstr>
      <vt:lpstr>Week02b</vt:lpstr>
      <vt:lpstr>HW01 feedback</vt:lpstr>
      <vt:lpstr>so......</vt:lpstr>
      <vt:lpstr>exciting: lots of you did pong! fun! we're learning stuff! 😁</vt:lpstr>
      <vt:lpstr>less exciting: &gt; 50% of the students being interviewed today did not correctly follow the spec 😬 (spec = NOTEs + TODOs + Reference Video)</vt:lpstr>
      <vt:lpstr>so, please check your email inbox 🙂 (this week i tell you before the interview, next week... probably not 🙃)</vt:lpstr>
      <vt:lpstr>please read NOTE's and TODO's carefully and watch the Reference Video carefully 🙂🙏</vt:lpstr>
      <vt:lpstr>cause i wrote HW01 and graphic design teaching is my passion so i am defffffinitely gonna notice if your HW doesn't match the spec 😬</vt:lpstr>
      <vt:lpstr>is like bradley cooperton says</vt:lpstr>
      <vt:lpstr>PowerPoint Presentation</vt:lpstr>
      <vt:lpstr>PowerPoint Presentation</vt:lpstr>
      <vt:lpstr>PowerPoint Presentation</vt:lpstr>
      <vt:lpstr>PowerPoint Presentation</vt:lpstr>
      <vt:lpstr>👻 [HW02 preview]</vt:lpstr>
      <vt:lpstr>array examples</vt:lpstr>
      <vt:lpstr>review: creating an array of the first 100 non-negative integers</vt:lpstr>
      <vt:lpstr>example: creating an array of the first 100  non-negative integers [ 0, 1, ..., 99 ]</vt:lpstr>
      <vt:lpstr>☠ example: array shallow copy (bad very bad broken copy)</vt:lpstr>
      <vt:lpstr>☠ example: array shallow copy</vt:lpstr>
      <vt:lpstr>example: array deep copy</vt:lpstr>
      <vt:lpstr>example: array deep copy</vt:lpstr>
      <vt:lpstr>example: finding the index (and value) of an array's maximum element </vt:lpstr>
      <vt:lpstr>example: finding the index (and value) of an array's maximum element </vt:lpstr>
      <vt:lpstr>combinatorial explosion</vt:lpstr>
      <vt:lpstr>PowerPoint Presentation</vt:lpstr>
      <vt:lpstr>PowerPoint Presentation</vt:lpstr>
      <vt:lpstr>example: circular array</vt:lpstr>
      <vt:lpstr>PowerPoint Presentation</vt:lpstr>
      <vt:lpstr>multi-dimensional arrays</vt:lpstr>
      <vt:lpstr>multi-dimensional arrays</vt:lpstr>
      <vt:lpstr>multi-dimensional arrays (arrays of arrays of ...)</vt:lpstr>
      <vt:lpstr>HW02 big O runtime examples (good things to know for your interviewwwww...)</vt:lpstr>
      <vt:lpstr>let's say n equals buffer.length</vt:lpstr>
      <vt:lpstr>what's the big O runtime of pressing ? </vt:lpstr>
      <vt:lpstr>what's the big O runtime of pressing A? </vt:lpstr>
      <vt:lpstr>Week02c</vt:lpstr>
      <vt:lpstr>swap</vt:lpstr>
      <vt:lpstr>🐍 Python swap</vt:lpstr>
      <vt:lpstr>🐍 Python swap</vt:lpstr>
      <vt:lpstr>☠️ BAD VERY BAD BROKEN swap</vt:lpstr>
      <vt:lpstr>☠️ BAD VERY BAD BROKEN swap</vt:lpstr>
      <vt:lpstr>swap</vt:lpstr>
      <vt:lpstr>swap</vt:lpstr>
      <vt:lpstr>array algorithms that use swaps</vt:lpstr>
      <vt:lpstr>reversing an array</vt:lpstr>
      <vt:lpstr>out-of-place reverse</vt:lpstr>
      <vt:lpstr>in-place reverse</vt:lpstr>
      <vt:lpstr>bubble sort</vt:lpstr>
      <vt:lpstr>bubble sort</vt:lpstr>
      <vt:lpstr>bubble sort</vt:lpstr>
      <vt:lpstr>big O runtime (arrays)</vt:lpstr>
      <vt:lpstr>runtime of array operations</vt:lpstr>
      <vt:lpstr>accessing an array "under the hood"</vt:lpstr>
      <vt:lpstr>see C do it</vt:lpstr>
      <vt:lpstr>Cecilia sees C by the Sea Shore</vt:lpstr>
      <vt:lpstr>PowerPoint Presentation</vt:lpstr>
      <vt:lpstr>big O runtime of array opterations</vt:lpstr>
      <vt:lpstr>big O runtime of array operations</vt:lpstr>
      <vt:lpstr>HW02 examples</vt:lpstr>
      <vt:lpstr>let's say n equals buffer.length</vt:lpstr>
      <vt:lpstr>what's the big O runtime of pressing ? </vt:lpstr>
      <vt:lpstr>what's the big O runtime of pressing A? </vt:lpstr>
      <vt:lpstr>💻 array tutorial</vt:lpstr>
      <vt:lpstr>💻 array tutorial</vt:lpstr>
      <vt:lpstr>💻 array tutorial</vt:lpstr>
      <vt:lpstr>Week01</vt:lpstr>
      <vt:lpstr>tips and tricks</vt:lpstr>
      <vt:lpstr>how to email jim for help on homework</vt:lpstr>
      <vt:lpstr>first, how to email not-jim</vt:lpstr>
      <vt:lpstr>how to email jim</vt:lpstr>
      <vt:lpstr>example</vt:lpstr>
      <vt:lpstr>example</vt:lpstr>
      <vt:lpstr>this is the fastest way to get your question answered  i will not be offended i promise if i wanted people to call me doctor i would have become a real doctor</vt:lpstr>
      <vt:lpstr>how to do HW</vt:lpstr>
      <vt:lpstr>implement one thing at a time  get it working perfectly  then, try the next thing</vt:lpstr>
      <vt:lpstr>PowerPoint Presentation</vt:lpstr>
      <vt:lpstr>PowerPoint Presentation</vt:lpstr>
      <vt:lpstr>operators (except for bitwise operators, which we'll do later maybe)</vt:lpstr>
      <vt:lpstr>assignment operator</vt:lpstr>
      <vt:lpstr>assignment operator</vt:lpstr>
      <vt:lpstr>arithmetic operators</vt:lpstr>
      <vt:lpstr>basic arithmetic (number) operators</vt:lpstr>
      <vt:lpstr>modulo</vt:lpstr>
      <vt:lpstr>modulo</vt:lpstr>
      <vt:lpstr>PowerPoint Presentation</vt:lpstr>
      <vt:lpstr>PowerPoint Presentation</vt:lpstr>
      <vt:lpstr>%</vt:lpstr>
      <vt:lpstr>MODULO(x, y)</vt:lpstr>
      <vt:lpstr>logical operators</vt:lpstr>
      <vt:lpstr>logical operators (1/2)</vt:lpstr>
      <vt:lpstr>logical operators (2/2)</vt:lpstr>
      <vt:lpstr>☠ logical operator short-circuiting</vt:lpstr>
      <vt:lpstr>comparison operators</vt:lpstr>
      <vt:lpstr>☠ equality (is equal to)</vt:lpstr>
      <vt:lpstr>is greater than, is less than</vt:lpstr>
      <vt:lpstr>convenient operators (feel free to ignore these for now)</vt:lpstr>
      <vt:lpstr>inequality</vt:lpstr>
      <vt:lpstr>greater than or equal to, less than or equal to</vt:lpstr>
      <vt:lpstr>greater than or equal to, less than or equal to</vt:lpstr>
      <vt:lpstr>arithmetic assignment operators</vt:lpstr>
      <vt:lpstr>String concatenation</vt:lpstr>
      <vt:lpstr>increment operator</vt:lpstr>
      <vt:lpstr>decrement operator</vt:lpstr>
      <vt:lpstr>0.1 + 0.2</vt:lpstr>
      <vt:lpstr>0.1 + 0.2</vt:lpstr>
      <vt:lpstr>Week01b</vt:lpstr>
      <vt:lpstr>get it? 🐝?</vt:lpstr>
      <vt:lpstr>PowerPoint Presentation</vt:lpstr>
      <vt:lpstr>[research update]</vt:lpstr>
      <vt:lpstr>control flow</vt:lpstr>
      <vt:lpstr>control flow</vt:lpstr>
      <vt:lpstr>"how do we control the flow?"</vt:lpstr>
      <vt:lpstr>PowerPoint Presentation</vt:lpstr>
      <vt:lpstr>[Elroy Hits the Pavement]</vt:lpstr>
      <vt:lpstr>the execution of a Java program starts at the top of main(...) and flows down down down</vt:lpstr>
      <vt:lpstr>let's step through this program in our minds, and then in a debugger</vt:lpstr>
      <vt:lpstr>[visualizing the flow of HW00A in a debugger] 💻👥</vt:lpstr>
      <vt:lpstr>functions (preview)</vt:lpstr>
      <vt:lpstr>functions (preview)</vt:lpstr>
      <vt:lpstr>ASSERT</vt:lpstr>
      <vt:lpstr>ASSERT(condition);</vt:lpstr>
      <vt:lpstr>assert condition; (Java Java)</vt:lpstr>
      <vt:lpstr>if and else</vt:lpstr>
      <vt:lpstr>if (condition) { body }</vt:lpstr>
      <vt:lpstr>if (...) { if-body } else { else-body } </vt:lpstr>
      <vt:lpstr>if (...) { ... } else if (...) { ... } ... else { ... } </vt:lpstr>
      <vt:lpstr>while and do...while</vt:lpstr>
      <vt:lpstr>while (condition) { body }</vt:lpstr>
      <vt:lpstr>do { ... } while (...);</vt:lpstr>
      <vt:lpstr>for</vt:lpstr>
      <vt:lpstr>for (...; condition; ...) { ... } (1/2)</vt:lpstr>
      <vt:lpstr>for (...; condition; ...) { ... } (2/2)</vt:lpstr>
      <vt:lpstr>break and continue</vt:lpstr>
      <vt:lpstr>break</vt:lpstr>
      <vt:lpstr>continue</vt:lpstr>
      <vt:lpstr>continue</vt:lpstr>
      <vt:lpstr>exceptions to the rule that "scope is the same as curly braces"</vt:lpstr>
      <vt:lpstr>for (...; ...; ...) { ... }</vt:lpstr>
      <vt:lpstr>☠ if, else, for, while without braces (1/2)</vt:lpstr>
      <vt:lpstr>☠ if, for, while without braces (2/2)</vt:lpstr>
      <vt:lpstr>Week01c</vt:lpstr>
      <vt:lpstr>Java doesn't have a goto</vt:lpstr>
      <vt:lpstr>goto</vt:lpstr>
      <vt:lpstr>goto label;</vt:lpstr>
      <vt:lpstr>PowerPoint Presentation</vt:lpstr>
      <vt:lpstr>PowerPoint Presentation</vt:lpstr>
      <vt:lpstr>PowerPoint Presentation</vt:lpstr>
      <vt:lpstr>PowerPoint Presentation</vt:lpstr>
      <vt:lpstr>story time ☕️</vt:lpstr>
      <vt:lpstr>PowerPoint Presentation</vt:lpstr>
      <vt:lpstr>PowerPoint Presentation</vt:lpstr>
      <vt:lpstr>PowerPoint Presentation</vt:lpstr>
      <vt:lpstr>PowerPoint Presentation</vt:lpstr>
      <vt:lpstr> did the bug really happen because they left out the curly braces?</vt:lpstr>
      <vt:lpstr>PowerPoint Presentation</vt:lpstr>
      <vt:lpstr>PowerPoint Presentation</vt:lpstr>
      <vt:lpstr>press CTRL+A and then press Tab</vt:lpstr>
      <vt:lpstr>🙂👍</vt:lpstr>
      <vt:lpstr>Cow.Java</vt:lpstr>
      <vt:lpstr>overview during a frame (like a frame of a movie) we update and draw the world</vt:lpstr>
      <vt:lpstr>PowerPoint Presentation</vt:lpstr>
      <vt:lpstr>[discussion of update-draw loop]</vt:lpstr>
      <vt:lpstr>your best friend</vt:lpstr>
      <vt:lpstr>PowerPoint Presentation</vt:lpstr>
      <vt:lpstr>[examples]</vt:lpstr>
      <vt:lpstr>Cow.java examples</vt:lpstr>
      <vt:lpstr>Week00</vt:lpstr>
      <vt:lpstr>introduce class</vt:lpstr>
      <vt:lpstr>what is CS 136?</vt:lpstr>
      <vt:lpstr>introduce self</vt:lpstr>
      <vt:lpstr>hi, i'm jim.</vt:lpstr>
      <vt:lpstr>hi, i'm jim</vt:lpstr>
      <vt:lpstr>here is my favorite houseplant</vt:lpstr>
      <vt:lpstr>PowerPoint Presentation</vt:lpstr>
      <vt:lpstr>here is some art i did</vt:lpstr>
      <vt:lpstr>PowerPoint Presentation</vt:lpstr>
      <vt:lpstr>here is some code i wrote</vt:lpstr>
      <vt:lpstr>[show Conversation]</vt:lpstr>
      <vt:lpstr>here are my goals for the course</vt:lpstr>
      <vt:lpstr>i want you to... 1. have fun doing cool homework 2. not feel stressed about this class</vt:lpstr>
      <vt:lpstr>PowerPoint Presentation</vt:lpstr>
      <vt:lpstr>PowerPoint Presentation</vt:lpstr>
      <vt:lpstr>take roll</vt:lpstr>
      <vt:lpstr>this is the only time i will ever take roll</vt:lpstr>
      <vt:lpstr>syllabus</vt:lpstr>
      <vt:lpstr>syllabus</vt:lpstr>
      <vt:lpstr>syllabus</vt:lpstr>
      <vt:lpstr>syllabus</vt:lpstr>
      <vt:lpstr>the syllabus is online https://github.com/james-bern/CS136/wiki</vt:lpstr>
      <vt:lpstr>😈 AI</vt:lpstr>
      <vt:lpstr>😈 about AI</vt:lpstr>
      <vt:lpstr>so...</vt:lpstr>
      <vt:lpstr>things are really weird right now</vt:lpstr>
      <vt:lpstr>😈and AI can definitely do CS 136 </vt:lpstr>
      <vt:lpstr>how to use AI (i believe the kids call this prompt engineering)</vt:lpstr>
      <vt:lpstr>PowerPoint Presentation</vt:lpstr>
      <vt:lpstr>😈 AI policy</vt:lpstr>
      <vt:lpstr>no AI. 🙅</vt:lpstr>
      <vt:lpstr>PowerPoint Presentation</vt:lpstr>
      <vt:lpstr>PowerPoint Presentation</vt:lpstr>
      <vt:lpstr>PowerPoint Presentation</vt:lpstr>
      <vt:lpstr>PowerPoint Presentation</vt:lpstr>
      <vt:lpstr>PowerPoint Presentation</vt:lpstr>
      <vt:lpstr>the website will have Documentation and Frequently Asked Questions 🙂👍</vt:lpstr>
      <vt:lpstr>also we have really awesome TA's 🙂👍 (we enjoy helping you with homework that's why we have this job)</vt:lpstr>
      <vt:lpstr>it's gonna buff out 🙂👍</vt:lpstr>
      <vt:lpstr>rationale for AI policy</vt:lpstr>
      <vt:lpstr>so let's have a nice semester and learn some cool stuff 🙂👍</vt:lpstr>
      <vt:lpstr>PowerPoint Presentation</vt:lpstr>
      <vt:lpstr>PowerPoint Presentation</vt:lpstr>
      <vt:lpstr>PowerPoint Presentation</vt:lpstr>
      <vt:lpstr>grading</vt:lpstr>
      <vt:lpstr>final grade</vt:lpstr>
      <vt:lpstr>homework and homework interviews</vt:lpstr>
      <vt:lpstr>midterm and final</vt:lpstr>
      <vt:lpstr>grading is meant to be low stress 🙂👍</vt:lpstr>
      <vt:lpstr>collaboration</vt:lpstr>
      <vt:lpstr>PowerPoint Presentation</vt:lpstr>
      <vt:lpstr>PowerPoint Presentation</vt:lpstr>
      <vt:lpstr>Java</vt:lpstr>
      <vt:lpstr>Java</vt:lpstr>
      <vt:lpstr>☕️</vt:lpstr>
      <vt:lpstr>this class is in a language called Java</vt:lpstr>
      <vt:lpstr>it also uses a library i wrote called Cow.Java to help you make games and interactive apps</vt:lpstr>
      <vt:lpstr>type</vt:lpstr>
      <vt:lpstr>type</vt:lpstr>
      <vt:lpstr>a variable in Java has a type "what kind of thing is this variable?"</vt:lpstr>
      <vt:lpstr>declaring and initializing are separate things (that can, optionally, be combined on one line)</vt:lpstr>
      <vt:lpstr>primitive types</vt:lpstr>
      <vt:lpstr>primitive types</vt:lpstr>
      <vt:lpstr>boolean, char, double, int</vt:lpstr>
      <vt:lpstr>primitive type Venn diagram</vt:lpstr>
      <vt:lpstr>char is an integer type</vt:lpstr>
      <vt:lpstr>zero</vt:lpstr>
      <vt:lpstr>whitespace</vt:lpstr>
      <vt:lpstr>whitespace</vt:lpstr>
      <vt:lpstr>whitespace</vt:lpstr>
      <vt:lpstr>scope</vt:lpstr>
      <vt:lpstr>scope</vt:lpstr>
      <vt:lpstr>scope</vt:lpstr>
      <vt:lpstr>common scope-related errors</vt:lpstr>
      <vt:lpstr>cannot be resolved to a variable</vt:lpstr>
      <vt:lpstr>cannot be resolved to a variable</vt:lpstr>
      <vt:lpstr>duplicate local variable</vt:lpstr>
      <vt:lpstr>duplicate local variable</vt:lpstr>
      <vt:lpstr>PowerPoint Presentation</vt:lpstr>
      <vt:lpstr>success tips</vt:lpstr>
      <vt:lpstr>success tips (1/3)</vt:lpstr>
      <vt:lpstr>success tips (2/3)</vt:lpstr>
      <vt:lpstr>most importantly though</vt:lpstr>
      <vt:lpstr>PowerPoint Presentation</vt:lpstr>
      <vt:lpstr>PowerPoint Presentation</vt:lpstr>
      <vt:lpstr>PowerPoint Presentation</vt:lpstr>
      <vt:lpstr>HW00 due on Monday (if you have trouble with setup, go to TA help hours; you can also shoot me an email) see you then! 🌞</vt:lpstr>
      <vt:lpstr>PowerPoint Presentation</vt:lpstr>
      <vt:lpstr>☕️ the art of coding things in the right order compile and run early compile and run often</vt:lpstr>
      <vt:lpstr>why implement Rule 22 first? why not just skip straight to the general case?</vt:lpstr>
      <vt:lpstr>well, let us imagine...</vt:lpstr>
      <vt:lpstr>let's imagine...</vt:lpstr>
      <vt:lpstr>...the reality is ✨so much worse✨!</vt:lpstr>
      <vt:lpstr>because broken code likes to interact with other broken code, to make✨super bugs✨!</vt:lpstr>
      <vt:lpstr>PowerPoint Presentation</vt:lpstr>
      <vt:lpstr>PowerPoint Presentation</vt:lpstr>
      <vt:lpstr>PowerPoint Presentation</vt:lpstr>
      <vt:lpstr>PowerPoint Presentation</vt:lpstr>
      <vt:lpstr>PowerPoint Presentation</vt:lpstr>
      <vt:lpstr>big lesson</vt:lpstr>
      <vt:lpstr>this is a learned skill!</vt:lpstr>
      <vt:lpstr>in summary</vt:lpstr>
      <vt:lpstr>colloquium</vt:lpstr>
      <vt:lpstr>where is everyone?</vt:lpstr>
      <vt:lpstr>San Diego 🌞🏝️🏄‍♀️🌮</vt:lpstr>
      <vt:lpstr>we have snacks!</vt:lpstr>
      <vt:lpstr>wait till the end 🍪</vt:lpstr>
      <vt:lpstr>wait till the end 🥲</vt:lpstr>
      <vt:lpstr>🥲</vt:lpstr>
      <vt:lpstr>🍪</vt:lpstr>
      <vt:lpstr>odd.</vt:lpstr>
      <vt:lpstr>announcements</vt:lpstr>
      <vt:lpstr>juggling club is after colloquium 🤹‍♀️</vt:lpstr>
      <vt:lpstr>juggging club after colloquium 🤹‍♀️</vt:lpstr>
      <vt:lpstr>note: alumnus Rich Ward '89 sent us juggling clubs!  they are fun and purple and gold </vt:lpstr>
      <vt:lpstr>PowerPoint Presentation</vt:lpstr>
      <vt:lpstr>PowerPoint Presentation</vt:lpstr>
      <vt:lpstr>note: alumnus Rich Ward '89 sent us juggling clubs!  they are fun and purple and gold </vt:lpstr>
      <vt:lpstr>note: in unrelated news, the Registered Student Organization  known as the Williams Juggling Club is now the Ward Juggling Club ✨</vt:lpstr>
      <vt:lpstr>:D</vt:lpstr>
      <vt:lpstr>any other announcements?</vt:lpstr>
      <vt:lpstr>speaker</vt:lpstr>
      <vt:lpstr>Hannah Gommerstadt</vt:lpstr>
      <vt:lpstr>int a =      5;     int b=8;  </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8</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Helvetica</vt:lpstr>
      <vt:lpstr>System Font Regular</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how to read step-by-step diffs</dc:title>
  <dc:creator/>
  <cp:keywords/>
  <cp:lastModifiedBy>James Bern</cp:lastModifiedBy>
  <cp:revision>761</cp:revision>
  <cp:lastPrinted>2026-10-19T15:48:01Z</cp:lastPrinted>
  <dcterms:created xsi:type="dcterms:W3CDTF">2023-06-11T17:47:53Z</dcterms:created>
  <dcterms:modified xsi:type="dcterms:W3CDTF">2026-10-19T15:48:04Z</dcterms:modified>
</cp:coreProperties>
</file>
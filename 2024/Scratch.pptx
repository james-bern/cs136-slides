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4"/>
  </p:notesMasterIdLst>
  <p:handoutMasterIdLst>
    <p:handoutMasterId r:id="rId95"/>
  </p:handoutMasterIdLst>
  <p:sldIdLst>
    <p:sldId id="3821" r:id="rId2"/>
    <p:sldId id="3817" r:id="rId3"/>
    <p:sldId id="3818" r:id="rId4"/>
    <p:sldId id="3819" r:id="rId5"/>
    <p:sldId id="3820" r:id="rId6"/>
    <p:sldId id="3638" r:id="rId7"/>
    <p:sldId id="3794" r:id="rId8"/>
    <p:sldId id="3816" r:id="rId9"/>
    <p:sldId id="3822" r:id="rId10"/>
    <p:sldId id="3796" r:id="rId11"/>
    <p:sldId id="3857" r:id="rId12"/>
    <p:sldId id="3858" r:id="rId13"/>
    <p:sldId id="3859" r:id="rId14"/>
    <p:sldId id="3648" r:id="rId15"/>
    <p:sldId id="3641" r:id="rId16"/>
    <p:sldId id="3642" r:id="rId17"/>
    <p:sldId id="3643" r:id="rId18"/>
    <p:sldId id="3653" r:id="rId19"/>
    <p:sldId id="3649" r:id="rId20"/>
    <p:sldId id="3656" r:id="rId21"/>
    <p:sldId id="3651" r:id="rId22"/>
    <p:sldId id="3657" r:id="rId23"/>
    <p:sldId id="3652" r:id="rId24"/>
    <p:sldId id="3659" r:id="rId25"/>
    <p:sldId id="3661" r:id="rId26"/>
    <p:sldId id="3663" r:id="rId27"/>
    <p:sldId id="3664" r:id="rId28"/>
    <p:sldId id="3665" r:id="rId29"/>
    <p:sldId id="3666" r:id="rId30"/>
    <p:sldId id="3667" r:id="rId31"/>
    <p:sldId id="3673" r:id="rId32"/>
    <p:sldId id="3669" r:id="rId33"/>
    <p:sldId id="3670" r:id="rId34"/>
    <p:sldId id="3671" r:id="rId35"/>
    <p:sldId id="3672" r:id="rId36"/>
    <p:sldId id="3797" r:id="rId37"/>
    <p:sldId id="3798" r:id="rId38"/>
    <p:sldId id="3825" r:id="rId39"/>
    <p:sldId id="3826" r:id="rId40"/>
    <p:sldId id="3827" r:id="rId41"/>
    <p:sldId id="3861" r:id="rId42"/>
    <p:sldId id="3807" r:id="rId43"/>
    <p:sldId id="3824" r:id="rId44"/>
    <p:sldId id="3860" r:id="rId45"/>
    <p:sldId id="3829" r:id="rId46"/>
    <p:sldId id="3800" r:id="rId47"/>
    <p:sldId id="3801" r:id="rId48"/>
    <p:sldId id="3808" r:id="rId49"/>
    <p:sldId id="3809" r:id="rId50"/>
    <p:sldId id="3810" r:id="rId51"/>
    <p:sldId id="3811" r:id="rId52"/>
    <p:sldId id="3830" r:id="rId53"/>
    <p:sldId id="3831" r:id="rId54"/>
    <p:sldId id="3838" r:id="rId55"/>
    <p:sldId id="3841" r:id="rId56"/>
    <p:sldId id="3842" r:id="rId57"/>
    <p:sldId id="3862" r:id="rId58"/>
    <p:sldId id="3856" r:id="rId59"/>
    <p:sldId id="3844" r:id="rId60"/>
    <p:sldId id="3832" r:id="rId61"/>
    <p:sldId id="3845" r:id="rId62"/>
    <p:sldId id="3848" r:id="rId63"/>
    <p:sldId id="3846" r:id="rId64"/>
    <p:sldId id="3847" r:id="rId65"/>
    <p:sldId id="3849" r:id="rId66"/>
    <p:sldId id="3866" r:id="rId67"/>
    <p:sldId id="3867" r:id="rId68"/>
    <p:sldId id="3868" r:id="rId69"/>
    <p:sldId id="3850" r:id="rId70"/>
    <p:sldId id="3851" r:id="rId71"/>
    <p:sldId id="3854" r:id="rId72"/>
    <p:sldId id="3852" r:id="rId73"/>
    <p:sldId id="3853" r:id="rId74"/>
    <p:sldId id="3855" r:id="rId75"/>
    <p:sldId id="3837" r:id="rId76"/>
    <p:sldId id="3872" r:id="rId77"/>
    <p:sldId id="3873" r:id="rId78"/>
    <p:sldId id="3874" r:id="rId79"/>
    <p:sldId id="3875" r:id="rId80"/>
    <p:sldId id="3876" r:id="rId81"/>
    <p:sldId id="3877" r:id="rId82"/>
    <p:sldId id="3878" r:id="rId83"/>
    <p:sldId id="3879" r:id="rId84"/>
    <p:sldId id="3880" r:id="rId85"/>
    <p:sldId id="3896" r:id="rId86"/>
    <p:sldId id="3897" r:id="rId87"/>
    <p:sldId id="3881" r:id="rId88"/>
    <p:sldId id="3882" r:id="rId89"/>
    <p:sldId id="3883" r:id="rId90"/>
    <p:sldId id="3884" r:id="rId91"/>
    <p:sldId id="3885" r:id="rId92"/>
    <p:sldId id="3886" r:id="rId9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04" id="{3D9FD960-3EBB-8847-A37F-7B90E0FC90C6}">
          <p14:sldIdLst>
            <p14:sldId id="3821"/>
            <p14:sldId id="3817"/>
            <p14:sldId id="3818"/>
            <p14:sldId id="3819"/>
            <p14:sldId id="3820"/>
            <p14:sldId id="3638"/>
            <p14:sldId id="3794"/>
            <p14:sldId id="3816"/>
            <p14:sldId id="3822"/>
            <p14:sldId id="3796"/>
            <p14:sldId id="3857"/>
            <p14:sldId id="3858"/>
            <p14:sldId id="3859"/>
            <p14:sldId id="3648"/>
            <p14:sldId id="3641"/>
            <p14:sldId id="3642"/>
            <p14:sldId id="3643"/>
            <p14:sldId id="3653"/>
            <p14:sldId id="3649"/>
            <p14:sldId id="3656"/>
            <p14:sldId id="3651"/>
            <p14:sldId id="3657"/>
            <p14:sldId id="3652"/>
            <p14:sldId id="3659"/>
            <p14:sldId id="3661"/>
            <p14:sldId id="3663"/>
            <p14:sldId id="3664"/>
            <p14:sldId id="3665"/>
            <p14:sldId id="3666"/>
            <p14:sldId id="3667"/>
            <p14:sldId id="3673"/>
            <p14:sldId id="3669"/>
            <p14:sldId id="3670"/>
            <p14:sldId id="3671"/>
            <p14:sldId id="3672"/>
            <p14:sldId id="3797"/>
            <p14:sldId id="3798"/>
            <p14:sldId id="3825"/>
            <p14:sldId id="3826"/>
            <p14:sldId id="3827"/>
            <p14:sldId id="3861"/>
            <p14:sldId id="3807"/>
            <p14:sldId id="3824"/>
            <p14:sldId id="3860"/>
            <p14:sldId id="3829"/>
            <p14:sldId id="3800"/>
            <p14:sldId id="3801"/>
            <p14:sldId id="3808"/>
            <p14:sldId id="3809"/>
            <p14:sldId id="3810"/>
            <p14:sldId id="3811"/>
            <p14:sldId id="3830"/>
            <p14:sldId id="3831"/>
            <p14:sldId id="3838"/>
            <p14:sldId id="3841"/>
            <p14:sldId id="3842"/>
            <p14:sldId id="3862"/>
            <p14:sldId id="3856"/>
            <p14:sldId id="3844"/>
            <p14:sldId id="3832"/>
            <p14:sldId id="3845"/>
            <p14:sldId id="3848"/>
            <p14:sldId id="3846"/>
            <p14:sldId id="3847"/>
            <p14:sldId id="3849"/>
            <p14:sldId id="3866"/>
            <p14:sldId id="3867"/>
            <p14:sldId id="3868"/>
            <p14:sldId id="3850"/>
            <p14:sldId id="3851"/>
            <p14:sldId id="3854"/>
            <p14:sldId id="3852"/>
            <p14:sldId id="3853"/>
            <p14:sldId id="3855"/>
            <p14:sldId id="3837"/>
            <p14:sldId id="3872"/>
            <p14:sldId id="3873"/>
            <p14:sldId id="3874"/>
            <p14:sldId id="3875"/>
            <p14:sldId id="3876"/>
            <p14:sldId id="3877"/>
            <p14:sldId id="3878"/>
            <p14:sldId id="3879"/>
            <p14:sldId id="3880"/>
            <p14:sldId id="3896"/>
            <p14:sldId id="3897"/>
            <p14:sldId id="3881"/>
            <p14:sldId id="3882"/>
            <p14:sldId id="3883"/>
            <p14:sldId id="3884"/>
            <p14:sldId id="3885"/>
            <p14:sldId id="38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0B8D"/>
    <a:srgbClr val="321B41"/>
    <a:srgbClr val="0AB5B6"/>
    <a:srgbClr val="011893"/>
    <a:srgbClr val="0432FF"/>
    <a:srgbClr val="04A6ED"/>
    <a:srgbClr val="FF6568"/>
    <a:srgbClr val="923A3A"/>
    <a:srgbClr val="FBF7D9"/>
    <a:srgbClr val="00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 autoAdjust="0"/>
    <p:restoredTop sz="94521" autoAdjust="0"/>
  </p:normalViewPr>
  <p:slideViewPr>
    <p:cSldViewPr snapToGrid="0" snapToObjects="1">
      <p:cViewPr varScale="1">
        <p:scale>
          <a:sx n="125" d="100"/>
          <a:sy n="125" d="100"/>
        </p:scale>
        <p:origin x="136" y="9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2850"/>
    </p:cViewPr>
  </p:sorterViewPr>
  <p:notesViewPr>
    <p:cSldViewPr snapToGrid="0" snapToObjects="1">
      <p:cViewPr varScale="1">
        <p:scale>
          <a:sx n="97" d="100"/>
          <a:sy n="97" d="100"/>
        </p:scale>
        <p:origin x="397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0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022DE-6AFB-7B42-B89D-CD8E93E79A8E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C4E7A-80A7-5241-AF5C-0BCAFE71C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4648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8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586B-A4C0-42AB-B9AF-008C40E8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4717C-75AE-6E2E-07DF-536F17D43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22484-52CB-2F31-730A-8F927026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4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35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42D9-F689-C8CD-FB87-FFA6F9B5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5A369-67B3-5493-B531-9CFC06FD5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262CE-5B40-ECB8-285E-230204731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70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B385B-DCC5-2550-7DC2-4F77C3E5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1654A-906F-A44B-5CA8-AA6F77F23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F1EBC-84BC-8E71-FB03-FCCBD1C61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01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376BF-8226-99B5-69FB-75D9BCFE7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EB499-1402-3E9E-204C-9168F00EE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6EB46-DDB1-5A14-B6F6-59EAF785C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23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7B83-04D4-7490-EE10-11DC5B01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B2285-4023-7356-3694-5AECBD1F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29061-7A56-ADAF-CBDE-B6CE72B84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80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9045-4BBB-D012-7A2D-D6E73CAD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B27A4-83CA-2496-3E63-42B35AA04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6DBCE7-970B-AC68-EE6B-52BB99DB3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02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CC38-67F5-2CAD-C980-FD219B0C3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1A6C3-FF11-CA4E-EB76-89DDE4603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9F2AA-AA1A-0D59-63D1-3817E2A04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5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81B5-BE52-D68B-8B8F-DC6F4E74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C99EB-21A7-9646-8CE6-A093DD7E7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C1D96-0870-84C2-10E6-9A6555054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66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D5D01-8292-144F-45F6-2FC1045D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1DCC7-2DBF-01D7-3820-94E65F0A5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2B7E4-8775-155A-039D-56CD2BE18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92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00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4885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86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C270-9E2A-9887-1791-BAD605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937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841267-28AC-80B7-D7CA-A6B24D4AD3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4916"/>
            <a:ext cx="8229600" cy="66716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NO ANIMATION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841267-28AC-80B7-D7CA-A6B24D4AD3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7"/>
            <a:ext cx="8229600" cy="40802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011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4916"/>
            <a:ext cx="8229600" cy="66716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NO BODY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5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28124-4892-6AA8-D99C-4A30F8253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4916"/>
            <a:ext cx="8229600" cy="1893924"/>
          </a:xfrm>
        </p:spPr>
        <p:txBody>
          <a:bodyPr>
            <a:noAutofit/>
          </a:bodyPr>
          <a:lstStyle>
            <a:lvl1pPr algn="l">
              <a:defRPr sz="11500"/>
            </a:lvl1pPr>
          </a:lstStyle>
          <a:p>
            <a:r>
              <a:rPr lang="en-US" dirty="0"/>
              <a:t>WeekXX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9841267-28AC-80B7-D7CA-A6B24D4AD3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2148840"/>
            <a:ext cx="8229600" cy="2894768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800"/>
            </a:lvl2pPr>
            <a:lvl3pPr>
              <a:buClr>
                <a:schemeClr val="tx1"/>
              </a:buClr>
              <a:defRPr sz="2800"/>
            </a:lvl3pPr>
            <a:lvl4pPr>
              <a:buClr>
                <a:schemeClr val="tx1"/>
              </a:buClr>
              <a:defRPr sz="2800"/>
            </a:lvl4pPr>
            <a:lvl5pPr>
              <a:buClr>
                <a:schemeClr val="tx1"/>
              </a:buCl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60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B0728FC-A0A7-2C5E-73E0-FFC7598E9FB1}"/>
              </a:ext>
            </a:extLst>
          </p:cNvPr>
          <p:cNvSpPr txBox="1"/>
          <p:nvPr userDrawn="1"/>
        </p:nvSpPr>
        <p:spPr>
          <a:xfrm>
            <a:off x="2768237" y="1824402"/>
            <a:ext cx="32112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egoe UI Emoji" panose="020B0502040204020203" pitchFamily="34" charset="0"/>
                <a:cs typeface="+mn-cs"/>
              </a:rPr>
              <a:t> 🤨</a:t>
            </a: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🤨🤨</a:t>
            </a:r>
            <a:endParaRPr lang="en-US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8E335-76A3-8597-71D6-87CB9A2A96CB}"/>
              </a:ext>
            </a:extLst>
          </p:cNvPr>
          <p:cNvSpPr/>
          <p:nvPr userDrawn="1"/>
        </p:nvSpPr>
        <p:spPr>
          <a:xfrm>
            <a:off x="2926080" y="2431075"/>
            <a:ext cx="2895600" cy="67183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 w="0"/>
                <a:solidFill>
                  <a:schemeClr val="bg1"/>
                </a:solidFill>
                <a:effectLst/>
                <a:uLnTx/>
                <a:uFillTx/>
                <a:latin typeface="+mn-lt"/>
                <a:ea typeface="Segoe UI Emoji" panose="020B0502040204020203" pitchFamily="34" charset="0"/>
                <a:cs typeface="Consolas" panose="020B0609020204030204" pitchFamily="49" charset="0"/>
              </a:rPr>
              <a:t> questions?</a:t>
            </a:r>
            <a:endParaRPr lang="en-US" sz="1100" b="0" cap="none" spc="0" baseline="0">
              <a:ln w="0"/>
              <a:solidFill>
                <a:schemeClr val="bg1"/>
              </a:solidFill>
              <a:effectLst/>
              <a:latin typeface="+mn-lt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26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 flip="none" rotWithShape="1">
          <a:gsLst>
            <a:gs pos="0">
              <a:schemeClr val="accent1"/>
            </a:gs>
            <a:gs pos="15000">
              <a:schemeClr val="accent2"/>
            </a:gs>
            <a:gs pos="27000">
              <a:schemeClr val="accent3"/>
            </a:gs>
            <a:gs pos="42000">
              <a:schemeClr val="accent4"/>
            </a:gs>
            <a:gs pos="51000">
              <a:schemeClr val="accent5"/>
            </a:gs>
            <a:gs pos="75000">
              <a:schemeClr val="accent6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46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1" r:id="rId2"/>
    <p:sldLayoutId id="2147483657" r:id="rId3"/>
    <p:sldLayoutId id="2147483660" r:id="rId4"/>
    <p:sldLayoutId id="2147483650" r:id="rId5"/>
    <p:sldLayoutId id="2147483659" r:id="rId6"/>
    <p:sldLayoutId id="2147483662" r:id="rId7"/>
    <p:sldLayoutId id="2147483655" r:id="rId8"/>
    <p:sldLayoutId id="2147483664" r:id="rId9"/>
    <p:sldLayoutId id="2147483665" r:id="rId10"/>
    <p:sldLayoutId id="2147483663" r:id="rId11"/>
  </p:sldLayoutIdLst>
  <p:txStyles>
    <p:titleStyle>
      <a:lvl1pPr algn="ctr" defTabSz="342886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n-lt"/>
          <a:ea typeface="Segoe UI Emoji" panose="020B0502040204020203" pitchFamily="34" charset="0"/>
          <a:cs typeface="+mj-cs"/>
        </a:defRPr>
      </a:lvl1pPr>
    </p:titleStyle>
    <p:bodyStyle>
      <a:lvl1pPr marL="285739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1pPr>
      <a:lvl2pPr marL="628625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2pPr>
      <a:lvl3pPr marL="971511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3pPr>
      <a:lvl4pPr marL="1314397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4pPr>
      <a:lvl5pPr marL="1657284" indent="-285739" algn="l" defTabSz="342886" rtl="0" eaLnBrk="1" latinLnBrk="0" hangingPunct="1">
        <a:spcBef>
          <a:spcPct val="20000"/>
        </a:spcBef>
        <a:buClr>
          <a:schemeClr val="bg1">
            <a:lumMod val="65000"/>
          </a:schemeClr>
        </a:buClr>
        <a:buFont typeface="System Font Regular"/>
        <a:buChar char="−"/>
        <a:defRPr sz="1800" kern="1200">
          <a:solidFill>
            <a:schemeClr val="tx1"/>
          </a:solidFill>
          <a:latin typeface="+mn-lt"/>
          <a:ea typeface="Segoe UI Emoji" panose="020B0502040204020203" pitchFamily="34" charset="0"/>
          <a:cs typeface="+mn-cs"/>
        </a:defRPr>
      </a:lvl5pPr>
      <a:lvl6pPr marL="2057318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04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090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5977" indent="-342886" algn="l" defTabSz="342886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1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0" algn="l" defTabSz="34288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CCC18-07C4-C3A4-4915-ECE0E969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xotic and Magnificent Hawaiian Islands">
            <a:extLst>
              <a:ext uri="{FF2B5EF4-FFF2-40B4-BE49-F238E27FC236}">
                <a16:creationId xmlns:a16="http://schemas.microsoft.com/office/drawing/2014/main" id="{37EE7223-D39E-AAA1-7BF3-286DEF8FB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974" y="468276"/>
            <a:ext cx="6494676" cy="4329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DA0865-51E4-C8DD-9A4F-0910631EF245}"/>
              </a:ext>
            </a:extLst>
          </p:cNvPr>
          <p:cNvSpPr txBox="1"/>
          <p:nvPr/>
        </p:nvSpPr>
        <p:spPr>
          <a:xfrm>
            <a:off x="4508390" y="-140969"/>
            <a:ext cx="463561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🌋</a:t>
            </a:r>
            <a:endParaRPr lang="en-US" sz="800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7C2BCB-2219-3786-226B-5A20363F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4805680" cy="1893924"/>
          </a:xfrm>
          <a:solidFill>
            <a:schemeClr val="bg1"/>
          </a:solidFill>
        </p:spPr>
        <p:txBody>
          <a:bodyPr/>
          <a:lstStyle/>
          <a:p>
            <a:r>
              <a:rPr lang="en-US" sz="9600"/>
              <a:t>Week04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D8616A-ED01-C7F1-D11D-8FAD0484FE0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993732"/>
            <a:ext cx="3322320" cy="1000929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5400"/>
              <a:t>array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9E523-6B13-860B-0978-768F37C641EB}"/>
              </a:ext>
            </a:extLst>
          </p:cNvPr>
          <p:cNvSpPr txBox="1"/>
          <p:nvPr/>
        </p:nvSpPr>
        <p:spPr>
          <a:xfrm>
            <a:off x="5057029" y="2208419"/>
            <a:ext cx="34489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🦜🦜🦜🦜</a:t>
            </a:r>
            <a:endParaRPr lang="en-US" sz="4400"/>
          </a:p>
          <a:p>
            <a:pPr algn="ctr"/>
            <a:endParaRPr lang="en-US" sz="4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83FED-BF91-E4E5-2F71-2138525975CB}"/>
              </a:ext>
            </a:extLst>
          </p:cNvPr>
          <p:cNvSpPr txBox="1"/>
          <p:nvPr/>
        </p:nvSpPr>
        <p:spPr>
          <a:xfrm>
            <a:off x="4670016" y="2866027"/>
            <a:ext cx="4114800" cy="18158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WARMUP</a:t>
            </a:r>
          </a:p>
          <a:p>
            <a:pPr algn="ctr"/>
            <a:r>
              <a:rPr lang="en-US" sz="2800"/>
              <a:t>what is </a:t>
            </a:r>
            <a:r>
              <a:rPr lang="en-US" sz="2800" i="1"/>
              <a:t>data</a:t>
            </a:r>
            <a:r>
              <a:rPr lang="en-US" sz="2800"/>
              <a:t>?</a:t>
            </a:r>
          </a:p>
          <a:p>
            <a:pPr algn="ctr"/>
            <a:r>
              <a:rPr lang="en-US" sz="2800"/>
              <a:t>what is a data </a:t>
            </a:r>
            <a:r>
              <a:rPr lang="en-US" sz="2800" i="1"/>
              <a:t>structure</a:t>
            </a:r>
            <a:r>
              <a:rPr lang="en-US" sz="2800"/>
              <a:t>?</a:t>
            </a:r>
          </a:p>
          <a:p>
            <a:pPr algn="ctr"/>
            <a:r>
              <a:rPr lang="en-US" sz="2800" i="1"/>
              <a:t>why</a:t>
            </a:r>
            <a:r>
              <a:rPr lang="en-US" sz="2800"/>
              <a:t> are data structures?</a:t>
            </a:r>
            <a:endParaRPr lang="en-US" sz="2800" i="1"/>
          </a:p>
        </p:txBody>
      </p:sp>
    </p:spTree>
    <p:extLst>
      <p:ext uri="{BB962C8B-B14F-4D97-AF65-F5344CB8AC3E}">
        <p14:creationId xmlns:p14="http://schemas.microsoft.com/office/powerpoint/2010/main" val="4096801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E0C0-0CF5-A327-45E0-B8A20519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8ACE99-18B4-CAB7-D2FB-7E04D937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/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162088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5C0179-7D32-3DA2-5641-CE902ED7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06157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27051E-911F-8D01-E2DD-A4DAB9E1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data </a:t>
            </a:r>
            <a:r>
              <a:rPr lang="en-US"/>
              <a:t>is numbers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853378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F610-99D1-F8EE-12D5-24AFE0D9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data structure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helps you organizes your data...</a:t>
            </a:r>
            <a:b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b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3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...the right data structure for a task is...</a:t>
            </a:r>
            <a:br>
              <a:rPr lang="en-US" sz="3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3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 easy to work with -- </a:t>
            </a:r>
            <a:r>
              <a:rPr lang="en-US" sz="3200" b="1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programmer time</a:t>
            </a:r>
            <a:br>
              <a:rPr lang="en-US" sz="3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3200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 </a:t>
            </a:r>
            <a:r>
              <a:rPr lang="en-US" sz="3200">
                <a:solidFill>
                  <a:srgbClr val="202122"/>
                </a:solidFill>
                <a:latin typeface="Arial" panose="020B0604020202020204" pitchFamily="34" charset="0"/>
              </a:rPr>
              <a:t>runs fast -- </a:t>
            </a:r>
            <a:r>
              <a:rPr lang="en-US" sz="3200" b="1">
                <a:solidFill>
                  <a:srgbClr val="202122"/>
                </a:solidFill>
                <a:latin typeface="Arial" panose="020B0604020202020204" pitchFamily="34" charset="0"/>
              </a:rPr>
              <a:t>runtime</a:t>
            </a:r>
            <a:r>
              <a:rPr lang="en-US" sz="3200">
                <a:solidFill>
                  <a:srgbClr val="202122"/>
                </a:solidFill>
                <a:latin typeface="Arial" panose="020B0604020202020204" pitchFamily="34" charset="0"/>
              </a:rPr>
              <a:t> (user time)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4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47AC-604E-F09B-A34A-45F4DBFE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4FFF69-C200-7A0D-737F-0618F90E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 list</a:t>
            </a:r>
          </a:p>
        </p:txBody>
      </p:sp>
    </p:spTree>
    <p:extLst>
      <p:ext uri="{BB962C8B-B14F-4D97-AF65-F5344CB8AC3E}">
        <p14:creationId xmlns:p14="http://schemas.microsoft.com/office/powerpoint/2010/main" val="341806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B75D-8D2E-2971-9B8A-957B242A1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A16D01-05B6-6ED3-2A39-56F1C9BD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673539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987B96-056C-1C9E-AD6D-1A4AA331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are super useful, but...</a:t>
            </a:r>
          </a:p>
        </p:txBody>
      </p:sp>
    </p:spTree>
    <p:extLst>
      <p:ext uri="{BB962C8B-B14F-4D97-AF65-F5344CB8AC3E}">
        <p14:creationId xmlns:p14="http://schemas.microsoft.com/office/powerpoint/2010/main" val="106801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33DF1-B0D7-4540-99B9-7D26D305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746FBB-F755-C607-C48A-51064288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arrays are super useful, but...</a:t>
            </a:r>
            <a:br>
              <a:rPr lang="en-US"/>
            </a:br>
            <a:r>
              <a:rPr lang="en-US"/>
              <a:t>🧠</a:t>
            </a:r>
          </a:p>
        </p:txBody>
      </p:sp>
    </p:spTree>
    <p:extLst>
      <p:ext uri="{BB962C8B-B14F-4D97-AF65-F5344CB8AC3E}">
        <p14:creationId xmlns:p14="http://schemas.microsoft.com/office/powerpoint/2010/main" val="228963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FFC69-009B-F894-86F7-7B4013D0C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7FB24E-F5DF-FECE-6C47-5C43A1EA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/>
              <a:t>main limitation of arrays:</a:t>
            </a:r>
            <a:r>
              <a:rPr lang="en-US" sz="2800"/>
              <a:t> can't change length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BD326-60CE-DCDA-5EDC-5D732253337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/>
                  <a:t>🔄 an </a:t>
                </a:r>
                <a:r>
                  <a:rPr lang="en-US" b="1"/>
                  <a:t>array</a:t>
                </a:r>
                <a:r>
                  <a:rPr lang="en-US"/>
                  <a:t> is a fixed-length sequence of elements all of the same type</a:t>
                </a:r>
              </a:p>
              <a:p>
                <a:r>
                  <a:rPr lang="en-US"/>
                  <a:t>😀 very fast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/>
                  <a:t> access), very simple</a:t>
                </a:r>
              </a:p>
              <a:p>
                <a:r>
                  <a:rPr lang="en-US"/>
                  <a:t>😫 but what if we don't know how many elements we need?</a:t>
                </a:r>
              </a:p>
              <a:p>
                <a:pPr lvl="1"/>
                <a:r>
                  <a:rPr lang="en-US" b="1"/>
                  <a:t>🐘 solution A: </a:t>
                </a:r>
                <a:r>
                  <a:rPr lang="en-US"/>
                  <a:t>make a</a:t>
                </a:r>
                <a:r>
                  <a:rPr lang="en-US" b="1"/>
                  <a:t> </a:t>
                </a:r>
                <a:r>
                  <a:rPr lang="en-US"/>
                  <a:t>BIG array</a:t>
                </a:r>
              </a:p>
              <a:p>
                <a:pPr lvl="2"/>
                <a:r>
                  <a:rPr lang="en-US"/>
                  <a:t>🔄 </a:t>
                </a:r>
                <a:r>
                  <a:rPr lang="en-US">
                    <a:latin typeface="+mj-lt"/>
                  </a:rPr>
                  <a:t>pool = </a:t>
                </a:r>
                <a:r>
                  <a:rPr lang="en-US">
                    <a:solidFill>
                      <a:srgbClr val="0000FF"/>
                    </a:solidFill>
                    <a:effectLst/>
                    <a:latin typeface="+mj-lt"/>
                  </a:rPr>
                  <a:t>new</a:t>
                </a:r>
                <a:r>
                  <a:rPr lang="en-US">
                    <a:latin typeface="+mj-lt"/>
                  </a:rPr>
                  <a:t> </a:t>
                </a:r>
                <a:r>
                  <a:rPr lang="en-US">
                    <a:solidFill>
                      <a:srgbClr val="000080"/>
                    </a:solidFill>
                    <a:effectLst/>
                    <a:latin typeface="+mj-lt"/>
                  </a:rPr>
                  <a:t>Thing</a:t>
                </a:r>
                <a:r>
                  <a:rPr lang="en-US">
                    <a:latin typeface="+mj-lt"/>
                  </a:rPr>
                  <a:t>[</a:t>
                </a:r>
                <a:r>
                  <a:rPr lang="en-US">
                    <a:solidFill>
                      <a:srgbClr val="0CB5B5"/>
                    </a:solidFill>
                    <a:effectLst/>
                    <a:latin typeface="+mj-lt"/>
                  </a:rPr>
                  <a:t>256</a:t>
                </a:r>
                <a:r>
                  <a:rPr lang="en-US">
                    <a:latin typeface="+mj-lt"/>
                  </a:rPr>
                  <a:t>]; </a:t>
                </a:r>
                <a:r>
                  <a:rPr lang="en-US">
                    <a:solidFill>
                      <a:srgbClr val="007B00"/>
                    </a:solidFill>
                    <a:latin typeface="+mj-lt"/>
                  </a:rPr>
                  <a:t>// from HW03</a:t>
                </a:r>
              </a:p>
              <a:p>
                <a:pPr lvl="2"/>
                <a:r>
                  <a:rPr lang="en-US"/>
                  <a:t>🙂 simple</a:t>
                </a:r>
              </a:p>
              <a:p>
                <a:pPr lvl="2"/>
                <a:r>
                  <a:rPr lang="en-US"/>
                  <a:t>☹️ might end up being...</a:t>
                </a:r>
              </a:p>
              <a:p>
                <a:pPr lvl="3"/>
                <a:r>
                  <a:rPr lang="en-US" b="1"/>
                  <a:t>too long:</a:t>
                </a:r>
                <a:r>
                  <a:rPr lang="en-US"/>
                  <a:t> wastes space (often okay, but not always)</a:t>
                </a:r>
              </a:p>
              <a:p>
                <a:pPr lvl="3"/>
                <a:r>
                  <a:rPr lang="en-US" b="1"/>
                  <a:t>too short: </a:t>
                </a:r>
                <a:r>
                  <a:rPr lang="en-US"/>
                  <a:t>program crashes? (bad bad very bad)</a:t>
                </a:r>
              </a:p>
              <a:p>
                <a:pPr lvl="1"/>
                <a:r>
                  <a:rPr lang="en-US" b="1"/>
                  <a:t>🥕 solution B:</a:t>
                </a:r>
                <a:r>
                  <a:rPr lang="en-US"/>
                  <a:t> </a:t>
                </a:r>
                <a:r>
                  <a:rPr lang="en-US" i="1"/>
                  <a:t>grow the array </a:t>
                </a:r>
                <a:r>
                  <a:rPr lang="en-US"/>
                  <a:t>as needed (an </a:t>
                </a:r>
                <a:r>
                  <a:rPr lang="en-US" b="1"/>
                  <a:t>array list</a:t>
                </a:r>
                <a:r>
                  <a:rPr lang="en-US"/>
                  <a:t>)</a:t>
                </a:r>
              </a:p>
              <a:p>
                <a:pPr lvl="2"/>
                <a:r>
                  <a:rPr lang="en-US"/>
                  <a:t>🙂 pretty simple</a:t>
                </a:r>
              </a:p>
              <a:p>
                <a:pPr lvl="2"/>
                <a:r>
                  <a:rPr lang="en-US"/>
                  <a:t>🙂 pretty fast</a:t>
                </a:r>
              </a:p>
              <a:p>
                <a:pPr lvl="2"/>
                <a:endParaRPr lang="en-US"/>
              </a:p>
              <a:p>
                <a:pPr lvl="2"/>
                <a:endParaRPr lang="en-US" i="1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55BD326-60CE-DCDA-5EDC-5D7322533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3"/>
                <a:stretch>
                  <a:fillRect l="-617" t="-621" b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92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BAB5-1F40-947C-47F6-EC6F3FD0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F65A63-CC8C-C12F-DE1B-0B5090339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review: </a:t>
            </a:r>
            <a:r>
              <a:rPr lang="en-US"/>
              <a:t>array metaphor</a:t>
            </a:r>
          </a:p>
        </p:txBody>
      </p:sp>
    </p:spTree>
    <p:extLst>
      <p:ext uri="{BB962C8B-B14F-4D97-AF65-F5344CB8AC3E}">
        <p14:creationId xmlns:p14="http://schemas.microsoft.com/office/powerpoint/2010/main" val="784790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A44F-1B4B-2831-80CB-6839B56C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549F45-7C00-6A77-8BC2-ACA5BFE1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an array is like a very organized person's flower planter</a:t>
            </a:r>
            <a:br>
              <a:rPr lang="en-US"/>
            </a:br>
            <a:br>
              <a:rPr lang="en-US"/>
            </a:br>
            <a:r>
              <a:rPr lang="en-US"/>
              <a:t>- one flower per square</a:t>
            </a:r>
            <a:br>
              <a:rPr lang="en-US"/>
            </a:br>
            <a:r>
              <a:rPr lang="en-US"/>
              <a:t>- the planter can't change size</a:t>
            </a:r>
            <a:br>
              <a:rPr lang="en-US"/>
            </a:br>
            <a:r>
              <a:rPr lang="en-US" sz="4000"/>
              <a:t>  </a:t>
            </a:r>
            <a:r>
              <a:rPr lang="en-US" sz="2800"/>
              <a:t>(it is made of artisinal woods or something)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32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915E-5239-11F3-ECAD-353FFBC04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63D88B-6027-F848-33D2-05DE5A403C41}"/>
              </a:ext>
            </a:extLst>
          </p:cNvPr>
          <p:cNvSpPr/>
          <p:nvPr/>
        </p:nvSpPr>
        <p:spPr>
          <a:xfrm>
            <a:off x="1003852" y="1610139"/>
            <a:ext cx="6877878" cy="2385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850AC2-094C-389A-AAB7-066BC38F0641}"/>
              </a:ext>
            </a:extLst>
          </p:cNvPr>
          <p:cNvSpPr/>
          <p:nvPr/>
        </p:nvSpPr>
        <p:spPr>
          <a:xfrm>
            <a:off x="1003852" y="3294823"/>
            <a:ext cx="6877878" cy="2385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AECDE-37B6-4A38-F6ED-8EEF457E7D2D}"/>
              </a:ext>
            </a:extLst>
          </p:cNvPr>
          <p:cNvSpPr/>
          <p:nvPr/>
        </p:nvSpPr>
        <p:spPr>
          <a:xfrm rot="5400000">
            <a:off x="153271" y="2452481"/>
            <a:ext cx="1923223" cy="2385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AA2C1-EBFC-689F-E072-64372E02D37C}"/>
              </a:ext>
            </a:extLst>
          </p:cNvPr>
          <p:cNvSpPr/>
          <p:nvPr/>
        </p:nvSpPr>
        <p:spPr>
          <a:xfrm rot="5400000">
            <a:off x="6800849" y="2452480"/>
            <a:ext cx="1923223" cy="23853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26DB83-1CF0-C5B3-A288-1127B4FD0EDE}"/>
              </a:ext>
            </a:extLst>
          </p:cNvPr>
          <p:cNvSpPr/>
          <p:nvPr/>
        </p:nvSpPr>
        <p:spPr>
          <a:xfrm rot="5400000">
            <a:off x="1778903" y="2503314"/>
            <a:ext cx="1923223" cy="13687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33AF95-E318-D9AF-93F1-9FE29C3D45DA}"/>
              </a:ext>
            </a:extLst>
          </p:cNvPr>
          <p:cNvSpPr/>
          <p:nvPr/>
        </p:nvSpPr>
        <p:spPr>
          <a:xfrm rot="5400000">
            <a:off x="3404503" y="2503315"/>
            <a:ext cx="1923223" cy="13687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9660AF-7E3F-38EC-0349-F2DE1C66B1A8}"/>
              </a:ext>
            </a:extLst>
          </p:cNvPr>
          <p:cNvSpPr/>
          <p:nvPr/>
        </p:nvSpPr>
        <p:spPr>
          <a:xfrm rot="5400000">
            <a:off x="5080903" y="2503316"/>
            <a:ext cx="1923223" cy="13687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82E195-C5BC-4166-6083-462112CF92DC}"/>
              </a:ext>
            </a:extLst>
          </p:cNvPr>
          <p:cNvSpPr txBox="1"/>
          <p:nvPr/>
        </p:nvSpPr>
        <p:spPr>
          <a:xfrm>
            <a:off x="1148080" y="2187028"/>
            <a:ext cx="15747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🌹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7F6503-4287-FBD6-0761-D522DE8712B5}"/>
              </a:ext>
            </a:extLst>
          </p:cNvPr>
          <p:cNvSpPr txBox="1"/>
          <p:nvPr/>
        </p:nvSpPr>
        <p:spPr>
          <a:xfrm>
            <a:off x="2730643" y="2063716"/>
            <a:ext cx="15747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🌺</a:t>
            </a:r>
            <a:endParaRPr lang="en-US"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2B5F9F-AAFF-62D7-A922-FBCFBF33018F}"/>
              </a:ext>
            </a:extLst>
          </p:cNvPr>
          <p:cNvSpPr txBox="1"/>
          <p:nvPr/>
        </p:nvSpPr>
        <p:spPr>
          <a:xfrm>
            <a:off x="4383752" y="1848476"/>
            <a:ext cx="157479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8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🌻</a:t>
            </a:r>
            <a:endParaRPr lang="en-US" sz="4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D5604-2DAD-3F86-F9CC-51492B94CE5E}"/>
              </a:ext>
            </a:extLst>
          </p:cNvPr>
          <p:cNvSpPr txBox="1"/>
          <p:nvPr/>
        </p:nvSpPr>
        <p:spPr>
          <a:xfrm>
            <a:off x="6070312" y="2140661"/>
            <a:ext cx="15747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A185-7DE8-B115-FFE9-9B3520A7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0A9C91-86E7-A200-95C8-04D4B1B4E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an array list works</a:t>
            </a:r>
            <a:br>
              <a:rPr lang="en-US"/>
            </a:br>
            <a:r>
              <a:rPr lang="en-US"/>
              <a:t>(metaphor)</a:t>
            </a:r>
          </a:p>
        </p:txBody>
      </p:sp>
    </p:spTree>
    <p:extLst>
      <p:ext uri="{BB962C8B-B14F-4D97-AF65-F5344CB8AC3E}">
        <p14:creationId xmlns:p14="http://schemas.microsoft.com/office/powerpoint/2010/main" val="418256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2B3EB-E69B-30E3-D96E-E309B74A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859ADF-A950-1A1D-B564-6154F1B6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let us imagine...</a:t>
            </a:r>
          </a:p>
        </p:txBody>
      </p:sp>
      <p:pic>
        <p:nvPicPr>
          <p:cNvPr id="1026" name="Picture 2" descr="Imagination Spongebob | Know Your Meme">
            <a:extLst>
              <a:ext uri="{FF2B5EF4-FFF2-40B4-BE49-F238E27FC236}">
                <a16:creationId xmlns:a16="http://schemas.microsoft.com/office/drawing/2014/main" id="{F2C0CE71-00F0-4D41-B122-461916D59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84394"/>
            <a:ext cx="3048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802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B02A-B673-B6FF-DB4F-EA4B7F5C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E9D89-2A32-8A1A-C40A-D74D63FD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 have a bunch of pieces of produce you need to put somewhere for quick access,</a:t>
            </a:r>
            <a:br>
              <a:rPr lang="en-US"/>
            </a:br>
            <a:r>
              <a:rPr lang="en-US" sz="4400"/>
              <a:t>but you don't know how many</a:t>
            </a:r>
            <a:br>
              <a:rPr lang="en-US"/>
            </a:br>
            <a:br>
              <a:rPr lang="en-US"/>
            </a:br>
            <a:r>
              <a:rPr lang="en-US" sz="3200"/>
              <a:t>...off to the produce bank we go!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75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44B5-2BB9-5CA5-C3D9-8FFF7989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543826-262F-702F-2437-E962DE97009E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F9D7EF-1D8F-5918-1072-AB8294F70B5C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C2C1A-3501-39BB-42CB-B5DA56438FB0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🥕);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1B9D00-F842-CAFC-7CE0-65F0F1FA0143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E126B54-997E-D442-D4A5-85C3A16774DE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C918D0C-7C4C-59F1-955C-5CF30A2C2860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895BAE-1B8B-9086-E9BE-4439728009CC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2F44EF-695E-5E4F-D98D-F8546F4AB6F1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E8A4D8-E888-9256-DDD3-6A4DB7A67852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067C7CB-4A52-7307-17D3-B54B311B9DC2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F1998A-EA63-F83A-E67B-DFF223EF55AD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A3F5EF-86DA-DF50-E8F6-A365CE0EADE3}"/>
                </a:ext>
              </a:extLst>
            </p:cNvPr>
            <p:cNvSpPr txBox="1"/>
            <p:nvPr/>
          </p:nvSpPr>
          <p:spPr>
            <a:xfrm>
              <a:off x="942124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34065F-6A02-257E-5732-3952957E5FE2}"/>
                </a:ext>
              </a:extLst>
            </p:cNvPr>
            <p:cNvSpPr txBox="1"/>
            <p:nvPr/>
          </p:nvSpPr>
          <p:spPr>
            <a:xfrm>
              <a:off x="2527435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598076D-6CE7-F617-914D-0F4940982A14}"/>
                </a:ext>
              </a:extLst>
            </p:cNvPr>
            <p:cNvSpPr txBox="1"/>
            <p:nvPr/>
          </p:nvSpPr>
          <p:spPr>
            <a:xfrm>
              <a:off x="4215027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BA45EB9-40D1-7BAC-DE9D-AFB2DA6DBA03}"/>
                </a:ext>
              </a:extLst>
            </p:cNvPr>
            <p:cNvSpPr txBox="1"/>
            <p:nvPr/>
          </p:nvSpPr>
          <p:spPr>
            <a:xfrm>
              <a:off x="5868523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62626D8-55F5-9D73-F63C-186C0ED425DF}"/>
              </a:ext>
            </a:extLst>
          </p:cNvPr>
          <p:cNvSpPr txBox="1"/>
          <p:nvPr/>
        </p:nvSpPr>
        <p:spPr>
          <a:xfrm>
            <a:off x="5025739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🥕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05547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A2E8-FC16-ACA5-7BBF-D8ADF8F25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7B5317-5605-889E-FA17-774B43B92A35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7FC9E-A097-DB1D-1BEF-27BD0E09061C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02492A-867D-BBFF-40F0-1DB2AA98846B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AA44DC1-1894-BFD6-7411-F2F94D0AD27D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7FE084-4305-C032-6F0E-B30A79F6C731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D7B1D1-73DE-314F-16C6-DDF09CD3BBFD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8D184A-5510-0045-21F2-BB461E34C188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E7D7FE-1EF4-C66F-0A29-B9BE77DE3676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043A75-6FFA-AF44-3AC1-98876BAEC614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724A0D4-7BBD-FEDC-2AAE-A92F19D8999E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6C27A2-9D27-D917-D681-DFB618EF03DB}"/>
                </a:ext>
              </a:extLst>
            </p:cNvPr>
            <p:cNvSpPr txBox="1"/>
            <p:nvPr/>
          </p:nvSpPr>
          <p:spPr>
            <a:xfrm>
              <a:off x="942124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90F2018-BC95-62E0-28AE-1F1E5E9A7ED6}"/>
                </a:ext>
              </a:extLst>
            </p:cNvPr>
            <p:cNvSpPr txBox="1"/>
            <p:nvPr/>
          </p:nvSpPr>
          <p:spPr>
            <a:xfrm>
              <a:off x="2527435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8C0B5D2-D754-7D7E-FDBC-DF23C790AA12}"/>
                </a:ext>
              </a:extLst>
            </p:cNvPr>
            <p:cNvSpPr txBox="1"/>
            <p:nvPr/>
          </p:nvSpPr>
          <p:spPr>
            <a:xfrm>
              <a:off x="4215027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1E9FF4C-A9C9-A442-9EA6-D759E5D936E2}"/>
                </a:ext>
              </a:extLst>
            </p:cNvPr>
            <p:cNvSpPr txBox="1"/>
            <p:nvPr/>
          </p:nvSpPr>
          <p:spPr>
            <a:xfrm>
              <a:off x="5868523" y="544850"/>
              <a:ext cx="1189238" cy="5510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US" sz="110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372E24E-6718-F301-C267-0B902ECD91F8}"/>
              </a:ext>
            </a:extLst>
          </p:cNvPr>
          <p:cNvSpPr txBox="1"/>
          <p:nvPr/>
        </p:nvSpPr>
        <p:spPr>
          <a:xfrm>
            <a:off x="447999" y="498224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1A0C61-0DE5-EAFC-9605-FCC3E71FEE0C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🥕);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692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5204-FD32-B5BF-113B-7C82FF7A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C60B93-33BB-74A3-A097-554AAA27CDE8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970257-BBC7-F371-FACB-6AE77ECF5191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B4601-D83E-75E0-35D5-37766F839D5C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🍎);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107C45-DFA3-2445-6506-210587DDDB49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111A790-A828-BC88-321E-565D7F4E1FF0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213FCCC-EC8E-6464-BB4C-306716915CC1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0512C5-BAEA-6791-5546-D9F15715E2D0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9FE712-0D18-B8A5-1EB8-F5934CC66523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A040F8-4BAC-68C7-A0C9-E702011C0616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D178CD1-A52E-16CC-2514-A376343A56F9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350E5BC-FBFA-976A-D0E5-01FB04CA1E76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C5F9B9-3C59-3F96-119A-BE3056C4D1F9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64A4996-DEEF-C81F-277E-08689836395D}"/>
              </a:ext>
            </a:extLst>
          </p:cNvPr>
          <p:cNvSpPr txBox="1"/>
          <p:nvPr/>
        </p:nvSpPr>
        <p:spPr>
          <a:xfrm>
            <a:off x="5025739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🍎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767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98B4-93C7-1451-29AC-44AB54AB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226D74-DA7A-89C1-7C8C-01C635577E12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68D685-36A2-1204-7C7F-AF2912721258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242D1E-E2AF-23CD-BA99-C22955A41A22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CF91314-DA0E-8228-76CB-23C77B2A016A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0CF9143-E154-29C2-D04A-3A1E984DC268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D4DA66F-5921-9B11-5986-83517684A8C0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A8A1DD-A040-59B5-31C0-D7237A231348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922F9D-F472-33FA-3637-1AFC6E42462B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9E68CD-D6E8-875B-1794-231FF0661C8A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7B98EE-A21E-335D-09E6-D68548AC9755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45F2B4-E70B-3279-A240-EC3FB106656A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82E5F15-ECED-F9BF-18F6-1DB41F390E11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48E58-29C9-EC44-E501-4B82D570AEE6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🍎);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638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B00D-4FF3-FB51-8B94-BE43361F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1E4C2-BFAF-034E-E6B9-18978CB77424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AB552-5762-2FB3-9D87-50ACAC4048FE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0BD85-4725-3AD8-07DC-7985423019DB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🥦);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30F3DB-2190-6C69-8B24-A0A4E3E46C6D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71876DD-B205-F28D-6E7B-0B82B1508B9F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A465EC-D775-52E9-1F7F-FFAC5212195C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A3B2084-4A7B-7637-55A3-64145E112393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AA778F-B290-CD36-A264-2492902286E2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F597D3-6371-B971-42E5-DD81D0703291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556D51-DB82-92D8-1F10-27EFC91EB04F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97E07F-75D6-D103-F09A-01890605C745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99C4656-210F-1B00-0781-5E1AB6600FCD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C0CFCE1-C9E4-F2EA-5AFE-C92C712E368D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B12DFA-64D4-E8C1-3833-A9F2667E8E4B}"/>
              </a:ext>
            </a:extLst>
          </p:cNvPr>
          <p:cNvSpPr txBox="1"/>
          <p:nvPr/>
        </p:nvSpPr>
        <p:spPr>
          <a:xfrm>
            <a:off x="5025739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🥦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72077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7ED7C-FF24-1277-805B-04F1B0C2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4123F6-F956-03FC-2C23-5AE63441CA54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09188-A637-F24C-F167-1AB96423582A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71430E-85EE-D4EF-D20A-F566E737F823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🥦);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378344-C782-622D-495C-7C2BDAAB78B3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3F74650-9B06-FA5B-2034-FA6632AA5848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C626A12-CAF7-5AF0-E0BC-2B7E7FD4F706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0928E99-9739-B5B5-5AF3-85142315CCE2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628116-AFA8-BF6E-AEBA-6AA352CD4C16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EBDF98-4B36-78CF-08FE-2C4093766D1E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13FFA1-F1D2-3F36-597F-51496EFA920E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BDD9B6-12FD-24B2-F039-59D1AD2B48B4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3CEF38F-E5B2-16A4-0CCF-D4A2E0745FE6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7BEC776-AE64-2C65-1D71-05819B8AE3F4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DC5AE-376D-3D8C-E4E2-E546FFD3D646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89869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41F73-B159-CEDB-0C4C-DDC81D03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6A2B03-EFC4-3D2A-0C62-0307D61A558A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13561-7217-4A8E-B93F-D3682AE64B41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C0628-4C36-6C0F-C608-9A1C6AE78834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🌽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2338B8-607A-A78A-93EF-1A06E32C1308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1E291C9-E31C-5061-C679-833D4F7C63E9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AC15AFD-18DC-FE2F-7EAF-58140ACA9093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5CB5AA4-60F6-4910-EAD9-AD0DE014B47F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DFE4BC-6D80-52B9-03C3-0A359C89D76C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A725A5-E0BD-5719-BDA3-2C18ADAA1DEC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BC3F3C1-1179-EB24-D897-DDA1CE8FE5A8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F0D557B-A80E-C2B1-AF49-D912F3BD0AD0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83ED01-FED1-C7E0-83A3-785425A0B020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1538D6E-119D-DECF-DC84-504C4871D0CE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D04B95-17A2-B881-2F12-EB66EE4DFAA0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27011-C149-F591-2984-091A54BD9626}"/>
              </a:ext>
            </a:extLst>
          </p:cNvPr>
          <p:cNvSpPr txBox="1"/>
          <p:nvPr/>
        </p:nvSpPr>
        <p:spPr>
          <a:xfrm>
            <a:off x="5025739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🌽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41254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3A2BD-E669-00FF-21BB-80C5C9AC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CFF299-7014-F564-22BE-958EEEF6DA19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9989D-E672-5A4B-16F6-A26164EA896F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2459F4-B7A9-E6D8-F094-81912F98B686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🌽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55C922-C903-611E-B60A-0ECA308292C3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9E4B256-094B-A1E2-ECDC-93D73237C132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73B595-9990-3062-64F1-0D578B26D76A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A569BA-94CC-DCBB-B3CE-304EBA467316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9F5C28-FD57-5BB6-EC07-3E124BB3B0B2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F76E67-C9EA-7B61-5626-0A33BD72FC1F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D1C9EF7-7640-5842-3995-DAD7AB6B3A83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9D01D3-927D-07E5-CA14-76031F3176BA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921F9A-3B1E-C3C0-8FA3-7792F115A5A0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CA78FB5-19F7-319C-0C54-F49CCB97B439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9D1F7-2BEA-17B5-048E-844D773A9DC5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B0902-F630-88F2-430B-EB922E591262}"/>
              </a:ext>
            </a:extLst>
          </p:cNvPr>
          <p:cNvSpPr txBox="1"/>
          <p:nvPr/>
        </p:nvSpPr>
        <p:spPr>
          <a:xfrm>
            <a:off x="2786598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95673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ED82-26B9-944A-E166-9347F06FF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B7C96A-0C48-F4B5-59CE-2A953F3E931C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8A205-004A-2C9E-DE01-E30DC771281A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BD65F-F2CF-1F39-51D7-D91C6232B506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083069-5281-1F66-993D-1BA7993AC4CA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69AA252-F6B4-0722-9015-6D0ED551CFDC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15A9CF-B266-426F-E3DB-5D1B36CD28CD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66CA3C-291A-9676-6439-711CD1DF9D53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16A387-6EEC-9484-CA0E-13AAA0D7C035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C092C6-DBBC-C44F-8651-0D572FDDDC9D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79CD0E-5A13-8E35-6354-0295A07C98EB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B57E66-BA2D-9CDA-EFB9-F77219548568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4FD62D-9B70-2888-56E4-E693928A5697}"/>
                </a:ext>
              </a:extLst>
            </p:cNvPr>
            <p:cNvSpPr txBox="1"/>
            <p:nvPr/>
          </p:nvSpPr>
          <p:spPr>
            <a:xfrm>
              <a:off x="942124" y="544849"/>
              <a:ext cx="1189238" cy="11021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28F5BC5-7F59-2CFC-320F-B352BC6E04E6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97E8B4-00C5-D04E-5FAB-2EF207A00CB7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981E8-29C1-A5C1-6A6B-F5284B896AA3}"/>
              </a:ext>
            </a:extLst>
          </p:cNvPr>
          <p:cNvSpPr txBox="1"/>
          <p:nvPr/>
        </p:nvSpPr>
        <p:spPr>
          <a:xfrm>
            <a:off x="2786598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E55D4B-8A87-99DA-F70F-F8CF7BEC9EB1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284381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D7C9-C6FF-6357-D72E-D83098D2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F7B312-8971-22EE-3326-F8001BB883EE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👷‍♀️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257AD6-223F-E5E1-51A4-D712142EA4C6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A8FDC2-DD76-BC81-6C94-1570C7F93D34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09E106-BBDA-86C6-0F46-2A924CA8F9B0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7DA2A76-1C5C-4296-7DC6-85838948A824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0E01B3B-89BA-8039-8B9F-0389B04F00C1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82D21E-92C5-349F-5D43-D61CA08DAED4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1401E5-94E6-BAC9-489B-07BAE7522656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F919A6-FFCE-FD23-484A-30DCAE617152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09D2C1-21DE-13BF-FAEC-CE941AD8CBA8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0934D1A-4E37-3A4E-AB79-D2B11CB50E37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B0BC82-4EC2-6068-2812-F5AE5927DD9F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1FDDF-5DEA-6DC9-16AD-6F5AE288437B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DBB306-459C-C891-9077-6F4EBDA83DB3}"/>
              </a:ext>
            </a:extLst>
          </p:cNvPr>
          <p:cNvSpPr txBox="1"/>
          <p:nvPr/>
        </p:nvSpPr>
        <p:spPr>
          <a:xfrm>
            <a:off x="2786598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4631B7-990A-4293-39DB-DEB8A6EEB898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D0258F-1A3B-E13E-C915-5EB9223174F6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AB6CBAE-71B4-E810-AF48-9A4C81484014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08EC0CD-2A39-DB9C-168D-655D3E28C5DC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3DB4BDA-5793-8620-C6C4-095F8139506A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87126C9-3E7C-37F8-B7BE-4513CBED1F8A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DAD147D-B603-4F86-8A08-F604D4DD32D8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003387A-A952-965D-34DB-B32EA90DB5A7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09400B2-DCE1-F0CC-E078-EEFD1F3C89FF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3EA225-59EF-8534-B5DC-9EEF61F4BC1D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75D077A-CE40-B7E2-356D-D0072F914C60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71E07C5-8CB3-B3BE-0CB7-549969F1B69C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71503CB-A0F3-195C-84CF-2748E0352274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F3C6E4-6210-1440-5544-7A1E035F8805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B24BF06-8290-97E3-6FC6-16F22EF71E75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5DCC96F-841E-7F20-02C9-943C1A631FE2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2E709B1-F785-4974-BB3C-E0A9EF35C836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D55C39F-A356-C5C7-FDD1-03D86158ADD2}"/>
              </a:ext>
            </a:extLst>
          </p:cNvPr>
          <p:cNvSpPr txBox="1"/>
          <p:nvPr/>
        </p:nvSpPr>
        <p:spPr>
          <a:xfrm>
            <a:off x="447999" y="498224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7881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6E06-8591-2F9B-BEEE-90A9A4BE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D35948-DF46-C14F-FA1F-9C95885F0C35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ea typeface="Segoe UI Emoji" panose="020B0502040204020203" pitchFamily="34" charset="0"/>
              </a:rPr>
              <a:t>👷‍♀️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A2DD56-9FB2-C1E4-816A-D0B7CFFBF1FF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AB003A-8040-702D-D991-F298C9445518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4914F2-9E95-390B-0DED-2B219335E8D4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692EA34-003E-EFA7-93CB-EAFBDC6A713D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4DE54AD-B370-DC24-23F4-03A4EA08A953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CCAD06-65C6-B65A-9125-953D453FE688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3FDBEC-307D-3B9C-2C3F-58AE444B6BAC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301602-A3F0-66B9-4951-C389C5ADEEA9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839759-FEAC-A4F8-D1FD-68A8886DEFAD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AADD4E-A4C9-75CC-861B-D398338298A3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D711A16-EF2A-D8A7-ADFE-98C2F5DB4872}"/>
              </a:ext>
            </a:extLst>
          </p:cNvPr>
          <p:cNvSpPr txBox="1"/>
          <p:nvPr/>
        </p:nvSpPr>
        <p:spPr>
          <a:xfrm>
            <a:off x="1200559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81A4D-5230-033A-53D4-4F6A9D475352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38AEA-5D96-D4B1-135E-6372EE7232F2}"/>
              </a:ext>
            </a:extLst>
          </p:cNvPr>
          <p:cNvSpPr txBox="1"/>
          <p:nvPr/>
        </p:nvSpPr>
        <p:spPr>
          <a:xfrm>
            <a:off x="2786598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6C0A1-FC05-30A4-55F9-7134BC03A819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3A03164-420D-10BC-59B6-589A3C194791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0D6A00-E81B-AFF1-8F15-8915309422CF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55433FA-029B-E51F-F14A-C090C3942575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E01F138-545B-C564-FD50-13B21957B0B0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88C221B-EA66-5CE0-83E6-5406A55C8493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49AC0D4-6352-48B1-6899-CDED51053BF1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55D80E5-C806-310D-413E-AFFCB42B6142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34868FE-0BDA-C251-2138-65150458F6BE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E47FD9D-6E73-DCA1-A494-F71ACCC10774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B3C3CB1-E6FD-BD83-5263-280A18C1598B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1DCBCCF-F90B-A257-165A-C641E2F77FCA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96C3440-05CB-3D54-17C1-F6DCC1421A46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14A199B-161D-54A1-56E2-BCDA3B3C60DB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65F2D8E-2972-E96F-E8F7-002A094FD722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AB020AB-15A2-890D-E8A5-FBEB123D4AFC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ED6406C-1A46-36D3-F503-BA8277F40616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F725A7D-E1FD-AA2B-38DA-B6B8C51CDF80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02698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DE14-B246-0E53-FAD2-A1FA3FCD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35CE12-3DEC-E4C6-705A-C7FB92D78C61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F8AC5-B021-4B29-A958-4AAE905896ED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76027F-15DD-DB78-4D72-EF8390A49AD1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D85D657-73B8-BA03-E053-7CA3C6E91B5D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A981CD-7FEB-B475-A9F8-8FB454549B52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6E969E-E0D2-A336-7487-83DACBA93EBD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FD1C4B-DCEB-A9C1-2696-C21C7F49DECA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7083E1-0BC2-349F-6CFA-123883DECD66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4B4F48-5F22-5B76-8397-2056BFE28BBE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7807C4-8B89-4620-222A-097936D971E2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BFB5640-EA88-C8A7-40ED-2146A05C6BA9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CF0F7-5C27-F8F1-6C24-54C6A13CFB6C}"/>
              </a:ext>
            </a:extLst>
          </p:cNvPr>
          <p:cNvSpPr txBox="1"/>
          <p:nvPr/>
        </p:nvSpPr>
        <p:spPr>
          <a:xfrm>
            <a:off x="2001671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7F1A7-F7DA-97E1-5BC5-9A0D6AAF2BD7}"/>
              </a:ext>
            </a:extLst>
          </p:cNvPr>
          <p:cNvSpPr txBox="1"/>
          <p:nvPr/>
        </p:nvSpPr>
        <p:spPr>
          <a:xfrm>
            <a:off x="2786598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627653-225E-91A9-DEA3-42A3724870D3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075AF6-A817-4BEB-5BE8-6AE2F8E83671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6300D0F-5932-5C51-5B34-CF17DC107D9B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4900B3-252F-0E99-BE3F-C9EFCA31EF4D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BD1929D-BEA2-B309-D773-C3D3797236EB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EB6264-E1BF-A475-E535-926126E04613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92F996B-CB12-C5DF-9978-53A62DA30A2A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455D66C-C731-4BDB-6904-5AB994C05771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5568D61-6120-70F7-DC53-2421E1906EAE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DCF9446-ABB9-A9DF-2FF0-6B674163FB7B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2B2FD9B-92DF-0563-57AE-1C56B029AA06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907EC1C-3117-7BFD-4BCF-12DB63F26F43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E99B2EC-8DB1-A06C-1054-569DC5A80015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8501E1B-A7FC-788D-A507-F1CEC0BF71E6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AB633B7-D55A-0BD5-F332-326D9231F3E3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66F4E91-5780-63CF-2363-B7B0B6384CF4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6AFC96F-1521-184E-72D9-3E5C7C694FD8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65FBE05-97E7-85E9-FA5A-815F2C85F4AF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AFE7C-C488-D9D1-9742-BA1BD7F966DC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ea typeface="Segoe UI Emoji" panose="020B0502040204020203" pitchFamily="34" charset="0"/>
              </a:rPr>
              <a:t>👷‍♀️</a:t>
            </a:r>
            <a:endParaRPr lang="en-US" sz="8800"/>
          </a:p>
        </p:txBody>
      </p:sp>
    </p:spTree>
    <p:extLst>
      <p:ext uri="{BB962C8B-B14F-4D97-AF65-F5344CB8AC3E}">
        <p14:creationId xmlns:p14="http://schemas.microsoft.com/office/powerpoint/2010/main" val="2524063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A626-BBAD-BFBD-7180-527AF11F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B6385C-ABA2-174D-6878-9AB0219090CA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CFBDC-D2EC-6278-838F-4556103FAF57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936F07-E741-3543-445D-F20A6F4E67D5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B418C9D-53A0-C7A5-7A1D-82CECA7B42F3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F46D818-8EAF-5B1D-0A77-1CCB24F91328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CFF1F76-B98A-2E79-7F88-CDF2629B210A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ECEE8A-8536-1E7F-9E86-2CAFCF10B29F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DEF933-66F8-6A15-3113-D4CA04B0CFB4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6F78B79-1FE0-94A2-A9F9-828C6EE3FE4F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9474AA-AB81-F93A-852D-A21CC31AAADE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313B740-0003-C407-50B7-6E3C7DCF6457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5C7D5-9A39-213D-999A-92F87627EF6A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28FDE-FE5B-DAFA-1EAC-CB0B902C2CD3}"/>
              </a:ext>
            </a:extLst>
          </p:cNvPr>
          <p:cNvSpPr txBox="1"/>
          <p:nvPr/>
        </p:nvSpPr>
        <p:spPr>
          <a:xfrm>
            <a:off x="2786598" y="49822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EA480-46F9-2DC4-C32F-EBCB9D25A4F7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D49CBC-4948-19CD-025F-6CA85A9019A6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052BCD9-AC90-E11D-E696-6E10136A9385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6D6E9F1-4494-DB73-7FC0-AAD5906488C7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E1703FA-892C-CAB0-1DEF-1110AF3285EC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94F93AB-B04D-2212-548D-5AB3D0C2A122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8C0AF-2C12-3D80-53B1-A854D602AA79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784C51-FE8F-FAF6-0D48-7C214D40ADAF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76B7DBC-CE0D-EB27-A091-2CAF1E549DEF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A50C2FC-E187-1EB1-22F6-A74822D61384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BF74EB9-D0C0-C7C5-6252-5E93EBBEDB79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7840B70-0C18-B662-141D-D84F11B50F4F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51980B3-9587-0557-1A47-0E7A7B965300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36DEF1E-8270-C867-04F5-A3601B9B56BA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8CE18EA-512B-3BDB-6EBE-703E48739214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E321C7F-50CB-3522-63AA-22169CE0D519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737EE06-9D78-0EE5-9E26-2ED91C9F5173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9D12441-35E6-9439-1D9E-AF361710D2DF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9ECDB7-6761-23EB-7777-51653DF02601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ea typeface="Segoe UI Emoji" panose="020B0502040204020203" pitchFamily="34" charset="0"/>
              </a:rPr>
              <a:t>👷‍♀️</a:t>
            </a:r>
            <a:endParaRPr lang="en-US" sz="8800"/>
          </a:p>
        </p:txBody>
      </p:sp>
    </p:spTree>
    <p:extLst>
      <p:ext uri="{BB962C8B-B14F-4D97-AF65-F5344CB8AC3E}">
        <p14:creationId xmlns:p14="http://schemas.microsoft.com/office/powerpoint/2010/main" val="3813051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1D7A-0679-453A-62C5-5DBA0E60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BE93E91-8952-AA2E-63A0-58626D3A7131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226C71-0AA3-1B52-EC2C-36E5026DCE84}"/>
              </a:ext>
            </a:extLst>
          </p:cNvPr>
          <p:cNvGrpSpPr/>
          <p:nvPr/>
        </p:nvGrpSpPr>
        <p:grpSpPr>
          <a:xfrm>
            <a:off x="277482" y="303351"/>
            <a:ext cx="3268890" cy="912967"/>
            <a:chOff x="582919" y="134337"/>
            <a:chExt cx="6886117" cy="192322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2557182-87DD-CA1B-38E8-B87265C62607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72EBB17-2A97-5076-1FE9-A4F428FE0AF4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EBE720-B278-D397-A5DC-E5F6A3AE3BF6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E54A4E-8EEB-B846-74D8-11ADEB08AE27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C6402D-33BF-BD8E-811A-9CDE8254F47E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E66DB-AEAB-DEB8-01EF-8218B1A6893B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BDFDFD-5C65-F327-89CF-9B75D6EBA231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2DB43EB-6495-E53D-E58F-6EEAABF26C2D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D3FC9-0731-9D03-0368-B441CBCC039C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087392-46E2-0855-E742-DF65C80C9B7E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B30F9F-CA3D-7E80-4648-BACB65521502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B9862C-C559-1E1E-C16F-F408E64BCFC0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665ED3D-B7E1-A88F-C479-5F0110690499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A371371-41CC-590A-A3C8-AC7C853BB92B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7184FD-CA83-6B24-8DC3-D8594D1BEFFD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83138A8-DF0E-262A-3C55-16424C81912B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ABD5105-4F15-C3A6-A443-30FE9015742A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C112089-16F9-0A3A-FDF8-9080F108683E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C0769ED-20A2-C897-5C85-9B1693C0A30A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A5B2112-B46C-F8D7-50E4-871ED41D2F83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EDD2079-0FD9-6A38-4473-7C820C3398CB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3C8F1EC-4F41-E658-2E17-859B6A5D2E5E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7737C14-C815-FC7C-A824-485AAAEF9179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129D5C7-C9A6-DF59-B7F9-F461A9851D9C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296D4C9-8E93-3848-B87A-6E3644878CD7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3D81AE7-6CFF-71D0-9D43-D894AA34D04A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1BC5EA3-1CD0-14D2-10B6-DA0B8134766D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73A19B8-2113-23C0-E026-4D1E3EC963D0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FC54D-D6B4-60DB-7F92-416BD2A9755A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ea typeface="Segoe UI Emoji" panose="020B0502040204020203" pitchFamily="34" charset="0"/>
              </a:rPr>
              <a:t>👷‍♀️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42E856-17CA-1DE3-AD6D-6A69F9902AB4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3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199B-3EA8-8DF8-201A-3C536377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E6CA5DE-66D5-4F34-22D1-1C9579DB95DD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F7A1D1-D7CA-DCB2-B18F-938839C2B154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1DBA3-C72A-06DC-F4F7-14B3392BCF20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EFF424-3170-C81D-18D7-1468775451BD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95B43-CB87-950D-BB2A-FF6E9732717C}"/>
              </a:ext>
            </a:extLst>
          </p:cNvPr>
          <p:cNvSpPr txBox="1"/>
          <p:nvPr/>
        </p:nvSpPr>
        <p:spPr>
          <a:xfrm>
            <a:off x="5127343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54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48254D4-0034-91A9-93F4-B4DA108A5D7B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D0129A-63C6-0B7B-DA61-982CA76577FA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CA907DA-3ACE-8A9F-6A8C-4189FF7D9126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39CAE10-7FAF-F3B8-EB84-8D249B0A243B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532F94C-2642-BE0E-B90E-60B8FDF36C2E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FD59969-7DF4-06F0-8759-65EC20F40E69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494AF00-D33D-19DF-EA29-FA30B1D4EB36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6CE8EB6-338D-B6D5-3634-DA8EBE3DBE08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34CEF3B-9822-F915-2F02-1296E9AE72D4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6F536DA-159E-87D5-599E-DAD25E8BB3DF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284F548-604B-7E38-69D1-8D019039F5B0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31A58F5-9792-A2A5-0453-121B30100EA5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9A9602D-DAAF-446C-8F4C-FC6E9CEFFC5E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E151B1D-3950-85F2-A9C3-23869C53592A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DF429B7-13C2-A1CD-FA6E-D85DEB935830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72324BE-8FCE-BA5C-F32C-EB4C5E3FD5E2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6653A18-F1D0-1906-9263-06FD7D130688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6B66F-402E-D400-83F4-FA0011046EC8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ea typeface="Segoe UI Emoji" panose="020B0502040204020203" pitchFamily="34" charset="0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88A15-9356-3753-60BD-5CE75E5C9AE7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7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2768-431E-87CA-9B7B-4F1C7288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48DB41-7087-95F2-FAC1-7D71211A71BA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C20F4-3A8D-CD4F-D0AB-60DAA4FAE6D0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73BF6-9933-817F-7ED2-7B8253FD796B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🍇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1F000E-A660-1DC9-A388-220CF51CE118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7B4F4-A91B-DF6F-262F-84F1ABF47B45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F36780-586A-5120-3A6B-631BAD4D9A33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2B8AF8-E29A-648E-E722-F06BF3944F50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63B8504-FDFD-ADDC-7B35-D3A27CCF35D5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C757DD9-0841-EE01-2149-4001F6A32FB5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F5799C4-6539-933A-72E1-0B7AE6B1CE5D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75A5D08-1471-8B91-DF8F-74A0B5BAA65E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92FD8CF-C114-F658-0E65-1B0EBB8BEDE1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DA3396F-8052-1931-D6D0-B2E93716430A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79047F6-55D4-E76A-9BF4-563A1CE3F949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5FFD51E-C60F-1402-952C-3C2C6AE54DF0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9449B93-FD55-AD3F-4F68-3F70FDF7E613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DF078BF-EDA8-4753-A4AD-897270EAE067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38FE02-00E6-CD51-E801-B64724D5F72A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0BEC62E-540E-7EB3-F8A9-2358953380C0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9135189-DD70-0231-34E0-D36CA25B338E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629120B-7591-58C2-3114-F7DC1C606303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CB81071-04FA-80B6-C5DD-3B849D217489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1F8F600-D6C2-A541-C572-5ACE2954908D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E3411-297B-B62E-DEDA-A8DB32A3C252}"/>
              </a:ext>
            </a:extLst>
          </p:cNvPr>
          <p:cNvSpPr txBox="1"/>
          <p:nvPr/>
        </p:nvSpPr>
        <p:spPr>
          <a:xfrm>
            <a:off x="4610281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2966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CC95-512E-3AAD-99DF-A3A9ECC8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68214B-7935-26F9-2992-32BB23399226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63691-863F-95ED-E957-34A56EFAA85E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ED0CC-4048-CAD7-B37E-9F1BAA768F01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🍉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D786E5-0EC0-7FE0-9423-A00010A867ED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BCDF5-868E-A3A6-CF66-8BB6753617BC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2D160-F4C7-E317-B6FB-C5252AAA6365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E46921D-22DE-7733-ED4E-4D2493FB6131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7144-BA1D-67F6-F58D-3A60D8CB20F7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20130BD-E253-BF6B-73D7-F1009D28B0DA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FCD0BD2-ED7B-93D0-86B1-B4A97E00900F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4684EFB-624A-2FE5-B362-7C99300D2401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B649CAC-13F6-0E35-0332-784540B8A611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DA3125F-DA00-6D9B-7C56-E72E0F447092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AEAA32A-39FE-5A82-C528-7ADF9F529B9E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EAB46C4-0015-8A41-3BEF-EC10FC608347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F3CF65B-1E92-A4F0-80EF-9AF6D0E6BB87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6E1EEE6-F1AD-DC26-9636-2445C7E8397E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650DD22-99AF-7C64-33F7-367766531448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B28F8A1-961E-FE04-CFD6-9033FC90BA21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5897A6E-F5E1-D404-EB20-0B8F76C83664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9CF6391-7484-26FF-F3A8-23D4C66F758E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E633058-4C55-D99C-108E-A4AFEBF392DF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95D3461-E1D0-C33B-18BB-2BFCFC5FC044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23233-808E-12CC-F050-585AE44D63E2}"/>
              </a:ext>
            </a:extLst>
          </p:cNvPr>
          <p:cNvSpPr txBox="1"/>
          <p:nvPr/>
        </p:nvSpPr>
        <p:spPr>
          <a:xfrm>
            <a:off x="4610281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B82F8-D9FC-067C-2DAF-7334E0B8F842}"/>
              </a:ext>
            </a:extLst>
          </p:cNvPr>
          <p:cNvSpPr txBox="1"/>
          <p:nvPr/>
        </p:nvSpPr>
        <p:spPr>
          <a:xfrm>
            <a:off x="5025739" y="2701402"/>
            <a:ext cx="12420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🍉</a:t>
            </a:r>
            <a:endParaRPr lang="en-US" sz="5400"/>
          </a:p>
        </p:txBody>
      </p:sp>
    </p:spTree>
    <p:extLst>
      <p:ext uri="{BB962C8B-B14F-4D97-AF65-F5344CB8AC3E}">
        <p14:creationId xmlns:p14="http://schemas.microsoft.com/office/powerpoint/2010/main" val="342707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AAB87-E844-DB37-8226-F96BAF57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7A5A5A-5C28-5367-F8D1-CF894409E4F4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E036A9-E7D9-019B-D018-2615DC2E88F9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B2B57E-46CC-1851-A679-91AB62BB2836}"/>
              </a:ext>
            </a:extLst>
          </p:cNvPr>
          <p:cNvSpPr txBox="1"/>
          <p:nvPr/>
        </p:nvSpPr>
        <p:spPr>
          <a:xfrm>
            <a:off x="6154072" y="3287768"/>
            <a:ext cx="2659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0000"/>
                </a:solidFill>
                <a:ea typeface="Segoe UI Emoji" panose="020B0502040204020203" pitchFamily="34" charset="0"/>
              </a:rPr>
              <a:t>🍉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);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D1A2D7-1C42-0804-CAA9-1796FE9943A6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AFBE8-FF48-3EAD-4035-CBAF93141F69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3F331-6BE8-E973-B582-D93599798C0B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5AABBB-D2B1-D9F8-6181-C3252B891094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07C8179-35B5-67F3-B825-8D32D7BC0D4A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9A76C87-9647-B1CF-F88E-D2789BAE7906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059F614-517E-4718-EBB0-EDCB92627746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726C273-8670-B5F4-C966-9DB44B4DB9B0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436E4A1-242A-7CB9-A3DF-AB19785742DC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A99CE5C-FE16-BFF2-11CA-935CB9A30794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DCACF7C-7486-933F-974B-007AE7ECFFC6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A07744E-7821-13E0-B9CE-4A0D634B64AF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57FF220-6EC0-96D6-BF51-9DF87912D04A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0265F03-552B-AEE0-EACB-94C84223CA80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DCB9A7A-468B-A128-DA19-259EDFE37DAB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706E254-2775-D46E-3418-EC1C0B5BA934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8430347-7564-A453-61F4-E2F3C1744AB8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C75F48C-7B01-B2B0-23BD-C6816D1F992F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CD7B0F3-CB5B-34FE-D7AD-0889F8C2F253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12AF64F-EC89-1A4B-E986-70793A7D7381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8F903E-4F9C-3082-B018-67A7C96BA8D6}"/>
              </a:ext>
            </a:extLst>
          </p:cNvPr>
          <p:cNvSpPr txBox="1"/>
          <p:nvPr/>
        </p:nvSpPr>
        <p:spPr>
          <a:xfrm>
            <a:off x="4610281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BDBE1F-2988-2F9E-2D59-3B629F4D854E}"/>
              </a:ext>
            </a:extLst>
          </p:cNvPr>
          <p:cNvSpPr txBox="1"/>
          <p:nvPr/>
        </p:nvSpPr>
        <p:spPr>
          <a:xfrm>
            <a:off x="5414614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🍉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6241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84EEE-BF74-1F19-3453-52BA363F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1A559B-160C-0443-8171-90C668D79706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9604A3-CE88-048E-6E3D-8287AAAD3742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37AE1-FC9E-4155-AAD8-2EA8C4BD2945}"/>
              </a:ext>
            </a:extLst>
          </p:cNvPr>
          <p:cNvSpPr txBox="1"/>
          <p:nvPr/>
        </p:nvSpPr>
        <p:spPr>
          <a:xfrm>
            <a:off x="1507799" y="1565928"/>
            <a:ext cx="5707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accent2"/>
                </a:solidFill>
                <a:latin typeface="+mj-lt"/>
              </a:rPr>
              <a:t>ArrayList&lt;Produce&gt; list;</a:t>
            </a:r>
          </a:p>
        </p:txBody>
      </p:sp>
    </p:spTree>
    <p:extLst>
      <p:ext uri="{BB962C8B-B14F-4D97-AF65-F5344CB8AC3E}">
        <p14:creationId xmlns:p14="http://schemas.microsoft.com/office/powerpoint/2010/main" val="414896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16E5-E57E-7381-2E7C-51E53A0D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646929-EA28-8F6D-F6E1-9B52C68D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599635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F02FB-B7DF-97DD-7818-C51B6949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4A67B-6B69-6D54-03A9-4FB683336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pPr lvl="0"/>
            <a:r>
              <a:rPr lang="en-US"/>
              <a:t>an array list is a kind of list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632147-3248-4A9D-2009-B918E8713B1B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57200" y="963338"/>
                <a:ext cx="8229600" cy="4080271"/>
              </a:xfrm>
            </p:spPr>
            <p:txBody>
              <a:bodyPr>
                <a:noAutofit/>
              </a:bodyPr>
              <a:lstStyle/>
              <a:p>
                <a:r>
                  <a:rPr lang="en-US"/>
                  <a:t>an </a:t>
                </a:r>
                <a:r>
                  <a:rPr lang="en-US" b="1"/>
                  <a:t>array list </a:t>
                </a:r>
                <a:r>
                  <a:rPr lang="en-US"/>
                  <a:t>(dynamic array, stretchy buffer, </a:t>
                </a:r>
                <a:r>
                  <a:rPr lang="en-US" b="1"/>
                  <a:t>vector</a:t>
                </a:r>
                <a:r>
                  <a:rPr lang="en-US"/>
                  <a:t>) is a kind of </a:t>
                </a:r>
                <a:r>
                  <a:rPr lang="en-US" b="1"/>
                  <a:t>list</a:t>
                </a:r>
              </a:p>
              <a:p>
                <a:pPr lvl="1"/>
                <a:r>
                  <a:rPr lang="en-US"/>
                  <a:t>like an array, the user can </a:t>
                </a:r>
                <a:r>
                  <a:rPr lang="en-US" b="1"/>
                  <a:t>access</a:t>
                </a:r>
                <a:r>
                  <a:rPr lang="en-US"/>
                  <a:t>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/>
                  <a:t>-</a:t>
                </a:r>
                <a:r>
                  <a:rPr lang="en-US" err="1"/>
                  <a:t>th</a:t>
                </a:r>
                <a:r>
                  <a:rPr lang="en-US"/>
                  <a:t> element in an array list</a:t>
                </a:r>
              </a:p>
              <a:p>
                <a:pPr lvl="2"/>
                <a:r>
                  <a:rPr lang="en-US" b="1"/>
                  <a:t>get</a:t>
                </a:r>
                <a:r>
                  <a:rPr lang="en-US"/>
                  <a:t> the value of an element that is already there</a:t>
                </a:r>
              </a:p>
              <a:p>
                <a:pPr lvl="2"/>
                <a:r>
                  <a:rPr lang="en-US" b="1"/>
                  <a:t>set </a:t>
                </a:r>
                <a:r>
                  <a:rPr lang="en-US"/>
                  <a:t>the value of an element that is already there</a:t>
                </a:r>
                <a:endParaRPr lang="en-US" b="1"/>
              </a:p>
              <a:p>
                <a:pPr lvl="1"/>
                <a:r>
                  <a:rPr lang="en-US"/>
                  <a:t>unlike an array, the user can always </a:t>
                </a:r>
                <a:r>
                  <a:rPr lang="en-US" b="1"/>
                  <a:t>add</a:t>
                </a:r>
                <a:r>
                  <a:rPr lang="en-US"/>
                  <a:t> a new element to an array list, no matter how many elements it already contains</a:t>
                </a:r>
              </a:p>
              <a:p>
                <a:pPr lvl="2"/>
                <a:r>
                  <a:rPr lang="en-US" b="1"/>
                  <a:t>append</a:t>
                </a:r>
                <a:r>
                  <a:rPr lang="en-US"/>
                  <a:t> (push back) a new element to the end (back)</a:t>
                </a:r>
              </a:p>
              <a:p>
                <a:pPr lvl="2"/>
                <a:r>
                  <a:rPr lang="en-US" b="1"/>
                  <a:t>insert</a:t>
                </a:r>
                <a:r>
                  <a:rPr lang="en-US"/>
                  <a:t> a new element at any valid index</a:t>
                </a:r>
              </a:p>
              <a:p>
                <a:pPr lvl="1"/>
                <a:r>
                  <a:rPr lang="en-US"/>
                  <a:t>the user can also </a:t>
                </a:r>
                <a:r>
                  <a:rPr lang="en-US" b="1"/>
                  <a:t>remove </a:t>
                </a:r>
                <a:r>
                  <a:rPr lang="en-US"/>
                  <a:t>elements from an array list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632147-3248-4A9D-2009-B918E8713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57200" y="963338"/>
                <a:ext cx="8229600" cy="4080271"/>
              </a:xfrm>
              <a:blipFill>
                <a:blip r:embed="rId3"/>
                <a:stretch>
                  <a:fillRect l="-617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311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5F14-72C5-0EDC-6652-74FD4632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rgbClr val="4455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ArrayList&lt;ElementType&gt;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C6474-E381-F624-B4C3-53426CD4BE4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4455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400" b="1" i="0" u="none" strike="noStrike">
                <a:solidFill>
                  <a:srgbClr val="4455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</a:p>
          <a:p>
            <a:pPr marL="342886" lvl="1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(ElementType element); </a:t>
            </a:r>
            <a:r>
              <a:rPr lang="en-US" sz="2400" b="0" i="0" u="none" strike="noStrike">
                <a:solidFill>
                  <a:srgbClr val="007B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to end</a:t>
            </a:r>
          </a:p>
          <a:p>
            <a:pPr marL="342886" lvl="1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index, ElementType element);</a:t>
            </a:r>
          </a:p>
          <a:p>
            <a:pPr marL="342886" lvl="1" indent="0">
              <a:buNone/>
            </a:pP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ElementType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index);</a:t>
            </a:r>
          </a:p>
          <a:p>
            <a:pPr marL="342886" lvl="1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index, ElementType element);</a:t>
            </a:r>
          </a:p>
          <a:p>
            <a:pPr marL="342886" lvl="1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remove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index);</a:t>
            </a:r>
          </a:p>
          <a:p>
            <a:pPr marL="342886" lvl="1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42886" lvl="1" indent="0">
              <a:buNone/>
            </a:pPr>
            <a:r>
              <a:rPr lang="en-US" sz="2400" b="1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i="0" u="none" strike="noStrike">
                <a:solidFill>
                  <a:srgbClr val="99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isEmpty</a:t>
            </a: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r>
              <a:rPr lang="en-US" sz="2400" b="0" i="0" u="none" strike="noStrike">
                <a:solidFill>
                  <a:srgbClr val="007B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(list.size() == 0)</a:t>
            </a:r>
            <a:endParaRPr lang="en-US" sz="2400" b="0" i="0" u="none" strike="noStrike">
              <a:solidFill>
                <a:srgbClr val="333333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i="0" u="none" strike="noStrike">
                <a:solidFill>
                  <a:srgbClr val="33333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7685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97EC-C22E-28B1-1C5E-4A04E2A6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>
                <a:solidFill>
                  <a:schemeClr val="bg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&lt;ElementType&gt;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48B7-E72C-A369-D50C-5A1D3C7AA9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/>
              <a:t>Java's </a:t>
            </a:r>
            <a:r>
              <a:rPr lang="en-US" sz="1800" b="1" i="0" u="none" strike="noStrike">
                <a:solidFill>
                  <a:srgbClr val="00007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800" b="1" i="0" u="none" strike="noStrike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&lt;ElementType&gt;</a:t>
            </a:r>
            <a:r>
              <a:rPr lang="en-US"/>
              <a:t> is </a:t>
            </a:r>
            <a:r>
              <a:rPr lang="en-US" b="1"/>
              <a:t>generic</a:t>
            </a:r>
            <a:r>
              <a:rPr lang="en-US"/>
              <a:t>, which means</a:t>
            </a:r>
            <a:br>
              <a:rPr lang="en-US"/>
            </a:br>
            <a:r>
              <a:rPr lang="en-US"/>
              <a:t>you choose </a:t>
            </a:r>
            <a:r>
              <a:rPr lang="en-US" i="0" u="none" strike="noStrike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/>
              <a:t> when you instantiate the class</a:t>
            </a:r>
          </a:p>
          <a:p>
            <a:pPr lvl="1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&lt;</a:t>
            </a:r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Thing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&gt; list = new </a:t>
            </a:r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&lt;&gt;()</a:t>
            </a:r>
            <a:r>
              <a:rPr lang="en-US" b="1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&lt;</a:t>
            </a:r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ArrayList&lt;Thing&gt;&gt;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 lists = new </a:t>
            </a:r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&lt;&gt;()</a:t>
            </a:r>
            <a:r>
              <a:rPr lang="en-US" b="1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&lt;</a:t>
            </a:r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Integer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&gt; numbers = new </a:t>
            </a:r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ArrayList</a:t>
            </a:r>
            <a:r>
              <a:rPr lang="en-US" i="0" u="none" strike="noStrike">
                <a:effectLst/>
                <a:latin typeface="+mj-lt"/>
                <a:cs typeface="Consolas" panose="020B0609020204030204" pitchFamily="49" charset="0"/>
              </a:rPr>
              <a:t>&lt;&gt;()</a:t>
            </a:r>
            <a:r>
              <a:rPr lang="en-US" b="1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;</a:t>
            </a:r>
          </a:p>
          <a:p>
            <a:pPr lvl="2"/>
            <a:r>
              <a:rPr lang="en-US" b="1" i="0" u="none" strike="noStrike">
                <a:effectLst/>
                <a:cs typeface="Consolas" panose="020B0609020204030204" pitchFamily="49" charset="0"/>
              </a:rPr>
              <a:t>NOTE: </a:t>
            </a:r>
            <a:r>
              <a:rPr lang="en-US" i="0" u="none" strike="noStrike">
                <a:effectLst/>
                <a:cs typeface="Consolas" panose="020B0609020204030204" pitchFamily="49" charset="0"/>
              </a:rPr>
              <a:t>In between the angle brackets, use...</a:t>
            </a:r>
          </a:p>
          <a:p>
            <a:pPr lvl="3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Boolean</a:t>
            </a:r>
            <a:r>
              <a:rPr lang="en-US">
                <a:cs typeface="Consolas" panose="020B0609020204030204" pitchFamily="49" charset="0"/>
              </a:rPr>
              <a:t> 		instead of </a:t>
            </a:r>
            <a:r>
              <a:rPr lang="en-US">
                <a:solidFill>
                  <a:srgbClr val="0432FF"/>
                </a:solidFill>
                <a:latin typeface="+mj-lt"/>
                <a:cs typeface="Consolas" panose="020B0609020204030204" pitchFamily="49" charset="0"/>
              </a:rPr>
              <a:t>boolean</a:t>
            </a:r>
          </a:p>
          <a:p>
            <a:pPr lvl="3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Character</a:t>
            </a:r>
            <a:r>
              <a:rPr lang="en-US">
                <a:cs typeface="Consolas" panose="020B0609020204030204" pitchFamily="49" charset="0"/>
              </a:rPr>
              <a:t> 	instead of </a:t>
            </a:r>
            <a:r>
              <a:rPr lang="en-US">
                <a:solidFill>
                  <a:srgbClr val="0432FF"/>
                </a:solidFill>
                <a:latin typeface="+mj-lt"/>
                <a:cs typeface="Consolas" panose="020B0609020204030204" pitchFamily="49" charset="0"/>
              </a:rPr>
              <a:t>char</a:t>
            </a:r>
          </a:p>
          <a:p>
            <a:pPr lvl="3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Double</a:t>
            </a:r>
            <a:r>
              <a:rPr lang="en-US">
                <a:cs typeface="Consolas" panose="020B0609020204030204" pitchFamily="49" charset="0"/>
              </a:rPr>
              <a:t> 		instead of </a:t>
            </a:r>
            <a:r>
              <a:rPr lang="en-US">
                <a:solidFill>
                  <a:srgbClr val="0432FF"/>
                </a:solidFill>
                <a:latin typeface="+mj-lt"/>
                <a:cs typeface="Consolas" panose="020B0609020204030204" pitchFamily="49" charset="0"/>
              </a:rPr>
              <a:t>double</a:t>
            </a:r>
          </a:p>
          <a:p>
            <a:pPr lvl="3"/>
            <a:r>
              <a:rPr lang="en-US" i="0" u="none" strike="noStrike">
                <a:solidFill>
                  <a:srgbClr val="00007F"/>
                </a:solidFill>
                <a:effectLst/>
                <a:latin typeface="+mj-lt"/>
                <a:cs typeface="Consolas" panose="020B0609020204030204" pitchFamily="49" charset="0"/>
              </a:rPr>
              <a:t>Integer</a:t>
            </a:r>
            <a:r>
              <a:rPr lang="en-US">
                <a:cs typeface="Consolas" panose="020B0609020204030204" pitchFamily="49" charset="0"/>
              </a:rPr>
              <a:t> 		instead of </a:t>
            </a:r>
            <a:r>
              <a:rPr lang="en-US">
                <a:solidFill>
                  <a:srgbClr val="0432FF"/>
                </a:solidFill>
                <a:latin typeface="+mj-lt"/>
                <a:cs typeface="Consolas" panose="020B0609020204030204" pitchFamily="49" charset="0"/>
              </a:rPr>
              <a:t>int</a:t>
            </a:r>
          </a:p>
          <a:p>
            <a:pPr lvl="3"/>
            <a:r>
              <a:rPr lang="en-US">
                <a:solidFill>
                  <a:srgbClr val="0432FF"/>
                </a:solidFill>
                <a:latin typeface="+mj-lt"/>
                <a:cs typeface="Consolas" panose="020B0609020204030204" pitchFamily="49" charset="0"/>
              </a:rPr>
              <a:t>🤷‍♂️</a:t>
            </a:r>
            <a:endParaRPr lang="en-US">
              <a:latin typeface="+mj-lt"/>
            </a:endParaRPr>
          </a:p>
          <a:p>
            <a:pPr marL="0" indent="0">
              <a:buNone/>
            </a:pPr>
            <a:r>
              <a:rPr 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89422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C024-707A-059A-92B4-01DD7D49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EF1ACE-71FE-9EDF-E629-62C2FE4AA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usage code</a:t>
            </a:r>
          </a:p>
        </p:txBody>
      </p:sp>
    </p:spTree>
    <p:extLst>
      <p:ext uri="{BB962C8B-B14F-4D97-AF65-F5344CB8AC3E}">
        <p14:creationId xmlns:p14="http://schemas.microsoft.com/office/powerpoint/2010/main" val="4175433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3CEE-5F24-6875-78F5-D8466C31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AADFA-DD38-7994-EB18-15C2056A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what does this code print? (the home game)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1DE9D-75E2-0294-D1DB-3B7BF1E72F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&gt; list = new </a:t>
            </a:r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"World"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"Cruel"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1600" b="1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NOTE: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insert so "Cruel" has index 1</a:t>
            </a:r>
          </a:p>
          <a:p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list.size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()); 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list.get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)); 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list.remove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list.set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 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"Summer"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449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2033-189F-45BB-911E-851890CF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3A817C-AEAB-8726-4249-0F81EEFA2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/>
              <a:t>usage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26AF4-BADB-C3D7-7AB3-4026AB691D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&gt; list = new </a:t>
            </a:r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PRINT(list); 			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[]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"World"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[Hello, World]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list.add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"Cruel"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[Hello, Cruel, World]</a:t>
            </a: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list.size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()); 	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3</a:t>
            </a: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list.get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)); 	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Cruel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list.remove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[Cruel, World]</a:t>
            </a:r>
          </a:p>
          <a:p>
            <a:r>
              <a:rPr lang="en-US" sz="1600" err="1">
                <a:latin typeface="Consolas" panose="020B0609020204030204" pitchFamily="49" charset="0"/>
                <a:cs typeface="Consolas" panose="020B0609020204030204" pitchFamily="49" charset="0"/>
              </a:rPr>
              <a:t>list.set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>
                <a:solidFill>
                  <a:srgbClr val="0CB5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 </a:t>
            </a:r>
            <a:r>
              <a:rPr lang="en-US" sz="1600">
                <a:solidFill>
                  <a:srgbClr val="B60E0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"Summer"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600">
              <a:solidFill>
                <a:srgbClr val="007B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(list); 			 </a:t>
            </a:r>
            <a:r>
              <a:rPr lang="en-US" sz="1600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[Cruel, Summer]</a:t>
            </a:r>
          </a:p>
          <a:p>
            <a:endParaRPr 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51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94CAF-5A49-2C96-8931-4C1B7331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64922-CEA1-8722-B74C-8BB21823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size (length) of the </a:t>
            </a:r>
            <a:r>
              <a:rPr lang="en-US" i="1"/>
              <a:t>list</a:t>
            </a:r>
            <a:br>
              <a:rPr lang="en-US"/>
            </a:br>
            <a:r>
              <a:rPr lang="en-US"/>
              <a:t>vs.</a:t>
            </a:r>
            <a:br>
              <a:rPr lang="en-US"/>
            </a:br>
            <a:r>
              <a:rPr lang="en-US"/>
              <a:t>the </a:t>
            </a:r>
            <a:r>
              <a:rPr lang="en-US" i="1"/>
              <a:t>list's capacity</a:t>
            </a:r>
          </a:p>
        </p:txBody>
      </p:sp>
    </p:spTree>
    <p:extLst>
      <p:ext uri="{BB962C8B-B14F-4D97-AF65-F5344CB8AC3E}">
        <p14:creationId xmlns:p14="http://schemas.microsoft.com/office/powerpoint/2010/main" val="9488489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2F56-A72C-4739-2578-2DD5A4A0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4F8236-C569-0319-0D81-DAF183A55EBF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E16D7-0AE7-C82E-BEE9-FE5F4E1F7FED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EC0B9-D7CA-148B-B0B1-35A6C81C415B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D4B7F-9D67-0E67-9DE1-BA33B0C196FA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DB1C8B-B31A-F3E3-B5C6-A20451189ECF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E118AB8-BA47-BBB8-AF16-33599039567F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4B917B3-110B-AABB-F062-4507861E494B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C76930E-E8F2-F443-E97C-E3E436BD35FC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A8F04-2132-F903-2898-2C2E0CB5C52B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C718BB8-9BB4-FA84-B495-11363EC78914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7DB1A46-D428-9FE3-D607-539158515260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8B22342-FCC8-CD38-CBE1-19176039C480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CD4F8E-1B6A-CAB7-4B3C-60029E9FDF71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5E8BF7-7F2E-B622-1C12-1B8BCD5D463C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884B733-96F6-9A8C-79B0-355148A318E7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6DB0315-8706-FE1D-D90B-C1963AAA5021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0019D65-5F00-5BD2-10CE-655A8BB3080A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E8415EF-C4CD-7810-0081-25830CF8B523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BB92C7B-A9FB-8CEB-D31C-15144F450783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85E6E36-32A8-C2F6-F08C-1B89E90C46F1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40F5064-8B97-A428-12B3-FB177C800B0A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6460A30-2850-DC5C-FE81-52FEB4D5EA88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CCA0E-C859-E329-A563-0FEC46E36755}"/>
              </a:ext>
            </a:extLst>
          </p:cNvPr>
          <p:cNvSpPr txBox="1"/>
          <p:nvPr/>
        </p:nvSpPr>
        <p:spPr>
          <a:xfrm>
            <a:off x="4610281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20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37C056-282B-04D1-3E9F-B7F61B3F8132}"/>
              </a:ext>
            </a:extLst>
          </p:cNvPr>
          <p:cNvGrpSpPr/>
          <p:nvPr/>
        </p:nvGrpSpPr>
        <p:grpSpPr>
          <a:xfrm>
            <a:off x="1303110" y="782583"/>
            <a:ext cx="3965558" cy="461665"/>
            <a:chOff x="1303110" y="782583"/>
            <a:chExt cx="3965558" cy="46166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681889B-3D3F-4CBD-98D7-017B1B22935E}"/>
                </a:ext>
              </a:extLst>
            </p:cNvPr>
            <p:cNvCxnSpPr>
              <a:cxnSpLocks/>
            </p:cNvCxnSpPr>
            <p:nvPr/>
          </p:nvCxnSpPr>
          <p:spPr>
            <a:xfrm>
              <a:off x="1303110" y="1029606"/>
              <a:ext cx="3965558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7408D0-E171-951C-AD51-F4894373F222}"/>
                </a:ext>
              </a:extLst>
            </p:cNvPr>
            <p:cNvSpPr txBox="1"/>
            <p:nvPr/>
          </p:nvSpPr>
          <p:spPr>
            <a:xfrm>
              <a:off x="2602523" y="782583"/>
              <a:ext cx="139697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27432" rIns="27432" rtlCol="0">
              <a:spAutoFit/>
            </a:bodyPr>
            <a:lstStyle/>
            <a:p>
              <a:pPr algn="ctr"/>
              <a:r>
                <a:rPr lang="en-US" sz="2400"/>
                <a:t>length (5)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2B8665-58DC-62F8-BA14-C5F5EAC9FAA3}"/>
              </a:ext>
            </a:extLst>
          </p:cNvPr>
          <p:cNvGrpSpPr/>
          <p:nvPr/>
        </p:nvGrpSpPr>
        <p:grpSpPr>
          <a:xfrm>
            <a:off x="1292071" y="260918"/>
            <a:ext cx="6400974" cy="461665"/>
            <a:chOff x="1292071" y="260918"/>
            <a:chExt cx="6400974" cy="46166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1E225AF-E799-9517-496B-BCBD093DDF93}"/>
                </a:ext>
              </a:extLst>
            </p:cNvPr>
            <p:cNvCxnSpPr>
              <a:cxnSpLocks/>
            </p:cNvCxnSpPr>
            <p:nvPr/>
          </p:nvCxnSpPr>
          <p:spPr>
            <a:xfrm>
              <a:off x="1292071" y="507941"/>
              <a:ext cx="6400974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1C2527-EDCB-64AB-0FD8-759C9F1A7D80}"/>
                </a:ext>
              </a:extLst>
            </p:cNvPr>
            <p:cNvSpPr txBox="1"/>
            <p:nvPr/>
          </p:nvSpPr>
          <p:spPr>
            <a:xfrm>
              <a:off x="3487036" y="260918"/>
              <a:ext cx="174866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27432" rIns="27432" rtlCol="0">
              <a:spAutoFit/>
            </a:bodyPr>
            <a:lstStyle/>
            <a:p>
              <a:pPr algn="ctr"/>
              <a:r>
                <a:rPr lang="en-US" sz="2400"/>
                <a:t>capacity (8)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804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F206-70C5-E96B-567C-59770D5A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92672A-CDDC-9DC4-55C0-57D4F6D05DAB}"/>
              </a:ext>
            </a:extLst>
          </p:cNvPr>
          <p:cNvSpPr txBox="1"/>
          <p:nvPr/>
        </p:nvSpPr>
        <p:spPr>
          <a:xfrm>
            <a:off x="2845965" y="2150703"/>
            <a:ext cx="303080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500">
                <a:solidFill>
                  <a:srgbClr val="000000"/>
                </a:solidFill>
                <a:latin typeface="Arial"/>
                <a:ea typeface="Segoe UI Emoji" panose="020B0502040204020203" pitchFamily="34" charset="0"/>
                <a:cs typeface="+mj-cs"/>
              </a:rPr>
              <a:t>👩‍🌾</a:t>
            </a:r>
            <a:endParaRPr lang="en-US" sz="8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1E192-B8F8-12B3-ED0A-6766338DCF35}"/>
              </a:ext>
            </a:extLst>
          </p:cNvPr>
          <p:cNvSpPr/>
          <p:nvPr/>
        </p:nvSpPr>
        <p:spPr>
          <a:xfrm>
            <a:off x="1844997" y="3820247"/>
            <a:ext cx="5224130" cy="13113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2B11E0-495A-FFCA-BEEC-020126229BBC}"/>
              </a:ext>
            </a:extLst>
          </p:cNvPr>
          <p:cNvSpPr txBox="1"/>
          <p:nvPr/>
        </p:nvSpPr>
        <p:spPr>
          <a:xfrm>
            <a:off x="2226356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0A6264-BB96-AF36-C787-24C6191F6BB6}"/>
              </a:ext>
            </a:extLst>
          </p:cNvPr>
          <p:cNvSpPr txBox="1"/>
          <p:nvPr/>
        </p:nvSpPr>
        <p:spPr>
          <a:xfrm>
            <a:off x="3018741" y="155751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0B74D0-0A45-58F1-68FC-C46386B80452}"/>
              </a:ext>
            </a:extLst>
          </p:cNvPr>
          <p:cNvSpPr txBox="1"/>
          <p:nvPr/>
        </p:nvSpPr>
        <p:spPr>
          <a:xfrm>
            <a:off x="3796829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6CA1BD-1B0B-8406-8F77-0453F429EA74}"/>
              </a:ext>
            </a:extLst>
          </p:cNvPr>
          <p:cNvGrpSpPr/>
          <p:nvPr/>
        </p:nvGrpSpPr>
        <p:grpSpPr>
          <a:xfrm>
            <a:off x="1303110" y="1353818"/>
            <a:ext cx="6393846" cy="915812"/>
            <a:chOff x="1303110" y="1353818"/>
            <a:chExt cx="6393846" cy="91581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173D8F9-6E99-0F6E-F967-7E6DD219F242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C6BB24A-347D-1048-053B-EB11EA99F183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B780EF5-1DE0-545F-FE51-FDC9FA3A6B91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99E644A-8476-3056-AFD9-B508EB46BEBD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AED2CE3-5E2E-5683-CDBA-32006AFBED50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36071F1-05F5-912C-247D-33541C4D3C5D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38B70CB-7D93-ACA5-79CC-A68F57537A41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7F3C2B8-7C8A-3710-32D7-9D744921F0BA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E8E0D48-FCC3-B3F7-1EEC-F1DE75CBFE3C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24EBC57-CB51-2700-4F08-1AB0C28E1975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A55A019-C7D1-0574-C660-ADB355B66FF5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DA2F1EF-B60B-EFFD-0865-ED6376574FB4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44AF84F-AE99-9E13-2834-41985C2AA635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17C9CF2-EE34-3205-2B88-EF1581EAA4C8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74E45B-B980-14F0-4ED5-702232A5EE08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20821D3-1113-1D4C-2D1D-C62558AFBC53}"/>
              </a:ext>
            </a:extLst>
          </p:cNvPr>
          <p:cNvSpPr txBox="1"/>
          <p:nvPr/>
        </p:nvSpPr>
        <p:spPr>
          <a:xfrm>
            <a:off x="1475101" y="155752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45279-EB66-B6C3-AB98-1BBD5972FED8}"/>
              </a:ext>
            </a:extLst>
          </p:cNvPr>
          <p:cNvSpPr txBox="1"/>
          <p:nvPr/>
        </p:nvSpPr>
        <p:spPr>
          <a:xfrm>
            <a:off x="4610281" y="1548691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🍇</a:t>
            </a:r>
            <a:endParaRPr lang="en-US" sz="20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52D125-49D3-6FC5-3F14-7A956EEE4E8E}"/>
              </a:ext>
            </a:extLst>
          </p:cNvPr>
          <p:cNvGrpSpPr/>
          <p:nvPr/>
        </p:nvGrpSpPr>
        <p:grpSpPr>
          <a:xfrm>
            <a:off x="1303110" y="782583"/>
            <a:ext cx="3965558" cy="461665"/>
            <a:chOff x="1303110" y="782583"/>
            <a:chExt cx="3965558" cy="46166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A2E6CE-E6DA-11A2-63F2-8D60F21898BF}"/>
                </a:ext>
              </a:extLst>
            </p:cNvPr>
            <p:cNvCxnSpPr>
              <a:cxnSpLocks/>
            </p:cNvCxnSpPr>
            <p:nvPr/>
          </p:nvCxnSpPr>
          <p:spPr>
            <a:xfrm>
              <a:off x="1303110" y="1029606"/>
              <a:ext cx="3965558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3345EC-78A5-78FC-B505-1CF587F9BE0F}"/>
                </a:ext>
              </a:extLst>
            </p:cNvPr>
            <p:cNvSpPr txBox="1"/>
            <p:nvPr/>
          </p:nvSpPr>
          <p:spPr>
            <a:xfrm>
              <a:off x="2492829" y="782583"/>
              <a:ext cx="161636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27432" rIns="27432" rtlCol="0">
              <a:spAutoFit/>
            </a:bodyPr>
            <a:lstStyle/>
            <a:p>
              <a:pPr algn="ctr"/>
              <a:r>
                <a:rPr lang="en-US" sz="2400">
                  <a:latin typeface="+mj-lt"/>
                </a:rPr>
                <a:t>size()</a:t>
              </a:r>
              <a:r>
                <a:rPr lang="en-US" sz="2400"/>
                <a:t> (5)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6FC01E5-9D7A-8ADC-D2B2-68B10967679C}"/>
              </a:ext>
            </a:extLst>
          </p:cNvPr>
          <p:cNvGrpSpPr/>
          <p:nvPr/>
        </p:nvGrpSpPr>
        <p:grpSpPr>
          <a:xfrm>
            <a:off x="1292071" y="260918"/>
            <a:ext cx="6400974" cy="461665"/>
            <a:chOff x="1292071" y="260918"/>
            <a:chExt cx="6400974" cy="46166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596F845-B680-28E0-65A1-F082A6AC2606}"/>
                </a:ext>
              </a:extLst>
            </p:cNvPr>
            <p:cNvCxnSpPr>
              <a:cxnSpLocks/>
            </p:cNvCxnSpPr>
            <p:nvPr/>
          </p:nvCxnSpPr>
          <p:spPr>
            <a:xfrm>
              <a:off x="1292071" y="507941"/>
              <a:ext cx="6400974" cy="0"/>
            </a:xfrm>
            <a:prstGeom prst="straightConnector1">
              <a:avLst/>
            </a:prstGeom>
            <a:ln w="57150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83BB5B-DE12-C27E-1B38-FFC7A838044F}"/>
                </a:ext>
              </a:extLst>
            </p:cNvPr>
            <p:cNvSpPr txBox="1"/>
            <p:nvPr/>
          </p:nvSpPr>
          <p:spPr>
            <a:xfrm>
              <a:off x="3487036" y="260918"/>
              <a:ext cx="174866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27432" rIns="27432" rtlCol="0">
              <a:spAutoFit/>
            </a:bodyPr>
            <a:lstStyle/>
            <a:p>
              <a:pPr algn="ctr"/>
              <a:r>
                <a:rPr lang="en-US" sz="2400"/>
                <a:t>capacity (8)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4397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CB641-2889-BAD2-C866-DA643BAC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CB2D-E241-D276-48F0-A99EEB36F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pPr lvl="0"/>
            <a:r>
              <a:rPr lang="en-US"/>
              <a:t>the internal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DB337-3B21-1C58-6AAB-B37BD97436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8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an array list's </a:t>
            </a:r>
            <a:r>
              <a:rPr lang="en-US" b="1"/>
              <a:t>length</a:t>
            </a:r>
            <a:r>
              <a:rPr lang="en-US"/>
              <a:t> (</a:t>
            </a:r>
            <a:r>
              <a:rPr lang="en-US" b="1"/>
              <a:t>size</a:t>
            </a:r>
            <a:r>
              <a:rPr lang="en-US"/>
              <a:t>) is the number of elements stored in the list</a:t>
            </a:r>
          </a:p>
          <a:p>
            <a:r>
              <a:rPr lang="en-US"/>
              <a:t>an array list stores its elements inside of an internal </a:t>
            </a:r>
            <a:r>
              <a:rPr lang="en-US" b="1"/>
              <a:t>array</a:t>
            </a:r>
          </a:p>
          <a:p>
            <a:pPr lvl="1"/>
            <a:r>
              <a:rPr lang="en-US"/>
              <a:t>an array list's </a:t>
            </a:r>
            <a:r>
              <a:rPr lang="en-US" b="1"/>
              <a:t>capacity</a:t>
            </a:r>
            <a:r>
              <a:rPr lang="en-US"/>
              <a:t> is the length of this array</a:t>
            </a:r>
          </a:p>
          <a:p>
            <a:pPr lvl="1"/>
            <a:r>
              <a:rPr lang="en-US" b="1"/>
              <a:t>✅ </a:t>
            </a:r>
            <a:r>
              <a:rPr lang="en-US" b="1">
                <a:solidFill>
                  <a:srgbClr val="00D26A"/>
                </a:solidFill>
              </a:rPr>
              <a:t>length &lt;= capacity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CF025-7824-CD42-62F4-94C5C1E969A7}"/>
              </a:ext>
            </a:extLst>
          </p:cNvPr>
          <p:cNvSpPr txBox="1"/>
          <p:nvPr/>
        </p:nvSpPr>
        <p:spPr>
          <a:xfrm>
            <a:off x="457200" y="2667520"/>
            <a:ext cx="822960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+mj-lt"/>
                <a:cs typeface="Consolas" panose="020B0609020204030204" pitchFamily="49" charset="0"/>
              </a:rPr>
              <a:t>class</a:t>
            </a:r>
            <a:r>
              <a:rPr lang="en-US">
                <a:latin typeface="+mj-lt"/>
                <a:cs typeface="Consolas" panose="020B0609020204030204" pitchFamily="49" charset="0"/>
              </a:rPr>
              <a:t> </a:t>
            </a:r>
            <a:r>
              <a:rPr lang="en-US" err="1">
                <a:solidFill>
                  <a:srgbClr val="000080"/>
                </a:solidFill>
                <a:latin typeface="+mj-lt"/>
                <a:cs typeface="Consolas" panose="020B0609020204030204" pitchFamily="49" charset="0"/>
              </a:rPr>
              <a:t>ArrayList</a:t>
            </a:r>
            <a:r>
              <a:rPr lang="en-US">
                <a:latin typeface="+mj-lt"/>
                <a:cs typeface="Consolas" panose="020B0609020204030204" pitchFamily="49" charset="0"/>
              </a:rPr>
              <a:t>&lt;</a:t>
            </a:r>
            <a:r>
              <a:rPr lang="en-US" err="1">
                <a:solidFill>
                  <a:srgbClr val="000080"/>
                </a:solidFill>
                <a:latin typeface="+mj-lt"/>
                <a:cs typeface="Consolas" panose="020B0609020204030204" pitchFamily="49" charset="0"/>
              </a:rPr>
              <a:t>ElementType</a:t>
            </a:r>
            <a:r>
              <a:rPr lang="en-US">
                <a:latin typeface="+mj-lt"/>
                <a:cs typeface="Consolas" panose="020B0609020204030204" pitchFamily="49" charset="0"/>
              </a:rPr>
              <a:t>&gt; { </a:t>
            </a: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Consolas"/>
              </a:rPr>
              <a:t>    private </a:t>
            </a:r>
            <a:r>
              <a:rPr lang="en-US">
                <a:solidFill>
                  <a:srgbClr val="000080"/>
                </a:solidFill>
                <a:latin typeface="Consolas"/>
              </a:rPr>
              <a:t>int</a:t>
            </a:r>
            <a:r>
              <a:rPr lang="en-US">
                <a:solidFill>
                  <a:srgbClr val="000000"/>
                </a:solidFill>
                <a:latin typeface="Consolas"/>
              </a:rPr>
              <a:t>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length</a:t>
            </a:r>
            <a:r>
              <a:rPr lang="en-US">
                <a:solidFill>
                  <a:srgbClr val="000000"/>
                </a:solidFill>
                <a:latin typeface="Consolas"/>
              </a:rPr>
              <a:t>; </a:t>
            </a:r>
            <a:r>
              <a:rPr lang="en-US">
                <a:solidFill>
                  <a:srgbClr val="007B00"/>
                </a:solidFill>
                <a:latin typeface="Consolas"/>
              </a:rPr>
              <a:t>//</a:t>
            </a:r>
            <a:r>
              <a:rPr lang="en-US" b="1">
                <a:solidFill>
                  <a:srgbClr val="007B00"/>
                </a:solidFill>
                <a:latin typeface="Consolas"/>
              </a:rPr>
              <a:t> NOTE: </a:t>
            </a:r>
            <a:r>
              <a:rPr lang="en-US">
                <a:solidFill>
                  <a:srgbClr val="007B00"/>
                </a:solidFill>
                <a:latin typeface="Consolas"/>
              </a:rPr>
              <a:t>call</a:t>
            </a:r>
            <a:r>
              <a:rPr lang="en-US" b="1">
                <a:solidFill>
                  <a:srgbClr val="007B00"/>
                </a:solidFill>
                <a:latin typeface="Consolas"/>
              </a:rPr>
              <a:t> </a:t>
            </a:r>
            <a:r>
              <a:rPr lang="en-US">
                <a:solidFill>
                  <a:srgbClr val="007B00"/>
                </a:solidFill>
                <a:latin typeface="Consolas"/>
              </a:rPr>
              <a:t>size() to get this </a:t>
            </a:r>
            <a:r>
              <a:rPr lang="en-US">
                <a:solidFill>
                  <a:srgbClr val="000000"/>
                </a:solidFill>
                <a:latin typeface="Consolas"/>
              </a:rPr>
              <a:t> </a:t>
            </a:r>
            <a:endParaRPr lang="en-US">
              <a:solidFill>
                <a:srgbClr val="0000FF"/>
              </a:solidFill>
              <a:latin typeface="+mj-lt"/>
              <a:cs typeface="Consolas" panose="020B0609020204030204" pitchFamily="49" charset="0"/>
            </a:endParaRPr>
          </a:p>
          <a:p>
            <a:pPr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+mj-lt"/>
                <a:cs typeface="Consolas" panose="020B0609020204030204" pitchFamily="49" charset="0"/>
              </a:rPr>
              <a:t>    </a:t>
            </a:r>
          </a:p>
          <a:p>
            <a:pPr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00FF"/>
                </a:solidFill>
                <a:latin typeface="+mj-lt"/>
                <a:cs typeface="Consolas" panose="020B0609020204030204" pitchFamily="49" charset="0"/>
              </a:rPr>
              <a:t>    private</a:t>
            </a:r>
            <a:r>
              <a:rPr lang="en-US">
                <a:latin typeface="+mj-lt"/>
                <a:cs typeface="Consolas" panose="020B0609020204030204" pitchFamily="49" charset="0"/>
              </a:rPr>
              <a:t> </a:t>
            </a:r>
            <a:r>
              <a:rPr lang="en-US" err="1">
                <a:solidFill>
                  <a:srgbClr val="000080"/>
                </a:solidFill>
                <a:latin typeface="+mj-lt"/>
                <a:cs typeface="Consolas" panose="020B0609020204030204" pitchFamily="49" charset="0"/>
              </a:rPr>
              <a:t>ElementType</a:t>
            </a:r>
            <a:r>
              <a:rPr lang="en-US">
                <a:latin typeface="+mj-lt"/>
                <a:cs typeface="Consolas" panose="020B0609020204030204" pitchFamily="49" charset="0"/>
              </a:rPr>
              <a:t>[] </a:t>
            </a:r>
            <a:r>
              <a:rPr lang="en-US" err="1">
                <a:latin typeface="+mj-lt"/>
                <a:cs typeface="Consolas" panose="020B0609020204030204" pitchFamily="49" charset="0"/>
              </a:rPr>
              <a:t>internalArray</a:t>
            </a:r>
            <a:r>
              <a:rPr lang="en-US">
                <a:solidFill>
                  <a:srgbClr val="000080"/>
                </a:solidFill>
                <a:latin typeface="+mj-lt"/>
                <a:cs typeface="Consolas" panose="020B0609020204030204" pitchFamily="49" charset="0"/>
              </a:rPr>
              <a:t>;</a:t>
            </a:r>
            <a:endParaRPr lang="en-US">
              <a:solidFill>
                <a:srgbClr val="007B00"/>
              </a:solidFill>
              <a:latin typeface="Consolas"/>
            </a:endParaRPr>
          </a:p>
          <a:p>
            <a:pPr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solidFill>
                  <a:srgbClr val="007B00"/>
                </a:solidFill>
                <a:latin typeface="Consolas"/>
              </a:rPr>
              <a:t>    //</a:t>
            </a:r>
            <a:r>
              <a:rPr lang="en-US" b="1">
                <a:solidFill>
                  <a:srgbClr val="007B00"/>
                </a:solidFill>
                <a:latin typeface="Consolas"/>
              </a:rPr>
              <a:t> NOTE: </a:t>
            </a:r>
            <a:r>
              <a:rPr lang="en-US">
                <a:solidFill>
                  <a:srgbClr val="007B00"/>
                </a:solidFill>
                <a:latin typeface="Consolas"/>
              </a:rPr>
              <a:t>the list's capacity is </a:t>
            </a:r>
            <a:r>
              <a:rPr lang="en-US" err="1">
                <a:solidFill>
                  <a:srgbClr val="007B00"/>
                </a:solidFill>
                <a:latin typeface="Consolas"/>
              </a:rPr>
              <a:t>internalArray.length</a:t>
            </a:r>
            <a:endParaRPr lang="en-US">
              <a:solidFill>
                <a:srgbClr val="0000FF"/>
              </a:solidFill>
              <a:latin typeface="+mj-lt"/>
            </a:endParaRPr>
          </a:p>
          <a:p>
            <a:pPr lvl="0" defTabSz="342886">
              <a:spcBef>
                <a:spcPct val="20000"/>
              </a:spcBef>
              <a:buClr>
                <a:srgbClr val="FFFFFF">
                  <a:lumMod val="65000"/>
                </a:srgbClr>
              </a:buClr>
            </a:pPr>
            <a:r>
              <a:rPr lang="en-US">
                <a:latin typeface="+mj-lt"/>
                <a:ea typeface="Segoe UI Emoji" panose="020B0502040204020203" pitchFamily="34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605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60AE-5483-C98F-84DD-BB850CCF8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DB2F-3F0C-6165-B641-8479E482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Autofit/>
          </a:bodyPr>
          <a:lstStyle/>
          <a:p>
            <a:pPr lvl="0"/>
            <a:r>
              <a:rPr lang="en-US" sz="2800" b="1">
                <a:solidFill>
                  <a:srgbClr val="00D26A"/>
                </a:solidFill>
              </a:rPr>
              <a:t>✅ length is not the same thing as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3016-C7E7-3578-C0A0-742253DA6E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8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imagine </a:t>
            </a:r>
            <a:r>
              <a:rPr lang="en-US" err="1">
                <a:solidFill>
                  <a:srgbClr val="000080"/>
                </a:solidFill>
                <a:latin typeface="+mj-lt"/>
              </a:rPr>
              <a:t>ArrayList</a:t>
            </a:r>
            <a:r>
              <a:rPr lang="en-US">
                <a:latin typeface="+mj-lt"/>
              </a:rPr>
              <a:t>&lt;</a:t>
            </a:r>
            <a:r>
              <a:rPr lang="en-US">
                <a:solidFill>
                  <a:srgbClr val="000080"/>
                </a:solidFill>
                <a:latin typeface="+mj-lt"/>
              </a:rPr>
              <a:t>String</a:t>
            </a:r>
            <a:r>
              <a:rPr lang="en-US">
                <a:latin typeface="+mj-lt"/>
              </a:rPr>
              <a:t>&gt; </a:t>
            </a:r>
            <a:r>
              <a:rPr lang="en-US" err="1">
                <a:latin typeface="+mj-lt"/>
              </a:rPr>
              <a:t>bestaurants</a:t>
            </a:r>
            <a:r>
              <a:rPr lang="en-US">
                <a:latin typeface="+mj-lt"/>
              </a:rPr>
              <a:t>;</a:t>
            </a:r>
            <a:br>
              <a:rPr lang="en-US">
                <a:latin typeface="+mj-lt"/>
              </a:rPr>
            </a:br>
            <a:r>
              <a:rPr lang="en-US">
                <a:latin typeface="+mj-lt"/>
              </a:rPr>
              <a:t>with </a:t>
            </a:r>
            <a:r>
              <a:rPr lang="en-US"/>
              <a:t>length (size) 3 and capacity 5</a:t>
            </a:r>
            <a:br>
              <a:rPr lang="en-US"/>
            </a:br>
            <a:endParaRPr lang="en-US"/>
          </a:p>
          <a:p>
            <a:r>
              <a:rPr lang="en-US">
                <a:cs typeface="Consolas" panose="020B0609020204030204" pitchFamily="49" charset="0"/>
              </a:rPr>
              <a:t>if we could 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bestaurants.internalArray)</a:t>
            </a:r>
            <a:r>
              <a:rPr lang="en-US" err="1">
                <a:cs typeface="Consolas" panose="020B0609020204030204" pitchFamily="49" charset="0"/>
              </a:rPr>
              <a:t>...</a:t>
            </a:r>
            <a:b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["</a:t>
            </a:r>
            <a:r>
              <a:rPr lang="en-US" b="1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Blango</a:t>
            </a:r>
            <a:r>
              <a:rPr lang="en-US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b="1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Sproot</a:t>
            </a:r>
            <a:r>
              <a:rPr lang="en-US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b="1" err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Sparket</a:t>
            </a:r>
            <a:r>
              <a:rPr lang="en-US" b="1">
                <a:solidFill>
                  <a:schemeClr val="accent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null, null]</a:t>
            </a:r>
            <a:br>
              <a:rPr lang="en-US" b="1">
                <a:solidFill>
                  <a:schemeClr val="accent6"/>
                </a:solidFill>
              </a:rPr>
            </a:br>
            <a:r>
              <a:rPr lang="en-US"/>
              <a:t>...we would see </a:t>
            </a:r>
            <a:r>
              <a:rPr lang="en-US">
                <a:latin typeface="+mj-lt"/>
              </a:rPr>
              <a:t>5 – 3 = 2</a:t>
            </a:r>
            <a:r>
              <a:rPr lang="en-US"/>
              <a:t> "empty slots"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FCD10-2375-0FBE-1FB7-C3E63F6D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03473"/>
            <a:ext cx="6467676" cy="1503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419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6345-958C-2B0E-C44C-3FFC1D9B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FC5052-99FD-9DE6-DA74-B27A370E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continued</a:t>
            </a:r>
          </a:p>
        </p:txBody>
      </p:sp>
    </p:spTree>
    <p:extLst>
      <p:ext uri="{BB962C8B-B14F-4D97-AF65-F5344CB8AC3E}">
        <p14:creationId xmlns:p14="http://schemas.microsoft.com/office/powerpoint/2010/main" val="468398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BB03-6F10-6A51-0A85-6CBC201B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9797-499D-5746-2B4E-12039186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rmAutofit/>
          </a:bodyPr>
          <a:lstStyle/>
          <a:p>
            <a:pPr lvl="0"/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3200"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3200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320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7B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CBA3A-EB3B-485A-56AC-E012BC00B83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8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a new array list should have...</a:t>
            </a:r>
          </a:p>
          <a:p>
            <a:pPr lvl="1"/>
            <a:r>
              <a:rPr lang="en-US" err="1">
                <a:solidFill>
                  <a:srgbClr val="0000FF"/>
                </a:solidFill>
                <a:latin typeface="Consolas"/>
              </a:rPr>
              <a:t>this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.length</a:t>
            </a:r>
            <a:r>
              <a:rPr lang="en-US">
                <a:solidFill>
                  <a:srgbClr val="000000"/>
                </a:solidFill>
                <a:latin typeface="Consolas"/>
              </a:rPr>
              <a:t> = </a:t>
            </a:r>
            <a:r>
              <a:rPr lang="en-US">
                <a:solidFill>
                  <a:srgbClr val="0CB5B5"/>
                </a:solidFill>
                <a:latin typeface="Consolas"/>
              </a:rPr>
              <a:t>0</a:t>
            </a:r>
            <a:r>
              <a:rPr lang="en-US">
                <a:solidFill>
                  <a:srgbClr val="000000"/>
                </a:solidFill>
                <a:latin typeface="Consolas"/>
              </a:rPr>
              <a:t>;</a:t>
            </a:r>
          </a:p>
          <a:p>
            <a:pPr lvl="1"/>
            <a:r>
              <a:rPr lang="en-US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.internalArray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INITIAL_CAPACITY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endParaRPr lang="en-US">
              <a:solidFill>
                <a:srgbClr val="000000"/>
              </a:solidFill>
              <a:latin typeface="Consolas"/>
            </a:endParaRPr>
          </a:p>
          <a:p>
            <a:pPr lvl="1"/>
            <a:endParaRPr lang="en-US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b="1">
                <a:solidFill>
                  <a:srgbClr val="000000"/>
                </a:solidFill>
              </a:rPr>
              <a:t>NOTE: </a:t>
            </a:r>
            <a:r>
              <a:rPr lang="en-US">
                <a:solidFill>
                  <a:srgbClr val="000000"/>
                </a:solidFill>
              </a:rPr>
              <a:t>there isn't one right choice for </a:t>
            </a:r>
            <a:r>
              <a:rPr lang="en-US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INITIAL_CAPACITY</a:t>
            </a:r>
            <a:endParaRPr lang="en-US">
              <a:solidFill>
                <a:srgbClr val="000000"/>
              </a:solidFill>
            </a:endParaRPr>
          </a:p>
          <a:p>
            <a:pPr lvl="2"/>
            <a:r>
              <a:rPr lang="en-US">
                <a:cs typeface="Consolas" panose="020B0609020204030204" pitchFamily="49" charset="0"/>
              </a:rPr>
              <a:t>perhaps...</a:t>
            </a:r>
            <a:r>
              <a:rPr lang="en-US">
                <a:solidFill>
                  <a:srgbClr val="0CB5B5"/>
                </a:solidFill>
                <a:cs typeface="Consolas" panose="020B0609020204030204" pitchFamily="49" charset="0"/>
              </a:rPr>
              <a:t>0</a:t>
            </a:r>
            <a:r>
              <a:rPr lang="en-US">
                <a:cs typeface="Consolas" panose="020B0609020204030204" pitchFamily="49" charset="0"/>
              </a:rPr>
              <a:t>?</a:t>
            </a:r>
            <a:endParaRPr lang="en-US"/>
          </a:p>
          <a:p>
            <a:pPr lvl="2"/>
            <a:r>
              <a:rPr lang="en-US">
                <a:cs typeface="Consolas" panose="020B0609020204030204" pitchFamily="49" charset="0"/>
              </a:rPr>
              <a:t>perhaps </a:t>
            </a:r>
            <a:r>
              <a:rPr lang="en-US">
                <a:solidFill>
                  <a:srgbClr val="0CB5B5"/>
                </a:solidFill>
                <a:cs typeface="Consolas" panose="020B0609020204030204" pitchFamily="49" charset="0"/>
              </a:rPr>
              <a:t>8</a:t>
            </a:r>
            <a:r>
              <a:rPr lang="en-US">
                <a:cs typeface="Consolas" panose="020B0609020204030204" pitchFamily="49" charset="0"/>
              </a:rPr>
              <a:t>?</a:t>
            </a:r>
          </a:p>
          <a:p>
            <a:pPr lvl="2"/>
            <a:r>
              <a:rPr lang="en-US">
                <a:cs typeface="Consolas" panose="020B0609020204030204" pitchFamily="49" charset="0"/>
              </a:rPr>
              <a:t>🤷‍♂️</a:t>
            </a:r>
          </a:p>
        </p:txBody>
      </p:sp>
    </p:spTree>
    <p:extLst>
      <p:ext uri="{BB962C8B-B14F-4D97-AF65-F5344CB8AC3E}">
        <p14:creationId xmlns:p14="http://schemas.microsoft.com/office/powerpoint/2010/main" val="22769819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BDF0-D2A3-2AF6-7DE4-8E366B6DA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7A18-C191-21C2-898F-5ACC643E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Autofit/>
          </a:bodyPr>
          <a:lstStyle/>
          <a:p>
            <a:pPr lvl="0"/>
            <a:r>
              <a:rPr lang="en-US" sz="28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get(</a:t>
            </a:r>
            <a:r>
              <a:rPr lang="en-US" sz="28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index) { </a:t>
            </a:r>
            <a:r>
              <a:rPr lang="en-US" sz="2800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1DEF9-8CBD-B736-078A-1F08CBF14C8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8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to </a:t>
            </a:r>
            <a:r>
              <a:rPr lang="en-US" b="1"/>
              <a:t>get</a:t>
            </a:r>
            <a:r>
              <a:rPr lang="en-US"/>
              <a:t> an element with a given </a:t>
            </a:r>
            <a:r>
              <a:rPr lang="en-US">
                <a:latin typeface="+mj-lt"/>
              </a:rPr>
              <a:t>index</a:t>
            </a:r>
            <a:r>
              <a:rPr lang="en-US"/>
              <a:t>...</a:t>
            </a:r>
          </a:p>
          <a:p>
            <a:pPr lvl="1"/>
            <a:r>
              <a:rPr lang="en-US">
                <a:solidFill>
                  <a:srgbClr val="0000FF"/>
                </a:solidFill>
                <a:latin typeface="Consolas"/>
              </a:rPr>
              <a:t>return </a:t>
            </a:r>
            <a:r>
              <a:rPr lang="en-US">
                <a:solidFill>
                  <a:srgbClr val="000000"/>
                </a:solidFill>
                <a:latin typeface="Consolas"/>
              </a:rPr>
              <a:t>internal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Array</a:t>
            </a:r>
            <a:r>
              <a:rPr lang="en-US">
                <a:solidFill>
                  <a:srgbClr val="000000"/>
                </a:solidFill>
                <a:latin typeface="Consolas"/>
              </a:rPr>
              <a:t>[index];</a:t>
            </a:r>
          </a:p>
          <a:p>
            <a:pPr lvl="1"/>
            <a:endParaRPr lang="en-US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>
                <a:solidFill>
                  <a:srgbClr val="000000"/>
                </a:solidFill>
              </a:rPr>
              <a:t>this kind of function is called a "</a:t>
            </a:r>
            <a:r>
              <a:rPr lang="en-US" b="1">
                <a:solidFill>
                  <a:srgbClr val="000000"/>
                </a:solidFill>
              </a:rPr>
              <a:t>getter</a:t>
            </a:r>
            <a:r>
              <a:rPr lang="en-US">
                <a:solidFill>
                  <a:srgbClr val="000000"/>
                </a:solidFill>
              </a:rPr>
              <a:t>"</a:t>
            </a:r>
          </a:p>
          <a:p>
            <a:pPr lvl="2"/>
            <a:r>
              <a:rPr lang="en-US">
                <a:solidFill>
                  <a:srgbClr val="000000"/>
                </a:solidFill>
              </a:rPr>
              <a:t>we need it because </a:t>
            </a:r>
            <a:r>
              <a:rPr lang="en-US">
                <a:solidFill>
                  <a:srgbClr val="000000"/>
                </a:solidFill>
                <a:latin typeface="Consolas"/>
              </a:rPr>
              <a:t>internal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Array</a:t>
            </a:r>
            <a:r>
              <a:rPr lang="en-US">
                <a:solidFill>
                  <a:srgbClr val="000000"/>
                </a:solidFill>
              </a:rPr>
              <a:t> is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0000FF"/>
                </a:solidFill>
                <a:latin typeface="+mj-lt"/>
              </a:rPr>
              <a:t>private</a:t>
            </a:r>
            <a:r>
              <a:rPr lang="en-US">
                <a:solidFill>
                  <a:srgbClr val="000000"/>
                </a:solidFill>
              </a:rPr>
              <a:t>, which means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users of Java's </a:t>
            </a:r>
            <a:r>
              <a:rPr lang="en-US">
                <a:solidFill>
                  <a:srgbClr val="000000"/>
                </a:solidFill>
                <a:latin typeface="+mj-lt"/>
              </a:rPr>
              <a:t>ArrayList</a:t>
            </a:r>
            <a:r>
              <a:rPr lang="en-US">
                <a:solidFill>
                  <a:srgbClr val="000000"/>
                </a:solidFill>
              </a:rPr>
              <a:t> never access </a:t>
            </a:r>
            <a:r>
              <a:rPr lang="en-US">
                <a:solidFill>
                  <a:srgbClr val="000000"/>
                </a:solidFill>
                <a:latin typeface="Consolas"/>
              </a:rPr>
              <a:t>internal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Array</a:t>
            </a:r>
            <a:r>
              <a:rPr lang="en-US">
                <a:solidFill>
                  <a:srgbClr val="000000"/>
                </a:solidFill>
              </a:rPr>
              <a:t> directly </a:t>
            </a:r>
          </a:p>
        </p:txBody>
      </p:sp>
    </p:spTree>
    <p:extLst>
      <p:ext uri="{BB962C8B-B14F-4D97-AF65-F5344CB8AC3E}">
        <p14:creationId xmlns:p14="http://schemas.microsoft.com/office/powerpoint/2010/main" val="34112778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7C8F-A188-D3D4-BE36-FB5481AC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B5D9A-FD95-D432-9665-FAA45671A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Autofit/>
          </a:bodyPr>
          <a:lstStyle/>
          <a:p>
            <a:pPr lvl="0"/>
            <a:r>
              <a:rPr lang="en-US" sz="2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sz="28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element) { </a:t>
            </a:r>
            <a:r>
              <a:rPr lang="en-US" sz="2800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2F942-F359-286D-A5D8-35DA4F5085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63338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to </a:t>
            </a:r>
            <a:r>
              <a:rPr lang="en-US" b="1"/>
              <a:t>append</a:t>
            </a:r>
            <a:r>
              <a:rPr lang="en-US"/>
              <a:t> (push back) a new element to the back (end) of an array list...</a:t>
            </a:r>
          </a:p>
          <a:p>
            <a:pPr lvl="1"/>
            <a:r>
              <a:rPr lang="en-US"/>
              <a:t>write the new element to the first available empty slot in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internalArray</a:t>
            </a:r>
            <a:endParaRPr lang="en-US"/>
          </a:p>
          <a:p>
            <a:pPr lvl="1"/>
            <a:r>
              <a:rPr lang="en-US"/>
              <a:t>increment (add one to)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length</a:t>
            </a:r>
            <a:endParaRPr lang="en-US">
              <a:solidFill>
                <a:srgbClr val="000000"/>
              </a:solidFill>
              <a:latin typeface="Consolas"/>
            </a:endParaRPr>
          </a:p>
          <a:p>
            <a:pPr marL="342886" lvl="1" indent="0">
              <a:buNone/>
            </a:pPr>
            <a:endParaRPr lang="en-US">
              <a:solidFill>
                <a:srgbClr val="000000"/>
              </a:solidFill>
              <a:latin typeface="Consolas"/>
            </a:endParaRPr>
          </a:p>
          <a:p>
            <a:r>
              <a:rPr lang="en-US">
                <a:solidFill>
                  <a:srgbClr val="000000"/>
                </a:solidFill>
              </a:rPr>
              <a:t>but what if </a:t>
            </a:r>
            <a:r>
              <a:rPr lang="en-US" err="1">
                <a:solidFill>
                  <a:srgbClr val="000000"/>
                </a:solidFill>
                <a:latin typeface="+mj-lt"/>
              </a:rPr>
              <a:t>internalArray</a:t>
            </a:r>
            <a:r>
              <a:rPr lang="en-US">
                <a:solidFill>
                  <a:srgbClr val="000000"/>
                </a:solidFill>
              </a:rPr>
              <a:t> is full (there are no available slots)?</a:t>
            </a:r>
          </a:p>
        </p:txBody>
      </p:sp>
    </p:spTree>
    <p:extLst>
      <p:ext uri="{BB962C8B-B14F-4D97-AF65-F5344CB8AC3E}">
        <p14:creationId xmlns:p14="http://schemas.microsoft.com/office/powerpoint/2010/main" val="30818230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2ADB93-BCCF-8367-275A-AF45D7A4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add</a:t>
            </a:r>
            <a:r>
              <a:rPr lang="en-US"/>
              <a:t> (details)</a:t>
            </a:r>
          </a:p>
        </p:txBody>
      </p:sp>
    </p:spTree>
    <p:extLst>
      <p:ext uri="{BB962C8B-B14F-4D97-AF65-F5344CB8AC3E}">
        <p14:creationId xmlns:p14="http://schemas.microsoft.com/office/powerpoint/2010/main" val="20315863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1B520-7065-EC50-59C3-C8D879D9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2BFF-7DB7-4F55-AFE2-4514073F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Autofit/>
          </a:bodyPr>
          <a:lstStyle/>
          <a:p>
            <a:pPr lvl="0"/>
            <a:r>
              <a:rPr lang="en-US" sz="2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sz="28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element) { </a:t>
            </a:r>
            <a:r>
              <a:rPr lang="en-US" sz="2800">
                <a:solidFill>
                  <a:srgbClr val="BFBFB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EDABD-E49C-5C81-73AC-811FD27FF6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52187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to </a:t>
            </a:r>
            <a:r>
              <a:rPr lang="en-US" b="1"/>
              <a:t>append</a:t>
            </a:r>
            <a:r>
              <a:rPr lang="en-US"/>
              <a:t> (push back) a new element to the back (end) of an array list...</a:t>
            </a:r>
          </a:p>
          <a:p>
            <a:pPr lvl="1"/>
            <a:r>
              <a:rPr lang="en-US"/>
              <a:t>if </a:t>
            </a:r>
            <a:r>
              <a:rPr lang="en-US" err="1">
                <a:latin typeface="+mj-lt"/>
              </a:rPr>
              <a:t>internalArray</a:t>
            </a:r>
            <a:r>
              <a:rPr lang="en-US"/>
              <a:t> is full...</a:t>
            </a:r>
          </a:p>
          <a:p>
            <a:pPr lvl="2"/>
            <a:r>
              <a:rPr lang="en-US"/>
              <a:t>make a new array two times the length of the current internal array</a:t>
            </a:r>
          </a:p>
          <a:p>
            <a:pPr lvl="2"/>
            <a:r>
              <a:rPr lang="en-US"/>
              <a:t>copy the elements of the current internal array into this new array</a:t>
            </a:r>
            <a:br>
              <a:rPr lang="en-US"/>
            </a:br>
            <a:r>
              <a:rPr lang="en-US"/>
              <a:t>(using a for loop)</a:t>
            </a:r>
          </a:p>
          <a:p>
            <a:pPr lvl="2"/>
            <a:r>
              <a:rPr lang="en-US"/>
              <a:t>update the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internalArray</a:t>
            </a:r>
            <a:r>
              <a:rPr lang="en-US"/>
              <a:t> reference to refer to this new array </a:t>
            </a:r>
          </a:p>
          <a:p>
            <a:pPr lvl="1"/>
            <a:r>
              <a:rPr lang="en-US"/>
              <a:t>write the new element to the first available empty slot in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internalArray</a:t>
            </a:r>
            <a:endParaRPr lang="en-US"/>
          </a:p>
          <a:p>
            <a:pPr lvl="1"/>
            <a:r>
              <a:rPr lang="en-US"/>
              <a:t>increment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length</a:t>
            </a:r>
          </a:p>
          <a:p>
            <a:pPr lvl="1"/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61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237CAB-6432-7008-72D9-535ACE6966D5}"/>
              </a:ext>
            </a:extLst>
          </p:cNvPr>
          <p:cNvGrpSpPr/>
          <p:nvPr/>
        </p:nvGrpSpPr>
        <p:grpSpPr>
          <a:xfrm>
            <a:off x="2775352" y="1418472"/>
            <a:ext cx="3268890" cy="912967"/>
            <a:chOff x="582919" y="134337"/>
            <a:chExt cx="6886117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0BA0ED-CBDE-2E43-4AAA-E44EAF314A02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55B1FC-54D5-0E03-377C-E30B74FCA721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FD7182-2ED4-A006-3FF3-65927C1922F1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9E89F4-40C1-ACE4-783B-D8CCBF233E4E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AF7954-A02A-30A3-7A08-175B1346E4A0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2B28B5C-945A-39FF-BCF9-759848E16289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A20209-6E70-2F0D-B7D0-C16DC15CE1C9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5168809-3DB1-DAA0-34C0-D29173A5AD71}"/>
              </a:ext>
            </a:extLst>
          </p:cNvPr>
          <p:cNvSpPr txBox="1"/>
          <p:nvPr/>
        </p:nvSpPr>
        <p:spPr>
          <a:xfrm>
            <a:off x="3698429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4B76-D507-754C-81B1-D707D46FC6F3}"/>
              </a:ext>
            </a:extLst>
          </p:cNvPr>
          <p:cNvSpPr txBox="1"/>
          <p:nvPr/>
        </p:nvSpPr>
        <p:spPr>
          <a:xfrm>
            <a:off x="4499541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F4D40F-1098-028A-05BF-2EB57F57B337}"/>
              </a:ext>
            </a:extLst>
          </p:cNvPr>
          <p:cNvSpPr txBox="1"/>
          <p:nvPr/>
        </p:nvSpPr>
        <p:spPr>
          <a:xfrm>
            <a:off x="5284468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431C9F-AA28-1A3B-20E8-F533BFE7EB44}"/>
              </a:ext>
            </a:extLst>
          </p:cNvPr>
          <p:cNvSpPr txBox="1"/>
          <p:nvPr/>
        </p:nvSpPr>
        <p:spPr>
          <a:xfrm>
            <a:off x="2945869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52E517-C184-1FCD-1402-359E2F7049CC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9E0490-ECE0-4E31-7301-D29FCEBB0CB3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DDC361-15A9-5C8C-C7D3-D4BA6B8C6072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7C83B4B6-B256-29E6-26F5-66DA7D1644D4}"/>
              </a:ext>
            </a:extLst>
          </p:cNvPr>
          <p:cNvSpPr txBox="1">
            <a:spLocks/>
          </p:cNvSpPr>
          <p:nvPr/>
        </p:nvSpPr>
        <p:spPr>
          <a:xfrm>
            <a:off x="6842073" y="320052"/>
            <a:ext cx="19428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list.add(🍇)</a:t>
            </a:r>
          </a:p>
        </p:txBody>
      </p:sp>
    </p:spTree>
    <p:extLst>
      <p:ext uri="{BB962C8B-B14F-4D97-AF65-F5344CB8AC3E}">
        <p14:creationId xmlns:p14="http://schemas.microsoft.com/office/powerpoint/2010/main" val="2637839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1861-A612-1E70-6CF2-D9AD72D8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3061AFDF-79FE-4E64-8408-34281D0A699B}"/>
              </a:ext>
            </a:extLst>
          </p:cNvPr>
          <p:cNvGrpSpPr/>
          <p:nvPr/>
        </p:nvGrpSpPr>
        <p:grpSpPr>
          <a:xfrm>
            <a:off x="2775352" y="1418472"/>
            <a:ext cx="3268890" cy="912967"/>
            <a:chOff x="582919" y="134337"/>
            <a:chExt cx="6886117" cy="192322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0F721AD-E8BA-1160-0647-1C4DA26C24D0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BB6C5AB-B61E-9602-933E-FAF26F45A4EA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C8218B4-7F3C-E816-3E58-0C0386F7613A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D57A008-C878-464D-7A7B-7A810AF400C7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E11DB7-F6CF-B5AB-ED78-0D6D815D49FD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85B3708-A3FB-C73C-F7CD-0C844E97F726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7841D23-D5B4-1EAF-A79A-A52198826826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BAE2272-5F39-790E-E7C7-68A153910AF2}"/>
              </a:ext>
            </a:extLst>
          </p:cNvPr>
          <p:cNvSpPr txBox="1"/>
          <p:nvPr/>
        </p:nvSpPr>
        <p:spPr>
          <a:xfrm>
            <a:off x="3698429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31923E-ABD3-AD09-91A3-A410FF2B916F}"/>
              </a:ext>
            </a:extLst>
          </p:cNvPr>
          <p:cNvSpPr txBox="1"/>
          <p:nvPr/>
        </p:nvSpPr>
        <p:spPr>
          <a:xfrm>
            <a:off x="4499541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3021A8-D538-DDFA-62B1-97C716FA63C4}"/>
              </a:ext>
            </a:extLst>
          </p:cNvPr>
          <p:cNvSpPr txBox="1"/>
          <p:nvPr/>
        </p:nvSpPr>
        <p:spPr>
          <a:xfrm>
            <a:off x="5284468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F851FF-07F3-89C7-7AF5-F6E075DBB2A6}"/>
              </a:ext>
            </a:extLst>
          </p:cNvPr>
          <p:cNvSpPr txBox="1"/>
          <p:nvPr/>
        </p:nvSpPr>
        <p:spPr>
          <a:xfrm>
            <a:off x="2945869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D32598-4DA0-D4CC-CEA4-2C712529BEF8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B82EBBC-A89F-B218-08F3-EAA59D813AC2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79637A-F76A-3E8E-9F4E-679239AB7C8C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6E8E7B-8144-E97E-6950-42F00C99D28F}"/>
              </a:ext>
            </a:extLst>
          </p:cNvPr>
          <p:cNvGrpSpPr/>
          <p:nvPr/>
        </p:nvGrpSpPr>
        <p:grpSpPr>
          <a:xfrm>
            <a:off x="1210918" y="2801165"/>
            <a:ext cx="6393846" cy="915812"/>
            <a:chOff x="1303110" y="1353818"/>
            <a:chExt cx="6393846" cy="91581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31B5E1-E1FA-C0B3-4903-E347E329F3F3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9A9B54B-D09E-453C-A087-FCDEAE87EE8F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F2E32B4-F193-9C44-2247-88CB20F5B4BC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EA7CC0F-9F94-6E21-B1FF-1891C5DD2802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2FBB1A9-FD22-107B-46F7-888CE6DAB8CB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8E02ED7-38B3-1B3C-78D4-414E076BB1A2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B79870D-CFB4-8F5A-45CB-E829D77C2773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D1DD84F-1802-BE96-05CA-8D96D3DF92F0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E2094BB-D402-FF8F-70D0-82F9D6228B5B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4DE173A-F128-9B95-54AD-4326993A0C39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6903893-99D6-3D43-C721-2AFD166397D1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DCB6AD-B091-346E-6EF9-A5E843364AD0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0CFE08A-4E34-48AF-5A7F-146639119087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843B532-83B0-A3C6-8A49-3128610DEE08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411514-393C-2AEA-CB5D-3AC8C758E152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BBDA4B6-BBAD-1202-65F9-53272784809D}"/>
              </a:ext>
            </a:extLst>
          </p:cNvPr>
          <p:cNvSpPr txBox="1"/>
          <p:nvPr/>
        </p:nvSpPr>
        <p:spPr>
          <a:xfrm>
            <a:off x="312915" y="3028239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tmp</a:t>
            </a:r>
          </a:p>
        </p:txBody>
      </p:sp>
      <p:sp>
        <p:nvSpPr>
          <p:cNvPr id="23" name="Title 34">
            <a:extLst>
              <a:ext uri="{FF2B5EF4-FFF2-40B4-BE49-F238E27FC236}">
                <a16:creationId xmlns:a16="http://schemas.microsoft.com/office/drawing/2014/main" id="{30007191-6B5E-FBE3-4BB6-7DCFB5C0947A}"/>
              </a:ext>
            </a:extLst>
          </p:cNvPr>
          <p:cNvSpPr txBox="1">
            <a:spLocks/>
          </p:cNvSpPr>
          <p:nvPr/>
        </p:nvSpPr>
        <p:spPr>
          <a:xfrm>
            <a:off x="6842073" y="320052"/>
            <a:ext cx="19428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list.add(🍇)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AFCEDC-5F61-FE7D-5736-0985E0E0B0BA}"/>
              </a:ext>
            </a:extLst>
          </p:cNvPr>
          <p:cNvSpPr txBox="1"/>
          <p:nvPr/>
        </p:nvSpPr>
        <p:spPr>
          <a:xfrm>
            <a:off x="3698429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C04307-9F2E-6B68-AC7C-0BC2EA048CD8}"/>
              </a:ext>
            </a:extLst>
          </p:cNvPr>
          <p:cNvSpPr txBox="1"/>
          <p:nvPr/>
        </p:nvSpPr>
        <p:spPr>
          <a:xfrm>
            <a:off x="4499541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013ABF-E4BE-2498-9136-8E4F0C9C4140}"/>
              </a:ext>
            </a:extLst>
          </p:cNvPr>
          <p:cNvSpPr txBox="1"/>
          <p:nvPr/>
        </p:nvSpPr>
        <p:spPr>
          <a:xfrm>
            <a:off x="5284468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B818A9-C366-185B-0D75-8D566104E890}"/>
              </a:ext>
            </a:extLst>
          </p:cNvPr>
          <p:cNvSpPr txBox="1"/>
          <p:nvPr/>
        </p:nvSpPr>
        <p:spPr>
          <a:xfrm>
            <a:off x="2945869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839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3D049-979A-A63E-2E31-0A3303A2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98900159-3F4B-8457-F92B-5FD4FCD3153C}"/>
              </a:ext>
            </a:extLst>
          </p:cNvPr>
          <p:cNvGrpSpPr/>
          <p:nvPr/>
        </p:nvGrpSpPr>
        <p:grpSpPr>
          <a:xfrm>
            <a:off x="2775352" y="1418472"/>
            <a:ext cx="3268890" cy="912967"/>
            <a:chOff x="582919" y="134337"/>
            <a:chExt cx="6886117" cy="192322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18998A8-A351-2241-FC2D-C511ACC2F99D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69E2C1-F3BA-7422-35BD-CA0F62F04F74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3D80D1E-E430-4FDB-11E0-973CE2D7A492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6F46A50-15D1-B11C-60D6-1D9D49A0208A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86A8B80-1E0D-F8F8-7107-72E33D66093A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E6967E2-345B-2C22-29DD-247B8D03DE16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7A7F749-8D89-FC32-A3C5-D5C4509A6A94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E2D9F9A-662E-EA1B-08A1-0B28C829DCF7}"/>
              </a:ext>
            </a:extLst>
          </p:cNvPr>
          <p:cNvSpPr txBox="1"/>
          <p:nvPr/>
        </p:nvSpPr>
        <p:spPr>
          <a:xfrm>
            <a:off x="2162651" y="297707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5A043D-5CC6-FFB9-B2C5-89158DA56B96}"/>
              </a:ext>
            </a:extLst>
          </p:cNvPr>
          <p:cNvSpPr txBox="1"/>
          <p:nvPr/>
        </p:nvSpPr>
        <p:spPr>
          <a:xfrm>
            <a:off x="2963763" y="297707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B5E55F-D9B4-8477-26A9-AF6854F62763}"/>
              </a:ext>
            </a:extLst>
          </p:cNvPr>
          <p:cNvSpPr txBox="1"/>
          <p:nvPr/>
        </p:nvSpPr>
        <p:spPr>
          <a:xfrm>
            <a:off x="3748690" y="297707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27715C-39E4-15A7-F69C-997D897EF302}"/>
              </a:ext>
            </a:extLst>
          </p:cNvPr>
          <p:cNvSpPr txBox="1"/>
          <p:nvPr/>
        </p:nvSpPr>
        <p:spPr>
          <a:xfrm>
            <a:off x="1410091" y="2977074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C3372C-098B-D2B0-1CF1-20D4A5ADCF27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0780FA-9F55-3EFC-A8A4-3CD3115ACBDE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5BB737-0EA8-EA02-960F-3F8191820338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67DFAB-9CEF-9D72-E196-625ECFFB723B}"/>
              </a:ext>
            </a:extLst>
          </p:cNvPr>
          <p:cNvGrpSpPr/>
          <p:nvPr/>
        </p:nvGrpSpPr>
        <p:grpSpPr>
          <a:xfrm>
            <a:off x="1210918" y="2801165"/>
            <a:ext cx="6393846" cy="915812"/>
            <a:chOff x="1303110" y="1353818"/>
            <a:chExt cx="6393846" cy="91581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89B4B7-3A7F-2CD8-F7FE-61F71FD23143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8B75A6-8201-F709-5696-FF8F714E8D21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3C8E362-9A6A-96BF-121A-8DCD4ECD7FD1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CB35FC7-E793-619A-96FC-F218E4701A37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2B85E7-CFE3-AA59-C357-F661A967477A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D0B70CD-C295-F394-C8A4-C3BFE1859B48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1A3EC35-B1EE-D7FB-C6BC-1D2AFB223DAD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EA85EB7-ABF0-6252-24B2-BFB4DA0FCFB6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C795C28-11F4-CF31-B9AA-303F8452C42D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A943D09-F75F-68A7-1248-23ACD879D037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BFDAFA7-7608-A74C-ACAB-6CA390EF7104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5462185-9370-557C-A029-73BBD31C77F3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ADC8685-6B83-3F7C-1A61-295B9B94D6A5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ABFFF12-3C09-2E56-D902-849E706E7B62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2D22B7-5FEF-7C2D-041D-900922389B2C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17C0CC0-B99D-50BE-2D84-BF7461930A96}"/>
              </a:ext>
            </a:extLst>
          </p:cNvPr>
          <p:cNvSpPr txBox="1"/>
          <p:nvPr/>
        </p:nvSpPr>
        <p:spPr>
          <a:xfrm>
            <a:off x="312915" y="3028239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tmp</a:t>
            </a:r>
          </a:p>
        </p:txBody>
      </p:sp>
      <p:sp>
        <p:nvSpPr>
          <p:cNvPr id="20" name="Title 34">
            <a:extLst>
              <a:ext uri="{FF2B5EF4-FFF2-40B4-BE49-F238E27FC236}">
                <a16:creationId xmlns:a16="http://schemas.microsoft.com/office/drawing/2014/main" id="{DF108B48-0B7F-EE9D-664B-60A328DE97A7}"/>
              </a:ext>
            </a:extLst>
          </p:cNvPr>
          <p:cNvSpPr txBox="1">
            <a:spLocks/>
          </p:cNvSpPr>
          <p:nvPr/>
        </p:nvSpPr>
        <p:spPr>
          <a:xfrm>
            <a:off x="6842073" y="320052"/>
            <a:ext cx="19428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list.add(🍇)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B183D-071C-D24F-6647-ED6D7D57A9E5}"/>
              </a:ext>
            </a:extLst>
          </p:cNvPr>
          <p:cNvSpPr txBox="1"/>
          <p:nvPr/>
        </p:nvSpPr>
        <p:spPr>
          <a:xfrm>
            <a:off x="8092953" y="350829"/>
            <a:ext cx="564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5D2047-1251-E940-D48C-FE623B49A1E9}"/>
              </a:ext>
            </a:extLst>
          </p:cNvPr>
          <p:cNvSpPr txBox="1"/>
          <p:nvPr/>
        </p:nvSpPr>
        <p:spPr>
          <a:xfrm>
            <a:off x="3698429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8DDD6-67E5-9C40-23ED-4F3C4EABBA68}"/>
              </a:ext>
            </a:extLst>
          </p:cNvPr>
          <p:cNvSpPr txBox="1"/>
          <p:nvPr/>
        </p:nvSpPr>
        <p:spPr>
          <a:xfrm>
            <a:off x="4499541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12B8B9-AA6D-F15A-D3C4-0BDB4200A05E}"/>
              </a:ext>
            </a:extLst>
          </p:cNvPr>
          <p:cNvSpPr txBox="1"/>
          <p:nvPr/>
        </p:nvSpPr>
        <p:spPr>
          <a:xfrm>
            <a:off x="5284468" y="1613345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CACEB-5256-5916-E90D-F06E0C8EDC37}"/>
              </a:ext>
            </a:extLst>
          </p:cNvPr>
          <p:cNvSpPr txBox="1"/>
          <p:nvPr/>
        </p:nvSpPr>
        <p:spPr>
          <a:xfrm>
            <a:off x="2945869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90705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EB17-E597-2AE7-F482-24C4203F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16BB59E7-ED23-AF58-ADC4-A3B965AAAAA2}"/>
              </a:ext>
            </a:extLst>
          </p:cNvPr>
          <p:cNvGrpSpPr/>
          <p:nvPr/>
        </p:nvGrpSpPr>
        <p:grpSpPr>
          <a:xfrm>
            <a:off x="2775352" y="1418472"/>
            <a:ext cx="3268890" cy="912967"/>
            <a:chOff x="582919" y="134337"/>
            <a:chExt cx="6886117" cy="192322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1018AA4-C4A2-837A-C450-80AA0FE26498}"/>
                </a:ext>
              </a:extLst>
            </p:cNvPr>
            <p:cNvSpPr/>
            <p:nvPr/>
          </p:nvSpPr>
          <p:spPr>
            <a:xfrm>
              <a:off x="591158" y="134338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EC1DF1C-1457-F5B3-869D-AA59DD3D6E7F}"/>
                </a:ext>
              </a:extLst>
            </p:cNvPr>
            <p:cNvSpPr/>
            <p:nvPr/>
          </p:nvSpPr>
          <p:spPr>
            <a:xfrm>
              <a:off x="591158" y="1819022"/>
              <a:ext cx="6877878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CCFDE0-4715-FFF7-5D29-B0DBDA04A2AA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034B5A7-F8FF-881A-7893-B03C39B9D991}"/>
                </a:ext>
              </a:extLst>
            </p:cNvPr>
            <p:cNvSpPr/>
            <p:nvPr/>
          </p:nvSpPr>
          <p:spPr>
            <a:xfrm rot="5400000">
              <a:off x="6388155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A1E2685-9D6D-908F-D242-2C889E0E2F78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BA344AF-3D13-371B-C96F-BD8D929DF1CA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B097158-3755-E0C7-7C3D-C45613BDB8A1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590C4E1-B759-3C5F-A885-1EC94D8D7505}"/>
              </a:ext>
            </a:extLst>
          </p:cNvPr>
          <p:cNvSpPr txBox="1"/>
          <p:nvPr/>
        </p:nvSpPr>
        <p:spPr>
          <a:xfrm>
            <a:off x="2162651" y="297707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A7C3A2-3DC3-51A4-E8AA-DB42B2F7E009}"/>
              </a:ext>
            </a:extLst>
          </p:cNvPr>
          <p:cNvSpPr txBox="1"/>
          <p:nvPr/>
        </p:nvSpPr>
        <p:spPr>
          <a:xfrm>
            <a:off x="2963763" y="297707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6947E0-043F-EBB7-1CD0-87891F429E0B}"/>
              </a:ext>
            </a:extLst>
          </p:cNvPr>
          <p:cNvSpPr txBox="1"/>
          <p:nvPr/>
        </p:nvSpPr>
        <p:spPr>
          <a:xfrm>
            <a:off x="3748690" y="297707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9D593C-18B9-618B-562F-668A16029795}"/>
              </a:ext>
            </a:extLst>
          </p:cNvPr>
          <p:cNvSpPr txBox="1"/>
          <p:nvPr/>
        </p:nvSpPr>
        <p:spPr>
          <a:xfrm>
            <a:off x="1410091" y="2977074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9404A0-6BED-21C2-A53E-3B04CA368218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460D26-C545-0033-5147-4209A662E490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A74D0A-0552-C601-D32E-889D7ADBA3D4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557CF6-D980-251E-9C42-A24FD2F95920}"/>
              </a:ext>
            </a:extLst>
          </p:cNvPr>
          <p:cNvGrpSpPr/>
          <p:nvPr/>
        </p:nvGrpSpPr>
        <p:grpSpPr>
          <a:xfrm>
            <a:off x="1210918" y="2801165"/>
            <a:ext cx="6393846" cy="915812"/>
            <a:chOff x="1303110" y="1353818"/>
            <a:chExt cx="6393846" cy="91581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98E353E-4374-C5F8-529F-EAF588CADFE3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D82B4A-EC1C-4E42-AB80-10188CB42E98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AEAFC7F-0203-6C59-8A30-6523BC68B5EF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3D6FFBE-99C2-D019-3E5E-43EB58365BED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5A72E1-6440-AD65-F255-220384399238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F6A682E-7A69-6A25-6BF1-5C6889C16AD1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711E59-5A88-CF6C-0DBE-8DA7399F48A9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0ECC45-08E5-DF61-A0FE-91E418F7B5B9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2075EE6-203F-C0AE-9AE2-BCF20483A027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675510-CE8B-28C2-2D02-FA628E02D686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A5DA2F9-CF96-D6CE-75A1-2883B0047302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5D1A31-4B1A-217D-FBAC-504AA9FD581A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90EA940-B020-5A02-B53E-378F68463A87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6D8016D-768E-39C2-0B31-FC38E9EEF436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EEE9E5-4178-9FFB-54B7-875B0DA3FD6E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380F57-F4B1-3074-3D1B-9BD488B1537E}"/>
              </a:ext>
            </a:extLst>
          </p:cNvPr>
          <p:cNvSpPr txBox="1"/>
          <p:nvPr/>
        </p:nvSpPr>
        <p:spPr>
          <a:xfrm>
            <a:off x="312915" y="3028239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tmp</a:t>
            </a:r>
          </a:p>
        </p:txBody>
      </p:sp>
      <p:sp>
        <p:nvSpPr>
          <p:cNvPr id="20" name="Title 34">
            <a:extLst>
              <a:ext uri="{FF2B5EF4-FFF2-40B4-BE49-F238E27FC236}">
                <a16:creationId xmlns:a16="http://schemas.microsoft.com/office/drawing/2014/main" id="{D3005B07-49C0-B8D0-775C-4A4B69AB60E7}"/>
              </a:ext>
            </a:extLst>
          </p:cNvPr>
          <p:cNvSpPr txBox="1">
            <a:spLocks/>
          </p:cNvSpPr>
          <p:nvPr/>
        </p:nvSpPr>
        <p:spPr>
          <a:xfrm>
            <a:off x="6842073" y="320052"/>
            <a:ext cx="19428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list.add(🍇)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223D5-6E2D-6E45-AD94-030C926B73C0}"/>
              </a:ext>
            </a:extLst>
          </p:cNvPr>
          <p:cNvSpPr txBox="1"/>
          <p:nvPr/>
        </p:nvSpPr>
        <p:spPr>
          <a:xfrm>
            <a:off x="8092953" y="350829"/>
            <a:ext cx="564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20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352F66-C139-0EB1-4627-758B7FC2BDF7}"/>
              </a:ext>
            </a:extLst>
          </p:cNvPr>
          <p:cNvGrpSpPr/>
          <p:nvPr/>
        </p:nvGrpSpPr>
        <p:grpSpPr>
          <a:xfrm>
            <a:off x="2945869" y="1613345"/>
            <a:ext cx="2903139" cy="523220"/>
            <a:chOff x="2945869" y="1613345"/>
            <a:chExt cx="2903139" cy="52322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175B49-59EE-52C3-AB40-1F209F2E472F}"/>
                </a:ext>
              </a:extLst>
            </p:cNvPr>
            <p:cNvSpPr txBox="1"/>
            <p:nvPr/>
          </p:nvSpPr>
          <p:spPr>
            <a:xfrm>
              <a:off x="3698429" y="1613345"/>
              <a:ext cx="5645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🍎</a:t>
              </a:r>
              <a:endParaRPr lang="en-US" sz="11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7E3708-04EE-4844-073A-9581E99ED123}"/>
                </a:ext>
              </a:extLst>
            </p:cNvPr>
            <p:cNvSpPr txBox="1"/>
            <p:nvPr/>
          </p:nvSpPr>
          <p:spPr>
            <a:xfrm>
              <a:off x="4499541" y="1613345"/>
              <a:ext cx="5645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🥦</a:t>
              </a:r>
              <a:endParaRPr lang="en-US" sz="11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D7C53E-860F-7135-E20F-55F30D16366E}"/>
                </a:ext>
              </a:extLst>
            </p:cNvPr>
            <p:cNvSpPr txBox="1"/>
            <p:nvPr/>
          </p:nvSpPr>
          <p:spPr>
            <a:xfrm>
              <a:off x="5284468" y="1613345"/>
              <a:ext cx="5645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🌽</a:t>
              </a:r>
              <a:endParaRPr lang="en-US" sz="11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598803-5EAC-1078-3395-6281254DA02A}"/>
                </a:ext>
              </a:extLst>
            </p:cNvPr>
            <p:cNvSpPr txBox="1"/>
            <p:nvPr/>
          </p:nvSpPr>
          <p:spPr>
            <a:xfrm>
              <a:off x="2945869" y="1613345"/>
              <a:ext cx="564540" cy="523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egoe UI Emoji" panose="020B0502040204020203" pitchFamily="34" charset="0"/>
                  <a:cs typeface="+mj-cs"/>
                </a:rPr>
                <a:t>🥕</a:t>
              </a:r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472996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CF37-DB5A-55B7-4D9E-68BEF4D3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E9F8B201-5D40-1AEA-B791-E3215A53BD3E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BA0EB6-00F2-B972-D763-9CF01D017FE0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9DEE2A-AEF7-0FA6-A428-4B507468E82F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20" name="Title 34">
            <a:extLst>
              <a:ext uri="{FF2B5EF4-FFF2-40B4-BE49-F238E27FC236}">
                <a16:creationId xmlns:a16="http://schemas.microsoft.com/office/drawing/2014/main" id="{CF688262-3BC9-D2F9-120B-B3F9417A778A}"/>
              </a:ext>
            </a:extLst>
          </p:cNvPr>
          <p:cNvSpPr txBox="1">
            <a:spLocks/>
          </p:cNvSpPr>
          <p:nvPr/>
        </p:nvSpPr>
        <p:spPr>
          <a:xfrm>
            <a:off x="6842073" y="320052"/>
            <a:ext cx="19428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list.add(🍇)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04D630-F321-5F0C-D300-9513F7083C62}"/>
              </a:ext>
            </a:extLst>
          </p:cNvPr>
          <p:cNvSpPr txBox="1"/>
          <p:nvPr/>
        </p:nvSpPr>
        <p:spPr>
          <a:xfrm>
            <a:off x="8092953" y="350829"/>
            <a:ext cx="564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0F83BB-9448-6827-9054-8D8A87F37D74}"/>
              </a:ext>
            </a:extLst>
          </p:cNvPr>
          <p:cNvSpPr txBox="1"/>
          <p:nvPr/>
        </p:nvSpPr>
        <p:spPr>
          <a:xfrm>
            <a:off x="3623829" y="1579400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15DAB3-6D73-A3CF-A4B2-E207323398F0}"/>
              </a:ext>
            </a:extLst>
          </p:cNvPr>
          <p:cNvSpPr txBox="1"/>
          <p:nvPr/>
        </p:nvSpPr>
        <p:spPr>
          <a:xfrm>
            <a:off x="4424941" y="1579400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CD369E-3A73-2954-1748-ACDCD765294C}"/>
              </a:ext>
            </a:extLst>
          </p:cNvPr>
          <p:cNvSpPr txBox="1"/>
          <p:nvPr/>
        </p:nvSpPr>
        <p:spPr>
          <a:xfrm>
            <a:off x="5209868" y="1579400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CEDB57-9FEC-2563-FF88-C18F539E86D6}"/>
              </a:ext>
            </a:extLst>
          </p:cNvPr>
          <p:cNvSpPr txBox="1"/>
          <p:nvPr/>
        </p:nvSpPr>
        <p:spPr>
          <a:xfrm>
            <a:off x="2871269" y="157940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30911A-2A03-1A9C-62B7-1828CED09B35}"/>
              </a:ext>
            </a:extLst>
          </p:cNvPr>
          <p:cNvGrpSpPr/>
          <p:nvPr/>
        </p:nvGrpSpPr>
        <p:grpSpPr>
          <a:xfrm>
            <a:off x="2672096" y="1403491"/>
            <a:ext cx="6393846" cy="915812"/>
            <a:chOff x="1303110" y="1353818"/>
            <a:chExt cx="6393846" cy="91581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2601DB-FAC8-753F-021A-4202E70347E7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F6CFC91-F7BC-2922-4247-2C50D4C775C5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BC88859-FF32-A9EB-D8C6-3501CE602525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D47D0A8-A392-DE44-9F07-279C70F5A05F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A287C31-EA0C-4E16-B5FE-EE3BFB61D4AB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CB97788-FD14-1178-94A6-C0634D1A0E3C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A986DAD6-8D87-5584-95EE-7D143A902B1B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0D14395-1BD4-C18F-024B-141F10BD7C2D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E8AB4B1-F04E-11CB-3D72-CABA99F14BE1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8C6C233-2578-6242-4C3A-B02885957928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85A8FA8-4DDA-C069-B2DB-EBEC54B0873B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4258E41-9145-7557-A0DB-8C70E1E2184B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D18E4E8-4A4E-9BC0-C39C-F1C131E37D19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DF9C472-7CF8-2CB0-20DF-7341B2A71EF0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E3D3674-90FC-5B17-77BA-C457E9B665C3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5BF6E63-F6FE-1CE1-C8D3-ACEA9F0343F9}"/>
              </a:ext>
            </a:extLst>
          </p:cNvPr>
          <p:cNvSpPr txBox="1"/>
          <p:nvPr/>
        </p:nvSpPr>
        <p:spPr>
          <a:xfrm>
            <a:off x="8093253" y="351294"/>
            <a:ext cx="564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94639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C14FB-FC97-EFFB-A490-88E8CC7C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15253A91-7D9B-310A-F1D6-83F0493C4C21}"/>
              </a:ext>
            </a:extLst>
          </p:cNvPr>
          <p:cNvSpPr txBox="1"/>
          <p:nvPr/>
        </p:nvSpPr>
        <p:spPr>
          <a:xfrm>
            <a:off x="3623829" y="1579400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E7CB23-8204-1238-D1C4-313B518C81D8}"/>
              </a:ext>
            </a:extLst>
          </p:cNvPr>
          <p:cNvSpPr txBox="1"/>
          <p:nvPr/>
        </p:nvSpPr>
        <p:spPr>
          <a:xfrm>
            <a:off x="4424941" y="1579400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269208-3407-A9F2-D842-D44C8088E071}"/>
              </a:ext>
            </a:extLst>
          </p:cNvPr>
          <p:cNvSpPr txBox="1"/>
          <p:nvPr/>
        </p:nvSpPr>
        <p:spPr>
          <a:xfrm>
            <a:off x="5209868" y="1579400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5D6429-79EA-6A57-4B92-645019B1DCDB}"/>
              </a:ext>
            </a:extLst>
          </p:cNvPr>
          <p:cNvSpPr txBox="1"/>
          <p:nvPr/>
        </p:nvSpPr>
        <p:spPr>
          <a:xfrm>
            <a:off x="2871269" y="1579400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9F422B-0A59-E2A0-EBF0-C6A7C99B1C7B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588EAF-58A4-70E0-8985-67A53A5AB8D0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98B1C30-3366-E904-D60F-07BCBDC89753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D31934-56D6-E607-C555-893536507C66}"/>
              </a:ext>
            </a:extLst>
          </p:cNvPr>
          <p:cNvGrpSpPr/>
          <p:nvPr/>
        </p:nvGrpSpPr>
        <p:grpSpPr>
          <a:xfrm>
            <a:off x="2672096" y="1403491"/>
            <a:ext cx="6393846" cy="915812"/>
            <a:chOff x="1303110" y="1353818"/>
            <a:chExt cx="6393846" cy="91581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EB04B2A-59EA-76AC-00D9-AF470D27D97D}"/>
                </a:ext>
              </a:extLst>
            </p:cNvPr>
            <p:cNvGrpSpPr/>
            <p:nvPr/>
          </p:nvGrpSpPr>
          <p:grpSpPr>
            <a:xfrm>
              <a:off x="1303110" y="1356663"/>
              <a:ext cx="3268890" cy="912967"/>
              <a:chOff x="582919" y="134337"/>
              <a:chExt cx="6886117" cy="192322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C5B131E-F754-4CFB-F72D-00615D3814DC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15D69AA-494C-1494-120A-2CFF90F0B4FB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4A4054C-D064-706E-202C-BDEC45947600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E3A5FE2-A4AE-8B07-5805-8BB6E3DBD1BB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00ED34A-E80B-DA71-DF25-00A44D1D194E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2475F70-C183-C47C-67DD-502AA314B5A9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9ADE8E-9D48-BF2F-2D91-4B17A75CCB31}"/>
                </a:ext>
              </a:extLst>
            </p:cNvPr>
            <p:cNvGrpSpPr/>
            <p:nvPr/>
          </p:nvGrpSpPr>
          <p:grpSpPr>
            <a:xfrm rot="10800000">
              <a:off x="4428066" y="1353818"/>
              <a:ext cx="3268890" cy="912967"/>
              <a:chOff x="582919" y="134337"/>
              <a:chExt cx="6886117" cy="192322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9A5C6DE-86D3-FDCD-2F13-E28550EF2307}"/>
                  </a:ext>
                </a:extLst>
              </p:cNvPr>
              <p:cNvSpPr/>
              <p:nvPr/>
            </p:nvSpPr>
            <p:spPr>
              <a:xfrm>
                <a:off x="591158" y="134338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687B82A-8DF4-1EE3-0C31-A132AFCA0D84}"/>
                  </a:ext>
                </a:extLst>
              </p:cNvPr>
              <p:cNvSpPr/>
              <p:nvPr/>
            </p:nvSpPr>
            <p:spPr>
              <a:xfrm>
                <a:off x="591158" y="1819022"/>
                <a:ext cx="6877878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0BD8A2-AB45-CD95-95AB-61A328DD9A86}"/>
                  </a:ext>
                </a:extLst>
              </p:cNvPr>
              <p:cNvSpPr/>
              <p:nvPr/>
            </p:nvSpPr>
            <p:spPr>
              <a:xfrm rot="5400000">
                <a:off x="-259423" y="976680"/>
                <a:ext cx="1923223" cy="23853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5A6F7CF-519F-1BC1-41B5-209A8978883C}"/>
                  </a:ext>
                </a:extLst>
              </p:cNvPr>
              <p:cNvSpPr/>
              <p:nvPr/>
            </p:nvSpPr>
            <p:spPr>
              <a:xfrm rot="5400000">
                <a:off x="1366209" y="1027513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D4E670B-7730-F67E-FE87-EA2E94BB7487}"/>
                  </a:ext>
                </a:extLst>
              </p:cNvPr>
              <p:cNvSpPr/>
              <p:nvPr/>
            </p:nvSpPr>
            <p:spPr>
              <a:xfrm rot="5400000">
                <a:off x="2991809" y="1027514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6383310-C395-6E5F-D59F-CEDEA29A7696}"/>
                  </a:ext>
                </a:extLst>
              </p:cNvPr>
              <p:cNvSpPr/>
              <p:nvPr/>
            </p:nvSpPr>
            <p:spPr>
              <a:xfrm rot="5400000">
                <a:off x="4668209" y="1027515"/>
                <a:ext cx="1923223" cy="13687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485820-916E-CC04-263A-71B4438FFD38}"/>
                </a:ext>
              </a:extLst>
            </p:cNvPr>
            <p:cNvSpPr/>
            <p:nvPr/>
          </p:nvSpPr>
          <p:spPr>
            <a:xfrm rot="5400000">
              <a:off x="4032228" y="1777814"/>
              <a:ext cx="912966" cy="649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880207E-4CF3-076D-91F5-8EEA1CBB2A49}"/>
              </a:ext>
            </a:extLst>
          </p:cNvPr>
          <p:cNvSpPr txBox="1"/>
          <p:nvPr/>
        </p:nvSpPr>
        <p:spPr>
          <a:xfrm>
            <a:off x="5967217" y="161741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22" name="Title 34">
            <a:extLst>
              <a:ext uri="{FF2B5EF4-FFF2-40B4-BE49-F238E27FC236}">
                <a16:creationId xmlns:a16="http://schemas.microsoft.com/office/drawing/2014/main" id="{30EFBA51-8B23-3387-8D58-5C8B769CC775}"/>
              </a:ext>
            </a:extLst>
          </p:cNvPr>
          <p:cNvSpPr txBox="1">
            <a:spLocks/>
          </p:cNvSpPr>
          <p:nvPr/>
        </p:nvSpPr>
        <p:spPr>
          <a:xfrm>
            <a:off x="6842073" y="320052"/>
            <a:ext cx="19428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list.add(🍇)</a:t>
            </a:r>
          </a:p>
        </p:txBody>
      </p:sp>
    </p:spTree>
    <p:extLst>
      <p:ext uri="{BB962C8B-B14F-4D97-AF65-F5344CB8AC3E}">
        <p14:creationId xmlns:p14="http://schemas.microsoft.com/office/powerpoint/2010/main" val="1443273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7C55-821E-E88C-8F76-818A6387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34BA2-C10C-2AE7-549F-DC87081F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4916"/>
            <a:ext cx="8229600" cy="667168"/>
          </a:xfrm>
        </p:spPr>
        <p:txBody>
          <a:bodyPr>
            <a:noAutofit/>
          </a:bodyPr>
          <a:lstStyle/>
          <a:p>
            <a:pPr lvl="0"/>
            <a:r>
              <a:rPr lang="en-US" sz="2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sz="2800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index, </a:t>
            </a:r>
            <a:r>
              <a:rPr lang="en-US" sz="2800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 element)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6E76-6617-83C0-4E21-4C4EE4C7901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849042"/>
            <a:ext cx="8229600" cy="4080271"/>
          </a:xfrm>
        </p:spPr>
        <p:txBody>
          <a:bodyPr>
            <a:noAutofit/>
          </a:bodyPr>
          <a:lstStyle/>
          <a:p>
            <a:r>
              <a:rPr lang="en-US"/>
              <a:t>to </a:t>
            </a:r>
            <a:r>
              <a:rPr lang="en-US" b="1"/>
              <a:t>insert</a:t>
            </a:r>
            <a:r>
              <a:rPr lang="en-US"/>
              <a:t> a new element so it has a given </a:t>
            </a:r>
            <a:r>
              <a:rPr lang="en-US">
                <a:latin typeface="+mj-lt"/>
              </a:rPr>
              <a:t>index</a:t>
            </a:r>
            <a:r>
              <a:rPr lang="en-US"/>
              <a:t>...</a:t>
            </a:r>
          </a:p>
          <a:p>
            <a:pPr lvl="1"/>
            <a:r>
              <a:rPr lang="en-US">
                <a:latin typeface="+mj-lt"/>
              </a:rPr>
              <a:t>ASSERT</a:t>
            </a:r>
            <a:r>
              <a:rPr lang="en-US"/>
              <a:t> that the given </a:t>
            </a:r>
            <a:r>
              <a:rPr lang="en-US">
                <a:latin typeface="+mj-lt"/>
              </a:rPr>
              <a:t>index</a:t>
            </a:r>
            <a:r>
              <a:rPr lang="en-US"/>
              <a:t> is valid!</a:t>
            </a:r>
          </a:p>
          <a:p>
            <a:pPr lvl="2"/>
            <a:r>
              <a:rPr lang="en-US" b="1"/>
              <a:t>NOTE: </a:t>
            </a:r>
            <a:r>
              <a:rPr lang="en-US">
                <a:solidFill>
                  <a:srgbClr val="0CB5B5"/>
                </a:solidFill>
                <a:latin typeface="+mj-lt"/>
              </a:rPr>
              <a:t>0</a:t>
            </a:r>
            <a:r>
              <a:rPr lang="en-US"/>
              <a:t> is OK ("</a:t>
            </a:r>
            <a:r>
              <a:rPr lang="en-US" b="1"/>
              <a:t>prepend</a:t>
            </a:r>
            <a:r>
              <a:rPr lang="en-US"/>
              <a:t>")</a:t>
            </a:r>
          </a:p>
          <a:p>
            <a:pPr lvl="2"/>
            <a:r>
              <a:rPr lang="en-US" b="1"/>
              <a:t>NOTE: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length</a:t>
            </a:r>
            <a:r>
              <a:rPr lang="en-US"/>
              <a:t> is OK (</a:t>
            </a:r>
            <a:r>
              <a:rPr lang="en-US" b="1"/>
              <a:t>append</a:t>
            </a:r>
            <a:r>
              <a:rPr lang="en-US"/>
              <a:t>)</a:t>
            </a:r>
          </a:p>
          <a:p>
            <a:pPr lvl="2"/>
            <a:r>
              <a:rPr lang="en-US" b="1"/>
              <a:t>NOTE: </a:t>
            </a:r>
            <a:r>
              <a:rPr lang="en-US">
                <a:solidFill>
                  <a:srgbClr val="0CB5B5"/>
                </a:solidFill>
                <a:latin typeface="+mj-lt"/>
              </a:rPr>
              <a:t>-1</a:t>
            </a:r>
            <a:r>
              <a:rPr lang="en-US"/>
              <a:t>  is BAD BAD VERY BAD (</a:t>
            </a:r>
            <a:r>
              <a:rPr lang="en-US" b="1"/>
              <a:t>out of bounds</a:t>
            </a:r>
            <a:r>
              <a:rPr lang="en-US"/>
              <a:t>)</a:t>
            </a:r>
          </a:p>
          <a:p>
            <a:pPr lvl="2"/>
            <a:r>
              <a:rPr lang="en-US" b="1"/>
              <a:t>NOTE: 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(length + </a:t>
            </a:r>
            <a:r>
              <a:rPr lang="en-US">
                <a:solidFill>
                  <a:srgbClr val="0CB5B5"/>
                </a:solidFill>
                <a:latin typeface="+mj-lt"/>
              </a:rPr>
              <a:t>1</a:t>
            </a:r>
            <a:r>
              <a:rPr lang="en-US">
                <a:latin typeface="+mj-lt"/>
              </a:rPr>
              <a:t>)</a:t>
            </a:r>
            <a:r>
              <a:rPr lang="en-US"/>
              <a:t>  is BAD BAD VERY BAD (</a:t>
            </a:r>
            <a:r>
              <a:rPr lang="en-US" b="1"/>
              <a:t>out of bounds</a:t>
            </a:r>
            <a:r>
              <a:rPr lang="en-US"/>
              <a:t>)</a:t>
            </a:r>
          </a:p>
          <a:p>
            <a:pPr lvl="1"/>
            <a:r>
              <a:rPr lang="en-US"/>
              <a:t>if internal array is full, resize (see previous slide)</a:t>
            </a:r>
          </a:p>
          <a:p>
            <a:pPr lvl="1"/>
            <a:r>
              <a:rPr lang="en-US"/>
              <a:t>make room for the new element</a:t>
            </a:r>
          </a:p>
          <a:p>
            <a:pPr lvl="2"/>
            <a:r>
              <a:rPr lang="en-US"/>
              <a:t>move elements with indices greater than or equal to index</a:t>
            </a:r>
            <a:br>
              <a:rPr lang="en-US"/>
            </a:br>
            <a:r>
              <a:rPr lang="en-US"/>
              <a:t>one slot to the right</a:t>
            </a:r>
            <a:br>
              <a:rPr lang="en-US"/>
            </a:br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☠️ like inserting in HW02 (text box), need to iterate backwards</a:t>
            </a:r>
          </a:p>
          <a:p>
            <a:pPr lvl="1"/>
            <a:r>
              <a:rPr lang="en-US"/>
              <a:t>write new element and increment length</a:t>
            </a:r>
          </a:p>
        </p:txBody>
      </p:sp>
    </p:spTree>
    <p:extLst>
      <p:ext uri="{BB962C8B-B14F-4D97-AF65-F5344CB8AC3E}">
        <p14:creationId xmlns:p14="http://schemas.microsoft.com/office/powerpoint/2010/main" val="22658761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47BB-5BD6-F038-15C4-4DF557D8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12574E-5E3C-6BE0-C266-B2DCD3E787BE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F712B3D-9E63-A331-8BF0-0458C0A624AB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7855A8-0580-A444-FDED-53080A318A7A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10A6424-F814-7609-8867-B7CBD210DB67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C0CB84-09F1-D387-B5FE-DA08C42D08CC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E02B6A-D9E5-4A3D-C893-A8F3C7906F29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F9B77B-ED31-0DFF-31BD-9EFE612BECB9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12D849-7506-2F62-A6C6-2A20EF3D0695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E9F074B-3E7C-F238-62E7-05FB63E95CBC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7FC75-4602-7AA6-0016-F12A0CB84C86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C7D9A4-FA4E-EE11-889C-B924B4D27A68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C090EE-1FC5-6CF6-7BC1-9A175ABC782A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D9F598-62E0-18DE-9535-45FBB9FFBAA9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B9FEF7-AEEA-D2DA-459D-A63A975F0234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5D301CE0-CDF1-C9DC-47D9-875C7279D778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7D3220-F6C2-0ECA-C262-9FDE3CBBA918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AC4A5B-EF9F-545C-3F48-7AC5A401E6F4}"/>
              </a:ext>
            </a:extLst>
          </p:cNvPr>
          <p:cNvSpPr txBox="1"/>
          <p:nvPr/>
        </p:nvSpPr>
        <p:spPr>
          <a:xfrm>
            <a:off x="524909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8E7C21-8AD3-0A44-AEB6-D88557F7CC77}"/>
              </a:ext>
            </a:extLst>
          </p:cNvPr>
          <p:cNvSpPr txBox="1"/>
          <p:nvPr/>
        </p:nvSpPr>
        <p:spPr>
          <a:xfrm>
            <a:off x="5249098" y="161334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8984372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B2C0-CEA9-E087-4BF6-F2AA03D7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C862F7-CAD7-8738-47F0-9A16BD4FDBD9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9A0117-5FD7-92A6-58AB-1843A200B42B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79FE23-5D26-6B16-3026-41083767D9CA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8906B7-C27A-707E-FA77-9152275C7B88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CD7F6C-31AA-EB84-8C2B-0A755BAC69AE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71E253-FC07-BD13-3C7C-6E4F0976B0BF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2BF7F-6462-F698-069D-D3BE8DB6C18C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5DCF1-3793-BEF4-D055-E77F3A56A73E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99D6CDE-3398-73AF-2251-B2B358A58A31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B450D-7ECF-7BD3-EB61-9CE251BBE7AD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C78145-FCE9-DF5A-A209-9BD9544E7053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EEFE0B-BFBE-D78F-5B15-946507CCC173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233557-3A2E-5BD6-901B-C5697FC442A4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EA3CB6-D4F4-DECB-A7AD-C70AF3EE78C2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98C1DEF5-2ECA-35AF-64BA-C0A517C9601D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420065-6887-9AA8-567D-6116C4B5E40A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0F908-D771-B41F-48E7-34208A201E11}"/>
              </a:ext>
            </a:extLst>
          </p:cNvPr>
          <p:cNvSpPr txBox="1"/>
          <p:nvPr/>
        </p:nvSpPr>
        <p:spPr>
          <a:xfrm>
            <a:off x="6105020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FCFEB-3ECC-4F67-0089-5A9054F0A4C0}"/>
              </a:ext>
            </a:extLst>
          </p:cNvPr>
          <p:cNvSpPr txBox="1"/>
          <p:nvPr/>
        </p:nvSpPr>
        <p:spPr>
          <a:xfrm>
            <a:off x="524909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CF06F-19B2-61EE-A762-44C6BDBBEB33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38925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341E-0483-A24C-6B95-4FBFB8CE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724E7-B823-3E9B-0354-1037A6C52DBC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8CAAB9-EEDB-419A-A4DF-65F11FEF6EB0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C1C8FD-E378-7C64-C7B7-7A8FF8F09795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491594-3542-6D06-4FC8-9D5D20C20A30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5FDC0A-26E2-7D11-6E7C-ED5A15563BB6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BDFB9B-8245-3C1A-1271-2661AB69D180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F05CD7-59B3-EA91-2AB0-D78C7718C4C3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07F70A-6D10-F861-7D6B-A961E4A2BE75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B719D7-427A-40EF-42AE-E57B3CCC93FE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1C738C-4085-03AD-E949-BDB70D696A72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4C502-3192-AC4C-EC3D-9C77D5498BE6}"/>
              </a:ext>
            </a:extLst>
          </p:cNvPr>
          <p:cNvSpPr txBox="1"/>
          <p:nvPr/>
        </p:nvSpPr>
        <p:spPr>
          <a:xfrm>
            <a:off x="531221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C2C07-9CD9-BFDB-0912-E1EF69643B9C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47DEFF-38A6-E1B1-1623-4AC51702B781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81B7E9-8546-EE34-35F2-A19164A68EC5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FC9491-436D-9844-97F5-1554953E7E92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92407905-CDAB-93AB-61CA-50B8F3433D8E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08778B-7C70-EFA1-F964-90FC513BEB89}"/>
              </a:ext>
            </a:extLst>
          </p:cNvPr>
          <p:cNvSpPr txBox="1"/>
          <p:nvPr/>
        </p:nvSpPr>
        <p:spPr>
          <a:xfrm>
            <a:off x="6105020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D89E93-36EF-06A7-112C-2CE956B6A712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695C4-F8C0-D782-1920-608A307DD0D8}"/>
              </a:ext>
            </a:extLst>
          </p:cNvPr>
          <p:cNvSpPr txBox="1"/>
          <p:nvPr/>
        </p:nvSpPr>
        <p:spPr>
          <a:xfrm>
            <a:off x="7602232" y="348456"/>
            <a:ext cx="52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84461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436CD-128A-7407-DB03-4E6151BC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AC6780-4D28-6D4B-1818-BC5B94276852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BFC1AF5-F74E-1B18-4834-811E26DDDACD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8EAA3E-29C1-6CF7-2E8E-E8C582B1B85A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3BD7A6-D188-A3E9-37ED-CDF1EAC7169A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D7C4E0-1782-8B0A-91F9-53344875132E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40153B-C826-4252-EC1B-C6022D0FD8E8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A899A4-2203-64EB-DF26-F82C0361668C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7DDD291-F814-02AD-F0B3-7FAEB094FBAD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4299CC4-7C7E-3F22-E397-14C78F119261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E96DE-4C0A-8896-9E7A-A92F00A28B25}"/>
              </a:ext>
            </a:extLst>
          </p:cNvPr>
          <p:cNvSpPr txBox="1"/>
          <p:nvPr/>
        </p:nvSpPr>
        <p:spPr>
          <a:xfrm>
            <a:off x="531221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707084-94AD-C220-0495-BF3DE8DE5B34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C6BEAA-D88F-DA6D-2288-B5C991E00130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A242D1-060D-F991-61A0-ED6189C6FF61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9F0F9A-FE01-57E3-D9F1-8FAD06307BE6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5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9A3C14F9-996E-C1B2-5ED3-631D81367D1C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FDA2DD-E9D5-DC58-84D5-5761B9D8C19B}"/>
              </a:ext>
            </a:extLst>
          </p:cNvPr>
          <p:cNvSpPr txBox="1"/>
          <p:nvPr/>
        </p:nvSpPr>
        <p:spPr>
          <a:xfrm>
            <a:off x="607205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21C7F-1A8B-FA5D-E2A6-2A07A50B4849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AFD223-02F4-05A2-CBC5-C8086EEB9D92}"/>
              </a:ext>
            </a:extLst>
          </p:cNvPr>
          <p:cNvSpPr txBox="1"/>
          <p:nvPr/>
        </p:nvSpPr>
        <p:spPr>
          <a:xfrm>
            <a:off x="4480386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46547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82FD-1D6A-7905-09AF-79FA009E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/>
              <a:t>☠️ like in HW02 (text box), need to iterate backwards</a:t>
            </a:r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12369671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FE3C-BF96-BE65-8F25-F4DF51F6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F8B2-91C5-07C7-6414-D6DF1E11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>
                <a:latin typeface="Consolas" panose="020B0609020204030204" pitchFamily="49" charset="0"/>
                <a:cs typeface="Consolas" panose="020B0609020204030204" pitchFamily="49" charset="0"/>
              </a:rPr>
              <a:t>ep</a:t>
            </a:r>
            <a:r>
              <a:rPr lang="en-US" sz="88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8800">
                <a:latin typeface="Consolas" panose="020B0609020204030204" pitchFamily="49" charset="0"/>
                <a:cs typeface="Consolas" panose="020B0609020204030204" pitchFamily="49" charset="0"/>
              </a:rPr>
              <a:t>elia</a:t>
            </a:r>
          </a:p>
        </p:txBody>
      </p:sp>
    </p:spTree>
    <p:extLst>
      <p:ext uri="{BB962C8B-B14F-4D97-AF65-F5344CB8AC3E}">
        <p14:creationId xmlns:p14="http://schemas.microsoft.com/office/powerpoint/2010/main" val="22097328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8B5D-8089-F446-E134-93EF5080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D88E-BC87-FCC8-2C17-8A097D17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>
                <a:latin typeface="Consolas" panose="020B0609020204030204" pitchFamily="49" charset="0"/>
                <a:cs typeface="Consolas" panose="020B0609020204030204" pitchFamily="49" charset="0"/>
              </a:rPr>
              <a:t>eph</a:t>
            </a:r>
            <a:r>
              <a:rPr lang="en-US" sz="8800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8800">
                <a:latin typeface="Consolas" panose="020B0609020204030204" pitchFamily="49" charset="0"/>
                <a:cs typeface="Consolas" panose="020B0609020204030204" pitchFamily="49" charset="0"/>
              </a:rPr>
              <a:t>eeee</a:t>
            </a:r>
          </a:p>
        </p:txBody>
      </p:sp>
    </p:spTree>
    <p:extLst>
      <p:ext uri="{BB962C8B-B14F-4D97-AF65-F5344CB8AC3E}">
        <p14:creationId xmlns:p14="http://schemas.microsoft.com/office/powerpoint/2010/main" val="37882351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55BB8-E4B8-1AA8-8968-6484F760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Cv2: 'Oh No!' Creator of 'Webcomic Name' Raises Almost ...">
            <a:extLst>
              <a:ext uri="{FF2B5EF4-FFF2-40B4-BE49-F238E27FC236}">
                <a16:creationId xmlns:a16="http://schemas.microsoft.com/office/drawing/2014/main" id="{A62FF46B-B3B5-F82B-D1D9-0549E103D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1466850"/>
            <a:ext cx="2336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0986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4B83-0ACB-F0D7-9533-00A82F4D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D1C07F-D1F2-411A-F297-018B7D810DEA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FBB256-4B30-3B03-3AC8-AB1301188517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198D11-37B5-6510-2DC5-C3176353ED8D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D25CC4-5CE3-211C-95D0-0ED66C9FA69A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B50584-28FB-BACC-8F71-C0F2D26CB6B9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4BFE54-E620-C013-CC82-5FE243BA8315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FEF8B8-5755-EB97-4E77-6A4CF601E5E0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BAA5C9-6131-8E51-D67E-E640B9165FC1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594DE02-7A5E-668F-E2C7-7C12F90A30E3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0B3ADC-45AB-8C50-C5B7-1FC2574B7297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51FD43-29A2-E8C5-73A7-4BD0D881D88E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5076F6-C66A-776C-44A4-9C1658950B81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81D9CB-63D9-A300-DAB6-E817C351A08E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F5A596-E918-C32C-EE0A-40F2934E10CD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3384652A-695D-4D99-7FB0-ADA45CE14055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6BCD59-153B-DF9F-04F0-3B146C166093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54058-14C6-2E11-8998-18D2B9E13E9F}"/>
              </a:ext>
            </a:extLst>
          </p:cNvPr>
          <p:cNvSpPr txBox="1"/>
          <p:nvPr/>
        </p:nvSpPr>
        <p:spPr>
          <a:xfrm>
            <a:off x="524909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🍇</a:t>
            </a:r>
            <a:endParaRPr lang="en-US" sz="11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27E33D-E96B-FAC9-0B09-ECD94291325A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860561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687CF-C73B-2383-1C87-8CF6CEF5A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A76130E-2620-580C-20D2-439866418927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BBFDFA5-3630-B4E3-43F3-759A589B415D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077A56-68B3-E778-4471-94942996FBB2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3D4978-8FA4-37C8-1AE2-D73B4A54FB08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2386602-F6DA-90B0-2A0F-13BA9F262EAB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3E7B53-E5B5-8AE2-B1F9-E496F117C304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09C03-9A23-50C8-B726-9DB6404F359C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175F88-BB26-59A4-5F42-D4D76CE9E953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6965790-9A5F-8756-FFE8-4268882336B2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33AC45-30FC-C429-37A6-1BE0C7BE195B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1F6DC3-890E-8986-63C9-600E1136A30E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073CFA-5B2D-9D52-BECE-473E5BDA89EA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AA0E4A-30F2-0E8C-7E79-F0F8BA31FF4C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4E789F-8E57-5885-B6D1-772E191E2270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A2A74-9892-DF3D-4E00-5F9CD4FC1423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0DE9CC-1065-F8D8-A0A8-FE7AD07EEC39}"/>
              </a:ext>
            </a:extLst>
          </p:cNvPr>
          <p:cNvSpPr txBox="1"/>
          <p:nvPr/>
        </p:nvSpPr>
        <p:spPr>
          <a:xfrm>
            <a:off x="527928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8" name="Title 34">
            <a:extLst>
              <a:ext uri="{FF2B5EF4-FFF2-40B4-BE49-F238E27FC236}">
                <a16:creationId xmlns:a16="http://schemas.microsoft.com/office/drawing/2014/main" id="{90F79270-DE0A-F7AB-C336-7C13BD786EE2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</p:spTree>
    <p:extLst>
      <p:ext uri="{BB962C8B-B14F-4D97-AF65-F5344CB8AC3E}">
        <p14:creationId xmlns:p14="http://schemas.microsoft.com/office/powerpoint/2010/main" val="916983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EBC2-8091-1AF4-A7C2-05A2A950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9C7FC93-2FC2-56A2-4C61-E6D303F9AE4F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22F3C7-DC8A-ED62-43EB-39032627B13D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356C656-8EF9-84F6-2B84-66A709389015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14DD23-4FEE-CBC2-BCA9-3BB72E079FCC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22D90D-5A02-BED5-596F-0A89B2323B65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087D03-4DAD-6AE3-969F-405273496CFD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D51595-CC1C-AEC9-E994-5F7CD1E9FCC3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17CB15-C26A-60E9-FB2D-E6E7CB2EB071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D424E4C-B41A-CC43-723D-BB24486F9D5E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🍎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B86EF-CD0F-B191-3E57-26E1572DBB4D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🥦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FD962-B5B7-9944-7C47-6D52F4708838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🥕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7AE3A0-A7C8-80F2-FF35-F34EE0A11207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A01C44-690B-C85D-2AEA-514DBFE7963C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59F50A-F623-CE95-375D-178F9B25E194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66D9ED">
                    <a:lumMod val="75000"/>
                  </a:srgbClr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EE43403A-76C6-801F-57FC-6A728C284778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pPr marL="0" marR="0" lvl="0" indent="0" algn="ctr" defTabSz="34288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Segoe UI Emoji" panose="020B0502040204020203" pitchFamily="34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65888-79FD-1A0D-2919-97620E794331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796D10-E3A4-A39D-8696-975ED21EDA3B}"/>
              </a:ext>
            </a:extLst>
          </p:cNvPr>
          <p:cNvSpPr txBox="1"/>
          <p:nvPr/>
        </p:nvSpPr>
        <p:spPr>
          <a:xfrm>
            <a:off x="527928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🥦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0D5D7-9EC8-DE51-8BF5-EFD2DD2F9C86}"/>
              </a:ext>
            </a:extLst>
          </p:cNvPr>
          <p:cNvSpPr txBox="1"/>
          <p:nvPr/>
        </p:nvSpPr>
        <p:spPr>
          <a:xfrm>
            <a:off x="527928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🥦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60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124B-5837-3CA6-EEAA-211F3CFA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14B87E-3FF0-608D-A752-07949F329137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C25AAD-88A4-AC62-F873-9865E8B5F6ED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CB0DD55-6488-DE04-BD9D-88B61F76FF88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D4E84B-DD71-7B38-D805-2E6AEA3E99BC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207382-9687-5231-D2D0-49A62BFA052D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BC881F3-766E-4AB0-0203-3B8AF0237E1E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767A63-04AA-3EDC-5475-C73D10806379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63D4EF-4A5F-9DAB-E45B-247EAA6312E3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6DD05F-4AFE-3AF2-2D15-50B999A075ED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6D10827-B6B7-0073-85B3-EB875323CED8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6C617-B1AA-52EE-C1DD-3B1B65E032E4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827F11-3A11-9A6D-FFFA-AA2562E48991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897D03-A203-50B9-7BCD-41A012F764D3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2A9257-E8C1-838A-FA85-F3E63D6F4B1D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9C4F7C73-0D22-CF0C-E804-DDAF1A9A8689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361397-F84F-BAAB-76DB-EE40507946B0}"/>
              </a:ext>
            </a:extLst>
          </p:cNvPr>
          <p:cNvSpPr txBox="1"/>
          <p:nvPr/>
        </p:nvSpPr>
        <p:spPr>
          <a:xfrm>
            <a:off x="6105020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A6435-704A-3783-B425-C660FB8A2732}"/>
              </a:ext>
            </a:extLst>
          </p:cNvPr>
          <p:cNvSpPr txBox="1"/>
          <p:nvPr/>
        </p:nvSpPr>
        <p:spPr>
          <a:xfrm>
            <a:off x="4489254" y="1622829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28362F-D786-32BE-240C-B45C67B75F24}"/>
              </a:ext>
            </a:extLst>
          </p:cNvPr>
          <p:cNvSpPr txBox="1"/>
          <p:nvPr/>
        </p:nvSpPr>
        <p:spPr>
          <a:xfrm>
            <a:off x="7602232" y="348456"/>
            <a:ext cx="52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2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3C1A2-5517-C5A1-3EF7-7824E882DE78}"/>
              </a:ext>
            </a:extLst>
          </p:cNvPr>
          <p:cNvSpPr txBox="1"/>
          <p:nvPr/>
        </p:nvSpPr>
        <p:spPr>
          <a:xfrm>
            <a:off x="527928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🥦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791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5176-D6CA-A736-B859-1119092A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F6AF92-BEC1-FBBE-0DFA-8E76A11741BC}"/>
              </a:ext>
            </a:extLst>
          </p:cNvPr>
          <p:cNvGrpSpPr/>
          <p:nvPr/>
        </p:nvGrpSpPr>
        <p:grpSpPr>
          <a:xfrm>
            <a:off x="2775352" y="1418472"/>
            <a:ext cx="4112951" cy="912967"/>
            <a:chOff x="582919" y="134337"/>
            <a:chExt cx="8664183" cy="192322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5D65ED5-5705-D5BE-3591-E906BCDF0FE0}"/>
                </a:ext>
              </a:extLst>
            </p:cNvPr>
            <p:cNvSpPr/>
            <p:nvPr/>
          </p:nvSpPr>
          <p:spPr>
            <a:xfrm>
              <a:off x="591158" y="134337"/>
              <a:ext cx="8492774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3F304B-8668-F34B-5B30-B8CB4565DDCB}"/>
                </a:ext>
              </a:extLst>
            </p:cNvPr>
            <p:cNvSpPr/>
            <p:nvPr/>
          </p:nvSpPr>
          <p:spPr>
            <a:xfrm>
              <a:off x="591156" y="1819023"/>
              <a:ext cx="8492772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22104C0-E9A5-7682-7DA5-3690E4603BC9}"/>
                </a:ext>
              </a:extLst>
            </p:cNvPr>
            <p:cNvSpPr/>
            <p:nvPr/>
          </p:nvSpPr>
          <p:spPr>
            <a:xfrm rot="5400000">
              <a:off x="-259423" y="976680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14EC1E-37DE-CBCF-AC31-830F876ED214}"/>
                </a:ext>
              </a:extLst>
            </p:cNvPr>
            <p:cNvSpPr/>
            <p:nvPr/>
          </p:nvSpPr>
          <p:spPr>
            <a:xfrm rot="5400000">
              <a:off x="8166221" y="976679"/>
              <a:ext cx="1923223" cy="23853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88CD2A-183C-9349-F57D-743629B28C55}"/>
                </a:ext>
              </a:extLst>
            </p:cNvPr>
            <p:cNvSpPr/>
            <p:nvPr/>
          </p:nvSpPr>
          <p:spPr>
            <a:xfrm rot="5400000">
              <a:off x="1366209" y="1027513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CCDF743-7E13-50E6-00FD-EC25B3E91FD0}"/>
                </a:ext>
              </a:extLst>
            </p:cNvPr>
            <p:cNvSpPr/>
            <p:nvPr/>
          </p:nvSpPr>
          <p:spPr>
            <a:xfrm rot="5400000">
              <a:off x="2991809" y="1027514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540B670-C5EE-B69F-80BB-8FBCDB274AA5}"/>
                </a:ext>
              </a:extLst>
            </p:cNvPr>
            <p:cNvSpPr/>
            <p:nvPr/>
          </p:nvSpPr>
          <p:spPr>
            <a:xfrm rot="5400000">
              <a:off x="4668209" y="1027515"/>
              <a:ext cx="1923223" cy="1368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6DFC1B-11F1-09A2-D867-54EB92B6C4F8}"/>
              </a:ext>
            </a:extLst>
          </p:cNvPr>
          <p:cNvSpPr txBox="1"/>
          <p:nvPr/>
        </p:nvSpPr>
        <p:spPr>
          <a:xfrm>
            <a:off x="2969416" y="1606184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🍎</a:t>
            </a:r>
            <a:endParaRPr 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1D5E5D-FE20-D8F4-F295-7816CBC347A6}"/>
              </a:ext>
            </a:extLst>
          </p:cNvPr>
          <p:cNvSpPr txBox="1"/>
          <p:nvPr/>
        </p:nvSpPr>
        <p:spPr>
          <a:xfrm>
            <a:off x="3692431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🥕</a:t>
            </a:r>
            <a:endParaRPr 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8237DC-A38D-678F-0A5A-17281019ED03}"/>
              </a:ext>
            </a:extLst>
          </p:cNvPr>
          <p:cNvSpPr txBox="1"/>
          <p:nvPr/>
        </p:nvSpPr>
        <p:spPr>
          <a:xfrm>
            <a:off x="312915" y="1612230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internalArray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625B81-3632-8ED2-C83C-83D9696CFB55}"/>
              </a:ext>
            </a:extLst>
          </p:cNvPr>
          <p:cNvSpPr txBox="1"/>
          <p:nvPr/>
        </p:nvSpPr>
        <p:spPr>
          <a:xfrm>
            <a:off x="359087" y="501144"/>
            <a:ext cx="25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+mj-lt"/>
              </a:rPr>
              <a:t>length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A6DE27-B2F9-FC04-E11B-22FCDB62F7E6}"/>
              </a:ext>
            </a:extLst>
          </p:cNvPr>
          <p:cNvSpPr txBox="1"/>
          <p:nvPr/>
        </p:nvSpPr>
        <p:spPr>
          <a:xfrm>
            <a:off x="1733469" y="316477"/>
            <a:ext cx="664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>
                <a:solidFill>
                  <a:schemeClr val="accent5">
                    <a:lumMod val="75000"/>
                  </a:schemeClr>
                </a:solidFill>
                <a:latin typeface="+mj-lt"/>
              </a:rPr>
              <a:t>5</a:t>
            </a:r>
          </a:p>
        </p:txBody>
      </p:sp>
      <p:sp>
        <p:nvSpPr>
          <p:cNvPr id="41" name="Title 34">
            <a:extLst>
              <a:ext uri="{FF2B5EF4-FFF2-40B4-BE49-F238E27FC236}">
                <a16:creationId xmlns:a16="http://schemas.microsoft.com/office/drawing/2014/main" id="{04D576D2-4EC8-75ED-1F05-26161569C991}"/>
              </a:ext>
            </a:extLst>
          </p:cNvPr>
          <p:cNvSpPr txBox="1">
            <a:spLocks/>
          </p:cNvSpPr>
          <p:nvPr/>
        </p:nvSpPr>
        <p:spPr>
          <a:xfrm>
            <a:off x="6255412" y="320052"/>
            <a:ext cx="25295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anchor="ctr"/>
          <a:lstStyle>
            <a:lvl1pPr algn="ctr" defTabSz="342886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n-lt"/>
                <a:ea typeface="Segoe UI Emoji" panose="020B0502040204020203" pitchFamily="34" charset="0"/>
                <a:cs typeface="+mj-cs"/>
              </a:defRPr>
            </a:lvl1pPr>
          </a:lstStyle>
          <a:p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list.add(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, 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BAC19-2628-754C-69DF-43537F7036CC}"/>
              </a:ext>
            </a:extLst>
          </p:cNvPr>
          <p:cNvSpPr/>
          <p:nvPr/>
        </p:nvSpPr>
        <p:spPr>
          <a:xfrm rot="5400000">
            <a:off x="5510543" y="1842468"/>
            <a:ext cx="912966" cy="6497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30960-C7F6-5CB5-D3DA-365600383A40}"/>
              </a:ext>
            </a:extLst>
          </p:cNvPr>
          <p:cNvSpPr txBox="1"/>
          <p:nvPr/>
        </p:nvSpPr>
        <p:spPr>
          <a:xfrm>
            <a:off x="4480386" y="1613345"/>
            <a:ext cx="564540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🌽</a:t>
            </a:r>
            <a:endParaRPr lang="en-US"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8FF3B5-F15D-19A8-1CC4-A7F4718719DD}"/>
              </a:ext>
            </a:extLst>
          </p:cNvPr>
          <p:cNvSpPr txBox="1"/>
          <p:nvPr/>
        </p:nvSpPr>
        <p:spPr>
          <a:xfrm>
            <a:off x="6105020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🥦</a:t>
            </a:r>
            <a:endParaRPr 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34EB9E-C1E2-2402-C52E-E6AA84EAB367}"/>
              </a:ext>
            </a:extLst>
          </p:cNvPr>
          <p:cNvSpPr txBox="1"/>
          <p:nvPr/>
        </p:nvSpPr>
        <p:spPr>
          <a:xfrm>
            <a:off x="5279288" y="1603862"/>
            <a:ext cx="564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🥦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BC068F-B4E2-EB24-06BF-17243FF48D54}"/>
              </a:ext>
            </a:extLst>
          </p:cNvPr>
          <p:cNvCxnSpPr/>
          <p:nvPr/>
        </p:nvCxnSpPr>
        <p:spPr>
          <a:xfrm>
            <a:off x="1076960" y="172720"/>
            <a:ext cx="6786880" cy="407416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2AF669-888A-E415-3778-562712128D22}"/>
              </a:ext>
            </a:extLst>
          </p:cNvPr>
          <p:cNvCxnSpPr>
            <a:cxnSpLocks/>
          </p:cNvCxnSpPr>
          <p:nvPr/>
        </p:nvCxnSpPr>
        <p:spPr>
          <a:xfrm flipV="1">
            <a:off x="1076960" y="325120"/>
            <a:ext cx="6990080" cy="376936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86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B411-F922-5097-6159-A5A14A84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F55F-DE3D-C8E0-1ECA-243A5285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note on </a:t>
            </a:r>
            <a:r>
              <a:rPr lang="en-US">
                <a:latin typeface="+mj-lt"/>
              </a:rPr>
              <a:t>add</a:t>
            </a:r>
            <a:endParaRPr lang="en-US" sz="8800"/>
          </a:p>
        </p:txBody>
      </p:sp>
    </p:spTree>
    <p:extLst>
      <p:ext uri="{BB962C8B-B14F-4D97-AF65-F5344CB8AC3E}">
        <p14:creationId xmlns:p14="http://schemas.microsoft.com/office/powerpoint/2010/main" val="16891125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50202-9094-20B4-FEA7-7E7AECE3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087A74-FC92-A756-9FBF-D509DC209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note on </a:t>
            </a:r>
            <a:r>
              <a:rPr lang="en-US">
                <a:latin typeface="+mj-lt"/>
              </a:rPr>
              <a:t>add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6582D-13C8-8E1C-4B89-E3CEF32D97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>
                <a:cs typeface="Consolas" panose="020B0609020204030204" pitchFamily="49" charset="0"/>
              </a:rPr>
              <a:t>the special-case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800">
                <a:cs typeface="Consolas" panose="020B0609020204030204" pitchFamily="49" charset="0"/>
              </a:rPr>
              <a:t> to end</a:t>
            </a:r>
            <a:r>
              <a:rPr lang="en-US">
                <a:cs typeface="Consolas" panose="020B0609020204030204" pitchFamily="49" charset="0"/>
              </a:rPr>
              <a:t> (append)</a:t>
            </a:r>
            <a:br>
              <a:rPr lang="en-US">
                <a:cs typeface="Consolas" panose="020B0609020204030204" pitchFamily="49" charset="0"/>
              </a:rPr>
            </a:br>
            <a:r>
              <a:rPr lang="en-US">
                <a:cs typeface="Consolas" panose="020B0609020204030204" pitchFamily="49" charset="0"/>
              </a:rPr>
              <a:t>can be implemented using the general-purpose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>
                <a:cs typeface="Consolas" panose="020B0609020204030204" pitchFamily="49" charset="0"/>
              </a:rPr>
              <a:t> (insert)</a:t>
            </a:r>
          </a:p>
          <a:p>
            <a:endParaRPr lang="en-US">
              <a:solidFill>
                <a:srgbClr val="0000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886" lvl="1" indent="0"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add(</a:t>
            </a:r>
            <a:r>
              <a:rPr lang="en-US" err="1">
                <a:solidFill>
                  <a:srgbClr val="000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ElementType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element) {</a:t>
            </a:r>
            <a:b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   add(this.</a:t>
            </a:r>
            <a:r>
              <a:rPr lang="en-US" err="1">
                <a:solidFill>
                  <a:srgbClr val="000000"/>
                </a:solidFill>
                <a:latin typeface="Consolas"/>
              </a:rPr>
              <a:t>length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, element);</a:t>
            </a:r>
            <a:b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lvl="1"/>
            <a:endParaRPr lang="en-US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>
                <a:cs typeface="Consolas" panose="020B0609020204030204" pitchFamily="49" charset="0"/>
              </a:rPr>
              <a:t>☠️ however, if </a:t>
            </a:r>
            <a:r>
              <a:rPr lang="en-US" b="1" err="1">
                <a:cs typeface="Consolas" panose="020B0609020204030204" pitchFamily="49" charset="0"/>
              </a:rPr>
              <a:t>i</a:t>
            </a:r>
            <a:r>
              <a:rPr lang="en-US" b="1">
                <a:cs typeface="Consolas" panose="020B0609020204030204" pitchFamily="49" charset="0"/>
              </a:rPr>
              <a:t> were implementing an array list from scratch,</a:t>
            </a:r>
            <a:br>
              <a:rPr lang="en-US" b="1">
                <a:cs typeface="Consolas" panose="020B0609020204030204" pitchFamily="49" charset="0"/>
              </a:rPr>
            </a:br>
            <a:r>
              <a:rPr lang="en-US" b="1" err="1">
                <a:cs typeface="Consolas" panose="020B0609020204030204" pitchFamily="49" charset="0"/>
              </a:rPr>
              <a:t>i</a:t>
            </a:r>
            <a:r>
              <a:rPr lang="en-US" b="1">
                <a:cs typeface="Consolas" panose="020B0609020204030204" pitchFamily="49" charset="0"/>
              </a:rPr>
              <a:t> would still implement the less general version first!</a:t>
            </a:r>
            <a:br>
              <a:rPr lang="en-US" b="1">
                <a:cs typeface="Consolas" panose="020B0609020204030204" pitchFamily="49" charset="0"/>
              </a:rPr>
            </a:br>
            <a:r>
              <a:rPr lang="en-US" b="1">
                <a:cs typeface="Consolas" panose="020B0609020204030204" pitchFamily="49" charset="0"/>
              </a:rPr>
              <a:t>(it is simpler, and i will learn stuff by implementing it)</a:t>
            </a:r>
          </a:p>
          <a:p>
            <a:pPr lvl="1"/>
            <a:r>
              <a:rPr lang="en-US" b="1">
                <a:solidFill>
                  <a:schemeClr val="accent2">
                    <a:lumMod val="60000"/>
                    <a:lumOff val="40000"/>
                  </a:schemeClr>
                </a:solidFill>
                <a:cs typeface="Consolas" panose="020B0609020204030204" pitchFamily="49" charset="0"/>
              </a:rPr>
              <a:t>(🐣 baby steps)</a:t>
            </a:r>
            <a:endParaRPr lang="en-US" b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23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FE21-A764-B93E-52A7-68C8FD0CC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A28F39-2B03-544B-089E-0D713600F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/>
              <a:t>big-O runtime of</a:t>
            </a:r>
            <a:r>
              <a:rPr lang="en-US"/>
              <a:t> </a:t>
            </a:r>
            <a:r>
              <a:rPr lang="en-US" sz="3600">
                <a:latin typeface="+mj-lt"/>
              </a:rPr>
              <a:t>void add(ElementType e);</a:t>
            </a:r>
            <a:endParaRPr lang="en-US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12476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AAD1F-918A-D569-76CF-B3FD85DB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7E68D8-389D-A474-68D8-5FFD3D50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review: </a:t>
            </a:r>
            <a:r>
              <a:rPr lang="en-US"/>
              <a:t>big-O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055214B-4969-E456-933A-4930704E1FA9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b="1"/>
                  <a:t>big-O runtime</a:t>
                </a:r>
                <a:r>
                  <a:rPr lang="en-US" sz="2000"/>
                  <a:t> (</a:t>
                </a:r>
                <a:r>
                  <a:rPr lang="en-US" sz="2000" b="1"/>
                  <a:t>running time</a:t>
                </a:r>
                <a:r>
                  <a:rPr lang="en-US" sz="2000"/>
                  <a:t>, </a:t>
                </a:r>
                <a:r>
                  <a:rPr lang="en-US" sz="2000" b="1"/>
                  <a:t>time complexity</a:t>
                </a:r>
                <a:r>
                  <a:rPr lang="en-US" sz="2000"/>
                  <a:t>) gives us a big-picture idea of how long a function will take to run (execute, finish)</a:t>
                </a:r>
              </a:p>
              <a:p>
                <a:pPr lvl="1"/>
                <a:r>
                  <a:rPr lang="en-US" sz="2000"/>
                  <a:t>a function that operates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/>
                  <a:t> </a:t>
                </a:r>
                <a:r>
                  <a:rPr lang="en-US" sz="2000" i="1"/>
                  <a:t>things</a:t>
                </a:r>
                <a:br>
                  <a:rPr lang="en-US" sz="2000" i="1"/>
                </a:br>
                <a:r>
                  <a:rPr lang="en-US" sz="2000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:r>
                  <a:rPr 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NOTE: </a:t>
                </a:r>
                <a:r>
                  <a:rPr lang="en-US" sz="2000">
                    <a:solidFill>
                      <a:schemeClr val="accent2">
                        <a:lumMod val="50000"/>
                      </a:schemeClr>
                    </a:solidFill>
                  </a:rPr>
                  <a:t>we assume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solidFill>
                      <a:schemeClr val="accent2">
                        <a:lumMod val="50000"/>
                      </a:schemeClr>
                    </a:solidFill>
                  </a:rPr>
                  <a:t>is LARGE)</a:t>
                </a:r>
                <a:br>
                  <a:rPr lang="en-US" sz="2000" i="1"/>
                </a:br>
                <a:r>
                  <a:rPr lang="en-US" sz="2000"/>
                  <a:t>could be...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2000"/>
                  <a:t> (</a:t>
                </a:r>
                <a:r>
                  <a:rPr lang="en-US" sz="2000" b="1"/>
                  <a:t>constant time</a:t>
                </a:r>
                <a:r>
                  <a:rPr lang="en-US" sz="2000"/>
                  <a:t>)							😀 </a:t>
                </a:r>
                <a:r>
                  <a:rPr lang="en-US" sz="2000">
                    <a:solidFill>
                      <a:schemeClr val="accent2"/>
                    </a:solidFill>
                  </a:rPr>
                  <a:t>FAST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4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/>
                  <a:t> (</a:t>
                </a:r>
                <a:r>
                  <a:rPr lang="en-US" sz="1400" b="1"/>
                  <a:t>logarithmic time</a:t>
                </a:r>
                <a:r>
                  <a:rPr lang="en-US" sz="1400"/>
                  <a:t>, </a:t>
                </a:r>
                <a:r>
                  <a:rPr lang="en-US" sz="1400" b="1"/>
                  <a:t>log time</a:t>
                </a:r>
                <a:r>
                  <a:rPr lang="en-US" sz="1400"/>
                  <a:t>)	🙂</a:t>
                </a:r>
                <a:r>
                  <a:rPr lang="en-US" sz="1400">
                    <a:solidFill>
                      <a:schemeClr val="accent2"/>
                    </a:solidFill>
                  </a:rPr>
                  <a:t> fast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 (</a:t>
                </a:r>
                <a:r>
                  <a:rPr lang="en-US" sz="2000" b="1"/>
                  <a:t>linear time</a:t>
                </a:r>
                <a:r>
                  <a:rPr lang="en-US" sz="2000"/>
                  <a:t>)								😐 </a:t>
                </a:r>
                <a:r>
                  <a:rPr lang="en-US" sz="2000">
                    <a:solidFill>
                      <a:schemeClr val="accent2"/>
                    </a:solidFill>
                  </a:rPr>
                  <a:t>meh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 (</a:t>
                </a:r>
                <a:r>
                  <a:rPr lang="en-US" sz="2000" b="1"/>
                  <a:t>quadratic time</a:t>
                </a:r>
                <a:r>
                  <a:rPr lang="en-US" sz="2000"/>
                  <a:t>)						☹️ </a:t>
                </a:r>
                <a:r>
                  <a:rPr lang="en-US" sz="2000">
                    <a:solidFill>
                      <a:schemeClr val="accent2"/>
                    </a:solidFill>
                  </a:rPr>
                  <a:t>slow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/>
                  <a:t> (</a:t>
                </a:r>
                <a:r>
                  <a:rPr lang="en-US" sz="2000" b="1"/>
                  <a:t>exponential time</a:t>
                </a:r>
                <a:r>
                  <a:rPr lang="en-US" sz="2000"/>
                  <a:t>)					😦</a:t>
                </a:r>
                <a:r>
                  <a:rPr lang="en-US" sz="2000">
                    <a:solidFill>
                      <a:schemeClr val="accent2"/>
                    </a:solidFill>
                  </a:rPr>
                  <a:t> SLOW</a:t>
                </a:r>
                <a:endParaRPr lang="en-US" sz="2000"/>
              </a:p>
              <a:p>
                <a:pPr lvl="2"/>
                <a:endParaRPr lang="en-US" sz="200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055214B-4969-E456-933A-4930704E1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772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3310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195E-6D63-556C-5388-6EFBD6DBA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4A48D5-4C6D-3E7C-0544-AE43BC9F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big-O runtime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6A670B4-C72B-CB1D-8865-1A5DCA216A9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457200" y="963337"/>
                <a:ext cx="5628290" cy="4080271"/>
              </a:xfrm>
            </p:spPr>
            <p:txBody>
              <a:bodyPr/>
              <a:lstStyle/>
              <a:p>
                <a:r>
                  <a:rPr lang="en-US" b="1"/>
                  <a:t>big-O runtime</a:t>
                </a:r>
                <a:r>
                  <a:rPr lang="en-US"/>
                  <a:t> can get complicated</a:t>
                </a:r>
              </a:p>
              <a:p>
                <a:pPr lvl="1"/>
                <a:r>
                  <a:rPr lang="en-US">
                    <a:solidFill>
                      <a:srgbClr val="BFBFBF"/>
                    </a:solidFill>
                  </a:rPr>
                  <a:t>sometimes there aren't just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BFBFB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>
                    <a:solidFill>
                      <a:srgbClr val="BFBFBF"/>
                    </a:solidFill>
                  </a:rPr>
                  <a:t> </a:t>
                </a:r>
                <a:r>
                  <a:rPr lang="en-US" i="1">
                    <a:solidFill>
                      <a:srgbClr val="BFBFBF"/>
                    </a:solidFill>
                  </a:rPr>
                  <a:t>things</a:t>
                </a:r>
                <a:r>
                  <a:rPr lang="en-US">
                    <a:solidFill>
                      <a:srgbClr val="BFBFBF"/>
                    </a:solidFill>
                  </a:rPr>
                  <a:t>...</a:t>
                </a:r>
              </a:p>
              <a:p>
                <a:pPr lvl="2"/>
                <a:r>
                  <a:rPr lang="en-US">
                    <a:solidFill>
                      <a:srgbClr val="BFBFBF"/>
                    </a:solidFill>
                  </a:rPr>
                  <a:t>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BFBFB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>
                    <a:solidFill>
                      <a:srgbClr val="BFBFBF"/>
                    </a:solidFill>
                  </a:rPr>
                  <a:t> thing A's,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BFBFB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>
                    <a:solidFill>
                      <a:srgbClr val="BFBFBF"/>
                    </a:solidFill>
                  </a:rPr>
                  <a:t> thing B's, etc.</a:t>
                </a:r>
              </a:p>
              <a:p>
                <a:pPr lvl="3"/>
                <a:r>
                  <a:rPr lang="en-US">
                    <a:solidFill>
                      <a:srgbClr val="BFBFBF"/>
                    </a:solidFill>
                  </a:rPr>
                  <a:t>🔮</a:t>
                </a:r>
                <a:r>
                  <a:rPr lang="en-US" b="1">
                    <a:solidFill>
                      <a:srgbClr val="BFBFBF"/>
                    </a:solidFill>
                  </a:rPr>
                  <a:t> stay tuned for CSCI 256!</a:t>
                </a:r>
              </a:p>
              <a:p>
                <a:pPr lvl="1"/>
                <a:r>
                  <a:rPr lang="en-US"/>
                  <a:t>sometimes we get more specific about *when* a function takes a certain length of time to run </a:t>
                </a:r>
              </a:p>
              <a:p>
                <a:pPr lvl="2"/>
                <a:r>
                  <a:rPr lang="en-US"/>
                  <a:t>in the </a:t>
                </a:r>
                <a:r>
                  <a:rPr lang="en-US" b="1"/>
                  <a:t>worst case</a:t>
                </a:r>
                <a:r>
                  <a:rPr lang="en-US"/>
                  <a:t>?</a:t>
                </a:r>
              </a:p>
              <a:p>
                <a:pPr lvl="2"/>
                <a:r>
                  <a:rPr lang="en-US"/>
                  <a:t>in the </a:t>
                </a:r>
                <a:r>
                  <a:rPr lang="en-US" b="1"/>
                  <a:t>best case</a:t>
                </a:r>
                <a:r>
                  <a:rPr lang="en-US"/>
                  <a:t>?</a:t>
                </a:r>
              </a:p>
              <a:p>
                <a:pPr lvl="2"/>
                <a:r>
                  <a:rPr lang="en-US" strike="sngStrike">
                    <a:solidFill>
                      <a:srgbClr val="BFBFBF"/>
                    </a:solidFill>
                  </a:rPr>
                  <a:t>in the </a:t>
                </a:r>
                <a:r>
                  <a:rPr lang="en-US" b="1" strike="sngStrike">
                    <a:solidFill>
                      <a:srgbClr val="BFBFBF"/>
                    </a:solidFill>
                  </a:rPr>
                  <a:t>average case</a:t>
                </a:r>
                <a:r>
                  <a:rPr lang="en-US" strike="sngStrike">
                    <a:solidFill>
                      <a:srgbClr val="BFBFBF"/>
                    </a:solidFill>
                  </a:rPr>
                  <a:t>?</a:t>
                </a:r>
              </a:p>
              <a:p>
                <a:pPr lvl="2"/>
                <a:r>
                  <a:rPr lang="en-US"/>
                  <a:t>in the "long run"? (</a:t>
                </a:r>
                <a:r>
                  <a:rPr lang="en-US" b="1"/>
                  <a:t>amortized</a:t>
                </a:r>
                <a:r>
                  <a:rPr lang="en-US"/>
                  <a:t>)</a:t>
                </a:r>
              </a:p>
              <a:p>
                <a:endParaRPr lang="en-US"/>
              </a:p>
              <a:p>
                <a:pPr lvl="2"/>
                <a:endParaRPr lang="en-US"/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4EA2092-C9D2-D7AD-17B9-B2D16B05F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457200" y="963337"/>
                <a:ext cx="5628290" cy="4080271"/>
              </a:xfrm>
              <a:blipFill>
                <a:blip r:embed="rId2"/>
                <a:stretch>
                  <a:fillRect l="-901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8312516-1D4C-E038-C2C9-1AD143A0F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084" y="0"/>
            <a:ext cx="29849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939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9C249-C79C-EE78-21A3-072987CBD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7B67E2-275B-F189-A5F3-2E2FE95AD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case and worst case runtime of adding to the back of an array list</a:t>
            </a:r>
          </a:p>
        </p:txBody>
      </p:sp>
    </p:spTree>
    <p:extLst>
      <p:ext uri="{BB962C8B-B14F-4D97-AF65-F5344CB8AC3E}">
        <p14:creationId xmlns:p14="http://schemas.microsoft.com/office/powerpoint/2010/main" val="19053540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ADF8A-7F34-51FF-540A-36EB1B290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4DD505-F8DC-0CCB-5581-4220CDAC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055DEE-D6A7-85CF-0B56-AAAD61DB608D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/>
                  <a:t>the </a:t>
                </a:r>
                <a:r>
                  <a:rPr lang="en-US" b="1"/>
                  <a:t>best case </a:t>
                </a:r>
                <a:r>
                  <a:rPr lang="en-US"/>
                  <a:t>is the shortest time a function can possibly take to run</a:t>
                </a:r>
              </a:p>
              <a:p>
                <a:pPr lvl="1"/>
                <a:r>
                  <a:rPr lang="en-US"/>
                  <a:t>for adding an element to the back of an array list, this i</a:t>
                </a:r>
                <a:r>
                  <a:rPr lang="en-US" sz="1800"/>
                  <a:t>s when the array list's internal/private array still has at least one "empty slot"</a:t>
                </a:r>
              </a:p>
              <a:p>
                <a:pPr lvl="2"/>
                <a:r>
                  <a:rPr lang="en-US"/>
                  <a:t>in this case, we have to...</a:t>
                </a:r>
              </a:p>
              <a:p>
                <a:pPr lvl="3"/>
                <a:r>
                  <a:rPr lang="en-US"/>
                  <a:t>write an element to an array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800" b="0"/>
              </a:p>
              <a:p>
                <a:pPr lvl="3"/>
                <a:r>
                  <a:rPr lang="en-US"/>
                  <a:t>increment a counter			+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---------------------------------------------</a:t>
                </a:r>
              </a:p>
              <a:p>
                <a:pPr lvl="3"/>
                <a:r>
                  <a:rPr lang="en-US">
                    <a:ea typeface="Cambria Math" panose="02040503050406030204" pitchFamily="18" charset="0"/>
                  </a:rPr>
                  <a:t> 		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/>
                  <a:t> 😀</a:t>
                </a:r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055DEE-D6A7-85CF-0B56-AAAD61DB60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617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5295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C22F5-3373-6C29-268A-5595D04F7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4FF4A3-2946-95D8-8B1A-DECB82F4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worst case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AC13AF-AC17-D418-B7B5-A7C9E7BCB2A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/>
                  <a:t>the </a:t>
                </a:r>
                <a:r>
                  <a:rPr lang="en-US" b="1"/>
                  <a:t>worst case </a:t>
                </a:r>
                <a:r>
                  <a:rPr lang="en-US"/>
                  <a:t>is the longest time a function can possibly take to run</a:t>
                </a:r>
              </a:p>
              <a:p>
                <a:pPr lvl="1"/>
                <a:r>
                  <a:rPr lang="en-US"/>
                  <a:t>for adding an element to the back of an array list, this i</a:t>
                </a:r>
                <a:r>
                  <a:rPr lang="en-US" sz="1800"/>
                  <a:t>s when the array list's internal/private array is full (with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/>
                  <a:t> elements)</a:t>
                </a:r>
              </a:p>
              <a:p>
                <a:pPr lvl="2"/>
                <a:r>
                  <a:rPr lang="en-US"/>
                  <a:t>in this case, we have to...</a:t>
                </a:r>
              </a:p>
              <a:p>
                <a:pPr lvl="3"/>
                <a:r>
                  <a:rPr lang="en-US"/>
                  <a:t>allocate an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elements		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b="0"/>
              </a:p>
              <a:p>
                <a:pPr lvl="3"/>
                <a:r>
                  <a:rPr lang="en-US"/>
                  <a:t>copy of over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elements					+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b="0"/>
              </a:p>
              <a:p>
                <a:pPr lvl="3"/>
                <a:r>
                  <a:rPr lang="en-US"/>
                  <a:t>write an element to an array			+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increment a counter						+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updating  reference to internal array	+ 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---------------------------------------------------------------</a:t>
                </a:r>
              </a:p>
              <a:p>
                <a:pPr lvl="3"/>
                <a:r>
                  <a:rPr lang="en-US">
                    <a:ea typeface="Cambria Math" panose="02040503050406030204" pitchFamily="18" charset="0"/>
                  </a:rPr>
                  <a:t> 								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/>
                  <a:t> 😐</a:t>
                </a:r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6AC13AF-AC17-D418-B7B5-A7C9E7BCB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617" t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046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BD3C-E086-9AF2-0492-BA2FB9940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C0347C-7B04-D99C-79DF-D6BE10D49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sometimes the best case and worst case are very different</a:t>
            </a:r>
          </a:p>
        </p:txBody>
      </p:sp>
    </p:spTree>
    <p:extLst>
      <p:ext uri="{BB962C8B-B14F-4D97-AF65-F5344CB8AC3E}">
        <p14:creationId xmlns:p14="http://schemas.microsoft.com/office/powerpoint/2010/main" val="14391254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499E6-1032-8AE2-AF5B-7B49F44D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383E0B-73D9-3FB2-9A55-B21DCA17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amortized runtime of adding to the back of an array list</a:t>
            </a:r>
          </a:p>
        </p:txBody>
      </p:sp>
    </p:spTree>
    <p:extLst>
      <p:ext uri="{BB962C8B-B14F-4D97-AF65-F5344CB8AC3E}">
        <p14:creationId xmlns:p14="http://schemas.microsoft.com/office/powerpoint/2010/main" val="19939472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B89A-61E1-FAF4-C5A0-98C20A61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C89053-6B3D-094C-A58B-4BEA9CDF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amortized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29C5FB-A964-D98E-99A2-99CD1BB7818E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/>
                  <a:t>the </a:t>
                </a:r>
                <a:r>
                  <a:rPr lang="en-US" b="1"/>
                  <a:t>amortized runtime </a:t>
                </a:r>
                <a:r>
                  <a:rPr lang="en-US"/>
                  <a:t>is how long a function takes (on average)</a:t>
                </a:r>
                <a:br>
                  <a:rPr lang="en-US"/>
                </a:br>
                <a:r>
                  <a:rPr lang="en-US"/>
                  <a:t>"in the long run" </a:t>
                </a:r>
              </a:p>
              <a:p>
                <a:pPr lvl="1"/>
                <a:r>
                  <a:rPr lang="en-US"/>
                  <a:t>for adding an element to the back of an array list...</a:t>
                </a:r>
              </a:p>
              <a:p>
                <a:pPr lvl="2"/>
                <a:r>
                  <a:rPr lang="en-US" sz="1400"/>
                  <a:t> 						⬜️</a:t>
                </a:r>
              </a:p>
              <a:p>
                <a:pPr lvl="2"/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wasn't full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/>
                  <a:t>		🟦</a:t>
                </a:r>
              </a:p>
              <a:p>
                <a:pPr lvl="2"/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was full		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  	</a:t>
                </a:r>
                <a:r>
                  <a:rPr lang="en-US" sz="1400"/>
                  <a:t>	🟦🟦🐢</a:t>
                </a:r>
              </a:p>
              <a:p>
                <a:pPr lvl="2"/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was full	</a:t>
                </a:r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	</a:t>
                </a:r>
                <a:r>
                  <a:rPr lang="en-US" sz="1400"/>
                  <a:t>	🟦🟦🟦⬜️🐢</a:t>
                </a:r>
              </a:p>
              <a:p>
                <a:pPr lvl="2"/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wasn't full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	</a:t>
                </a:r>
                <a:r>
                  <a:rPr lang="en-US" sz="1400"/>
                  <a:t>	🟦🟦🟦🟦</a:t>
                </a:r>
              </a:p>
              <a:p>
                <a:pPr lvl="2"/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was full	</a:t>
                </a:r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	</a:t>
                </a:r>
                <a:r>
                  <a:rPr lang="en-US" sz="1400"/>
                  <a:t>	🟦🟦🟦🟦🟦⬜️⬜️⬜️🐢</a:t>
                </a:r>
              </a:p>
              <a:p>
                <a:pPr lvl="2"/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wasn't full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		🟦🟦🟦🟦🟦🟦⬜️⬜️</a:t>
                </a:r>
              </a:p>
              <a:p>
                <a:pPr lvl="2"/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wasn't full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		🟦🟦🟦🟦🟦🟦🟦⬜️</a:t>
                </a:r>
              </a:p>
              <a:p>
                <a:pPr lvl="2"/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wasn't full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/>
                  <a:t>		🟦🟦🟦🟦🟦🟦🟦🟦</a:t>
                </a:r>
              </a:p>
              <a:p>
                <a:pPr lvl="2"/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was full	</a:t>
                </a:r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en-US" sz="1400" b="1">
                    <a:solidFill>
                      <a:schemeClr val="accent4">
                        <a:lumMod val="50000"/>
                      </a:schemeClr>
                    </a:solidFill>
                  </a:rPr>
                  <a:t>	</a:t>
                </a:r>
                <a:r>
                  <a:rPr lang="en-US" sz="1400"/>
                  <a:t>	🟦🟦🟦🟦🟦🟦🟦🟦🟦⬜️⬜️⬜️⬜️⬜️⬜️⬜️🐢</a:t>
                </a:r>
              </a:p>
              <a:p>
                <a:pPr lvl="2"/>
                <a:r>
                  <a:rPr lang="en-US" sz="1400"/>
                  <a:t> 		</a:t>
                </a:r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1400">
                  <a:solidFill>
                    <a:schemeClr val="bg1">
                      <a:lumMod val="75000"/>
                    </a:schemeClr>
                  </a:solidFill>
                </a:endParaRPr>
              </a:p>
              <a:p>
                <a:pPr lvl="2"/>
                <a:r>
                  <a:rPr lang="en-US" sz="1400">
                    <a:solidFill>
                      <a:schemeClr val="bg1">
                        <a:lumMod val="75000"/>
                      </a:schemeClr>
                    </a:solidFill>
                  </a:rPr>
                  <a:t> 			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i="1">
                    <a:solidFill>
                      <a:schemeClr val="bg1">
                        <a:lumMod val="75000"/>
                      </a:schemeClr>
                    </a:solidFill>
                  </a:rPr>
                  <a:t>	</a:t>
                </a:r>
                <a:r>
                  <a:rPr lang="en-US" sz="1400" i="1"/>
                  <a:t>	</a:t>
                </a:r>
                <a:r>
                  <a:rPr lang="en-US" sz="1400"/>
                  <a:t>🟦🟦🟦🟦🟦🟦🟦🟦🟦🟦🟦🟦🟦🟦🟦🟦... 🟦🟦🟦🟦</a:t>
                </a:r>
                <a:endParaRPr lang="en-US" sz="1400" i="1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29C5FB-A964-D98E-99A2-99CD1BB78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617" t="-621" b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54937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7602-E2F7-502B-4CAA-56C48CDA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36733-9154-4ADA-3960-7436192D4E9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-415820" y="31900"/>
            <a:ext cx="8835656" cy="51391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/>
              <a:t>		⬜️</a:t>
            </a:r>
          </a:p>
          <a:p>
            <a:pPr marL="685772" lvl="2" indent="0">
              <a:buNone/>
            </a:pPr>
            <a:r>
              <a:rPr lang="en-US" sz="1200"/>
              <a:t>🟦</a:t>
            </a:r>
          </a:p>
          <a:p>
            <a:pPr marL="685772" lvl="2" indent="0">
              <a:buNone/>
            </a:pPr>
            <a:r>
              <a:rPr lang="en-US" sz="1200"/>
              <a:t>🟦🟦🐢</a:t>
            </a:r>
          </a:p>
          <a:p>
            <a:pPr marL="685772" lvl="2" indent="0">
              <a:buNone/>
            </a:pPr>
            <a:r>
              <a:rPr lang="en-US" sz="1200"/>
              <a:t>🟦🟦🟦⬜️🐢</a:t>
            </a:r>
          </a:p>
          <a:p>
            <a:pPr marL="685772" lvl="2" indent="0">
              <a:buNone/>
            </a:pPr>
            <a:r>
              <a:rPr lang="en-US" sz="1200"/>
              <a:t>🟦🟦🟦🟦</a:t>
            </a:r>
          </a:p>
          <a:p>
            <a:pPr marL="685772" lvl="2" indent="0">
              <a:buNone/>
            </a:pPr>
            <a:r>
              <a:rPr lang="en-US" sz="1200"/>
              <a:t>🟦🟦🟦🟦🟦⬜️⬜️⬜️🐢</a:t>
            </a:r>
          </a:p>
          <a:p>
            <a:pPr marL="685772" lvl="2" indent="0">
              <a:buNone/>
            </a:pPr>
            <a:r>
              <a:rPr lang="en-US" sz="1200"/>
              <a:t>🟦🟦🟦🟦🟦🟦⬜️⬜️</a:t>
            </a:r>
          </a:p>
          <a:p>
            <a:pPr marL="685772" lvl="2" indent="0">
              <a:buNone/>
            </a:pPr>
            <a:r>
              <a:rPr lang="en-US" sz="1200"/>
              <a:t>🟦🟦🟦🟦🟦🟦🟦⬜️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</a:t>
            </a:r>
          </a:p>
          <a:p>
            <a:pPr marL="685772" lvl="2" indent="0">
              <a:buNone/>
            </a:pPr>
            <a:r>
              <a:rPr lang="en-US" sz="1200"/>
              <a:t>🟦🟦🟦🟦🟦🟦🟦🟦🟦⬜️⬜️⬜️⬜️⬜️⬜️⬜️🐢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🟦🟦🟦🟦🟦🟦🟦🟦🟦🟦⬜️⬜️⬜️⬜️⬜️⬜️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🟦🟦🟦🟦🟦🟦🟦🟦🟦🟦🟦⬜️⬜️⬜️⬜️⬜️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🟦🟦🟦🟦🟦🟦🟦🟦🟦🟦🟦🟦⬜️⬜️⬜️⬜️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🟦🟦🟦🟦🟦🟦🟦🟦🟦🟦🟦🟦🟦⬜️⬜️⬜️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🟦🟦🟦🟦🟦🟦🟦🟦🟦🟦🟦🟦🟦🟦⬜️⬜️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🟦🟦🟦🟦🟦🟦🟦🟦🟦🟦🟦🟦🟦🟦🟦⬜️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🟦🟦🟦🟦🟦🟦🟦🟦🟦🟦🟦🟦🟦🟦🟦🟦🟦⬜️⬜️⬜️⬜️⬜️⬜️⬜️⬜️⬜️⬜️⬜️⬜️⬜️⬜️⬜️ 🐢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🟦🟦🟦🟦🟦🟦🟦🟦🟦🟦🟦🟦🟦🟦🟦🟦🟦🟦⬜️⬜️⬜️⬜️⬜️⬜️⬜️⬜️⬜️⬜️⬜️⬜️⬜️⬜️ 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🟦🟦🟦🟦🟦🟦🟦🟦🟦🟦🟦🟦🟦🟦🟦🟦🟦🟦🟦⬜️⬜️⬜️⬜️⬜️⬜️⬜️⬜️⬜️⬜️⬜️⬜️⬜️ 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🟦🟦🟦🟦🟦🟦🟦🟦🟦🟦🟦🟦🟦🟦🟦🟦🟦🟦🟦🟦⬜️⬜️⬜️⬜️⬜️⬜️⬜️⬜️⬜️⬜️⬜️⬜️ 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🟦🟦🟦🟦🟦🟦🟦🟦🟦🟦🟦🟦🟦🟦🟦🟦🟦🟦🟦🟦🟦⬜️⬜️⬜️⬜️⬜️⬜️⬜️⬜️⬜️⬜️⬜️ </a:t>
            </a:r>
          </a:p>
          <a:p>
            <a:pPr marL="685772" lvl="2" indent="0">
              <a:buNone/>
            </a:pPr>
            <a:r>
              <a:rPr lang="en-US" sz="1200"/>
              <a:t>🟦🟦🟦🟦🟦🟦🟦🟦🟦🟦🟦🟦🟦🟦🟦🟦🟦🟦🟦🟦🟦🟦⬜️⬜️⬜️⬜️⬜️⬜️⬜️⬜️⬜️⬜️ </a:t>
            </a:r>
          </a:p>
          <a:p>
            <a:pPr marL="685772" lvl="2" indent="0">
              <a:buNone/>
            </a:pPr>
            <a:endParaRPr lang="en-US" sz="1200"/>
          </a:p>
          <a:p>
            <a:pPr marL="685772" lvl="2" indent="0">
              <a:buNone/>
            </a:pPr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6D41F-23E1-4FA1-9B75-372D47B4A37A}"/>
              </a:ext>
            </a:extLst>
          </p:cNvPr>
          <p:cNvSpPr txBox="1"/>
          <p:nvPr/>
        </p:nvSpPr>
        <p:spPr>
          <a:xfrm>
            <a:off x="-8238" y="15427"/>
            <a:ext cx="423180" cy="522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pPr algn="ctr">
              <a:spcAft>
                <a:spcPts val="40"/>
              </a:spcAft>
            </a:pPr>
            <a:r>
              <a:rPr lang="en-US" sz="1440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144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CBE03-4395-E70F-2A21-11921880C2C7}"/>
              </a:ext>
            </a:extLst>
          </p:cNvPr>
          <p:cNvSpPr txBox="1"/>
          <p:nvPr/>
        </p:nvSpPr>
        <p:spPr>
          <a:xfrm>
            <a:off x="6839817" y="3686658"/>
            <a:ext cx="4231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n-cs"/>
              </a:rPr>
              <a:t>🐢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5873097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BB7D6D-9187-A651-4BD3-0CC4FBEAD1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63" t="-145" r="41492" b="37573"/>
          <a:stretch/>
        </p:blipFill>
        <p:spPr>
          <a:xfrm>
            <a:off x="0" y="0"/>
            <a:ext cx="5970775" cy="5378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BECA6E-BE79-B012-F3AB-16D229C753AD}"/>
              </a:ext>
            </a:extLst>
          </p:cNvPr>
          <p:cNvSpPr txBox="1"/>
          <p:nvPr/>
        </p:nvSpPr>
        <p:spPr>
          <a:xfrm>
            <a:off x="-91440" y="3345"/>
            <a:ext cx="31303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  <a:p>
            <a:pPr algn="ctr">
              <a:spcAft>
                <a:spcPts val="40"/>
              </a:spcAft>
            </a:pPr>
            <a:r>
              <a:rPr lang="en-US" sz="595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 b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</a:t>
            </a:r>
            <a:endParaRPr lang="en-US" sz="595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algn="ctr">
              <a:spcAft>
                <a:spcPts val="40"/>
              </a:spcAft>
            </a:pPr>
            <a:r>
              <a:rPr lang="en-US" sz="595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3850943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3E63-97CA-2DEB-A603-D229A806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E051-5F7D-1CEE-8783-AC76A244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amortized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683A9-63DA-7631-C351-F967BC8445E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/>
              <a:lstStyle/>
              <a:p>
                <a:r>
                  <a:rPr lang="en-US"/>
                  <a:t>the </a:t>
                </a:r>
                <a:r>
                  <a:rPr lang="en-US" b="1"/>
                  <a:t>amortized runtime </a:t>
                </a:r>
                <a:r>
                  <a:rPr lang="en-US"/>
                  <a:t>is how long a function takes (on average)</a:t>
                </a:r>
                <a:br>
                  <a:rPr lang="en-US"/>
                </a:br>
                <a:r>
                  <a:rPr lang="en-US"/>
                  <a:t>"in the long run" </a:t>
                </a:r>
              </a:p>
              <a:p>
                <a:pPr lvl="1"/>
                <a:r>
                  <a:rPr lang="en-US"/>
                  <a:t>for adding an element to the back of an array list...</a:t>
                </a:r>
                <a:endParaRPr lang="en-US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1+2+4+1+8+1+1+1+16+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1+1+1+1+1+1+1+32+1+1+1+1+1+1+1+1+1+1+1+1+1+1+1+…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b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1+…+1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1+2+4+8+16+…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𝒪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/>
              </a:p>
              <a:p>
                <a:pPr lvl="2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/>
                  <a:t> 🙂</a:t>
                </a:r>
              </a:p>
              <a:p>
                <a:pPr lvl="2"/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683A9-63DA-7631-C351-F967BC844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3"/>
                <a:stretch>
                  <a:fillRect l="-617" t="-621" r="-31944" b="-1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8697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2C3B-691F-A53F-BA07-9F889F41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D9775C-5359-49F6-CF71-490AF75C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amortized run time is less "pessimistic" than worst case</a:t>
            </a:r>
          </a:p>
        </p:txBody>
      </p:sp>
    </p:spTree>
    <p:extLst>
      <p:ext uri="{BB962C8B-B14F-4D97-AF65-F5344CB8AC3E}">
        <p14:creationId xmlns:p14="http://schemas.microsoft.com/office/powerpoint/2010/main" val="30582211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B6729-41B4-E99D-938F-2C733DFD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7BF26E-3F48-CBC0-E0E5-857BB51A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most relevant runtime depends on </a:t>
            </a:r>
            <a:r>
              <a:rPr lang="en-US" b="1"/>
              <a:t>context</a:t>
            </a:r>
            <a:br>
              <a:rPr lang="en-US"/>
            </a:br>
            <a:br>
              <a:rPr lang="en-US"/>
            </a:br>
            <a:r>
              <a:rPr lang="en-US" sz="2800"/>
              <a:t>💭 when might worst case be more relevant?</a:t>
            </a:r>
            <a:br>
              <a:rPr lang="en-US" sz="2800"/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💭 when might </a:t>
            </a:r>
            <a:r>
              <a:rPr lang="en-US" sz="2800">
                <a:solidFill>
                  <a:srgbClr val="000000"/>
                </a:solidFill>
                <a:latin typeface="Arial"/>
              </a:rPr>
              <a:t>amortized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be more </a:t>
            </a:r>
            <a:r>
              <a:rPr lang="en-US" sz="2800"/>
              <a:t>relevant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egoe UI Emoji" panose="020B0502040204020203" pitchFamily="34" charset="0"/>
                <a:cs typeface="+mj-cs"/>
              </a:rPr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300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97F2D-C49D-5771-55C5-AEAEBE462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4B6456-B311-2C62-9E00-B0B98EF5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case and worst case runtime of inserting into the </a:t>
            </a:r>
            <a:r>
              <a:rPr lang="en-US" i="1"/>
              <a:t>front </a:t>
            </a:r>
            <a:r>
              <a:rPr lang="en-US"/>
              <a:t>of an array list</a:t>
            </a:r>
          </a:p>
        </p:txBody>
      </p:sp>
    </p:spTree>
    <p:extLst>
      <p:ext uri="{BB962C8B-B14F-4D97-AF65-F5344CB8AC3E}">
        <p14:creationId xmlns:p14="http://schemas.microsoft.com/office/powerpoint/2010/main" val="37514151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A59B-2E36-5A04-8E47-7DB03807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9FCDE9-8AA5-5E8B-15A6-C0F72BF70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best case and worst cast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B575C7A-1A38-D791-838B-9565E5718AA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the </a:t>
                </a:r>
                <a:r>
                  <a:rPr lang="en-US" b="1"/>
                  <a:t>best case </a:t>
                </a:r>
                <a:r>
                  <a:rPr lang="en-US"/>
                  <a:t>of inserting an element into the front of an array list i</a:t>
                </a:r>
                <a:r>
                  <a:rPr lang="en-US" sz="1800"/>
                  <a:t>s when the array list's internal array still has at least one "empty slot"</a:t>
                </a:r>
              </a:p>
              <a:p>
                <a:pPr lvl="2"/>
                <a:r>
                  <a:rPr lang="en-US"/>
                  <a:t>in this case, we have to...</a:t>
                </a:r>
              </a:p>
              <a:p>
                <a:pPr lvl="3"/>
                <a:r>
                  <a:rPr lang="en-US"/>
                  <a:t>"move over" n elements			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write an element to an array	+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1800" b="0"/>
              </a:p>
              <a:p>
                <a:pPr lvl="3"/>
                <a:r>
                  <a:rPr lang="en-US"/>
                  <a:t>increment a counter				+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the </a:t>
                </a:r>
                <a:r>
                  <a:rPr lang="en-US" b="1"/>
                  <a:t>worst case </a:t>
                </a:r>
                <a:r>
                  <a:rPr lang="en-US"/>
                  <a:t>of inserting an element into the front of an array list i</a:t>
                </a:r>
                <a:r>
                  <a:rPr lang="en-US" sz="1800"/>
                  <a:t>s when the array list's internal array is full</a:t>
                </a:r>
              </a:p>
              <a:p>
                <a:pPr lvl="2"/>
                <a:r>
                  <a:rPr lang="en-US"/>
                  <a:t>in this case, we have to...</a:t>
                </a:r>
              </a:p>
              <a:p>
                <a:pPr lvl="3"/>
                <a:r>
                  <a:rPr lang="en-US"/>
                  <a:t>allocate an array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elements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copy of over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elements				+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write an element to an array		+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r>
                  <a:rPr lang="en-US"/>
                  <a:t>increment a counter					+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/>
              </a:p>
              <a:p>
                <a:pPr lvl="3"/>
                <a:endParaRPr lang="en-US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790C37-8FE8-3671-D93E-6E41C79FA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blipFill>
                <a:blip r:embed="rId2"/>
                <a:stretch>
                  <a:fillRect l="-593" t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6868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8B70-E571-7E79-7BD4-10026EDC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A2D7EE-E7DE-2683-F227-D13BA192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lesson?: </a:t>
            </a:r>
            <a:r>
              <a:rPr lang="en-US"/>
              <a:t>sometimes best case and worst case are the same</a:t>
            </a:r>
          </a:p>
        </p:txBody>
      </p:sp>
    </p:spTree>
    <p:extLst>
      <p:ext uri="{BB962C8B-B14F-4D97-AF65-F5344CB8AC3E}">
        <p14:creationId xmlns:p14="http://schemas.microsoft.com/office/powerpoint/2010/main" val="1558317940"/>
      </p:ext>
    </p:extLst>
  </p:cSld>
  <p:clrMapOvr>
    <a:masterClrMapping/>
  </p:clrMapOvr>
</p:sld>
</file>

<file path=ppt/theme/theme1.xml><?xml version="1.0" encoding="utf-8"?>
<a:theme xmlns:a="http://schemas.openxmlformats.org/drawingml/2006/main" name="Jim">
  <a:themeElements>
    <a:clrScheme name="Jim">
      <a:dk1>
        <a:srgbClr val="000000"/>
      </a:dk1>
      <a:lt1>
        <a:srgbClr val="FFFFFF"/>
      </a:lt1>
      <a:dk2>
        <a:srgbClr val="7B3F00"/>
      </a:dk2>
      <a:lt2>
        <a:srgbClr val="7F7F7F"/>
      </a:lt2>
      <a:accent1>
        <a:srgbClr val="F92671"/>
      </a:accent1>
      <a:accent2>
        <a:srgbClr val="FD971F"/>
      </a:accent2>
      <a:accent3>
        <a:srgbClr val="FFFF32"/>
      </a:accent3>
      <a:accent4>
        <a:srgbClr val="A6E22E"/>
      </a:accent4>
      <a:accent5>
        <a:srgbClr val="66D9ED"/>
      </a:accent5>
      <a:accent6>
        <a:srgbClr val="AE81FF"/>
      </a:accent6>
      <a:hlink>
        <a:srgbClr val="0000FF"/>
      </a:hlink>
      <a:folHlink>
        <a:srgbClr val="666699"/>
      </a:folHlink>
    </a:clrScheme>
    <a:fontScheme name="Jim Heading is Code Body is Everything Else">
      <a:majorFont>
        <a:latin typeface="Consola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111988</TotalTime>
  <Words>2964</Words>
  <Application>Microsoft Macintosh PowerPoint</Application>
  <PresentationFormat>On-screen Show (16:9)</PresentationFormat>
  <Paragraphs>628</Paragraphs>
  <Slides>92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9" baseType="lpstr">
      <vt:lpstr>Arial</vt:lpstr>
      <vt:lpstr>Calibri</vt:lpstr>
      <vt:lpstr>Cambria Math</vt:lpstr>
      <vt:lpstr>Consolas</vt:lpstr>
      <vt:lpstr>Segoe UI Emoji</vt:lpstr>
      <vt:lpstr>System Font Regular</vt:lpstr>
      <vt:lpstr>Jim</vt:lpstr>
      <vt:lpstr>Week04</vt:lpstr>
      <vt:lpstr>data structures</vt:lpstr>
      <vt:lpstr>data</vt:lpstr>
      <vt:lpstr>data is numbers</vt:lpstr>
      <vt:lpstr>a data structure helps you organizes your data...  ...the right data structure for a task is... - easy to work with -- programmer time - runs fast -- runtime (user time)</vt:lpstr>
      <vt:lpstr>array list</vt:lpstr>
      <vt:lpstr>motivation</vt:lpstr>
      <vt:lpstr>arrays are super useful, but...</vt:lpstr>
      <vt:lpstr>arrays are super useful, but... 🧠</vt:lpstr>
      <vt:lpstr>main limitation of arrays: can't change length</vt:lpstr>
      <vt:lpstr>review: array metaphor</vt:lpstr>
      <vt:lpstr>an array is like a very organized person's flower planter  - one flower per square - the planter can't change size   (it is made of artisinal woods or something)</vt:lpstr>
      <vt:lpstr>PowerPoint Presentation</vt:lpstr>
      <vt:lpstr>how an array list works (metaphor)</vt:lpstr>
      <vt:lpstr>let us imagine...</vt:lpstr>
      <vt:lpstr>you have a bunch of pieces of produce you need to put somewhere for quick access, but you don't know how many  ...off to the produce bank we go!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interface</vt:lpstr>
      <vt:lpstr>an array list is a kind of list</vt:lpstr>
      <vt:lpstr>ArrayList&lt;ElementType&gt;</vt:lpstr>
      <vt:lpstr>ArrayList&lt;ElementType&gt;</vt:lpstr>
      <vt:lpstr>usage code</vt:lpstr>
      <vt:lpstr>what does this code print? (the home game)</vt:lpstr>
      <vt:lpstr>usage code</vt:lpstr>
      <vt:lpstr>size (length) of the list vs. the list's capacity</vt:lpstr>
      <vt:lpstr>PowerPoint Presentation</vt:lpstr>
      <vt:lpstr>PowerPoint Presentation</vt:lpstr>
      <vt:lpstr>the internal array</vt:lpstr>
      <vt:lpstr>✅ length is not the same thing as capacity</vt:lpstr>
      <vt:lpstr>implementation continued</vt:lpstr>
      <vt:lpstr>ArrayList() { ... } // constructor</vt:lpstr>
      <vt:lpstr>ElementType get(int index) { ... }</vt:lpstr>
      <vt:lpstr>void add(ElementType element) { ... }</vt:lpstr>
      <vt:lpstr>add (details)</vt:lpstr>
      <vt:lpstr>void add(ElementType element) { ... }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void add(int index, ElementType element)</vt:lpstr>
      <vt:lpstr>PowerPoint Presentation</vt:lpstr>
      <vt:lpstr>PowerPoint Presentation</vt:lpstr>
      <vt:lpstr>PowerPoint Presentation</vt:lpstr>
      <vt:lpstr>PowerPoint Presentation</vt:lpstr>
      <vt:lpstr>☠️ like in HW02 (text box), need to iterate backwards</vt:lpstr>
      <vt:lpstr>ep|elia</vt:lpstr>
      <vt:lpstr>eph|eeee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note on add</vt:lpstr>
      <vt:lpstr>final note on add</vt:lpstr>
      <vt:lpstr>big-O runtime of void add(ElementType e);</vt:lpstr>
      <vt:lpstr>review: big-O runtime</vt:lpstr>
      <vt:lpstr>big-O runtime</vt:lpstr>
      <vt:lpstr>best case and worst case runtime of adding to the back of an array list</vt:lpstr>
      <vt:lpstr>best case</vt:lpstr>
      <vt:lpstr>worst case</vt:lpstr>
      <vt:lpstr>sometimes the best case and worst case are very different</vt:lpstr>
      <vt:lpstr>amortized runtime of adding to the back of an array list</vt:lpstr>
      <vt:lpstr>amortized</vt:lpstr>
      <vt:lpstr>PowerPoint Presentation</vt:lpstr>
      <vt:lpstr>PowerPoint Presentation</vt:lpstr>
      <vt:lpstr>amortized</vt:lpstr>
      <vt:lpstr>the amortized run time is less "pessimistic" than worst case</vt:lpstr>
      <vt:lpstr>the most relevant runtime depends on context  💭 when might worst case be more relevant? 💭 when might amortized be more relevant?</vt:lpstr>
      <vt:lpstr>best case and worst case runtime of inserting into the front of an array list</vt:lpstr>
      <vt:lpstr>best case and worst cast</vt:lpstr>
      <vt:lpstr>lesson?: sometimes best case and worst case are the same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8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Helvetica</vt:lpstr>
      <vt:lpstr>System Font Regular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🐮 how to read step-by-step diffs</dc:title>
  <dc:creator/>
  <cp:keywords/>
  <cp:lastModifiedBy>James M. Bern</cp:lastModifiedBy>
  <cp:revision>705</cp:revision>
  <cp:lastPrinted>2026-10-05T12:16:27Z</cp:lastPrinted>
  <dcterms:created xsi:type="dcterms:W3CDTF">2023-06-11T17:47:53Z</dcterms:created>
  <dcterms:modified xsi:type="dcterms:W3CDTF">2026-10-05T12:27:21Z</dcterms:modified>
</cp:coreProperties>
</file>
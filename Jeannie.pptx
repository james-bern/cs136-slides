
<file path=[Content_Types].xml><?xml version="1.0" encoding="utf-8"?>
<Types xmlns="http://schemas.openxmlformats.org/package/2006/content-types">
  <Default Extension="aspx" ContentType="image/jpeg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3449" r:id="rId2"/>
    <p:sldId id="3399" r:id="rId3"/>
    <p:sldId id="3400" r:id="rId4"/>
    <p:sldId id="3401" r:id="rId5"/>
    <p:sldId id="3402" r:id="rId6"/>
    <p:sldId id="3403" r:id="rId7"/>
    <p:sldId id="3404" r:id="rId8"/>
    <p:sldId id="3405" r:id="rId9"/>
    <p:sldId id="3406" r:id="rId10"/>
    <p:sldId id="3407" r:id="rId11"/>
    <p:sldId id="3408" r:id="rId12"/>
    <p:sldId id="3409" r:id="rId13"/>
    <p:sldId id="3410" r:id="rId14"/>
    <p:sldId id="3462" r:id="rId15"/>
    <p:sldId id="3376" r:id="rId16"/>
    <p:sldId id="3377" r:id="rId17"/>
    <p:sldId id="3378" r:id="rId18"/>
    <p:sldId id="4258" r:id="rId19"/>
    <p:sldId id="4259" r:id="rId20"/>
    <p:sldId id="4260" r:id="rId21"/>
    <p:sldId id="4261" r:id="rId22"/>
    <p:sldId id="3461" r:id="rId23"/>
    <p:sldId id="3414" r:id="rId24"/>
    <p:sldId id="3415" r:id="rId25"/>
    <p:sldId id="3416" r:id="rId26"/>
    <p:sldId id="3627" r:id="rId27"/>
    <p:sldId id="3512" r:id="rId28"/>
    <p:sldId id="3513" r:id="rId29"/>
    <p:sldId id="3514" r:id="rId30"/>
    <p:sldId id="3515" r:id="rId31"/>
    <p:sldId id="3518" r:id="rId32"/>
    <p:sldId id="3519" r:id="rId33"/>
    <p:sldId id="3520" r:id="rId34"/>
    <p:sldId id="3522" r:id="rId35"/>
    <p:sldId id="3523" r:id="rId36"/>
    <p:sldId id="3524" r:id="rId37"/>
    <p:sldId id="3525" r:id="rId38"/>
    <p:sldId id="3526" r:id="rId39"/>
    <p:sldId id="3527" r:id="rId40"/>
    <p:sldId id="3528" r:id="rId41"/>
    <p:sldId id="3529" r:id="rId42"/>
    <p:sldId id="3530" r:id="rId43"/>
    <p:sldId id="3531" r:id="rId44"/>
    <p:sldId id="3532" r:id="rId45"/>
    <p:sldId id="3533" r:id="rId46"/>
    <p:sldId id="3534" r:id="rId47"/>
    <p:sldId id="3535" r:id="rId48"/>
    <p:sldId id="3536" r:id="rId49"/>
    <p:sldId id="3537" r:id="rId50"/>
    <p:sldId id="3538" r:id="rId51"/>
    <p:sldId id="3539" r:id="rId52"/>
    <p:sldId id="3540" r:id="rId53"/>
    <p:sldId id="3541" r:id="rId54"/>
    <p:sldId id="3542" r:id="rId55"/>
    <p:sldId id="3543" r:id="rId56"/>
    <p:sldId id="3544" r:id="rId57"/>
    <p:sldId id="3545" r:id="rId58"/>
    <p:sldId id="3546" r:id="rId59"/>
    <p:sldId id="3547" r:id="rId60"/>
    <p:sldId id="3548" r:id="rId61"/>
    <p:sldId id="3549" r:id="rId62"/>
    <p:sldId id="3550" r:id="rId63"/>
    <p:sldId id="3551" r:id="rId64"/>
    <p:sldId id="3552" r:id="rId65"/>
    <p:sldId id="3553" r:id="rId66"/>
    <p:sldId id="3554" r:id="rId67"/>
    <p:sldId id="3555" r:id="rId68"/>
    <p:sldId id="3556" r:id="rId69"/>
    <p:sldId id="3557" r:id="rId7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02c" id="{D05E47A0-A7A3-C34A-9A1C-BE3F8211E239}">
          <p14:sldIdLst>
            <p14:sldId id="3449"/>
            <p14:sldId id="3399"/>
            <p14:sldId id="3400"/>
            <p14:sldId id="3401"/>
            <p14:sldId id="3402"/>
            <p14:sldId id="3403"/>
            <p14:sldId id="3404"/>
            <p14:sldId id="3405"/>
            <p14:sldId id="3406"/>
            <p14:sldId id="3407"/>
            <p14:sldId id="3408"/>
            <p14:sldId id="3409"/>
            <p14:sldId id="3410"/>
            <p14:sldId id="3462"/>
            <p14:sldId id="3376"/>
            <p14:sldId id="3377"/>
            <p14:sldId id="3378"/>
            <p14:sldId id="4258"/>
            <p14:sldId id="4259"/>
            <p14:sldId id="4260"/>
            <p14:sldId id="4261"/>
            <p14:sldId id="3461"/>
            <p14:sldId id="3414"/>
            <p14:sldId id="3415"/>
            <p14:sldId id="3416"/>
          </p14:sldIdLst>
        </p14:section>
        <p14:section name="Week03a" id="{CF58FE2D-A108-E445-B3A6-140A87AD89B1}">
          <p14:sldIdLst>
            <p14:sldId id="3627"/>
            <p14:sldId id="3512"/>
            <p14:sldId id="3513"/>
            <p14:sldId id="3514"/>
            <p14:sldId id="3515"/>
            <p14:sldId id="3518"/>
            <p14:sldId id="3519"/>
            <p14:sldId id="3520"/>
            <p14:sldId id="3522"/>
            <p14:sldId id="3523"/>
            <p14:sldId id="3524"/>
            <p14:sldId id="3525"/>
            <p14:sldId id="3526"/>
            <p14:sldId id="3527"/>
            <p14:sldId id="3528"/>
            <p14:sldId id="3529"/>
            <p14:sldId id="3530"/>
            <p14:sldId id="3531"/>
            <p14:sldId id="3532"/>
            <p14:sldId id="3533"/>
            <p14:sldId id="3534"/>
            <p14:sldId id="3535"/>
            <p14:sldId id="3536"/>
            <p14:sldId id="3537"/>
            <p14:sldId id="3538"/>
            <p14:sldId id="3539"/>
            <p14:sldId id="3540"/>
            <p14:sldId id="3541"/>
            <p14:sldId id="3542"/>
            <p14:sldId id="3543"/>
            <p14:sldId id="3544"/>
            <p14:sldId id="3545"/>
            <p14:sldId id="3546"/>
            <p14:sldId id="3547"/>
            <p14:sldId id="3548"/>
            <p14:sldId id="3549"/>
            <p14:sldId id="3550"/>
            <p14:sldId id="3551"/>
            <p14:sldId id="3552"/>
            <p14:sldId id="3553"/>
            <p14:sldId id="3554"/>
            <p14:sldId id="3555"/>
            <p14:sldId id="3556"/>
            <p14:sldId id="35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5B6"/>
    <a:srgbClr val="011893"/>
    <a:srgbClr val="0432FF"/>
    <a:srgbClr val="04A6ED"/>
    <a:srgbClr val="FF6568"/>
    <a:srgbClr val="923A3A"/>
    <a:srgbClr val="FBF7D9"/>
    <a:srgbClr val="F80B8D"/>
    <a:srgbClr val="007B00"/>
    <a:srgbClr val="7BD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89" autoAdjust="0"/>
    <p:restoredTop sz="94521" autoAdjust="0"/>
  </p:normalViewPr>
  <p:slideViewPr>
    <p:cSldViewPr snapToGrid="0" snapToObjects="1">
      <p:cViewPr varScale="1">
        <p:scale>
          <a:sx n="154" d="100"/>
          <a:sy n="154" d="100"/>
        </p:scale>
        <p:origin x="44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2850"/>
    </p:cViewPr>
  </p:sorterViewPr>
  <p:notesViewPr>
    <p:cSldViewPr snapToGrid="0" snapToObjects="1">
      <p:cViewPr varScale="1">
        <p:scale>
          <a:sx n="97" d="100"/>
          <a:sy n="97" d="100"/>
        </p:scale>
        <p:origin x="397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0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022DE-6AFB-7B42-B89D-CD8E93E79A8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C4E7A-80A7-5241-AF5C-0BCAFE71C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648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B10CC-E0F3-92C7-2110-2B7E75112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B1E87-FB90-9948-6013-AFA03DBEB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F41FF-DE84-D1BE-266C-E60D93C85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44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82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5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270-9E2A-9887-1791-BAD605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Autofit/>
          </a:bodyPr>
          <a:lstStyle>
            <a:lvl1pPr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00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270-9E2A-9887-1791-BAD605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Autofit/>
          </a:bodyPr>
          <a:lstStyle>
            <a:lvl1pPr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4885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270-9E2A-9887-1791-BAD605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86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270-9E2A-9887-1791-BAD605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093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28124-4892-6AA8-D99C-4A30F825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841267-28AC-80B7-D7CA-A6B24D4AD3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7"/>
            <a:ext cx="8229600" cy="40802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28124-4892-6AA8-D99C-4A30F8253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4916"/>
            <a:ext cx="8229600" cy="6671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NO ANIMATION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841267-28AC-80B7-D7CA-A6B24D4AD3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7"/>
            <a:ext cx="8229600" cy="40802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011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28124-4892-6AA8-D99C-4A30F8253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4916"/>
            <a:ext cx="8229600" cy="66716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NO BODY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5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28124-4892-6AA8-D99C-4A30F8253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4916"/>
            <a:ext cx="8229600" cy="1893924"/>
          </a:xfrm>
        </p:spPr>
        <p:txBody>
          <a:bodyPr>
            <a:noAutofit/>
          </a:bodyPr>
          <a:lstStyle>
            <a:lvl1pPr algn="l">
              <a:defRPr sz="11500"/>
            </a:lvl1pPr>
          </a:lstStyle>
          <a:p>
            <a:r>
              <a:rPr lang="en-US" dirty="0"/>
              <a:t>WeekXX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841267-28AC-80B7-D7CA-A6B24D4AD3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48840"/>
            <a:ext cx="8229600" cy="2894768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800"/>
            </a:lvl1pPr>
            <a:lvl2pPr>
              <a:buClr>
                <a:schemeClr val="tx1"/>
              </a:buClr>
              <a:defRPr sz="2800"/>
            </a:lvl2pPr>
            <a:lvl3pPr>
              <a:buClr>
                <a:schemeClr val="tx1"/>
              </a:buClr>
              <a:defRPr sz="2800"/>
            </a:lvl3pPr>
            <a:lvl4pPr>
              <a:buClr>
                <a:schemeClr val="tx1"/>
              </a:buClr>
              <a:defRPr sz="2800"/>
            </a:lvl4pPr>
            <a:lvl5pPr>
              <a:buClr>
                <a:schemeClr val="tx1"/>
              </a:buCl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6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B0728FC-A0A7-2C5E-73E0-FFC7598E9FB1}"/>
              </a:ext>
            </a:extLst>
          </p:cNvPr>
          <p:cNvSpPr txBox="1"/>
          <p:nvPr userDrawn="1"/>
        </p:nvSpPr>
        <p:spPr>
          <a:xfrm>
            <a:off x="2768237" y="1824402"/>
            <a:ext cx="32112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egoe UI Emoji" panose="020B0502040204020203" pitchFamily="34" charset="0"/>
                <a:cs typeface="+mn-cs"/>
              </a:rPr>
              <a:t> 🤨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🤨🤨</a:t>
            </a:r>
            <a:endParaRPr lang="en-US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8E335-76A3-8597-71D6-87CB9A2A96CB}"/>
              </a:ext>
            </a:extLst>
          </p:cNvPr>
          <p:cNvSpPr/>
          <p:nvPr userDrawn="1"/>
        </p:nvSpPr>
        <p:spPr>
          <a:xfrm>
            <a:off x="2926080" y="2431075"/>
            <a:ext cx="2895600" cy="67183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 w="0"/>
                <a:solidFill>
                  <a:schemeClr val="bg1"/>
                </a:solidFill>
                <a:effectLst/>
                <a:uLnTx/>
                <a:uFillTx/>
                <a:latin typeface="+mn-lt"/>
                <a:ea typeface="Segoe UI Emoji" panose="020B0502040204020203" pitchFamily="34" charset="0"/>
                <a:cs typeface="Consolas" panose="020B0609020204030204" pitchFamily="49" charset="0"/>
              </a:rPr>
              <a:t> questions?</a:t>
            </a:r>
            <a:endParaRPr lang="en-US" sz="1100" b="0" cap="none" spc="0" baseline="0">
              <a:ln w="0"/>
              <a:solidFill>
                <a:schemeClr val="bg1"/>
              </a:solidFill>
              <a:effectLst/>
              <a:latin typeface="+mn-lt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26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gradFill flip="none" rotWithShape="1">
          <a:gsLst>
            <a:gs pos="0">
              <a:schemeClr val="accent1"/>
            </a:gs>
            <a:gs pos="15000">
              <a:schemeClr val="accent2"/>
            </a:gs>
            <a:gs pos="27000">
              <a:schemeClr val="accent3"/>
            </a:gs>
            <a:gs pos="42000">
              <a:schemeClr val="accent4"/>
            </a:gs>
            <a:gs pos="51000">
              <a:schemeClr val="accent5"/>
            </a:gs>
            <a:gs pos="75000">
              <a:schemeClr val="accent6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46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1" r:id="rId2"/>
    <p:sldLayoutId id="2147483657" r:id="rId3"/>
    <p:sldLayoutId id="2147483660" r:id="rId4"/>
    <p:sldLayoutId id="2147483650" r:id="rId5"/>
    <p:sldLayoutId id="2147483659" r:id="rId6"/>
    <p:sldLayoutId id="2147483662" r:id="rId7"/>
    <p:sldLayoutId id="2147483655" r:id="rId8"/>
    <p:sldLayoutId id="2147483664" r:id="rId9"/>
    <p:sldLayoutId id="2147483665" r:id="rId10"/>
    <p:sldLayoutId id="2147483663" r:id="rId11"/>
  </p:sldLayoutIdLst>
  <p:txStyles>
    <p:titleStyle>
      <a:lvl1pPr algn="ctr" defTabSz="342886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n-lt"/>
          <a:ea typeface="Segoe UI Emoji" panose="020B0502040204020203" pitchFamily="34" charset="0"/>
          <a:cs typeface="+mj-cs"/>
        </a:defRPr>
      </a:lvl1pPr>
    </p:titleStyle>
    <p:bodyStyle>
      <a:lvl1pPr marL="285739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1pPr>
      <a:lvl2pPr marL="628625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2pPr>
      <a:lvl3pPr marL="971511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3pPr>
      <a:lvl4pPr marL="1314397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4pPr>
      <a:lvl5pPr marL="1657284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5pPr>
      <a:lvl6pPr marL="2057318" indent="-342886" algn="l" defTabSz="3428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04" indent="-342886" algn="l" defTabSz="3428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090" indent="-342886" algn="l" defTabSz="3428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5977" indent="-342886" algn="l" defTabSz="3428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1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0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aspx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2523-A91F-B628-E348-DD943D45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7D227-7D87-C7B5-690B-0A3288C32CB3}"/>
              </a:ext>
            </a:extLst>
          </p:cNvPr>
          <p:cNvSpPr txBox="1"/>
          <p:nvPr/>
        </p:nvSpPr>
        <p:spPr>
          <a:xfrm>
            <a:off x="5146145" y="129365"/>
            <a:ext cx="242675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🛌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Picture 1" descr="🦜 Parrot on Microsoft Windows 11 November 2021 Update">
            <a:extLst>
              <a:ext uri="{FF2B5EF4-FFF2-40B4-BE49-F238E27FC236}">
                <a16:creationId xmlns:a16="http://schemas.microsoft.com/office/drawing/2014/main" id="{4E39B480-178E-EE6F-E268-AEF340965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 flipH="1">
            <a:off x="5337993" y="645121"/>
            <a:ext cx="1120949" cy="118448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FF7D0C1-B3F2-E0E4-C6F9-EC27AA3D7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1893924"/>
          </a:xfrm>
        </p:spPr>
        <p:txBody>
          <a:bodyPr/>
          <a:lstStyle/>
          <a:p>
            <a:r>
              <a:rPr lang="en-US" sz="8800"/>
              <a:t>Week02c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682CA-3919-1F30-B0F7-D597947D87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993732"/>
            <a:ext cx="8229600" cy="2894013"/>
          </a:xfrm>
        </p:spPr>
        <p:txBody>
          <a:bodyPr>
            <a:noAutofit/>
          </a:bodyPr>
          <a:lstStyle/>
          <a:p>
            <a:r>
              <a:rPr lang="en-US"/>
              <a:t>swap</a:t>
            </a:r>
          </a:p>
          <a:p>
            <a:r>
              <a:rPr lang="en-US"/>
              <a:t>array examples</a:t>
            </a:r>
            <a:br>
              <a:rPr lang="en-US"/>
            </a:br>
            <a:r>
              <a:rPr lang="en-US"/>
              <a:t>that use swaps</a:t>
            </a:r>
          </a:p>
          <a:p>
            <a:r>
              <a:rPr lang="en-US"/>
              <a:t>array big 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C66BF-ED70-4DCC-4E3F-BEDD21D40F1C}"/>
              </a:ext>
            </a:extLst>
          </p:cNvPr>
          <p:cNvSpPr txBox="1"/>
          <p:nvPr/>
        </p:nvSpPr>
        <p:spPr>
          <a:xfrm>
            <a:off x="3635310" y="2280526"/>
            <a:ext cx="2963304" cy="261610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WARMUP: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do we swap two numbers...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...in Java?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...in Python?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...in C using XOR and no temporary?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84379A-B031-80E3-9308-F45008BC28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874" t="45709" r="29789" b="31403"/>
          <a:stretch/>
        </p:blipFill>
        <p:spPr>
          <a:xfrm>
            <a:off x="5444629" y="1329401"/>
            <a:ext cx="1914144" cy="8458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76492F-3D4D-3584-2063-A0942ECA74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153" t="45122" r="33160" b="47899"/>
          <a:stretch/>
        </p:blipFill>
        <p:spPr>
          <a:xfrm rot="1270469">
            <a:off x="6133710" y="979305"/>
            <a:ext cx="490159" cy="4518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D0C8D2-04DC-57E8-D4CD-8AC7B4261668}"/>
              </a:ext>
            </a:extLst>
          </p:cNvPr>
          <p:cNvSpPr txBox="1"/>
          <p:nvPr/>
        </p:nvSpPr>
        <p:spPr>
          <a:xfrm>
            <a:off x="6187927" y="2739070"/>
            <a:ext cx="2714119" cy="1138773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BONUS: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What is the big O runtime of pressing backspace in your text box (n is buffer.length)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1CC24-F77B-E19F-4F1D-E3F87CBFBDE1}"/>
              </a:ext>
            </a:extLst>
          </p:cNvPr>
          <p:cNvSpPr txBox="1"/>
          <p:nvPr/>
        </p:nvSpPr>
        <p:spPr>
          <a:xfrm rot="20551163">
            <a:off x="5335051" y="-47838"/>
            <a:ext cx="3617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nsolas" panose="020B0609020204030204" pitchFamily="49" charset="0"/>
              </a:rPr>
              <a:t>!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FAA2BA-BA02-6B22-28F3-1AC404527A9D}"/>
              </a:ext>
            </a:extLst>
          </p:cNvPr>
          <p:cNvSpPr txBox="1"/>
          <p:nvPr/>
        </p:nvSpPr>
        <p:spPr>
          <a:xfrm>
            <a:off x="6068645" y="165047"/>
            <a:ext cx="3673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80B8D"/>
                </a:solidFill>
              </a:rPr>
              <a:t>Today is...</a:t>
            </a:r>
          </a:p>
          <a:p>
            <a:r>
              <a:rPr lang="en-US" b="1">
                <a:solidFill>
                  <a:srgbClr val="F80B8D"/>
                </a:solidFill>
              </a:rPr>
              <a:t> </a:t>
            </a:r>
            <a:r>
              <a:rPr lang="en-US">
                <a:solidFill>
                  <a:srgbClr val="000000"/>
                </a:solidFill>
                <a:ea typeface="Segoe UI Emoji" panose="020B0502040204020203" pitchFamily="34" charset="0"/>
              </a:rPr>
              <a:t>✨</a:t>
            </a:r>
            <a:r>
              <a:rPr lang="en-US" b="1">
                <a:solidFill>
                  <a:srgbClr val="F80B8D"/>
                </a:solidFill>
              </a:rPr>
              <a:t>Jeannie Friday!</a:t>
            </a:r>
            <a:r>
              <a:rPr lang="en-US">
                <a:solidFill>
                  <a:srgbClr val="000000"/>
                </a:solidFill>
                <a:ea typeface="Segoe UI Emoji" panose="020B0502040204020203" pitchFamily="34" charset="0"/>
              </a:rPr>
              <a:t> ✨</a:t>
            </a:r>
            <a:endParaRPr lang="en-US">
              <a:solidFill>
                <a:srgbClr val="F80B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39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300F3-BC5F-8D28-6EBF-39806897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41B51F-C0DB-F9EB-588F-CB9842CB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swap</a:t>
            </a:r>
          </a:p>
        </p:txBody>
      </p:sp>
    </p:spTree>
    <p:extLst>
      <p:ext uri="{BB962C8B-B14F-4D97-AF65-F5344CB8AC3E}">
        <p14:creationId xmlns:p14="http://schemas.microsoft.com/office/powerpoint/2010/main" val="16168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DD98-40AC-22C5-E9A1-AD7730F6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39C21F-54F0-0E2B-12D6-BA3EEA0D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/>
          <a:lstStyle/>
          <a:p>
            <a:r>
              <a:rPr lang="en-US"/>
              <a:t>🐍 Python swap</a:t>
            </a:r>
          </a:p>
        </p:txBody>
      </p:sp>
    </p:spTree>
    <p:extLst>
      <p:ext uri="{BB962C8B-B14F-4D97-AF65-F5344CB8AC3E}">
        <p14:creationId xmlns:p14="http://schemas.microsoft.com/office/powerpoint/2010/main" val="158356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23D35-B9AB-4EEB-7FC0-20C09949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D6E0E-F2D6-8E73-D611-088E4ABE9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/>
              </a:rPr>
              <a:t>🐍 Python swap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20DBA-2811-9F9D-C4E8-8198735F9F42}"/>
              </a:ext>
            </a:extLst>
          </p:cNvPr>
          <p:cNvSpPr txBox="1"/>
          <p:nvPr/>
        </p:nvSpPr>
        <p:spPr>
          <a:xfrm>
            <a:off x="457200" y="1169577"/>
            <a:ext cx="8229600" cy="23637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a = 0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b = 1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Segoe UI Emoji" panose="020B0502040204020203" pitchFamily="34" charset="0"/>
              <a:cs typeface="+mn-cs"/>
            </a:endParaRP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a, b = b, a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# Python swap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7B00"/>
              </a:solidFill>
              <a:effectLst/>
              <a:uLnTx/>
              <a:uFillTx/>
              <a:latin typeface="Consolas"/>
              <a:ea typeface="Segoe UI Emoji" panose="020B0502040204020203" pitchFamily="34" charset="0"/>
              <a:cs typeface="+mn-cs"/>
            </a:endParaRP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# a is now 1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# b is now 0</a:t>
            </a:r>
          </a:p>
        </p:txBody>
      </p:sp>
    </p:spTree>
    <p:extLst>
      <p:ext uri="{BB962C8B-B14F-4D97-AF65-F5344CB8AC3E}">
        <p14:creationId xmlns:p14="http://schemas.microsoft.com/office/powerpoint/2010/main" val="315864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D5221-981A-FA80-632D-CD11743F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B1C8BF-F78A-4762-2754-030922CF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/>
              </a:rPr>
              <a:t>☠️ BAD VERY BAD BROKEN swap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9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8122-36E2-3022-925F-3B32FE725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670409-891D-0E79-369D-1D7FA36C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/>
              </a:rPr>
              <a:t>☠️ BAD VERY BAD BROKEN swap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C0FCC-2148-A822-5DFE-8CE9BAF03983}"/>
              </a:ext>
            </a:extLst>
          </p:cNvPr>
          <p:cNvSpPr txBox="1"/>
          <p:nvPr/>
        </p:nvSpPr>
        <p:spPr>
          <a:xfrm>
            <a:off x="457200" y="1169577"/>
            <a:ext cx="8229600" cy="2363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a = 0;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b = 1;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Segoe UI Emoji" panose="020B0502040204020203" pitchFamily="34" charset="0"/>
              <a:cs typeface="+mn-cs"/>
            </a:endParaRP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{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// BAD VERY BAD BROKEN swap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a = b;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// a &lt;- 1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b = a;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// b &lt;- 1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241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974C-C095-097D-4A35-C00955DB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F87F1A-E6F8-0652-DA78-44268C64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swap</a:t>
            </a:r>
          </a:p>
        </p:txBody>
      </p:sp>
    </p:spTree>
    <p:extLst>
      <p:ext uri="{BB962C8B-B14F-4D97-AF65-F5344CB8AC3E}">
        <p14:creationId xmlns:p14="http://schemas.microsoft.com/office/powerpoint/2010/main" val="353012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322D-1893-89CD-3866-E0E41974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BDE5C0-8AF9-FF64-0A0B-9476000B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18F3F-0D7D-B671-B6DF-169F3020DD9B}"/>
              </a:ext>
            </a:extLst>
          </p:cNvPr>
          <p:cNvSpPr txBox="1"/>
          <p:nvPr/>
        </p:nvSpPr>
        <p:spPr>
          <a:xfrm>
            <a:off x="457200" y="1169577"/>
            <a:ext cx="8229600" cy="26961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a = 0;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b = 1;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{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// swap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tmp = a;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// tmp &lt;- 0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a = b;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// a &lt;- 1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b = tmp;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// b &lt;- 0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Segoe UI Emoji" panose="020B0502040204020203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A3DB-496C-3867-13EA-E5B950140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DBACA1-564F-B575-07CF-D5A3DEEA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algorithms that use swaps</a:t>
            </a:r>
          </a:p>
        </p:txBody>
      </p:sp>
    </p:spTree>
    <p:extLst>
      <p:ext uri="{BB962C8B-B14F-4D97-AF65-F5344CB8AC3E}">
        <p14:creationId xmlns:p14="http://schemas.microsoft.com/office/powerpoint/2010/main" val="141208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E723-C8DD-3373-21E4-D276E65D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E54996-9FC7-897C-41E5-EFE2F4A9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reversing an array</a:t>
            </a:r>
          </a:p>
        </p:txBody>
      </p:sp>
    </p:spTree>
    <p:extLst>
      <p:ext uri="{BB962C8B-B14F-4D97-AF65-F5344CB8AC3E}">
        <p14:creationId xmlns:p14="http://schemas.microsoft.com/office/powerpoint/2010/main" val="4110969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BC8BB-EBC8-7868-66FE-344246E63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636E9F-3AA3-C920-47FA-045832014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rmAutofit/>
          </a:bodyPr>
          <a:lstStyle/>
          <a:p>
            <a:r>
              <a:rPr lang="en-US"/>
              <a:t>out-of-place reverse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34A76-4BDE-469E-3DE4-1801D75BB1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7"/>
            <a:ext cx="8229600" cy="4080271"/>
          </a:xfrm>
        </p:spPr>
        <p:txBody>
          <a:bodyPr/>
          <a:lstStyle/>
          <a:p>
            <a:r>
              <a:rPr lang="en-US"/>
              <a:t>we can reverse an array </a:t>
            </a:r>
            <a:r>
              <a:rPr lang="en-US" b="1"/>
              <a:t>out-of-place</a:t>
            </a:r>
            <a:r>
              <a:rPr lang="en-US"/>
              <a:t> using an additional array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5F6B4E-3AA4-4399-DEC1-C9168C185F52}"/>
              </a:ext>
            </a:extLst>
          </p:cNvPr>
          <p:cNvSpPr txBox="1"/>
          <p:nvPr/>
        </p:nvSpPr>
        <p:spPr>
          <a:xfrm>
            <a:off x="457200" y="1483764"/>
            <a:ext cx="8229600" cy="2985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static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outOfPlaceReverse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 array) {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 result = new int[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array.length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];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for 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= 0;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&lt;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array.length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; ++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) {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   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j = (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array.length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- 1) -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    result[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] = array[j];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}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return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result;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597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6355-1834-EA63-ED41-BEE30DB0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AD786E-7575-F485-20C9-B6050BC0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rmAutofit/>
          </a:bodyPr>
          <a:lstStyle/>
          <a:p>
            <a:r>
              <a:rPr lang="en-US"/>
              <a:t>in-place reverse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FA925-D89E-66C4-AFCB-4D09D8B7EEF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7"/>
            <a:ext cx="8229600" cy="4080271"/>
          </a:xfrm>
        </p:spPr>
        <p:txBody>
          <a:bodyPr/>
          <a:lstStyle/>
          <a:p>
            <a:r>
              <a:rPr lang="en-US"/>
              <a:t>we can reverse an array </a:t>
            </a:r>
            <a:r>
              <a:rPr lang="en-US" b="1"/>
              <a:t>in-place</a:t>
            </a:r>
            <a:r>
              <a:rPr lang="en-US"/>
              <a:t> using "swaps" (no additional array)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5D63C-64AE-A43C-6B27-F14F5BBD9DC0}"/>
              </a:ext>
            </a:extLst>
          </p:cNvPr>
          <p:cNvSpPr txBox="1"/>
          <p:nvPr/>
        </p:nvSpPr>
        <p:spPr>
          <a:xfrm>
            <a:off x="457200" y="1483764"/>
            <a:ext cx="8527774" cy="3354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static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void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inPlaceReverse(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 array) {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for 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i =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AB5B6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0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; i &lt; array.length /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AB5B6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; ++i) {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   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j = (array.length -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AB5B6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) - i;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// "mirror index"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Segoe UI Emoji" panose="020B0502040204020203" pitchFamily="34" charset="0"/>
              <a:cs typeface="+mn-cs"/>
            </a:endParaRP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   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// swap array[i] &lt;-&gt; array[j]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   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tmp = array[i];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    array[i] = array[j];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    array[j] = tmp;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   }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087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C184-2C51-D8B9-BDD5-44D6D856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55DDBE-8783-B142-98A2-9D2A4569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bubble sort</a:t>
            </a:r>
          </a:p>
        </p:txBody>
      </p:sp>
    </p:spTree>
    <p:extLst>
      <p:ext uri="{BB962C8B-B14F-4D97-AF65-F5344CB8AC3E}">
        <p14:creationId xmlns:p14="http://schemas.microsoft.com/office/powerpoint/2010/main" val="384891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DB4D-3326-3D31-E6C2-E9B950BE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F9EBFA-F961-9480-2774-C9F7E0A4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rmAutofit/>
          </a:bodyPr>
          <a:lstStyle/>
          <a:p>
            <a:r>
              <a:rPr lang="en-US"/>
              <a:t>bubble sort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53DEA-988D-E2F9-FA81-9F5558BEC8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7"/>
            <a:ext cx="8229600" cy="4080271"/>
          </a:xfrm>
        </p:spPr>
        <p:txBody>
          <a:bodyPr/>
          <a:lstStyle/>
          <a:p>
            <a:r>
              <a:rPr lang="en-US" b="1"/>
              <a:t>bubble sort</a:t>
            </a:r>
            <a:r>
              <a:rPr lang="en-US"/>
              <a:t> is a simple in-place sorting algorithm that uses swaps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B6693-239F-32C5-8684-AA49429F701B}"/>
              </a:ext>
            </a:extLst>
          </p:cNvPr>
          <p:cNvSpPr txBox="1"/>
          <p:nvPr/>
        </p:nvSpPr>
        <p:spPr>
          <a:xfrm>
            <a:off x="457200" y="1390834"/>
            <a:ext cx="8229600" cy="34101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boolean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arrayIsSorted;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{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arrayIsSorted = true;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i =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AB5B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 &lt; array.length -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AB5B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++i) {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(array[i] &gt; array[i +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AB5B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]) {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   arrayIsSorted = false;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  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// swap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  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tmp = array[i];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   array[i] = array[i +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AB5B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   array[i +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AB5B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 = tmp;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}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}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while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(!arrayIsSorted);</a:t>
            </a:r>
          </a:p>
        </p:txBody>
      </p:sp>
    </p:spTree>
    <p:extLst>
      <p:ext uri="{BB962C8B-B14F-4D97-AF65-F5344CB8AC3E}">
        <p14:creationId xmlns:p14="http://schemas.microsoft.com/office/powerpoint/2010/main" val="65097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8AB0-8AE5-EB55-1B94-E443E1BD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1419F1-75CB-EDA7-31E2-31D4B1D3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 O runtime (arrays)</a:t>
            </a:r>
          </a:p>
        </p:txBody>
      </p:sp>
    </p:spTree>
    <p:extLst>
      <p:ext uri="{BB962C8B-B14F-4D97-AF65-F5344CB8AC3E}">
        <p14:creationId xmlns:p14="http://schemas.microsoft.com/office/powerpoint/2010/main" val="2235144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32F4-4D90-BCBF-F4C7-36808D95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6237B3-08D2-EAEA-DB2F-9B879BE0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rmAutofit/>
          </a:bodyPr>
          <a:lstStyle/>
          <a:p>
            <a:r>
              <a:rPr lang="en-US"/>
              <a:t>runtime of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CD5786E-3801-3C97-892B-92C9E67ADC9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57200" y="963337"/>
                <a:ext cx="8229600" cy="4080271"/>
              </a:xfrm>
            </p:spPr>
            <p:txBody>
              <a:bodyPr/>
              <a:lstStyle/>
              <a:p>
                <a:r>
                  <a:rPr lang="en-US"/>
                  <a:t>arrays are fast!</a:t>
                </a:r>
              </a:p>
              <a:p>
                <a:pPr lvl="1"/>
                <a:r>
                  <a:rPr lang="en-US"/>
                  <a:t>⏱️ creating an array takes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time,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is the length of the array</a:t>
                </a:r>
              </a:p>
              <a:p>
                <a:pPr lvl="1"/>
                <a:r>
                  <a:rPr lang="en-US"/>
                  <a:t>⏱️ getting the value of the </a:t>
                </a:r>
                <a:r>
                  <a:rPr lang="en-US" err="1"/>
                  <a:t>i-th</a:t>
                </a:r>
                <a:r>
                  <a:rPr lang="en-US"/>
                  <a:t> element of an array takes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time</a:t>
                </a:r>
              </a:p>
              <a:p>
                <a:pPr lvl="1"/>
                <a:r>
                  <a:rPr lang="en-US"/>
                  <a:t>⏱️ setting the value of the </a:t>
                </a:r>
                <a:r>
                  <a:rPr lang="en-US" err="1"/>
                  <a:t>i-th</a:t>
                </a:r>
                <a:r>
                  <a:rPr lang="en-US"/>
                  <a:t> element of an array takes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time</a:t>
                </a:r>
              </a:p>
              <a:p>
                <a:endParaRPr lang="en-US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EA0D66C-04A5-02DC-74EB-B4DC82ED3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57200" y="963337"/>
                <a:ext cx="8229600" cy="4080271"/>
              </a:xfrm>
              <a:blipFill>
                <a:blip r:embed="rId2"/>
                <a:stretch>
                  <a:fillRect l="-593" t="-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799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9884D-87A4-99BF-930A-7439618C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3B2858-24F1-5AAB-10FB-1EF925C6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rmAutofit/>
          </a:bodyPr>
          <a:lstStyle/>
          <a:p>
            <a:r>
              <a:rPr lang="en-US"/>
              <a:t>accessing an array "under the hood"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E1DA89-5280-5291-0D2A-AEF23562B53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57200" y="963337"/>
                <a:ext cx="8229600" cy="4080271"/>
              </a:xfrm>
            </p:spPr>
            <p:txBody>
              <a:bodyPr>
                <a:normAutofit/>
              </a:bodyPr>
              <a:lstStyle/>
              <a:p>
                <a:r>
                  <a:rPr lang="en-US">
                    <a:ea typeface="Segoe UI Emoji" panose="020B0502040204020203" pitchFamily="34" charset="0"/>
                  </a:rPr>
                  <a:t>how Java does </a:t>
                </a:r>
                <a:r>
                  <a:rPr lang="en-US">
                    <a:latin typeface="Consolas"/>
                    <a:ea typeface="Segoe UI Emoji" panose="020B0502040204020203" pitchFamily="34" charset="0"/>
                  </a:rPr>
                  <a:t>array[</a:t>
                </a:r>
                <a:r>
                  <a:rPr lang="en-US">
                    <a:solidFill>
                      <a:srgbClr val="0CB5B5"/>
                    </a:solidFill>
                    <a:latin typeface="Consolas"/>
                  </a:rPr>
                  <a:t>4</a:t>
                </a:r>
                <a:r>
                  <a:rPr lang="en-US">
                    <a:latin typeface="Consolas"/>
                    <a:ea typeface="Segoe UI Emoji" panose="020B0502040204020203" pitchFamily="34" charset="0"/>
                  </a:rPr>
                  <a:t>]</a:t>
                </a:r>
                <a:r>
                  <a:rPr lang="en-US">
                    <a:ea typeface="Segoe UI Emoji" panose="020B0502040204020203" pitchFamily="34" charset="0"/>
                  </a:rPr>
                  <a:t>, step-by-step:</a:t>
                </a:r>
                <a:endParaRPr lang="en-US"/>
              </a:p>
              <a:p>
                <a:pPr lvl="1"/>
                <a:r>
                  <a:rPr lang="en-US"/>
                  <a:t>start at the head (0-th element) of the array </a:t>
                </a:r>
                <a:br>
                  <a:rPr lang="en-US"/>
                </a:br>
                <a:r>
                  <a:rPr kumimoji="0" lang="en-US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egoe UI Emoji" panose="020B0502040204020203" pitchFamily="34" charset="0"/>
                    <a:cs typeface="+mn-cs"/>
                  </a:rPr>
                  <a:t>🟦⬛⬛⬛⬛⬛⬛⬛</a:t>
                </a:r>
                <a:endParaRPr lang="en-US"/>
              </a:p>
              <a:p>
                <a:pPr lvl="1"/>
                <a:r>
                  <a:rPr lang="en-US"/>
                  <a:t>move over </a:t>
                </a:r>
                <a:r>
                  <a:rPr lang="en-US">
                    <a:solidFill>
                      <a:srgbClr val="0CB5B5"/>
                    </a:solidFill>
                    <a:latin typeface="Consolas"/>
                  </a:rPr>
                  <a:t>4</a:t>
                </a:r>
                <a:r>
                  <a:rPr lang="en-US">
                    <a:solidFill>
                      <a:srgbClr val="0CB5B5"/>
                    </a:solidFill>
                  </a:rPr>
                  <a:t> </a:t>
                </a:r>
                <a:r>
                  <a:rPr lang="en-US"/>
                  <a:t>slots (using an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"add")</a:t>
                </a:r>
                <a:br>
                  <a:rPr lang="en-US"/>
                </a:br>
                <a:r>
                  <a:rPr kumimoji="0" lang="en-US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egoe UI Emoji" panose="020B0502040204020203" pitchFamily="34" charset="0"/>
                    <a:cs typeface="+mn-cs"/>
                  </a:rPr>
                  <a:t>⬛⬛⬛⬛🟦⬛⬛⬛</a:t>
                </a:r>
                <a:endParaRPr lang="en-US"/>
              </a:p>
              <a:p>
                <a:pPr lvl="1"/>
                <a:r>
                  <a:rPr lang="en-US"/>
                  <a:t>return the value of the element in that slot</a:t>
                </a:r>
                <a:br>
                  <a:rPr lang="en-US"/>
                </a:br>
                <a:r>
                  <a:rPr kumimoji="0" lang="en-US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egoe UI Emoji" panose="020B0502040204020203" pitchFamily="34" charset="0"/>
                    <a:cs typeface="+mn-cs"/>
                  </a:rPr>
                  <a:t>⬛⬛⬛⬛🟨⬛⬛⬛</a:t>
                </a:r>
              </a:p>
              <a:p>
                <a:endParaRPr lang="en-US"/>
              </a:p>
              <a:p>
                <a:r>
                  <a:rPr lang="en-US"/>
                  <a:t>we can't actually see Java do this (it's too "low level")</a:t>
                </a:r>
              </a:p>
              <a:p>
                <a:pPr lvl="1"/>
                <a:r>
                  <a:rPr lang="en-US"/>
                  <a:t>but we *can* see C do it! (stay tuned 🙂)</a:t>
                </a:r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EA0D66C-04A5-02DC-74EB-B4DC82ED3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57200" y="963337"/>
                <a:ext cx="8229600" cy="4080271"/>
              </a:xfrm>
              <a:blipFill>
                <a:blip r:embed="rId2"/>
                <a:stretch>
                  <a:fillRect l="-593" t="-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80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92E309-9E66-4CD9-6EE0-9DF7E291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see C do it</a:t>
            </a:r>
          </a:p>
        </p:txBody>
      </p:sp>
    </p:spTree>
    <p:extLst>
      <p:ext uri="{BB962C8B-B14F-4D97-AF65-F5344CB8AC3E}">
        <p14:creationId xmlns:p14="http://schemas.microsoft.com/office/powerpoint/2010/main" val="703370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FE98-E0C2-A2D9-02B6-9FDC7EF2C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0BBC4F-ECA4-B46F-5AA1-85B599C5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Cecilia sees C by the Sea Shore</a:t>
            </a:r>
          </a:p>
        </p:txBody>
      </p:sp>
    </p:spTree>
    <p:extLst>
      <p:ext uri="{BB962C8B-B14F-4D97-AF65-F5344CB8AC3E}">
        <p14:creationId xmlns:p14="http://schemas.microsoft.com/office/powerpoint/2010/main" val="1055456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oyalty-Free photo: Photo of seashore | PickPik">
            <a:extLst>
              <a:ext uri="{FF2B5EF4-FFF2-40B4-BE49-F238E27FC236}">
                <a16:creationId xmlns:a16="http://schemas.microsoft.com/office/drawing/2014/main" id="{B5A4DFFB-A63A-F679-6179-A62B26DA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22" y="642937"/>
            <a:ext cx="5781155" cy="3857626"/>
          </a:xfrm>
          <a:prstGeom prst="rect">
            <a:avLst/>
          </a:prstGeom>
        </p:spPr>
      </p:pic>
      <p:pic>
        <p:nvPicPr>
          <p:cNvPr id="5" name="Picture 4" descr="C Programming Language, 2nd Edition | InformIT">
            <a:extLst>
              <a:ext uri="{FF2B5EF4-FFF2-40B4-BE49-F238E27FC236}">
                <a16:creationId xmlns:a16="http://schemas.microsoft.com/office/drawing/2014/main" id="{03CE16BD-A545-9CF2-526C-5AF3A2C5D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00000">
            <a:off x="2002590" y="2644640"/>
            <a:ext cx="681988" cy="901894"/>
          </a:xfrm>
          <a:prstGeom prst="rect">
            <a:avLst/>
          </a:prstGeom>
        </p:spPr>
      </p:pic>
      <p:pic>
        <p:nvPicPr>
          <p:cNvPr id="2" name="Picture 1" descr="Cecilia of Rome - Wikipedia">
            <a:extLst>
              <a:ext uri="{FF2B5EF4-FFF2-40B4-BE49-F238E27FC236}">
                <a16:creationId xmlns:a16="http://schemas.microsoft.com/office/drawing/2014/main" id="{0F0AB4BC-0AD1-D9B9-3A68-C72665594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346" y="790171"/>
            <a:ext cx="1343293" cy="162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708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327E-AE9F-7DE1-871B-FE90F04D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1C2AB2-6407-A344-AE2D-6B69A3A6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 O runtime</a:t>
            </a:r>
            <a:br>
              <a:rPr lang="en-US"/>
            </a:br>
            <a:r>
              <a:rPr lang="en-US"/>
              <a:t>of array operations</a:t>
            </a:r>
          </a:p>
        </p:txBody>
      </p:sp>
    </p:spTree>
    <p:extLst>
      <p:ext uri="{BB962C8B-B14F-4D97-AF65-F5344CB8AC3E}">
        <p14:creationId xmlns:p14="http://schemas.microsoft.com/office/powerpoint/2010/main" val="1753057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C2BF6-EA40-EBC0-7C52-511F25E7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410665-BE3C-90AC-B622-D4663258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 O runtime of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81F7BF4-37B8-1E57-6AEE-E9E593E46B9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/>
                  <a:t>example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/>
                  <a:t> algorithms:</a:t>
                </a:r>
              </a:p>
              <a:p>
                <a:pPr lvl="1"/>
                <a:r>
                  <a:rPr lang="en-US" b="1">
                    <a:latin typeface=""/>
                    <a:cs typeface="Consolas" panose="020B0609020204030204" pitchFamily="49" charset="0"/>
                  </a:rPr>
                  <a:t>create</a:t>
                </a:r>
                <a:r>
                  <a:rPr lang="en-US">
                    <a:latin typeface=""/>
                    <a:cs typeface="Consolas" panose="020B0609020204030204" pitchFamily="49" charset="0"/>
                  </a:rPr>
                  <a:t> new array of length n</a:t>
                </a:r>
                <a:r>
                  <a:rPr lang="en-US">
                    <a:cs typeface="Consolas" panose="020B0609020204030204" pitchFamily="49" charset="0"/>
                  </a:rPr>
                  <a:t> 	</a:t>
                </a:r>
                <a:r>
                  <a:rPr lang="en-US" i="1">
                    <a:cs typeface="Consolas" panose="020B0609020204030204" pitchFamily="49" charset="0"/>
                  </a:rPr>
                  <a:t>(NOTE: this is a definition)</a:t>
                </a:r>
              </a:p>
              <a:p>
                <a:pPr lvl="1"/>
                <a:r>
                  <a:rPr lang="en-US" b="1">
                    <a:cs typeface="Consolas" panose="020B0609020204030204" pitchFamily="49" charset="0"/>
                  </a:rPr>
                  <a:t>print</a:t>
                </a:r>
                <a:r>
                  <a:rPr lang="en-US">
                    <a:cs typeface="Consolas" panose="020B0609020204030204" pitchFamily="49" charset="0"/>
                  </a:rPr>
                  <a:t> array of length n</a:t>
                </a:r>
              </a:p>
              <a:p>
                <a:pPr lvl="1"/>
                <a:r>
                  <a:rPr lang="en-US" b="1">
                    <a:cs typeface="Consolas" panose="020B0609020204030204" pitchFamily="49" charset="0"/>
                  </a:rPr>
                  <a:t>deep copy </a:t>
                </a:r>
                <a:r>
                  <a:rPr lang="en-US">
                    <a:cs typeface="Consolas" panose="020B0609020204030204" pitchFamily="49" charset="0"/>
                  </a:rPr>
                  <a:t>array of length n</a:t>
                </a:r>
              </a:p>
              <a:p>
                <a:pPr lvl="1"/>
                <a:r>
                  <a:rPr lang="en-US" b="1">
                    <a:cs typeface="Consolas" panose="020B0609020204030204" pitchFamily="49" charset="0"/>
                  </a:rPr>
                  <a:t>in-place reverse</a:t>
                </a:r>
                <a:r>
                  <a:rPr lang="en-US">
                    <a:cs typeface="Consolas" panose="020B0609020204030204" pitchFamily="49" charset="0"/>
                  </a:rPr>
                  <a:t> array of length n</a:t>
                </a:r>
                <a:endParaRPr lang="en-US">
                  <a:solidFill>
                    <a:srgbClr val="007B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endParaRPr lang="en-US">
                  <a:solidFill>
                    <a:srgbClr val="007B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/>
                  <a:t>examples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 algorithms:</a:t>
                </a:r>
              </a:p>
              <a:p>
                <a:pPr lvl="1"/>
                <a:r>
                  <a:rPr lang="en-US" b="1">
                    <a:cs typeface="Consolas" panose="020B0609020204030204" pitchFamily="49" charset="0"/>
                  </a:rPr>
                  <a:t>bubble sort</a:t>
                </a:r>
                <a:r>
                  <a:rPr lang="en-US">
                    <a:cs typeface="Consolas" panose="020B0609020204030204" pitchFamily="49" charset="0"/>
                  </a:rPr>
                  <a:t> array of length n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81F7BF4-37B8-1E57-6AEE-E9E593E46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3"/>
                <a:stretch>
                  <a:fillRect l="-617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348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5EF3-8271-FF76-02E8-21C9D54C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FCBE3-0D62-941A-F924-BAB381BFB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💻 array tutorial</a:t>
            </a:r>
          </a:p>
        </p:txBody>
      </p:sp>
    </p:spTree>
    <p:extLst>
      <p:ext uri="{BB962C8B-B14F-4D97-AF65-F5344CB8AC3E}">
        <p14:creationId xmlns:p14="http://schemas.microsoft.com/office/powerpoint/2010/main" val="165057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1AE1A-8E0B-A4C1-9F23-1B069F98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448BC8-F039-0236-A36E-0FDEA97E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💻 array tutorial</a:t>
            </a:r>
          </a:p>
        </p:txBody>
      </p:sp>
    </p:spTree>
    <p:extLst>
      <p:ext uri="{BB962C8B-B14F-4D97-AF65-F5344CB8AC3E}">
        <p14:creationId xmlns:p14="http://schemas.microsoft.com/office/powerpoint/2010/main" val="407580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8269-DE42-1626-977F-EE2C1DF9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B26018-96EF-F69F-8542-98C5FE5C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💻 array tutorial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5A74D-6866-9561-7EC0-796BFEFFA245}"/>
              </a:ext>
            </a:extLst>
          </p:cNvPr>
          <p:cNvSpPr txBox="1"/>
          <p:nvPr/>
        </p:nvSpPr>
        <p:spPr>
          <a:xfrm>
            <a:off x="457200" y="3272191"/>
            <a:ext cx="8229600" cy="7017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// ♦️ [[1, 3], [2, 4, 5], [0, 5]] -&gt; [0, 1, 2, 3, 4, 5, 5]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static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 mergeArrayOfSortedArrays(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[][] arrays);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5BD19-D2E8-2394-36A0-BA4DD564A434}"/>
              </a:ext>
            </a:extLst>
          </p:cNvPr>
          <p:cNvSpPr txBox="1"/>
          <p:nvPr/>
        </p:nvSpPr>
        <p:spPr>
          <a:xfrm>
            <a:off x="457200" y="2387083"/>
            <a:ext cx="8229600" cy="7017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//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🟦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([1, 3, 3, 2, 3, 4], 3) -&gt; [1, 2, 4]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static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 removeAllOccurences(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 array, int value);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FDCE1-B3BA-BB37-3F53-BEC70206F10A}"/>
              </a:ext>
            </a:extLst>
          </p:cNvPr>
          <p:cNvSpPr txBox="1"/>
          <p:nvPr/>
        </p:nvSpPr>
        <p:spPr>
          <a:xfrm>
            <a:off x="457200" y="1169577"/>
            <a:ext cx="8229600" cy="10341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//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🟢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([5, 4, 7, 0, 7], 7) -&gt; 2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//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🟢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B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([5, 4, 7, 0, 7], 3) -&gt; -1</a:t>
            </a:r>
          </a:p>
          <a:p>
            <a:pPr marL="0" marR="0" lvl="0" indent="0" algn="l" defTabSz="3428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>
                  <a:lumMod val="65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static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findFirstIndexOf(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[] array,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Segoe UI Emoji" panose="020B0502040204020203" pitchFamily="34" charset="0"/>
                <a:cs typeface="+mn-cs"/>
              </a:rPr>
              <a:t> value);</a:t>
            </a:r>
          </a:p>
        </p:txBody>
      </p:sp>
    </p:spTree>
    <p:extLst>
      <p:ext uri="{BB962C8B-B14F-4D97-AF65-F5344CB8AC3E}">
        <p14:creationId xmlns:p14="http://schemas.microsoft.com/office/powerpoint/2010/main" val="301899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1304-232A-C14C-5579-35162C3E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8AB0688-B976-67FB-3C32-5B689408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1893924"/>
          </a:xfrm>
        </p:spPr>
        <p:txBody>
          <a:bodyPr/>
          <a:lstStyle/>
          <a:p>
            <a:r>
              <a:rPr lang="en-US" sz="8800"/>
              <a:t>Week03a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82E63-AF20-45AF-8F9E-6FA9BDCD16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993732"/>
            <a:ext cx="8229600" cy="2894013"/>
          </a:xfrm>
        </p:spPr>
        <p:txBody>
          <a:bodyPr>
            <a:noAutofit/>
          </a:bodyPr>
          <a:lstStyle/>
          <a:p>
            <a:r>
              <a:rPr lang="en-US"/>
              <a:t>functions</a:t>
            </a:r>
          </a:p>
          <a:p>
            <a:r>
              <a:rPr lang="en-US"/>
              <a:t>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07F8A-5624-5489-505A-86BF31D7C987}"/>
              </a:ext>
            </a:extLst>
          </p:cNvPr>
          <p:cNvSpPr txBox="1"/>
          <p:nvPr/>
        </p:nvSpPr>
        <p:spPr>
          <a:xfrm>
            <a:off x="5222929" y="856178"/>
            <a:ext cx="205143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🦜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🦜🦜</a:t>
            </a:r>
            <a:endParaRPr lang="en-US" sz="1050"/>
          </a:p>
          <a:p>
            <a:pPr algn="r"/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3B605-C0C1-5877-607A-613F98987356}"/>
              </a:ext>
            </a:extLst>
          </p:cNvPr>
          <p:cNvSpPr txBox="1"/>
          <p:nvPr/>
        </p:nvSpPr>
        <p:spPr>
          <a:xfrm>
            <a:off x="4572000" y="2631826"/>
            <a:ext cx="4122374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/>
              <a:t>BONUS</a:t>
            </a:r>
          </a:p>
          <a:p>
            <a:r>
              <a:rPr lang="en-US" sz="1600"/>
              <a:t>Who wrote the game Everyday Shooter?</a:t>
            </a:r>
          </a:p>
          <a:p>
            <a:r>
              <a:rPr lang="en-US" sz="1600"/>
              <a:t>What is she working on now?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CB514-50D4-92FB-A43B-566C27254AEB}"/>
              </a:ext>
            </a:extLst>
          </p:cNvPr>
          <p:cNvSpPr txBox="1"/>
          <p:nvPr/>
        </p:nvSpPr>
        <p:spPr>
          <a:xfrm>
            <a:off x="4564426" y="3604105"/>
            <a:ext cx="3479194" cy="10772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/>
              <a:t>BONUS</a:t>
            </a:r>
          </a:p>
          <a:p>
            <a:r>
              <a:rPr lang="en-US" sz="1600"/>
              <a:t>What does Touhou 7: Perfect Cherry Blossom's Extra Stage look like?</a:t>
            </a:r>
            <a:br>
              <a:rPr lang="en-US" sz="1600"/>
            </a:br>
            <a:r>
              <a:rPr lang="en-US" sz="1600"/>
              <a:t>Who wrote it? </a:t>
            </a:r>
            <a:endParaRPr lang="en-US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0E0868-910C-192F-B7F7-BD892018E60E}"/>
              </a:ext>
            </a:extLst>
          </p:cNvPr>
          <p:cNvSpPr txBox="1"/>
          <p:nvPr/>
        </p:nvSpPr>
        <p:spPr>
          <a:xfrm>
            <a:off x="5931036" y="618832"/>
            <a:ext cx="3673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80B8D"/>
                </a:solidFill>
              </a:rPr>
              <a:t>Today is...</a:t>
            </a:r>
          </a:p>
          <a:p>
            <a:r>
              <a:rPr lang="en-US" b="1">
                <a:solidFill>
                  <a:srgbClr val="F80B8D"/>
                </a:solidFill>
              </a:rPr>
              <a:t> </a:t>
            </a:r>
            <a:r>
              <a:rPr lang="en-US">
                <a:solidFill>
                  <a:srgbClr val="000000"/>
                </a:solidFill>
                <a:ea typeface="Segoe UI Emoji" panose="020B0502040204020203" pitchFamily="34" charset="0"/>
              </a:rPr>
              <a:t>✨</a:t>
            </a:r>
            <a:r>
              <a:rPr lang="en-US" b="1">
                <a:solidFill>
                  <a:srgbClr val="F80B8D"/>
                </a:solidFill>
              </a:rPr>
              <a:t>No-Laptop Monday!</a:t>
            </a:r>
            <a:r>
              <a:rPr lang="en-US">
                <a:solidFill>
                  <a:srgbClr val="000000"/>
                </a:solidFill>
                <a:ea typeface="Segoe UI Emoji" panose="020B0502040204020203" pitchFamily="34" charset="0"/>
              </a:rPr>
              <a:t> ✨</a:t>
            </a:r>
            <a:endParaRPr lang="en-US">
              <a:solidFill>
                <a:srgbClr val="F80B8D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2AAB3-9706-901A-6359-5700CDCFF64C}"/>
              </a:ext>
            </a:extLst>
          </p:cNvPr>
          <p:cNvSpPr txBox="1"/>
          <p:nvPr/>
        </p:nvSpPr>
        <p:spPr>
          <a:xfrm>
            <a:off x="4572000" y="1903257"/>
            <a:ext cx="2126596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/>
              <a:t>WARMUP</a:t>
            </a:r>
          </a:p>
          <a:p>
            <a:r>
              <a:rPr lang="en-US" sz="1600"/>
              <a:t>What is a bullet hell?</a:t>
            </a:r>
          </a:p>
        </p:txBody>
      </p:sp>
    </p:spTree>
    <p:extLst>
      <p:ext uri="{BB962C8B-B14F-4D97-AF65-F5344CB8AC3E}">
        <p14:creationId xmlns:p14="http://schemas.microsoft.com/office/powerpoint/2010/main" val="222098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7510-0488-36C5-30CF-8A67050B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0EE7-596A-04D2-FDFD-D5FCC1B8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809193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56A60-A1DE-AB2C-5605-D09A4C47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FE82B0-52A2-5B51-EFFA-D24E2EEE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function</a:t>
            </a:r>
          </a:p>
        </p:txBody>
      </p:sp>
    </p:spTree>
    <p:extLst>
      <p:ext uri="{BB962C8B-B14F-4D97-AF65-F5344CB8AC3E}">
        <p14:creationId xmlns:p14="http://schemas.microsoft.com/office/powerpoint/2010/main" val="2005111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05F9-EB39-4664-07A3-3B92BDC3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7E7D3F-5C29-8EF0-E8D5-D7632732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function (1/2)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D8595B-9A03-96C7-AD16-121798B398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 </a:t>
            </a:r>
            <a:r>
              <a:rPr lang="en-US" b="1"/>
              <a:t>function</a:t>
            </a:r>
            <a:r>
              <a:rPr lang="en-US"/>
              <a:t> is a </a:t>
            </a:r>
            <a:r>
              <a:rPr lang="en-US" err="1"/>
              <a:t>lil</a:t>
            </a:r>
            <a:r>
              <a:rPr lang="en-US"/>
              <a:t> chunk of code you can call from elsewhere</a:t>
            </a:r>
          </a:p>
          <a:p>
            <a:pPr lvl="1"/>
            <a:r>
              <a:rPr lang="en-US"/>
              <a:t>a function takes any number of </a:t>
            </a:r>
            <a:r>
              <a:rPr lang="en-US" b="1"/>
              <a:t>arguments</a:t>
            </a:r>
          </a:p>
          <a:p>
            <a:pPr lvl="2"/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 foo(</a:t>
            </a:r>
            <a:r>
              <a:rPr lang="en-US">
                <a:solidFill>
                  <a:srgbClr val="000080"/>
                </a:solidFill>
                <a:latin typeface="+mj-lt"/>
              </a:rPr>
              <a:t>int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arg</a:t>
            </a:r>
            <a:r>
              <a:rPr lang="en-US">
                <a:latin typeface="+mj-lt"/>
              </a:rPr>
              <a:t>) { </a:t>
            </a:r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 } </a:t>
            </a:r>
            <a:r>
              <a:rPr lang="en-US">
                <a:solidFill>
                  <a:srgbClr val="007B00"/>
                </a:solidFill>
                <a:latin typeface="+mj-lt"/>
              </a:rPr>
              <a:t>// function foo takes an int</a:t>
            </a:r>
            <a:endParaRPr lang="en-US"/>
          </a:p>
          <a:p>
            <a:pPr lvl="1"/>
            <a:r>
              <a:rPr lang="en-US"/>
              <a:t>a function with a non-void </a:t>
            </a:r>
            <a:r>
              <a:rPr lang="en-US" b="1"/>
              <a:t>return type</a:t>
            </a:r>
            <a:r>
              <a:rPr lang="en-US"/>
              <a:t> </a:t>
            </a:r>
            <a:r>
              <a:rPr lang="en-US" u="sng"/>
              <a:t>must</a:t>
            </a:r>
            <a:r>
              <a:rPr lang="en-US"/>
              <a:t> </a:t>
            </a:r>
            <a:r>
              <a:rPr lang="en-US" b="1"/>
              <a:t>return</a:t>
            </a:r>
            <a:r>
              <a:rPr lang="en-US"/>
              <a:t> a value of that type</a:t>
            </a:r>
          </a:p>
          <a:p>
            <a:pPr lvl="2"/>
            <a:r>
              <a:rPr lang="en-US">
                <a:solidFill>
                  <a:srgbClr val="000080"/>
                </a:solidFill>
                <a:latin typeface="+mj-lt"/>
              </a:rPr>
              <a:t>int</a:t>
            </a:r>
            <a:r>
              <a:rPr lang="en-US">
                <a:latin typeface="+mj-lt"/>
              </a:rPr>
              <a:t> bar(</a:t>
            </a:r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) { </a:t>
            </a:r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 } </a:t>
            </a:r>
            <a:r>
              <a:rPr lang="en-US">
                <a:solidFill>
                  <a:srgbClr val="007B00"/>
                </a:solidFill>
                <a:latin typeface="+mj-lt"/>
              </a:rPr>
              <a:t>// bar returns an int</a:t>
            </a:r>
          </a:p>
          <a:p>
            <a:pPr lvl="2"/>
            <a:r>
              <a:rPr lang="en-US">
                <a:solidFill>
                  <a:srgbClr val="000080"/>
                </a:solidFill>
                <a:latin typeface="+mj-lt"/>
              </a:rPr>
              <a:t>void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baz</a:t>
            </a:r>
            <a:r>
              <a:rPr lang="en-US">
                <a:latin typeface="+mj-lt"/>
              </a:rPr>
              <a:t>(</a:t>
            </a:r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) { </a:t>
            </a:r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 } </a:t>
            </a:r>
            <a:r>
              <a:rPr lang="en-US">
                <a:solidFill>
                  <a:srgbClr val="007B00"/>
                </a:solidFill>
                <a:latin typeface="+mj-lt"/>
              </a:rPr>
              <a:t>// </a:t>
            </a:r>
            <a:r>
              <a:rPr lang="en-US" err="1">
                <a:solidFill>
                  <a:srgbClr val="007B00"/>
                </a:solidFill>
                <a:latin typeface="+mj-lt"/>
              </a:rPr>
              <a:t>baz</a:t>
            </a:r>
            <a:r>
              <a:rPr lang="en-US">
                <a:solidFill>
                  <a:srgbClr val="007B00"/>
                </a:solidFill>
                <a:latin typeface="+mj-lt"/>
              </a:rPr>
              <a:t> doesn't return anything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31AD6-925E-E692-40DD-6E1EB24A4052}"/>
              </a:ext>
            </a:extLst>
          </p:cNvPr>
          <p:cNvSpPr txBox="1"/>
          <p:nvPr/>
        </p:nvSpPr>
        <p:spPr>
          <a:xfrm>
            <a:off x="457200" y="1060543"/>
            <a:ext cx="8229600" cy="10341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ReturnType</a:t>
            </a:r>
            <a:r>
              <a:rPr lang="en-US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functionName(</a:t>
            </a:r>
            <a:r>
              <a:rPr lang="en-US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ArgumentOneType</a:t>
            </a:r>
            <a:r>
              <a:rPr lang="en-US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argumentOne, </a:t>
            </a:r>
            <a:r>
              <a:rPr lang="en-US">
                <a:solidFill>
                  <a:srgbClr val="BFBF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>
              <a:solidFill>
                <a:srgbClr val="BFBF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1064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D998-82E5-D0C1-D82D-8A48AD32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13D43D-3FF8-E4E3-4A70-CC81F96D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function (2/2)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E5665-3B23-3496-AA8C-02C1CD7DD91C}"/>
              </a:ext>
            </a:extLst>
          </p:cNvPr>
          <p:cNvSpPr txBox="1"/>
          <p:nvPr/>
        </p:nvSpPr>
        <p:spPr>
          <a:xfrm>
            <a:off x="457200" y="1080782"/>
            <a:ext cx="8229600" cy="30285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drawLine(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double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a_x,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double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a_y,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double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b_x,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double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b_y,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color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911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C009-AC06-F305-FD97-E528C052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1DA616-6588-B74C-DDB4-4170A8F8A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083376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AB81-C7D5-F745-2EC7-811A6621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FBA0-2138-3FB1-2188-CEE8C872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6A8FA-12D3-005F-5D1A-1716697886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return</a:t>
            </a:r>
            <a:r>
              <a:rPr lang="en-US"/>
              <a:t> statement stops execution of a function and returns the program to where the function was called</a:t>
            </a:r>
          </a:p>
          <a:p>
            <a:pPr lvl="1"/>
            <a:r>
              <a:rPr lang="en-US"/>
              <a:t>some return statements return a value</a:t>
            </a:r>
          </a:p>
          <a:p>
            <a:pPr lvl="2"/>
            <a:r>
              <a:rPr lang="en-US">
                <a:solidFill>
                  <a:srgbClr val="0000FF"/>
                </a:solidFill>
                <a:latin typeface="+mj-lt"/>
              </a:rPr>
              <a:t>return</a:t>
            </a:r>
            <a:r>
              <a:rPr lang="en-US">
                <a:latin typeface="+mj-lt"/>
              </a:rPr>
              <a:t> </a:t>
            </a:r>
            <a:r>
              <a:rPr lang="en-US">
                <a:solidFill>
                  <a:srgbClr val="0CB5B5"/>
                </a:solidFill>
                <a:latin typeface="+mj-lt"/>
              </a:rPr>
              <a:t>123</a:t>
            </a:r>
            <a:r>
              <a:rPr lang="en-US">
                <a:latin typeface="+mj-lt"/>
              </a:rPr>
              <a:t>;</a:t>
            </a:r>
            <a:endParaRPr lang="en-US"/>
          </a:p>
          <a:p>
            <a:pPr lvl="1"/>
            <a:r>
              <a:rPr lang="en-US"/>
              <a:t>others do not (they "return void")</a:t>
            </a:r>
          </a:p>
          <a:p>
            <a:pPr lvl="2"/>
            <a:r>
              <a:rPr lang="en-US">
                <a:solidFill>
                  <a:srgbClr val="0000FF"/>
                </a:solidFill>
                <a:latin typeface="+mj-lt"/>
              </a:rPr>
              <a:t>return</a:t>
            </a:r>
            <a:r>
              <a:rPr lang="en-US">
                <a:latin typeface="+mj-lt"/>
              </a:rPr>
              <a:t>;</a:t>
            </a:r>
          </a:p>
          <a:p>
            <a:pPr lvl="3"/>
            <a:r>
              <a:rPr lang="en-US" b="1"/>
              <a:t>✨ </a:t>
            </a:r>
            <a:r>
              <a:rPr lang="en-US"/>
              <a:t>this can be used to stop running a void-returning function in the middle </a:t>
            </a:r>
            <a:endParaRPr lang="en-US" b="1"/>
          </a:p>
          <a:p>
            <a:pPr lvl="1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1422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1238-7873-515C-FD5F-D6CFD17F5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3C8C-695C-8B7C-765F-5BB6F5DA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10A79-A658-135D-E354-B1D0775C82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a function with a non-void </a:t>
            </a:r>
            <a:r>
              <a:rPr lang="en-US" b="1"/>
              <a:t>return type</a:t>
            </a:r>
            <a:r>
              <a:rPr lang="en-US"/>
              <a:t> must </a:t>
            </a:r>
            <a:r>
              <a:rPr lang="en-US" b="1"/>
              <a:t>return</a:t>
            </a:r>
            <a:r>
              <a:rPr lang="en-US"/>
              <a:t> a value of that type, regardless of the path taken through the function</a:t>
            </a:r>
            <a:endParaRPr lang="en-US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2E775-8189-00AD-08A7-798144E3F4AB}"/>
              </a:ext>
            </a:extLst>
          </p:cNvPr>
          <p:cNvSpPr txBox="1"/>
          <p:nvPr/>
        </p:nvSpPr>
        <p:spPr>
          <a:xfrm>
            <a:off x="457200" y="1675131"/>
            <a:ext cx="8229600" cy="2363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 b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Error:</a:t>
            </a: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missing return statement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isEven(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n) {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(n % 2  == 0) {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06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1BBE-B849-DA1D-6D1F-25F5ED69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794A31-DE34-DF5E-B193-0ECA3066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658469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2D38-813F-9696-F5E9-EE01CF08C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20E7-F2BE-F380-4807-4AFD974E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CEEBB-EAD8-CCCB-E39D-BB51C90FBC8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/>
              <a:t>void</a:t>
            </a:r>
            <a:r>
              <a:rPr lang="en-US"/>
              <a:t> is a special return type meaning a function does not return a value</a:t>
            </a:r>
          </a:p>
          <a:p>
            <a:pPr lvl="1"/>
            <a:r>
              <a:rPr lang="en-US"/>
              <a:t>void functions often modify (the objects referenced by) their arguments</a:t>
            </a:r>
          </a:p>
          <a:p>
            <a:pPr lvl="2"/>
            <a:r>
              <a:rPr lang="en-US">
                <a:solidFill>
                  <a:srgbClr val="0000FF"/>
                </a:solidFill>
                <a:latin typeface="+mj-lt"/>
              </a:rPr>
              <a:t>static </a:t>
            </a:r>
            <a:r>
              <a:rPr lang="en-US">
                <a:solidFill>
                  <a:srgbClr val="000080"/>
                </a:solidFill>
                <a:latin typeface="+mj-lt"/>
              </a:rPr>
              <a:t>void </a:t>
            </a:r>
            <a:r>
              <a:rPr lang="en-US">
                <a:latin typeface="+mj-lt"/>
              </a:rPr>
              <a:t>inPlaceReverse(</a:t>
            </a:r>
            <a:r>
              <a:rPr lang="en-US">
                <a:solidFill>
                  <a:srgbClr val="0000FF"/>
                </a:solidFill>
                <a:latin typeface="+mj-lt"/>
              </a:rPr>
              <a:t>int</a:t>
            </a:r>
            <a:r>
              <a:rPr lang="en-US">
                <a:latin typeface="+mj-lt"/>
              </a:rPr>
              <a:t>[] array) { </a:t>
            </a:r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 }</a:t>
            </a:r>
          </a:p>
          <a:p>
            <a:pPr lvl="3"/>
            <a:r>
              <a:rPr lang="en-US">
                <a:solidFill>
                  <a:srgbClr val="007B00"/>
                </a:solidFill>
                <a:latin typeface="+mj-lt"/>
              </a:rPr>
              <a:t>// ( no need to return a reference to array</a:t>
            </a:r>
            <a:br>
              <a:rPr lang="en-US">
                <a:solidFill>
                  <a:srgbClr val="007B00"/>
                </a:solidFill>
                <a:latin typeface="+mj-lt"/>
              </a:rPr>
            </a:br>
            <a:r>
              <a:rPr lang="en-US">
                <a:solidFill>
                  <a:srgbClr val="007B00"/>
                </a:solidFill>
                <a:latin typeface="+mj-lt"/>
              </a:rPr>
              <a:t>//   user of the function already has one )</a:t>
            </a:r>
            <a:endParaRPr lang="en-US"/>
          </a:p>
          <a:p>
            <a:pPr lvl="1"/>
            <a:r>
              <a:rPr lang="en-US"/>
              <a:t>in Java, the </a:t>
            </a:r>
            <a:r>
              <a:rPr lang="en-US" b="1"/>
              <a:t>main method</a:t>
            </a:r>
            <a:r>
              <a:rPr lang="en-US"/>
              <a:t> is a void function (it doesn't return anything)</a:t>
            </a:r>
          </a:p>
          <a:p>
            <a:pPr lvl="2"/>
            <a:r>
              <a:rPr lang="en-US">
                <a:solidFill>
                  <a:srgbClr val="0000FF"/>
                </a:solidFill>
                <a:latin typeface="+mj-lt"/>
              </a:rPr>
              <a:t>public static</a:t>
            </a:r>
            <a:r>
              <a:rPr lang="en-US">
                <a:latin typeface="+mj-lt"/>
              </a:rPr>
              <a:t> </a:t>
            </a:r>
            <a:r>
              <a:rPr lang="en-US">
                <a:solidFill>
                  <a:srgbClr val="000080"/>
                </a:solidFill>
                <a:latin typeface="+mj-lt"/>
              </a:rPr>
              <a:t>void</a:t>
            </a:r>
            <a:r>
              <a:rPr lang="en-US">
                <a:latin typeface="+mj-lt"/>
              </a:rPr>
              <a:t> main(</a:t>
            </a:r>
            <a:r>
              <a:rPr lang="en-US">
                <a:solidFill>
                  <a:srgbClr val="000080"/>
                </a:solidFill>
                <a:latin typeface="+mj-lt"/>
              </a:rPr>
              <a:t>String</a:t>
            </a:r>
            <a:r>
              <a:rPr lang="en-US">
                <a:latin typeface="+mj-lt"/>
              </a:rPr>
              <a:t>[] arguments) { </a:t>
            </a:r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 }</a:t>
            </a:r>
            <a:endParaRPr lang="en-US"/>
          </a:p>
          <a:p>
            <a:pPr lvl="1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7106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3E1D-9C5C-57A1-490B-BB94BC1A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4EAF86-3838-2AF7-07F5-C9999FD3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call stack</a:t>
            </a:r>
          </a:p>
        </p:txBody>
      </p:sp>
    </p:spTree>
    <p:extLst>
      <p:ext uri="{BB962C8B-B14F-4D97-AF65-F5344CB8AC3E}">
        <p14:creationId xmlns:p14="http://schemas.microsoft.com/office/powerpoint/2010/main" val="2545767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1A6D0-E468-9565-9FFF-5B642724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787E53-13D7-E7F2-DA5B-D690B66D4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call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D9298-7A52-D8AC-8A95-0B6ED1BC0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7"/>
            <a:ext cx="4500208" cy="4080271"/>
          </a:xfrm>
        </p:spPr>
        <p:txBody>
          <a:bodyPr/>
          <a:lstStyle/>
          <a:p>
            <a:r>
              <a:rPr lang="en-US"/>
              <a:t>functions can call other functions</a:t>
            </a:r>
          </a:p>
          <a:p>
            <a:pPr lvl="1"/>
            <a:r>
              <a:rPr lang="en-US"/>
              <a:t>the resulting "stack" of function calls is called the </a:t>
            </a:r>
            <a:r>
              <a:rPr lang="en-US" b="1"/>
              <a:t>call stack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B57DF-AEB7-463F-9B24-4975C5862818}"/>
              </a:ext>
            </a:extLst>
          </p:cNvPr>
          <p:cNvSpPr txBox="1"/>
          <p:nvPr/>
        </p:nvSpPr>
        <p:spPr>
          <a:xfrm>
            <a:off x="457200" y="1945540"/>
            <a:ext cx="4235712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>
                <a:latin typeface="+mj-lt"/>
              </a:rPr>
              <a:t>class Main {</a:t>
            </a:r>
          </a:p>
          <a:p>
            <a:r>
              <a:rPr lang="en-US" sz="1100">
                <a:latin typeface="+mj-lt"/>
              </a:rPr>
              <a:t>    </a:t>
            </a:r>
          </a:p>
          <a:p>
            <a:r>
              <a:rPr lang="en-US" sz="1100">
                <a:latin typeface="+mj-lt"/>
              </a:rPr>
              <a:t>    static void snap() {</a:t>
            </a:r>
          </a:p>
          <a:p>
            <a:r>
              <a:rPr lang="en-US" sz="1100">
                <a:latin typeface="+mj-lt"/>
              </a:rPr>
              <a:t>        crackle();</a:t>
            </a:r>
          </a:p>
          <a:p>
            <a:r>
              <a:rPr lang="en-US" sz="1100">
                <a:latin typeface="+mj-lt"/>
              </a:rPr>
              <a:t>    }</a:t>
            </a:r>
          </a:p>
          <a:p>
            <a:r>
              <a:rPr lang="en-US" sz="1100">
                <a:latin typeface="+mj-lt"/>
              </a:rPr>
              <a:t>    </a:t>
            </a:r>
          </a:p>
          <a:p>
            <a:r>
              <a:rPr lang="en-US" sz="1100">
                <a:latin typeface="+mj-lt"/>
              </a:rPr>
              <a:t>    static void crackle() {</a:t>
            </a:r>
          </a:p>
          <a:p>
            <a:r>
              <a:rPr lang="en-US" sz="1100">
                <a:latin typeface="+mj-lt"/>
              </a:rPr>
              <a:t>        pop();</a:t>
            </a:r>
          </a:p>
          <a:p>
            <a:r>
              <a:rPr lang="en-US" sz="1100">
                <a:latin typeface="+mj-lt"/>
              </a:rPr>
              <a:t>    }</a:t>
            </a:r>
          </a:p>
          <a:p>
            <a:r>
              <a:rPr lang="en-US" sz="1100">
                <a:latin typeface="+mj-lt"/>
              </a:rPr>
              <a:t>    </a:t>
            </a:r>
          </a:p>
          <a:p>
            <a:r>
              <a:rPr lang="en-US" sz="1100">
                <a:latin typeface="+mj-lt"/>
              </a:rPr>
              <a:t>    static void pop() {</a:t>
            </a:r>
          </a:p>
          <a:p>
            <a:r>
              <a:rPr lang="en-US" sz="1100">
                <a:highlight>
                  <a:srgbClr val="00FFFF"/>
                </a:highlight>
                <a:latin typeface="+mj-lt"/>
              </a:rPr>
              <a:t>        return;</a:t>
            </a:r>
          </a:p>
          <a:p>
            <a:r>
              <a:rPr lang="en-US" sz="1100">
                <a:latin typeface="+mj-lt"/>
              </a:rPr>
              <a:t>    }</a:t>
            </a:r>
          </a:p>
          <a:p>
            <a:r>
              <a:rPr lang="en-US" sz="1100">
                <a:latin typeface="+mj-lt"/>
              </a:rPr>
              <a:t>    </a:t>
            </a:r>
          </a:p>
          <a:p>
            <a:r>
              <a:rPr lang="en-US" sz="1100">
                <a:latin typeface="+mj-lt"/>
              </a:rPr>
              <a:t>    public static void main(String[] arguments) {</a:t>
            </a:r>
          </a:p>
          <a:p>
            <a:r>
              <a:rPr lang="en-US" sz="1100">
                <a:latin typeface="+mj-lt"/>
              </a:rPr>
              <a:t>        snap();</a:t>
            </a:r>
          </a:p>
          <a:p>
            <a:r>
              <a:rPr lang="en-US" sz="1100">
                <a:latin typeface="+mj-lt"/>
              </a:rPr>
              <a:t>    }</a:t>
            </a:r>
          </a:p>
          <a:p>
            <a:r>
              <a:rPr lang="en-US" sz="1100">
                <a:latin typeface="+mj-lt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ACF12-59A1-5417-A08F-0B7EDE33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408" y="1057517"/>
            <a:ext cx="3960140" cy="4025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277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95D2-9189-CEA3-25E1-4D7DA337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9F450C-A189-9A9B-C592-62B86464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🤔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36A6C-56A5-111F-C7D8-F290AA3F78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17" t="30051" r="9166" b="3109"/>
          <a:stretch/>
        </p:blipFill>
        <p:spPr>
          <a:xfrm>
            <a:off x="5108549" y="2267107"/>
            <a:ext cx="3446004" cy="26903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0453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DC892-100B-D789-DD58-A3AD2954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D0CF2-6E6A-F993-61CD-95BF0DD8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recursive functions</a:t>
            </a:r>
          </a:p>
        </p:txBody>
      </p:sp>
    </p:spTree>
    <p:extLst>
      <p:ext uri="{BB962C8B-B14F-4D97-AF65-F5344CB8AC3E}">
        <p14:creationId xmlns:p14="http://schemas.microsoft.com/office/powerpoint/2010/main" val="1197878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8590A-3510-8EAA-52A7-66AF0F5D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8B300-53C5-720F-909B-0405D8D7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recursive functions (1/2)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631F7-F19B-7D11-D89C-AA836DC677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recursive function</a:t>
            </a:r>
            <a:r>
              <a:rPr lang="en-US"/>
              <a:t> is a function that calls itself</a:t>
            </a:r>
          </a:p>
          <a:p>
            <a:pPr lvl="1"/>
            <a:r>
              <a:rPr lang="en-US"/>
              <a:t>each call must make progress towards a </a:t>
            </a:r>
            <a:r>
              <a:rPr lang="en-US" b="1"/>
              <a:t>base case</a:t>
            </a:r>
            <a:br>
              <a:rPr lang="en-US"/>
            </a:br>
            <a:r>
              <a:rPr lang="en-US"/>
              <a:t>(when the function finally returns without calling itself)</a:t>
            </a:r>
          </a:p>
          <a:p>
            <a:pPr lvl="2"/>
            <a:r>
              <a:rPr lang="en-US"/>
              <a:t>✨ when in doubt, try something like zero for your base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6E1EA-BD3C-87E4-0B73-A90FF953FDB6}"/>
              </a:ext>
            </a:extLst>
          </p:cNvPr>
          <p:cNvSpPr txBox="1"/>
          <p:nvPr/>
        </p:nvSpPr>
        <p:spPr>
          <a:xfrm>
            <a:off x="457200" y="2365952"/>
            <a:ext cx="82296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FF"/>
                </a:solidFill>
                <a:latin typeface="+mj-lt"/>
              </a:rPr>
              <a:t>class</a:t>
            </a:r>
            <a:r>
              <a:rPr lang="en-US" sz="1400">
                <a:latin typeface="+mj-lt"/>
              </a:rPr>
              <a:t> </a:t>
            </a:r>
            <a:r>
              <a:rPr lang="en-US" sz="1400">
                <a:solidFill>
                  <a:srgbClr val="000080"/>
                </a:solidFill>
                <a:latin typeface="+mj-lt"/>
              </a:rPr>
              <a:t>Main</a:t>
            </a:r>
            <a:r>
              <a:rPr lang="en-US" sz="1400">
                <a:latin typeface="+mj-lt"/>
              </a:rPr>
              <a:t> extends Cow {</a:t>
            </a:r>
          </a:p>
          <a:p>
            <a:r>
              <a:rPr lang="en-US" sz="1400">
                <a:latin typeface="+mj-lt"/>
              </a:rPr>
              <a:t>    </a:t>
            </a:r>
            <a:r>
              <a:rPr lang="en-US" sz="1400">
                <a:solidFill>
                  <a:srgbClr val="0000FF"/>
                </a:solidFill>
                <a:latin typeface="+mj-lt"/>
              </a:rPr>
              <a:t>static</a:t>
            </a:r>
            <a:r>
              <a:rPr lang="en-US" sz="1400">
                <a:latin typeface="+mj-lt"/>
              </a:rPr>
              <a:t> </a:t>
            </a:r>
            <a:r>
              <a:rPr lang="en-US" sz="1400">
                <a:solidFill>
                  <a:srgbClr val="000080"/>
                </a:solidFill>
                <a:latin typeface="+mj-lt"/>
              </a:rPr>
              <a:t>int</a:t>
            </a:r>
            <a:r>
              <a:rPr lang="en-US" sz="1400">
                <a:latin typeface="+mj-lt"/>
              </a:rPr>
              <a:t> digitSum(</a:t>
            </a:r>
            <a:r>
              <a:rPr lang="en-US" sz="1400">
                <a:solidFill>
                  <a:srgbClr val="000080"/>
                </a:solidFill>
                <a:latin typeface="+mj-lt"/>
              </a:rPr>
              <a:t>int</a:t>
            </a:r>
            <a:r>
              <a:rPr lang="en-US" sz="1400">
                <a:latin typeface="+mj-lt"/>
              </a:rPr>
              <a:t> n) {</a:t>
            </a:r>
          </a:p>
          <a:p>
            <a:r>
              <a:rPr lang="en-US" sz="1400">
                <a:latin typeface="+mj-lt"/>
              </a:rPr>
              <a:t>        </a:t>
            </a:r>
            <a:r>
              <a:rPr lang="en-US" sz="1400">
                <a:solidFill>
                  <a:srgbClr val="0000FF"/>
                </a:solidFill>
                <a:latin typeface="+mj-lt"/>
              </a:rPr>
              <a:t>if</a:t>
            </a:r>
            <a:r>
              <a:rPr lang="en-US" sz="1400">
                <a:latin typeface="+mj-lt"/>
              </a:rPr>
              <a:t> (n == </a:t>
            </a:r>
            <a:r>
              <a:rPr lang="en-US" sz="1400">
                <a:solidFill>
                  <a:srgbClr val="0CB5B5"/>
                </a:solidFill>
                <a:latin typeface="+mj-lt"/>
              </a:rPr>
              <a:t>0</a:t>
            </a:r>
            <a:r>
              <a:rPr lang="en-US" sz="1400">
                <a:latin typeface="+mj-lt"/>
              </a:rPr>
              <a:t>) {</a:t>
            </a:r>
          </a:p>
          <a:p>
            <a:r>
              <a:rPr lang="en-US" sz="1400">
                <a:latin typeface="+mj-lt"/>
              </a:rPr>
              <a:t>            </a:t>
            </a:r>
            <a:r>
              <a:rPr lang="en-US" sz="1400">
                <a:solidFill>
                  <a:srgbClr val="0000FF"/>
                </a:solidFill>
                <a:latin typeface="+mj-lt"/>
              </a:rPr>
              <a:t>return</a:t>
            </a:r>
            <a:r>
              <a:rPr lang="en-US" sz="1400">
                <a:latin typeface="+mj-lt"/>
              </a:rPr>
              <a:t> </a:t>
            </a:r>
            <a:r>
              <a:rPr lang="en-US" sz="1400">
                <a:solidFill>
                  <a:srgbClr val="0CB5B5"/>
                </a:solidFill>
                <a:latin typeface="+mj-lt"/>
              </a:rPr>
              <a:t>0</a:t>
            </a:r>
            <a:r>
              <a:rPr lang="en-US" sz="1400">
                <a:latin typeface="+mj-lt"/>
              </a:rPr>
              <a:t>;</a:t>
            </a:r>
          </a:p>
          <a:p>
            <a:r>
              <a:rPr lang="en-US" sz="1400">
                <a:latin typeface="+mj-lt"/>
              </a:rPr>
              <a:t>        }</a:t>
            </a:r>
          </a:p>
          <a:p>
            <a:r>
              <a:rPr lang="en-US" sz="1400">
                <a:latin typeface="+mj-lt"/>
              </a:rPr>
              <a:t>        </a:t>
            </a:r>
            <a:r>
              <a:rPr lang="en-US" sz="1400">
                <a:solidFill>
                  <a:srgbClr val="0000FF"/>
                </a:solidFill>
                <a:latin typeface="+mj-lt"/>
              </a:rPr>
              <a:t>return</a:t>
            </a:r>
            <a:r>
              <a:rPr lang="en-US" sz="1400">
                <a:latin typeface="+mj-lt"/>
              </a:rPr>
              <a:t> digitSum(n / </a:t>
            </a:r>
            <a:r>
              <a:rPr lang="en-US" sz="1400">
                <a:solidFill>
                  <a:srgbClr val="0CB5B5"/>
                </a:solidFill>
                <a:latin typeface="+mj-lt"/>
              </a:rPr>
              <a:t>10</a:t>
            </a:r>
            <a:r>
              <a:rPr lang="en-US" sz="1400">
                <a:latin typeface="+mj-lt"/>
              </a:rPr>
              <a:t>) + (n % </a:t>
            </a:r>
            <a:r>
              <a:rPr lang="en-US" sz="1400">
                <a:solidFill>
                  <a:srgbClr val="0CB5B5"/>
                </a:solidFill>
                <a:latin typeface="+mj-lt"/>
              </a:rPr>
              <a:t>10</a:t>
            </a:r>
            <a:r>
              <a:rPr lang="en-US" sz="1400">
                <a:latin typeface="+mj-lt"/>
              </a:rPr>
              <a:t>);</a:t>
            </a:r>
          </a:p>
          <a:p>
            <a:r>
              <a:rPr lang="en-US" sz="1400">
                <a:latin typeface="+mj-lt"/>
              </a:rPr>
              <a:t>    }</a:t>
            </a:r>
          </a:p>
          <a:p>
            <a:r>
              <a:rPr lang="en-US" sz="1400">
                <a:latin typeface="+mj-lt"/>
              </a:rPr>
              <a:t>    </a:t>
            </a:r>
          </a:p>
          <a:p>
            <a:r>
              <a:rPr lang="en-US" sz="1400">
                <a:latin typeface="+mj-lt"/>
              </a:rPr>
              <a:t>    </a:t>
            </a:r>
            <a:r>
              <a:rPr lang="en-US" sz="1400">
                <a:solidFill>
                  <a:srgbClr val="0000FF"/>
                </a:solidFill>
                <a:latin typeface="+mj-lt"/>
              </a:rPr>
              <a:t>public</a:t>
            </a:r>
            <a:r>
              <a:rPr lang="en-US" sz="1400">
                <a:latin typeface="+mj-lt"/>
              </a:rPr>
              <a:t> </a:t>
            </a:r>
            <a:r>
              <a:rPr lang="en-US" sz="1400">
                <a:solidFill>
                  <a:srgbClr val="0000FF"/>
                </a:solidFill>
                <a:latin typeface="+mj-lt"/>
              </a:rPr>
              <a:t>static</a:t>
            </a:r>
            <a:r>
              <a:rPr lang="en-US" sz="1400">
                <a:latin typeface="+mj-lt"/>
              </a:rPr>
              <a:t> </a:t>
            </a:r>
            <a:r>
              <a:rPr lang="en-US" sz="1400">
                <a:solidFill>
                  <a:srgbClr val="000080"/>
                </a:solidFill>
                <a:latin typeface="+mj-lt"/>
              </a:rPr>
              <a:t>void</a:t>
            </a:r>
            <a:r>
              <a:rPr lang="en-US" sz="1400">
                <a:latin typeface="+mj-lt"/>
              </a:rPr>
              <a:t> main(</a:t>
            </a:r>
            <a:r>
              <a:rPr lang="en-US" sz="1400">
                <a:solidFill>
                  <a:srgbClr val="000080"/>
                </a:solidFill>
                <a:latin typeface="+mj-lt"/>
              </a:rPr>
              <a:t>String</a:t>
            </a:r>
            <a:r>
              <a:rPr lang="en-US" sz="1400">
                <a:latin typeface="+mj-lt"/>
              </a:rPr>
              <a:t>[] arguments) {</a:t>
            </a:r>
          </a:p>
          <a:p>
            <a:r>
              <a:rPr lang="en-US" sz="1400">
                <a:latin typeface="+mj-lt"/>
              </a:rPr>
              <a:t>        </a:t>
            </a:r>
            <a:r>
              <a:rPr lang="en-US" sz="1400">
                <a:solidFill>
                  <a:srgbClr val="000080"/>
                </a:solidFill>
                <a:latin typeface="+mj-lt"/>
              </a:rPr>
              <a:t>PRINT</a:t>
            </a:r>
            <a:r>
              <a:rPr lang="en-US" sz="1400">
                <a:latin typeface="+mj-lt"/>
              </a:rPr>
              <a:t>(digitSum(</a:t>
            </a:r>
            <a:r>
              <a:rPr lang="en-US" sz="1400">
                <a:solidFill>
                  <a:srgbClr val="0CB5B5"/>
                </a:solidFill>
                <a:latin typeface="+mj-lt"/>
              </a:rPr>
              <a:t>256</a:t>
            </a:r>
            <a:r>
              <a:rPr lang="en-US" sz="1400">
                <a:latin typeface="+mj-lt"/>
              </a:rPr>
              <a:t>)); </a:t>
            </a:r>
            <a:r>
              <a:rPr lang="en-US" sz="1400">
                <a:solidFill>
                  <a:srgbClr val="007B00"/>
                </a:solidFill>
                <a:latin typeface="+mj-lt"/>
              </a:rPr>
              <a:t>// 13</a:t>
            </a:r>
          </a:p>
          <a:p>
            <a:r>
              <a:rPr lang="en-US" sz="1400">
                <a:latin typeface="+mj-lt"/>
              </a:rPr>
              <a:t>    }</a:t>
            </a:r>
          </a:p>
          <a:p>
            <a:r>
              <a:rPr lang="en-US" sz="1400">
                <a:latin typeface="+mj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052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28B4-B13D-85C9-68F0-78D0A6D8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572AD3A-255D-D7FE-693D-539B028885D8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99DC8A-6ACB-D00E-3CBF-88860EF06465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6019D9AC-742B-EDC6-720B-AA4D31543B3D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205E63-F0EC-58AA-D7D4-BED2ECDDC8CA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(25) + 6;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7CE5AF-0377-7CA5-1979-B4FE6A9B8772}"/>
              </a:ext>
            </a:extLst>
          </p:cNvPr>
          <p:cNvSpPr txBox="1"/>
          <p:nvPr/>
        </p:nvSpPr>
        <p:spPr>
          <a:xfrm>
            <a:off x="5179292" y="2703436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(2) + 5;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8FA4D3-9F74-4A28-FB0F-D6AC98B5AF4D}"/>
              </a:ext>
            </a:extLst>
          </p:cNvPr>
          <p:cNvSpPr txBox="1"/>
          <p:nvPr/>
        </p:nvSpPr>
        <p:spPr>
          <a:xfrm>
            <a:off x="6201628" y="179042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(0) + 2;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E899A84-8F1B-F392-62B6-F491975D9ECA}"/>
              </a:ext>
            </a:extLst>
          </p:cNvPr>
          <p:cNvSpPr/>
          <p:nvPr/>
        </p:nvSpPr>
        <p:spPr>
          <a:xfrm rot="16944028">
            <a:off x="5174058" y="3233413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D9BEA2D-D9B8-9E62-8311-BFAC3B4EA24D}"/>
              </a:ext>
            </a:extLst>
          </p:cNvPr>
          <p:cNvSpPr/>
          <p:nvPr/>
        </p:nvSpPr>
        <p:spPr>
          <a:xfrm rot="16944028">
            <a:off x="6198571" y="2320236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159BE1D-911A-44B4-B62A-78884FB2E4C5}"/>
              </a:ext>
            </a:extLst>
          </p:cNvPr>
          <p:cNvSpPr/>
          <p:nvPr/>
        </p:nvSpPr>
        <p:spPr>
          <a:xfrm rot="16944028">
            <a:off x="7289386" y="1416027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9A0024-297C-3BD2-E98E-88B14F0C6F09}"/>
              </a:ext>
            </a:extLst>
          </p:cNvPr>
          <p:cNvSpPr txBox="1"/>
          <p:nvPr/>
        </p:nvSpPr>
        <p:spPr>
          <a:xfrm>
            <a:off x="7336981" y="886050"/>
            <a:ext cx="1406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0;</a:t>
            </a:r>
          </a:p>
        </p:txBody>
      </p:sp>
    </p:spTree>
    <p:extLst>
      <p:ext uri="{BB962C8B-B14F-4D97-AF65-F5344CB8AC3E}">
        <p14:creationId xmlns:p14="http://schemas.microsoft.com/office/powerpoint/2010/main" val="124956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3" grpId="0"/>
      <p:bldP spid="36" grpId="0"/>
      <p:bldP spid="37" grpId="0"/>
      <p:bldP spid="41" grpId="0" animBg="1"/>
      <p:bldP spid="42" grpId="0" animBg="1"/>
      <p:bldP spid="43" grpId="0" animBg="1"/>
      <p:bldP spid="4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2B115-B831-0EBC-FF5C-DBA31759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C3460DBC-F814-91EF-6791-CD21E1EAF753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9008FA-FAB9-2D5E-4AB0-7F0B10483FD8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(25) + 6;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8F9CBE-5325-8094-D10A-78F4A3B241C6}"/>
              </a:ext>
            </a:extLst>
          </p:cNvPr>
          <p:cNvSpPr txBox="1"/>
          <p:nvPr/>
        </p:nvSpPr>
        <p:spPr>
          <a:xfrm>
            <a:off x="5179292" y="2703436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(2) + 5;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9E94FF-C33F-3D0A-5A68-02EAD5D5B64C}"/>
              </a:ext>
            </a:extLst>
          </p:cNvPr>
          <p:cNvSpPr txBox="1"/>
          <p:nvPr/>
        </p:nvSpPr>
        <p:spPr>
          <a:xfrm>
            <a:off x="6201628" y="179042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(0) + 2;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549B575-1499-32FE-E2D2-E40990C8D0FF}"/>
              </a:ext>
            </a:extLst>
          </p:cNvPr>
          <p:cNvSpPr/>
          <p:nvPr/>
        </p:nvSpPr>
        <p:spPr>
          <a:xfrm rot="16944028">
            <a:off x="5174058" y="3233413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EF76BB8-FF06-D9D5-C252-5957ABFD64A3}"/>
              </a:ext>
            </a:extLst>
          </p:cNvPr>
          <p:cNvSpPr/>
          <p:nvPr/>
        </p:nvSpPr>
        <p:spPr>
          <a:xfrm rot="16944028">
            <a:off x="6198571" y="2320236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A9F6921-A4EB-5459-AF8B-57703CA1F0E8}"/>
              </a:ext>
            </a:extLst>
          </p:cNvPr>
          <p:cNvSpPr/>
          <p:nvPr/>
        </p:nvSpPr>
        <p:spPr>
          <a:xfrm rot="6300000">
            <a:off x="7289386" y="1416027"/>
            <a:ext cx="580966" cy="163811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A01FC0-7AD3-9D2D-34DA-D26098EA9C7E}"/>
              </a:ext>
            </a:extLst>
          </p:cNvPr>
          <p:cNvSpPr txBox="1"/>
          <p:nvPr/>
        </p:nvSpPr>
        <p:spPr>
          <a:xfrm>
            <a:off x="7336981" y="886050"/>
            <a:ext cx="19356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0;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74325-B0D3-9123-4FF9-3487FFE80FF6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E7A07-DDD5-F893-624D-585599645259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70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6DD03-04BE-CE99-837F-11697CFF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5E4026F6-CBE8-B61C-F33F-3899BC27D457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197A2C-9273-0977-C953-8E33CE38F55F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(25) + 6;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1006B-CE90-EC97-0232-DDD9CF5AB658}"/>
              </a:ext>
            </a:extLst>
          </p:cNvPr>
          <p:cNvSpPr txBox="1"/>
          <p:nvPr/>
        </p:nvSpPr>
        <p:spPr>
          <a:xfrm>
            <a:off x="5179292" y="2703436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(2) + 5;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154BB5-67E3-E199-5CD1-B3B8AB4CB490}"/>
              </a:ext>
            </a:extLst>
          </p:cNvPr>
          <p:cNvSpPr txBox="1"/>
          <p:nvPr/>
        </p:nvSpPr>
        <p:spPr>
          <a:xfrm>
            <a:off x="6201628" y="179042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0 + 2;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553A6C72-DFB0-3BE2-E3D2-2AEFFC9E8B73}"/>
              </a:ext>
            </a:extLst>
          </p:cNvPr>
          <p:cNvSpPr/>
          <p:nvPr/>
        </p:nvSpPr>
        <p:spPr>
          <a:xfrm rot="16944028">
            <a:off x="5174058" y="3233413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68201290-8A68-4400-62F4-6E67202ADFF3}"/>
              </a:ext>
            </a:extLst>
          </p:cNvPr>
          <p:cNvSpPr/>
          <p:nvPr/>
        </p:nvSpPr>
        <p:spPr>
          <a:xfrm rot="16944028">
            <a:off x="6198571" y="2320236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6A35D-FD3F-6654-7F56-3AD7DC0553D9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6ADAB7-D640-4D7D-DB5F-5A3674189102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336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6DF-5D31-CF9F-A642-5E4B153D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DC592C63-E87B-6D61-4B18-C7E2294D3B86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31601-D59A-DFD8-4018-108979411254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(25) + 6;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0EC223-BEEB-7261-29D7-2892D146065F}"/>
              </a:ext>
            </a:extLst>
          </p:cNvPr>
          <p:cNvSpPr txBox="1"/>
          <p:nvPr/>
        </p:nvSpPr>
        <p:spPr>
          <a:xfrm>
            <a:off x="5179292" y="2703436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(2) + 5;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9BD2C9-C71D-3680-DF20-F2CA2AD5F2CF}"/>
              </a:ext>
            </a:extLst>
          </p:cNvPr>
          <p:cNvSpPr txBox="1"/>
          <p:nvPr/>
        </p:nvSpPr>
        <p:spPr>
          <a:xfrm>
            <a:off x="6201628" y="179042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2;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9E3629BD-0C3C-F658-0CA5-C6B0983F173A}"/>
              </a:ext>
            </a:extLst>
          </p:cNvPr>
          <p:cNvSpPr/>
          <p:nvPr/>
        </p:nvSpPr>
        <p:spPr>
          <a:xfrm rot="16944028">
            <a:off x="5174058" y="3233413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DDDBF6E2-A6E5-E811-3057-1C882EF537F0}"/>
              </a:ext>
            </a:extLst>
          </p:cNvPr>
          <p:cNvSpPr/>
          <p:nvPr/>
        </p:nvSpPr>
        <p:spPr>
          <a:xfrm rot="16944028">
            <a:off x="6198571" y="2320236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A046FA-F5F7-22FC-F992-65E8B174885C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954CF-207C-AC11-D75F-56C0248CC274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15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8CF2-A008-1456-5C7E-65F0C52CC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D443829A-1D17-80D4-54F3-B297109467A6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698D4E-CACE-9B9B-328A-18ABD6E0CBE4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(25) + 6;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A61CBC-0543-E877-2635-A4CB322EAC3D}"/>
              </a:ext>
            </a:extLst>
          </p:cNvPr>
          <p:cNvSpPr txBox="1"/>
          <p:nvPr/>
        </p:nvSpPr>
        <p:spPr>
          <a:xfrm>
            <a:off x="5179292" y="2703436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(2) + 5;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9A7124-4DF7-2CF0-842E-18435B33456A}"/>
              </a:ext>
            </a:extLst>
          </p:cNvPr>
          <p:cNvSpPr txBox="1"/>
          <p:nvPr/>
        </p:nvSpPr>
        <p:spPr>
          <a:xfrm>
            <a:off x="6201628" y="179042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2;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7177E42-20C9-A15E-942E-6030535CA170}"/>
              </a:ext>
            </a:extLst>
          </p:cNvPr>
          <p:cNvSpPr/>
          <p:nvPr/>
        </p:nvSpPr>
        <p:spPr>
          <a:xfrm rot="16944028">
            <a:off x="5174058" y="3233413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702E7B91-F4E9-5FDF-833C-44B9FEAE0382}"/>
              </a:ext>
            </a:extLst>
          </p:cNvPr>
          <p:cNvSpPr/>
          <p:nvPr/>
        </p:nvSpPr>
        <p:spPr>
          <a:xfrm rot="6300000">
            <a:off x="6198571" y="2320236"/>
            <a:ext cx="580966" cy="163811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5AC538-1B07-68B9-7167-EA1F2AACFCED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5FD09-4382-D21A-4090-E8DE89E10115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196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1F52-7335-8ABE-A2F7-C4EE6AE1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76A366E7-666A-87BE-EA29-B177A498B9A9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08C284-365E-60CB-CD33-EBFAC343942E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(25) + 6;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8C9892-34F2-9C5B-ACB4-708893A6C977}"/>
              </a:ext>
            </a:extLst>
          </p:cNvPr>
          <p:cNvSpPr txBox="1"/>
          <p:nvPr/>
        </p:nvSpPr>
        <p:spPr>
          <a:xfrm>
            <a:off x="5179292" y="2703436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2 + 5;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65E084FC-4EC0-7907-944B-DC350BCF7A27}"/>
              </a:ext>
            </a:extLst>
          </p:cNvPr>
          <p:cNvSpPr/>
          <p:nvPr/>
        </p:nvSpPr>
        <p:spPr>
          <a:xfrm rot="16944028">
            <a:off x="5174058" y="3233413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1D3D7-B74D-CE64-2DEB-EC550BB0CE45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F624AE-C314-6FBC-BF88-F889A010D2CF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12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908D9-49C4-DD37-BE81-1031C66C8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7BC5E733-B92F-BAB5-8724-A068EDA88785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D5CE15-99BA-160D-5777-D776D0A756D4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(25) + 6;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C5A566-9B3B-6D70-A805-516C5A9B6851}"/>
              </a:ext>
            </a:extLst>
          </p:cNvPr>
          <p:cNvSpPr txBox="1"/>
          <p:nvPr/>
        </p:nvSpPr>
        <p:spPr>
          <a:xfrm>
            <a:off x="5179292" y="2703436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7;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03BD655-04AD-E031-68E7-2E19839D3C3C}"/>
              </a:ext>
            </a:extLst>
          </p:cNvPr>
          <p:cNvSpPr/>
          <p:nvPr/>
        </p:nvSpPr>
        <p:spPr>
          <a:xfrm rot="16944028">
            <a:off x="5174058" y="3233413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5FC9DF-43C6-A702-52FD-E3C0535682B4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F1BEFA-314A-3D4D-205F-46857884C470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5021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5E56-26F7-7E89-4A1E-6E731FEC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B2E8791E-E4F1-7418-2B9A-865F5DFBEA6B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A1AFBD-1683-0D41-412D-4966649421DE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(25) + 6;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EC5776-9F3F-9F05-C68B-4067A07EB9D1}"/>
              </a:ext>
            </a:extLst>
          </p:cNvPr>
          <p:cNvSpPr txBox="1"/>
          <p:nvPr/>
        </p:nvSpPr>
        <p:spPr>
          <a:xfrm>
            <a:off x="5179292" y="2703436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7;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D4BCC18D-E418-0FE7-9243-0603D8B7D033}"/>
              </a:ext>
            </a:extLst>
          </p:cNvPr>
          <p:cNvSpPr/>
          <p:nvPr/>
        </p:nvSpPr>
        <p:spPr>
          <a:xfrm rot="6300000">
            <a:off x="5174058" y="3233413"/>
            <a:ext cx="580966" cy="163811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40148-E36E-AFC1-058F-4933E3CEFB5E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914C8-CAA8-AF3C-9754-8A67C6F0E437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188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AE6A-6B1A-A663-E064-CB7FC5BE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7B87E3E7-630F-933B-2D0D-4B19CB85D8B0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9F12C7-0F7D-0B37-A8E3-2BD620F620E2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7 + 6;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7D714-A760-5B32-6955-60A6CB53DFDB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B4F23A-49C1-4180-DA65-CEE6B7A46720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0612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3149-00DB-49B3-6743-59136A8F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35AEAA61-72F9-EE0D-CA6B-2E53A3849373}"/>
              </a:ext>
            </a:extLst>
          </p:cNvPr>
          <p:cNvSpPr/>
          <p:nvPr/>
        </p:nvSpPr>
        <p:spPr>
          <a:xfrm rot="16944028">
            <a:off x="4163382" y="4179898"/>
            <a:ext cx="580966" cy="163811"/>
          </a:xfrm>
          <a:prstGeom prst="right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A66BFD-34E8-72A6-5AD8-17E8D189C449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13;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186DC-578E-9835-367A-2FF726A4FB8E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BCA8B1-1769-CC68-FD6B-4F75038EFC71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9818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E111D-4F13-CF3B-CAA7-ACAD9D93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AB83D948-8DD2-AB1D-E311-FF160E0C18DF}"/>
              </a:ext>
            </a:extLst>
          </p:cNvPr>
          <p:cNvSpPr/>
          <p:nvPr/>
        </p:nvSpPr>
        <p:spPr>
          <a:xfrm rot="6300000">
            <a:off x="4163382" y="4179898"/>
            <a:ext cx="580966" cy="163811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9CDA3A-6AC0-207C-9E12-DED6C7A2763A}"/>
              </a:ext>
            </a:extLst>
          </p:cNvPr>
          <p:cNvSpPr txBox="1"/>
          <p:nvPr/>
        </p:nvSpPr>
        <p:spPr>
          <a:xfrm>
            <a:off x="4164304" y="3637290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return 13;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558065-0EC1-1465-4D39-B9BC1479DC47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</a:t>
            </a:r>
            <a:r>
              <a:rPr lang="en-US" sz="1500" err="1">
                <a:latin typeface="Consolas" panose="020B0609020204030204" pitchFamily="49" charset="0"/>
              </a:rPr>
              <a:t>digitSum</a:t>
            </a:r>
            <a:r>
              <a:rPr lang="en-US" sz="1500">
                <a:latin typeface="Consolas" panose="020B0609020204030204" pitchFamily="49" charset="0"/>
              </a:rPr>
              <a:t>(256);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CABF3-1FE5-1359-DF0D-07EB1E61C402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7881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8CCC-DE7D-F7D5-B0FC-A7EDA8302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922EEA-841E-1223-7511-813A5599C6E9}"/>
              </a:ext>
            </a:extLst>
          </p:cNvPr>
          <p:cNvSpPr txBox="1"/>
          <p:nvPr/>
        </p:nvSpPr>
        <p:spPr>
          <a:xfrm>
            <a:off x="2982678" y="4571145"/>
            <a:ext cx="2942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Consolas" panose="020B0609020204030204" pitchFamily="49" charset="0"/>
              </a:rPr>
              <a:t>int a = 13;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BF4BF-A249-3BD7-95A6-6579CFF64AC8}"/>
              </a:ext>
            </a:extLst>
          </p:cNvPr>
          <p:cNvSpPr txBox="1"/>
          <p:nvPr/>
        </p:nvSpPr>
        <p:spPr>
          <a:xfrm>
            <a:off x="411404" y="225596"/>
            <a:ext cx="476788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+mj-lt"/>
              </a:rPr>
              <a:t>static int digitSum(int n) {</a:t>
            </a:r>
          </a:p>
          <a:p>
            <a:r>
              <a:rPr lang="en-US" sz="1600">
                <a:latin typeface="+mj-lt"/>
              </a:rPr>
              <a:t>    if (n == 0) {</a:t>
            </a:r>
          </a:p>
          <a:p>
            <a:r>
              <a:rPr lang="en-US" sz="1600">
                <a:latin typeface="+mj-lt"/>
              </a:rPr>
              <a:t>        return 0;</a:t>
            </a:r>
          </a:p>
          <a:p>
            <a:r>
              <a:rPr lang="en-US" sz="1600">
                <a:latin typeface="+mj-lt"/>
              </a:rPr>
              <a:t>    }</a:t>
            </a:r>
          </a:p>
          <a:p>
            <a:r>
              <a:rPr lang="en-US" sz="1600">
                <a:latin typeface="+mj-lt"/>
              </a:rPr>
              <a:t>    return digitSum(n / 10) + (n % 10);</a:t>
            </a:r>
          </a:p>
          <a:p>
            <a:r>
              <a:rPr lang="en-US" sz="1600">
                <a:latin typeface="+mj-lt"/>
              </a:rPr>
              <a:t>}</a:t>
            </a:r>
            <a:endParaRPr 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7855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0CD5-97B6-FFC3-AF4B-7714F763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97F3-DA41-667F-E5EA-72B5EEA1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Zapfino" panose="03030300040707070C03" pitchFamily="66" charset="77"/>
              </a:rPr>
              <a:t>fin.</a:t>
            </a:r>
          </a:p>
        </p:txBody>
      </p:sp>
    </p:spTree>
    <p:extLst>
      <p:ext uri="{BB962C8B-B14F-4D97-AF65-F5344CB8AC3E}">
        <p14:creationId xmlns:p14="http://schemas.microsoft.com/office/powerpoint/2010/main" val="7242455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74612-BCD4-5356-85FC-69118921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346760-836D-A17B-9424-02F64249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recursive functions (2/2)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4C5979-FF32-A2A3-9F7E-D736FF0A55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stack overflow</a:t>
            </a:r>
            <a:r>
              <a:rPr lang="en-US"/>
              <a:t> error happens when functions call too many functions without returning; these errors are usually caused by broken recursive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9ECF0-E4C3-8548-AEA5-9226243CE180}"/>
              </a:ext>
            </a:extLst>
          </p:cNvPr>
          <p:cNvSpPr txBox="1"/>
          <p:nvPr/>
        </p:nvSpPr>
        <p:spPr>
          <a:xfrm>
            <a:off x="457200" y="1694587"/>
            <a:ext cx="4341511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>
                <a:latin typeface="+mj-lt"/>
              </a:rPr>
              <a:t>class Main {</a:t>
            </a:r>
          </a:p>
          <a:p>
            <a:r>
              <a:rPr lang="en-US" sz="1200">
                <a:latin typeface="+mj-lt"/>
              </a:rPr>
              <a:t>    static void stackOverflow() {</a:t>
            </a:r>
          </a:p>
          <a:p>
            <a:r>
              <a:rPr lang="en-US" sz="1200">
                <a:latin typeface="+mj-lt"/>
              </a:rPr>
              <a:t>        stackOverflow();</a:t>
            </a:r>
          </a:p>
          <a:p>
            <a:r>
              <a:rPr lang="en-US" sz="1200">
                <a:latin typeface="+mj-lt"/>
              </a:rPr>
              <a:t>    }</a:t>
            </a:r>
          </a:p>
          <a:p>
            <a:r>
              <a:rPr lang="en-US" sz="1200">
                <a:latin typeface="+mj-lt"/>
              </a:rPr>
              <a:t>    </a:t>
            </a:r>
          </a:p>
          <a:p>
            <a:r>
              <a:rPr lang="en-US" sz="1200">
                <a:latin typeface="+mj-lt"/>
              </a:rPr>
              <a:t>    public static void main(String[] arguments) {</a:t>
            </a:r>
          </a:p>
          <a:p>
            <a:r>
              <a:rPr lang="en-US" sz="1200">
                <a:latin typeface="+mj-lt"/>
              </a:rPr>
              <a:t>        stackOverflow();</a:t>
            </a:r>
          </a:p>
          <a:p>
            <a:r>
              <a:rPr lang="en-US" sz="1200">
                <a:latin typeface="+mj-lt"/>
              </a:rPr>
              <a:t>    }</a:t>
            </a:r>
          </a:p>
          <a:p>
            <a:r>
              <a:rPr lang="en-US" sz="1200">
                <a:latin typeface="+mj-lt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77AC0-9413-F3F2-ECFA-91924DB18653}"/>
              </a:ext>
            </a:extLst>
          </p:cNvPr>
          <p:cNvSpPr txBox="1"/>
          <p:nvPr/>
        </p:nvSpPr>
        <p:spPr>
          <a:xfrm>
            <a:off x="4861686" y="1694587"/>
            <a:ext cx="3825114" cy="124649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C00000"/>
                </a:solidFill>
                <a:latin typeface="+mj-lt"/>
              </a:rPr>
              <a:t>java.lang.StackOverflowError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  <a:p>
            <a:r>
              <a:rPr lang="en-US" sz="1200" b="1">
                <a:solidFill>
                  <a:srgbClr val="C00000"/>
                </a:solidFill>
                <a:latin typeface="+mj-lt"/>
              </a:rPr>
              <a:t>	at Main.stackOverflow(Tmp.java:3)</a:t>
            </a:r>
          </a:p>
        </p:txBody>
      </p:sp>
    </p:spTree>
    <p:extLst>
      <p:ext uri="{BB962C8B-B14F-4D97-AF65-F5344CB8AC3E}">
        <p14:creationId xmlns:p14="http://schemas.microsoft.com/office/powerpoint/2010/main" val="207142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F0374-4B90-080C-2332-4017EFCE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reaking Vortex - The Perry Bible Fellowship">
            <a:extLst>
              <a:ext uri="{FF2B5EF4-FFF2-40B4-BE49-F238E27FC236}">
                <a16:creationId xmlns:a16="http://schemas.microsoft.com/office/drawing/2014/main" id="{A57BC4CA-5363-ADE8-EDA7-E3D814436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6" y="1080655"/>
            <a:ext cx="8946568" cy="2982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1214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F1F4D-E443-7C49-E684-1EB8F5B7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4FCA-4CED-C3A9-81F7-0F9B637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32501921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7A3A-927D-4CE1-2C2D-CCA1EDCC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D39CC5-2787-A8E0-B1B3-078F8DCE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class</a:t>
            </a:r>
          </a:p>
        </p:txBody>
      </p:sp>
    </p:spTree>
    <p:extLst>
      <p:ext uri="{BB962C8B-B14F-4D97-AF65-F5344CB8AC3E}">
        <p14:creationId xmlns:p14="http://schemas.microsoft.com/office/powerpoint/2010/main" val="12684928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1F9D-01CF-9316-8A02-0419AEA9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4E0444-D770-24B2-4852-98878808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class (1/2)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23802A-BB1A-22D0-8D02-3FAFCC43BF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 </a:t>
            </a:r>
            <a:r>
              <a:rPr lang="en-US" b="1"/>
              <a:t>class</a:t>
            </a:r>
            <a:r>
              <a:rPr lang="en-US"/>
              <a:t> lets you bundle together data and functions</a:t>
            </a:r>
          </a:p>
          <a:p>
            <a:pPr lvl="1"/>
            <a:r>
              <a:rPr lang="en-US"/>
              <a:t>a class may have any number of </a:t>
            </a:r>
            <a:r>
              <a:rPr lang="en-US" b="1"/>
              <a:t>variables </a:t>
            </a:r>
            <a:r>
              <a:rPr lang="en-US"/>
              <a:t>(fields)</a:t>
            </a:r>
          </a:p>
          <a:p>
            <a:pPr lvl="2"/>
            <a:r>
              <a:rPr lang="en-US">
                <a:solidFill>
                  <a:srgbClr val="0000FF"/>
                </a:solidFill>
                <a:latin typeface="+mj-lt"/>
              </a:rPr>
              <a:t>int</a:t>
            </a:r>
            <a:r>
              <a:rPr lang="en-US">
                <a:latin typeface="+mj-lt"/>
              </a:rPr>
              <a:t> foo; </a:t>
            </a:r>
            <a:r>
              <a:rPr lang="en-US">
                <a:solidFill>
                  <a:srgbClr val="007B00"/>
                </a:solidFill>
                <a:latin typeface="+mj-lt"/>
              </a:rPr>
              <a:t>// objects of this class have an int called foo</a:t>
            </a:r>
          </a:p>
          <a:p>
            <a:pPr lvl="1"/>
            <a:r>
              <a:rPr lang="en-US"/>
              <a:t>a class may have any number of </a:t>
            </a:r>
            <a:r>
              <a:rPr lang="en-US" b="1"/>
              <a:t>functions </a:t>
            </a:r>
            <a:r>
              <a:rPr lang="en-US"/>
              <a:t>(methods)</a:t>
            </a:r>
          </a:p>
          <a:p>
            <a:pPr lvl="2"/>
            <a:r>
              <a:rPr lang="en-US">
                <a:solidFill>
                  <a:srgbClr val="0000FF"/>
                </a:solidFill>
                <a:latin typeface="+mj-lt"/>
              </a:rPr>
              <a:t>int</a:t>
            </a:r>
            <a:r>
              <a:rPr lang="en-US">
                <a:latin typeface="+mj-lt"/>
              </a:rPr>
              <a:t> bar() { </a:t>
            </a:r>
            <a:r>
              <a:rPr lang="en-US">
                <a:solidFill>
                  <a:srgbClr val="BFBFBF"/>
                </a:solidFill>
                <a:latin typeface="+mj-lt"/>
              </a:rPr>
              <a:t>...</a:t>
            </a:r>
            <a:r>
              <a:rPr lang="en-US">
                <a:latin typeface="+mj-lt"/>
              </a:rPr>
              <a:t> } </a:t>
            </a:r>
            <a:r>
              <a:rPr lang="en-US">
                <a:solidFill>
                  <a:srgbClr val="007B00"/>
                </a:solidFill>
                <a:latin typeface="+mj-lt"/>
              </a:rPr>
              <a:t>// objects of class have function bar</a:t>
            </a:r>
          </a:p>
          <a:p>
            <a:pPr lvl="2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2DE54-6DBC-F07A-81CC-51A0011175A6}"/>
              </a:ext>
            </a:extLst>
          </p:cNvPr>
          <p:cNvSpPr txBox="1"/>
          <p:nvPr/>
        </p:nvSpPr>
        <p:spPr>
          <a:xfrm>
            <a:off x="457200" y="909960"/>
            <a:ext cx="8229600" cy="2363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ClassName</a:t>
            </a:r>
            <a:r>
              <a:rPr lang="en-US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VariableOneType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variableOne;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FunctionOneReturnType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functionOneName(</a:t>
            </a:r>
            <a:r>
              <a:rPr lang="en-US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  <a:r>
              <a:rPr lang="en-US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 </a:t>
            </a:r>
            <a:r>
              <a:rPr lang="en-US"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}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BFBFBF"/>
                </a:solidFill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...</a:t>
            </a:r>
            <a:endParaRPr lang="en-US">
              <a:solidFill>
                <a:srgbClr val="BFBFB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48499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EAEE8-6944-B7D9-615F-E316DB8E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B369BF-BF8E-1634-94EF-281A9F94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class (2/2)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91425-7394-56E3-9CB5-359777C05A1B}"/>
              </a:ext>
            </a:extLst>
          </p:cNvPr>
          <p:cNvSpPr txBox="1"/>
          <p:nvPr/>
        </p:nvSpPr>
        <p:spPr>
          <a:xfrm>
            <a:off x="457200" y="924335"/>
            <a:ext cx="8229600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Thing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instance variables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y;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Color color;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radius;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instance methods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draw() { </a:t>
            </a:r>
            <a:r>
              <a:rPr lang="en-US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822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8081-B550-2717-16C6-97DC90AFC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9E9D3F-57BE-B23E-DA45-1057B376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</a:t>
            </a:r>
          </a:p>
        </p:txBody>
      </p:sp>
    </p:spTree>
    <p:extLst>
      <p:ext uri="{BB962C8B-B14F-4D97-AF65-F5344CB8AC3E}">
        <p14:creationId xmlns:p14="http://schemas.microsoft.com/office/powerpoint/2010/main" val="11841449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E036-5891-2FA4-798E-6CFB9FDE1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F87DDF-B847-0A47-9807-DF8D766C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05140-7DAA-8FDF-20F4-956397DCD2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/>
              <a:t>dot</a:t>
            </a:r>
            <a:r>
              <a:rPr lang="en-US"/>
              <a:t> operator is used to access an object's variables and functions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BC893D-2D29-863B-5B26-4F42C41B2216}"/>
              </a:ext>
            </a:extLst>
          </p:cNvPr>
          <p:cNvSpPr txBox="1"/>
          <p:nvPr/>
        </p:nvSpPr>
        <p:spPr>
          <a:xfrm>
            <a:off x="457200" y="1460103"/>
            <a:ext cx="82296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Thing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thing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Thing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thing.x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thing.y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thing.draw();</a:t>
            </a:r>
          </a:p>
        </p:txBody>
      </p:sp>
    </p:spTree>
    <p:extLst>
      <p:ext uri="{BB962C8B-B14F-4D97-AF65-F5344CB8AC3E}">
        <p14:creationId xmlns:p14="http://schemas.microsoft.com/office/powerpoint/2010/main" val="138897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B249-A289-378D-B3E2-833EC6C3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7AA0D9-7A6B-49A0-79BB-13296B91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terminology</a:t>
            </a:r>
          </a:p>
        </p:txBody>
      </p:sp>
    </p:spTree>
    <p:extLst>
      <p:ext uri="{BB962C8B-B14F-4D97-AF65-F5344CB8AC3E}">
        <p14:creationId xmlns:p14="http://schemas.microsoft.com/office/powerpoint/2010/main" val="15379105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2B8F-8E2B-F5A0-6412-3EB4A47D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0BD0EC-264B-695E-B9B0-7588BBC8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vs. object (instance of a class)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DE4AA-EBCD-9A14-7F02-DDA035E9A0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class</a:t>
            </a:r>
            <a:r>
              <a:rPr lang="en-US"/>
              <a:t> is NOT the same thing as an </a:t>
            </a:r>
            <a:r>
              <a:rPr lang="en-US" b="1"/>
              <a:t>object</a:t>
            </a:r>
          </a:p>
          <a:p>
            <a:pPr lvl="1"/>
            <a:r>
              <a:rPr lang="en-US"/>
              <a:t>a class is "a blueprint for making objects"</a:t>
            </a:r>
          </a:p>
          <a:p>
            <a:pPr lvl="1"/>
            <a:r>
              <a:rPr lang="en-US"/>
              <a:t>we can make an </a:t>
            </a:r>
            <a:r>
              <a:rPr lang="en-US" b="1"/>
              <a:t>instance of a class</a:t>
            </a:r>
            <a:r>
              <a:rPr lang="en-US"/>
              <a:t> (an </a:t>
            </a:r>
            <a:r>
              <a:rPr lang="en-US" b="1"/>
              <a:t>object</a:t>
            </a:r>
            <a:r>
              <a:rPr lang="en-US"/>
              <a:t>) using the </a:t>
            </a:r>
            <a:r>
              <a:rPr lang="en-US" b="1"/>
              <a:t>new</a:t>
            </a:r>
            <a:r>
              <a:rPr lang="en-US"/>
              <a:t> keyword</a:t>
            </a:r>
          </a:p>
          <a:p>
            <a:pPr lvl="2"/>
            <a:r>
              <a:rPr lang="en-US"/>
              <a:t>this is called "instantiating the class"</a:t>
            </a:r>
          </a:p>
          <a:p>
            <a:pPr lvl="2"/>
            <a:r>
              <a:rPr lang="en-US">
                <a:solidFill>
                  <a:srgbClr val="011893"/>
                </a:solidFill>
                <a:latin typeface="+mj-lt"/>
              </a:rPr>
              <a:t>Thing</a:t>
            </a:r>
            <a:r>
              <a:rPr lang="en-US">
                <a:latin typeface="+mj-lt"/>
              </a:rPr>
              <a:t> thing = </a:t>
            </a:r>
            <a:r>
              <a:rPr lang="en-US">
                <a:solidFill>
                  <a:srgbClr val="0432FF"/>
                </a:solidFill>
                <a:latin typeface="+mj-lt"/>
              </a:rPr>
              <a:t>new</a:t>
            </a:r>
            <a:r>
              <a:rPr lang="en-US">
                <a:latin typeface="+mj-lt"/>
              </a:rPr>
              <a:t> </a:t>
            </a:r>
            <a:r>
              <a:rPr lang="en-US">
                <a:solidFill>
                  <a:srgbClr val="011893"/>
                </a:solidFill>
                <a:latin typeface="+mj-lt"/>
              </a:rPr>
              <a:t>Thing</a:t>
            </a:r>
            <a:r>
              <a:rPr lang="en-US">
                <a:latin typeface="+mj-lt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126088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7E1A-BFB5-0282-A856-48D3D69C8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E2761A-C04B-06BE-9FB0-9CBFF231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and constructors</a:t>
            </a:r>
          </a:p>
        </p:txBody>
      </p:sp>
    </p:spTree>
    <p:extLst>
      <p:ext uri="{BB962C8B-B14F-4D97-AF65-F5344CB8AC3E}">
        <p14:creationId xmlns:p14="http://schemas.microsoft.com/office/powerpoint/2010/main" val="15235762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DC42-DA2B-33EC-6228-654FA407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9DEE6F-C94A-3543-E255-E7F7C66D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EE9AE-C0CC-19CA-567E-C627568D23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/>
              <a:t>new</a:t>
            </a:r>
            <a:r>
              <a:rPr lang="en-US"/>
              <a:t> keyword create a new instance of a class</a:t>
            </a:r>
            <a:br>
              <a:rPr lang="en-US"/>
            </a:br>
            <a:r>
              <a:rPr lang="en-US"/>
              <a:t>and calls its appropriate </a:t>
            </a:r>
            <a:r>
              <a:rPr lang="en-US" b="1"/>
              <a:t>constructor</a:t>
            </a:r>
          </a:p>
          <a:p>
            <a:pPr lvl="1"/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[] array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int[5];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{ 0, 0, 0, 0, 0 }</a:t>
            </a:r>
          </a:p>
          <a:p>
            <a:pPr lvl="1"/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color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(1.0, 0.0, 0.0)</a:t>
            </a:r>
          </a:p>
          <a:p>
            <a:pPr lvl="1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☠️</a:t>
            </a:r>
            <a:r>
              <a:rPr lang="en-US" b="1">
                <a:cs typeface="Consolas" panose="020B0609020204030204" pitchFamily="49" charset="0"/>
              </a:rPr>
              <a:t> you don't need </a:t>
            </a:r>
            <a:r>
              <a:rPr lang="en-US" b="1">
                <a:solidFill>
                  <a:srgbClr val="0000FF"/>
                </a:solidFill>
                <a:latin typeface="+mj-lt"/>
                <a:cs typeface="Consolas" panose="020B0609020204030204" pitchFamily="49" charset="0"/>
              </a:rPr>
              <a:t>new</a:t>
            </a:r>
            <a:r>
              <a:rPr lang="en-US" b="1">
                <a:cs typeface="Consolas" panose="020B0609020204030204" pitchFamily="49" charset="0"/>
              </a:rPr>
              <a:t> to create a new string</a:t>
            </a:r>
          </a:p>
          <a:p>
            <a:pPr lvl="2"/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string = </a:t>
            </a:r>
            <a:r>
              <a:rPr lang="en-US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"strings are their own thing"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☠️</a:t>
            </a:r>
            <a:r>
              <a:rPr lang="en-US" b="1">
                <a:cs typeface="Consolas" panose="020B0609020204030204" pitchFamily="49" charset="0"/>
              </a:rPr>
              <a:t> you don't need </a:t>
            </a:r>
            <a:r>
              <a:rPr lang="en-US" b="1">
                <a:solidFill>
                  <a:srgbClr val="0000FF"/>
                </a:solidFill>
                <a:latin typeface="+mj-lt"/>
                <a:cs typeface="Consolas" panose="020B0609020204030204" pitchFamily="49" charset="0"/>
              </a:rPr>
              <a:t>new</a:t>
            </a:r>
            <a:r>
              <a:rPr lang="en-US" b="1">
                <a:cs typeface="Consolas" panose="020B0609020204030204" pitchFamily="49" charset="0"/>
              </a:rPr>
              <a:t> to create a new array when using {} syntax</a:t>
            </a:r>
          </a:p>
          <a:p>
            <a:pPr lvl="2"/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int[]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array = { 1, 2, 3 };</a:t>
            </a:r>
          </a:p>
          <a:p>
            <a:pPr lvl="2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☠️</a:t>
            </a:r>
            <a:r>
              <a:rPr lang="en-US" b="1">
                <a:cs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+mj-lt"/>
                <a:cs typeface="Consolas" panose="020B0609020204030204" pitchFamily="49" charset="0"/>
              </a:rPr>
              <a:t>new</a:t>
            </a:r>
            <a:r>
              <a:rPr lang="en-US" b="1">
                <a:cs typeface="Consolas" panose="020B0609020204030204" pitchFamily="49" charset="0"/>
              </a:rPr>
              <a:t> doesn't actually return the </a:t>
            </a:r>
            <a:r>
              <a:rPr lang="en-US" b="1" i="1">
                <a:cs typeface="Consolas" panose="020B0609020204030204" pitchFamily="49" charset="0"/>
              </a:rPr>
              <a:t>object</a:t>
            </a:r>
            <a:r>
              <a:rPr lang="en-US" b="1">
                <a:cs typeface="Consolas" panose="020B0609020204030204" pitchFamily="49" charset="0"/>
              </a:rPr>
              <a:t> it created;</a:t>
            </a:r>
            <a:br>
              <a:rPr lang="en-US" b="1">
                <a:cs typeface="Consolas" panose="020B0609020204030204" pitchFamily="49" charset="0"/>
              </a:rPr>
            </a:br>
            <a:r>
              <a:rPr lang="en-US" b="1">
                <a:cs typeface="Consolas" panose="020B0609020204030204" pitchFamily="49" charset="0"/>
              </a:rPr>
              <a:t>it returns </a:t>
            </a:r>
            <a:r>
              <a:rPr lang="en-US" b="1" i="1">
                <a:cs typeface="Consolas" panose="020B0609020204030204" pitchFamily="49" charset="0"/>
              </a:rPr>
              <a:t>a reference to the object</a:t>
            </a:r>
            <a:endParaRPr lang="en-US" b="1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4991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1422-39C5-50A6-8C14-9959743F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605B33-B8F1-C6A8-3E1F-B65BAF6C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constructors (1/2)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43F22-B9A3-DD31-62E1-88FD69BBC4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constructor</a:t>
            </a:r>
            <a:r>
              <a:rPr lang="en-US"/>
              <a:t> is called when an object is created</a:t>
            </a:r>
          </a:p>
          <a:p>
            <a:pPr lvl="1"/>
            <a:r>
              <a:rPr lang="en-US"/>
              <a:t>if the class does not have a constructor, then the </a:t>
            </a:r>
            <a:r>
              <a:rPr lang="en-US" b="1"/>
              <a:t>default constructor</a:t>
            </a:r>
            <a:r>
              <a:rPr lang="en-US"/>
              <a:t> must be called, which takes no arguments and sets all variables to zero</a:t>
            </a:r>
          </a:p>
          <a:p>
            <a:pPr lvl="2"/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color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(0.0, 0.0, 0.0)</a:t>
            </a:r>
          </a:p>
          <a:p>
            <a:pPr lvl="1"/>
            <a:endParaRPr lang="en-US"/>
          </a:p>
          <a:p>
            <a:pPr lvl="2"/>
            <a:endParaRPr lang="en-US"/>
          </a:p>
          <a:p>
            <a:pPr lvl="1"/>
            <a:endParaRPr lang="en-US">
              <a:solidFill>
                <a:srgbClr val="000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886" lvl="1" indent="0">
              <a:buNone/>
            </a:pP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9581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12CFE-7148-6192-6D68-9B6A1948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CE8962-6DBB-0CD5-C40A-190EDE13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constructors (2/2)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D7E04-80F2-902E-E2E0-CE1EB39793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a (non-default) </a:t>
            </a:r>
            <a:r>
              <a:rPr lang="en-US" b="1"/>
              <a:t>constructor</a:t>
            </a:r>
            <a:r>
              <a:rPr lang="en-US"/>
              <a:t> is never necessary, but is often convenient</a:t>
            </a:r>
          </a:p>
          <a:p>
            <a:pPr lvl="1"/>
            <a:endParaRPr lang="en-US"/>
          </a:p>
          <a:p>
            <a:pPr lvl="2"/>
            <a:endParaRPr lang="en-US"/>
          </a:p>
          <a:p>
            <a:pPr lvl="1"/>
            <a:endParaRPr lang="en-US">
              <a:solidFill>
                <a:srgbClr val="000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886" lvl="1" indent="0">
              <a:buNone/>
            </a:pP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A8D1C8-168C-3BFA-F1F7-318F0C2D5B6A}"/>
              </a:ext>
            </a:extLst>
          </p:cNvPr>
          <p:cNvSpPr txBox="1"/>
          <p:nvPr/>
        </p:nvSpPr>
        <p:spPr>
          <a:xfrm>
            <a:off x="457200" y="1460103"/>
            <a:ext cx="82296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color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(r=1.0, g=1.0, b=1.0)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FFD42-00F5-F07B-ADDF-5A4FE815E279}"/>
              </a:ext>
            </a:extLst>
          </p:cNvPr>
          <p:cNvSpPr txBox="1"/>
          <p:nvPr/>
        </p:nvSpPr>
        <p:spPr>
          <a:xfrm>
            <a:off x="457200" y="2051510"/>
            <a:ext cx="82296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color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(0.0, 0.0, 0.0)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color.r = 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;            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(1.0, 0.0, 0.0)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color.g = 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;            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(1.0, 1.0, 0.0)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color.b = 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;            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(1.0, 1.0, 1.0)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46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7C0E-EC1A-C1F4-065A-D630E36C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6CD481-8824-B1AF-51E1-05CA9B9B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</a:t>
            </a:r>
            <a:br>
              <a:rPr lang="en-US"/>
            </a:br>
            <a:r>
              <a:rPr lang="en-US" sz="3200"/>
              <a:t>🐍 in Python, </a:t>
            </a:r>
            <a:r>
              <a:rPr lang="en-US" sz="3200">
                <a:latin typeface="+mj-lt"/>
              </a:rPr>
              <a:t>this</a:t>
            </a:r>
            <a:r>
              <a:rPr lang="en-US" sz="3200"/>
              <a:t> is </a:t>
            </a:r>
            <a:r>
              <a:rPr lang="en-US" sz="3200">
                <a:latin typeface="+mj-lt"/>
              </a:rPr>
              <a:t>self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598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A6B50-4EAE-7427-BF61-4FC4BAD7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1E25A8-208C-2EF5-7FE1-16AD2AA6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979CE-6E8C-7B43-2BF2-04356C0F04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/>
              <a:t>this</a:t>
            </a:r>
            <a:r>
              <a:rPr lang="en-US"/>
              <a:t> is a reference to the instance of the class whose function we're inside of</a:t>
            </a:r>
          </a:p>
          <a:p>
            <a:pPr lvl="1"/>
            <a:r>
              <a:rPr lang="en-US" b="1"/>
              <a:t>✨ </a:t>
            </a:r>
            <a:r>
              <a:rPr lang="en-US"/>
              <a:t>especially useful inside a constructor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0D3B36-DA05-CB74-A001-570955A19C47}"/>
              </a:ext>
            </a:extLst>
          </p:cNvPr>
          <p:cNvSpPr txBox="1"/>
          <p:nvPr/>
        </p:nvSpPr>
        <p:spPr>
          <a:xfrm>
            <a:off x="457200" y="1746784"/>
            <a:ext cx="8229600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shade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.r /= 2;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.g /= 2;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.b /= 2;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600">
              <a:solidFill>
                <a:srgbClr val="BFBFB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r, </a:t>
            </a:r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g, </a:t>
            </a:r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b) {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constructor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.r = r;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.g = g;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.b = b;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480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Jim">
  <a:themeElements>
    <a:clrScheme name="Jim">
      <a:dk1>
        <a:srgbClr val="000000"/>
      </a:dk1>
      <a:lt1>
        <a:srgbClr val="FFFFFF"/>
      </a:lt1>
      <a:dk2>
        <a:srgbClr val="7B3F00"/>
      </a:dk2>
      <a:lt2>
        <a:srgbClr val="7F7F7F"/>
      </a:lt2>
      <a:accent1>
        <a:srgbClr val="F92671"/>
      </a:accent1>
      <a:accent2>
        <a:srgbClr val="FD971F"/>
      </a:accent2>
      <a:accent3>
        <a:srgbClr val="FFFF32"/>
      </a:accent3>
      <a:accent4>
        <a:srgbClr val="A6E22E"/>
      </a:accent4>
      <a:accent5>
        <a:srgbClr val="66D9ED"/>
      </a:accent5>
      <a:accent6>
        <a:srgbClr val="AE81FF"/>
      </a:accent6>
      <a:hlink>
        <a:srgbClr val="0000FF"/>
      </a:hlink>
      <a:folHlink>
        <a:srgbClr val="666699"/>
      </a:folHlink>
    </a:clrScheme>
    <a:fontScheme name="Jim Heading is Code Body is Everything Else">
      <a:majorFont>
        <a:latin typeface="Consola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111054</TotalTime>
  <Words>3611</Words>
  <Application>Microsoft Macintosh PowerPoint</Application>
  <PresentationFormat>On-screen Show (16:9)</PresentationFormat>
  <Paragraphs>507</Paragraphs>
  <Slides>69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Calibri</vt:lpstr>
      <vt:lpstr>Cambria Math</vt:lpstr>
      <vt:lpstr>Consolas</vt:lpstr>
      <vt:lpstr>Segoe UI Emoji</vt:lpstr>
      <vt:lpstr>System Font Regular</vt:lpstr>
      <vt:lpstr>Zapfino</vt:lpstr>
      <vt:lpstr>Jim</vt:lpstr>
      <vt:lpstr>Week02c</vt:lpstr>
      <vt:lpstr>swap</vt:lpstr>
      <vt:lpstr>🐍 Python swap</vt:lpstr>
      <vt:lpstr>🐍 Python swap</vt:lpstr>
      <vt:lpstr>☠️ BAD VERY BAD BROKEN swap</vt:lpstr>
      <vt:lpstr>☠️ BAD VERY BAD BROKEN swap</vt:lpstr>
      <vt:lpstr>swap</vt:lpstr>
      <vt:lpstr>swap</vt:lpstr>
      <vt:lpstr>array algorithms that use swaps</vt:lpstr>
      <vt:lpstr>reversing an array</vt:lpstr>
      <vt:lpstr>out-of-place reverse</vt:lpstr>
      <vt:lpstr>in-place reverse</vt:lpstr>
      <vt:lpstr>bubble sort</vt:lpstr>
      <vt:lpstr>bubble sort</vt:lpstr>
      <vt:lpstr>big O runtime (arrays)</vt:lpstr>
      <vt:lpstr>runtime of array operations</vt:lpstr>
      <vt:lpstr>accessing an array "under the hood"</vt:lpstr>
      <vt:lpstr>see C do it</vt:lpstr>
      <vt:lpstr>Cecilia sees C by the Sea Shore</vt:lpstr>
      <vt:lpstr>PowerPoint Presentation</vt:lpstr>
      <vt:lpstr>big O runtime of array operations</vt:lpstr>
      <vt:lpstr>big O runtime of array operations</vt:lpstr>
      <vt:lpstr>💻 array tutorial</vt:lpstr>
      <vt:lpstr>💻 array tutorial</vt:lpstr>
      <vt:lpstr>💻 array tutorial</vt:lpstr>
      <vt:lpstr>Week03a</vt:lpstr>
      <vt:lpstr>functions</vt:lpstr>
      <vt:lpstr>anatomy of a function</vt:lpstr>
      <vt:lpstr>anatomy of a function (1/2)</vt:lpstr>
      <vt:lpstr>anatomy of a function (2/2)</vt:lpstr>
      <vt:lpstr>return</vt:lpstr>
      <vt:lpstr>return (1/2)</vt:lpstr>
      <vt:lpstr>return (2/2)</vt:lpstr>
      <vt:lpstr>void</vt:lpstr>
      <vt:lpstr>void</vt:lpstr>
      <vt:lpstr>the call stack</vt:lpstr>
      <vt:lpstr>the call stack</vt:lpstr>
      <vt:lpstr>🤔</vt:lpstr>
      <vt:lpstr>recursive functions</vt:lpstr>
      <vt:lpstr>recursive functions (1/2)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fin.</vt:lpstr>
      <vt:lpstr>recursive functions (2/2)</vt:lpstr>
      <vt:lpstr>PowerPoint Presentation</vt:lpstr>
      <vt:lpstr>classes</vt:lpstr>
      <vt:lpstr>anatomy of a class</vt:lpstr>
      <vt:lpstr>anatomy of a class (1/2)</vt:lpstr>
      <vt:lpstr>anatomy of a class (2/2)</vt:lpstr>
      <vt:lpstr>dot</vt:lpstr>
      <vt:lpstr>dot</vt:lpstr>
      <vt:lpstr>terminology</vt:lpstr>
      <vt:lpstr>class vs. object (instance of a class)</vt:lpstr>
      <vt:lpstr>new and constructors</vt:lpstr>
      <vt:lpstr>new</vt:lpstr>
      <vt:lpstr>constructors (1/2)</vt:lpstr>
      <vt:lpstr>constructors (2/2)</vt:lpstr>
      <vt:lpstr>this 🐍 in Python, this is self</vt:lpstr>
      <vt:lpstr>this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8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Helvetica</vt:lpstr>
      <vt:lpstr>System Font Regular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🐮 how to read step-by-step diffs</dc:title>
  <dc:creator/>
  <cp:keywords/>
  <cp:lastModifiedBy>James M. Bern</cp:lastModifiedBy>
  <cp:revision>703</cp:revision>
  <cp:lastPrinted>2026-09-18T15:28:20Z</cp:lastPrinted>
  <dcterms:created xsi:type="dcterms:W3CDTF">2023-06-11T17:47:53Z</dcterms:created>
  <dcterms:modified xsi:type="dcterms:W3CDTF">2026-09-21T17:33:45Z</dcterms:modified>
</cp:coreProperties>
</file>